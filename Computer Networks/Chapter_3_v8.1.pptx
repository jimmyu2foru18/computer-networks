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Lst>
  <p:sldSz cy="6858000" cx="12192000"/>
  <p:notesSz cx="6858000" cy="9144000"/>
  <p:embeddedFontLst>
    <p:embeddedFont>
      <p:font typeface="Arial Narrow"/>
      <p:regular r:id="rId155"/>
      <p:bold r:id="rId156"/>
      <p:italic r:id="rId157"/>
      <p:boldItalic r:id="rId158"/>
    </p:embeddedFont>
    <p:embeddedFont>
      <p:font typeface="Tahoma"/>
      <p:regular r:id="rId159"/>
      <p:bold r:id="rId160"/>
    </p:embeddedFont>
    <p:embeddedFont>
      <p:font typeface="Noto Sans Symbols"/>
      <p:regular r:id="rId161"/>
      <p:bold r:id="rId162"/>
    </p:embeddedFont>
    <p:embeddedFont>
      <p:font typeface="Gill Sans"/>
      <p:regular r:id="rId163"/>
      <p:bold r:id="rId1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C1E676-E774-44E0-855D-16EF92FE579D}">
  <a:tblStyle styleId="{84C1E676-E774-44E0-855D-16EF92FE579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164" Type="http://schemas.openxmlformats.org/officeDocument/2006/relationships/font" Target="fonts/GillSans-bold.fntdata"/><Relationship Id="rId163" Type="http://schemas.openxmlformats.org/officeDocument/2006/relationships/font" Target="fonts/GillSans-regular.fntdata"/><Relationship Id="rId162" Type="http://schemas.openxmlformats.org/officeDocument/2006/relationships/font" Target="fonts/NotoSansSymbols-bold.fntdata"/><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font" Target="fonts/NotoSansSymbols-regular.fntdata"/><Relationship Id="rId54" Type="http://schemas.openxmlformats.org/officeDocument/2006/relationships/slide" Target="slides/slide49.xml"/><Relationship Id="rId160" Type="http://schemas.openxmlformats.org/officeDocument/2006/relationships/font" Target="fonts/Tahoma-bold.fntdata"/><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font" Target="fonts/Tahoma-regular.fntdata"/><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font" Target="fonts/ArialNarrow-boldItalic.fntdata"/><Relationship Id="rId157" Type="http://schemas.openxmlformats.org/officeDocument/2006/relationships/font" Target="fonts/ArialNarrow-italic.fntdata"/><Relationship Id="rId156" Type="http://schemas.openxmlformats.org/officeDocument/2006/relationships/font" Target="fonts/ArialNarrow-bold.fntdata"/><Relationship Id="rId155" Type="http://schemas.openxmlformats.org/officeDocument/2006/relationships/font" Target="fonts/ArialNarrow-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8.0  (April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Add LOTS more animation throughout</a:t>
            </a:r>
            <a:endParaRPr/>
          </a:p>
          <a:p>
            <a:pPr indent="-171450" lvl="0" marL="171450" rtl="0" algn="l">
              <a:spcBef>
                <a:spcPts val="0"/>
              </a:spcBef>
              <a:spcAft>
                <a:spcPts val="0"/>
              </a:spcAft>
              <a:buClr>
                <a:schemeClr val="dk1"/>
              </a:buClr>
              <a:buSzPts val="1200"/>
              <a:buFont typeface="Arial"/>
              <a:buChar char="•"/>
            </a:pPr>
            <a:r>
              <a:rPr lang="en-US"/>
              <a:t>added new  8</a:t>
            </a:r>
            <a:r>
              <a:rPr baseline="30000" lang="en-US"/>
              <a:t>th</a:t>
            </a:r>
            <a:r>
              <a:rPr lang="en-US"/>
              <a:t> edition material on QUIC, CUBIC, delay-based congestion control</a:t>
            </a:r>
            <a:endParaRPr/>
          </a:p>
          <a:p>
            <a:pPr indent="-171450" lvl="0" marL="171450" rtl="0" algn="l">
              <a:spcBef>
                <a:spcPts val="0"/>
              </a:spcBef>
              <a:spcAft>
                <a:spcPts val="0"/>
              </a:spcAft>
              <a:buClr>
                <a:schemeClr val="dk1"/>
              </a:buClr>
              <a:buSzPts val="1200"/>
              <a:buFont typeface="Arial"/>
              <a:buChar char="•"/>
            </a:pPr>
            <a:r>
              <a:rPr lang="en-US"/>
              <a:t>lighter header font</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By logical communication , we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mean that from an application’s perspective, it is as if the hosts running the processes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were directly connected; in reality, the hosts may be on opposite sides of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planet, connected via numerous routers and a wide range of link types. Application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processes use the logical communication provided by the transport layer to send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messages to each other, free from the worry of the details of the physical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used to carry these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look at each of these three (logical communications, actions, </a:t>
            </a:r>
            <a:endParaRPr/>
          </a:p>
        </p:txBody>
      </p:sp>
      <p:sp>
        <p:nvSpPr>
          <p:cNvPr id="61" name="Google Shape;6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 name="Google Shape;81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9" name="Google Shape;13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0" name="Google Shape;13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9" name="Google Shape;132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3" name="Google Shape;14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4" name="Google Shape;14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3" name="Google Shape;152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4" name="Google Shape;152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9" name="Google Shape;162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0" name="Google Shape;163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8" name="Google Shape;172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9" name="Google Shape;172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7" name="Google Shape;182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8" name="Google Shape;182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6" name="Shape 1966"/>
        <p:cNvGrpSpPr/>
        <p:nvPr/>
      </p:nvGrpSpPr>
      <p:grpSpPr>
        <a:xfrm>
          <a:off x="0" y="0"/>
          <a:ext cx="0" cy="0"/>
          <a:chOff x="0" y="0"/>
          <a:chExt cx="0" cy="0"/>
        </a:xfrm>
      </p:grpSpPr>
      <p:sp>
        <p:nvSpPr>
          <p:cNvPr id="1967" name="Google Shape;196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8" name="Google Shape;196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9" name="Google Shape;196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2" name="Google Shape;199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3" name="Google Shape;199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5" name="Google Shape;200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6" name="Google Shape;200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6" name="Google Shape;213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7" name="Google Shape;213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6" name="Google Shape;214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7" name="Google Shape;214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2" name="Shape 2292"/>
        <p:cNvGrpSpPr/>
        <p:nvPr/>
      </p:nvGrpSpPr>
      <p:grpSpPr>
        <a:xfrm>
          <a:off x="0" y="0"/>
          <a:ext cx="0" cy="0"/>
          <a:chOff x="0" y="0"/>
          <a:chExt cx="0" cy="0"/>
        </a:xfrm>
      </p:grpSpPr>
      <p:sp>
        <p:nvSpPr>
          <p:cNvPr id="2293" name="Google Shape;229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4" name="Google Shape;229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5" name="Google Shape;229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0" name="Shape 2300"/>
        <p:cNvGrpSpPr/>
        <p:nvPr/>
      </p:nvGrpSpPr>
      <p:grpSpPr>
        <a:xfrm>
          <a:off x="0" y="0"/>
          <a:ext cx="0" cy="0"/>
          <a:chOff x="0" y="0"/>
          <a:chExt cx="0" cy="0"/>
        </a:xfrm>
      </p:grpSpPr>
      <p:sp>
        <p:nvSpPr>
          <p:cNvPr id="2301" name="Google Shape;230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2" name="Google Shape;230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3" name="Google Shape;230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9" name="Shape 2309"/>
        <p:cNvGrpSpPr/>
        <p:nvPr/>
      </p:nvGrpSpPr>
      <p:grpSpPr>
        <a:xfrm>
          <a:off x="0" y="0"/>
          <a:ext cx="0" cy="0"/>
          <a:chOff x="0" y="0"/>
          <a:chExt cx="0" cy="0"/>
        </a:xfrm>
      </p:grpSpPr>
      <p:sp>
        <p:nvSpPr>
          <p:cNvPr id="2310" name="Google Shape;231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1" name="Google Shape;231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2" name="Google Shape;231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4" name="Google Shape;232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5" name="Google Shape;232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0" name="Shape 2330"/>
        <p:cNvGrpSpPr/>
        <p:nvPr/>
      </p:nvGrpSpPr>
      <p:grpSpPr>
        <a:xfrm>
          <a:off x="0" y="0"/>
          <a:ext cx="0" cy="0"/>
          <a:chOff x="0" y="0"/>
          <a:chExt cx="0" cy="0"/>
        </a:xfrm>
      </p:grpSpPr>
      <p:sp>
        <p:nvSpPr>
          <p:cNvPr id="2331" name="Google Shape;233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2" name="Google Shape;233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this RFC – it’s only 2.5 pages!</a:t>
            </a:r>
            <a:endParaRPr/>
          </a:p>
        </p:txBody>
      </p:sp>
      <p:sp>
        <p:nvSpPr>
          <p:cNvPr id="2333" name="Google Shape;233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8" name="Shape 2338"/>
        <p:cNvGrpSpPr/>
        <p:nvPr/>
      </p:nvGrpSpPr>
      <p:grpSpPr>
        <a:xfrm>
          <a:off x="0" y="0"/>
          <a:ext cx="0" cy="0"/>
          <a:chOff x="0" y="0"/>
          <a:chExt cx="0" cy="0"/>
        </a:xfrm>
      </p:grpSpPr>
      <p:sp>
        <p:nvSpPr>
          <p:cNvPr id="2339" name="Google Shape;233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0" name="Google Shape;234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1" name="Google Shape;234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7" name="Shape 2427"/>
        <p:cNvGrpSpPr/>
        <p:nvPr/>
      </p:nvGrpSpPr>
      <p:grpSpPr>
        <a:xfrm>
          <a:off x="0" y="0"/>
          <a:ext cx="0" cy="0"/>
          <a:chOff x="0" y="0"/>
          <a:chExt cx="0" cy="0"/>
        </a:xfrm>
      </p:grpSpPr>
      <p:sp>
        <p:nvSpPr>
          <p:cNvPr id="2428" name="Google Shape;242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9" name="Google Shape;242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0" name="Google Shape;243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8" name="Shape 2538"/>
        <p:cNvGrpSpPr/>
        <p:nvPr/>
      </p:nvGrpSpPr>
      <p:grpSpPr>
        <a:xfrm>
          <a:off x="0" y="0"/>
          <a:ext cx="0" cy="0"/>
          <a:chOff x="0" y="0"/>
          <a:chExt cx="0" cy="0"/>
        </a:xfrm>
      </p:grpSpPr>
      <p:sp>
        <p:nvSpPr>
          <p:cNvPr id="2539" name="Google Shape;253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0" name="Google Shape;254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1" name="Google Shape;254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5" name="Shape 2645"/>
        <p:cNvGrpSpPr/>
        <p:nvPr/>
      </p:nvGrpSpPr>
      <p:grpSpPr>
        <a:xfrm>
          <a:off x="0" y="0"/>
          <a:ext cx="0" cy="0"/>
          <a:chOff x="0" y="0"/>
          <a:chExt cx="0" cy="0"/>
        </a:xfrm>
      </p:grpSpPr>
      <p:sp>
        <p:nvSpPr>
          <p:cNvPr id="2646" name="Google Shape;264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7" name="Google Shape;264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8" name="Google Shape;264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5" name="Shape 2675"/>
        <p:cNvGrpSpPr/>
        <p:nvPr/>
      </p:nvGrpSpPr>
      <p:grpSpPr>
        <a:xfrm>
          <a:off x="0" y="0"/>
          <a:ext cx="0" cy="0"/>
          <a:chOff x="0" y="0"/>
          <a:chExt cx="0" cy="0"/>
        </a:xfrm>
      </p:grpSpPr>
      <p:sp>
        <p:nvSpPr>
          <p:cNvPr id="2676" name="Google Shape;267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7" name="Google Shape;267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8" name="Google Shape;267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0" name="Shape 2700"/>
        <p:cNvGrpSpPr/>
        <p:nvPr/>
      </p:nvGrpSpPr>
      <p:grpSpPr>
        <a:xfrm>
          <a:off x="0" y="0"/>
          <a:ext cx="0" cy="0"/>
          <a:chOff x="0" y="0"/>
          <a:chExt cx="0" cy="0"/>
        </a:xfrm>
      </p:grpSpPr>
      <p:sp>
        <p:nvSpPr>
          <p:cNvPr id="2701" name="Google Shape;270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2" name="Google Shape;270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3" name="Google Shape;270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0" name="Shape 2710"/>
        <p:cNvGrpSpPr/>
        <p:nvPr/>
      </p:nvGrpSpPr>
      <p:grpSpPr>
        <a:xfrm>
          <a:off x="0" y="0"/>
          <a:ext cx="0" cy="0"/>
          <a:chOff x="0" y="0"/>
          <a:chExt cx="0" cy="0"/>
        </a:xfrm>
      </p:grpSpPr>
      <p:sp>
        <p:nvSpPr>
          <p:cNvPr id="2711" name="Google Shape;271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2" name="Google Shape;271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3" name="Google Shape;271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4" name="Google Shape;273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5" name="Google Shape;273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4" name="Shape 2764"/>
        <p:cNvGrpSpPr/>
        <p:nvPr/>
      </p:nvGrpSpPr>
      <p:grpSpPr>
        <a:xfrm>
          <a:off x="0" y="0"/>
          <a:ext cx="0" cy="0"/>
          <a:chOff x="0" y="0"/>
          <a:chExt cx="0" cy="0"/>
        </a:xfrm>
      </p:grpSpPr>
      <p:sp>
        <p:nvSpPr>
          <p:cNvPr id="2765" name="Google Shape;276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6" name="Google Shape;276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7" name="Google Shape;276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1" name="Shape 2771"/>
        <p:cNvGrpSpPr/>
        <p:nvPr/>
      </p:nvGrpSpPr>
      <p:grpSpPr>
        <a:xfrm>
          <a:off x="0" y="0"/>
          <a:ext cx="0" cy="0"/>
          <a:chOff x="0" y="0"/>
          <a:chExt cx="0" cy="0"/>
        </a:xfrm>
      </p:grpSpPr>
      <p:sp>
        <p:nvSpPr>
          <p:cNvPr id="2772" name="Google Shape;277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3" name="Google Shape;277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4" name="Google Shape;277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0" name="Shape 2780"/>
        <p:cNvGrpSpPr/>
        <p:nvPr/>
      </p:nvGrpSpPr>
      <p:grpSpPr>
        <a:xfrm>
          <a:off x="0" y="0"/>
          <a:ext cx="0" cy="0"/>
          <a:chOff x="0" y="0"/>
          <a:chExt cx="0" cy="0"/>
        </a:xfrm>
      </p:grpSpPr>
      <p:sp>
        <p:nvSpPr>
          <p:cNvPr id="2781" name="Google Shape;278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2" name="Google Shape;2782;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arrows through reliable data transfer channel is just one way – reliably send from sender to receiver</a:t>
            </a:r>
            <a:endParaRPr/>
          </a:p>
        </p:txBody>
      </p:sp>
      <p:sp>
        <p:nvSpPr>
          <p:cNvPr id="2783" name="Google Shape;2783;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0" name="Shape 2850"/>
        <p:cNvGrpSpPr/>
        <p:nvPr/>
      </p:nvGrpSpPr>
      <p:grpSpPr>
        <a:xfrm>
          <a:off x="0" y="0"/>
          <a:ext cx="0" cy="0"/>
          <a:chOff x="0" y="0"/>
          <a:chExt cx="0" cy="0"/>
        </a:xfrm>
      </p:grpSpPr>
      <p:sp>
        <p:nvSpPr>
          <p:cNvPr id="2851" name="Google Shape;285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2" name="Google Shape;285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some time talking about how its to the sender and receiver side protocol that IMPLEMENTS reliable data transfer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Communication over unreliable channel is TWO-way: sender and receiver will exchange messages back and forth to IMPLEMENT one-way  reliable data transfer</a:t>
            </a:r>
            <a:endParaRPr/>
          </a:p>
          <a:p>
            <a:pPr indent="0" lvl="0" marL="0" rtl="0" algn="l">
              <a:spcBef>
                <a:spcPts val="0"/>
              </a:spcBef>
              <a:spcAft>
                <a:spcPts val="0"/>
              </a:spcAft>
              <a:buNone/>
            </a:pPr>
            <a:r>
              <a:t/>
            </a:r>
            <a:endParaRPr/>
          </a:p>
        </p:txBody>
      </p:sp>
      <p:sp>
        <p:nvSpPr>
          <p:cNvPr id="2853" name="Google Shape;2853;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0" name="Shape 3000"/>
        <p:cNvGrpSpPr/>
        <p:nvPr/>
      </p:nvGrpSpPr>
      <p:grpSpPr>
        <a:xfrm>
          <a:off x="0" y="0"/>
          <a:ext cx="0" cy="0"/>
          <a:chOff x="0" y="0"/>
          <a:chExt cx="0" cy="0"/>
        </a:xfrm>
      </p:grpSpPr>
      <p:sp>
        <p:nvSpPr>
          <p:cNvPr id="3001" name="Google Shape;300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2" name="Google Shape;300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we have a sender side and a receiver side. How much work they’ll have to do depends on the  IMPAIRMENTS introduced by channel – if the channel is perfect – no problem!</a:t>
            </a:r>
            <a:endParaRPr/>
          </a:p>
        </p:txBody>
      </p:sp>
      <p:sp>
        <p:nvSpPr>
          <p:cNvPr id="3003" name="Google Shape;300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9" name="Shape 3089"/>
        <p:cNvGrpSpPr/>
        <p:nvPr/>
      </p:nvGrpSpPr>
      <p:grpSpPr>
        <a:xfrm>
          <a:off x="0" y="0"/>
          <a:ext cx="0" cy="0"/>
          <a:chOff x="0" y="0"/>
          <a:chExt cx="0" cy="0"/>
        </a:xfrm>
      </p:grpSpPr>
      <p:sp>
        <p:nvSpPr>
          <p:cNvPr id="3090" name="Google Shape;309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1" name="Google Shape;309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a point of view to keep in mind – it’s easy for US to look at sender and receiver together and see what is happening.  OH – that message sent was lost.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think about it say from senders POV How does the sender know if its transmitted message over the unreliable channel got though??  ONLY if receiver somehow signals to the sender that it was received.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point here is that one side does NOT know what is going on at the other side – it’s as if there’s a curtain between them.  Everything they know about the other can ONLY be learned by sending/receiving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Sender process wants to make sure a segment got through.  But it can just somehow magically look through curtain to see if receiver got it.  It will be up to the receiver to let the sender KNOW that it (the receiver) has correctly received the segment.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will the sender and receiver do that – that’s the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Before starting to develop a protocol, let’s look more closely at the interface (the API if you will) </a:t>
            </a:r>
            <a:endParaRPr/>
          </a:p>
        </p:txBody>
      </p:sp>
      <p:sp>
        <p:nvSpPr>
          <p:cNvPr id="3092" name="Google Shape;309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0" name="Shape 3180"/>
        <p:cNvGrpSpPr/>
        <p:nvPr/>
      </p:nvGrpSpPr>
      <p:grpSpPr>
        <a:xfrm>
          <a:off x="0" y="0"/>
          <a:ext cx="0" cy="0"/>
          <a:chOff x="0" y="0"/>
          <a:chExt cx="0" cy="0"/>
        </a:xfrm>
      </p:grpSpPr>
      <p:sp>
        <p:nvSpPr>
          <p:cNvPr id="3181" name="Google Shape;318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2" name="Google Shape;318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3" name="Google Shape;318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1" name="Shape 3311"/>
        <p:cNvGrpSpPr/>
        <p:nvPr/>
      </p:nvGrpSpPr>
      <p:grpSpPr>
        <a:xfrm>
          <a:off x="0" y="0"/>
          <a:ext cx="0" cy="0"/>
          <a:chOff x="0" y="0"/>
          <a:chExt cx="0" cy="0"/>
        </a:xfrm>
      </p:grpSpPr>
      <p:sp>
        <p:nvSpPr>
          <p:cNvPr id="3312" name="Google Shape;331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3" name="Google Shape;331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let’s get started in developing our reliable data transfer protocol, which we’ll call rdt (need a good acronym for protocol – like HTTP, TCP, UDP, 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Bullet points 1 and 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if we are going to develop a protocol, so we’ll need some way to SPECIFY a protocol.  </a:t>
            </a:r>
            <a:r>
              <a:rPr b="1" i="1" lang="en-US"/>
              <a:t>How</a:t>
            </a:r>
            <a:r>
              <a:rPr lang="en-US"/>
              <a:t> do we do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could write text, but as all know, that’s prone to misinterpretation, and might be incomplete.  You might write a specification, and then think “oh yeah – I forgot about that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we need is more </a:t>
            </a:r>
            <a:r>
              <a:rPr b="1" i="1" lang="en-US"/>
              <a:t>formal</a:t>
            </a:r>
            <a:r>
              <a:rPr lang="en-US"/>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as the name might suggest, a central notion of finite state machines is the notion of STATE </a:t>
            </a:r>
            <a:endParaRPr/>
          </a:p>
          <a:p>
            <a:pPr indent="0" lvl="0" marL="0" rtl="0" algn="l">
              <a:spcBef>
                <a:spcPts val="0"/>
              </a:spcBef>
              <a:spcAft>
                <a:spcPts val="0"/>
              </a:spcAft>
              <a:buNone/>
            </a:pPr>
            <a:r>
              <a:rPr lang="en-US"/>
              <a:t>&lt;talk about state&gt;</a:t>
            </a:r>
            <a:endParaRPr/>
          </a:p>
        </p:txBody>
      </p:sp>
      <p:sp>
        <p:nvSpPr>
          <p:cNvPr id="3314" name="Google Shape;3314;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7" name="Shape 3337"/>
        <p:cNvGrpSpPr/>
        <p:nvPr/>
      </p:nvGrpSpPr>
      <p:grpSpPr>
        <a:xfrm>
          <a:off x="0" y="0"/>
          <a:ext cx="0" cy="0"/>
          <a:chOff x="0" y="0"/>
          <a:chExt cx="0" cy="0"/>
        </a:xfrm>
      </p:grpSpPr>
      <p:sp>
        <p:nvSpPr>
          <p:cNvPr id="3338" name="Google Shape;333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9" name="Google Shape;333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 We’ll start with the simplest case possible - an unreliable channel that is, in fact perfect – no segments are lost, corrupted, dupplicated or reordered.  The sender just sends and it pops out the other side(perhaps after some delay) perfectly.</a:t>
            </a:r>
            <a:endParaRPr/>
          </a:p>
          <a:p>
            <a:pPr indent="0" lvl="0" marL="0" rtl="0" algn="l">
              <a:spcBef>
                <a:spcPts val="0"/>
              </a:spcBef>
              <a:spcAft>
                <a:spcPts val="0"/>
              </a:spcAft>
              <a:buNone/>
            </a:pPr>
            <a:r>
              <a:t/>
            </a:r>
            <a:endParaRPr/>
          </a:p>
        </p:txBody>
      </p:sp>
      <p:sp>
        <p:nvSpPr>
          <p:cNvPr id="3340" name="Google Shape;3340;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8" name="Shape 3368"/>
        <p:cNvGrpSpPr/>
        <p:nvPr/>
      </p:nvGrpSpPr>
      <p:grpSpPr>
        <a:xfrm>
          <a:off x="0" y="0"/>
          <a:ext cx="0" cy="0"/>
          <a:chOff x="0" y="0"/>
          <a:chExt cx="0" cy="0"/>
        </a:xfrm>
      </p:grpSpPr>
      <p:sp>
        <p:nvSpPr>
          <p:cNvPr id="3369" name="Google Shape;336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0" name="Google Shape;337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1" name="Google Shape;337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7" name="Shape 3377"/>
        <p:cNvGrpSpPr/>
        <p:nvPr/>
      </p:nvGrpSpPr>
      <p:grpSpPr>
        <a:xfrm>
          <a:off x="0" y="0"/>
          <a:ext cx="0" cy="0"/>
          <a:chOff x="0" y="0"/>
          <a:chExt cx="0" cy="0"/>
        </a:xfrm>
      </p:grpSpPr>
      <p:sp>
        <p:nvSpPr>
          <p:cNvPr id="3378" name="Google Shape;337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9" name="Google Shape;337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0" name="Google Shape;338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1" name="Shape 3391"/>
        <p:cNvGrpSpPr/>
        <p:nvPr/>
      </p:nvGrpSpPr>
      <p:grpSpPr>
        <a:xfrm>
          <a:off x="0" y="0"/>
          <a:ext cx="0" cy="0"/>
          <a:chOff x="0" y="0"/>
          <a:chExt cx="0" cy="0"/>
        </a:xfrm>
      </p:grpSpPr>
      <p:sp>
        <p:nvSpPr>
          <p:cNvPr id="3392" name="Google Shape;339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3" name="Google Shape;339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4" name="Google Shape;3394;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9" name="Shape 3439"/>
        <p:cNvGrpSpPr/>
        <p:nvPr/>
      </p:nvGrpSpPr>
      <p:grpSpPr>
        <a:xfrm>
          <a:off x="0" y="0"/>
          <a:ext cx="0" cy="0"/>
          <a:chOff x="0" y="0"/>
          <a:chExt cx="0" cy="0"/>
        </a:xfrm>
      </p:grpSpPr>
      <p:sp>
        <p:nvSpPr>
          <p:cNvPr id="3440" name="Google Shape;344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1" name="Google Shape;3441;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2" name="Google Shape;3442;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8" name="Shape 3488"/>
        <p:cNvGrpSpPr/>
        <p:nvPr/>
      </p:nvGrpSpPr>
      <p:grpSpPr>
        <a:xfrm>
          <a:off x="0" y="0"/>
          <a:ext cx="0" cy="0"/>
          <a:chOff x="0" y="0"/>
          <a:chExt cx="0" cy="0"/>
        </a:xfrm>
      </p:grpSpPr>
      <p:sp>
        <p:nvSpPr>
          <p:cNvPr id="3489" name="Google Shape;348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0" name="Google Shape;3490;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1" name="Google Shape;3491;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8" name="Shape 3548"/>
        <p:cNvGrpSpPr/>
        <p:nvPr/>
      </p:nvGrpSpPr>
      <p:grpSpPr>
        <a:xfrm>
          <a:off x="0" y="0"/>
          <a:ext cx="0" cy="0"/>
          <a:chOff x="0" y="0"/>
          <a:chExt cx="0" cy="0"/>
        </a:xfrm>
      </p:grpSpPr>
      <p:sp>
        <p:nvSpPr>
          <p:cNvPr id="3549" name="Google Shape;354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0" name="Google Shape;355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1" name="Google Shape;3551;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1" name="Shape 3611"/>
        <p:cNvGrpSpPr/>
        <p:nvPr/>
      </p:nvGrpSpPr>
      <p:grpSpPr>
        <a:xfrm>
          <a:off x="0" y="0"/>
          <a:ext cx="0" cy="0"/>
          <a:chOff x="0" y="0"/>
          <a:chExt cx="0" cy="0"/>
        </a:xfrm>
      </p:grpSpPr>
      <p:sp>
        <p:nvSpPr>
          <p:cNvPr id="3612" name="Google Shape;361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3" name="Google Shape;361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4" name="Google Shape;3614;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5" name="Shape 3625"/>
        <p:cNvGrpSpPr/>
        <p:nvPr/>
      </p:nvGrpSpPr>
      <p:grpSpPr>
        <a:xfrm>
          <a:off x="0" y="0"/>
          <a:ext cx="0" cy="0"/>
          <a:chOff x="0" y="0"/>
          <a:chExt cx="0" cy="0"/>
        </a:xfrm>
      </p:grpSpPr>
      <p:sp>
        <p:nvSpPr>
          <p:cNvPr id="3626" name="Google Shape;362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7" name="Google Shape;362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8" name="Google Shape;3628;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5" name="Shape 3675"/>
        <p:cNvGrpSpPr/>
        <p:nvPr/>
      </p:nvGrpSpPr>
      <p:grpSpPr>
        <a:xfrm>
          <a:off x="0" y="0"/>
          <a:ext cx="0" cy="0"/>
          <a:chOff x="0" y="0"/>
          <a:chExt cx="0" cy="0"/>
        </a:xfrm>
      </p:grpSpPr>
      <p:sp>
        <p:nvSpPr>
          <p:cNvPr id="3676" name="Google Shape;367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7" name="Google Shape;3677;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8" name="Google Shape;3678;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0" name="Shape 3720"/>
        <p:cNvGrpSpPr/>
        <p:nvPr/>
      </p:nvGrpSpPr>
      <p:grpSpPr>
        <a:xfrm>
          <a:off x="0" y="0"/>
          <a:ext cx="0" cy="0"/>
          <a:chOff x="0" y="0"/>
          <a:chExt cx="0" cy="0"/>
        </a:xfrm>
      </p:grpSpPr>
      <p:sp>
        <p:nvSpPr>
          <p:cNvPr id="3721" name="Google Shape;372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2" name="Google Shape;3722;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3" name="Google Shape;3723;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9" name="Shape 3729"/>
        <p:cNvGrpSpPr/>
        <p:nvPr/>
      </p:nvGrpSpPr>
      <p:grpSpPr>
        <a:xfrm>
          <a:off x="0" y="0"/>
          <a:ext cx="0" cy="0"/>
          <a:chOff x="0" y="0"/>
          <a:chExt cx="0" cy="0"/>
        </a:xfrm>
      </p:grpSpPr>
      <p:sp>
        <p:nvSpPr>
          <p:cNvPr id="3730" name="Google Shape;3730;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1" name="Google Shape;3731;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2" name="Google Shape;3732;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8" name="Shape 3738"/>
        <p:cNvGrpSpPr/>
        <p:nvPr/>
      </p:nvGrpSpPr>
      <p:grpSpPr>
        <a:xfrm>
          <a:off x="0" y="0"/>
          <a:ext cx="0" cy="0"/>
          <a:chOff x="0" y="0"/>
          <a:chExt cx="0" cy="0"/>
        </a:xfrm>
      </p:grpSpPr>
      <p:sp>
        <p:nvSpPr>
          <p:cNvPr id="3739" name="Google Shape;373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0" name="Google Shape;3740;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1" name="Google Shape;3741;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2" name="Shape 3782"/>
        <p:cNvGrpSpPr/>
        <p:nvPr/>
      </p:nvGrpSpPr>
      <p:grpSpPr>
        <a:xfrm>
          <a:off x="0" y="0"/>
          <a:ext cx="0" cy="0"/>
          <a:chOff x="0" y="0"/>
          <a:chExt cx="0" cy="0"/>
        </a:xfrm>
      </p:grpSpPr>
      <p:sp>
        <p:nvSpPr>
          <p:cNvPr id="3783" name="Google Shape;378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4" name="Google Shape;3784;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5" name="Google Shape;3785;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1" name="Shape 3791"/>
        <p:cNvGrpSpPr/>
        <p:nvPr/>
      </p:nvGrpSpPr>
      <p:grpSpPr>
        <a:xfrm>
          <a:off x="0" y="0"/>
          <a:ext cx="0" cy="0"/>
          <a:chOff x="0" y="0"/>
          <a:chExt cx="0" cy="0"/>
        </a:xfrm>
      </p:grpSpPr>
      <p:sp>
        <p:nvSpPr>
          <p:cNvPr id="3792" name="Google Shape;3792;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3" name="Google Shape;3793;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4" name="Google Shape;3794;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3" name="Shape 3803"/>
        <p:cNvGrpSpPr/>
        <p:nvPr/>
      </p:nvGrpSpPr>
      <p:grpSpPr>
        <a:xfrm>
          <a:off x="0" y="0"/>
          <a:ext cx="0" cy="0"/>
          <a:chOff x="0" y="0"/>
          <a:chExt cx="0" cy="0"/>
        </a:xfrm>
      </p:grpSpPr>
      <p:sp>
        <p:nvSpPr>
          <p:cNvPr id="3804" name="Google Shape;380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5" name="Google Shape;380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3806" name="Google Shape;380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4" name="Shape 3854"/>
        <p:cNvGrpSpPr/>
        <p:nvPr/>
      </p:nvGrpSpPr>
      <p:grpSpPr>
        <a:xfrm>
          <a:off x="0" y="0"/>
          <a:ext cx="0" cy="0"/>
          <a:chOff x="0" y="0"/>
          <a:chExt cx="0" cy="0"/>
        </a:xfrm>
      </p:grpSpPr>
      <p:sp>
        <p:nvSpPr>
          <p:cNvPr id="3855" name="Google Shape;385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6" name="Google Shape;3856;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3857" name="Google Shape;3857;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7" name="Shape 3937"/>
        <p:cNvGrpSpPr/>
        <p:nvPr/>
      </p:nvGrpSpPr>
      <p:grpSpPr>
        <a:xfrm>
          <a:off x="0" y="0"/>
          <a:ext cx="0" cy="0"/>
          <a:chOff x="0" y="0"/>
          <a:chExt cx="0" cy="0"/>
        </a:xfrm>
      </p:grpSpPr>
      <p:sp>
        <p:nvSpPr>
          <p:cNvPr id="3938" name="Google Shape;393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9" name="Google Shape;393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0" name="Google Shape;394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0" name="Shape 4020"/>
        <p:cNvGrpSpPr/>
        <p:nvPr/>
      </p:nvGrpSpPr>
      <p:grpSpPr>
        <a:xfrm>
          <a:off x="0" y="0"/>
          <a:ext cx="0" cy="0"/>
          <a:chOff x="0" y="0"/>
          <a:chExt cx="0" cy="0"/>
        </a:xfrm>
      </p:grpSpPr>
      <p:sp>
        <p:nvSpPr>
          <p:cNvPr id="4021" name="Google Shape;4021;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2" name="Google Shape;4022;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3" name="Google Shape;4023;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7" name="Shape 4137"/>
        <p:cNvGrpSpPr/>
        <p:nvPr/>
      </p:nvGrpSpPr>
      <p:grpSpPr>
        <a:xfrm>
          <a:off x="0" y="0"/>
          <a:ext cx="0" cy="0"/>
          <a:chOff x="0" y="0"/>
          <a:chExt cx="0" cy="0"/>
        </a:xfrm>
      </p:grpSpPr>
      <p:sp>
        <p:nvSpPr>
          <p:cNvPr id="4138" name="Google Shape;4138;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9" name="Google Shape;4139;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if RTT=30 msec, 1KB pkt every 30 msec: 33kB/sec thruput over 1 Gbps link</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 protocol limits use of physical resources</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Let’s develop a formula for utilization</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4140" name="Google Shape;4140;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1" name="Shape 4161"/>
        <p:cNvGrpSpPr/>
        <p:nvPr/>
      </p:nvGrpSpPr>
      <p:grpSpPr>
        <a:xfrm>
          <a:off x="0" y="0"/>
          <a:ext cx="0" cy="0"/>
          <a:chOff x="0" y="0"/>
          <a:chExt cx="0" cy="0"/>
        </a:xfrm>
      </p:grpSpPr>
      <p:sp>
        <p:nvSpPr>
          <p:cNvPr id="4162" name="Google Shape;4162;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3" name="Google Shape;4163;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4" name="Google Shape;4164;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6" name="Shape 4196"/>
        <p:cNvGrpSpPr/>
        <p:nvPr/>
      </p:nvGrpSpPr>
      <p:grpSpPr>
        <a:xfrm>
          <a:off x="0" y="0"/>
          <a:ext cx="0" cy="0"/>
          <a:chOff x="0" y="0"/>
          <a:chExt cx="0" cy="0"/>
        </a:xfrm>
      </p:grpSpPr>
      <p:sp>
        <p:nvSpPr>
          <p:cNvPr id="4197" name="Google Shape;419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8" name="Google Shape;4198;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9" name="Google Shape;4199;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9" name="Shape 4249"/>
        <p:cNvGrpSpPr/>
        <p:nvPr/>
      </p:nvGrpSpPr>
      <p:grpSpPr>
        <a:xfrm>
          <a:off x="0" y="0"/>
          <a:ext cx="0" cy="0"/>
          <a:chOff x="0" y="0"/>
          <a:chExt cx="0" cy="0"/>
        </a:xfrm>
      </p:grpSpPr>
      <p:sp>
        <p:nvSpPr>
          <p:cNvPr id="4250" name="Google Shape;425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1" name="Google Shape;4251;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2" name="Google Shape;4252;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7" name="Shape 4337"/>
        <p:cNvGrpSpPr/>
        <p:nvPr/>
      </p:nvGrpSpPr>
      <p:grpSpPr>
        <a:xfrm>
          <a:off x="0" y="0"/>
          <a:ext cx="0" cy="0"/>
          <a:chOff x="0" y="0"/>
          <a:chExt cx="0" cy="0"/>
        </a:xfrm>
      </p:grpSpPr>
      <p:sp>
        <p:nvSpPr>
          <p:cNvPr id="4338" name="Google Shape;4338;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9" name="Google Shape;4339;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two generic forms of pipelined protocols: </a:t>
            </a:r>
            <a:r>
              <a:rPr b="0" i="1" lang="en-US" sz="1200" u="none" cap="none" strike="noStrike">
                <a:solidFill>
                  <a:srgbClr val="CC0000"/>
                </a:solidFill>
                <a:latin typeface="Calibri"/>
                <a:ea typeface="Calibri"/>
                <a:cs typeface="Calibri"/>
                <a:sym typeface="Calibri"/>
              </a:rPr>
              <a:t>go-Back-N, selective repeat</a:t>
            </a:r>
            <a:endParaRPr/>
          </a:p>
          <a:p>
            <a:pPr indent="0" lvl="0" marL="0" rtl="0" algn="l">
              <a:spcBef>
                <a:spcPts val="0"/>
              </a:spcBef>
              <a:spcAft>
                <a:spcPts val="0"/>
              </a:spcAft>
              <a:buNone/>
            </a:pPr>
            <a:r>
              <a:t/>
            </a:r>
            <a:endParaRPr/>
          </a:p>
        </p:txBody>
      </p:sp>
      <p:sp>
        <p:nvSpPr>
          <p:cNvPr id="4340" name="Google Shape;4340;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4" name="Shape 4404"/>
        <p:cNvGrpSpPr/>
        <p:nvPr/>
      </p:nvGrpSpPr>
      <p:grpSpPr>
        <a:xfrm>
          <a:off x="0" y="0"/>
          <a:ext cx="0" cy="0"/>
          <a:chOff x="0" y="0"/>
          <a:chExt cx="0" cy="0"/>
        </a:xfrm>
      </p:grpSpPr>
      <p:sp>
        <p:nvSpPr>
          <p:cNvPr id="4405" name="Google Shape;4405;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6" name="Google Shape;4406;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window size of 14, 8 have been sent but are not yet ackowledgedm 6 sequence numbers are available for us. In woindow, but no calls from above to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you can chack that out in powerpoitn slides or 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TCP uses cumulative ACK</a:t>
            </a:r>
            <a:endParaRPr/>
          </a:p>
        </p:txBody>
      </p:sp>
      <p:sp>
        <p:nvSpPr>
          <p:cNvPr id="4407" name="Google Shape;4407;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5" name="Shape 4415"/>
        <p:cNvGrpSpPr/>
        <p:nvPr/>
      </p:nvGrpSpPr>
      <p:grpSpPr>
        <a:xfrm>
          <a:off x="0" y="0"/>
          <a:ext cx="0" cy="0"/>
          <a:chOff x="0" y="0"/>
          <a:chExt cx="0" cy="0"/>
        </a:xfrm>
      </p:grpSpPr>
      <p:sp>
        <p:nvSpPr>
          <p:cNvPr id="4416" name="Google Shape;4416;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7" name="Google Shape;4417;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(actually it’s  </a:t>
            </a:r>
            <a:endParaRPr/>
          </a:p>
        </p:txBody>
      </p:sp>
      <p:sp>
        <p:nvSpPr>
          <p:cNvPr id="4418" name="Google Shape;4418;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0" name="Shape 4450"/>
        <p:cNvGrpSpPr/>
        <p:nvPr/>
      </p:nvGrpSpPr>
      <p:grpSpPr>
        <a:xfrm>
          <a:off x="0" y="0"/>
          <a:ext cx="0" cy="0"/>
          <a:chOff x="0" y="0"/>
          <a:chExt cx="0" cy="0"/>
        </a:xfrm>
      </p:grpSpPr>
      <p:sp>
        <p:nvSpPr>
          <p:cNvPr id="4451" name="Google Shape;4451;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2" name="Google Shape;4452;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Let’s skip FSM specification for GBN – check out the book or ppt – and let’s watch GBN sender and receivers  in action.</a:t>
            </a:r>
            <a:endParaRPr/>
          </a:p>
          <a:p>
            <a:pPr indent="0" lvl="0" marL="0" rtl="0" algn="l">
              <a:spcBef>
                <a:spcPts val="0"/>
              </a:spcBef>
              <a:spcAft>
                <a:spcPts val="0"/>
              </a:spcAft>
              <a:buNone/>
            </a:pPr>
            <a:r>
              <a:rPr lang="en-US"/>
              <a:t>Let assume a window size of 4.  at t=0, sender sends packets 0, 1, 2 3, 4, and packet 2 will be lost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receiver:</a:t>
            </a:r>
            <a:endParaRPr/>
          </a:p>
          <a:p>
            <a:pPr indent="0" lvl="0" marL="0" rtl="0" algn="l">
              <a:spcBef>
                <a:spcPts val="0"/>
              </a:spcBef>
              <a:spcAft>
                <a:spcPts val="0"/>
              </a:spcAft>
              <a:buNone/>
            </a:pPr>
            <a:r>
              <a:rPr lang="en-US"/>
              <a:t>Packet 0 received ACK0 generated</a:t>
            </a:r>
            <a:endParaRPr/>
          </a:p>
          <a:p>
            <a:pPr indent="0" lvl="0" marL="0" rtl="0" algn="l">
              <a:spcBef>
                <a:spcPts val="0"/>
              </a:spcBef>
              <a:spcAft>
                <a:spcPts val="0"/>
              </a:spcAft>
              <a:buNone/>
            </a:pPr>
            <a:r>
              <a:rPr lang="en-US"/>
              <a:t>Packet 1 received ACK1 generated</a:t>
            </a:r>
            <a:endParaRPr/>
          </a:p>
          <a:p>
            <a:pPr indent="0" lvl="0" marL="0" rtl="0" algn="l">
              <a:spcBef>
                <a:spcPts val="0"/>
              </a:spcBef>
              <a:spcAft>
                <a:spcPts val="0"/>
              </a:spcAft>
              <a:buNone/>
            </a:pPr>
            <a:r>
              <a:rPr lang="en-US"/>
              <a:t>Packet 2 is lost, and so when packet 3 is received, ACK 1 is sent – that’s the cumulative ACK, re-Acknowledging the receipt of packet 1. and in this implementation packet 3 is discarded</a:t>
            </a:r>
            <a:endParaRPr/>
          </a:p>
          <a:p>
            <a:pPr indent="0" lvl="0" marL="0" rtl="0" algn="l">
              <a:spcBef>
                <a:spcPts val="0"/>
              </a:spcBef>
              <a:spcAft>
                <a:spcPts val="0"/>
              </a:spcAft>
              <a:buNone/>
            </a:pPr>
            <a:r>
              <a:t/>
            </a:r>
            <a:endParaRPr/>
          </a:p>
        </p:txBody>
      </p:sp>
      <p:sp>
        <p:nvSpPr>
          <p:cNvPr id="4453" name="Google Shape;4453;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7" name="Shape 4537"/>
        <p:cNvGrpSpPr/>
        <p:nvPr/>
      </p:nvGrpSpPr>
      <p:grpSpPr>
        <a:xfrm>
          <a:off x="0" y="0"/>
          <a:ext cx="0" cy="0"/>
          <a:chOff x="0" y="0"/>
          <a:chExt cx="0" cy="0"/>
        </a:xfrm>
      </p:grpSpPr>
      <p:sp>
        <p:nvSpPr>
          <p:cNvPr id="4538" name="Google Shape;453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9" name="Google Shape;4539;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An important mechanism of GBN was the use of the cumulative acknowledgements, and as we mentioned, cumulative ACKs are used in TCP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 alternate ACK mechanism would be for the receiver to indiviually acknowledge specific packets as they are received.  This mechanism is at the heart of the Selective repeat protocol.</a:t>
            </a:r>
            <a:endParaRPr/>
          </a:p>
          <a:p>
            <a:pPr indent="0" lvl="0" marL="0" rtl="0" algn="l">
              <a:spcBef>
                <a:spcPts val="0"/>
              </a:spcBef>
              <a:spcAft>
                <a:spcPts val="0"/>
              </a:spcAft>
              <a:buNone/>
            </a:pPr>
            <a:r>
              <a:t/>
            </a:r>
            <a:endParaRPr/>
          </a:p>
        </p:txBody>
      </p:sp>
      <p:sp>
        <p:nvSpPr>
          <p:cNvPr id="4540" name="Google Shape;4540;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5" name="Shape 4545"/>
        <p:cNvGrpSpPr/>
        <p:nvPr/>
      </p:nvGrpSpPr>
      <p:grpSpPr>
        <a:xfrm>
          <a:off x="0" y="0"/>
          <a:ext cx="0" cy="0"/>
          <a:chOff x="0" y="0"/>
          <a:chExt cx="0" cy="0"/>
        </a:xfrm>
      </p:grpSpPr>
      <p:sp>
        <p:nvSpPr>
          <p:cNvPr id="4546" name="Google Shape;4546;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7" name="Google Shape;4547;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8" name="Google Shape;4548;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3" name="Shape 4563"/>
        <p:cNvGrpSpPr/>
        <p:nvPr/>
      </p:nvGrpSpPr>
      <p:grpSpPr>
        <a:xfrm>
          <a:off x="0" y="0"/>
          <a:ext cx="0" cy="0"/>
          <a:chOff x="0" y="0"/>
          <a:chExt cx="0" cy="0"/>
        </a:xfrm>
      </p:grpSpPr>
      <p:sp>
        <p:nvSpPr>
          <p:cNvPr id="4564" name="Google Shape;4564;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5" name="Google Shape;4565;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If the packet is in order, its data will be delivered, as will any buffered data that can now be delived in order</a:t>
            </a:r>
            <a:endParaRPr/>
          </a:p>
        </p:txBody>
      </p:sp>
      <p:sp>
        <p:nvSpPr>
          <p:cNvPr id="4566" name="Google Shape;4566;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1" name="Shape 4581"/>
        <p:cNvGrpSpPr/>
        <p:nvPr/>
      </p:nvGrpSpPr>
      <p:grpSpPr>
        <a:xfrm>
          <a:off x="0" y="0"/>
          <a:ext cx="0" cy="0"/>
          <a:chOff x="0" y="0"/>
          <a:chExt cx="0" cy="0"/>
        </a:xfrm>
      </p:grpSpPr>
      <p:sp>
        <p:nvSpPr>
          <p:cNvPr id="4582" name="Google Shape;4582;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3" name="Google Shape;4583;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4" name="Google Shape;4584;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1" name="Shape 4661"/>
        <p:cNvGrpSpPr/>
        <p:nvPr/>
      </p:nvGrpSpPr>
      <p:grpSpPr>
        <a:xfrm>
          <a:off x="0" y="0"/>
          <a:ext cx="0" cy="0"/>
          <a:chOff x="0" y="0"/>
          <a:chExt cx="0" cy="0"/>
        </a:xfrm>
      </p:grpSpPr>
      <p:sp>
        <p:nvSpPr>
          <p:cNvPr id="4662" name="Google Shape;4662;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3" name="Google Shape;4663;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4" name="Google Shape;4664;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7" name="Shape 4747"/>
        <p:cNvGrpSpPr/>
        <p:nvPr/>
      </p:nvGrpSpPr>
      <p:grpSpPr>
        <a:xfrm>
          <a:off x="0" y="0"/>
          <a:ext cx="0" cy="0"/>
          <a:chOff x="0" y="0"/>
          <a:chExt cx="0" cy="0"/>
        </a:xfrm>
      </p:grpSpPr>
      <p:sp>
        <p:nvSpPr>
          <p:cNvPr id="4748" name="Google Shape;474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9" name="Google Shape;4749;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0" name="Google Shape;4750;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0" name="Shape 4840"/>
        <p:cNvGrpSpPr/>
        <p:nvPr/>
      </p:nvGrpSpPr>
      <p:grpSpPr>
        <a:xfrm>
          <a:off x="0" y="0"/>
          <a:ext cx="0" cy="0"/>
          <a:chOff x="0" y="0"/>
          <a:chExt cx="0" cy="0"/>
        </a:xfrm>
      </p:grpSpPr>
      <p:sp>
        <p:nvSpPr>
          <p:cNvPr id="4841" name="Google Shape;4841;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2" name="Google Shape;4842;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3" name="Google Shape;4843;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9" name="Shape 4849"/>
        <p:cNvGrpSpPr/>
        <p:nvPr/>
      </p:nvGrpSpPr>
      <p:grpSpPr>
        <a:xfrm>
          <a:off x="0" y="0"/>
          <a:ext cx="0" cy="0"/>
          <a:chOff x="0" y="0"/>
          <a:chExt cx="0" cy="0"/>
        </a:xfrm>
      </p:grpSpPr>
      <p:sp>
        <p:nvSpPr>
          <p:cNvPr id="4850" name="Google Shape;4850;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1" name="Google Shape;4851;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Typical MSS is 1460 bytes</a:t>
            </a:r>
            <a:endParaRPr/>
          </a:p>
        </p:txBody>
      </p:sp>
      <p:sp>
        <p:nvSpPr>
          <p:cNvPr id="4852" name="Google Shape;4852;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8" name="Shape 4858"/>
        <p:cNvGrpSpPr/>
        <p:nvPr/>
      </p:nvGrpSpPr>
      <p:grpSpPr>
        <a:xfrm>
          <a:off x="0" y="0"/>
          <a:ext cx="0" cy="0"/>
          <a:chOff x="0" y="0"/>
          <a:chExt cx="0" cy="0"/>
        </a:xfrm>
      </p:grpSpPr>
      <p:sp>
        <p:nvSpPr>
          <p:cNvPr id="4859" name="Google Shape;485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0" name="Google Shape;4860;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1" name="Google Shape;4861;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1" name="Shape 4941"/>
        <p:cNvGrpSpPr/>
        <p:nvPr/>
      </p:nvGrpSpPr>
      <p:grpSpPr>
        <a:xfrm>
          <a:off x="0" y="0"/>
          <a:ext cx="0" cy="0"/>
          <a:chOff x="0" y="0"/>
          <a:chExt cx="0" cy="0"/>
        </a:xfrm>
      </p:grpSpPr>
      <p:sp>
        <p:nvSpPr>
          <p:cNvPr id="4942" name="Google Shape;4942;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3" name="Google Shape;4943;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4" name="Google Shape;4944;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3" name="Shape 5053"/>
        <p:cNvGrpSpPr/>
        <p:nvPr/>
      </p:nvGrpSpPr>
      <p:grpSpPr>
        <a:xfrm>
          <a:off x="0" y="0"/>
          <a:ext cx="0" cy="0"/>
          <a:chOff x="0" y="0"/>
          <a:chExt cx="0" cy="0"/>
        </a:xfrm>
      </p:grpSpPr>
      <p:sp>
        <p:nvSpPr>
          <p:cNvPr id="5054" name="Google Shape;5054;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5" name="Google Shape;5055;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thing to note here is that the ACK number (43) on the B-to-A segment is one more than the sequence number (42) on the A-toB segment that triggered that ACK</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Similarly, the ACK number (80) on the last A-to-B segment is one more than the sequence number (79) on the B-to-A segment that triggered that ACK</a:t>
            </a:r>
            <a:endParaRPr/>
          </a:p>
          <a:p>
            <a:pPr indent="0" lvl="0" marL="0" rtl="0" algn="l">
              <a:spcBef>
                <a:spcPts val="0"/>
              </a:spcBef>
              <a:spcAft>
                <a:spcPts val="0"/>
              </a:spcAft>
              <a:buNone/>
            </a:pPr>
            <a:r>
              <a:t/>
            </a:r>
            <a:endParaRPr/>
          </a:p>
        </p:txBody>
      </p:sp>
      <p:sp>
        <p:nvSpPr>
          <p:cNvPr id="5056" name="Google Shape;5056;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4" name="Shape 5094"/>
        <p:cNvGrpSpPr/>
        <p:nvPr/>
      </p:nvGrpSpPr>
      <p:grpSpPr>
        <a:xfrm>
          <a:off x="0" y="0"/>
          <a:ext cx="0" cy="0"/>
          <a:chOff x="0" y="0"/>
          <a:chExt cx="0" cy="0"/>
        </a:xfrm>
      </p:grpSpPr>
      <p:sp>
        <p:nvSpPr>
          <p:cNvPr id="5095" name="Google Shape;5095;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6" name="Google Shape;5096;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7" name="Google Shape;5097;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3" name="Shape 5103"/>
        <p:cNvGrpSpPr/>
        <p:nvPr/>
      </p:nvGrpSpPr>
      <p:grpSpPr>
        <a:xfrm>
          <a:off x="0" y="0"/>
          <a:ext cx="0" cy="0"/>
          <a:chOff x="0" y="0"/>
          <a:chExt cx="0" cy="0"/>
        </a:xfrm>
      </p:grpSpPr>
      <p:sp>
        <p:nvSpPr>
          <p:cNvPr id="5104" name="Google Shape;5104;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5" name="Google Shape;5105;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This is how TCP re-computes the estimated RTT each time a new SampleRTT is taken.</a:t>
            </a:r>
            <a:endParaRPr/>
          </a:p>
          <a:p>
            <a:pPr indent="0" lvl="0" marL="0" rtl="0" algn="l">
              <a:spcBef>
                <a:spcPts val="0"/>
              </a:spcBef>
              <a:spcAft>
                <a:spcPts val="0"/>
              </a:spcAft>
              <a:buNone/>
            </a:pPr>
            <a:r>
              <a:rPr lang="en-US"/>
              <a:t>The process is knows as an exponentially weighted moving average, shown by the equation here.</a:t>
            </a:r>
            <a:endParaRPr/>
          </a:p>
          <a:p>
            <a:pPr indent="0" lvl="0" marL="0" rtl="0" algn="l">
              <a:spcBef>
                <a:spcPts val="0"/>
              </a:spcBef>
              <a:spcAft>
                <a:spcPts val="0"/>
              </a:spcAft>
              <a:buNone/>
            </a:pPr>
            <a:r>
              <a:rPr lang="en-US"/>
              <a:t>&lt;say it&gt;</a:t>
            </a:r>
            <a:endParaRPr/>
          </a:p>
          <a:p>
            <a:pPr indent="0" lvl="0" marL="0" rtl="0" algn="l">
              <a:spcBef>
                <a:spcPts val="0"/>
              </a:spcBef>
              <a:spcAft>
                <a:spcPts val="0"/>
              </a:spcAft>
              <a:buNone/>
            </a:pPr>
            <a:r>
              <a:rPr lang="en-US"/>
              <a:t>Where alpha reflects the influence of the most recent measurements on the estimated RTT; a typical value of alpha used in implementaitons is .125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graph at the bottom show measured RTTs beween a host in the Massachusetts and a host in France, as well as the estimated, “smoothed”  RTT</a:t>
            </a:r>
            <a:endParaRPr/>
          </a:p>
        </p:txBody>
      </p:sp>
      <p:sp>
        <p:nvSpPr>
          <p:cNvPr id="5106" name="Google Shape;5106;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7" name="Shape 5127"/>
        <p:cNvGrpSpPr/>
        <p:nvPr/>
      </p:nvGrpSpPr>
      <p:grpSpPr>
        <a:xfrm>
          <a:off x="0" y="0"/>
          <a:ext cx="0" cy="0"/>
          <a:chOff x="0" y="0"/>
          <a:chExt cx="0" cy="0"/>
        </a:xfrm>
      </p:grpSpPr>
      <p:sp>
        <p:nvSpPr>
          <p:cNvPr id="5128" name="Google Shape;5128;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9" name="Google Shape;5129;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Given this value of the estimated RTT, TCP computes the timeout interval to be the estimated RTT plus a “safety margin”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And the intuition is that if we are seeing a large variation in SAMPLERTT – the RTT estimates are fluctuating a lot - then we’ll want a larger savety margin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TCP computes the Timeout interval to be the Estimated RTT plus 4 times a measure of deviation in the RTT.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deviation in the RTT is computed as the eWMA of the difference between the most recently measured SampleRTT from the Estimated RTT</a:t>
            </a:r>
            <a:endParaRPr/>
          </a:p>
        </p:txBody>
      </p:sp>
      <p:sp>
        <p:nvSpPr>
          <p:cNvPr id="5130" name="Google Shape;5130;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9" name="Shape 5149"/>
        <p:cNvGrpSpPr/>
        <p:nvPr/>
      </p:nvGrpSpPr>
      <p:grpSpPr>
        <a:xfrm>
          <a:off x="0" y="0"/>
          <a:ext cx="0" cy="0"/>
          <a:chOff x="0" y="0"/>
          <a:chExt cx="0" cy="0"/>
        </a:xfrm>
      </p:grpSpPr>
      <p:sp>
        <p:nvSpPr>
          <p:cNvPr id="5150" name="Google Shape;5150;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1" name="Google Shape;5151;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Given these details of TCP sequence numbers, acks, and timers, we can now describe the big picture view of how the TCP sender and receiver operate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can check out FSMs in book; let’s just give an English text description here and let’s start with the sender.</a:t>
            </a:r>
            <a:endParaRPr/>
          </a:p>
          <a:p>
            <a:pPr indent="0" lvl="0" marL="0" rtl="0" algn="l">
              <a:spcBef>
                <a:spcPts val="0"/>
              </a:spcBef>
              <a:spcAft>
                <a:spcPts val="0"/>
              </a:spcAft>
              <a:buNone/>
            </a:pPr>
            <a:r>
              <a:t/>
            </a:r>
            <a:endParaRPr/>
          </a:p>
        </p:txBody>
      </p:sp>
      <p:sp>
        <p:nvSpPr>
          <p:cNvPr id="5152" name="Google Shape;5152;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9" name="Shape 5159"/>
        <p:cNvGrpSpPr/>
        <p:nvPr/>
      </p:nvGrpSpPr>
      <p:grpSpPr>
        <a:xfrm>
          <a:off x="0" y="0"/>
          <a:ext cx="0" cy="0"/>
          <a:chOff x="0" y="0"/>
          <a:chExt cx="0" cy="0"/>
        </a:xfrm>
      </p:grpSpPr>
      <p:sp>
        <p:nvSpPr>
          <p:cNvPr id="5160" name="Google Shape;5160;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1" name="Google Shape;5161;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Rather than immediately ACKnowledig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endParaRPr/>
          </a:p>
        </p:txBody>
      </p:sp>
      <p:sp>
        <p:nvSpPr>
          <p:cNvPr id="5162" name="Google Shape;5162;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7" name="Shape 5177"/>
        <p:cNvGrpSpPr/>
        <p:nvPr/>
      </p:nvGrpSpPr>
      <p:grpSpPr>
        <a:xfrm>
          <a:off x="0" y="0"/>
          <a:ext cx="0" cy="0"/>
          <a:chOff x="0" y="0"/>
          <a:chExt cx="0" cy="0"/>
        </a:xfrm>
      </p:grpSpPr>
      <p:sp>
        <p:nvSpPr>
          <p:cNvPr id="5178" name="Google Shape;5178;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9" name="Google Shape;5179;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cement our understanding of TCP reliability, let’s look a a few retransmission scenarios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first case a TCP segments is transmited and the ACK is lost, and the TCP timeout mechanism results in another copy of being transmitted and then re-ACKed a the sender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second example two segments are sent and acknowledged, but there is a premature timeout e for the first segment, which is retransmitted.  Notet that when this retransmitted segment is received, the receiver has already received the first two segments, and so resends a cumulative ACK for both segments received so far, rather than an ACK for just this fist segment.</a:t>
            </a:r>
            <a:endParaRPr/>
          </a:p>
        </p:txBody>
      </p:sp>
      <p:sp>
        <p:nvSpPr>
          <p:cNvPr id="5180" name="Google Shape;5180;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0" name="Shape 5270"/>
        <p:cNvGrpSpPr/>
        <p:nvPr/>
      </p:nvGrpSpPr>
      <p:grpSpPr>
        <a:xfrm>
          <a:off x="0" y="0"/>
          <a:ext cx="0" cy="0"/>
          <a:chOff x="0" y="0"/>
          <a:chExt cx="0" cy="0"/>
        </a:xfrm>
      </p:grpSpPr>
      <p:sp>
        <p:nvSpPr>
          <p:cNvPr id="5271" name="Google Shape;5271;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2" name="Google Shape;5272;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endParaRPr/>
          </a:p>
        </p:txBody>
      </p:sp>
      <p:sp>
        <p:nvSpPr>
          <p:cNvPr id="5273" name="Google Shape;5273;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0" name="Shape 5310"/>
        <p:cNvGrpSpPr/>
        <p:nvPr/>
      </p:nvGrpSpPr>
      <p:grpSpPr>
        <a:xfrm>
          <a:off x="0" y="0"/>
          <a:ext cx="0" cy="0"/>
          <a:chOff x="0" y="0"/>
          <a:chExt cx="0" cy="0"/>
        </a:xfrm>
      </p:grpSpPr>
      <p:sp>
        <p:nvSpPr>
          <p:cNvPr id="5311" name="Google Shape;5311;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2" name="Google Shape;5312;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wrap up our study of TCP reliability by discussing an optimization to the original TCP known as TCP fast retransmit,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Take a look at this example on the right where 5 segments are transmitted and the second segment is lost.  In this case the TCP receiver sends an ACK 100 acknowledging the first received segment.</a:t>
            </a:r>
            <a:endParaRPr/>
          </a:p>
          <a:p>
            <a:pPr indent="0" lvl="0" marL="0" rtl="0" algn="l">
              <a:spcBef>
                <a:spcPts val="0"/>
              </a:spcBef>
              <a:spcAft>
                <a:spcPts val="0"/>
              </a:spcAft>
              <a:buNone/>
            </a:pPr>
            <a:r>
              <a:rPr lang="en-US"/>
              <a:t>When the third segment arrives at the receiver, the TCP receiver sends another ACK 100 since the second segment has not arrived. And similarly for the 4</a:t>
            </a:r>
            <a:r>
              <a:rPr baseline="30000" lang="en-US"/>
              <a:t>th</a:t>
            </a:r>
            <a:r>
              <a:rPr lang="en-US"/>
              <a:t> and 5</a:t>
            </a:r>
            <a:r>
              <a:rPr baseline="30000" lang="en-US"/>
              <a:t>th</a:t>
            </a:r>
            <a:r>
              <a:rPr lang="en-US"/>
              <a:t> segments to arrive.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fast retransmit, the arrival of three duplicate ACK causes the sender to retransmit its oldest unACKed segment, without waiting for a timeout event.  This allows TCP to recover more quickly from what is very likely a loss event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specifically that the second segment has been lost, since three higher -numbered segments were received</a:t>
            </a:r>
            <a:endParaRPr/>
          </a:p>
        </p:txBody>
      </p:sp>
      <p:sp>
        <p:nvSpPr>
          <p:cNvPr id="5313" name="Google Shape;5313;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6" name="Shape 5366"/>
        <p:cNvGrpSpPr/>
        <p:nvPr/>
      </p:nvGrpSpPr>
      <p:grpSpPr>
        <a:xfrm>
          <a:off x="0" y="0"/>
          <a:ext cx="0" cy="0"/>
          <a:chOff x="0" y="0"/>
          <a:chExt cx="0" cy="0"/>
        </a:xfrm>
      </p:grpSpPr>
      <p:sp>
        <p:nvSpPr>
          <p:cNvPr id="5367" name="Google Shape;5367;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8" name="Google Shape;5368;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9" name="Google Shape;5369;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5" name="Shape 5375"/>
        <p:cNvGrpSpPr/>
        <p:nvPr/>
      </p:nvGrpSpPr>
      <p:grpSpPr>
        <a:xfrm>
          <a:off x="0" y="0"/>
          <a:ext cx="0" cy="0"/>
          <a:chOff x="0" y="0"/>
          <a:chExt cx="0" cy="0"/>
        </a:xfrm>
      </p:grpSpPr>
      <p:sp>
        <p:nvSpPr>
          <p:cNvPr id="5376" name="Google Shape;5376;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7" name="Google Shape;5377;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378" name="Google Shape;5378;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7" name="Shape 5427"/>
        <p:cNvGrpSpPr/>
        <p:nvPr/>
      </p:nvGrpSpPr>
      <p:grpSpPr>
        <a:xfrm>
          <a:off x="0" y="0"/>
          <a:ext cx="0" cy="0"/>
          <a:chOff x="0" y="0"/>
          <a:chExt cx="0" cy="0"/>
        </a:xfrm>
      </p:grpSpPr>
      <p:sp>
        <p:nvSpPr>
          <p:cNvPr id="5428" name="Google Shape;5428;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9" name="Google Shape;5429;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430" name="Google Shape;5430;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1" name="Shape 5481"/>
        <p:cNvGrpSpPr/>
        <p:nvPr/>
      </p:nvGrpSpPr>
      <p:grpSpPr>
        <a:xfrm>
          <a:off x="0" y="0"/>
          <a:ext cx="0" cy="0"/>
          <a:chOff x="0" y="0"/>
          <a:chExt cx="0" cy="0"/>
        </a:xfrm>
      </p:grpSpPr>
      <p:sp>
        <p:nvSpPr>
          <p:cNvPr id="5482" name="Google Shape;5482;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3" name="Google Shape;5483;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484" name="Google Shape;5484;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4" name="Shape 5544"/>
        <p:cNvGrpSpPr/>
        <p:nvPr/>
      </p:nvGrpSpPr>
      <p:grpSpPr>
        <a:xfrm>
          <a:off x="0" y="0"/>
          <a:ext cx="0" cy="0"/>
          <a:chOff x="0" y="0"/>
          <a:chExt cx="0" cy="0"/>
        </a:xfrm>
      </p:grpSpPr>
      <p:sp>
        <p:nvSpPr>
          <p:cNvPr id="5545" name="Google Shape;5545;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6" name="Google Shape;5546;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547" name="Google Shape;5547;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0" name="Shape 5600"/>
        <p:cNvGrpSpPr/>
        <p:nvPr/>
      </p:nvGrpSpPr>
      <p:grpSpPr>
        <a:xfrm>
          <a:off x="0" y="0"/>
          <a:ext cx="0" cy="0"/>
          <a:chOff x="0" y="0"/>
          <a:chExt cx="0" cy="0"/>
        </a:xfrm>
      </p:grpSpPr>
      <p:sp>
        <p:nvSpPr>
          <p:cNvPr id="5601" name="Google Shape;5601;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2" name="Google Shape;5602;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603" name="Google Shape;5603;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4" name="Shape 5634"/>
        <p:cNvGrpSpPr/>
        <p:nvPr/>
      </p:nvGrpSpPr>
      <p:grpSpPr>
        <a:xfrm>
          <a:off x="0" y="0"/>
          <a:ext cx="0" cy="0"/>
          <a:chOff x="0" y="0"/>
          <a:chExt cx="0" cy="0"/>
        </a:xfrm>
      </p:grpSpPr>
      <p:sp>
        <p:nvSpPr>
          <p:cNvPr id="5635" name="Google Shape;5635;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6" name="Google Shape;5636;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637" name="Google Shape;5637;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8" name="Shape 5658"/>
        <p:cNvGrpSpPr/>
        <p:nvPr/>
      </p:nvGrpSpPr>
      <p:grpSpPr>
        <a:xfrm>
          <a:off x="0" y="0"/>
          <a:ext cx="0" cy="0"/>
          <a:chOff x="0" y="0"/>
          <a:chExt cx="0" cy="0"/>
        </a:xfrm>
      </p:grpSpPr>
      <p:sp>
        <p:nvSpPr>
          <p:cNvPr id="5659" name="Google Shape;5659;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0" name="Google Shape;5660;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The other TCP topic we’ll want to consider here is that of “connection  management”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200"/>
              <a:buFont typeface="Arial"/>
              <a:buNone/>
            </a:pPr>
            <a:r>
              <a:rPr lang="en-US"/>
              <a:t>The TCP sender and reciver have a number of pieces of shared state that they must establish before actually communication</a:t>
            </a:r>
            <a:endParaRPr/>
          </a:p>
          <a:p>
            <a:pPr indent="-171450" lvl="0" marL="171450" rtl="0" algn="l">
              <a:spcBef>
                <a:spcPts val="0"/>
              </a:spcBef>
              <a:spcAft>
                <a:spcPts val="0"/>
              </a:spcAft>
              <a:buClr>
                <a:schemeClr val="dk1"/>
              </a:buClr>
              <a:buSzPts val="1200"/>
              <a:buFont typeface="Arial"/>
              <a:buChar char="•"/>
            </a:pPr>
            <a:r>
              <a:rPr lang="en-US"/>
              <a:t>FIRST theym ust both agree that they WANT to communicate with each other</a:t>
            </a:r>
            <a:endParaRPr/>
          </a:p>
          <a:p>
            <a:pPr indent="-171450" lvl="0" marL="171450" rtl="0" algn="l">
              <a:spcBef>
                <a:spcPts val="0"/>
              </a:spcBef>
              <a:spcAft>
                <a:spcPts val="0"/>
              </a:spcAft>
              <a:buClr>
                <a:schemeClr val="dk1"/>
              </a:buClr>
              <a:buSzPts val="1200"/>
              <a:buFont typeface="Arial"/>
              <a:buChar char="•"/>
            </a:pPr>
            <a:r>
              <a:rPr lang="en-US"/>
              <a:t>Secondly there are connection parameters – the initial sequence number and the initial receiver-advertised bufferspace that they’ll want to agree on</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This is done via a so-called handshake protocol – the client reaching our to the server, and the server answering back.</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And before diving into the TCP handshake protocol, let’s first consider the problem of handshaking, of establishing shared state. </a:t>
            </a:r>
            <a:endParaRPr/>
          </a:p>
        </p:txBody>
      </p:sp>
      <p:sp>
        <p:nvSpPr>
          <p:cNvPr id="5661" name="Google Shape;5661;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6" name="Shape 5736"/>
        <p:cNvGrpSpPr/>
        <p:nvPr/>
      </p:nvGrpSpPr>
      <p:grpSpPr>
        <a:xfrm>
          <a:off x="0" y="0"/>
          <a:ext cx="0" cy="0"/>
          <a:chOff x="0" y="0"/>
          <a:chExt cx="0" cy="0"/>
        </a:xfrm>
      </p:grpSpPr>
      <p:sp>
        <p:nvSpPr>
          <p:cNvPr id="5737" name="Google Shape;5737;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8" name="Google Shape;5738;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Here’s an example of a two way handshake.  Alice reaches out to Bob and say’s “let’s talk” and Bob says OK, and they start their conversation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a network protocol, the equivalent protocol would be a client sending a “request connection” message saying ”let’s talk, the initial sequence number is x”</a:t>
            </a:r>
            <a:endParaRPr/>
          </a:p>
          <a:p>
            <a:pPr indent="0" lvl="0" marL="0" rtl="0" algn="l">
              <a:spcBef>
                <a:spcPts val="0"/>
              </a:spcBef>
              <a:spcAft>
                <a:spcPts val="0"/>
              </a:spcAft>
              <a:buNone/>
            </a:pPr>
            <a:r>
              <a:rPr lang="en-US"/>
              <a:t>And the server would respond with a message ”I accept your connect 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question we want to ask ourselves is &lt;talk through&gt;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Will this work?  Let’s look at a few scenarios…</a:t>
            </a:r>
            <a:endParaRPr/>
          </a:p>
        </p:txBody>
      </p:sp>
      <p:sp>
        <p:nvSpPr>
          <p:cNvPr id="5739" name="Google Shape;5739;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9" name="Shape 5809"/>
        <p:cNvGrpSpPr/>
        <p:nvPr/>
      </p:nvGrpSpPr>
      <p:grpSpPr>
        <a:xfrm>
          <a:off x="0" y="0"/>
          <a:ext cx="0" cy="0"/>
          <a:chOff x="0" y="0"/>
          <a:chExt cx="0" cy="0"/>
        </a:xfrm>
      </p:grpSpPr>
      <p:sp>
        <p:nvSpPr>
          <p:cNvPr id="5810" name="Google Shape;5810;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1" name="Google Shape;5811;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2" name="Google Shape;5812;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6" name="Shape 5886"/>
        <p:cNvGrpSpPr/>
        <p:nvPr/>
      </p:nvGrpSpPr>
      <p:grpSpPr>
        <a:xfrm>
          <a:off x="0" y="0"/>
          <a:ext cx="0" cy="0"/>
          <a:chOff x="0" y="0"/>
          <a:chExt cx="0" cy="0"/>
        </a:xfrm>
      </p:grpSpPr>
      <p:sp>
        <p:nvSpPr>
          <p:cNvPr id="5887" name="Google Shape;5887;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8" name="Google Shape;5888;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9" name="Google Shape;5889;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1" name="Shape 5971"/>
        <p:cNvGrpSpPr/>
        <p:nvPr/>
      </p:nvGrpSpPr>
      <p:grpSpPr>
        <a:xfrm>
          <a:off x="0" y="0"/>
          <a:ext cx="0" cy="0"/>
          <a:chOff x="0" y="0"/>
          <a:chExt cx="0" cy="0"/>
        </a:xfrm>
      </p:grpSpPr>
      <p:sp>
        <p:nvSpPr>
          <p:cNvPr id="5972" name="Google Shape;5972;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3" name="Google Shape;5973;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4" name="Google Shape;5974;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8" name="Shape 6058"/>
        <p:cNvGrpSpPr/>
        <p:nvPr/>
      </p:nvGrpSpPr>
      <p:grpSpPr>
        <a:xfrm>
          <a:off x="0" y="0"/>
          <a:ext cx="0" cy="0"/>
          <a:chOff x="0" y="0"/>
          <a:chExt cx="0" cy="0"/>
        </a:xfrm>
      </p:grpSpPr>
      <p:sp>
        <p:nvSpPr>
          <p:cNvPr id="6059" name="Google Shape;6059;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0" name="Google Shape;6060;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TCP’s three way handshake, that operates as follows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Let’s say the client and server both create a TCP socket as we learned about in Chapter 2 and enter the LISTEN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client then connects to the server sending a SYN message with a sequence number x (SYN Message is an TCP Segment with SYN but set in the header – you might want to go back and review the TCP segment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server is waiting for a connection, and receives the SYN message enters the SYN received state (NOT the established state and sends a SYN ACK message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the client sends an ACK message to the server, and when the server receiver this enters the ESTABLished state.  This is when the application process would see the return from the wait on the  socket accept() call </a:t>
            </a:r>
            <a:endParaRPr/>
          </a:p>
        </p:txBody>
      </p:sp>
      <p:sp>
        <p:nvSpPr>
          <p:cNvPr id="6061" name="Google Shape;6061;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7" name="Shape 6137"/>
        <p:cNvGrpSpPr/>
        <p:nvPr/>
      </p:nvGrpSpPr>
      <p:grpSpPr>
        <a:xfrm>
          <a:off x="0" y="0"/>
          <a:ext cx="0" cy="0"/>
          <a:chOff x="0" y="0"/>
          <a:chExt cx="0" cy="0"/>
        </a:xfrm>
      </p:grpSpPr>
      <p:sp>
        <p:nvSpPr>
          <p:cNvPr id="6138" name="Google Shape;6138;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9" name="Google Shape;6139;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usual, there’s a human protocol analogy to the three way handshake, and I still remember thinking about this clinging for my life while climbing up a rockface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When you want start climbing you first say ON BELOW (meaning ARE YOU READY WITH MY SAFETY ROPE)</a:t>
            </a:r>
            <a:endParaRPr/>
          </a:p>
          <a:p>
            <a:pPr indent="0" lvl="0" marL="0" rtl="0" algn="l">
              <a:spcBef>
                <a:spcPts val="0"/>
              </a:spcBef>
              <a:spcAft>
                <a:spcPts val="0"/>
              </a:spcAft>
              <a:buNone/>
            </a:pPr>
            <a:r>
              <a:rPr lang="en-US"/>
              <a:t>THE BELYER (server) responds BELAY ON (that lets you know the belayer is ready for you)</a:t>
            </a:r>
            <a:endParaRPr/>
          </a:p>
          <a:p>
            <a:pPr indent="0" lvl="0" marL="0" rtl="0" algn="l">
              <a:spcBef>
                <a:spcPts val="0"/>
              </a:spcBef>
              <a:spcAft>
                <a:spcPts val="0"/>
              </a:spcAft>
              <a:buNone/>
            </a:pPr>
            <a:r>
              <a:rPr lang="en-US"/>
              <a:t>And then you say CLIMING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It’s amazing what can pass through your head when your clinging for your life o a </a:t>
            </a:r>
            <a:endParaRPr/>
          </a:p>
        </p:txBody>
      </p:sp>
      <p:sp>
        <p:nvSpPr>
          <p:cNvPr id="6140" name="Google Shape;6140;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7" name="Shape 6157"/>
        <p:cNvGrpSpPr/>
        <p:nvPr/>
      </p:nvGrpSpPr>
      <p:grpSpPr>
        <a:xfrm>
          <a:off x="0" y="0"/>
          <a:ext cx="0" cy="0"/>
          <a:chOff x="0" y="0"/>
          <a:chExt cx="0" cy="0"/>
        </a:xfrm>
      </p:grpSpPr>
      <p:sp>
        <p:nvSpPr>
          <p:cNvPr id="6158" name="Google Shape;6158;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9" name="Google Shape;6159;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good things must come to an end, and that’s true for a TCP connection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of course there’s a protocol for one side to gracefully close of a TCP connection using a FIN message, to which the other side sends a FINACK message and waits around a bit to respond to any retransmitted FIN messages before timing out.</a:t>
            </a:r>
            <a:endParaRPr/>
          </a:p>
          <a:p>
            <a:pPr indent="0" lvl="0" marL="0" rtl="0" algn="l">
              <a:spcBef>
                <a:spcPts val="0"/>
              </a:spcBef>
              <a:spcAft>
                <a:spcPts val="0"/>
              </a:spcAft>
              <a:buNone/>
            </a:pPr>
            <a:r>
              <a:t/>
            </a:r>
            <a:endParaRPr/>
          </a:p>
        </p:txBody>
      </p:sp>
      <p:sp>
        <p:nvSpPr>
          <p:cNvPr id="6160" name="Google Shape;6160;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5" name="Shape 6165"/>
        <p:cNvGrpSpPr/>
        <p:nvPr/>
      </p:nvGrpSpPr>
      <p:grpSpPr>
        <a:xfrm>
          <a:off x="0" y="0"/>
          <a:ext cx="0" cy="0"/>
          <a:chOff x="0" y="0"/>
          <a:chExt cx="0" cy="0"/>
        </a:xfrm>
      </p:grpSpPr>
      <p:sp>
        <p:nvSpPr>
          <p:cNvPr id="6166" name="Google Shape;6166;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7" name="Google Shape;6167;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8" name="Google Shape;6168;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4" name="Shape 6174"/>
        <p:cNvGrpSpPr/>
        <p:nvPr/>
      </p:nvGrpSpPr>
      <p:grpSpPr>
        <a:xfrm>
          <a:off x="0" y="0"/>
          <a:ext cx="0" cy="0"/>
          <a:chOff x="0" y="0"/>
          <a:chExt cx="0" cy="0"/>
        </a:xfrm>
      </p:grpSpPr>
      <p:sp>
        <p:nvSpPr>
          <p:cNvPr id="6175" name="Google Shape;6175;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6" name="Google Shape;6176;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7" name="Google Shape;6177;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2" name="Shape 6192"/>
        <p:cNvGrpSpPr/>
        <p:nvPr/>
      </p:nvGrpSpPr>
      <p:grpSpPr>
        <a:xfrm>
          <a:off x="0" y="0"/>
          <a:ext cx="0" cy="0"/>
          <a:chOff x="0" y="0"/>
          <a:chExt cx="0" cy="0"/>
        </a:xfrm>
      </p:grpSpPr>
      <p:sp>
        <p:nvSpPr>
          <p:cNvPr id="6193" name="Google Shape;6193;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4" name="Google Shape;6194;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5" name="Google Shape;6195;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8" name="Shape 6388"/>
        <p:cNvGrpSpPr/>
        <p:nvPr/>
      </p:nvGrpSpPr>
      <p:grpSpPr>
        <a:xfrm>
          <a:off x="0" y="0"/>
          <a:ext cx="0" cy="0"/>
          <a:chOff x="0" y="0"/>
          <a:chExt cx="0" cy="0"/>
        </a:xfrm>
      </p:grpSpPr>
      <p:sp>
        <p:nvSpPr>
          <p:cNvPr id="6389" name="Google Shape;6389;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0" name="Google Shape;6390;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1" name="Google Shape;6391;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9" name="Shape 6549"/>
        <p:cNvGrpSpPr/>
        <p:nvPr/>
      </p:nvGrpSpPr>
      <p:grpSpPr>
        <a:xfrm>
          <a:off x="0" y="0"/>
          <a:ext cx="0" cy="0"/>
          <a:chOff x="0" y="0"/>
          <a:chExt cx="0" cy="0"/>
        </a:xfrm>
      </p:grpSpPr>
      <p:sp>
        <p:nvSpPr>
          <p:cNvPr id="6550" name="Google Shape;6550;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1" name="Google Shape;6551;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2" name="Google Shape;6552;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4" name="Shape 6724"/>
        <p:cNvGrpSpPr/>
        <p:nvPr/>
      </p:nvGrpSpPr>
      <p:grpSpPr>
        <a:xfrm>
          <a:off x="0" y="0"/>
          <a:ext cx="0" cy="0"/>
          <a:chOff x="0" y="0"/>
          <a:chExt cx="0" cy="0"/>
        </a:xfrm>
      </p:grpSpPr>
      <p:sp>
        <p:nvSpPr>
          <p:cNvPr id="6725" name="Google Shape;6725;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6" name="Google Shape;6726;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7" name="Google Shape;6727;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2" name="Shape 6882"/>
        <p:cNvGrpSpPr/>
        <p:nvPr/>
      </p:nvGrpSpPr>
      <p:grpSpPr>
        <a:xfrm>
          <a:off x="0" y="0"/>
          <a:ext cx="0" cy="0"/>
          <a:chOff x="0" y="0"/>
          <a:chExt cx="0" cy="0"/>
        </a:xfrm>
      </p:grpSpPr>
      <p:sp>
        <p:nvSpPr>
          <p:cNvPr id="6883" name="Google Shape;6883;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4" name="Google Shape;6884;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5" name="Google Shape;6885;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5" name="Shape 7065"/>
        <p:cNvGrpSpPr/>
        <p:nvPr/>
      </p:nvGrpSpPr>
      <p:grpSpPr>
        <a:xfrm>
          <a:off x="0" y="0"/>
          <a:ext cx="0" cy="0"/>
          <a:chOff x="0" y="0"/>
          <a:chExt cx="0" cy="0"/>
        </a:xfrm>
      </p:grpSpPr>
      <p:sp>
        <p:nvSpPr>
          <p:cNvPr id="7066" name="Google Shape;7066;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7" name="Google Shape;7067;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8" name="Google Shape;7068;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9" name="Shape 7259"/>
        <p:cNvGrpSpPr/>
        <p:nvPr/>
      </p:nvGrpSpPr>
      <p:grpSpPr>
        <a:xfrm>
          <a:off x="0" y="0"/>
          <a:ext cx="0" cy="0"/>
          <a:chOff x="0" y="0"/>
          <a:chExt cx="0" cy="0"/>
        </a:xfrm>
      </p:grpSpPr>
      <p:sp>
        <p:nvSpPr>
          <p:cNvPr id="7260" name="Google Shape;7260;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1" name="Google Shape;7261;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2" name="Google Shape;7262;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5" name="Shape 7295"/>
        <p:cNvGrpSpPr/>
        <p:nvPr/>
      </p:nvGrpSpPr>
      <p:grpSpPr>
        <a:xfrm>
          <a:off x="0" y="0"/>
          <a:ext cx="0" cy="0"/>
          <a:chOff x="0" y="0"/>
          <a:chExt cx="0" cy="0"/>
        </a:xfrm>
      </p:grpSpPr>
      <p:sp>
        <p:nvSpPr>
          <p:cNvPr id="7296" name="Google Shape;7296;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7" name="Google Shape;7297;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8" name="Google Shape;7298;p1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0" name="Shape 7580"/>
        <p:cNvGrpSpPr/>
        <p:nvPr/>
      </p:nvGrpSpPr>
      <p:grpSpPr>
        <a:xfrm>
          <a:off x="0" y="0"/>
          <a:ext cx="0" cy="0"/>
          <a:chOff x="0" y="0"/>
          <a:chExt cx="0" cy="0"/>
        </a:xfrm>
      </p:grpSpPr>
      <p:sp>
        <p:nvSpPr>
          <p:cNvPr id="7581" name="Google Shape;7581;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2" name="Google Shape;7582;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3" name="Google Shape;7583;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4" name="Shape 7714"/>
        <p:cNvGrpSpPr/>
        <p:nvPr/>
      </p:nvGrpSpPr>
      <p:grpSpPr>
        <a:xfrm>
          <a:off x="0" y="0"/>
          <a:ext cx="0" cy="0"/>
          <a:chOff x="0" y="0"/>
          <a:chExt cx="0" cy="0"/>
        </a:xfrm>
      </p:grpSpPr>
      <p:sp>
        <p:nvSpPr>
          <p:cNvPr id="7715" name="Google Shape;7715;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6" name="Google Shape;7716;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7" name="Google Shape;7717;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7" name="Shape 7737"/>
        <p:cNvGrpSpPr/>
        <p:nvPr/>
      </p:nvGrpSpPr>
      <p:grpSpPr>
        <a:xfrm>
          <a:off x="0" y="0"/>
          <a:ext cx="0" cy="0"/>
          <a:chOff x="0" y="0"/>
          <a:chExt cx="0" cy="0"/>
        </a:xfrm>
      </p:grpSpPr>
      <p:sp>
        <p:nvSpPr>
          <p:cNvPr id="7738" name="Google Shape;7738;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9" name="Google Shape;7739;p1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0" name="Google Shape;7740;p1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0" name="Shape 7870"/>
        <p:cNvGrpSpPr/>
        <p:nvPr/>
      </p:nvGrpSpPr>
      <p:grpSpPr>
        <a:xfrm>
          <a:off x="0" y="0"/>
          <a:ext cx="0" cy="0"/>
          <a:chOff x="0" y="0"/>
          <a:chExt cx="0" cy="0"/>
        </a:xfrm>
      </p:grpSpPr>
      <p:sp>
        <p:nvSpPr>
          <p:cNvPr id="7871" name="Google Shape;7871;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2" name="Google Shape;7872;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73" name="Google Shape;7873;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7" name="Shape 8007"/>
        <p:cNvGrpSpPr/>
        <p:nvPr/>
      </p:nvGrpSpPr>
      <p:grpSpPr>
        <a:xfrm>
          <a:off x="0" y="0"/>
          <a:ext cx="0" cy="0"/>
          <a:chOff x="0" y="0"/>
          <a:chExt cx="0" cy="0"/>
        </a:xfrm>
      </p:grpSpPr>
      <p:sp>
        <p:nvSpPr>
          <p:cNvPr id="8008" name="Google Shape;8008;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9" name="Google Shape;8009;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0" name="Google Shape;8010;p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6" name="Shape 8016"/>
        <p:cNvGrpSpPr/>
        <p:nvPr/>
      </p:nvGrpSpPr>
      <p:grpSpPr>
        <a:xfrm>
          <a:off x="0" y="0"/>
          <a:ext cx="0" cy="0"/>
          <a:chOff x="0" y="0"/>
          <a:chExt cx="0" cy="0"/>
        </a:xfrm>
      </p:grpSpPr>
      <p:sp>
        <p:nvSpPr>
          <p:cNvPr id="8017" name="Google Shape;8017;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18" name="Google Shape;8018;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9" name="Google Shape;8019;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8" name="Shape 8068"/>
        <p:cNvGrpSpPr/>
        <p:nvPr/>
      </p:nvGrpSpPr>
      <p:grpSpPr>
        <a:xfrm>
          <a:off x="0" y="0"/>
          <a:ext cx="0" cy="0"/>
          <a:chOff x="0" y="0"/>
          <a:chExt cx="0" cy="0"/>
        </a:xfrm>
      </p:grpSpPr>
      <p:sp>
        <p:nvSpPr>
          <p:cNvPr id="8069" name="Google Shape;8069;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0" name="Google Shape;8070;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1" name="Google Shape;8071;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7" name="Shape 8077"/>
        <p:cNvGrpSpPr/>
        <p:nvPr/>
      </p:nvGrpSpPr>
      <p:grpSpPr>
        <a:xfrm>
          <a:off x="0" y="0"/>
          <a:ext cx="0" cy="0"/>
          <a:chOff x="0" y="0"/>
          <a:chExt cx="0" cy="0"/>
        </a:xfrm>
      </p:grpSpPr>
      <p:sp>
        <p:nvSpPr>
          <p:cNvPr id="8078" name="Google Shape;8078;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9" name="Google Shape;8079;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0" name="Google Shape;8080;p1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9" name="Shape 8169"/>
        <p:cNvGrpSpPr/>
        <p:nvPr/>
      </p:nvGrpSpPr>
      <p:grpSpPr>
        <a:xfrm>
          <a:off x="0" y="0"/>
          <a:ext cx="0" cy="0"/>
          <a:chOff x="0" y="0"/>
          <a:chExt cx="0" cy="0"/>
        </a:xfrm>
      </p:grpSpPr>
      <p:sp>
        <p:nvSpPr>
          <p:cNvPr id="8170" name="Google Shape;8170;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1" name="Google Shape;8171;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2" name="Google Shape;8172;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6" name="Shape 8246"/>
        <p:cNvGrpSpPr/>
        <p:nvPr/>
      </p:nvGrpSpPr>
      <p:grpSpPr>
        <a:xfrm>
          <a:off x="0" y="0"/>
          <a:ext cx="0" cy="0"/>
          <a:chOff x="0" y="0"/>
          <a:chExt cx="0" cy="0"/>
        </a:xfrm>
      </p:grpSpPr>
      <p:sp>
        <p:nvSpPr>
          <p:cNvPr id="8247" name="Google Shape;8247;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48" name="Google Shape;8248;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49" name="Google Shape;8249;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2" name="Shape 8262"/>
        <p:cNvGrpSpPr/>
        <p:nvPr/>
      </p:nvGrpSpPr>
      <p:grpSpPr>
        <a:xfrm>
          <a:off x="0" y="0"/>
          <a:ext cx="0" cy="0"/>
          <a:chOff x="0" y="0"/>
          <a:chExt cx="0" cy="0"/>
        </a:xfrm>
      </p:grpSpPr>
      <p:sp>
        <p:nvSpPr>
          <p:cNvPr id="8263" name="Google Shape;8263;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4" name="Google Shape;8264;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65" name="Google Shape;8265;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5" name="Shape 8375"/>
        <p:cNvGrpSpPr/>
        <p:nvPr/>
      </p:nvGrpSpPr>
      <p:grpSpPr>
        <a:xfrm>
          <a:off x="0" y="0"/>
          <a:ext cx="0" cy="0"/>
          <a:chOff x="0" y="0"/>
          <a:chExt cx="0" cy="0"/>
        </a:xfrm>
      </p:grpSpPr>
      <p:sp>
        <p:nvSpPr>
          <p:cNvPr id="8376" name="Google Shape;8376;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7" name="Google Shape;8377;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8" name="Google Shape;8378;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5" name="Shape 8415"/>
        <p:cNvGrpSpPr/>
        <p:nvPr/>
      </p:nvGrpSpPr>
      <p:grpSpPr>
        <a:xfrm>
          <a:off x="0" y="0"/>
          <a:ext cx="0" cy="0"/>
          <a:chOff x="0" y="0"/>
          <a:chExt cx="0" cy="0"/>
        </a:xfrm>
      </p:grpSpPr>
      <p:sp>
        <p:nvSpPr>
          <p:cNvPr id="8416" name="Google Shape;8416;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7" name="Google Shape;8417;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8" name="Google Shape;8418;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6" name="Shape 8456"/>
        <p:cNvGrpSpPr/>
        <p:nvPr/>
      </p:nvGrpSpPr>
      <p:grpSpPr>
        <a:xfrm>
          <a:off x="0" y="0"/>
          <a:ext cx="0" cy="0"/>
          <a:chOff x="0" y="0"/>
          <a:chExt cx="0" cy="0"/>
        </a:xfrm>
      </p:grpSpPr>
      <p:sp>
        <p:nvSpPr>
          <p:cNvPr id="8457" name="Google Shape;8457;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8" name="Google Shape;8458;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59" name="Google Shape;8459;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9" name="Shape 8599"/>
        <p:cNvGrpSpPr/>
        <p:nvPr/>
      </p:nvGrpSpPr>
      <p:grpSpPr>
        <a:xfrm>
          <a:off x="0" y="0"/>
          <a:ext cx="0" cy="0"/>
          <a:chOff x="0" y="0"/>
          <a:chExt cx="0" cy="0"/>
        </a:xfrm>
      </p:grpSpPr>
      <p:sp>
        <p:nvSpPr>
          <p:cNvPr id="8600" name="Google Shape;8600;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1" name="Google Shape;8601;p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2" name="Google Shape;8602;p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9" name="Shape 8709"/>
        <p:cNvGrpSpPr/>
        <p:nvPr/>
      </p:nvGrpSpPr>
      <p:grpSpPr>
        <a:xfrm>
          <a:off x="0" y="0"/>
          <a:ext cx="0" cy="0"/>
          <a:chOff x="0" y="0"/>
          <a:chExt cx="0" cy="0"/>
        </a:xfrm>
      </p:grpSpPr>
      <p:sp>
        <p:nvSpPr>
          <p:cNvPr id="8710" name="Google Shape;8710;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1" name="Google Shape;8711;p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2" name="Google Shape;8712;p1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6" name="Shape 8746"/>
        <p:cNvGrpSpPr/>
        <p:nvPr/>
      </p:nvGrpSpPr>
      <p:grpSpPr>
        <a:xfrm>
          <a:off x="0" y="0"/>
          <a:ext cx="0" cy="0"/>
          <a:chOff x="0" y="0"/>
          <a:chExt cx="0" cy="0"/>
        </a:xfrm>
      </p:grpSpPr>
      <p:sp>
        <p:nvSpPr>
          <p:cNvPr id="8747" name="Google Shape;8747;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8" name="Google Shape;8748;p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9" name="Google Shape;8749;p1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5" name="Shape 8755"/>
        <p:cNvGrpSpPr/>
        <p:nvPr/>
      </p:nvGrpSpPr>
      <p:grpSpPr>
        <a:xfrm>
          <a:off x="0" y="0"/>
          <a:ext cx="0" cy="0"/>
          <a:chOff x="0" y="0"/>
          <a:chExt cx="0" cy="0"/>
        </a:xfrm>
      </p:grpSpPr>
      <p:sp>
        <p:nvSpPr>
          <p:cNvPr id="8756" name="Google Shape;8756;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7" name="Google Shape;8757;p1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8" name="Google Shape;8758;p1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0" name="Shape 8880"/>
        <p:cNvGrpSpPr/>
        <p:nvPr/>
      </p:nvGrpSpPr>
      <p:grpSpPr>
        <a:xfrm>
          <a:off x="0" y="0"/>
          <a:ext cx="0" cy="0"/>
          <a:chOff x="0" y="0"/>
          <a:chExt cx="0" cy="0"/>
        </a:xfrm>
      </p:grpSpPr>
      <p:sp>
        <p:nvSpPr>
          <p:cNvPr id="8881" name="Google Shape;8881;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82" name="Google Shape;8882;p1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3" name="Google Shape;8883;p1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0" name="Shape 8920"/>
        <p:cNvGrpSpPr/>
        <p:nvPr/>
      </p:nvGrpSpPr>
      <p:grpSpPr>
        <a:xfrm>
          <a:off x="0" y="0"/>
          <a:ext cx="0" cy="0"/>
          <a:chOff x="0" y="0"/>
          <a:chExt cx="0" cy="0"/>
        </a:xfrm>
      </p:grpSpPr>
      <p:sp>
        <p:nvSpPr>
          <p:cNvPr id="8921" name="Google Shape;8921;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2" name="Google Shape;8922;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3" name="Google Shape;8923;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4" name="Shape 8954"/>
        <p:cNvGrpSpPr/>
        <p:nvPr/>
      </p:nvGrpSpPr>
      <p:grpSpPr>
        <a:xfrm>
          <a:off x="0" y="0"/>
          <a:ext cx="0" cy="0"/>
          <a:chOff x="0" y="0"/>
          <a:chExt cx="0" cy="0"/>
        </a:xfrm>
      </p:grpSpPr>
      <p:sp>
        <p:nvSpPr>
          <p:cNvPr id="8955" name="Google Shape;8955;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6" name="Google Shape;8956;p1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7" name="Google Shape;8957;p1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3" name="Shape 8963"/>
        <p:cNvGrpSpPr/>
        <p:nvPr/>
      </p:nvGrpSpPr>
      <p:grpSpPr>
        <a:xfrm>
          <a:off x="0" y="0"/>
          <a:ext cx="0" cy="0"/>
          <a:chOff x="0" y="0"/>
          <a:chExt cx="0" cy="0"/>
        </a:xfrm>
      </p:grpSpPr>
      <p:sp>
        <p:nvSpPr>
          <p:cNvPr id="8964" name="Google Shape;8964;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5" name="Google Shape;8965;p1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66" name="Google Shape;8966;p1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2" name="Shape 8972"/>
        <p:cNvGrpSpPr/>
        <p:nvPr/>
      </p:nvGrpSpPr>
      <p:grpSpPr>
        <a:xfrm>
          <a:off x="0" y="0"/>
          <a:ext cx="0" cy="0"/>
          <a:chOff x="0" y="0"/>
          <a:chExt cx="0" cy="0"/>
        </a:xfrm>
      </p:grpSpPr>
      <p:sp>
        <p:nvSpPr>
          <p:cNvPr id="8973" name="Google Shape;8973;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4" name="Google Shape;8974;p1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75" name="Google Shape;8975;p1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2" name="Shape 8982"/>
        <p:cNvGrpSpPr/>
        <p:nvPr/>
      </p:nvGrpSpPr>
      <p:grpSpPr>
        <a:xfrm>
          <a:off x="0" y="0"/>
          <a:ext cx="0" cy="0"/>
          <a:chOff x="0" y="0"/>
          <a:chExt cx="0" cy="0"/>
        </a:xfrm>
      </p:grpSpPr>
      <p:sp>
        <p:nvSpPr>
          <p:cNvPr id="8983" name="Google Shape;8983;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4" name="Google Shape;8984;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5" name="Google Shape;8985;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8" name="Shape 9018"/>
        <p:cNvGrpSpPr/>
        <p:nvPr/>
      </p:nvGrpSpPr>
      <p:grpSpPr>
        <a:xfrm>
          <a:off x="0" y="0"/>
          <a:ext cx="0" cy="0"/>
          <a:chOff x="0" y="0"/>
          <a:chExt cx="0" cy="0"/>
        </a:xfrm>
      </p:grpSpPr>
      <p:sp>
        <p:nvSpPr>
          <p:cNvPr id="9019" name="Google Shape;9019;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0" name="Google Shape;9020;p1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1" name="Google Shape;9021;p1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8" name="Shape 9028"/>
        <p:cNvGrpSpPr/>
        <p:nvPr/>
      </p:nvGrpSpPr>
      <p:grpSpPr>
        <a:xfrm>
          <a:off x="0" y="0"/>
          <a:ext cx="0" cy="0"/>
          <a:chOff x="0" y="0"/>
          <a:chExt cx="0" cy="0"/>
        </a:xfrm>
      </p:grpSpPr>
      <p:sp>
        <p:nvSpPr>
          <p:cNvPr id="9029" name="Google Shape;9029;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0" name="Google Shape;9030;p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31" name="Google Shape;9031;p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7" name="Shape 9127"/>
        <p:cNvGrpSpPr/>
        <p:nvPr/>
      </p:nvGrpSpPr>
      <p:grpSpPr>
        <a:xfrm>
          <a:off x="0" y="0"/>
          <a:ext cx="0" cy="0"/>
          <a:chOff x="0" y="0"/>
          <a:chExt cx="0" cy="0"/>
        </a:xfrm>
      </p:grpSpPr>
      <p:sp>
        <p:nvSpPr>
          <p:cNvPr id="9128" name="Google Shape;9128;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29" name="Google Shape;9129;p1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30" name="Google Shape;9130;p1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7" name="Shape 9317"/>
        <p:cNvGrpSpPr/>
        <p:nvPr/>
      </p:nvGrpSpPr>
      <p:grpSpPr>
        <a:xfrm>
          <a:off x="0" y="0"/>
          <a:ext cx="0" cy="0"/>
          <a:chOff x="0" y="0"/>
          <a:chExt cx="0" cy="0"/>
        </a:xfrm>
      </p:grpSpPr>
      <p:sp>
        <p:nvSpPr>
          <p:cNvPr id="9318" name="Google Shape;9318;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19" name="Google Shape;9319;p1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0" name="Google Shape;9320;p1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6" name="Shape 9326"/>
        <p:cNvGrpSpPr/>
        <p:nvPr/>
      </p:nvGrpSpPr>
      <p:grpSpPr>
        <a:xfrm>
          <a:off x="0" y="0"/>
          <a:ext cx="0" cy="0"/>
          <a:chOff x="0" y="0"/>
          <a:chExt cx="0" cy="0"/>
        </a:xfrm>
      </p:grpSpPr>
      <p:sp>
        <p:nvSpPr>
          <p:cNvPr id="9327" name="Google Shape;9327;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28" name="Google Shape;9328;p1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9" name="Google Shape;9329;p1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3" name="Shape 9333"/>
        <p:cNvGrpSpPr/>
        <p:nvPr/>
      </p:nvGrpSpPr>
      <p:grpSpPr>
        <a:xfrm>
          <a:off x="0" y="0"/>
          <a:ext cx="0" cy="0"/>
          <a:chOff x="0" y="0"/>
          <a:chExt cx="0" cy="0"/>
        </a:xfrm>
      </p:grpSpPr>
      <p:sp>
        <p:nvSpPr>
          <p:cNvPr id="9334" name="Google Shape;9334;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5" name="Google Shape;9335;p1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36" name="Google Shape;9336;p1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6" name="Shape 9366"/>
        <p:cNvGrpSpPr/>
        <p:nvPr/>
      </p:nvGrpSpPr>
      <p:grpSpPr>
        <a:xfrm>
          <a:off x="0" y="0"/>
          <a:ext cx="0" cy="0"/>
          <a:chOff x="0" y="0"/>
          <a:chExt cx="0" cy="0"/>
        </a:xfrm>
      </p:grpSpPr>
      <p:sp>
        <p:nvSpPr>
          <p:cNvPr id="9367" name="Google Shape;9367;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8" name="Google Shape;9368;p1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69" name="Google Shape;9369;p1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9" name="Shape 9389"/>
        <p:cNvGrpSpPr/>
        <p:nvPr/>
      </p:nvGrpSpPr>
      <p:grpSpPr>
        <a:xfrm>
          <a:off x="0" y="0"/>
          <a:ext cx="0" cy="0"/>
          <a:chOff x="0" y="0"/>
          <a:chExt cx="0" cy="0"/>
        </a:xfrm>
      </p:grpSpPr>
      <p:sp>
        <p:nvSpPr>
          <p:cNvPr id="9390" name="Google Shape;9390;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1" name="Google Shape;9391;p1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2" name="Google Shape;9392;p1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9" name="Shape 9419"/>
        <p:cNvGrpSpPr/>
        <p:nvPr/>
      </p:nvGrpSpPr>
      <p:grpSpPr>
        <a:xfrm>
          <a:off x="0" y="0"/>
          <a:ext cx="0" cy="0"/>
          <a:chOff x="0" y="0"/>
          <a:chExt cx="0" cy="0"/>
        </a:xfrm>
      </p:grpSpPr>
      <p:sp>
        <p:nvSpPr>
          <p:cNvPr id="9420" name="Google Shape;9420;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21" name="Google Shape;9421;p1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22" name="Google Shape;9422;p1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8" name="Shape 9468"/>
        <p:cNvGrpSpPr/>
        <p:nvPr/>
      </p:nvGrpSpPr>
      <p:grpSpPr>
        <a:xfrm>
          <a:off x="0" y="0"/>
          <a:ext cx="0" cy="0"/>
          <a:chOff x="0" y="0"/>
          <a:chExt cx="0" cy="0"/>
        </a:xfrm>
      </p:grpSpPr>
      <p:sp>
        <p:nvSpPr>
          <p:cNvPr id="9469" name="Google Shape;9469;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0" name="Google Shape;9470;p1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1" name="Google Shape;9471;p1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4" name="Shape 9564"/>
        <p:cNvGrpSpPr/>
        <p:nvPr/>
      </p:nvGrpSpPr>
      <p:grpSpPr>
        <a:xfrm>
          <a:off x="0" y="0"/>
          <a:ext cx="0" cy="0"/>
          <a:chOff x="0" y="0"/>
          <a:chExt cx="0" cy="0"/>
        </a:xfrm>
      </p:grpSpPr>
      <p:sp>
        <p:nvSpPr>
          <p:cNvPr id="9565" name="Google Shape;9565;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66" name="Google Shape;9566;p1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67" name="Google Shape;9567;p1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9" name="Shape 9589"/>
        <p:cNvGrpSpPr/>
        <p:nvPr/>
      </p:nvGrpSpPr>
      <p:grpSpPr>
        <a:xfrm>
          <a:off x="0" y="0"/>
          <a:ext cx="0" cy="0"/>
          <a:chOff x="0" y="0"/>
          <a:chExt cx="0" cy="0"/>
        </a:xfrm>
      </p:grpSpPr>
      <p:sp>
        <p:nvSpPr>
          <p:cNvPr id="9590" name="Google Shape;9590;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1" name="Google Shape;9591;p1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2" name="Google Shape;9592;p1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20" Type="http://schemas.openxmlformats.org/officeDocument/2006/relationships/image" Target="../media/image18.png"/><Relationship Id="rId11" Type="http://schemas.openxmlformats.org/officeDocument/2006/relationships/image" Target="../media/image10.png"/><Relationship Id="rId22" Type="http://schemas.openxmlformats.org/officeDocument/2006/relationships/image" Target="../media/image23.png"/><Relationship Id="rId10" Type="http://schemas.openxmlformats.org/officeDocument/2006/relationships/image" Target="../media/image6.png"/><Relationship Id="rId21" Type="http://schemas.openxmlformats.org/officeDocument/2006/relationships/image" Target="../media/image20.png"/><Relationship Id="rId13" Type="http://schemas.openxmlformats.org/officeDocument/2006/relationships/image" Target="../media/image42.png"/><Relationship Id="rId12" Type="http://schemas.openxmlformats.org/officeDocument/2006/relationships/image" Target="../media/image8.png"/><Relationship Id="rId23" Type="http://schemas.openxmlformats.org/officeDocument/2006/relationships/image" Target="../media/image27.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9.png"/><Relationship Id="rId15" Type="http://schemas.openxmlformats.org/officeDocument/2006/relationships/image" Target="../media/image14.png"/><Relationship Id="rId14" Type="http://schemas.openxmlformats.org/officeDocument/2006/relationships/image" Target="../media/image13.png"/><Relationship Id="rId17" Type="http://schemas.openxmlformats.org/officeDocument/2006/relationships/image" Target="../media/image16.png"/><Relationship Id="rId16" Type="http://schemas.openxmlformats.org/officeDocument/2006/relationships/image" Target="../media/image17.png"/><Relationship Id="rId5" Type="http://schemas.openxmlformats.org/officeDocument/2006/relationships/image" Target="../media/image3.png"/><Relationship Id="rId19" Type="http://schemas.openxmlformats.org/officeDocument/2006/relationships/image" Target="../media/image26.png"/><Relationship Id="rId6" Type="http://schemas.openxmlformats.org/officeDocument/2006/relationships/image" Target="../media/image7.png"/><Relationship Id="rId18" Type="http://schemas.openxmlformats.org/officeDocument/2006/relationships/image" Target="../media/image28.png"/><Relationship Id="rId7" Type="http://schemas.openxmlformats.org/officeDocument/2006/relationships/image" Target="../media/image21.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0" Type="http://schemas.openxmlformats.org/officeDocument/2006/relationships/image" Target="../media/image18.png"/><Relationship Id="rId11" Type="http://schemas.openxmlformats.org/officeDocument/2006/relationships/image" Target="../media/image10.png"/><Relationship Id="rId22" Type="http://schemas.openxmlformats.org/officeDocument/2006/relationships/image" Target="../media/image23.png"/><Relationship Id="rId10" Type="http://schemas.openxmlformats.org/officeDocument/2006/relationships/image" Target="../media/image6.png"/><Relationship Id="rId21" Type="http://schemas.openxmlformats.org/officeDocument/2006/relationships/image" Target="../media/image20.png"/><Relationship Id="rId13" Type="http://schemas.openxmlformats.org/officeDocument/2006/relationships/image" Target="../media/image42.png"/><Relationship Id="rId12" Type="http://schemas.openxmlformats.org/officeDocument/2006/relationships/image" Target="../media/image8.png"/><Relationship Id="rId23" Type="http://schemas.openxmlformats.org/officeDocument/2006/relationships/image" Target="../media/image27.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9.png"/><Relationship Id="rId15" Type="http://schemas.openxmlformats.org/officeDocument/2006/relationships/image" Target="../media/image14.png"/><Relationship Id="rId14" Type="http://schemas.openxmlformats.org/officeDocument/2006/relationships/image" Target="../media/image13.png"/><Relationship Id="rId17" Type="http://schemas.openxmlformats.org/officeDocument/2006/relationships/image" Target="../media/image16.png"/><Relationship Id="rId16" Type="http://schemas.openxmlformats.org/officeDocument/2006/relationships/image" Target="../media/image17.png"/><Relationship Id="rId5" Type="http://schemas.openxmlformats.org/officeDocument/2006/relationships/image" Target="../media/image3.png"/><Relationship Id="rId19" Type="http://schemas.openxmlformats.org/officeDocument/2006/relationships/image" Target="../media/image26.png"/><Relationship Id="rId6" Type="http://schemas.openxmlformats.org/officeDocument/2006/relationships/image" Target="../media/image7.png"/><Relationship Id="rId18" Type="http://schemas.openxmlformats.org/officeDocument/2006/relationships/image" Target="../media/image28.png"/><Relationship Id="rId7" Type="http://schemas.openxmlformats.org/officeDocument/2006/relationships/image" Target="../media/image21.png"/><Relationship Id="rId8"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3.png"/><Relationship Id="rId4" Type="http://schemas.openxmlformats.org/officeDocument/2006/relationships/image" Target="../media/image47.png"/><Relationship Id="rId5" Type="http://schemas.openxmlformats.org/officeDocument/2006/relationships/image" Target="../media/image49.jpg"/><Relationship Id="rId6" Type="http://schemas.openxmlformats.org/officeDocument/2006/relationships/image" Target="../media/image52.png"/><Relationship Id="rId7" Type="http://schemas.openxmlformats.org/officeDocument/2006/relationships/image" Target="../media/image9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3.png"/><Relationship Id="rId4" Type="http://schemas.openxmlformats.org/officeDocument/2006/relationships/image" Target="../media/image47.png"/><Relationship Id="rId5" Type="http://schemas.openxmlformats.org/officeDocument/2006/relationships/image" Target="../media/image49.jpg"/><Relationship Id="rId6" Type="http://schemas.openxmlformats.org/officeDocument/2006/relationships/image" Target="../media/image52.png"/><Relationship Id="rId7" Type="http://schemas.openxmlformats.org/officeDocument/2006/relationships/image" Target="../media/image9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47.png"/><Relationship Id="rId5" Type="http://schemas.openxmlformats.org/officeDocument/2006/relationships/image" Target="../media/image49.jpg"/><Relationship Id="rId6" Type="http://schemas.openxmlformats.org/officeDocument/2006/relationships/image" Target="../media/image52.png"/><Relationship Id="rId7" Type="http://schemas.openxmlformats.org/officeDocument/2006/relationships/image" Target="../media/image9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3.png"/><Relationship Id="rId4" Type="http://schemas.openxmlformats.org/officeDocument/2006/relationships/image" Target="../media/image47.png"/><Relationship Id="rId5" Type="http://schemas.openxmlformats.org/officeDocument/2006/relationships/image" Target="../media/image49.jpg"/><Relationship Id="rId6" Type="http://schemas.openxmlformats.org/officeDocument/2006/relationships/image" Target="../media/image52.png"/><Relationship Id="rId7" Type="http://schemas.openxmlformats.org/officeDocument/2006/relationships/image" Target="../media/image9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3.png"/><Relationship Id="rId4" Type="http://schemas.openxmlformats.org/officeDocument/2006/relationships/image" Target="../media/image47.png"/><Relationship Id="rId5" Type="http://schemas.openxmlformats.org/officeDocument/2006/relationships/image" Target="../media/image49.jpg"/><Relationship Id="rId6" Type="http://schemas.openxmlformats.org/officeDocument/2006/relationships/image" Target="../media/image52.png"/><Relationship Id="rId7" Type="http://schemas.openxmlformats.org/officeDocument/2006/relationships/image" Target="../media/image95.png"/><Relationship Id="rId8" Type="http://schemas.openxmlformats.org/officeDocument/2006/relationships/image" Target="../media/image6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3.png"/><Relationship Id="rId4" Type="http://schemas.openxmlformats.org/officeDocument/2006/relationships/image" Target="../media/image4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3.png"/><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8.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7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59.png"/><Relationship Id="rId4" Type="http://schemas.openxmlformats.org/officeDocument/2006/relationships/image" Target="../media/image4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9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6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6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6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7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6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6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4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4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43.png"/><Relationship Id="rId4" Type="http://schemas.openxmlformats.org/officeDocument/2006/relationships/image" Target="../media/image6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4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43.png"/><Relationship Id="rId4" Type="http://schemas.openxmlformats.org/officeDocument/2006/relationships/image" Target="../media/image72.jpg"/><Relationship Id="rId5" Type="http://schemas.openxmlformats.org/officeDocument/2006/relationships/image" Target="../media/image74.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4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4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4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4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43.png"/><Relationship Id="rId4" Type="http://schemas.openxmlformats.org/officeDocument/2006/relationships/image" Target="../media/image7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43.png"/><Relationship Id="rId4" Type="http://schemas.openxmlformats.org/officeDocument/2006/relationships/image" Target="../media/image8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43.png"/><Relationship Id="rId4" Type="http://schemas.openxmlformats.org/officeDocument/2006/relationships/image" Target="../media/image8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4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84.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79.jpg"/><Relationship Id="rId4" Type="http://schemas.openxmlformats.org/officeDocument/2006/relationships/image" Target="../media/image72.jpg"/><Relationship Id="rId5" Type="http://schemas.openxmlformats.org/officeDocument/2006/relationships/image" Target="../media/image74.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4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4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4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93.jpg"/><Relationship Id="rId4" Type="http://schemas.openxmlformats.org/officeDocument/2006/relationships/image" Target="../media/image4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4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43.png"/><Relationship Id="rId4" Type="http://schemas.openxmlformats.org/officeDocument/2006/relationships/image" Target="../media/image75.png"/><Relationship Id="rId5" Type="http://schemas.openxmlformats.org/officeDocument/2006/relationships/image" Target="../media/image80.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83.png"/><Relationship Id="rId4" Type="http://schemas.openxmlformats.org/officeDocument/2006/relationships/image" Target="../media/image87.png"/><Relationship Id="rId5" Type="http://schemas.openxmlformats.org/officeDocument/2006/relationships/image" Target="../media/image92.png"/><Relationship Id="rId6" Type="http://schemas.openxmlformats.org/officeDocument/2006/relationships/image" Target="../media/image76.png"/><Relationship Id="rId7" Type="http://schemas.openxmlformats.org/officeDocument/2006/relationships/image" Target="../media/image9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43.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4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4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85.png"/><Relationship Id="rId4" Type="http://schemas.openxmlformats.org/officeDocument/2006/relationships/image" Target="../media/image89.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80.png"/><Relationship Id="rId4" Type="http://schemas.openxmlformats.org/officeDocument/2006/relationships/image" Target="../media/image75.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4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4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4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4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4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1.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4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4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43.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sp>
        <p:nvSpPr>
          <p:cNvPr id="35" name="Google Shape;35;p6"/>
          <p:cNvSpPr/>
          <p:nvPr/>
        </p:nvSpPr>
        <p:spPr>
          <a:xfrm>
            <a:off x="1325035" y="561975"/>
            <a:ext cx="5052616" cy="172402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3</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Transport Layer</a:t>
            </a:r>
            <a:endParaRPr/>
          </a:p>
        </p:txBody>
      </p:sp>
      <p:sp>
        <p:nvSpPr>
          <p:cNvPr id="36" name="Google Shape;36;p6"/>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7" name="Google Shape;37;p6"/>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1996-2020</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sp>
        <p:nvSpPr>
          <p:cNvPr id="38" name="Google Shape;38;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picture containing outdoor, water, bridge, building&#10;&#10;Description automatically generated" id="39" name="Google Shape;39;p6"/>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overview</a:t>
            </a:r>
            <a:endParaRPr sz="4400"/>
          </a:p>
        </p:txBody>
      </p:sp>
      <p:sp>
        <p:nvSpPr>
          <p:cNvPr id="46" name="Google Shape;46;p7"/>
          <p:cNvSpPr txBox="1"/>
          <p:nvPr>
            <p:ph idx="1" type="body"/>
          </p:nvPr>
        </p:nvSpPr>
        <p:spPr>
          <a:xfrm>
            <a:off x="781763" y="1253331"/>
            <a:ext cx="4842088" cy="4351338"/>
          </a:xfrm>
          <a:prstGeom prst="rect">
            <a:avLst/>
          </a:prstGeom>
          <a:noFill/>
          <a:ln>
            <a:noFill/>
          </a:ln>
        </p:spPr>
        <p:txBody>
          <a:bodyPr anchorCtr="0" anchor="t" bIns="45700" lIns="91425" spcFirstLastPara="1" rIns="91425" wrap="square" tIns="45700">
            <a:noAutofit/>
          </a:bodyPr>
          <a:lstStyle/>
          <a:p>
            <a:pPr indent="0" lvl="0" marL="11113" rtl="0" algn="l">
              <a:lnSpc>
                <a:spcPct val="90000"/>
              </a:lnSpc>
              <a:spcBef>
                <a:spcPts val="0"/>
              </a:spcBef>
              <a:spcAft>
                <a:spcPts val="0"/>
              </a:spcAft>
              <a:buSzPts val="3200"/>
              <a:buNone/>
            </a:pPr>
            <a:r>
              <a:rPr i="1" lang="en-US" sz="3200">
                <a:solidFill>
                  <a:srgbClr val="CC0000"/>
                </a:solidFill>
                <a:latin typeface="Calibri"/>
                <a:ea typeface="Calibri"/>
                <a:cs typeface="Calibri"/>
                <a:sym typeface="Calibri"/>
              </a:rPr>
              <a:t>Our goal:</a:t>
            </a:r>
            <a:r>
              <a:rPr i="1" lang="en-US" sz="3200">
                <a:latin typeface="Calibri"/>
                <a:ea typeface="Calibri"/>
                <a:cs typeface="Calibri"/>
                <a:sym typeface="Calibri"/>
              </a:rPr>
              <a:t> </a:t>
            </a:r>
            <a:endParaRPr/>
          </a:p>
          <a:p>
            <a:pPr indent="-285750" lvl="0" marL="400050" rtl="0" algn="l">
              <a:lnSpc>
                <a:spcPct val="90000"/>
              </a:lnSpc>
              <a:spcBef>
                <a:spcPts val="1000"/>
              </a:spcBef>
              <a:spcAft>
                <a:spcPts val="0"/>
              </a:spcAft>
              <a:buSzPts val="3200"/>
              <a:buFont typeface="Noto Sans Symbols"/>
              <a:buChar char="▪"/>
            </a:pPr>
            <a:r>
              <a:rPr lang="en-US" sz="3200"/>
              <a:t>understand principles behind transport layer services:</a:t>
            </a:r>
            <a:endParaRPr/>
          </a:p>
          <a:p>
            <a:pPr indent="-231775" lvl="1" marL="695325" rtl="0" algn="l">
              <a:lnSpc>
                <a:spcPct val="90000"/>
              </a:lnSpc>
              <a:spcBef>
                <a:spcPts val="500"/>
              </a:spcBef>
              <a:spcAft>
                <a:spcPts val="0"/>
              </a:spcAft>
              <a:buSzPts val="2800"/>
              <a:buFont typeface="Arial"/>
              <a:buChar char="•"/>
            </a:pPr>
            <a:r>
              <a:rPr lang="en-US" sz="2800"/>
              <a:t>multiplexing, demultiplexing</a:t>
            </a:r>
            <a:endParaRPr/>
          </a:p>
          <a:p>
            <a:pPr indent="-231775" lvl="1" marL="695325" rtl="0" algn="l">
              <a:lnSpc>
                <a:spcPct val="90000"/>
              </a:lnSpc>
              <a:spcBef>
                <a:spcPts val="500"/>
              </a:spcBef>
              <a:spcAft>
                <a:spcPts val="0"/>
              </a:spcAft>
              <a:buSzPts val="2800"/>
              <a:buFont typeface="Arial"/>
              <a:buChar char="•"/>
            </a:pPr>
            <a:r>
              <a:rPr lang="en-US" sz="2800"/>
              <a:t>reliable data transfer</a:t>
            </a:r>
            <a:endParaRPr/>
          </a:p>
          <a:p>
            <a:pPr indent="-231775" lvl="1" marL="695325" rtl="0" algn="l">
              <a:lnSpc>
                <a:spcPct val="90000"/>
              </a:lnSpc>
              <a:spcBef>
                <a:spcPts val="500"/>
              </a:spcBef>
              <a:spcAft>
                <a:spcPts val="0"/>
              </a:spcAft>
              <a:buSzPts val="2800"/>
              <a:buFont typeface="Arial"/>
              <a:buChar char="•"/>
            </a:pPr>
            <a:r>
              <a:rPr lang="en-US" sz="2800"/>
              <a:t>flow control</a:t>
            </a:r>
            <a:endParaRPr/>
          </a:p>
          <a:p>
            <a:pPr indent="-231775" lvl="1" marL="695325" rtl="0" algn="l">
              <a:lnSpc>
                <a:spcPct val="90000"/>
              </a:lnSpc>
              <a:spcBef>
                <a:spcPts val="500"/>
              </a:spcBef>
              <a:spcAft>
                <a:spcPts val="0"/>
              </a:spcAft>
              <a:buSzPts val="2800"/>
              <a:buFont typeface="Arial"/>
              <a:buChar char="•"/>
            </a:pPr>
            <a:r>
              <a:rPr lang="en-US" sz="2800"/>
              <a:t>congestion control</a:t>
            </a:r>
            <a:endParaRPr sz="3200"/>
          </a:p>
          <a:p>
            <a:pPr indent="-44450" lvl="0" marL="352425" rtl="0" algn="l">
              <a:lnSpc>
                <a:spcPct val="90000"/>
              </a:lnSpc>
              <a:spcBef>
                <a:spcPts val="1000"/>
              </a:spcBef>
              <a:spcAft>
                <a:spcPts val="0"/>
              </a:spcAft>
              <a:buSzPts val="2800"/>
              <a:buNone/>
            </a:pPr>
            <a:r>
              <a:t/>
            </a:r>
            <a:endParaRPr/>
          </a:p>
        </p:txBody>
      </p:sp>
      <p:sp>
        <p:nvSpPr>
          <p:cNvPr id="47" name="Google Shape;47;p7"/>
          <p:cNvSpPr txBox="1"/>
          <p:nvPr>
            <p:ph idx="2" type="body"/>
          </p:nvPr>
        </p:nvSpPr>
        <p:spPr>
          <a:xfrm>
            <a:off x="5968416" y="1815962"/>
            <a:ext cx="5994400" cy="4799013"/>
          </a:xfrm>
          <a:prstGeom prst="rect">
            <a:avLst/>
          </a:prstGeom>
          <a:noFill/>
          <a:ln>
            <a:noFill/>
          </a:ln>
        </p:spPr>
        <p:txBody>
          <a:bodyPr anchorCtr="0" anchor="t" bIns="45700" lIns="91425" spcFirstLastPara="1" rIns="91425" wrap="square" tIns="45700">
            <a:normAutofit/>
          </a:bodyPr>
          <a:lstStyle/>
          <a:p>
            <a:pPr indent="-285750" lvl="0" marL="457200" rtl="0" algn="l">
              <a:lnSpc>
                <a:spcPct val="90000"/>
              </a:lnSpc>
              <a:spcBef>
                <a:spcPts val="0"/>
              </a:spcBef>
              <a:spcAft>
                <a:spcPts val="0"/>
              </a:spcAft>
              <a:buSzPts val="3200"/>
              <a:buFont typeface="Noto Sans Symbols"/>
              <a:buChar char="▪"/>
            </a:pPr>
            <a:r>
              <a:rPr lang="en-US" sz="3200"/>
              <a:t>learn about Internet transport layer protocols:</a:t>
            </a:r>
            <a:endParaRPr/>
          </a:p>
          <a:p>
            <a:pPr indent="-231775" lvl="1" marL="695325" rtl="0" algn="l">
              <a:lnSpc>
                <a:spcPct val="90000"/>
              </a:lnSpc>
              <a:spcBef>
                <a:spcPts val="500"/>
              </a:spcBef>
              <a:spcAft>
                <a:spcPts val="0"/>
              </a:spcAft>
              <a:buSzPts val="2800"/>
              <a:buFont typeface="Arial"/>
              <a:buChar char="•"/>
            </a:pPr>
            <a:r>
              <a:rPr lang="en-US" sz="2800"/>
              <a:t>UDP: connectionless transport</a:t>
            </a:r>
            <a:endParaRPr/>
          </a:p>
          <a:p>
            <a:pPr indent="-231775" lvl="1" marL="695325" rtl="0" algn="l">
              <a:lnSpc>
                <a:spcPct val="90000"/>
              </a:lnSpc>
              <a:spcBef>
                <a:spcPts val="500"/>
              </a:spcBef>
              <a:spcAft>
                <a:spcPts val="0"/>
              </a:spcAft>
              <a:buSzPts val="2800"/>
              <a:buFont typeface="Arial"/>
              <a:buChar char="•"/>
            </a:pPr>
            <a:r>
              <a:rPr lang="en-US" sz="2800"/>
              <a:t>TCP: connection-oriented reliable transport</a:t>
            </a:r>
            <a:endParaRPr/>
          </a:p>
          <a:p>
            <a:pPr indent="-231775" lvl="1" marL="695325" rtl="0" algn="l">
              <a:lnSpc>
                <a:spcPct val="90000"/>
              </a:lnSpc>
              <a:spcBef>
                <a:spcPts val="500"/>
              </a:spcBef>
              <a:spcAft>
                <a:spcPts val="0"/>
              </a:spcAft>
              <a:buSzPts val="2800"/>
              <a:buFont typeface="Arial"/>
              <a:buChar char="•"/>
            </a:pPr>
            <a:r>
              <a:rPr lang="en-US" sz="2800"/>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48" name="Google Shape;48;p7"/>
          <p:cNvSpPr txBox="1"/>
          <p:nvPr>
            <p:ph idx="12" type="sldNum"/>
          </p:nvPr>
        </p:nvSpPr>
        <p:spPr>
          <a:xfrm>
            <a:off x="9219616" y="64546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55" name="Google Shape;55;p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SzPts val="3200"/>
              <a:buChar char="▪"/>
            </a:pPr>
            <a:r>
              <a:rPr lang="en-US" sz="3200"/>
              <a:t>Transport-layer services</a:t>
            </a:r>
            <a:endParaRPr/>
          </a:p>
          <a:p>
            <a:pPr indent="-285750" lvl="0" marL="403225" rtl="0" algn="l">
              <a:lnSpc>
                <a:spcPct val="90000"/>
              </a:lnSpc>
              <a:spcBef>
                <a:spcPts val="800"/>
              </a:spcBef>
              <a:spcAft>
                <a:spcPts val="0"/>
              </a:spcAft>
              <a:buSzPts val="3200"/>
              <a:buChar char="▪"/>
            </a:pPr>
            <a:r>
              <a:rPr lang="en-US" sz="3200"/>
              <a:t>Multiplexing and demultiplexing</a:t>
            </a:r>
            <a:endParaRPr/>
          </a:p>
          <a:p>
            <a:pPr indent="-285750" lvl="0" marL="403225" rtl="0" algn="l">
              <a:lnSpc>
                <a:spcPct val="90000"/>
              </a:lnSpc>
              <a:spcBef>
                <a:spcPts val="800"/>
              </a:spcBef>
              <a:spcAft>
                <a:spcPts val="0"/>
              </a:spcAft>
              <a:buSzPts val="3200"/>
              <a:buChar char="▪"/>
            </a:pPr>
            <a:r>
              <a:rPr lang="en-US" sz="3200"/>
              <a:t>Connectionless transport: UDP</a:t>
            </a:r>
            <a:endParaRPr/>
          </a:p>
          <a:p>
            <a:pPr indent="-285750" lvl="0" marL="403225" rtl="0" algn="l">
              <a:lnSpc>
                <a:spcPct val="90000"/>
              </a:lnSpc>
              <a:spcBef>
                <a:spcPts val="800"/>
              </a:spcBef>
              <a:spcAft>
                <a:spcPts val="0"/>
              </a:spcAft>
              <a:buSzPts val="3200"/>
              <a:buChar char="▪"/>
            </a:pPr>
            <a:r>
              <a:rPr lang="en-US" sz="3200"/>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5750" lvl="0" marL="403225" rtl="0" algn="l">
              <a:lnSpc>
                <a:spcPct val="90000"/>
              </a:lnSpc>
              <a:spcBef>
                <a:spcPts val="800"/>
              </a:spcBef>
              <a:spcAft>
                <a:spcPts val="0"/>
              </a:spcAft>
              <a:buSzPts val="3200"/>
              <a:buChar char="▪"/>
            </a:pPr>
            <a:r>
              <a:rPr lang="en-US" sz="3200"/>
              <a:t>Principles of congestion control</a:t>
            </a:r>
            <a:endParaRPr/>
          </a:p>
          <a:p>
            <a:pPr indent="-285750" lvl="0" marL="403225" rtl="0" algn="l">
              <a:lnSpc>
                <a:spcPct val="90000"/>
              </a:lnSpc>
              <a:spcBef>
                <a:spcPts val="800"/>
              </a:spcBef>
              <a:spcAft>
                <a:spcPts val="0"/>
              </a:spcAft>
              <a:buSzPts val="3200"/>
              <a:buChar char="▪"/>
            </a:pPr>
            <a:r>
              <a:rPr lang="en-US" sz="3200"/>
              <a:t>TCP congestion control</a:t>
            </a:r>
            <a:endParaRPr/>
          </a:p>
          <a:p>
            <a:pPr indent="-285750" lvl="0" marL="403225" rtl="0" algn="l">
              <a:lnSpc>
                <a:spcPct val="90000"/>
              </a:lnSpc>
              <a:spcBef>
                <a:spcPts val="800"/>
              </a:spcBef>
              <a:spcAft>
                <a:spcPts val="0"/>
              </a:spcAft>
              <a:buSzPts val="3200"/>
              <a:buChar char="▪"/>
            </a:pPr>
            <a:r>
              <a:rPr lang="en-US" sz="3200"/>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6" name="Google Shape;56;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train crossing a bridge over a body of water&#10;&#10;Description automatically generated" id="57" name="Google Shape;57;p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services and protocols</a:t>
            </a:r>
            <a:endParaRPr sz="4400"/>
          </a:p>
        </p:txBody>
      </p:sp>
      <p:sp>
        <p:nvSpPr>
          <p:cNvPr id="64" name="Google Shape;64;p9"/>
          <p:cNvSpPr txBox="1"/>
          <p:nvPr/>
        </p:nvSpPr>
        <p:spPr>
          <a:xfrm>
            <a:off x="681218" y="1443831"/>
            <a:ext cx="5815703" cy="162194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provide</a:t>
            </a:r>
            <a:r>
              <a:rPr b="0" i="1" lang="en-US" sz="2800" u="none" cap="none" strike="noStrike">
                <a:solidFill>
                  <a:srgbClr val="FF0000"/>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logical communication</a:t>
            </a:r>
            <a:r>
              <a:rPr b="0" i="0" lang="en-US" sz="2800" u="none" cap="none" strike="noStrike">
                <a:solidFill>
                  <a:srgbClr val="000000"/>
                </a:solidFill>
                <a:latin typeface="Calibri"/>
                <a:ea typeface="Calibri"/>
                <a:cs typeface="Calibri"/>
                <a:sym typeface="Calibri"/>
              </a:rPr>
              <a:t> between application processes running on different hosts</a:t>
            </a:r>
            <a:endParaRPr/>
          </a:p>
        </p:txBody>
      </p:sp>
      <p:sp>
        <p:nvSpPr>
          <p:cNvPr id="65" name="Google Shape;65;p9"/>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 name="Google Shape;66;p9"/>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 name="Google Shape;67;p9"/>
          <p:cNvGrpSpPr/>
          <p:nvPr/>
        </p:nvGrpSpPr>
        <p:grpSpPr>
          <a:xfrm>
            <a:off x="7205350" y="3289251"/>
            <a:ext cx="1458912" cy="933450"/>
            <a:chOff x="2889" y="1631"/>
            <a:chExt cx="980" cy="743"/>
          </a:xfrm>
        </p:grpSpPr>
        <p:sp>
          <p:nvSpPr>
            <p:cNvPr id="68" name="Google Shape;68;p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 name="Google Shape;69;p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70" name="Google Shape;70;p9"/>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 name="Google Shape;71;p9"/>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72" name="Google Shape;72;p9"/>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73" name="Google Shape;73;p9"/>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74" name="Google Shape;74;p9"/>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 name="Google Shape;75;p9"/>
          <p:cNvGrpSpPr/>
          <p:nvPr/>
        </p:nvGrpSpPr>
        <p:grpSpPr>
          <a:xfrm>
            <a:off x="10837700" y="3928050"/>
            <a:ext cx="687393" cy="721548"/>
            <a:chOff x="5203089" y="1751190"/>
            <a:chExt cx="858331" cy="662414"/>
          </a:xfrm>
        </p:grpSpPr>
        <p:sp>
          <p:nvSpPr>
            <p:cNvPr id="76" name="Google Shape;76;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 name="Google Shape;77;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8" name="Google Shape;78;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9" name="Google Shape;79;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0" name="Google Shape;80;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1" name="Google Shape;81;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2" name="Google Shape;82;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3" name="Google Shape;83;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84" name="Google Shape;84;p9"/>
          <p:cNvGrpSpPr/>
          <p:nvPr/>
        </p:nvGrpSpPr>
        <p:grpSpPr>
          <a:xfrm>
            <a:off x="10771171" y="3194171"/>
            <a:ext cx="594613" cy="648336"/>
            <a:chOff x="5203089" y="1751190"/>
            <a:chExt cx="858331" cy="662414"/>
          </a:xfrm>
        </p:grpSpPr>
        <p:sp>
          <p:nvSpPr>
            <p:cNvPr id="85" name="Google Shape;85;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 name="Google Shape;86;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7" name="Google Shape;87;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8" name="Google Shape;88;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9" name="Google Shape;89;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0" name="Google Shape;90;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1" name="Google Shape;91;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2" name="Google Shape;92;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93" name="Google Shape;93;p9"/>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 name="Google Shape;94;p9"/>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95" name="Google Shape;95;p9"/>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 name="Google Shape;96;p9"/>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97" name="Google Shape;97;p9"/>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98" name="Google Shape;98;p9"/>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99" name="Google Shape;99;p9"/>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00" name="Google Shape;100;p9"/>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01" name="Google Shape;101;p9"/>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02" name="Google Shape;102;p9"/>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03" name="Google Shape;103;p9"/>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04" name="Google Shape;104;p9"/>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5" name="Google Shape;105;p9"/>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6" name="Google Shape;106;p9"/>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07" name="Google Shape;107;p9"/>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08" name="Google Shape;108;p9"/>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09" name="Google Shape;109;p9"/>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10" name="Google Shape;110;p9"/>
          <p:cNvGrpSpPr/>
          <p:nvPr/>
        </p:nvGrpSpPr>
        <p:grpSpPr>
          <a:xfrm>
            <a:off x="7562238" y="2127325"/>
            <a:ext cx="3578867" cy="3640284"/>
            <a:chOff x="7562238" y="2127325"/>
            <a:chExt cx="3578867" cy="3640284"/>
          </a:xfrm>
        </p:grpSpPr>
        <p:grpSp>
          <p:nvGrpSpPr>
            <p:cNvPr id="111" name="Google Shape;111;p9"/>
            <p:cNvGrpSpPr/>
            <p:nvPr/>
          </p:nvGrpSpPr>
          <p:grpSpPr>
            <a:xfrm>
              <a:off x="7857253" y="2127325"/>
              <a:ext cx="3283852" cy="3640284"/>
              <a:chOff x="7881336" y="2104198"/>
              <a:chExt cx="3283852" cy="3640284"/>
            </a:xfrm>
          </p:grpSpPr>
          <p:cxnSp>
            <p:nvCxnSpPr>
              <p:cNvPr id="112" name="Google Shape;112;p9"/>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13" name="Google Shape;113;p9"/>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14" name="Google Shape;114;p9"/>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15" name="Google Shape;115;p9"/>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16" name="Google Shape;116;p9"/>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17" name="Google Shape;117;p9"/>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18" name="Google Shape;118;p9"/>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9"/>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9"/>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21" name="Google Shape;121;p9"/>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22" name="Google Shape;122;p9"/>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9"/>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24" name="Google Shape;124;p9"/>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25" name="Google Shape;125;p9"/>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26" name="Google Shape;126;p9"/>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27" name="Google Shape;127;p9"/>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8" name="Google Shape;128;p9"/>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9" name="Google Shape;129;p9"/>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30" name="Google Shape;130;p9"/>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31" name="Google Shape;131;p9"/>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32" name="Google Shape;132;p9"/>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33" name="Google Shape;133;p9"/>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34" name="Google Shape;134;p9"/>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35" name="Google Shape;135;p9"/>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36" name="Google Shape;136;p9"/>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37" name="Google Shape;137;p9"/>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38" name="Google Shape;138;p9"/>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39" name="Google Shape;139;p9"/>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140" name="Google Shape;140;p9"/>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41" name="Google Shape;141;p9"/>
          <p:cNvGrpSpPr/>
          <p:nvPr/>
        </p:nvGrpSpPr>
        <p:grpSpPr>
          <a:xfrm>
            <a:off x="8050698" y="2309376"/>
            <a:ext cx="298450" cy="464008"/>
            <a:chOff x="3130" y="3288"/>
            <a:chExt cx="410" cy="742"/>
          </a:xfrm>
        </p:grpSpPr>
        <p:cxnSp>
          <p:nvCxnSpPr>
            <p:cNvPr id="142" name="Google Shape;142;p9"/>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43" name="Google Shape;143;p9"/>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44" name="Google Shape;144;p9"/>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5" name="Google Shape;145;p9"/>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6" name="Google Shape;146;p9"/>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47" name="Google Shape;147;p9"/>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48" name="Google Shape;148;p9"/>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49" name="Google Shape;149;p9"/>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50" name="Google Shape;150;p9"/>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51" name="Google Shape;151;p9"/>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52" name="Google Shape;152;p9"/>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53" name="Google Shape;153;p9"/>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54" name="Google Shape;154;p9"/>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55" name="Google Shape;155;p9"/>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56" name="Google Shape;156;p9"/>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57" name="Google Shape;157;p9"/>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58" name="Google Shape;158;p9"/>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59" name="Google Shape;159;p9"/>
          <p:cNvGrpSpPr/>
          <p:nvPr/>
        </p:nvGrpSpPr>
        <p:grpSpPr>
          <a:xfrm>
            <a:off x="9783558" y="4989983"/>
            <a:ext cx="393760" cy="218578"/>
            <a:chOff x="7493876" y="2774731"/>
            <a:chExt cx="1481958" cy="894622"/>
          </a:xfrm>
        </p:grpSpPr>
        <p:sp>
          <p:nvSpPr>
            <p:cNvPr id="160" name="Google Shape;16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1" name="Google Shape;16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62" name="Google Shape;162;p9"/>
            <p:cNvGrpSpPr/>
            <p:nvPr/>
          </p:nvGrpSpPr>
          <p:grpSpPr>
            <a:xfrm>
              <a:off x="7713663" y="2848339"/>
              <a:ext cx="1042107" cy="425543"/>
              <a:chOff x="7786941" y="2884917"/>
              <a:chExt cx="897649" cy="353919"/>
            </a:xfrm>
          </p:grpSpPr>
          <p:sp>
            <p:nvSpPr>
              <p:cNvPr id="163" name="Google Shape;16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4" name="Google Shape;16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5" name="Google Shape;16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6" name="Google Shape;16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67" name="Google Shape;167;p9"/>
          <p:cNvGrpSpPr/>
          <p:nvPr/>
        </p:nvGrpSpPr>
        <p:grpSpPr>
          <a:xfrm>
            <a:off x="9849365" y="5339037"/>
            <a:ext cx="309740" cy="190838"/>
            <a:chOff x="3668110" y="2448910"/>
            <a:chExt cx="3794234" cy="2165130"/>
          </a:xfrm>
        </p:grpSpPr>
        <p:sp>
          <p:nvSpPr>
            <p:cNvPr id="168" name="Google Shape;168;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9" name="Google Shape;169;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70" name="Google Shape;170;p9"/>
            <p:cNvGrpSpPr/>
            <p:nvPr/>
          </p:nvGrpSpPr>
          <p:grpSpPr>
            <a:xfrm>
              <a:off x="3941378" y="2603243"/>
              <a:ext cx="3202061" cy="1066110"/>
              <a:chOff x="7939341" y="3037317"/>
              <a:chExt cx="897649" cy="353919"/>
            </a:xfrm>
          </p:grpSpPr>
          <p:sp>
            <p:nvSpPr>
              <p:cNvPr id="171" name="Google Shape;171;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 name="Google Shape;172;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3" name="Google Shape;173;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4" name="Google Shape;174;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75" name="Google Shape;175;p9"/>
          <p:cNvGrpSpPr/>
          <p:nvPr/>
        </p:nvGrpSpPr>
        <p:grpSpPr>
          <a:xfrm>
            <a:off x="8676619" y="4967420"/>
            <a:ext cx="393760" cy="218578"/>
            <a:chOff x="7493876" y="2774731"/>
            <a:chExt cx="1481958" cy="894622"/>
          </a:xfrm>
        </p:grpSpPr>
        <p:sp>
          <p:nvSpPr>
            <p:cNvPr id="176" name="Google Shape;17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77" name="Google Shape;17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78" name="Google Shape;178;p9"/>
            <p:cNvGrpSpPr/>
            <p:nvPr/>
          </p:nvGrpSpPr>
          <p:grpSpPr>
            <a:xfrm>
              <a:off x="7713663" y="2848339"/>
              <a:ext cx="1042107" cy="425543"/>
              <a:chOff x="7786941" y="2884917"/>
              <a:chExt cx="897649" cy="353919"/>
            </a:xfrm>
          </p:grpSpPr>
          <p:sp>
            <p:nvSpPr>
              <p:cNvPr id="179" name="Google Shape;17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0" name="Google Shape;18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1" name="Google Shape;18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 name="Google Shape;18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3" name="Google Shape;183;p9"/>
          <p:cNvGrpSpPr/>
          <p:nvPr/>
        </p:nvGrpSpPr>
        <p:grpSpPr>
          <a:xfrm>
            <a:off x="8311520" y="5194433"/>
            <a:ext cx="309740" cy="190838"/>
            <a:chOff x="3668110" y="2448910"/>
            <a:chExt cx="3794234" cy="2165130"/>
          </a:xfrm>
        </p:grpSpPr>
        <p:sp>
          <p:nvSpPr>
            <p:cNvPr id="184" name="Google Shape;184;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5" name="Google Shape;185;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86" name="Google Shape;186;p9"/>
            <p:cNvGrpSpPr/>
            <p:nvPr/>
          </p:nvGrpSpPr>
          <p:grpSpPr>
            <a:xfrm>
              <a:off x="3941378" y="2603243"/>
              <a:ext cx="3202061" cy="1066110"/>
              <a:chOff x="7939341" y="3037317"/>
              <a:chExt cx="897649" cy="353919"/>
            </a:xfrm>
          </p:grpSpPr>
          <p:sp>
            <p:nvSpPr>
              <p:cNvPr id="187" name="Google Shape;187;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8" name="Google Shape;188;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9" name="Google Shape;189;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0" name="Google Shape;190;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1" name="Google Shape;191;p9"/>
          <p:cNvGrpSpPr/>
          <p:nvPr/>
        </p:nvGrpSpPr>
        <p:grpSpPr>
          <a:xfrm>
            <a:off x="8439827" y="2812309"/>
            <a:ext cx="353678" cy="168275"/>
            <a:chOff x="7493876" y="2774731"/>
            <a:chExt cx="1481958" cy="894622"/>
          </a:xfrm>
        </p:grpSpPr>
        <p:sp>
          <p:nvSpPr>
            <p:cNvPr id="192" name="Google Shape;19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3" name="Google Shape;19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4" name="Google Shape;194;p9"/>
            <p:cNvGrpSpPr/>
            <p:nvPr/>
          </p:nvGrpSpPr>
          <p:grpSpPr>
            <a:xfrm>
              <a:off x="7713663" y="2848339"/>
              <a:ext cx="1042107" cy="425543"/>
              <a:chOff x="7786941" y="2884917"/>
              <a:chExt cx="897649" cy="353919"/>
            </a:xfrm>
          </p:grpSpPr>
          <p:sp>
            <p:nvSpPr>
              <p:cNvPr id="195" name="Google Shape;19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 name="Google Shape;19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 name="Google Shape;19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 name="Google Shape;19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9" name="Google Shape;199;p9"/>
          <p:cNvGrpSpPr/>
          <p:nvPr/>
        </p:nvGrpSpPr>
        <p:grpSpPr>
          <a:xfrm>
            <a:off x="8050070" y="3965994"/>
            <a:ext cx="354986" cy="175668"/>
            <a:chOff x="7493876" y="2774731"/>
            <a:chExt cx="1481958" cy="894622"/>
          </a:xfrm>
        </p:grpSpPr>
        <p:sp>
          <p:nvSpPr>
            <p:cNvPr id="200" name="Google Shape;20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1" name="Google Shape;20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2" name="Google Shape;202;p9"/>
            <p:cNvGrpSpPr/>
            <p:nvPr/>
          </p:nvGrpSpPr>
          <p:grpSpPr>
            <a:xfrm>
              <a:off x="7713663" y="2848339"/>
              <a:ext cx="1042107" cy="425543"/>
              <a:chOff x="7786941" y="2884917"/>
              <a:chExt cx="897649" cy="353919"/>
            </a:xfrm>
          </p:grpSpPr>
          <p:sp>
            <p:nvSpPr>
              <p:cNvPr id="203" name="Google Shape;20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 name="Google Shape;20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 name="Google Shape;20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 name="Google Shape;20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7" name="Google Shape;207;p9"/>
          <p:cNvGrpSpPr/>
          <p:nvPr/>
        </p:nvGrpSpPr>
        <p:grpSpPr>
          <a:xfrm>
            <a:off x="10884085" y="3601365"/>
            <a:ext cx="170989" cy="97052"/>
            <a:chOff x="7493876" y="2774731"/>
            <a:chExt cx="1481958" cy="894622"/>
          </a:xfrm>
        </p:grpSpPr>
        <p:sp>
          <p:nvSpPr>
            <p:cNvPr id="208" name="Google Shape;20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9" name="Google Shape;20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0" name="Google Shape;210;p9"/>
            <p:cNvGrpSpPr/>
            <p:nvPr/>
          </p:nvGrpSpPr>
          <p:grpSpPr>
            <a:xfrm>
              <a:off x="7713663" y="2848339"/>
              <a:ext cx="1042107" cy="425543"/>
              <a:chOff x="7786941" y="2884917"/>
              <a:chExt cx="897649" cy="353919"/>
            </a:xfrm>
          </p:grpSpPr>
          <p:sp>
            <p:nvSpPr>
              <p:cNvPr id="211" name="Google Shape;21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 name="Google Shape;21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 name="Google Shape;21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15" name="Google Shape;215;p9"/>
          <p:cNvGrpSpPr/>
          <p:nvPr/>
        </p:nvGrpSpPr>
        <p:grpSpPr>
          <a:xfrm>
            <a:off x="10410609" y="3496138"/>
            <a:ext cx="353678" cy="198344"/>
            <a:chOff x="7493876" y="2774731"/>
            <a:chExt cx="1481958" cy="894622"/>
          </a:xfrm>
        </p:grpSpPr>
        <p:sp>
          <p:nvSpPr>
            <p:cNvPr id="216" name="Google Shape;21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7" name="Google Shape;21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8" name="Google Shape;218;p9"/>
            <p:cNvGrpSpPr/>
            <p:nvPr/>
          </p:nvGrpSpPr>
          <p:grpSpPr>
            <a:xfrm>
              <a:off x="7713663" y="2848339"/>
              <a:ext cx="1042107" cy="425543"/>
              <a:chOff x="7786941" y="2884917"/>
              <a:chExt cx="897649" cy="353919"/>
            </a:xfrm>
          </p:grpSpPr>
          <p:sp>
            <p:nvSpPr>
              <p:cNvPr id="219" name="Google Shape;21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0" name="Google Shape;22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1" name="Google Shape;22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2" name="Google Shape;22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3" name="Google Shape;223;p9"/>
          <p:cNvGrpSpPr/>
          <p:nvPr/>
        </p:nvGrpSpPr>
        <p:grpSpPr>
          <a:xfrm>
            <a:off x="9948724" y="2202292"/>
            <a:ext cx="353678" cy="198344"/>
            <a:chOff x="7493876" y="2774731"/>
            <a:chExt cx="1481958" cy="894622"/>
          </a:xfrm>
        </p:grpSpPr>
        <p:sp>
          <p:nvSpPr>
            <p:cNvPr id="224" name="Google Shape;22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5" name="Google Shape;22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6" name="Google Shape;226;p9"/>
            <p:cNvGrpSpPr/>
            <p:nvPr/>
          </p:nvGrpSpPr>
          <p:grpSpPr>
            <a:xfrm>
              <a:off x="7713663" y="2848339"/>
              <a:ext cx="1042107" cy="425543"/>
              <a:chOff x="7786941" y="2884917"/>
              <a:chExt cx="897649" cy="353919"/>
            </a:xfrm>
          </p:grpSpPr>
          <p:sp>
            <p:nvSpPr>
              <p:cNvPr id="227" name="Google Shape;22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 name="Google Shape;22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9" name="Google Shape;22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1" name="Google Shape;231;p9"/>
          <p:cNvGrpSpPr/>
          <p:nvPr/>
        </p:nvGrpSpPr>
        <p:grpSpPr>
          <a:xfrm>
            <a:off x="10527214" y="2613367"/>
            <a:ext cx="353678" cy="198344"/>
            <a:chOff x="7493876" y="2774731"/>
            <a:chExt cx="1481958" cy="894622"/>
          </a:xfrm>
        </p:grpSpPr>
        <p:sp>
          <p:nvSpPr>
            <p:cNvPr id="232" name="Google Shape;23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3" name="Google Shape;23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4" name="Google Shape;234;p9"/>
            <p:cNvGrpSpPr/>
            <p:nvPr/>
          </p:nvGrpSpPr>
          <p:grpSpPr>
            <a:xfrm>
              <a:off x="7713663" y="2848339"/>
              <a:ext cx="1042107" cy="425543"/>
              <a:chOff x="7786941" y="2884917"/>
              <a:chExt cx="897649" cy="353919"/>
            </a:xfrm>
          </p:grpSpPr>
          <p:sp>
            <p:nvSpPr>
              <p:cNvPr id="235" name="Google Shape;23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 name="Google Shape;23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7" name="Google Shape;23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8" name="Google Shape;23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9" name="Google Shape;239;p9"/>
          <p:cNvGrpSpPr/>
          <p:nvPr/>
        </p:nvGrpSpPr>
        <p:grpSpPr>
          <a:xfrm>
            <a:off x="10643825" y="2107963"/>
            <a:ext cx="353678" cy="198344"/>
            <a:chOff x="7493876" y="2774731"/>
            <a:chExt cx="1481958" cy="894622"/>
          </a:xfrm>
        </p:grpSpPr>
        <p:sp>
          <p:nvSpPr>
            <p:cNvPr id="240" name="Google Shape;24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1" name="Google Shape;24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2" name="Google Shape;242;p9"/>
            <p:cNvGrpSpPr/>
            <p:nvPr/>
          </p:nvGrpSpPr>
          <p:grpSpPr>
            <a:xfrm>
              <a:off x="7713663" y="2848339"/>
              <a:ext cx="1042107" cy="425543"/>
              <a:chOff x="7786941" y="2884917"/>
              <a:chExt cx="897649" cy="353919"/>
            </a:xfrm>
          </p:grpSpPr>
          <p:sp>
            <p:nvSpPr>
              <p:cNvPr id="243" name="Google Shape;24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5" name="Google Shape;24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6" name="Google Shape;24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7" name="Google Shape;247;p9"/>
          <p:cNvGrpSpPr/>
          <p:nvPr/>
        </p:nvGrpSpPr>
        <p:grpSpPr>
          <a:xfrm>
            <a:off x="9098788" y="3956624"/>
            <a:ext cx="367224" cy="240304"/>
            <a:chOff x="7493876" y="2774731"/>
            <a:chExt cx="1481958" cy="894622"/>
          </a:xfrm>
        </p:grpSpPr>
        <p:sp>
          <p:nvSpPr>
            <p:cNvPr id="248" name="Google Shape;24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9" name="Google Shape;24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 name="Google Shape;250;p9"/>
            <p:cNvGrpSpPr/>
            <p:nvPr/>
          </p:nvGrpSpPr>
          <p:grpSpPr>
            <a:xfrm>
              <a:off x="7713663" y="2848339"/>
              <a:ext cx="1042107" cy="425543"/>
              <a:chOff x="7786941" y="2884917"/>
              <a:chExt cx="897649" cy="353919"/>
            </a:xfrm>
          </p:grpSpPr>
          <p:sp>
            <p:nvSpPr>
              <p:cNvPr id="251" name="Google Shape;25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 name="Google Shape;25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 name="Google Shape;25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4" name="Google Shape;25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5" name="Google Shape;255;p9"/>
          <p:cNvGrpSpPr/>
          <p:nvPr/>
        </p:nvGrpSpPr>
        <p:grpSpPr>
          <a:xfrm>
            <a:off x="9980126" y="2661565"/>
            <a:ext cx="353678" cy="198344"/>
            <a:chOff x="7493876" y="2774731"/>
            <a:chExt cx="1481958" cy="894622"/>
          </a:xfrm>
        </p:grpSpPr>
        <p:sp>
          <p:nvSpPr>
            <p:cNvPr id="256" name="Google Shape;25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7" name="Google Shape;25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8" name="Google Shape;258;p9"/>
            <p:cNvGrpSpPr/>
            <p:nvPr/>
          </p:nvGrpSpPr>
          <p:grpSpPr>
            <a:xfrm>
              <a:off x="7713663" y="2848339"/>
              <a:ext cx="1042107" cy="425543"/>
              <a:chOff x="7786941" y="2884917"/>
              <a:chExt cx="897649" cy="353919"/>
            </a:xfrm>
          </p:grpSpPr>
          <p:sp>
            <p:nvSpPr>
              <p:cNvPr id="259" name="Google Shape;25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 name="Google Shape;26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 name="Google Shape;26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3" name="Google Shape;263;p9"/>
          <p:cNvGrpSpPr/>
          <p:nvPr/>
        </p:nvGrpSpPr>
        <p:grpSpPr>
          <a:xfrm>
            <a:off x="9497138" y="3394032"/>
            <a:ext cx="367224" cy="240304"/>
            <a:chOff x="7493876" y="2774731"/>
            <a:chExt cx="1481958" cy="894622"/>
          </a:xfrm>
        </p:grpSpPr>
        <p:sp>
          <p:nvSpPr>
            <p:cNvPr id="264" name="Google Shape;26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5" name="Google Shape;26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6" name="Google Shape;266;p9"/>
            <p:cNvGrpSpPr/>
            <p:nvPr/>
          </p:nvGrpSpPr>
          <p:grpSpPr>
            <a:xfrm>
              <a:off x="7713663" y="2848339"/>
              <a:ext cx="1042107" cy="425543"/>
              <a:chOff x="7786941" y="2884917"/>
              <a:chExt cx="897649" cy="353919"/>
            </a:xfrm>
          </p:grpSpPr>
          <p:sp>
            <p:nvSpPr>
              <p:cNvPr id="267" name="Google Shape;26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8" name="Google Shape;26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 name="Google Shape;26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 name="Google Shape;27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1" name="Google Shape;271;p9"/>
          <p:cNvGrpSpPr/>
          <p:nvPr/>
        </p:nvGrpSpPr>
        <p:grpSpPr>
          <a:xfrm>
            <a:off x="9601554" y="3999763"/>
            <a:ext cx="367224" cy="240304"/>
            <a:chOff x="7493876" y="2774731"/>
            <a:chExt cx="1481958" cy="894622"/>
          </a:xfrm>
        </p:grpSpPr>
        <p:sp>
          <p:nvSpPr>
            <p:cNvPr id="272" name="Google Shape;27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3" name="Google Shape;27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4" name="Google Shape;274;p9"/>
            <p:cNvGrpSpPr/>
            <p:nvPr/>
          </p:nvGrpSpPr>
          <p:grpSpPr>
            <a:xfrm>
              <a:off x="7713663" y="2848339"/>
              <a:ext cx="1042107" cy="425543"/>
              <a:chOff x="7786941" y="2884917"/>
              <a:chExt cx="897649" cy="353919"/>
            </a:xfrm>
          </p:grpSpPr>
          <p:sp>
            <p:nvSpPr>
              <p:cNvPr id="275" name="Google Shape;27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 name="Google Shape;27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7" name="Google Shape;27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8" name="Google Shape;27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9" name="Google Shape;279;p9"/>
          <p:cNvGrpSpPr/>
          <p:nvPr/>
        </p:nvGrpSpPr>
        <p:grpSpPr>
          <a:xfrm>
            <a:off x="10375259" y="3992325"/>
            <a:ext cx="353678" cy="198344"/>
            <a:chOff x="7493876" y="2774731"/>
            <a:chExt cx="1481958" cy="894622"/>
          </a:xfrm>
        </p:grpSpPr>
        <p:sp>
          <p:nvSpPr>
            <p:cNvPr id="280" name="Google Shape;28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1" name="Google Shape;28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82" name="Google Shape;282;p9"/>
            <p:cNvGrpSpPr/>
            <p:nvPr/>
          </p:nvGrpSpPr>
          <p:grpSpPr>
            <a:xfrm>
              <a:off x="7713663" y="2848339"/>
              <a:ext cx="1042107" cy="425543"/>
              <a:chOff x="7786941" y="2884917"/>
              <a:chExt cx="897649" cy="353919"/>
            </a:xfrm>
          </p:grpSpPr>
          <p:sp>
            <p:nvSpPr>
              <p:cNvPr id="283" name="Google Shape;28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 name="Google Shape;28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5" name="Google Shape;28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6" name="Google Shape;28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87" name="Google Shape;287;p9"/>
          <p:cNvGrpSpPr/>
          <p:nvPr/>
        </p:nvGrpSpPr>
        <p:grpSpPr>
          <a:xfrm>
            <a:off x="9247893" y="4775686"/>
            <a:ext cx="393760" cy="218578"/>
            <a:chOff x="7493876" y="2774731"/>
            <a:chExt cx="1481958" cy="894622"/>
          </a:xfrm>
        </p:grpSpPr>
        <p:sp>
          <p:nvSpPr>
            <p:cNvPr id="288" name="Google Shape;28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9" name="Google Shape;28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0" name="Google Shape;290;p9"/>
            <p:cNvGrpSpPr/>
            <p:nvPr/>
          </p:nvGrpSpPr>
          <p:grpSpPr>
            <a:xfrm>
              <a:off x="7713663" y="2848339"/>
              <a:ext cx="1042107" cy="425543"/>
              <a:chOff x="7786941" y="2884917"/>
              <a:chExt cx="897649" cy="353919"/>
            </a:xfrm>
          </p:grpSpPr>
          <p:sp>
            <p:nvSpPr>
              <p:cNvPr id="291" name="Google Shape;29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2" name="Google Shape;29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3" name="Google Shape;29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4" name="Google Shape;29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5" name="Google Shape;295;p9"/>
          <p:cNvGrpSpPr/>
          <p:nvPr/>
        </p:nvGrpSpPr>
        <p:grpSpPr>
          <a:xfrm>
            <a:off x="10925982" y="4369125"/>
            <a:ext cx="228295" cy="120400"/>
            <a:chOff x="7493876" y="2774731"/>
            <a:chExt cx="1481958" cy="894622"/>
          </a:xfrm>
        </p:grpSpPr>
        <p:sp>
          <p:nvSpPr>
            <p:cNvPr id="296" name="Google Shape;29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7" name="Google Shape;29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8" name="Google Shape;298;p9"/>
            <p:cNvGrpSpPr/>
            <p:nvPr/>
          </p:nvGrpSpPr>
          <p:grpSpPr>
            <a:xfrm>
              <a:off x="7713663" y="2848339"/>
              <a:ext cx="1042107" cy="425543"/>
              <a:chOff x="7786941" y="2884917"/>
              <a:chExt cx="897649" cy="353919"/>
            </a:xfrm>
          </p:grpSpPr>
          <p:sp>
            <p:nvSpPr>
              <p:cNvPr id="299" name="Google Shape;29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0" name="Google Shape;30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1" name="Google Shape;30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 name="Google Shape;30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03" name="Google Shape;303;p9"/>
          <p:cNvGrpSpPr/>
          <p:nvPr/>
        </p:nvGrpSpPr>
        <p:grpSpPr>
          <a:xfrm>
            <a:off x="7439074" y="2356613"/>
            <a:ext cx="534987" cy="414882"/>
            <a:chOff x="7432700" y="2327293"/>
            <a:chExt cx="534987" cy="414882"/>
          </a:xfrm>
        </p:grpSpPr>
        <p:pic>
          <p:nvPicPr>
            <p:cNvPr descr="antenna_stylized" id="304" name="Google Shape;304;p9"/>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05" name="Google Shape;305;p9"/>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06" name="Google Shape;306;p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07" name="Google Shape;307;p9"/>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08" name="Google Shape;308;p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9" name="Google Shape;309;p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0" name="Google Shape;310;p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1" name="Google Shape;311;p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2" name="Google Shape;312;p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3" name="Google Shape;313;p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14" name="Google Shape;314;p9"/>
            <p:cNvGrpSpPr/>
            <p:nvPr/>
          </p:nvGrpSpPr>
          <p:grpSpPr>
            <a:xfrm>
              <a:off x="7594735" y="2642220"/>
              <a:ext cx="98740" cy="36846"/>
              <a:chOff x="1740" y="2642"/>
              <a:chExt cx="752" cy="327"/>
            </a:xfrm>
          </p:grpSpPr>
          <p:sp>
            <p:nvSpPr>
              <p:cNvPr id="315" name="Google Shape;315;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6" name="Google Shape;316;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 name="Google Shape;317;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 name="Google Shape;318;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 name="Google Shape;319;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 name="Google Shape;320;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21" name="Google Shape;321;p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2" name="Google Shape;322;p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3" name="Google Shape;323;p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4" name="Google Shape;324;p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5" name="Google Shape;325;p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 name="Google Shape;326;p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27" name="Google Shape;327;p9"/>
          <p:cNvGrpSpPr/>
          <p:nvPr/>
        </p:nvGrpSpPr>
        <p:grpSpPr>
          <a:xfrm>
            <a:off x="8637781" y="2319727"/>
            <a:ext cx="530702" cy="478009"/>
            <a:chOff x="8631407" y="2290407"/>
            <a:chExt cx="530702" cy="478009"/>
          </a:xfrm>
        </p:grpSpPr>
        <p:pic>
          <p:nvPicPr>
            <p:cNvPr descr="light2.png" id="328" name="Google Shape;328;p9"/>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329" name="Google Shape;329;p9"/>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330" name="Google Shape;330;p9"/>
          <p:cNvGrpSpPr/>
          <p:nvPr/>
        </p:nvGrpSpPr>
        <p:grpSpPr>
          <a:xfrm>
            <a:off x="8499539" y="2059124"/>
            <a:ext cx="849312" cy="226109"/>
            <a:chOff x="8493165" y="2029804"/>
            <a:chExt cx="849312" cy="226109"/>
          </a:xfrm>
        </p:grpSpPr>
        <p:pic>
          <p:nvPicPr>
            <p:cNvPr descr="car_icon_small" id="331" name="Google Shape;331;p9"/>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332" name="Google Shape;332;p9"/>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333" name="Google Shape;333;p9"/>
          <p:cNvGrpSpPr/>
          <p:nvPr/>
        </p:nvGrpSpPr>
        <p:grpSpPr>
          <a:xfrm>
            <a:off x="7493518" y="3325424"/>
            <a:ext cx="857739" cy="583764"/>
            <a:chOff x="7487144" y="3296104"/>
            <a:chExt cx="857739" cy="583764"/>
          </a:xfrm>
        </p:grpSpPr>
        <p:grpSp>
          <p:nvGrpSpPr>
            <p:cNvPr id="334" name="Google Shape;334;p9"/>
            <p:cNvGrpSpPr/>
            <p:nvPr/>
          </p:nvGrpSpPr>
          <p:grpSpPr>
            <a:xfrm>
              <a:off x="7487144" y="3389820"/>
              <a:ext cx="350807" cy="310034"/>
              <a:chOff x="7487144" y="3389820"/>
              <a:chExt cx="350807" cy="310034"/>
            </a:xfrm>
          </p:grpSpPr>
          <p:pic>
            <p:nvPicPr>
              <p:cNvPr descr="antenna_stylized" id="335" name="Google Shape;335;p9"/>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336" name="Google Shape;336;p9"/>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337" name="Google Shape;337;p9"/>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38" name="Google Shape;338;p9"/>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339" name="Google Shape;339;p9"/>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0" name="Google Shape;340;p9"/>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1" name="Google Shape;341;p9"/>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2" name="Google Shape;342;p9"/>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3" name="Google Shape;343;p9"/>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 name="Google Shape;344;p9"/>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45" name="Google Shape;345;p9"/>
              <p:cNvGrpSpPr/>
              <p:nvPr/>
            </p:nvGrpSpPr>
            <p:grpSpPr>
              <a:xfrm>
                <a:off x="7593395" y="3625649"/>
                <a:ext cx="64747" cy="27592"/>
                <a:chOff x="1740" y="2642"/>
                <a:chExt cx="752" cy="327"/>
              </a:xfrm>
            </p:grpSpPr>
            <p:sp>
              <p:nvSpPr>
                <p:cNvPr id="346" name="Google Shape;346;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 name="Google Shape;347;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 name="Google Shape;348;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 name="Google Shape;349;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 name="Google Shape;350;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 name="Google Shape;351;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2" name="Google Shape;352;p9"/>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 name="Google Shape;353;p9"/>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 name="Google Shape;354;p9"/>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9"/>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 name="Google Shape;356;p9"/>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9"/>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58" name="Google Shape;358;p9"/>
            <p:cNvGrpSpPr/>
            <p:nvPr/>
          </p:nvGrpSpPr>
          <p:grpSpPr>
            <a:xfrm flipH="1">
              <a:off x="7985622" y="3537823"/>
              <a:ext cx="359261" cy="342045"/>
              <a:chOff x="2839" y="3501"/>
              <a:chExt cx="755" cy="803"/>
            </a:xfrm>
          </p:grpSpPr>
          <p:pic>
            <p:nvPicPr>
              <p:cNvPr descr="desktop_computer_stylized_medium" id="359" name="Google Shape;359;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60" name="Google Shape;360;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1" name="Google Shape;361;p9"/>
            <p:cNvGrpSpPr/>
            <p:nvPr/>
          </p:nvGrpSpPr>
          <p:grpSpPr>
            <a:xfrm>
              <a:off x="7797061" y="3296104"/>
              <a:ext cx="347997" cy="396620"/>
              <a:chOff x="7797061" y="3296104"/>
              <a:chExt cx="347997" cy="396620"/>
            </a:xfrm>
          </p:grpSpPr>
          <p:pic>
            <p:nvPicPr>
              <p:cNvPr descr="fridge2.png" id="362" name="Google Shape;362;p9"/>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363" name="Google Shape;363;p9"/>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364" name="Google Shape;364;p9"/>
          <p:cNvGrpSpPr/>
          <p:nvPr/>
        </p:nvGrpSpPr>
        <p:grpSpPr>
          <a:xfrm>
            <a:off x="11064947" y="3428485"/>
            <a:ext cx="518448" cy="1212242"/>
            <a:chOff x="11058573" y="3399165"/>
            <a:chExt cx="518448" cy="1212242"/>
          </a:xfrm>
        </p:grpSpPr>
        <p:grpSp>
          <p:nvGrpSpPr>
            <p:cNvPr id="365" name="Google Shape;365;p9"/>
            <p:cNvGrpSpPr/>
            <p:nvPr/>
          </p:nvGrpSpPr>
          <p:grpSpPr>
            <a:xfrm>
              <a:off x="11087182" y="4159591"/>
              <a:ext cx="489839" cy="451816"/>
              <a:chOff x="5103720" y="2693365"/>
              <a:chExt cx="611650" cy="414788"/>
            </a:xfrm>
          </p:grpSpPr>
          <p:cxnSp>
            <p:nvCxnSpPr>
              <p:cNvPr id="366" name="Google Shape;366;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67" name="Google Shape;367;p9"/>
              <p:cNvGrpSpPr/>
              <p:nvPr/>
            </p:nvGrpSpPr>
            <p:grpSpPr>
              <a:xfrm>
                <a:off x="5275406" y="2693365"/>
                <a:ext cx="439964" cy="414788"/>
                <a:chOff x="5275406" y="2711455"/>
                <a:chExt cx="452949" cy="405518"/>
              </a:xfrm>
            </p:grpSpPr>
            <p:pic>
              <p:nvPicPr>
                <p:cNvPr descr="server_rack.png" id="368" name="Google Shape;368;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69" name="Google Shape;369;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70" name="Google Shape;370;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371" name="Google Shape;371;p9"/>
            <p:cNvGrpSpPr/>
            <p:nvPr/>
          </p:nvGrpSpPr>
          <p:grpSpPr>
            <a:xfrm>
              <a:off x="11058573" y="3399165"/>
              <a:ext cx="423724" cy="405973"/>
              <a:chOff x="5103720" y="2693365"/>
              <a:chExt cx="611650" cy="414788"/>
            </a:xfrm>
          </p:grpSpPr>
          <p:cxnSp>
            <p:nvCxnSpPr>
              <p:cNvPr id="372" name="Google Shape;372;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73" name="Google Shape;373;p9"/>
              <p:cNvGrpSpPr/>
              <p:nvPr/>
            </p:nvGrpSpPr>
            <p:grpSpPr>
              <a:xfrm>
                <a:off x="5275406" y="2693365"/>
                <a:ext cx="439964" cy="414788"/>
                <a:chOff x="5275406" y="2711455"/>
                <a:chExt cx="452949" cy="405518"/>
              </a:xfrm>
            </p:grpSpPr>
            <p:pic>
              <p:nvPicPr>
                <p:cNvPr descr="server_rack.png" id="374" name="Google Shape;374;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75" name="Google Shape;375;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76" name="Google Shape;376;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377" name="Google Shape;377;p9"/>
          <p:cNvGrpSpPr/>
          <p:nvPr/>
        </p:nvGrpSpPr>
        <p:grpSpPr>
          <a:xfrm flipH="1">
            <a:off x="7980855" y="4900161"/>
            <a:ext cx="345630" cy="320302"/>
            <a:chOff x="2839" y="3501"/>
            <a:chExt cx="755" cy="803"/>
          </a:xfrm>
        </p:grpSpPr>
        <p:pic>
          <p:nvPicPr>
            <p:cNvPr descr="desktop_computer_stylized_medium" id="378" name="Google Shape;378;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79" name="Google Shape;37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80" name="Google Shape;380;p9"/>
          <p:cNvGrpSpPr/>
          <p:nvPr/>
        </p:nvGrpSpPr>
        <p:grpSpPr>
          <a:xfrm>
            <a:off x="9201681" y="5852809"/>
            <a:ext cx="310186" cy="312008"/>
            <a:chOff x="877" y="1008"/>
            <a:chExt cx="2747" cy="2626"/>
          </a:xfrm>
        </p:grpSpPr>
        <p:pic>
          <p:nvPicPr>
            <p:cNvPr descr="antenna_stylized" id="381" name="Google Shape;381;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82" name="Google Shape;382;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83" name="Google Shape;383;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84" name="Google Shape;384;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85" name="Google Shape;385;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6" name="Google Shape;386;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 name="Google Shape;387;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8" name="Google Shape;388;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9" name="Google Shape;389;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0" name="Google Shape;390;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91" name="Google Shape;391;p9"/>
            <p:cNvGrpSpPr/>
            <p:nvPr/>
          </p:nvGrpSpPr>
          <p:grpSpPr>
            <a:xfrm>
              <a:off x="1709" y="3008"/>
              <a:ext cx="507" cy="234"/>
              <a:chOff x="1740" y="2642"/>
              <a:chExt cx="752" cy="327"/>
            </a:xfrm>
          </p:grpSpPr>
          <p:sp>
            <p:nvSpPr>
              <p:cNvPr id="392" name="Google Shape;392;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6" name="Google Shape;396;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7" name="Google Shape;397;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8" name="Google Shape;398;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9" name="Google Shape;399;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0" name="Google Shape;400;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1" name="Google Shape;401;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2" name="Google Shape;402;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3" name="Google Shape;403;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4" name="Google Shape;404;p9"/>
          <p:cNvGrpSpPr/>
          <p:nvPr/>
        </p:nvGrpSpPr>
        <p:grpSpPr>
          <a:xfrm flipH="1">
            <a:off x="8153909" y="5504657"/>
            <a:ext cx="345630" cy="320302"/>
            <a:chOff x="2839" y="3501"/>
            <a:chExt cx="755" cy="803"/>
          </a:xfrm>
        </p:grpSpPr>
        <p:pic>
          <p:nvPicPr>
            <p:cNvPr descr="desktop_computer_stylized_medium" id="405" name="Google Shape;405;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06" name="Google Shape;406;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7" name="Google Shape;407;p9"/>
          <p:cNvGrpSpPr/>
          <p:nvPr/>
        </p:nvGrpSpPr>
        <p:grpSpPr>
          <a:xfrm flipH="1">
            <a:off x="8552134" y="5526130"/>
            <a:ext cx="345630" cy="320302"/>
            <a:chOff x="2839" y="3501"/>
            <a:chExt cx="755" cy="803"/>
          </a:xfrm>
        </p:grpSpPr>
        <p:pic>
          <p:nvPicPr>
            <p:cNvPr descr="desktop_computer_stylized_medium" id="408" name="Google Shape;408;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09" name="Google Shape;40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10" name="Google Shape;410;p9"/>
          <p:cNvGrpSpPr/>
          <p:nvPr/>
        </p:nvGrpSpPr>
        <p:grpSpPr>
          <a:xfrm>
            <a:off x="9534746" y="5795138"/>
            <a:ext cx="319264" cy="256836"/>
            <a:chOff x="877" y="1008"/>
            <a:chExt cx="2747" cy="2626"/>
          </a:xfrm>
        </p:grpSpPr>
        <p:pic>
          <p:nvPicPr>
            <p:cNvPr descr="antenna_stylized" id="411" name="Google Shape;411;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12" name="Google Shape;412;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13" name="Google Shape;413;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14" name="Google Shape;414;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15" name="Google Shape;415;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 name="Google Shape;416;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8" name="Google Shape;418;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9" name="Google Shape;419;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0" name="Google Shape;420;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1" name="Google Shape;421;p9"/>
            <p:cNvGrpSpPr/>
            <p:nvPr/>
          </p:nvGrpSpPr>
          <p:grpSpPr>
            <a:xfrm>
              <a:off x="1709" y="3008"/>
              <a:ext cx="507" cy="234"/>
              <a:chOff x="1740" y="2642"/>
              <a:chExt cx="752" cy="327"/>
            </a:xfrm>
          </p:grpSpPr>
          <p:sp>
            <p:nvSpPr>
              <p:cNvPr id="422" name="Google Shape;422;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3" name="Google Shape;423;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 name="Google Shape;424;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5" name="Google Shape;425;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 name="Google Shape;426;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 name="Google Shape;427;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28" name="Google Shape;428;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 name="Google Shape;429;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 name="Google Shape;430;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 name="Google Shape;432;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3" name="Google Shape;433;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34" name="Google Shape;434;p9"/>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5" name="Google Shape;435;p9"/>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6" name="Google Shape;436;p9"/>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7" name="Google Shape;437;p9"/>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8" name="Google Shape;438;p9"/>
          <p:cNvGrpSpPr/>
          <p:nvPr/>
        </p:nvGrpSpPr>
        <p:grpSpPr>
          <a:xfrm>
            <a:off x="10091053" y="5670891"/>
            <a:ext cx="69517" cy="21877"/>
            <a:chOff x="613" y="2566"/>
            <a:chExt cx="721" cy="144"/>
          </a:xfrm>
        </p:grpSpPr>
        <p:sp>
          <p:nvSpPr>
            <p:cNvPr id="439" name="Google Shape;43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0" name="Google Shape;44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1" name="Google Shape;441;p9"/>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2" name="Google Shape;442;p9"/>
          <p:cNvGrpSpPr/>
          <p:nvPr/>
        </p:nvGrpSpPr>
        <p:grpSpPr>
          <a:xfrm>
            <a:off x="10091005" y="5718110"/>
            <a:ext cx="69517" cy="19515"/>
            <a:chOff x="615" y="2564"/>
            <a:chExt cx="721" cy="139"/>
          </a:xfrm>
        </p:grpSpPr>
        <p:sp>
          <p:nvSpPr>
            <p:cNvPr id="443" name="Google Shape;44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4" name="Google Shape;44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5" name="Google Shape;445;p9"/>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6" name="Google Shape;446;p9"/>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7" name="Google Shape;447;p9"/>
          <p:cNvGrpSpPr/>
          <p:nvPr/>
        </p:nvGrpSpPr>
        <p:grpSpPr>
          <a:xfrm>
            <a:off x="10089851" y="5813708"/>
            <a:ext cx="69541" cy="19618"/>
            <a:chOff x="618" y="2586"/>
            <a:chExt cx="720" cy="124"/>
          </a:xfrm>
        </p:grpSpPr>
        <p:sp>
          <p:nvSpPr>
            <p:cNvPr id="448" name="Google Shape;44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9" name="Google Shape;44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0" name="Google Shape;450;p9"/>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1" name="Google Shape;451;p9"/>
          <p:cNvGrpSpPr/>
          <p:nvPr/>
        </p:nvGrpSpPr>
        <p:grpSpPr>
          <a:xfrm>
            <a:off x="10089849" y="5767606"/>
            <a:ext cx="70700" cy="19515"/>
            <a:chOff x="613" y="2571"/>
            <a:chExt cx="732" cy="134"/>
          </a:xfrm>
        </p:grpSpPr>
        <p:sp>
          <p:nvSpPr>
            <p:cNvPr id="452" name="Google Shape;45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3" name="Google Shape;45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4" name="Google Shape;454;p9"/>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5" name="Google Shape;455;p9"/>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 name="Google Shape;456;p9"/>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7" name="Google Shape;457;p9"/>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8" name="Google Shape;458;p9"/>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9" name="Google Shape;459;p9"/>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0" name="Google Shape;460;p9"/>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1" name="Google Shape;461;p9"/>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2" name="Google Shape;462;p9"/>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63" name="Google Shape;463;p9"/>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4" name="Google Shape;464;p9"/>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65" name="Google Shape;465;p9"/>
          <p:cNvGrpSpPr/>
          <p:nvPr/>
        </p:nvGrpSpPr>
        <p:grpSpPr>
          <a:xfrm flipH="1">
            <a:off x="7773981" y="5281060"/>
            <a:ext cx="345630" cy="320302"/>
            <a:chOff x="2839" y="3501"/>
            <a:chExt cx="755" cy="803"/>
          </a:xfrm>
        </p:grpSpPr>
        <p:pic>
          <p:nvPicPr>
            <p:cNvPr descr="desktop_computer_stylized_medium" id="466" name="Google Shape;46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67" name="Google Shape;46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68" name="Google Shape;468;p9"/>
          <p:cNvSpPr/>
          <p:nvPr/>
        </p:nvSpPr>
        <p:spPr>
          <a:xfrm>
            <a:off x="6406266" y="1372497"/>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69" name="Google Shape;469;p9"/>
          <p:cNvGrpSpPr/>
          <p:nvPr/>
        </p:nvGrpSpPr>
        <p:grpSpPr>
          <a:xfrm>
            <a:off x="7750224" y="1859725"/>
            <a:ext cx="415925" cy="385763"/>
            <a:chOff x="2751" y="1851"/>
            <a:chExt cx="462" cy="478"/>
          </a:xfrm>
        </p:grpSpPr>
        <p:pic>
          <p:nvPicPr>
            <p:cNvPr descr="iphone_stylized_small" id="470" name="Google Shape;470;p9"/>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471" name="Google Shape;471;p9"/>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472" name="Google Shape;472;p9"/>
          <p:cNvGrpSpPr/>
          <p:nvPr/>
        </p:nvGrpSpPr>
        <p:grpSpPr>
          <a:xfrm>
            <a:off x="10002508" y="5616400"/>
            <a:ext cx="214974" cy="403920"/>
            <a:chOff x="4140" y="429"/>
            <a:chExt cx="1425" cy="2396"/>
          </a:xfrm>
        </p:grpSpPr>
        <p:sp>
          <p:nvSpPr>
            <p:cNvPr id="473" name="Google Shape;47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4" name="Google Shape;474;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75" name="Google Shape;47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6" name="Google Shape;47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7" name="Google Shape;477;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78" name="Google Shape;478;p9"/>
            <p:cNvGrpSpPr/>
            <p:nvPr/>
          </p:nvGrpSpPr>
          <p:grpSpPr>
            <a:xfrm>
              <a:off x="4748" y="666"/>
              <a:ext cx="578" cy="150"/>
              <a:chOff x="613" y="2566"/>
              <a:chExt cx="721" cy="144"/>
            </a:xfrm>
          </p:grpSpPr>
          <p:sp>
            <p:nvSpPr>
              <p:cNvPr id="479" name="Google Shape;47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0" name="Google Shape;48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81" name="Google Shape;481;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2" name="Google Shape;482;p9"/>
            <p:cNvGrpSpPr/>
            <p:nvPr/>
          </p:nvGrpSpPr>
          <p:grpSpPr>
            <a:xfrm>
              <a:off x="4748" y="990"/>
              <a:ext cx="578" cy="134"/>
              <a:chOff x="615" y="2564"/>
              <a:chExt cx="721" cy="139"/>
            </a:xfrm>
          </p:grpSpPr>
          <p:sp>
            <p:nvSpPr>
              <p:cNvPr id="483" name="Google Shape;48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4" name="Google Shape;48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85" name="Google Shape;485;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6" name="Google Shape;486;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7" name="Google Shape;487;p9"/>
            <p:cNvGrpSpPr/>
            <p:nvPr/>
          </p:nvGrpSpPr>
          <p:grpSpPr>
            <a:xfrm>
              <a:off x="4738" y="1647"/>
              <a:ext cx="578" cy="135"/>
              <a:chOff x="618" y="2586"/>
              <a:chExt cx="720" cy="124"/>
            </a:xfrm>
          </p:grpSpPr>
          <p:sp>
            <p:nvSpPr>
              <p:cNvPr id="488" name="Google Shape;48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9" name="Google Shape;48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0" name="Google Shape;49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91" name="Google Shape;491;p9"/>
            <p:cNvGrpSpPr/>
            <p:nvPr/>
          </p:nvGrpSpPr>
          <p:grpSpPr>
            <a:xfrm>
              <a:off x="4738" y="1330"/>
              <a:ext cx="588" cy="134"/>
              <a:chOff x="613" y="2571"/>
              <a:chExt cx="732" cy="134"/>
            </a:xfrm>
          </p:grpSpPr>
          <p:sp>
            <p:nvSpPr>
              <p:cNvPr id="492" name="Google Shape;49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3" name="Google Shape;49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4" name="Google Shape;494;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5" name="Google Shape;49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6" name="Google Shape;49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7" name="Google Shape;497;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8" name="Google Shape;49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9" name="Google Shape;499;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0" name="Google Shape;500;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1" name="Google Shape;501;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2" name="Google Shape;502;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03" name="Google Shape;503;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4" name="Google Shape;504;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05" name="Google Shape;505;p9"/>
          <p:cNvGrpSpPr/>
          <p:nvPr/>
        </p:nvGrpSpPr>
        <p:grpSpPr>
          <a:xfrm>
            <a:off x="7680324" y="1137866"/>
            <a:ext cx="3489213" cy="4926975"/>
            <a:chOff x="7680324" y="1137866"/>
            <a:chExt cx="3489213" cy="4926975"/>
          </a:xfrm>
        </p:grpSpPr>
        <p:sp>
          <p:nvSpPr>
            <p:cNvPr id="506" name="Google Shape;506;p9"/>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9"/>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08" name="Google Shape;508;p9"/>
            <p:cNvGrpSpPr/>
            <p:nvPr/>
          </p:nvGrpSpPr>
          <p:grpSpPr>
            <a:xfrm>
              <a:off x="7680324" y="1137866"/>
              <a:ext cx="3489213" cy="4926975"/>
              <a:chOff x="7680324" y="1137866"/>
              <a:chExt cx="3489213" cy="4926975"/>
            </a:xfrm>
          </p:grpSpPr>
          <p:sp>
            <p:nvSpPr>
              <p:cNvPr id="509" name="Google Shape;509;p9"/>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0" name="Google Shape;510;p9"/>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11" name="Google Shape;511;p9"/>
              <p:cNvGrpSpPr/>
              <p:nvPr/>
            </p:nvGrpSpPr>
            <p:grpSpPr>
              <a:xfrm>
                <a:off x="10288915" y="4742972"/>
                <a:ext cx="880622" cy="861812"/>
                <a:chOff x="10288915" y="4742972"/>
                <a:chExt cx="880622" cy="861812"/>
              </a:xfrm>
            </p:grpSpPr>
            <p:grpSp>
              <p:nvGrpSpPr>
                <p:cNvPr id="512" name="Google Shape;512;p9"/>
                <p:cNvGrpSpPr/>
                <p:nvPr/>
              </p:nvGrpSpPr>
              <p:grpSpPr>
                <a:xfrm>
                  <a:off x="10288915" y="5273951"/>
                  <a:ext cx="177192" cy="330833"/>
                  <a:chOff x="4140" y="429"/>
                  <a:chExt cx="1425" cy="2396"/>
                </a:xfrm>
              </p:grpSpPr>
              <p:sp>
                <p:nvSpPr>
                  <p:cNvPr id="513" name="Google Shape;51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4" name="Google Shape;514;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5" name="Google Shape;51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6" name="Google Shape;51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7" name="Google Shape;517;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18" name="Google Shape;518;p9"/>
                  <p:cNvGrpSpPr/>
                  <p:nvPr/>
                </p:nvGrpSpPr>
                <p:grpSpPr>
                  <a:xfrm>
                    <a:off x="4748" y="666"/>
                    <a:ext cx="578" cy="150"/>
                    <a:chOff x="613" y="2566"/>
                    <a:chExt cx="721" cy="144"/>
                  </a:xfrm>
                </p:grpSpPr>
                <p:sp>
                  <p:nvSpPr>
                    <p:cNvPr id="519" name="Google Shape;51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0" name="Google Shape;52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1" name="Google Shape;521;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2" name="Google Shape;522;p9"/>
                  <p:cNvGrpSpPr/>
                  <p:nvPr/>
                </p:nvGrpSpPr>
                <p:grpSpPr>
                  <a:xfrm>
                    <a:off x="4748" y="990"/>
                    <a:ext cx="578" cy="134"/>
                    <a:chOff x="615" y="2564"/>
                    <a:chExt cx="721" cy="139"/>
                  </a:xfrm>
                </p:grpSpPr>
                <p:sp>
                  <p:nvSpPr>
                    <p:cNvPr id="523" name="Google Shape;52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4" name="Google Shape;52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5" name="Google Shape;525;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6" name="Google Shape;526;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7" name="Google Shape;527;p9"/>
                  <p:cNvGrpSpPr/>
                  <p:nvPr/>
                </p:nvGrpSpPr>
                <p:grpSpPr>
                  <a:xfrm>
                    <a:off x="4738" y="1647"/>
                    <a:ext cx="578" cy="135"/>
                    <a:chOff x="618" y="2586"/>
                    <a:chExt cx="720" cy="124"/>
                  </a:xfrm>
                </p:grpSpPr>
                <p:sp>
                  <p:nvSpPr>
                    <p:cNvPr id="528" name="Google Shape;52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9" name="Google Shape;52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30" name="Google Shape;53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31" name="Google Shape;531;p9"/>
                  <p:cNvGrpSpPr/>
                  <p:nvPr/>
                </p:nvGrpSpPr>
                <p:grpSpPr>
                  <a:xfrm>
                    <a:off x="4738" y="1330"/>
                    <a:ext cx="588" cy="134"/>
                    <a:chOff x="613" y="2571"/>
                    <a:chExt cx="732" cy="134"/>
                  </a:xfrm>
                </p:grpSpPr>
                <p:sp>
                  <p:nvSpPr>
                    <p:cNvPr id="532" name="Google Shape;53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3" name="Google Shape;53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34" name="Google Shape;534;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5" name="Google Shape;53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6" name="Google Shape;53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7" name="Google Shape;537;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8" name="Google Shape;53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9" name="Google Shape;539;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0" name="Google Shape;540;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1" name="Google Shape;541;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2" name="Google Shape;542;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43" name="Google Shape;543;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4" name="Google Shape;544;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45" name="Google Shape;545;p9"/>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46" name="Google Shape;546;p9"/>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47" name="Google Shape;547;p9"/>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48" name="Google Shape;548;p9"/>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549" name="Google Shape;549;p9"/>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0" name="Google Shape;550;p9"/>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1" name="Google Shape;551;p9"/>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grpSp>
            <p:nvGrpSpPr>
              <p:cNvPr id="552" name="Google Shape;552;p9"/>
              <p:cNvGrpSpPr/>
              <p:nvPr/>
            </p:nvGrpSpPr>
            <p:grpSpPr>
              <a:xfrm>
                <a:off x="8252702" y="1137866"/>
                <a:ext cx="814388" cy="854075"/>
                <a:chOff x="9791027" y="656358"/>
                <a:chExt cx="814388" cy="854075"/>
              </a:xfrm>
            </p:grpSpPr>
            <p:sp>
              <p:nvSpPr>
                <p:cNvPr id="553" name="Google Shape;553;p9"/>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4" name="Google Shape;554;p9"/>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5" name="Google Shape;555;p9"/>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6" name="Google Shape;556;p9"/>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557" name="Google Shape;557;p9"/>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8" name="Google Shape;558;p9"/>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9" name="Google Shape;559;p9"/>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560" name="Google Shape;560;p9"/>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1" name="Google Shape;561;p9"/>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grpSp>
      </p:grpSp>
      <p:sp>
        <p:nvSpPr>
          <p:cNvPr id="562" name="Google Shape;562;p9"/>
          <p:cNvSpPr txBox="1"/>
          <p:nvPr/>
        </p:nvSpPr>
        <p:spPr>
          <a:xfrm>
            <a:off x="684691" y="2787535"/>
            <a:ext cx="5815703" cy="232775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transport protocols actions in end systems: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breaks application messages into </a:t>
            </a:r>
            <a:r>
              <a:rPr b="0" i="1" lang="en-US" sz="2400" u="none" cap="none" strike="noStrike">
                <a:solidFill>
                  <a:srgbClr val="CC0000"/>
                </a:solidFill>
                <a:latin typeface="Calibri"/>
                <a:ea typeface="Calibri"/>
                <a:cs typeface="Calibri"/>
                <a:sym typeface="Calibri"/>
              </a:rPr>
              <a:t>segments</a:t>
            </a:r>
            <a:r>
              <a:rPr b="0" i="0" lang="en-US" sz="2400" u="none" cap="none" strike="noStrike">
                <a:solidFill>
                  <a:srgbClr val="000000"/>
                </a:solidFill>
                <a:latin typeface="Calibri"/>
                <a:ea typeface="Calibri"/>
                <a:cs typeface="Calibri"/>
                <a:sym typeface="Calibri"/>
              </a:rPr>
              <a:t>, passes to  network layer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reassembles segments into messages, passes to application layer</a:t>
            </a:r>
            <a:endParaRPr/>
          </a:p>
        </p:txBody>
      </p:sp>
      <p:sp>
        <p:nvSpPr>
          <p:cNvPr id="563" name="Google Shape;563;p9"/>
          <p:cNvSpPr txBox="1"/>
          <p:nvPr/>
        </p:nvSpPr>
        <p:spPr>
          <a:xfrm>
            <a:off x="681217" y="5165099"/>
            <a:ext cx="5815703" cy="144854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transport protocols available to Internet applications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TCP, UDP</a:t>
            </a:r>
            <a:endParaRPr/>
          </a:p>
        </p:txBody>
      </p:sp>
      <p:sp>
        <p:nvSpPr>
          <p:cNvPr id="564" name="Google Shape;564;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par>
                                <p:cTn fill="hold" nodeType="with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1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Transport vs. network layer services and protocols</a:t>
            </a:r>
            <a:endParaRPr/>
          </a:p>
        </p:txBody>
      </p:sp>
      <p:grpSp>
        <p:nvGrpSpPr>
          <p:cNvPr id="571" name="Google Shape;571;p10"/>
          <p:cNvGrpSpPr/>
          <p:nvPr/>
        </p:nvGrpSpPr>
        <p:grpSpPr>
          <a:xfrm>
            <a:off x="6278709" y="1094882"/>
            <a:ext cx="5468536" cy="5077175"/>
            <a:chOff x="6430780" y="1365914"/>
            <a:chExt cx="5468536" cy="5077175"/>
          </a:xfrm>
        </p:grpSpPr>
        <p:sp>
          <p:nvSpPr>
            <p:cNvPr id="572" name="Google Shape;572;p10"/>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 name="Google Shape;573;p10"/>
            <p:cNvSpPr/>
            <p:nvPr/>
          </p:nvSpPr>
          <p:spPr>
            <a:xfrm>
              <a:off x="6430780" y="1910777"/>
              <a:ext cx="5230917" cy="440976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4" name="Google Shape;574;p10"/>
            <p:cNvSpPr txBox="1"/>
            <p:nvPr/>
          </p:nvSpPr>
          <p:spPr>
            <a:xfrm>
              <a:off x="7104167" y="1686939"/>
              <a:ext cx="3025187" cy="44563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99"/>
                </a:buClr>
                <a:buSzPts val="1820"/>
                <a:buFont typeface="Noto Sans Symbols"/>
                <a:buNone/>
              </a:pPr>
              <a:r>
                <a:rPr b="0" i="1" lang="en-US" sz="2800" u="none" cap="none" strike="noStrike">
                  <a:solidFill>
                    <a:srgbClr val="000099"/>
                  </a:solidFill>
                  <a:latin typeface="Calibri"/>
                  <a:ea typeface="Calibri"/>
                  <a:cs typeface="Calibri"/>
                  <a:sym typeface="Calibri"/>
                </a:rPr>
                <a:t>household analogy:</a:t>
              </a:r>
              <a:endParaRPr b="0" i="1" sz="2800" u="none" cap="none" strike="noStrike">
                <a:solidFill>
                  <a:srgbClr val="000000"/>
                </a:solidFill>
                <a:latin typeface="Calibri"/>
                <a:ea typeface="Calibri"/>
                <a:cs typeface="Calibri"/>
                <a:sym typeface="Calibri"/>
              </a:endParaRPr>
            </a:p>
          </p:txBody>
        </p:sp>
        <p:sp>
          <p:nvSpPr>
            <p:cNvPr id="575" name="Google Shape;575;p10"/>
            <p:cNvSpPr txBox="1"/>
            <p:nvPr/>
          </p:nvSpPr>
          <p:spPr>
            <a:xfrm>
              <a:off x="6539915" y="2193352"/>
              <a:ext cx="4916773" cy="4249737"/>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100000"/>
                </a:lnSpc>
                <a:spcBef>
                  <a:spcPts val="0"/>
                </a:spcBef>
                <a:spcAft>
                  <a:spcPts val="0"/>
                </a:spcAft>
                <a:buClr>
                  <a:srgbClr val="0000A3"/>
                </a:buClr>
                <a:buSzPct val="100000"/>
                <a:buFont typeface="Noto Sans Symbols"/>
                <a:buNone/>
              </a:pPr>
              <a:r>
                <a:rPr b="0" i="1" lang="en-US" sz="3000" u="none" cap="none" strike="noStrike">
                  <a:solidFill>
                    <a:srgbClr val="000000"/>
                  </a:solidFill>
                  <a:latin typeface="Calibri"/>
                  <a:ea typeface="Calibri"/>
                  <a:cs typeface="Calibri"/>
                  <a:sym typeface="Calibri"/>
                </a:rPr>
                <a:t>12 kids in Ann’s house sending letters to 12 kids in Bill’s house:</a:t>
              </a:r>
              <a:endParaRPr b="0" i="0" sz="3000" u="none" cap="none" strike="noStrike">
                <a:solidFill>
                  <a:srgbClr val="000000"/>
                </a:solidFill>
                <a:latin typeface="Calibri"/>
                <a:ea typeface="Calibri"/>
                <a:cs typeface="Calibri"/>
                <a:sym typeface="Calibri"/>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hosts = houses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processes = kids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app messages = letters in envelopes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protocol = Ann and Bill who demux to in-house siblings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network-layer protocol = postal service</a:t>
              </a:r>
              <a:endParaRPr/>
            </a:p>
            <a:p>
              <a:pPr indent="-222250" lvl="0" marL="352425" marR="0" rtl="0" algn="l">
                <a:lnSpc>
                  <a:spcPct val="7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grpSp>
      <p:pic>
        <p:nvPicPr>
          <p:cNvPr id="576" name="Google Shape;576;p10"/>
          <p:cNvPicPr preferRelativeResize="0"/>
          <p:nvPr/>
        </p:nvPicPr>
        <p:blipFill rotWithShape="1">
          <a:blip r:embed="rId3">
            <a:alphaModFix/>
          </a:blip>
          <a:srcRect b="0" l="0" r="0" t="0"/>
          <a:stretch/>
        </p:blipFill>
        <p:spPr>
          <a:xfrm>
            <a:off x="1423754" y="1415907"/>
            <a:ext cx="3622416" cy="5035158"/>
          </a:xfrm>
          <a:prstGeom prst="rect">
            <a:avLst/>
          </a:prstGeom>
          <a:noFill/>
          <a:ln>
            <a:noFill/>
          </a:ln>
        </p:spPr>
      </p:pic>
      <p:sp>
        <p:nvSpPr>
          <p:cNvPr id="577" name="Google Shape;577;p10"/>
          <p:cNvSpPr/>
          <p:nvPr/>
        </p:nvSpPr>
        <p:spPr>
          <a:xfrm>
            <a:off x="6387844" y="4452079"/>
            <a:ext cx="5121782" cy="13641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8" name="Google Shape;578;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Transport vs. network layer services and protocols</a:t>
            </a:r>
            <a:endParaRPr/>
          </a:p>
        </p:txBody>
      </p:sp>
      <p:sp>
        <p:nvSpPr>
          <p:cNvPr id="585" name="Google Shape;585;p11"/>
          <p:cNvSpPr txBox="1"/>
          <p:nvPr/>
        </p:nvSpPr>
        <p:spPr>
          <a:xfrm>
            <a:off x="702363" y="1523857"/>
            <a:ext cx="5230917"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network layer:</a:t>
            </a:r>
            <a:r>
              <a:rPr b="0" i="0" lang="en-US" sz="3200" u="none" cap="none" strike="noStrike">
                <a:solidFill>
                  <a:srgbClr val="000000"/>
                </a:solidFill>
                <a:latin typeface="Calibri"/>
                <a:ea typeface="Calibri"/>
                <a:cs typeface="Calibri"/>
                <a:sym typeface="Calibri"/>
              </a:rPr>
              <a:t> logical communication between </a:t>
            </a:r>
            <a:r>
              <a:rPr b="0" i="1" lang="en-US" sz="3200" u="none" cap="none" strike="noStrike">
                <a:solidFill>
                  <a:srgbClr val="C00000"/>
                </a:solidFill>
                <a:latin typeface="Calibri"/>
                <a:ea typeface="Calibri"/>
                <a:cs typeface="Calibri"/>
                <a:sym typeface="Calibri"/>
              </a:rPr>
              <a:t>hosts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transport layer</a:t>
            </a:r>
            <a:r>
              <a:rPr b="0" i="1" lang="en-US" sz="3200" u="none" cap="none" strike="noStrike">
                <a:solidFill>
                  <a:srgbClr val="000099"/>
                </a:solidFill>
                <a:latin typeface="Calibri"/>
                <a:ea typeface="Calibri"/>
                <a:cs typeface="Calibri"/>
                <a:sym typeface="Calibri"/>
              </a:rPr>
              <a:t>:</a:t>
            </a:r>
            <a:r>
              <a:rPr b="0" i="0" lang="en-US" sz="3200" u="none" cap="none" strike="noStrike">
                <a:solidFill>
                  <a:srgbClr val="000000"/>
                </a:solidFill>
                <a:latin typeface="Calibri"/>
                <a:ea typeface="Calibri"/>
                <a:cs typeface="Calibri"/>
                <a:sym typeface="Calibri"/>
              </a:rPr>
              <a:t> logical communication between </a:t>
            </a:r>
            <a:r>
              <a:rPr b="0" i="1" lang="en-US" sz="3200" u="none" cap="none" strike="noStrike">
                <a:solidFill>
                  <a:srgbClr val="C00000"/>
                </a:solidFill>
                <a:latin typeface="Calibri"/>
                <a:ea typeface="Calibri"/>
                <a:cs typeface="Calibri"/>
                <a:sym typeface="Calibri"/>
              </a:rPr>
              <a:t>processes</a:t>
            </a:r>
            <a:r>
              <a:rPr b="0" i="0" lang="en-US" sz="2800" u="none" cap="none" strike="noStrike">
                <a:solidFill>
                  <a:srgbClr val="000000"/>
                </a:solidFill>
                <a:latin typeface="Calibri"/>
                <a:ea typeface="Calibri"/>
                <a:cs typeface="Calibri"/>
                <a:sym typeface="Calibri"/>
              </a:rPr>
              <a:t>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relies on, enhances, network layer services</a:t>
            </a:r>
            <a:endParaRPr/>
          </a:p>
        </p:txBody>
      </p:sp>
      <p:grpSp>
        <p:nvGrpSpPr>
          <p:cNvPr id="586" name="Google Shape;586;p11"/>
          <p:cNvGrpSpPr/>
          <p:nvPr/>
        </p:nvGrpSpPr>
        <p:grpSpPr>
          <a:xfrm>
            <a:off x="6278709" y="1094882"/>
            <a:ext cx="5468536" cy="5077175"/>
            <a:chOff x="6430780" y="1365914"/>
            <a:chExt cx="5468536" cy="5077175"/>
          </a:xfrm>
        </p:grpSpPr>
        <p:sp>
          <p:nvSpPr>
            <p:cNvPr id="587" name="Google Shape;587;p11"/>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8" name="Google Shape;588;p11"/>
            <p:cNvSpPr/>
            <p:nvPr/>
          </p:nvSpPr>
          <p:spPr>
            <a:xfrm>
              <a:off x="6430780" y="1910777"/>
              <a:ext cx="5230917" cy="440976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 name="Google Shape;589;p11"/>
            <p:cNvSpPr txBox="1"/>
            <p:nvPr/>
          </p:nvSpPr>
          <p:spPr>
            <a:xfrm>
              <a:off x="7104167" y="1686939"/>
              <a:ext cx="3025187" cy="44563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99"/>
                </a:buClr>
                <a:buSzPts val="1820"/>
                <a:buFont typeface="Noto Sans Symbols"/>
                <a:buNone/>
              </a:pPr>
              <a:r>
                <a:rPr b="0" i="1" lang="en-US" sz="2800" u="none" cap="none" strike="noStrike">
                  <a:solidFill>
                    <a:srgbClr val="000099"/>
                  </a:solidFill>
                  <a:latin typeface="Calibri"/>
                  <a:ea typeface="Calibri"/>
                  <a:cs typeface="Calibri"/>
                  <a:sym typeface="Calibri"/>
                </a:rPr>
                <a:t>household analogy:</a:t>
              </a:r>
              <a:endParaRPr b="0" i="1" sz="2800" u="none" cap="none" strike="noStrike">
                <a:solidFill>
                  <a:srgbClr val="000000"/>
                </a:solidFill>
                <a:latin typeface="Calibri"/>
                <a:ea typeface="Calibri"/>
                <a:cs typeface="Calibri"/>
                <a:sym typeface="Calibri"/>
              </a:endParaRPr>
            </a:p>
          </p:txBody>
        </p:sp>
        <p:sp>
          <p:nvSpPr>
            <p:cNvPr id="590" name="Google Shape;590;p11"/>
            <p:cNvSpPr txBox="1"/>
            <p:nvPr/>
          </p:nvSpPr>
          <p:spPr>
            <a:xfrm>
              <a:off x="6539915" y="2193352"/>
              <a:ext cx="4916773" cy="4249737"/>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100000"/>
                </a:lnSpc>
                <a:spcBef>
                  <a:spcPts val="0"/>
                </a:spcBef>
                <a:spcAft>
                  <a:spcPts val="0"/>
                </a:spcAft>
                <a:buClr>
                  <a:srgbClr val="0000A3"/>
                </a:buClr>
                <a:buSzPct val="100000"/>
                <a:buFont typeface="Noto Sans Symbols"/>
                <a:buNone/>
              </a:pPr>
              <a:r>
                <a:rPr b="0" i="1" lang="en-US" sz="3000" u="none" cap="none" strike="noStrike">
                  <a:solidFill>
                    <a:srgbClr val="000000"/>
                  </a:solidFill>
                  <a:latin typeface="Calibri"/>
                  <a:ea typeface="Calibri"/>
                  <a:cs typeface="Calibri"/>
                  <a:sym typeface="Calibri"/>
                </a:rPr>
                <a:t>12 kids in Ann’s house sending letters to 12 kids in Bill’s house:</a:t>
              </a:r>
              <a:endParaRPr b="0" i="0" sz="3000" u="none" cap="none" strike="noStrike">
                <a:solidFill>
                  <a:srgbClr val="000000"/>
                </a:solidFill>
                <a:latin typeface="Calibri"/>
                <a:ea typeface="Calibri"/>
                <a:cs typeface="Calibri"/>
                <a:sym typeface="Calibri"/>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hosts = houses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processes = kids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app messages = letters in envelopes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protocol = Ann and Bill who demux to in-house siblings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network-layer protocol = postal service</a:t>
              </a:r>
              <a:endParaRPr/>
            </a:p>
            <a:p>
              <a:pPr indent="-222250" lvl="0" marL="352425" marR="0" rtl="0" algn="l">
                <a:lnSpc>
                  <a:spcPct val="7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grpSp>
      <p:sp>
        <p:nvSpPr>
          <p:cNvPr id="591" name="Google Shape;591;p11"/>
          <p:cNvSpPr/>
          <p:nvPr/>
        </p:nvSpPr>
        <p:spPr>
          <a:xfrm>
            <a:off x="6387844" y="4463368"/>
            <a:ext cx="5059089" cy="13641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2" name="Google Shape;592;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591"/>
                                        </p:tgtEl>
                                      </p:cBhvr>
                                    </p:animEffect>
                                    <p:set>
                                      <p:cBhvr>
                                        <p:cTn dur="1" fill="hold">
                                          <p:stCondLst>
                                            <p:cond delay="500"/>
                                          </p:stCondLst>
                                        </p:cTn>
                                        <p:tgtEl>
                                          <p:spTgt spid="59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grpSp>
        <p:nvGrpSpPr>
          <p:cNvPr id="598" name="Google Shape;598;p12"/>
          <p:cNvGrpSpPr/>
          <p:nvPr/>
        </p:nvGrpSpPr>
        <p:grpSpPr>
          <a:xfrm>
            <a:off x="2578811" y="4965666"/>
            <a:ext cx="6866725" cy="1028731"/>
            <a:chOff x="2578811" y="4965666"/>
            <a:chExt cx="6866725" cy="1028731"/>
          </a:xfrm>
        </p:grpSpPr>
        <p:cxnSp>
          <p:nvCxnSpPr>
            <p:cNvPr id="599" name="Google Shape;599;p12"/>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600" name="Google Shape;600;p12"/>
            <p:cNvGrpSpPr/>
            <p:nvPr/>
          </p:nvGrpSpPr>
          <p:grpSpPr>
            <a:xfrm>
              <a:off x="4062521" y="4965666"/>
              <a:ext cx="5383015" cy="1028731"/>
              <a:chOff x="4062521" y="4965666"/>
              <a:chExt cx="5383015" cy="1028731"/>
            </a:xfrm>
          </p:grpSpPr>
          <p:cxnSp>
            <p:nvCxnSpPr>
              <p:cNvPr id="601" name="Google Shape;601;p12"/>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602" name="Google Shape;602;p12"/>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603" name="Google Shape;603;p12"/>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4" name="Google Shape;604;p12"/>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05" name="Google Shape;605;p12"/>
          <p:cNvGrpSpPr/>
          <p:nvPr/>
        </p:nvGrpSpPr>
        <p:grpSpPr>
          <a:xfrm>
            <a:off x="10955688" y="4246759"/>
            <a:ext cx="549832" cy="1070215"/>
            <a:chOff x="4140" y="429"/>
            <a:chExt cx="1425" cy="2396"/>
          </a:xfrm>
        </p:grpSpPr>
        <p:sp>
          <p:nvSpPr>
            <p:cNvPr id="606" name="Google Shape;606;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7" name="Google Shape;607;p1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8" name="Google Shape;608;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09" name="Google Shape;609;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0" name="Google Shape;610;p1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11" name="Google Shape;611;p12"/>
            <p:cNvGrpSpPr/>
            <p:nvPr/>
          </p:nvGrpSpPr>
          <p:grpSpPr>
            <a:xfrm>
              <a:off x="4751" y="667"/>
              <a:ext cx="580" cy="146"/>
              <a:chOff x="617" y="2567"/>
              <a:chExt cx="724" cy="140"/>
            </a:xfrm>
          </p:grpSpPr>
          <p:sp>
            <p:nvSpPr>
              <p:cNvPr id="612" name="Google Shape;612;p1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3" name="Google Shape;613;p1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14" name="Google Shape;614;p1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15" name="Google Shape;615;p12"/>
            <p:cNvGrpSpPr/>
            <p:nvPr/>
          </p:nvGrpSpPr>
          <p:grpSpPr>
            <a:xfrm>
              <a:off x="4745" y="996"/>
              <a:ext cx="580" cy="156"/>
              <a:chOff x="612" y="2570"/>
              <a:chExt cx="724" cy="162"/>
            </a:xfrm>
          </p:grpSpPr>
          <p:sp>
            <p:nvSpPr>
              <p:cNvPr id="616" name="Google Shape;616;p1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7" name="Google Shape;617;p1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18" name="Google Shape;618;p1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19" name="Google Shape;619;p1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20" name="Google Shape;620;p12"/>
            <p:cNvGrpSpPr/>
            <p:nvPr/>
          </p:nvGrpSpPr>
          <p:grpSpPr>
            <a:xfrm>
              <a:off x="4733" y="1627"/>
              <a:ext cx="586" cy="151"/>
              <a:chOff x="611" y="2568"/>
              <a:chExt cx="730" cy="139"/>
            </a:xfrm>
          </p:grpSpPr>
          <p:sp>
            <p:nvSpPr>
              <p:cNvPr id="621" name="Google Shape;621;p1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2" name="Google Shape;622;p1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23" name="Google Shape;623;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24" name="Google Shape;624;p12"/>
            <p:cNvGrpSpPr/>
            <p:nvPr/>
          </p:nvGrpSpPr>
          <p:grpSpPr>
            <a:xfrm>
              <a:off x="4739" y="1325"/>
              <a:ext cx="580" cy="140"/>
              <a:chOff x="614" y="2566"/>
              <a:chExt cx="723" cy="140"/>
            </a:xfrm>
          </p:grpSpPr>
          <p:sp>
            <p:nvSpPr>
              <p:cNvPr id="625" name="Google Shape;625;p1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6" name="Google Shape;626;p1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27" name="Google Shape;627;p1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8" name="Google Shape;628;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29" name="Google Shape;629;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0" name="Google Shape;630;p1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1" name="Google Shape;631;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2" name="Google Shape;632;p1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3" name="Google Shape;633;p1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4" name="Google Shape;634;p1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5" name="Google Shape;635;p1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636" name="Google Shape;636;p1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37" name="Google Shape;637;p1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638" name="Google Shape;638;p12"/>
          <p:cNvGrpSpPr/>
          <p:nvPr/>
        </p:nvGrpSpPr>
        <p:grpSpPr>
          <a:xfrm>
            <a:off x="8510352" y="2078288"/>
            <a:ext cx="1946338" cy="2912558"/>
            <a:chOff x="8091785" y="2078288"/>
            <a:chExt cx="2364905" cy="2912558"/>
          </a:xfrm>
        </p:grpSpPr>
        <p:sp>
          <p:nvSpPr>
            <p:cNvPr id="639" name="Google Shape;639;p1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640" name="Google Shape;640;p1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641" name="Google Shape;641;p1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642" name="Google Shape;642;p12"/>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643" name="Google Shape;643;p1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644" name="Google Shape;644;p1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645" name="Google Shape;645;p12"/>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646" name="Google Shape;646;p1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647" name="Google Shape;647;p1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648" name="Google Shape;648;p1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649" name="Google Shape;649;p12"/>
          <p:cNvGrpSpPr/>
          <p:nvPr/>
        </p:nvGrpSpPr>
        <p:grpSpPr>
          <a:xfrm>
            <a:off x="1687770" y="2167472"/>
            <a:ext cx="2131701" cy="2912558"/>
            <a:chOff x="8091785" y="2078288"/>
            <a:chExt cx="2364905" cy="2912558"/>
          </a:xfrm>
        </p:grpSpPr>
        <p:sp>
          <p:nvSpPr>
            <p:cNvPr id="650" name="Google Shape;650;p1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651" name="Google Shape;651;p1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652" name="Google Shape;652;p1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653" name="Google Shape;653;p12"/>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654" name="Google Shape;654;p1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655" name="Google Shape;655;p1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656" name="Google Shape;656;p12"/>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657" name="Google Shape;657;p1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658" name="Google Shape;658;p1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659" name="Google Shape;659;p1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660" name="Google Shape;660;p12"/>
          <p:cNvSpPr txBox="1"/>
          <p:nvPr/>
        </p:nvSpPr>
        <p:spPr>
          <a:xfrm>
            <a:off x="8732527" y="2993828"/>
            <a:ext cx="1401811"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grpSp>
        <p:nvGrpSpPr>
          <p:cNvPr id="661" name="Google Shape;661;p12"/>
          <p:cNvGrpSpPr/>
          <p:nvPr/>
        </p:nvGrpSpPr>
        <p:grpSpPr>
          <a:xfrm>
            <a:off x="500734" y="4943580"/>
            <a:ext cx="1026523" cy="597153"/>
            <a:chOff x="7493876" y="2774731"/>
            <a:chExt cx="1481958" cy="894622"/>
          </a:xfrm>
        </p:grpSpPr>
        <p:sp>
          <p:nvSpPr>
            <p:cNvPr id="662" name="Google Shape;662;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3" name="Google Shape;663;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4" name="Google Shape;664;p12"/>
            <p:cNvGrpSpPr/>
            <p:nvPr/>
          </p:nvGrpSpPr>
          <p:grpSpPr>
            <a:xfrm>
              <a:off x="7713663" y="2848339"/>
              <a:ext cx="1042107" cy="425543"/>
              <a:chOff x="7786941" y="2884917"/>
              <a:chExt cx="897649" cy="353919"/>
            </a:xfrm>
          </p:grpSpPr>
          <p:sp>
            <p:nvSpPr>
              <p:cNvPr id="665" name="Google Shape;665;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 name="Google Shape;666;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 name="Google Shape;667;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 name="Google Shape;668;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69" name="Google Shape;669;p1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Actions</a:t>
            </a:r>
            <a:endParaRPr/>
          </a:p>
        </p:txBody>
      </p:sp>
      <p:grpSp>
        <p:nvGrpSpPr>
          <p:cNvPr id="670" name="Google Shape;670;p12"/>
          <p:cNvGrpSpPr/>
          <p:nvPr/>
        </p:nvGrpSpPr>
        <p:grpSpPr>
          <a:xfrm>
            <a:off x="2462207" y="2756023"/>
            <a:ext cx="412750" cy="158750"/>
            <a:chOff x="1287" y="2524"/>
            <a:chExt cx="260" cy="100"/>
          </a:xfrm>
        </p:grpSpPr>
        <p:sp>
          <p:nvSpPr>
            <p:cNvPr id="671" name="Google Shape;671;p1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 name="Google Shape;672;p1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 name="Google Shape;673;p1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 name="Google Shape;674;p1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75" name="Google Shape;675;p12"/>
          <p:cNvGrpSpPr/>
          <p:nvPr/>
        </p:nvGrpSpPr>
        <p:grpSpPr>
          <a:xfrm>
            <a:off x="9681144" y="2673610"/>
            <a:ext cx="412750" cy="158750"/>
            <a:chOff x="1287" y="2524"/>
            <a:chExt cx="260" cy="100"/>
          </a:xfrm>
        </p:grpSpPr>
        <p:sp>
          <p:nvSpPr>
            <p:cNvPr id="676" name="Google Shape;676;p1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7" name="Google Shape;677;p1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 name="Google Shape;678;p1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 name="Google Shape;679;p1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0" name="Google Shape;680;p12"/>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681" name="Google Shape;681;p12"/>
          <p:cNvSpPr/>
          <p:nvPr/>
        </p:nvSpPr>
        <p:spPr>
          <a:xfrm>
            <a:off x="8071146" y="2078287"/>
            <a:ext cx="2415414" cy="336947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2" name="Google Shape;682;p12"/>
          <p:cNvGrpSpPr/>
          <p:nvPr/>
        </p:nvGrpSpPr>
        <p:grpSpPr>
          <a:xfrm>
            <a:off x="9130164" y="2303106"/>
            <a:ext cx="1259074" cy="369332"/>
            <a:chOff x="8934916" y="2775692"/>
            <a:chExt cx="1259074" cy="369332"/>
          </a:xfrm>
        </p:grpSpPr>
        <p:sp>
          <p:nvSpPr>
            <p:cNvPr id="683" name="Google Shape;683;p12"/>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 name="Google Shape;684;p12"/>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sp>
        <p:nvSpPr>
          <p:cNvPr id="685" name="Google Shape;685;p12"/>
          <p:cNvSpPr txBox="1"/>
          <p:nvPr/>
        </p:nvSpPr>
        <p:spPr>
          <a:xfrm>
            <a:off x="4391544" y="2325099"/>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is passed an application-layer message</a:t>
            </a:r>
            <a:endParaRPr/>
          </a:p>
        </p:txBody>
      </p:sp>
      <p:sp>
        <p:nvSpPr>
          <p:cNvPr id="686" name="Google Shape;686;p12"/>
          <p:cNvSpPr txBox="1"/>
          <p:nvPr/>
        </p:nvSpPr>
        <p:spPr>
          <a:xfrm>
            <a:off x="4388186" y="2990916"/>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determines segment header fields values</a:t>
            </a:r>
            <a:endParaRPr/>
          </a:p>
        </p:txBody>
      </p:sp>
      <p:sp>
        <p:nvSpPr>
          <p:cNvPr id="687" name="Google Shape;687;p12"/>
          <p:cNvSpPr txBox="1"/>
          <p:nvPr/>
        </p:nvSpPr>
        <p:spPr>
          <a:xfrm>
            <a:off x="4376692" y="35928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creates segment</a:t>
            </a:r>
            <a:endParaRPr/>
          </a:p>
        </p:txBody>
      </p:sp>
      <p:sp>
        <p:nvSpPr>
          <p:cNvPr id="688" name="Google Shape;688;p12"/>
          <p:cNvSpPr txBox="1"/>
          <p:nvPr/>
        </p:nvSpPr>
        <p:spPr>
          <a:xfrm>
            <a:off x="4381369" y="40251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passes segment to IP</a:t>
            </a:r>
            <a:endParaRPr/>
          </a:p>
        </p:txBody>
      </p:sp>
      <p:sp>
        <p:nvSpPr>
          <p:cNvPr id="689" name="Google Shape;689;p12"/>
          <p:cNvSpPr txBox="1"/>
          <p:nvPr/>
        </p:nvSpPr>
        <p:spPr>
          <a:xfrm>
            <a:off x="1944359" y="3086580"/>
            <a:ext cx="1535315"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sp>
        <p:nvSpPr>
          <p:cNvPr id="690" name="Google Shape;690;p12"/>
          <p:cNvSpPr/>
          <p:nvPr/>
        </p:nvSpPr>
        <p:spPr>
          <a:xfrm>
            <a:off x="270781" y="1644192"/>
            <a:ext cx="3715697" cy="405207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91" name="Google Shape;691;p12"/>
          <p:cNvGrpSpPr/>
          <p:nvPr/>
        </p:nvGrpSpPr>
        <p:grpSpPr>
          <a:xfrm>
            <a:off x="8473556" y="2992506"/>
            <a:ext cx="1259074" cy="338554"/>
            <a:chOff x="8964789" y="2639236"/>
            <a:chExt cx="1259074" cy="338554"/>
          </a:xfrm>
        </p:grpSpPr>
        <p:sp>
          <p:nvSpPr>
            <p:cNvPr id="692" name="Google Shape;692;p12"/>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 name="Google Shape;693;p12"/>
            <p:cNvSpPr txBox="1"/>
            <p:nvPr/>
          </p:nvSpPr>
          <p:spPr>
            <a:xfrm>
              <a:off x="8964789" y="2639236"/>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694" name="Google Shape;694;p12"/>
          <p:cNvGrpSpPr/>
          <p:nvPr/>
        </p:nvGrpSpPr>
        <p:grpSpPr>
          <a:xfrm>
            <a:off x="8549491" y="2999047"/>
            <a:ext cx="1818022" cy="369332"/>
            <a:chOff x="7863122" y="5632673"/>
            <a:chExt cx="1818022" cy="369332"/>
          </a:xfrm>
        </p:grpSpPr>
        <p:grpSp>
          <p:nvGrpSpPr>
            <p:cNvPr id="695" name="Google Shape;695;p12"/>
            <p:cNvGrpSpPr/>
            <p:nvPr/>
          </p:nvGrpSpPr>
          <p:grpSpPr>
            <a:xfrm>
              <a:off x="7863122" y="5638955"/>
              <a:ext cx="1259074" cy="338554"/>
              <a:chOff x="8964789" y="2648929"/>
              <a:chExt cx="1259074" cy="338554"/>
            </a:xfrm>
          </p:grpSpPr>
          <p:sp>
            <p:nvSpPr>
              <p:cNvPr id="696" name="Google Shape;696;p12"/>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7" name="Google Shape;697;p12"/>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698" name="Google Shape;698;p12"/>
            <p:cNvGrpSpPr/>
            <p:nvPr/>
          </p:nvGrpSpPr>
          <p:grpSpPr>
            <a:xfrm>
              <a:off x="8422070" y="5632673"/>
              <a:ext cx="1259074" cy="369332"/>
              <a:chOff x="8934916" y="2778923"/>
              <a:chExt cx="1259074" cy="369332"/>
            </a:xfrm>
          </p:grpSpPr>
          <p:sp>
            <p:nvSpPr>
              <p:cNvPr id="699" name="Google Shape;699;p12"/>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0" name="Google Shape;700;p12"/>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grpSp>
      <p:sp>
        <p:nvSpPr>
          <p:cNvPr id="701" name="Google Shape;701;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500"/>
                                        <p:tgtEl>
                                          <p:spTgt spid="682"/>
                                        </p:tgtEl>
                                      </p:cBhvr>
                                    </p:animEffect>
                                  </p:childTnLst>
                                </p:cTn>
                              </p:par>
                              <p:par>
                                <p:cTn fill="hold" nodeType="with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500"/>
                                        <p:tgtEl>
                                          <p:spTgt spid="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par>
                                <p:cTn fill="hold" nodeType="with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500"/>
                                        <p:tgtEl>
                                          <p:spTgt spid="6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91"/>
                                        </p:tgtEl>
                                      </p:cBhvr>
                                    </p:animEffect>
                                    <p:set>
                                      <p:cBhvr>
                                        <p:cTn dur="1" fill="hold">
                                          <p:stCondLst>
                                            <p:cond delay="500"/>
                                          </p:stCondLst>
                                        </p:cTn>
                                        <p:tgtEl>
                                          <p:spTgt spid="69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82"/>
                                        </p:tgtEl>
                                      </p:cBhvr>
                                    </p:animEffect>
                                    <p:set>
                                      <p:cBhvr>
                                        <p:cTn dur="1" fill="hold">
                                          <p:stCondLst>
                                            <p:cond delay="500"/>
                                          </p:stCondLst>
                                        </p:cTn>
                                        <p:tgtEl>
                                          <p:spTgt spid="68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par>
                                <p:cTn fill="hold" nodeType="with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grpSp>
        <p:nvGrpSpPr>
          <p:cNvPr id="707" name="Google Shape;707;p13"/>
          <p:cNvGrpSpPr/>
          <p:nvPr/>
        </p:nvGrpSpPr>
        <p:grpSpPr>
          <a:xfrm>
            <a:off x="2578811" y="4965666"/>
            <a:ext cx="6866725" cy="1028731"/>
            <a:chOff x="2578811" y="4965666"/>
            <a:chExt cx="6866725" cy="1028731"/>
          </a:xfrm>
        </p:grpSpPr>
        <p:cxnSp>
          <p:nvCxnSpPr>
            <p:cNvPr id="708" name="Google Shape;708;p13"/>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709" name="Google Shape;709;p13"/>
            <p:cNvGrpSpPr/>
            <p:nvPr/>
          </p:nvGrpSpPr>
          <p:grpSpPr>
            <a:xfrm>
              <a:off x="4062521" y="4965666"/>
              <a:ext cx="5383015" cy="1028731"/>
              <a:chOff x="4062521" y="4965666"/>
              <a:chExt cx="5383015" cy="1028731"/>
            </a:xfrm>
          </p:grpSpPr>
          <p:cxnSp>
            <p:nvCxnSpPr>
              <p:cNvPr id="710" name="Google Shape;710;p13"/>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711" name="Google Shape;711;p13"/>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712" name="Google Shape;712;p13"/>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3" name="Google Shape;713;p13"/>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14" name="Google Shape;714;p13"/>
          <p:cNvGrpSpPr/>
          <p:nvPr/>
        </p:nvGrpSpPr>
        <p:grpSpPr>
          <a:xfrm>
            <a:off x="10955688" y="4246759"/>
            <a:ext cx="549832" cy="1070215"/>
            <a:chOff x="4140" y="429"/>
            <a:chExt cx="1425" cy="2396"/>
          </a:xfrm>
        </p:grpSpPr>
        <p:sp>
          <p:nvSpPr>
            <p:cNvPr id="715" name="Google Shape;715;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6" name="Google Shape;716;p1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7" name="Google Shape;717;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8" name="Google Shape;718;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9" name="Google Shape;719;p1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20" name="Google Shape;720;p13"/>
            <p:cNvGrpSpPr/>
            <p:nvPr/>
          </p:nvGrpSpPr>
          <p:grpSpPr>
            <a:xfrm>
              <a:off x="4751" y="667"/>
              <a:ext cx="580" cy="146"/>
              <a:chOff x="617" y="2567"/>
              <a:chExt cx="724" cy="140"/>
            </a:xfrm>
          </p:grpSpPr>
          <p:sp>
            <p:nvSpPr>
              <p:cNvPr id="721" name="Google Shape;721;p1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22" name="Google Shape;722;p1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23" name="Google Shape;723;p1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24" name="Google Shape;724;p13"/>
            <p:cNvGrpSpPr/>
            <p:nvPr/>
          </p:nvGrpSpPr>
          <p:grpSpPr>
            <a:xfrm>
              <a:off x="4745" y="996"/>
              <a:ext cx="580" cy="156"/>
              <a:chOff x="612" y="2570"/>
              <a:chExt cx="724" cy="162"/>
            </a:xfrm>
          </p:grpSpPr>
          <p:sp>
            <p:nvSpPr>
              <p:cNvPr id="725" name="Google Shape;725;p1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26" name="Google Shape;726;p1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27" name="Google Shape;727;p1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28" name="Google Shape;728;p1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29" name="Google Shape;729;p13"/>
            <p:cNvGrpSpPr/>
            <p:nvPr/>
          </p:nvGrpSpPr>
          <p:grpSpPr>
            <a:xfrm>
              <a:off x="4733" y="1627"/>
              <a:ext cx="586" cy="151"/>
              <a:chOff x="611" y="2568"/>
              <a:chExt cx="730" cy="139"/>
            </a:xfrm>
          </p:grpSpPr>
          <p:sp>
            <p:nvSpPr>
              <p:cNvPr id="730" name="Google Shape;730;p1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1" name="Google Shape;731;p1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32" name="Google Shape;732;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33" name="Google Shape;733;p13"/>
            <p:cNvGrpSpPr/>
            <p:nvPr/>
          </p:nvGrpSpPr>
          <p:grpSpPr>
            <a:xfrm>
              <a:off x="4739" y="1325"/>
              <a:ext cx="580" cy="140"/>
              <a:chOff x="614" y="2566"/>
              <a:chExt cx="723" cy="140"/>
            </a:xfrm>
          </p:grpSpPr>
          <p:sp>
            <p:nvSpPr>
              <p:cNvPr id="734" name="Google Shape;734;p1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5" name="Google Shape;735;p1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36" name="Google Shape;736;p1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7" name="Google Shape;737;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8" name="Google Shape;738;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39" name="Google Shape;739;p1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0" name="Google Shape;740;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1" name="Google Shape;741;p1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2" name="Google Shape;742;p1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3" name="Google Shape;743;p1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4" name="Google Shape;744;p1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745" name="Google Shape;745;p1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46" name="Google Shape;746;p1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747" name="Google Shape;747;p13"/>
          <p:cNvGrpSpPr/>
          <p:nvPr/>
        </p:nvGrpSpPr>
        <p:grpSpPr>
          <a:xfrm>
            <a:off x="8510352" y="2078288"/>
            <a:ext cx="1946338" cy="2912558"/>
            <a:chOff x="8091785" y="2078288"/>
            <a:chExt cx="2364905" cy="2912558"/>
          </a:xfrm>
        </p:grpSpPr>
        <p:sp>
          <p:nvSpPr>
            <p:cNvPr id="748" name="Google Shape;748;p1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749" name="Google Shape;749;p1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750" name="Google Shape;750;p1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751" name="Google Shape;751;p13"/>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752" name="Google Shape;752;p1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753" name="Google Shape;753;p1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754" name="Google Shape;754;p13"/>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755" name="Google Shape;755;p1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756" name="Google Shape;756;p1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757" name="Google Shape;757;p1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758" name="Google Shape;758;p13"/>
          <p:cNvGrpSpPr/>
          <p:nvPr/>
        </p:nvGrpSpPr>
        <p:grpSpPr>
          <a:xfrm>
            <a:off x="1687770" y="2167472"/>
            <a:ext cx="2131701" cy="2912558"/>
            <a:chOff x="8091785" y="2078288"/>
            <a:chExt cx="2364905" cy="2912558"/>
          </a:xfrm>
        </p:grpSpPr>
        <p:sp>
          <p:nvSpPr>
            <p:cNvPr id="759" name="Google Shape;759;p1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760" name="Google Shape;760;p1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761" name="Google Shape;761;p1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762" name="Google Shape;762;p13"/>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763" name="Google Shape;763;p1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764" name="Google Shape;764;p1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765" name="Google Shape;765;p13"/>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766" name="Google Shape;766;p1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767" name="Google Shape;767;p1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768" name="Google Shape;768;p1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769" name="Google Shape;769;p13"/>
          <p:cNvSpPr txBox="1"/>
          <p:nvPr/>
        </p:nvSpPr>
        <p:spPr>
          <a:xfrm>
            <a:off x="8732527" y="2993828"/>
            <a:ext cx="1401811"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grpSp>
        <p:nvGrpSpPr>
          <p:cNvPr id="770" name="Google Shape;770;p13"/>
          <p:cNvGrpSpPr/>
          <p:nvPr/>
        </p:nvGrpSpPr>
        <p:grpSpPr>
          <a:xfrm>
            <a:off x="500734" y="4943580"/>
            <a:ext cx="1026523" cy="597153"/>
            <a:chOff x="7493876" y="2774731"/>
            <a:chExt cx="1481958" cy="894622"/>
          </a:xfrm>
        </p:grpSpPr>
        <p:sp>
          <p:nvSpPr>
            <p:cNvPr id="771" name="Google Shape;771;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2" name="Google Shape;772;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3" name="Google Shape;773;p13"/>
            <p:cNvGrpSpPr/>
            <p:nvPr/>
          </p:nvGrpSpPr>
          <p:grpSpPr>
            <a:xfrm>
              <a:off x="7713663" y="2848339"/>
              <a:ext cx="1042107" cy="425543"/>
              <a:chOff x="7786941" y="2884917"/>
              <a:chExt cx="897649" cy="353919"/>
            </a:xfrm>
          </p:grpSpPr>
          <p:sp>
            <p:nvSpPr>
              <p:cNvPr id="774" name="Google Shape;774;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 name="Google Shape;775;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 name="Google Shape;776;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 name="Google Shape;777;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78" name="Google Shape;778;p1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Actions</a:t>
            </a:r>
            <a:endParaRPr/>
          </a:p>
        </p:txBody>
      </p:sp>
      <p:grpSp>
        <p:nvGrpSpPr>
          <p:cNvPr id="779" name="Google Shape;779;p13"/>
          <p:cNvGrpSpPr/>
          <p:nvPr/>
        </p:nvGrpSpPr>
        <p:grpSpPr>
          <a:xfrm>
            <a:off x="2462207" y="2756023"/>
            <a:ext cx="412750" cy="158750"/>
            <a:chOff x="1287" y="2524"/>
            <a:chExt cx="260" cy="100"/>
          </a:xfrm>
        </p:grpSpPr>
        <p:sp>
          <p:nvSpPr>
            <p:cNvPr id="780" name="Google Shape;780;p1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1" name="Google Shape;781;p1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2" name="Google Shape;782;p1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 name="Google Shape;783;p1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84" name="Google Shape;784;p13"/>
          <p:cNvGrpSpPr/>
          <p:nvPr/>
        </p:nvGrpSpPr>
        <p:grpSpPr>
          <a:xfrm>
            <a:off x="9681144" y="2673610"/>
            <a:ext cx="412750" cy="158750"/>
            <a:chOff x="1287" y="2524"/>
            <a:chExt cx="260" cy="100"/>
          </a:xfrm>
        </p:grpSpPr>
        <p:sp>
          <p:nvSpPr>
            <p:cNvPr id="785" name="Google Shape;785;p1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 name="Google Shape;786;p1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7" name="Google Shape;787;p1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8" name="Google Shape;788;p1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9" name="Google Shape;789;p13"/>
          <p:cNvSpPr/>
          <p:nvPr/>
        </p:nvSpPr>
        <p:spPr>
          <a:xfrm>
            <a:off x="8043548" y="2078287"/>
            <a:ext cx="2443011" cy="336947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 name="Google Shape;790;p13"/>
          <p:cNvSpPr txBox="1"/>
          <p:nvPr/>
        </p:nvSpPr>
        <p:spPr>
          <a:xfrm>
            <a:off x="1944359" y="3086580"/>
            <a:ext cx="1535315"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sp>
        <p:nvSpPr>
          <p:cNvPr id="791" name="Google Shape;791;p13"/>
          <p:cNvSpPr/>
          <p:nvPr/>
        </p:nvSpPr>
        <p:spPr>
          <a:xfrm>
            <a:off x="425009" y="1191386"/>
            <a:ext cx="3666301" cy="445990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92" name="Google Shape;792;p13"/>
          <p:cNvGrpSpPr/>
          <p:nvPr/>
        </p:nvGrpSpPr>
        <p:grpSpPr>
          <a:xfrm>
            <a:off x="2462207" y="2756023"/>
            <a:ext cx="412750" cy="158750"/>
            <a:chOff x="1287" y="2524"/>
            <a:chExt cx="260" cy="100"/>
          </a:xfrm>
        </p:grpSpPr>
        <p:sp>
          <p:nvSpPr>
            <p:cNvPr id="793" name="Google Shape;793;p1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 name="Google Shape;794;p1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 name="Google Shape;795;p1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 name="Google Shape;796;p1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7" name="Google Shape;797;p13"/>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Receiver:</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grpSp>
        <p:nvGrpSpPr>
          <p:cNvPr id="798" name="Google Shape;798;p13"/>
          <p:cNvGrpSpPr/>
          <p:nvPr/>
        </p:nvGrpSpPr>
        <p:grpSpPr>
          <a:xfrm>
            <a:off x="2355694" y="3088859"/>
            <a:ext cx="1259074" cy="369332"/>
            <a:chOff x="8934916" y="2775692"/>
            <a:chExt cx="1259074" cy="369332"/>
          </a:xfrm>
        </p:grpSpPr>
        <p:sp>
          <p:nvSpPr>
            <p:cNvPr id="799" name="Google Shape;799;p1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 name="Google Shape;800;p13"/>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sp>
        <p:nvSpPr>
          <p:cNvPr id="801" name="Google Shape;801;p13"/>
          <p:cNvSpPr txBox="1"/>
          <p:nvPr/>
        </p:nvSpPr>
        <p:spPr>
          <a:xfrm>
            <a:off x="4391041" y="3125909"/>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extracts application-layer message</a:t>
            </a:r>
            <a:endParaRPr/>
          </a:p>
        </p:txBody>
      </p:sp>
      <p:sp>
        <p:nvSpPr>
          <p:cNvPr id="802" name="Google Shape;802;p13"/>
          <p:cNvSpPr txBox="1"/>
          <p:nvPr/>
        </p:nvSpPr>
        <p:spPr>
          <a:xfrm>
            <a:off x="4389103" y="2734423"/>
            <a:ext cx="3825456" cy="409023"/>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checks header values</a:t>
            </a:r>
            <a:endParaRPr/>
          </a:p>
        </p:txBody>
      </p:sp>
      <p:sp>
        <p:nvSpPr>
          <p:cNvPr id="803" name="Google Shape;803;p13"/>
          <p:cNvSpPr txBox="1"/>
          <p:nvPr/>
        </p:nvSpPr>
        <p:spPr>
          <a:xfrm>
            <a:off x="4388103" y="2278130"/>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receives segment from IP</a:t>
            </a:r>
            <a:endParaRPr/>
          </a:p>
        </p:txBody>
      </p:sp>
      <p:grpSp>
        <p:nvGrpSpPr>
          <p:cNvPr id="804" name="Google Shape;804;p13"/>
          <p:cNvGrpSpPr/>
          <p:nvPr/>
        </p:nvGrpSpPr>
        <p:grpSpPr>
          <a:xfrm>
            <a:off x="1745737" y="4814948"/>
            <a:ext cx="1818022" cy="369332"/>
            <a:chOff x="7863122" y="5632673"/>
            <a:chExt cx="1818022" cy="369332"/>
          </a:xfrm>
        </p:grpSpPr>
        <p:grpSp>
          <p:nvGrpSpPr>
            <p:cNvPr id="805" name="Google Shape;805;p13"/>
            <p:cNvGrpSpPr/>
            <p:nvPr/>
          </p:nvGrpSpPr>
          <p:grpSpPr>
            <a:xfrm>
              <a:off x="7863122" y="5638955"/>
              <a:ext cx="1259074" cy="338554"/>
              <a:chOff x="8964789" y="2648929"/>
              <a:chExt cx="1259074" cy="338554"/>
            </a:xfrm>
          </p:grpSpPr>
          <p:sp>
            <p:nvSpPr>
              <p:cNvPr id="806" name="Google Shape;806;p13"/>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7" name="Google Shape;807;p13"/>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808" name="Google Shape;808;p13"/>
            <p:cNvGrpSpPr/>
            <p:nvPr/>
          </p:nvGrpSpPr>
          <p:grpSpPr>
            <a:xfrm>
              <a:off x="8422070" y="5632673"/>
              <a:ext cx="1259074" cy="369332"/>
              <a:chOff x="8934916" y="2778923"/>
              <a:chExt cx="1259074" cy="369332"/>
            </a:xfrm>
          </p:grpSpPr>
          <p:sp>
            <p:nvSpPr>
              <p:cNvPr id="809" name="Google Shape;809;p1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0" name="Google Shape;810;p13"/>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grpSp>
      <p:sp>
        <p:nvSpPr>
          <p:cNvPr id="811" name="Google Shape;811;p13"/>
          <p:cNvSpPr txBox="1"/>
          <p:nvPr/>
        </p:nvSpPr>
        <p:spPr>
          <a:xfrm>
            <a:off x="4395862" y="3809729"/>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demultiplexes message up to application via socket</a:t>
            </a:r>
            <a:endParaRPr/>
          </a:p>
        </p:txBody>
      </p:sp>
      <p:sp>
        <p:nvSpPr>
          <p:cNvPr id="812" name="Google Shape;812;p13"/>
          <p:cNvSpPr/>
          <p:nvPr/>
        </p:nvSpPr>
        <p:spPr>
          <a:xfrm>
            <a:off x="1741367" y="2989161"/>
            <a:ext cx="763166" cy="541031"/>
          </a:xfrm>
          <a:prstGeom prst="ellipse">
            <a:avLst/>
          </a:prstGeom>
          <a:noFill/>
          <a:ln cap="flat" cmpd="sng" w="254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 name="Google Shape;813;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500"/>
                                        <p:tgtEl>
                                          <p:spTgt spid="8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500"/>
                                        <p:tgtEl>
                                          <p:spTgt spid="812"/>
                                        </p:tgtEl>
                                      </p:cBhvr>
                                    </p:animEffect>
                                  </p:childTnLst>
                                </p:cTn>
                              </p:par>
                              <p:par>
                                <p:cTn fill="hold" nodeType="withEffect" presetClass="entr" presetID="10" presetSubtype="0">
                                  <p:stCondLst>
                                    <p:cond delay="0"/>
                                  </p:stCondLst>
                                  <p:childTnLst>
                                    <p:set>
                                      <p:cBhvr>
                                        <p:cTn dur="1" fill="hold">
                                          <p:stCondLst>
                                            <p:cond delay="0"/>
                                          </p:stCondLst>
                                        </p:cTn>
                                        <p:tgtEl>
                                          <p:spTgt spid="802"/>
                                        </p:tgtEl>
                                        <p:attrNameLst>
                                          <p:attrName>style.visibility</p:attrName>
                                        </p:attrNameLst>
                                      </p:cBhvr>
                                      <p:to>
                                        <p:strVal val="visible"/>
                                      </p:to>
                                    </p:set>
                                    <p:animEffect filter="fade" transition="in">
                                      <p:cBhvr>
                                        <p:cTn dur="500"/>
                                        <p:tgtEl>
                                          <p:spTgt spid="8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04"/>
                                        </p:tgtEl>
                                      </p:cBhvr>
                                    </p:animEffect>
                                    <p:set>
                                      <p:cBhvr>
                                        <p:cTn dur="1" fill="hold">
                                          <p:stCondLst>
                                            <p:cond delay="500"/>
                                          </p:stCondLst>
                                        </p:cTn>
                                        <p:tgtEl>
                                          <p:spTgt spid="80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12"/>
                                        </p:tgtEl>
                                      </p:cBhvr>
                                    </p:animEffect>
                                    <p:set>
                                      <p:cBhvr>
                                        <p:cTn dur="1" fill="hold">
                                          <p:stCondLst>
                                            <p:cond delay="500"/>
                                          </p:stCondLst>
                                        </p:cTn>
                                        <p:tgtEl>
                                          <p:spTgt spid="81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500"/>
                                        <p:tgtEl>
                                          <p:spTgt spid="798"/>
                                        </p:tgtEl>
                                      </p:cBhvr>
                                    </p:animEffect>
                                  </p:childTnLst>
                                </p:cTn>
                              </p:par>
                              <p:par>
                                <p:cTn fill="hold" nodeType="with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500"/>
                                        <p:tgtEl>
                                          <p:spTgt spid="8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1"/>
                                        </p:tgtEl>
                                        <p:attrNameLst>
                                          <p:attrName>style.visibility</p:attrName>
                                        </p:attrNameLst>
                                      </p:cBhvr>
                                      <p:to>
                                        <p:strVal val="visible"/>
                                      </p:to>
                                    </p:set>
                                    <p:animEffect filter="fade" transition="in">
                                      <p:cBhvr>
                                        <p:cTn dur="500"/>
                                        <p:tgtEl>
                                          <p:spTgt spid="8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14"/>
          <p:cNvSpPr txBox="1"/>
          <p:nvPr>
            <p:ph type="title"/>
          </p:nvPr>
        </p:nvSpPr>
        <p:spPr>
          <a:xfrm>
            <a:off x="768711" y="25934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principal Internet transport protocols</a:t>
            </a:r>
            <a:endParaRPr sz="4800"/>
          </a:p>
        </p:txBody>
      </p:sp>
      <p:sp>
        <p:nvSpPr>
          <p:cNvPr id="820" name="Google Shape;820;p14"/>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1" name="Google Shape;821;p14"/>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22" name="Google Shape;822;p14"/>
          <p:cNvGrpSpPr/>
          <p:nvPr/>
        </p:nvGrpSpPr>
        <p:grpSpPr>
          <a:xfrm>
            <a:off x="7205350" y="3289251"/>
            <a:ext cx="1458912" cy="933450"/>
            <a:chOff x="2889" y="1631"/>
            <a:chExt cx="980" cy="743"/>
          </a:xfrm>
        </p:grpSpPr>
        <p:sp>
          <p:nvSpPr>
            <p:cNvPr id="823" name="Google Shape;823;p14"/>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24" name="Google Shape;824;p14"/>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825" name="Google Shape;825;p14"/>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6" name="Google Shape;826;p14"/>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827" name="Google Shape;827;p14"/>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828" name="Google Shape;828;p14"/>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829" name="Google Shape;829;p14"/>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30" name="Google Shape;830;p14"/>
          <p:cNvGrpSpPr/>
          <p:nvPr/>
        </p:nvGrpSpPr>
        <p:grpSpPr>
          <a:xfrm>
            <a:off x="10837700" y="3928050"/>
            <a:ext cx="687393" cy="721548"/>
            <a:chOff x="5203089" y="1751190"/>
            <a:chExt cx="858331" cy="662414"/>
          </a:xfrm>
        </p:grpSpPr>
        <p:sp>
          <p:nvSpPr>
            <p:cNvPr id="831" name="Google Shape;831;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2" name="Google Shape;832;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33" name="Google Shape;833;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34" name="Google Shape;834;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35" name="Google Shape;835;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36" name="Google Shape;836;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37" name="Google Shape;837;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38" name="Google Shape;838;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839" name="Google Shape;839;p14"/>
          <p:cNvGrpSpPr/>
          <p:nvPr/>
        </p:nvGrpSpPr>
        <p:grpSpPr>
          <a:xfrm>
            <a:off x="10771171" y="3194171"/>
            <a:ext cx="594613" cy="648336"/>
            <a:chOff x="5203089" y="1751190"/>
            <a:chExt cx="858331" cy="662414"/>
          </a:xfrm>
        </p:grpSpPr>
        <p:sp>
          <p:nvSpPr>
            <p:cNvPr id="840" name="Google Shape;840;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1" name="Google Shape;841;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42" name="Google Shape;842;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43" name="Google Shape;843;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44" name="Google Shape;844;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45" name="Google Shape;845;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46" name="Google Shape;846;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47" name="Google Shape;847;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848" name="Google Shape;848;p14"/>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 name="Google Shape;849;p14"/>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850" name="Google Shape;850;p14"/>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 name="Google Shape;851;p14"/>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852" name="Google Shape;852;p14"/>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853" name="Google Shape;853;p14"/>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854" name="Google Shape;854;p14"/>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855" name="Google Shape;855;p14"/>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856" name="Google Shape;856;p14"/>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857" name="Google Shape;857;p14"/>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858" name="Google Shape;858;p14"/>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859" name="Google Shape;859;p14"/>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860" name="Google Shape;860;p14"/>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861" name="Google Shape;861;p14"/>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862" name="Google Shape;862;p14"/>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863" name="Google Shape;863;p14"/>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864" name="Google Shape;864;p14"/>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865" name="Google Shape;865;p14"/>
          <p:cNvGrpSpPr/>
          <p:nvPr/>
        </p:nvGrpSpPr>
        <p:grpSpPr>
          <a:xfrm>
            <a:off x="7562238" y="2127325"/>
            <a:ext cx="3578867" cy="3640284"/>
            <a:chOff x="7562238" y="2127325"/>
            <a:chExt cx="3578867" cy="3640284"/>
          </a:xfrm>
        </p:grpSpPr>
        <p:grpSp>
          <p:nvGrpSpPr>
            <p:cNvPr id="866" name="Google Shape;866;p14"/>
            <p:cNvGrpSpPr/>
            <p:nvPr/>
          </p:nvGrpSpPr>
          <p:grpSpPr>
            <a:xfrm>
              <a:off x="7857253" y="2127325"/>
              <a:ext cx="3283852" cy="3640284"/>
              <a:chOff x="7881336" y="2104198"/>
              <a:chExt cx="3283852" cy="3640284"/>
            </a:xfrm>
          </p:grpSpPr>
          <p:cxnSp>
            <p:nvCxnSpPr>
              <p:cNvPr id="867" name="Google Shape;867;p14"/>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868" name="Google Shape;868;p14"/>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869" name="Google Shape;869;p14"/>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870" name="Google Shape;870;p14"/>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871" name="Google Shape;871;p14"/>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872" name="Google Shape;872;p14"/>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873" name="Google Shape;873;p14"/>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874" name="Google Shape;874;p14"/>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875" name="Google Shape;875;p14"/>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876" name="Google Shape;876;p14"/>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877" name="Google Shape;877;p14"/>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878" name="Google Shape;878;p14"/>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879" name="Google Shape;879;p14"/>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880" name="Google Shape;880;p14"/>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881" name="Google Shape;881;p14"/>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882" name="Google Shape;882;p14"/>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883" name="Google Shape;883;p14"/>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884" name="Google Shape;884;p14"/>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885" name="Google Shape;885;p14"/>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886" name="Google Shape;886;p14"/>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887" name="Google Shape;887;p14"/>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888" name="Google Shape;888;p14"/>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889" name="Google Shape;889;p14"/>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890" name="Google Shape;890;p14"/>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891" name="Google Shape;891;p14"/>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892" name="Google Shape;892;p14"/>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893" name="Google Shape;893;p14"/>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894" name="Google Shape;894;p14"/>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895" name="Google Shape;895;p14"/>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896" name="Google Shape;896;p14"/>
          <p:cNvGrpSpPr/>
          <p:nvPr/>
        </p:nvGrpSpPr>
        <p:grpSpPr>
          <a:xfrm>
            <a:off x="8050698" y="2309376"/>
            <a:ext cx="298450" cy="464008"/>
            <a:chOff x="3130" y="3288"/>
            <a:chExt cx="410" cy="742"/>
          </a:xfrm>
        </p:grpSpPr>
        <p:cxnSp>
          <p:nvCxnSpPr>
            <p:cNvPr id="897" name="Google Shape;897;p14"/>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898" name="Google Shape;898;p14"/>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899" name="Google Shape;899;p14"/>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00" name="Google Shape;900;p14"/>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01" name="Google Shape;901;p14"/>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902" name="Google Shape;902;p14"/>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903" name="Google Shape;903;p14"/>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904" name="Google Shape;904;p14"/>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905" name="Google Shape;905;p14"/>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906" name="Google Shape;906;p14"/>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907" name="Google Shape;907;p14"/>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908" name="Google Shape;908;p14"/>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909" name="Google Shape;909;p14"/>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910" name="Google Shape;910;p14"/>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911" name="Google Shape;911;p14"/>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912" name="Google Shape;912;p14"/>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913" name="Google Shape;913;p14"/>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914" name="Google Shape;914;p14"/>
          <p:cNvGrpSpPr/>
          <p:nvPr/>
        </p:nvGrpSpPr>
        <p:grpSpPr>
          <a:xfrm>
            <a:off x="9783558" y="4989983"/>
            <a:ext cx="393760" cy="218578"/>
            <a:chOff x="7493876" y="2774731"/>
            <a:chExt cx="1481958" cy="894622"/>
          </a:xfrm>
        </p:grpSpPr>
        <p:sp>
          <p:nvSpPr>
            <p:cNvPr id="915" name="Google Shape;91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16" name="Google Shape;91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17" name="Google Shape;917;p14"/>
            <p:cNvGrpSpPr/>
            <p:nvPr/>
          </p:nvGrpSpPr>
          <p:grpSpPr>
            <a:xfrm>
              <a:off x="7713663" y="2848339"/>
              <a:ext cx="1042107" cy="425543"/>
              <a:chOff x="7786941" y="2884917"/>
              <a:chExt cx="897649" cy="353919"/>
            </a:xfrm>
          </p:grpSpPr>
          <p:sp>
            <p:nvSpPr>
              <p:cNvPr id="918" name="Google Shape;91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9" name="Google Shape;91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0" name="Google Shape;92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1" name="Google Shape;92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22" name="Google Shape;922;p14"/>
          <p:cNvGrpSpPr/>
          <p:nvPr/>
        </p:nvGrpSpPr>
        <p:grpSpPr>
          <a:xfrm>
            <a:off x="9849365" y="5339037"/>
            <a:ext cx="309740" cy="190838"/>
            <a:chOff x="3668110" y="2448910"/>
            <a:chExt cx="3794234" cy="2165130"/>
          </a:xfrm>
        </p:grpSpPr>
        <p:sp>
          <p:nvSpPr>
            <p:cNvPr id="923" name="Google Shape;923;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4" name="Google Shape;924;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25" name="Google Shape;925;p14"/>
            <p:cNvGrpSpPr/>
            <p:nvPr/>
          </p:nvGrpSpPr>
          <p:grpSpPr>
            <a:xfrm>
              <a:off x="3941378" y="2603243"/>
              <a:ext cx="3202061" cy="1066110"/>
              <a:chOff x="7939341" y="3037317"/>
              <a:chExt cx="897649" cy="353919"/>
            </a:xfrm>
          </p:grpSpPr>
          <p:sp>
            <p:nvSpPr>
              <p:cNvPr id="926" name="Google Shape;926;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7" name="Google Shape;927;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8" name="Google Shape;928;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9" name="Google Shape;929;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30" name="Google Shape;930;p14"/>
          <p:cNvGrpSpPr/>
          <p:nvPr/>
        </p:nvGrpSpPr>
        <p:grpSpPr>
          <a:xfrm>
            <a:off x="8676619" y="4967420"/>
            <a:ext cx="393760" cy="218578"/>
            <a:chOff x="7493876" y="2774731"/>
            <a:chExt cx="1481958" cy="894622"/>
          </a:xfrm>
        </p:grpSpPr>
        <p:sp>
          <p:nvSpPr>
            <p:cNvPr id="931" name="Google Shape;93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32" name="Google Shape;93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33" name="Google Shape;933;p14"/>
            <p:cNvGrpSpPr/>
            <p:nvPr/>
          </p:nvGrpSpPr>
          <p:grpSpPr>
            <a:xfrm>
              <a:off x="7713663" y="2848339"/>
              <a:ext cx="1042107" cy="425543"/>
              <a:chOff x="7786941" y="2884917"/>
              <a:chExt cx="897649" cy="353919"/>
            </a:xfrm>
          </p:grpSpPr>
          <p:sp>
            <p:nvSpPr>
              <p:cNvPr id="934" name="Google Shape;93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5" name="Google Shape;93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6" name="Google Shape;93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7" name="Google Shape;93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38" name="Google Shape;938;p14"/>
          <p:cNvGrpSpPr/>
          <p:nvPr/>
        </p:nvGrpSpPr>
        <p:grpSpPr>
          <a:xfrm>
            <a:off x="8311520" y="5194433"/>
            <a:ext cx="309740" cy="190838"/>
            <a:chOff x="3668110" y="2448910"/>
            <a:chExt cx="3794234" cy="2165130"/>
          </a:xfrm>
        </p:grpSpPr>
        <p:sp>
          <p:nvSpPr>
            <p:cNvPr id="939" name="Google Shape;939;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0" name="Google Shape;940;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41" name="Google Shape;941;p14"/>
            <p:cNvGrpSpPr/>
            <p:nvPr/>
          </p:nvGrpSpPr>
          <p:grpSpPr>
            <a:xfrm>
              <a:off x="3941378" y="2603243"/>
              <a:ext cx="3202061" cy="1066110"/>
              <a:chOff x="7939341" y="3037317"/>
              <a:chExt cx="897649" cy="353919"/>
            </a:xfrm>
          </p:grpSpPr>
          <p:sp>
            <p:nvSpPr>
              <p:cNvPr id="942" name="Google Shape;942;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3" name="Google Shape;943;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4" name="Google Shape;944;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5" name="Google Shape;945;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46" name="Google Shape;946;p14"/>
          <p:cNvGrpSpPr/>
          <p:nvPr/>
        </p:nvGrpSpPr>
        <p:grpSpPr>
          <a:xfrm>
            <a:off x="8439827" y="2812309"/>
            <a:ext cx="353678" cy="168275"/>
            <a:chOff x="7493876" y="2774731"/>
            <a:chExt cx="1481958" cy="894622"/>
          </a:xfrm>
        </p:grpSpPr>
        <p:sp>
          <p:nvSpPr>
            <p:cNvPr id="947" name="Google Shape;94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48" name="Google Shape;94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49" name="Google Shape;949;p14"/>
            <p:cNvGrpSpPr/>
            <p:nvPr/>
          </p:nvGrpSpPr>
          <p:grpSpPr>
            <a:xfrm>
              <a:off x="7713663" y="2848339"/>
              <a:ext cx="1042107" cy="425543"/>
              <a:chOff x="7786941" y="2884917"/>
              <a:chExt cx="897649" cy="353919"/>
            </a:xfrm>
          </p:grpSpPr>
          <p:sp>
            <p:nvSpPr>
              <p:cNvPr id="950" name="Google Shape;95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1" name="Google Shape;95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2" name="Google Shape;95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3" name="Google Shape;95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54" name="Google Shape;954;p14"/>
          <p:cNvGrpSpPr/>
          <p:nvPr/>
        </p:nvGrpSpPr>
        <p:grpSpPr>
          <a:xfrm>
            <a:off x="8050070" y="3965994"/>
            <a:ext cx="354986" cy="175668"/>
            <a:chOff x="7493876" y="2774731"/>
            <a:chExt cx="1481958" cy="894622"/>
          </a:xfrm>
        </p:grpSpPr>
        <p:sp>
          <p:nvSpPr>
            <p:cNvPr id="955" name="Google Shape;95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56" name="Google Shape;95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57" name="Google Shape;957;p14"/>
            <p:cNvGrpSpPr/>
            <p:nvPr/>
          </p:nvGrpSpPr>
          <p:grpSpPr>
            <a:xfrm>
              <a:off x="7713663" y="2848339"/>
              <a:ext cx="1042107" cy="425543"/>
              <a:chOff x="7786941" y="2884917"/>
              <a:chExt cx="897649" cy="353919"/>
            </a:xfrm>
          </p:grpSpPr>
          <p:sp>
            <p:nvSpPr>
              <p:cNvPr id="958" name="Google Shape;95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9" name="Google Shape;95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0" name="Google Shape;96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1" name="Google Shape;96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62" name="Google Shape;962;p14"/>
          <p:cNvGrpSpPr/>
          <p:nvPr/>
        </p:nvGrpSpPr>
        <p:grpSpPr>
          <a:xfrm>
            <a:off x="10884085" y="3601365"/>
            <a:ext cx="170989" cy="97052"/>
            <a:chOff x="7493876" y="2774731"/>
            <a:chExt cx="1481958" cy="894622"/>
          </a:xfrm>
        </p:grpSpPr>
        <p:sp>
          <p:nvSpPr>
            <p:cNvPr id="963" name="Google Shape;96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64" name="Google Shape;96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65" name="Google Shape;965;p14"/>
            <p:cNvGrpSpPr/>
            <p:nvPr/>
          </p:nvGrpSpPr>
          <p:grpSpPr>
            <a:xfrm>
              <a:off x="7713663" y="2848339"/>
              <a:ext cx="1042107" cy="425543"/>
              <a:chOff x="7786941" y="2884917"/>
              <a:chExt cx="897649" cy="353919"/>
            </a:xfrm>
          </p:grpSpPr>
          <p:sp>
            <p:nvSpPr>
              <p:cNvPr id="966" name="Google Shape;96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7" name="Google Shape;96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8" name="Google Shape;96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9" name="Google Shape;96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70" name="Google Shape;970;p14"/>
          <p:cNvGrpSpPr/>
          <p:nvPr/>
        </p:nvGrpSpPr>
        <p:grpSpPr>
          <a:xfrm>
            <a:off x="10410609" y="3496138"/>
            <a:ext cx="353678" cy="198344"/>
            <a:chOff x="7493876" y="2774731"/>
            <a:chExt cx="1481958" cy="894622"/>
          </a:xfrm>
        </p:grpSpPr>
        <p:sp>
          <p:nvSpPr>
            <p:cNvPr id="971" name="Google Shape;97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72" name="Google Shape;97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73" name="Google Shape;973;p14"/>
            <p:cNvGrpSpPr/>
            <p:nvPr/>
          </p:nvGrpSpPr>
          <p:grpSpPr>
            <a:xfrm>
              <a:off x="7713663" y="2848339"/>
              <a:ext cx="1042107" cy="425543"/>
              <a:chOff x="7786941" y="2884917"/>
              <a:chExt cx="897649" cy="353919"/>
            </a:xfrm>
          </p:grpSpPr>
          <p:sp>
            <p:nvSpPr>
              <p:cNvPr id="974" name="Google Shape;97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5" name="Google Shape;97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6" name="Google Shape;97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7" name="Google Shape;97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78" name="Google Shape;978;p14"/>
          <p:cNvGrpSpPr/>
          <p:nvPr/>
        </p:nvGrpSpPr>
        <p:grpSpPr>
          <a:xfrm>
            <a:off x="9948724" y="2202292"/>
            <a:ext cx="353678" cy="198344"/>
            <a:chOff x="7493876" y="2774731"/>
            <a:chExt cx="1481958" cy="894622"/>
          </a:xfrm>
        </p:grpSpPr>
        <p:sp>
          <p:nvSpPr>
            <p:cNvPr id="979" name="Google Shape;979;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80" name="Google Shape;980;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81" name="Google Shape;981;p14"/>
            <p:cNvGrpSpPr/>
            <p:nvPr/>
          </p:nvGrpSpPr>
          <p:grpSpPr>
            <a:xfrm>
              <a:off x="7713663" y="2848339"/>
              <a:ext cx="1042107" cy="425543"/>
              <a:chOff x="7786941" y="2884917"/>
              <a:chExt cx="897649" cy="353919"/>
            </a:xfrm>
          </p:grpSpPr>
          <p:sp>
            <p:nvSpPr>
              <p:cNvPr id="982" name="Google Shape;982;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3" name="Google Shape;983;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4" name="Google Shape;984;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5" name="Google Shape;985;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86" name="Google Shape;986;p14"/>
          <p:cNvGrpSpPr/>
          <p:nvPr/>
        </p:nvGrpSpPr>
        <p:grpSpPr>
          <a:xfrm>
            <a:off x="10527214" y="2613367"/>
            <a:ext cx="353678" cy="198344"/>
            <a:chOff x="7493876" y="2774731"/>
            <a:chExt cx="1481958" cy="894622"/>
          </a:xfrm>
        </p:grpSpPr>
        <p:sp>
          <p:nvSpPr>
            <p:cNvPr id="987" name="Google Shape;98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88" name="Google Shape;98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89" name="Google Shape;989;p14"/>
            <p:cNvGrpSpPr/>
            <p:nvPr/>
          </p:nvGrpSpPr>
          <p:grpSpPr>
            <a:xfrm>
              <a:off x="7713663" y="2848339"/>
              <a:ext cx="1042107" cy="425543"/>
              <a:chOff x="7786941" y="2884917"/>
              <a:chExt cx="897649" cy="353919"/>
            </a:xfrm>
          </p:grpSpPr>
          <p:sp>
            <p:nvSpPr>
              <p:cNvPr id="990" name="Google Shape;99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1" name="Google Shape;99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2" name="Google Shape;99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3" name="Google Shape;99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94" name="Google Shape;994;p14"/>
          <p:cNvGrpSpPr/>
          <p:nvPr/>
        </p:nvGrpSpPr>
        <p:grpSpPr>
          <a:xfrm>
            <a:off x="10643825" y="2107963"/>
            <a:ext cx="353678" cy="198344"/>
            <a:chOff x="7493876" y="2774731"/>
            <a:chExt cx="1481958" cy="894622"/>
          </a:xfrm>
        </p:grpSpPr>
        <p:sp>
          <p:nvSpPr>
            <p:cNvPr id="995" name="Google Shape;99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96" name="Google Shape;99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97" name="Google Shape;997;p14"/>
            <p:cNvGrpSpPr/>
            <p:nvPr/>
          </p:nvGrpSpPr>
          <p:grpSpPr>
            <a:xfrm>
              <a:off x="7713663" y="2848339"/>
              <a:ext cx="1042107" cy="425543"/>
              <a:chOff x="7786941" y="2884917"/>
              <a:chExt cx="897649" cy="353919"/>
            </a:xfrm>
          </p:grpSpPr>
          <p:sp>
            <p:nvSpPr>
              <p:cNvPr id="998" name="Google Shape;99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9" name="Google Shape;99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0" name="Google Shape;100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1" name="Google Shape;100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02" name="Google Shape;1002;p14"/>
          <p:cNvGrpSpPr/>
          <p:nvPr/>
        </p:nvGrpSpPr>
        <p:grpSpPr>
          <a:xfrm>
            <a:off x="9098788" y="3956624"/>
            <a:ext cx="367224" cy="240304"/>
            <a:chOff x="7493876" y="2774731"/>
            <a:chExt cx="1481958" cy="894622"/>
          </a:xfrm>
        </p:grpSpPr>
        <p:sp>
          <p:nvSpPr>
            <p:cNvPr id="1003" name="Google Shape;100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04" name="Google Shape;100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05" name="Google Shape;1005;p14"/>
            <p:cNvGrpSpPr/>
            <p:nvPr/>
          </p:nvGrpSpPr>
          <p:grpSpPr>
            <a:xfrm>
              <a:off x="7713663" y="2848339"/>
              <a:ext cx="1042107" cy="425543"/>
              <a:chOff x="7786941" y="2884917"/>
              <a:chExt cx="897649" cy="353919"/>
            </a:xfrm>
          </p:grpSpPr>
          <p:sp>
            <p:nvSpPr>
              <p:cNvPr id="1006" name="Google Shape;100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7" name="Google Shape;100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8" name="Google Shape;100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9" name="Google Shape;100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10" name="Google Shape;1010;p14"/>
          <p:cNvGrpSpPr/>
          <p:nvPr/>
        </p:nvGrpSpPr>
        <p:grpSpPr>
          <a:xfrm>
            <a:off x="9980126" y="2661565"/>
            <a:ext cx="353678" cy="198344"/>
            <a:chOff x="7493876" y="2774731"/>
            <a:chExt cx="1481958" cy="894622"/>
          </a:xfrm>
        </p:grpSpPr>
        <p:sp>
          <p:nvSpPr>
            <p:cNvPr id="1011" name="Google Shape;101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12" name="Google Shape;101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13" name="Google Shape;1013;p14"/>
            <p:cNvGrpSpPr/>
            <p:nvPr/>
          </p:nvGrpSpPr>
          <p:grpSpPr>
            <a:xfrm>
              <a:off x="7713663" y="2848339"/>
              <a:ext cx="1042107" cy="425543"/>
              <a:chOff x="7786941" y="2884917"/>
              <a:chExt cx="897649" cy="353919"/>
            </a:xfrm>
          </p:grpSpPr>
          <p:sp>
            <p:nvSpPr>
              <p:cNvPr id="1014" name="Google Shape;101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5" name="Google Shape;101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6" name="Google Shape;101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7" name="Google Shape;101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18" name="Google Shape;1018;p14"/>
          <p:cNvGrpSpPr/>
          <p:nvPr/>
        </p:nvGrpSpPr>
        <p:grpSpPr>
          <a:xfrm>
            <a:off x="9497138" y="3394032"/>
            <a:ext cx="367224" cy="240304"/>
            <a:chOff x="7493876" y="2774731"/>
            <a:chExt cx="1481958" cy="894622"/>
          </a:xfrm>
        </p:grpSpPr>
        <p:sp>
          <p:nvSpPr>
            <p:cNvPr id="1019" name="Google Shape;1019;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0" name="Google Shape;1020;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21" name="Google Shape;1021;p14"/>
            <p:cNvGrpSpPr/>
            <p:nvPr/>
          </p:nvGrpSpPr>
          <p:grpSpPr>
            <a:xfrm>
              <a:off x="7713663" y="2848339"/>
              <a:ext cx="1042107" cy="425543"/>
              <a:chOff x="7786941" y="2884917"/>
              <a:chExt cx="897649" cy="353919"/>
            </a:xfrm>
          </p:grpSpPr>
          <p:sp>
            <p:nvSpPr>
              <p:cNvPr id="1022" name="Google Shape;1022;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3" name="Google Shape;1023;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4" name="Google Shape;1024;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5" name="Google Shape;1025;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26" name="Google Shape;1026;p14"/>
          <p:cNvGrpSpPr/>
          <p:nvPr/>
        </p:nvGrpSpPr>
        <p:grpSpPr>
          <a:xfrm>
            <a:off x="9601554" y="3999763"/>
            <a:ext cx="367224" cy="240304"/>
            <a:chOff x="7493876" y="2774731"/>
            <a:chExt cx="1481958" cy="894622"/>
          </a:xfrm>
        </p:grpSpPr>
        <p:sp>
          <p:nvSpPr>
            <p:cNvPr id="1027" name="Google Shape;102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8" name="Google Shape;102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29" name="Google Shape;1029;p14"/>
            <p:cNvGrpSpPr/>
            <p:nvPr/>
          </p:nvGrpSpPr>
          <p:grpSpPr>
            <a:xfrm>
              <a:off x="7713663" y="2848339"/>
              <a:ext cx="1042107" cy="425543"/>
              <a:chOff x="7786941" y="2884917"/>
              <a:chExt cx="897649" cy="353919"/>
            </a:xfrm>
          </p:grpSpPr>
          <p:sp>
            <p:nvSpPr>
              <p:cNvPr id="1030" name="Google Shape;103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1" name="Google Shape;103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2" name="Google Shape;103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3" name="Google Shape;103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34" name="Google Shape;1034;p14"/>
          <p:cNvGrpSpPr/>
          <p:nvPr/>
        </p:nvGrpSpPr>
        <p:grpSpPr>
          <a:xfrm>
            <a:off x="10375259" y="3992325"/>
            <a:ext cx="353678" cy="198344"/>
            <a:chOff x="7493876" y="2774731"/>
            <a:chExt cx="1481958" cy="894622"/>
          </a:xfrm>
        </p:grpSpPr>
        <p:sp>
          <p:nvSpPr>
            <p:cNvPr id="1035" name="Google Shape;103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36" name="Google Shape;103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37" name="Google Shape;1037;p14"/>
            <p:cNvGrpSpPr/>
            <p:nvPr/>
          </p:nvGrpSpPr>
          <p:grpSpPr>
            <a:xfrm>
              <a:off x="7713663" y="2848339"/>
              <a:ext cx="1042107" cy="425543"/>
              <a:chOff x="7786941" y="2884917"/>
              <a:chExt cx="897649" cy="353919"/>
            </a:xfrm>
          </p:grpSpPr>
          <p:sp>
            <p:nvSpPr>
              <p:cNvPr id="1038" name="Google Shape;103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9" name="Google Shape;103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0" name="Google Shape;104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1" name="Google Shape;104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42" name="Google Shape;1042;p14"/>
          <p:cNvGrpSpPr/>
          <p:nvPr/>
        </p:nvGrpSpPr>
        <p:grpSpPr>
          <a:xfrm>
            <a:off x="9247893" y="4775686"/>
            <a:ext cx="393760" cy="218578"/>
            <a:chOff x="7493876" y="2774731"/>
            <a:chExt cx="1481958" cy="894622"/>
          </a:xfrm>
        </p:grpSpPr>
        <p:sp>
          <p:nvSpPr>
            <p:cNvPr id="1043" name="Google Shape;104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44" name="Google Shape;104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45" name="Google Shape;1045;p14"/>
            <p:cNvGrpSpPr/>
            <p:nvPr/>
          </p:nvGrpSpPr>
          <p:grpSpPr>
            <a:xfrm>
              <a:off x="7713663" y="2848339"/>
              <a:ext cx="1042107" cy="425543"/>
              <a:chOff x="7786941" y="2884917"/>
              <a:chExt cx="897649" cy="353919"/>
            </a:xfrm>
          </p:grpSpPr>
          <p:sp>
            <p:nvSpPr>
              <p:cNvPr id="1046" name="Google Shape;104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7" name="Google Shape;104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8" name="Google Shape;104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9" name="Google Shape;104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50" name="Google Shape;1050;p14"/>
          <p:cNvGrpSpPr/>
          <p:nvPr/>
        </p:nvGrpSpPr>
        <p:grpSpPr>
          <a:xfrm>
            <a:off x="10925982" y="4369125"/>
            <a:ext cx="228295" cy="120400"/>
            <a:chOff x="7493876" y="2774731"/>
            <a:chExt cx="1481958" cy="894622"/>
          </a:xfrm>
        </p:grpSpPr>
        <p:sp>
          <p:nvSpPr>
            <p:cNvPr id="1051" name="Google Shape;105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52" name="Google Shape;105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53" name="Google Shape;1053;p14"/>
            <p:cNvGrpSpPr/>
            <p:nvPr/>
          </p:nvGrpSpPr>
          <p:grpSpPr>
            <a:xfrm>
              <a:off x="7713663" y="2848339"/>
              <a:ext cx="1042107" cy="425543"/>
              <a:chOff x="7786941" y="2884917"/>
              <a:chExt cx="897649" cy="353919"/>
            </a:xfrm>
          </p:grpSpPr>
          <p:sp>
            <p:nvSpPr>
              <p:cNvPr id="1054" name="Google Shape;105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5" name="Google Shape;105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6" name="Google Shape;105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7" name="Google Shape;105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58" name="Google Shape;1058;p14"/>
          <p:cNvGrpSpPr/>
          <p:nvPr/>
        </p:nvGrpSpPr>
        <p:grpSpPr>
          <a:xfrm>
            <a:off x="7439074" y="2356613"/>
            <a:ext cx="534987" cy="414882"/>
            <a:chOff x="7432700" y="2327293"/>
            <a:chExt cx="534987" cy="414882"/>
          </a:xfrm>
        </p:grpSpPr>
        <p:pic>
          <p:nvPicPr>
            <p:cNvPr descr="antenna_stylized" id="1059" name="Google Shape;1059;p14"/>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1060" name="Google Shape;1060;p14"/>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1061" name="Google Shape;1061;p1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062" name="Google Shape;1062;p14"/>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1063" name="Google Shape;1063;p1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4" name="Google Shape;1064;p1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5" name="Google Shape;1065;p1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6" name="Google Shape;1066;p1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7" name="Google Shape;1067;p1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8" name="Google Shape;1068;p1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69" name="Google Shape;1069;p14"/>
            <p:cNvGrpSpPr/>
            <p:nvPr/>
          </p:nvGrpSpPr>
          <p:grpSpPr>
            <a:xfrm>
              <a:off x="7594735" y="2642220"/>
              <a:ext cx="98740" cy="36846"/>
              <a:chOff x="1740" y="2642"/>
              <a:chExt cx="752" cy="327"/>
            </a:xfrm>
          </p:grpSpPr>
          <p:sp>
            <p:nvSpPr>
              <p:cNvPr id="1070" name="Google Shape;1070;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1" name="Google Shape;1071;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2" name="Google Shape;1072;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3" name="Google Shape;1073;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4" name="Google Shape;1074;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5" name="Google Shape;1075;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76" name="Google Shape;1076;p1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7" name="Google Shape;1077;p1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8" name="Google Shape;1078;p1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9" name="Google Shape;1079;p1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0" name="Google Shape;1080;p1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1" name="Google Shape;1081;p1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082" name="Google Shape;1082;p14"/>
          <p:cNvGrpSpPr/>
          <p:nvPr/>
        </p:nvGrpSpPr>
        <p:grpSpPr>
          <a:xfrm>
            <a:off x="8637781" y="2319727"/>
            <a:ext cx="530702" cy="478009"/>
            <a:chOff x="8631407" y="2290407"/>
            <a:chExt cx="530702" cy="478009"/>
          </a:xfrm>
        </p:grpSpPr>
        <p:pic>
          <p:nvPicPr>
            <p:cNvPr descr="light2.png" id="1083" name="Google Shape;1083;p14"/>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1084" name="Google Shape;1084;p14"/>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1085" name="Google Shape;1085;p14"/>
          <p:cNvGrpSpPr/>
          <p:nvPr/>
        </p:nvGrpSpPr>
        <p:grpSpPr>
          <a:xfrm>
            <a:off x="8499539" y="2059124"/>
            <a:ext cx="849312" cy="226109"/>
            <a:chOff x="8493165" y="2029804"/>
            <a:chExt cx="849312" cy="226109"/>
          </a:xfrm>
        </p:grpSpPr>
        <p:pic>
          <p:nvPicPr>
            <p:cNvPr descr="car_icon_small" id="1086" name="Google Shape;1086;p14"/>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1087" name="Google Shape;1087;p14"/>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1088" name="Google Shape;1088;p14"/>
          <p:cNvGrpSpPr/>
          <p:nvPr/>
        </p:nvGrpSpPr>
        <p:grpSpPr>
          <a:xfrm>
            <a:off x="7493518" y="3325424"/>
            <a:ext cx="857739" cy="583764"/>
            <a:chOff x="7487144" y="3296104"/>
            <a:chExt cx="857739" cy="583764"/>
          </a:xfrm>
        </p:grpSpPr>
        <p:grpSp>
          <p:nvGrpSpPr>
            <p:cNvPr id="1089" name="Google Shape;1089;p14"/>
            <p:cNvGrpSpPr/>
            <p:nvPr/>
          </p:nvGrpSpPr>
          <p:grpSpPr>
            <a:xfrm>
              <a:off x="7487144" y="3389820"/>
              <a:ext cx="350807" cy="310034"/>
              <a:chOff x="7487144" y="3389820"/>
              <a:chExt cx="350807" cy="310034"/>
            </a:xfrm>
          </p:grpSpPr>
          <p:pic>
            <p:nvPicPr>
              <p:cNvPr descr="antenna_stylized" id="1090" name="Google Shape;1090;p14"/>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1091" name="Google Shape;1091;p14"/>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1092" name="Google Shape;1092;p14"/>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093" name="Google Shape;1093;p14"/>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1094" name="Google Shape;1094;p14"/>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5" name="Google Shape;1095;p14"/>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6" name="Google Shape;1096;p14"/>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7" name="Google Shape;1097;p14"/>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8" name="Google Shape;1098;p14"/>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9" name="Google Shape;1099;p14"/>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00" name="Google Shape;1100;p14"/>
              <p:cNvGrpSpPr/>
              <p:nvPr/>
            </p:nvGrpSpPr>
            <p:grpSpPr>
              <a:xfrm>
                <a:off x="7593395" y="3625649"/>
                <a:ext cx="64747" cy="27592"/>
                <a:chOff x="1740" y="2642"/>
                <a:chExt cx="752" cy="327"/>
              </a:xfrm>
            </p:grpSpPr>
            <p:sp>
              <p:nvSpPr>
                <p:cNvPr id="1101" name="Google Shape;1101;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2" name="Google Shape;1102;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3" name="Google Shape;1103;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4" name="Google Shape;1104;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5" name="Google Shape;1105;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6" name="Google Shape;1106;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07" name="Google Shape;1107;p14"/>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8" name="Google Shape;1108;p14"/>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9" name="Google Shape;1109;p14"/>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0" name="Google Shape;1110;p14"/>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1" name="Google Shape;1111;p14"/>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2" name="Google Shape;1112;p14"/>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13" name="Google Shape;1113;p14"/>
            <p:cNvGrpSpPr/>
            <p:nvPr/>
          </p:nvGrpSpPr>
          <p:grpSpPr>
            <a:xfrm flipH="1">
              <a:off x="7985622" y="3537823"/>
              <a:ext cx="359261" cy="342045"/>
              <a:chOff x="2839" y="3501"/>
              <a:chExt cx="755" cy="803"/>
            </a:xfrm>
          </p:grpSpPr>
          <p:pic>
            <p:nvPicPr>
              <p:cNvPr descr="desktop_computer_stylized_medium" id="1114" name="Google Shape;1114;p1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1115" name="Google Shape;1115;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16" name="Google Shape;1116;p14"/>
            <p:cNvGrpSpPr/>
            <p:nvPr/>
          </p:nvGrpSpPr>
          <p:grpSpPr>
            <a:xfrm>
              <a:off x="7797061" y="3296104"/>
              <a:ext cx="347997" cy="396620"/>
              <a:chOff x="7797061" y="3296104"/>
              <a:chExt cx="347997" cy="396620"/>
            </a:xfrm>
          </p:grpSpPr>
          <p:pic>
            <p:nvPicPr>
              <p:cNvPr descr="fridge2.png" id="1117" name="Google Shape;1117;p14"/>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1118" name="Google Shape;1118;p14"/>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1119" name="Google Shape;1119;p14"/>
          <p:cNvGrpSpPr/>
          <p:nvPr/>
        </p:nvGrpSpPr>
        <p:grpSpPr>
          <a:xfrm>
            <a:off x="11064947" y="3428485"/>
            <a:ext cx="518448" cy="1212242"/>
            <a:chOff x="11058573" y="3399165"/>
            <a:chExt cx="518448" cy="1212242"/>
          </a:xfrm>
        </p:grpSpPr>
        <p:grpSp>
          <p:nvGrpSpPr>
            <p:cNvPr id="1120" name="Google Shape;1120;p14"/>
            <p:cNvGrpSpPr/>
            <p:nvPr/>
          </p:nvGrpSpPr>
          <p:grpSpPr>
            <a:xfrm>
              <a:off x="11087182" y="4159591"/>
              <a:ext cx="489839" cy="451816"/>
              <a:chOff x="5103720" y="2693365"/>
              <a:chExt cx="611650" cy="414788"/>
            </a:xfrm>
          </p:grpSpPr>
          <p:cxnSp>
            <p:nvCxnSpPr>
              <p:cNvPr id="1121" name="Google Shape;1121;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122" name="Google Shape;1122;p14"/>
              <p:cNvGrpSpPr/>
              <p:nvPr/>
            </p:nvGrpSpPr>
            <p:grpSpPr>
              <a:xfrm>
                <a:off x="5275406" y="2693365"/>
                <a:ext cx="439964" cy="414788"/>
                <a:chOff x="5275406" y="2711455"/>
                <a:chExt cx="452949" cy="405518"/>
              </a:xfrm>
            </p:grpSpPr>
            <p:pic>
              <p:nvPicPr>
                <p:cNvPr descr="server_rack.png" id="1123" name="Google Shape;1123;p1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1124" name="Google Shape;1124;p1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1125" name="Google Shape;1125;p14"/>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1126" name="Google Shape;1126;p14"/>
            <p:cNvGrpSpPr/>
            <p:nvPr/>
          </p:nvGrpSpPr>
          <p:grpSpPr>
            <a:xfrm>
              <a:off x="11058573" y="3399165"/>
              <a:ext cx="423724" cy="405973"/>
              <a:chOff x="5103720" y="2693365"/>
              <a:chExt cx="611650" cy="414788"/>
            </a:xfrm>
          </p:grpSpPr>
          <p:cxnSp>
            <p:nvCxnSpPr>
              <p:cNvPr id="1127" name="Google Shape;1127;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128" name="Google Shape;1128;p14"/>
              <p:cNvGrpSpPr/>
              <p:nvPr/>
            </p:nvGrpSpPr>
            <p:grpSpPr>
              <a:xfrm>
                <a:off x="5275406" y="2693365"/>
                <a:ext cx="439964" cy="414788"/>
                <a:chOff x="5275406" y="2711455"/>
                <a:chExt cx="452949" cy="405518"/>
              </a:xfrm>
            </p:grpSpPr>
            <p:pic>
              <p:nvPicPr>
                <p:cNvPr descr="server_rack.png" id="1129" name="Google Shape;1129;p1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1130" name="Google Shape;1130;p1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1131" name="Google Shape;1131;p14"/>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1132" name="Google Shape;1132;p14"/>
          <p:cNvGrpSpPr/>
          <p:nvPr/>
        </p:nvGrpSpPr>
        <p:grpSpPr>
          <a:xfrm flipH="1">
            <a:off x="7980855" y="4900161"/>
            <a:ext cx="345630" cy="320302"/>
            <a:chOff x="2839" y="3501"/>
            <a:chExt cx="755" cy="803"/>
          </a:xfrm>
        </p:grpSpPr>
        <p:pic>
          <p:nvPicPr>
            <p:cNvPr descr="desktop_computer_stylized_medium" id="1133" name="Google Shape;1133;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34" name="Google Shape;1134;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35" name="Google Shape;1135;p14"/>
          <p:cNvGrpSpPr/>
          <p:nvPr/>
        </p:nvGrpSpPr>
        <p:grpSpPr>
          <a:xfrm>
            <a:off x="9201681" y="5852809"/>
            <a:ext cx="310186" cy="312008"/>
            <a:chOff x="877" y="1008"/>
            <a:chExt cx="2747" cy="2626"/>
          </a:xfrm>
        </p:grpSpPr>
        <p:pic>
          <p:nvPicPr>
            <p:cNvPr descr="antenna_stylized" id="1136" name="Google Shape;1136;p1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137" name="Google Shape;1137;p14"/>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138" name="Google Shape;1138;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39" name="Google Shape;1139;p1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140" name="Google Shape;1140;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1" name="Google Shape;1141;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2" name="Google Shape;1142;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3" name="Google Shape;1143;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4" name="Google Shape;1144;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5" name="Google Shape;1145;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46" name="Google Shape;1146;p14"/>
            <p:cNvGrpSpPr/>
            <p:nvPr/>
          </p:nvGrpSpPr>
          <p:grpSpPr>
            <a:xfrm>
              <a:off x="1709" y="3008"/>
              <a:ext cx="507" cy="234"/>
              <a:chOff x="1740" y="2642"/>
              <a:chExt cx="752" cy="327"/>
            </a:xfrm>
          </p:grpSpPr>
          <p:sp>
            <p:nvSpPr>
              <p:cNvPr id="1147" name="Google Shape;1147;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8" name="Google Shape;1148;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9" name="Google Shape;1149;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0" name="Google Shape;1150;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1" name="Google Shape;1151;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2" name="Google Shape;1152;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53" name="Google Shape;1153;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4" name="Google Shape;1154;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5" name="Google Shape;1155;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6" name="Google Shape;1156;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7" name="Google Shape;1157;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8" name="Google Shape;1158;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59" name="Google Shape;1159;p14"/>
          <p:cNvGrpSpPr/>
          <p:nvPr/>
        </p:nvGrpSpPr>
        <p:grpSpPr>
          <a:xfrm flipH="1">
            <a:off x="8153909" y="5504657"/>
            <a:ext cx="345630" cy="320302"/>
            <a:chOff x="2839" y="3501"/>
            <a:chExt cx="755" cy="803"/>
          </a:xfrm>
        </p:grpSpPr>
        <p:pic>
          <p:nvPicPr>
            <p:cNvPr descr="desktop_computer_stylized_medium" id="1160" name="Google Shape;1160;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61" name="Google Shape;1161;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62" name="Google Shape;1162;p14"/>
          <p:cNvGrpSpPr/>
          <p:nvPr/>
        </p:nvGrpSpPr>
        <p:grpSpPr>
          <a:xfrm flipH="1">
            <a:off x="8552134" y="5526130"/>
            <a:ext cx="345630" cy="320302"/>
            <a:chOff x="2839" y="3501"/>
            <a:chExt cx="755" cy="803"/>
          </a:xfrm>
        </p:grpSpPr>
        <p:pic>
          <p:nvPicPr>
            <p:cNvPr descr="desktop_computer_stylized_medium" id="1163" name="Google Shape;1163;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64" name="Google Shape;1164;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65" name="Google Shape;1165;p14"/>
          <p:cNvGrpSpPr/>
          <p:nvPr/>
        </p:nvGrpSpPr>
        <p:grpSpPr>
          <a:xfrm>
            <a:off x="9534746" y="5795138"/>
            <a:ext cx="319264" cy="256836"/>
            <a:chOff x="877" y="1008"/>
            <a:chExt cx="2747" cy="2626"/>
          </a:xfrm>
        </p:grpSpPr>
        <p:pic>
          <p:nvPicPr>
            <p:cNvPr descr="antenna_stylized" id="1166" name="Google Shape;1166;p1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167" name="Google Shape;1167;p14"/>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168" name="Google Shape;1168;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69" name="Google Shape;1169;p1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170" name="Google Shape;1170;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1" name="Google Shape;1171;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2" name="Google Shape;1172;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3" name="Google Shape;1173;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4" name="Google Shape;1174;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5" name="Google Shape;1175;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76" name="Google Shape;1176;p14"/>
            <p:cNvGrpSpPr/>
            <p:nvPr/>
          </p:nvGrpSpPr>
          <p:grpSpPr>
            <a:xfrm>
              <a:off x="1709" y="3008"/>
              <a:ext cx="507" cy="234"/>
              <a:chOff x="1740" y="2642"/>
              <a:chExt cx="752" cy="327"/>
            </a:xfrm>
          </p:grpSpPr>
          <p:sp>
            <p:nvSpPr>
              <p:cNvPr id="1177" name="Google Shape;1177;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8" name="Google Shape;1178;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9" name="Google Shape;1179;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0" name="Google Shape;1180;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1" name="Google Shape;1181;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2" name="Google Shape;1182;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83" name="Google Shape;1183;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4" name="Google Shape;1184;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5" name="Google Shape;1185;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6" name="Google Shape;1186;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7" name="Google Shape;1187;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8" name="Google Shape;1188;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89" name="Google Shape;1189;p14"/>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0" name="Google Shape;1190;p14"/>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1" name="Google Shape;1191;p14"/>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2" name="Google Shape;1192;p14"/>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93" name="Google Shape;1193;p14"/>
          <p:cNvGrpSpPr/>
          <p:nvPr/>
        </p:nvGrpSpPr>
        <p:grpSpPr>
          <a:xfrm>
            <a:off x="10091053" y="5670891"/>
            <a:ext cx="69517" cy="21877"/>
            <a:chOff x="613" y="2566"/>
            <a:chExt cx="721" cy="144"/>
          </a:xfrm>
        </p:grpSpPr>
        <p:sp>
          <p:nvSpPr>
            <p:cNvPr id="1194" name="Google Shape;1194;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95" name="Google Shape;1195;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96" name="Google Shape;1196;p14"/>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97" name="Google Shape;1197;p14"/>
          <p:cNvGrpSpPr/>
          <p:nvPr/>
        </p:nvGrpSpPr>
        <p:grpSpPr>
          <a:xfrm>
            <a:off x="10091005" y="5718110"/>
            <a:ext cx="69517" cy="19515"/>
            <a:chOff x="615" y="2564"/>
            <a:chExt cx="721" cy="139"/>
          </a:xfrm>
        </p:grpSpPr>
        <p:sp>
          <p:nvSpPr>
            <p:cNvPr id="1198" name="Google Shape;1198;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99" name="Google Shape;1199;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00" name="Google Shape;1200;p14"/>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1" name="Google Shape;1201;p14"/>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02" name="Google Shape;1202;p14"/>
          <p:cNvGrpSpPr/>
          <p:nvPr/>
        </p:nvGrpSpPr>
        <p:grpSpPr>
          <a:xfrm>
            <a:off x="10089851" y="5813708"/>
            <a:ext cx="69541" cy="19618"/>
            <a:chOff x="618" y="2586"/>
            <a:chExt cx="720" cy="124"/>
          </a:xfrm>
        </p:grpSpPr>
        <p:sp>
          <p:nvSpPr>
            <p:cNvPr id="1203" name="Google Shape;1203;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4" name="Google Shape;1204;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05" name="Google Shape;1205;p14"/>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06" name="Google Shape;1206;p14"/>
          <p:cNvGrpSpPr/>
          <p:nvPr/>
        </p:nvGrpSpPr>
        <p:grpSpPr>
          <a:xfrm>
            <a:off x="10089849" y="5767606"/>
            <a:ext cx="70700" cy="19515"/>
            <a:chOff x="613" y="2571"/>
            <a:chExt cx="732" cy="134"/>
          </a:xfrm>
        </p:grpSpPr>
        <p:sp>
          <p:nvSpPr>
            <p:cNvPr id="1207" name="Google Shape;1207;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08" name="Google Shape;1208;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09" name="Google Shape;1209;p14"/>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0" name="Google Shape;1210;p14"/>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1" name="Google Shape;1211;p14"/>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2" name="Google Shape;1212;p14"/>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3" name="Google Shape;1213;p14"/>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4" name="Google Shape;1214;p14"/>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5" name="Google Shape;1215;p14"/>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6" name="Google Shape;1216;p14"/>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7" name="Google Shape;1217;p14"/>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218" name="Google Shape;1218;p14"/>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19" name="Google Shape;1219;p14"/>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20" name="Google Shape;1220;p14"/>
          <p:cNvGrpSpPr/>
          <p:nvPr/>
        </p:nvGrpSpPr>
        <p:grpSpPr>
          <a:xfrm flipH="1">
            <a:off x="7773981" y="5281060"/>
            <a:ext cx="345630" cy="320302"/>
            <a:chOff x="2839" y="3501"/>
            <a:chExt cx="755" cy="803"/>
          </a:xfrm>
        </p:grpSpPr>
        <p:pic>
          <p:nvPicPr>
            <p:cNvPr descr="desktop_computer_stylized_medium" id="1221" name="Google Shape;1221;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22" name="Google Shape;1222;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23" name="Google Shape;1223;p14"/>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224" name="Google Shape;1224;p14"/>
          <p:cNvGrpSpPr/>
          <p:nvPr/>
        </p:nvGrpSpPr>
        <p:grpSpPr>
          <a:xfrm>
            <a:off x="7750224" y="1859725"/>
            <a:ext cx="415925" cy="385763"/>
            <a:chOff x="2751" y="1851"/>
            <a:chExt cx="462" cy="478"/>
          </a:xfrm>
        </p:grpSpPr>
        <p:pic>
          <p:nvPicPr>
            <p:cNvPr descr="iphone_stylized_small" id="1225" name="Google Shape;1225;p14"/>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1226" name="Google Shape;1226;p14"/>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sp>
        <p:nvSpPr>
          <p:cNvPr id="1227" name="Google Shape;1227;p14"/>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8" name="Google Shape;1228;p14"/>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9" name="Google Shape;1229;p14"/>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30" name="Google Shape;1230;p14"/>
          <p:cNvGrpSpPr/>
          <p:nvPr/>
        </p:nvGrpSpPr>
        <p:grpSpPr>
          <a:xfrm>
            <a:off x="10288915" y="4742972"/>
            <a:ext cx="880622" cy="861812"/>
            <a:chOff x="10288915" y="4742972"/>
            <a:chExt cx="880622" cy="861812"/>
          </a:xfrm>
        </p:grpSpPr>
        <p:grpSp>
          <p:nvGrpSpPr>
            <p:cNvPr id="1231" name="Google Shape;1231;p14"/>
            <p:cNvGrpSpPr/>
            <p:nvPr/>
          </p:nvGrpSpPr>
          <p:grpSpPr>
            <a:xfrm>
              <a:off x="10288915" y="5273951"/>
              <a:ext cx="177192" cy="330833"/>
              <a:chOff x="4140" y="429"/>
              <a:chExt cx="1425" cy="2396"/>
            </a:xfrm>
          </p:grpSpPr>
          <p:sp>
            <p:nvSpPr>
              <p:cNvPr id="1232" name="Google Shape;1232;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3" name="Google Shape;1233;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34" name="Google Shape;1234;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5" name="Google Shape;1235;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6" name="Google Shape;1236;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37" name="Google Shape;1237;p14"/>
              <p:cNvGrpSpPr/>
              <p:nvPr/>
            </p:nvGrpSpPr>
            <p:grpSpPr>
              <a:xfrm>
                <a:off x="4748" y="666"/>
                <a:ext cx="578" cy="150"/>
                <a:chOff x="613" y="2566"/>
                <a:chExt cx="721" cy="144"/>
              </a:xfrm>
            </p:grpSpPr>
            <p:sp>
              <p:nvSpPr>
                <p:cNvPr id="1238" name="Google Shape;1238;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39" name="Google Shape;1239;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0" name="Google Shape;1240;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41" name="Google Shape;1241;p14"/>
              <p:cNvGrpSpPr/>
              <p:nvPr/>
            </p:nvGrpSpPr>
            <p:grpSpPr>
              <a:xfrm>
                <a:off x="4748" y="990"/>
                <a:ext cx="578" cy="134"/>
                <a:chOff x="615" y="2564"/>
                <a:chExt cx="721" cy="139"/>
              </a:xfrm>
            </p:grpSpPr>
            <p:sp>
              <p:nvSpPr>
                <p:cNvPr id="1242" name="Google Shape;1242;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3" name="Google Shape;1243;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4" name="Google Shape;1244;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5" name="Google Shape;1245;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46" name="Google Shape;1246;p14"/>
              <p:cNvGrpSpPr/>
              <p:nvPr/>
            </p:nvGrpSpPr>
            <p:grpSpPr>
              <a:xfrm>
                <a:off x="4738" y="1647"/>
                <a:ext cx="578" cy="135"/>
                <a:chOff x="618" y="2586"/>
                <a:chExt cx="720" cy="124"/>
              </a:xfrm>
            </p:grpSpPr>
            <p:sp>
              <p:nvSpPr>
                <p:cNvPr id="1247" name="Google Shape;1247;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48" name="Google Shape;1248;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49" name="Google Shape;1249;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50" name="Google Shape;1250;p14"/>
              <p:cNvGrpSpPr/>
              <p:nvPr/>
            </p:nvGrpSpPr>
            <p:grpSpPr>
              <a:xfrm>
                <a:off x="4738" y="1330"/>
                <a:ext cx="588" cy="134"/>
                <a:chOff x="613" y="2571"/>
                <a:chExt cx="732" cy="134"/>
              </a:xfrm>
            </p:grpSpPr>
            <p:sp>
              <p:nvSpPr>
                <p:cNvPr id="1251" name="Google Shape;1251;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2" name="Google Shape;1252;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53" name="Google Shape;1253;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4" name="Google Shape;1254;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5" name="Google Shape;1255;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6" name="Google Shape;1256;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7" name="Google Shape;1257;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8" name="Google Shape;1258;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59" name="Google Shape;1259;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0" name="Google Shape;1260;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1" name="Google Shape;1261;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262" name="Google Shape;1262;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63" name="Google Shape;1263;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64" name="Google Shape;1264;p14"/>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65" name="Google Shape;1265;p14"/>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66" name="Google Shape;1266;p14"/>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67" name="Google Shape;1267;p14"/>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268" name="Google Shape;1268;p14"/>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269" name="Google Shape;1269;p14"/>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270" name="Google Shape;1270;p14"/>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1271" name="Google Shape;1271;p14"/>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72" name="Google Shape;1272;p14"/>
          <p:cNvGrpSpPr/>
          <p:nvPr/>
        </p:nvGrpSpPr>
        <p:grpSpPr>
          <a:xfrm>
            <a:off x="10002508" y="5616400"/>
            <a:ext cx="214974" cy="403920"/>
            <a:chOff x="4140" y="429"/>
            <a:chExt cx="1425" cy="2396"/>
          </a:xfrm>
        </p:grpSpPr>
        <p:sp>
          <p:nvSpPr>
            <p:cNvPr id="1273" name="Google Shape;1273;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4" name="Google Shape;1274;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5" name="Google Shape;1275;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6" name="Google Shape;1276;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7" name="Google Shape;1277;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78" name="Google Shape;1278;p14"/>
            <p:cNvGrpSpPr/>
            <p:nvPr/>
          </p:nvGrpSpPr>
          <p:grpSpPr>
            <a:xfrm>
              <a:off x="4748" y="666"/>
              <a:ext cx="578" cy="150"/>
              <a:chOff x="613" y="2566"/>
              <a:chExt cx="721" cy="144"/>
            </a:xfrm>
          </p:grpSpPr>
          <p:sp>
            <p:nvSpPr>
              <p:cNvPr id="1279" name="Google Shape;1279;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0" name="Google Shape;1280;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81" name="Google Shape;1281;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82" name="Google Shape;1282;p14"/>
            <p:cNvGrpSpPr/>
            <p:nvPr/>
          </p:nvGrpSpPr>
          <p:grpSpPr>
            <a:xfrm>
              <a:off x="4748" y="990"/>
              <a:ext cx="578" cy="134"/>
              <a:chOff x="615" y="2564"/>
              <a:chExt cx="721" cy="139"/>
            </a:xfrm>
          </p:grpSpPr>
          <p:sp>
            <p:nvSpPr>
              <p:cNvPr id="1283" name="Google Shape;1283;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4" name="Google Shape;1284;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85" name="Google Shape;1285;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6" name="Google Shape;1286;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87" name="Google Shape;1287;p14"/>
            <p:cNvGrpSpPr/>
            <p:nvPr/>
          </p:nvGrpSpPr>
          <p:grpSpPr>
            <a:xfrm>
              <a:off x="4738" y="1647"/>
              <a:ext cx="578" cy="135"/>
              <a:chOff x="618" y="2586"/>
              <a:chExt cx="720" cy="124"/>
            </a:xfrm>
          </p:grpSpPr>
          <p:sp>
            <p:nvSpPr>
              <p:cNvPr id="1288" name="Google Shape;1288;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9" name="Google Shape;1289;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90" name="Google Shape;1290;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91" name="Google Shape;1291;p14"/>
            <p:cNvGrpSpPr/>
            <p:nvPr/>
          </p:nvGrpSpPr>
          <p:grpSpPr>
            <a:xfrm>
              <a:off x="4738" y="1330"/>
              <a:ext cx="588" cy="134"/>
              <a:chOff x="613" y="2571"/>
              <a:chExt cx="732" cy="134"/>
            </a:xfrm>
          </p:grpSpPr>
          <p:sp>
            <p:nvSpPr>
              <p:cNvPr id="1292" name="Google Shape;1292;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3" name="Google Shape;1293;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94" name="Google Shape;1294;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5" name="Google Shape;1295;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6" name="Google Shape;1296;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7" name="Google Shape;1297;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8" name="Google Shape;1298;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9" name="Google Shape;1299;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0" name="Google Shape;1300;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1" name="Google Shape;1301;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2" name="Google Shape;1302;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303" name="Google Shape;1303;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4" name="Google Shape;1304;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305" name="Google Shape;1305;p14"/>
          <p:cNvGrpSpPr/>
          <p:nvPr/>
        </p:nvGrpSpPr>
        <p:grpSpPr>
          <a:xfrm>
            <a:off x="8252702" y="1137866"/>
            <a:ext cx="814388" cy="854075"/>
            <a:chOff x="9791027" y="656358"/>
            <a:chExt cx="814388" cy="854075"/>
          </a:xfrm>
        </p:grpSpPr>
        <p:sp>
          <p:nvSpPr>
            <p:cNvPr id="1306" name="Google Shape;1306;p14"/>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7" name="Google Shape;1307;p14"/>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8" name="Google Shape;1308;p14"/>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9" name="Google Shape;1309;p14"/>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310" name="Google Shape;1310;p14"/>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11" name="Google Shape;1311;p14"/>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12" name="Google Shape;1312;p14"/>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1313" name="Google Shape;1313;p14"/>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14" name="Google Shape;1314;p14"/>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sp>
        <p:nvSpPr>
          <p:cNvPr id="1315" name="Google Shape;1315;p14"/>
          <p:cNvSpPr txBox="1"/>
          <p:nvPr/>
        </p:nvSpPr>
        <p:spPr>
          <a:xfrm>
            <a:off x="736738" y="1365914"/>
            <a:ext cx="6288757" cy="5114925"/>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100000"/>
              </a:lnSpc>
              <a:spcBef>
                <a:spcPts val="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Transmission Control Protocol</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reliable, in-order delivery</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congestion control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flow control</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connection setup</a:t>
            </a:r>
            <a:endParaRPr b="0" i="0" sz="3200" u="none" cap="none" strike="noStrike">
              <a:solidFill>
                <a:srgbClr val="000000"/>
              </a:solidFill>
              <a:latin typeface="Calibri"/>
              <a:ea typeface="Calibri"/>
              <a:cs typeface="Calibri"/>
              <a:sym typeface="Calibri"/>
            </a:endParaRPr>
          </a:p>
          <a:p>
            <a:pPr indent="-222250" lvl="0" marL="352425" marR="0" rtl="0" algn="l">
              <a:lnSpc>
                <a:spcPct val="100000"/>
              </a:lnSpc>
              <a:spcBef>
                <a:spcPts val="60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User Datagram Protocol</a:t>
            </a:r>
            <a:endParaRPr/>
          </a:p>
          <a:p>
            <a:pPr indent="-274638" lvl="1" marL="747713"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unreliable, unordered delivery</a:t>
            </a:r>
            <a:endParaRPr/>
          </a:p>
          <a:p>
            <a:pPr indent="-274638" lvl="1" marL="747713"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no-frills extension of “best-effort” IP</a:t>
            </a:r>
            <a:endParaRPr/>
          </a:p>
          <a:p>
            <a:pPr indent="-222250" lvl="0" marL="352425" marR="0" rtl="0" algn="l">
              <a:lnSpc>
                <a:spcPct val="100000"/>
              </a:lnSpc>
              <a:spcBef>
                <a:spcPts val="6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services not available: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delay guarantees</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bandwidth guarantees</a:t>
            </a:r>
            <a:endParaRPr b="0" i="0" sz="2400" u="none" cap="none" strike="noStrike">
              <a:solidFill>
                <a:srgbClr val="000000"/>
              </a:solidFill>
              <a:latin typeface="Calibri"/>
              <a:ea typeface="Calibri"/>
              <a:cs typeface="Calibri"/>
              <a:sym typeface="Calibri"/>
            </a:endParaRPr>
          </a:p>
        </p:txBody>
      </p:sp>
      <p:sp>
        <p:nvSpPr>
          <p:cNvPr id="1316" name="Google Shape;1316;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0" st="0"/>
                                            </p:txEl>
                                          </p:spTgt>
                                        </p:tgtEl>
                                        <p:attrNameLst>
                                          <p:attrName>style.visibility</p:attrName>
                                        </p:attrNameLst>
                                      </p:cBhvr>
                                      <p:to>
                                        <p:strVal val="visible"/>
                                      </p:to>
                                    </p:set>
                                    <p:animEffect filter="fade" transition="in">
                                      <p:cBhvr>
                                        <p:cTn dur="500"/>
                                        <p:tgtEl>
                                          <p:spTgt spid="13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1" st="1"/>
                                            </p:txEl>
                                          </p:spTgt>
                                        </p:tgtEl>
                                        <p:attrNameLst>
                                          <p:attrName>style.visibility</p:attrName>
                                        </p:attrNameLst>
                                      </p:cBhvr>
                                      <p:to>
                                        <p:strVal val="visible"/>
                                      </p:to>
                                    </p:set>
                                    <p:animEffect filter="fade" transition="in">
                                      <p:cBhvr>
                                        <p:cTn dur="500"/>
                                        <p:tgtEl>
                                          <p:spTgt spid="13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2" st="2"/>
                                            </p:txEl>
                                          </p:spTgt>
                                        </p:tgtEl>
                                        <p:attrNameLst>
                                          <p:attrName>style.visibility</p:attrName>
                                        </p:attrNameLst>
                                      </p:cBhvr>
                                      <p:to>
                                        <p:strVal val="visible"/>
                                      </p:to>
                                    </p:set>
                                    <p:animEffect filter="fade" transition="in">
                                      <p:cBhvr>
                                        <p:cTn dur="500"/>
                                        <p:tgtEl>
                                          <p:spTgt spid="13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3" st="3"/>
                                            </p:txEl>
                                          </p:spTgt>
                                        </p:tgtEl>
                                        <p:attrNameLst>
                                          <p:attrName>style.visibility</p:attrName>
                                        </p:attrNameLst>
                                      </p:cBhvr>
                                      <p:to>
                                        <p:strVal val="visible"/>
                                      </p:to>
                                    </p:set>
                                    <p:animEffect filter="fade" transition="in">
                                      <p:cBhvr>
                                        <p:cTn dur="500"/>
                                        <p:tgtEl>
                                          <p:spTgt spid="13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4" st="4"/>
                                            </p:txEl>
                                          </p:spTgt>
                                        </p:tgtEl>
                                        <p:attrNameLst>
                                          <p:attrName>style.visibility</p:attrName>
                                        </p:attrNameLst>
                                      </p:cBhvr>
                                      <p:to>
                                        <p:strVal val="visible"/>
                                      </p:to>
                                    </p:set>
                                    <p:animEffect filter="fade" transition="in">
                                      <p:cBhvr>
                                        <p:cTn dur="500"/>
                                        <p:tgtEl>
                                          <p:spTgt spid="13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5" st="5"/>
                                            </p:txEl>
                                          </p:spTgt>
                                        </p:tgtEl>
                                        <p:attrNameLst>
                                          <p:attrName>style.visibility</p:attrName>
                                        </p:attrNameLst>
                                      </p:cBhvr>
                                      <p:to>
                                        <p:strVal val="visible"/>
                                      </p:to>
                                    </p:set>
                                    <p:animEffect filter="fade" transition="in">
                                      <p:cBhvr>
                                        <p:cTn dur="500"/>
                                        <p:tgtEl>
                                          <p:spTgt spid="13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6" st="6"/>
                                            </p:txEl>
                                          </p:spTgt>
                                        </p:tgtEl>
                                        <p:attrNameLst>
                                          <p:attrName>style.visibility</p:attrName>
                                        </p:attrNameLst>
                                      </p:cBhvr>
                                      <p:to>
                                        <p:strVal val="visible"/>
                                      </p:to>
                                    </p:set>
                                    <p:animEffect filter="fade" transition="in">
                                      <p:cBhvr>
                                        <p:cTn dur="500"/>
                                        <p:tgtEl>
                                          <p:spTgt spid="131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7" st="7"/>
                                            </p:txEl>
                                          </p:spTgt>
                                        </p:tgtEl>
                                        <p:attrNameLst>
                                          <p:attrName>style.visibility</p:attrName>
                                        </p:attrNameLst>
                                      </p:cBhvr>
                                      <p:to>
                                        <p:strVal val="visible"/>
                                      </p:to>
                                    </p:set>
                                    <p:animEffect filter="fade" transition="in">
                                      <p:cBhvr>
                                        <p:cTn dur="500"/>
                                        <p:tgtEl>
                                          <p:spTgt spid="131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8" st="8"/>
                                            </p:txEl>
                                          </p:spTgt>
                                        </p:tgtEl>
                                        <p:attrNameLst>
                                          <p:attrName>style.visibility</p:attrName>
                                        </p:attrNameLst>
                                      </p:cBhvr>
                                      <p:to>
                                        <p:strVal val="visible"/>
                                      </p:to>
                                    </p:set>
                                    <p:animEffect filter="fade" transition="in">
                                      <p:cBhvr>
                                        <p:cTn dur="500"/>
                                        <p:tgtEl>
                                          <p:spTgt spid="131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9" st="9"/>
                                            </p:txEl>
                                          </p:spTgt>
                                        </p:tgtEl>
                                        <p:attrNameLst>
                                          <p:attrName>style.visibility</p:attrName>
                                        </p:attrNameLst>
                                      </p:cBhvr>
                                      <p:to>
                                        <p:strVal val="visible"/>
                                      </p:to>
                                    </p:set>
                                    <p:animEffect filter="fade" transition="in">
                                      <p:cBhvr>
                                        <p:cTn dur="500"/>
                                        <p:tgtEl>
                                          <p:spTgt spid="131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10" st="10"/>
                                            </p:txEl>
                                          </p:spTgt>
                                        </p:tgtEl>
                                        <p:attrNameLst>
                                          <p:attrName>style.visibility</p:attrName>
                                        </p:attrNameLst>
                                      </p:cBhvr>
                                      <p:to>
                                        <p:strVal val="visible"/>
                                      </p:to>
                                    </p:set>
                                    <p:animEffect filter="fade" transition="in">
                                      <p:cBhvr>
                                        <p:cTn dur="500"/>
                                        <p:tgtEl>
                                          <p:spTgt spid="1315">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1323" name="Google Shape;1323;p15"/>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010086"/>
              </a:buClr>
              <a:buSzPts val="3200"/>
              <a:buChar char="▪"/>
            </a:pPr>
            <a:r>
              <a:rPr lang="en-US" sz="3200"/>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82550" lvl="0" marL="403225" rtl="0" algn="l">
              <a:lnSpc>
                <a:spcPct val="90000"/>
              </a:lnSpc>
              <a:spcBef>
                <a:spcPts val="800"/>
              </a:spcBef>
              <a:spcAft>
                <a:spcPts val="0"/>
              </a:spcAft>
              <a:buClr>
                <a:srgbClr val="BFBFBF"/>
              </a:buClr>
              <a:buSzPts val="3200"/>
              <a:buNone/>
            </a:pPr>
            <a:r>
              <a:t/>
            </a:r>
            <a:endParaRPr sz="3200">
              <a:solidFill>
                <a:srgbClr val="BFBFB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324" name="Google Shape;1324;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1325" name="Google Shape;1325;p15"/>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grpSp>
        <p:nvGrpSpPr>
          <p:cNvPr id="1331" name="Google Shape;1331;p16"/>
          <p:cNvGrpSpPr/>
          <p:nvPr/>
        </p:nvGrpSpPr>
        <p:grpSpPr>
          <a:xfrm>
            <a:off x="141514" y="827314"/>
            <a:ext cx="11908971" cy="4739615"/>
            <a:chOff x="2511281" y="3262667"/>
            <a:chExt cx="7770812" cy="3121540"/>
          </a:xfrm>
        </p:grpSpPr>
        <p:sp>
          <p:nvSpPr>
            <p:cNvPr id="1332" name="Google Shape;1332;p16"/>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33" name="Google Shape;1333;p16"/>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34" name="Google Shape;1334;p16"/>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335" name="Google Shape;1335;p16"/>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336" name="Google Shape;1336;p16"/>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337" name="Google Shape;1337;p16"/>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338" name="Google Shape;1338;p16"/>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339" name="Google Shape;1339;p16"/>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340" name="Google Shape;1340;p16"/>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341" name="Google Shape;1341;p16"/>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342" name="Google Shape;1342;p16"/>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343" name="Google Shape;1343;p16"/>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44" name="Google Shape;1344;p16"/>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345" name="Google Shape;1345;p16"/>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46" name="Google Shape;1346;p16"/>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347" name="Google Shape;1347;p16"/>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48" name="Google Shape;1348;p16"/>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49" name="Google Shape;1349;p16"/>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50" name="Google Shape;1350;p16"/>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351" name="Google Shape;1351;p16"/>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352" name="Google Shape;1352;p16"/>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353" name="Google Shape;1353;p16"/>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354" name="Google Shape;1354;p16"/>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55" name="Google Shape;1355;p16"/>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56" name="Google Shape;1356;p16"/>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357" name="Google Shape;1357;p16"/>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358" name="Google Shape;1358;p16"/>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59" name="Google Shape;1359;p16"/>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360" name="Google Shape;1360;p16"/>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61" name="Google Shape;1361;p16"/>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362" name="Google Shape;1362;p16"/>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363" name="Google Shape;1363;p16"/>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364" name="Google Shape;1364;p16"/>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365" name="Google Shape;1365;p16"/>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366" name="Google Shape;1366;p16"/>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367" name="Google Shape;1367;p16"/>
            <p:cNvGrpSpPr/>
            <p:nvPr/>
          </p:nvGrpSpPr>
          <p:grpSpPr>
            <a:xfrm>
              <a:off x="2511281" y="5555532"/>
              <a:ext cx="800100" cy="828675"/>
              <a:chOff x="-44" y="1473"/>
              <a:chExt cx="981" cy="1105"/>
            </a:xfrm>
          </p:grpSpPr>
          <p:pic>
            <p:nvPicPr>
              <p:cNvPr descr="desktop_computer_stylized_medium" id="1368" name="Google Shape;1368;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69" name="Google Shape;1369;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370" name="Google Shape;1370;p16"/>
            <p:cNvGrpSpPr/>
            <p:nvPr/>
          </p:nvGrpSpPr>
          <p:grpSpPr>
            <a:xfrm flipH="1">
              <a:off x="9493106" y="5469807"/>
              <a:ext cx="788987" cy="782637"/>
              <a:chOff x="-44" y="1473"/>
              <a:chExt cx="981" cy="1105"/>
            </a:xfrm>
          </p:grpSpPr>
          <p:pic>
            <p:nvPicPr>
              <p:cNvPr descr="desktop_computer_stylized_medium" id="1371" name="Google Shape;1371;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72" name="Google Shape;1372;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373" name="Google Shape;1373;p16"/>
            <p:cNvGrpSpPr/>
            <p:nvPr/>
          </p:nvGrpSpPr>
          <p:grpSpPr>
            <a:xfrm>
              <a:off x="5083031" y="5055469"/>
              <a:ext cx="358775" cy="704850"/>
              <a:chOff x="4140" y="429"/>
              <a:chExt cx="1425" cy="2396"/>
            </a:xfrm>
          </p:grpSpPr>
          <p:sp>
            <p:nvSpPr>
              <p:cNvPr id="1374" name="Google Shape;1374;p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5" name="Google Shape;1375;p1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6" name="Google Shape;1376;p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7" name="Google Shape;1377;p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78" name="Google Shape;1378;p1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79" name="Google Shape;1379;p16"/>
              <p:cNvGrpSpPr/>
              <p:nvPr/>
            </p:nvGrpSpPr>
            <p:grpSpPr>
              <a:xfrm>
                <a:off x="4751" y="667"/>
                <a:ext cx="580" cy="146"/>
                <a:chOff x="617" y="2567"/>
                <a:chExt cx="724" cy="140"/>
              </a:xfrm>
            </p:grpSpPr>
            <p:sp>
              <p:nvSpPr>
                <p:cNvPr id="1380" name="Google Shape;1380;p1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81" name="Google Shape;1381;p1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82" name="Google Shape;1382;p1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83" name="Google Shape;1383;p16"/>
              <p:cNvGrpSpPr/>
              <p:nvPr/>
            </p:nvGrpSpPr>
            <p:grpSpPr>
              <a:xfrm>
                <a:off x="4745" y="996"/>
                <a:ext cx="580" cy="156"/>
                <a:chOff x="612" y="2570"/>
                <a:chExt cx="724" cy="162"/>
              </a:xfrm>
            </p:grpSpPr>
            <p:sp>
              <p:nvSpPr>
                <p:cNvPr id="1384" name="Google Shape;1384;p1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85" name="Google Shape;1385;p1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86" name="Google Shape;1386;p1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87" name="Google Shape;1387;p1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88" name="Google Shape;1388;p16"/>
              <p:cNvGrpSpPr/>
              <p:nvPr/>
            </p:nvGrpSpPr>
            <p:grpSpPr>
              <a:xfrm>
                <a:off x="4733" y="1627"/>
                <a:ext cx="586" cy="151"/>
                <a:chOff x="611" y="2568"/>
                <a:chExt cx="730" cy="139"/>
              </a:xfrm>
            </p:grpSpPr>
            <p:sp>
              <p:nvSpPr>
                <p:cNvPr id="1389" name="Google Shape;1389;p1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0" name="Google Shape;1390;p1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91" name="Google Shape;1391;p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392" name="Google Shape;1392;p16"/>
              <p:cNvGrpSpPr/>
              <p:nvPr/>
            </p:nvGrpSpPr>
            <p:grpSpPr>
              <a:xfrm>
                <a:off x="4739" y="1325"/>
                <a:ext cx="580" cy="140"/>
                <a:chOff x="614" y="2566"/>
                <a:chExt cx="723" cy="140"/>
              </a:xfrm>
            </p:grpSpPr>
            <p:sp>
              <p:nvSpPr>
                <p:cNvPr id="1393" name="Google Shape;1393;p1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4" name="Google Shape;1394;p1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395" name="Google Shape;1395;p1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6" name="Google Shape;1396;p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7" name="Google Shape;1397;p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8" name="Google Shape;1398;p1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399" name="Google Shape;1399;p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0" name="Google Shape;1400;p1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1" name="Google Shape;1401;p1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2" name="Google Shape;1402;p1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3" name="Google Shape;1403;p1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404" name="Google Shape;1404;p1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5" name="Google Shape;1405;p1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406" name="Google Shape;1406;p16"/>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407" name="Google Shape;1407;p16"/>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408" name="Google Shape;1408;p16"/>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409" name="Google Shape;1409;p16"/>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410" name="Google Shape;1410;p16"/>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411" name="Google Shape;1411;p16"/>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412" name="Google Shape;1412;p16"/>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413" name="Google Shape;1413;p16"/>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414" name="Google Shape;1414;p16"/>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415" name="Google Shape;1415;p16"/>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sp>
        <p:nvSpPr>
          <p:cNvPr id="1416" name="Google Shape;1416;p16"/>
          <p:cNvSpPr/>
          <p:nvPr/>
        </p:nvSpPr>
        <p:spPr>
          <a:xfrm>
            <a:off x="5864224" y="2340021"/>
            <a:ext cx="1063879"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17" name="Google Shape;1417;p16"/>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418" name="Google Shape;1418;p16"/>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419" name="Google Shape;1419;p16"/>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420" name="Google Shape;1420;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grpSp>
        <p:nvGrpSpPr>
          <p:cNvPr id="1426" name="Google Shape;1426;p17"/>
          <p:cNvGrpSpPr/>
          <p:nvPr/>
        </p:nvGrpSpPr>
        <p:grpSpPr>
          <a:xfrm>
            <a:off x="141514" y="827314"/>
            <a:ext cx="11908971" cy="4739615"/>
            <a:chOff x="2511281" y="3262667"/>
            <a:chExt cx="7770812" cy="3121540"/>
          </a:xfrm>
        </p:grpSpPr>
        <p:sp>
          <p:nvSpPr>
            <p:cNvPr id="1427" name="Google Shape;1427;p17"/>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28" name="Google Shape;1428;p17"/>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29" name="Google Shape;1429;p17"/>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30" name="Google Shape;1430;p17"/>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431" name="Google Shape;1431;p17"/>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32" name="Google Shape;1432;p17"/>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433" name="Google Shape;1433;p17"/>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34" name="Google Shape;1434;p17"/>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35" name="Google Shape;1435;p17"/>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436" name="Google Shape;1436;p17"/>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437" name="Google Shape;1437;p17"/>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438" name="Google Shape;1438;p17"/>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39" name="Google Shape;1439;p17"/>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40" name="Google Shape;1440;p17"/>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41" name="Google Shape;1441;p17"/>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42" name="Google Shape;1442;p17"/>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43" name="Google Shape;1443;p17"/>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44" name="Google Shape;1444;p17"/>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45" name="Google Shape;1445;p17"/>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446" name="Google Shape;1446;p17"/>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47" name="Google Shape;1447;p17"/>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48" name="Google Shape;1448;p17"/>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449" name="Google Shape;1449;p17"/>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0" name="Google Shape;1450;p17"/>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1" name="Google Shape;1451;p17"/>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52" name="Google Shape;1452;p17"/>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53" name="Google Shape;1453;p17"/>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54" name="Google Shape;1454;p17"/>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55" name="Google Shape;1455;p17"/>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56" name="Google Shape;1456;p17"/>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57" name="Google Shape;1457;p17"/>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58" name="Google Shape;1458;p17"/>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459" name="Google Shape;1459;p17"/>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60" name="Google Shape;1460;p17"/>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61" name="Google Shape;1461;p17"/>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462" name="Google Shape;1462;p17"/>
            <p:cNvGrpSpPr/>
            <p:nvPr/>
          </p:nvGrpSpPr>
          <p:grpSpPr>
            <a:xfrm>
              <a:off x="2511281" y="5555532"/>
              <a:ext cx="800100" cy="828675"/>
              <a:chOff x="-44" y="1473"/>
              <a:chExt cx="981" cy="1105"/>
            </a:xfrm>
          </p:grpSpPr>
          <p:pic>
            <p:nvPicPr>
              <p:cNvPr descr="desktop_computer_stylized_medium" id="1463" name="Google Shape;1463;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64" name="Google Shape;1464;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465" name="Google Shape;1465;p17"/>
            <p:cNvGrpSpPr/>
            <p:nvPr/>
          </p:nvGrpSpPr>
          <p:grpSpPr>
            <a:xfrm flipH="1">
              <a:off x="9493106" y="5469807"/>
              <a:ext cx="788987" cy="782637"/>
              <a:chOff x="-44" y="1473"/>
              <a:chExt cx="981" cy="1105"/>
            </a:xfrm>
          </p:grpSpPr>
          <p:pic>
            <p:nvPicPr>
              <p:cNvPr descr="desktop_computer_stylized_medium" id="1466" name="Google Shape;1466;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67" name="Google Shape;1467;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468" name="Google Shape;1468;p17"/>
            <p:cNvGrpSpPr/>
            <p:nvPr/>
          </p:nvGrpSpPr>
          <p:grpSpPr>
            <a:xfrm>
              <a:off x="5083031" y="5055469"/>
              <a:ext cx="358775" cy="704850"/>
              <a:chOff x="4140" y="429"/>
              <a:chExt cx="1425" cy="2396"/>
            </a:xfrm>
          </p:grpSpPr>
          <p:sp>
            <p:nvSpPr>
              <p:cNvPr id="1469" name="Google Shape;1469;p1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0" name="Google Shape;1470;p17"/>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1" name="Google Shape;1471;p1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2" name="Google Shape;1472;p1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3" name="Google Shape;1473;p17"/>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74" name="Google Shape;1474;p17"/>
              <p:cNvGrpSpPr/>
              <p:nvPr/>
            </p:nvGrpSpPr>
            <p:grpSpPr>
              <a:xfrm>
                <a:off x="4751" y="667"/>
                <a:ext cx="580" cy="146"/>
                <a:chOff x="617" y="2567"/>
                <a:chExt cx="724" cy="140"/>
              </a:xfrm>
            </p:grpSpPr>
            <p:sp>
              <p:nvSpPr>
                <p:cNvPr id="1475" name="Google Shape;1475;p17"/>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6" name="Google Shape;1476;p17"/>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77" name="Google Shape;1477;p17"/>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78" name="Google Shape;1478;p17"/>
              <p:cNvGrpSpPr/>
              <p:nvPr/>
            </p:nvGrpSpPr>
            <p:grpSpPr>
              <a:xfrm>
                <a:off x="4745" y="996"/>
                <a:ext cx="580" cy="156"/>
                <a:chOff x="612" y="2570"/>
                <a:chExt cx="724" cy="162"/>
              </a:xfrm>
            </p:grpSpPr>
            <p:sp>
              <p:nvSpPr>
                <p:cNvPr id="1479" name="Google Shape;1479;p17"/>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0" name="Google Shape;1480;p17"/>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81" name="Google Shape;1481;p17"/>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2" name="Google Shape;1482;p17"/>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83" name="Google Shape;1483;p17"/>
              <p:cNvGrpSpPr/>
              <p:nvPr/>
            </p:nvGrpSpPr>
            <p:grpSpPr>
              <a:xfrm>
                <a:off x="4733" y="1627"/>
                <a:ext cx="586" cy="151"/>
                <a:chOff x="611" y="2568"/>
                <a:chExt cx="730" cy="139"/>
              </a:xfrm>
            </p:grpSpPr>
            <p:sp>
              <p:nvSpPr>
                <p:cNvPr id="1484" name="Google Shape;1484;p17"/>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5" name="Google Shape;1485;p17"/>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86" name="Google Shape;1486;p1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87" name="Google Shape;1487;p17"/>
              <p:cNvGrpSpPr/>
              <p:nvPr/>
            </p:nvGrpSpPr>
            <p:grpSpPr>
              <a:xfrm>
                <a:off x="4739" y="1325"/>
                <a:ext cx="580" cy="140"/>
                <a:chOff x="614" y="2566"/>
                <a:chExt cx="723" cy="140"/>
              </a:xfrm>
            </p:grpSpPr>
            <p:sp>
              <p:nvSpPr>
                <p:cNvPr id="1488" name="Google Shape;1488;p17"/>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9" name="Google Shape;1489;p17"/>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90" name="Google Shape;1490;p17"/>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1" name="Google Shape;1491;p1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2" name="Google Shape;1492;p1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3" name="Google Shape;1493;p17"/>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4" name="Google Shape;1494;p1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5" name="Google Shape;1495;p17"/>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6" name="Google Shape;1496;p17"/>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7" name="Google Shape;1497;p17"/>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98" name="Google Shape;1498;p17"/>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499" name="Google Shape;1499;p17"/>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00" name="Google Shape;1500;p17"/>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501" name="Google Shape;1501;p17"/>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502" name="Google Shape;1502;p17"/>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503" name="Google Shape;1503;p17"/>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504" name="Google Shape;1504;p17"/>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505" name="Google Shape;1505;p17"/>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506" name="Google Shape;1506;p17"/>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507" name="Google Shape;1507;p17"/>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508" name="Google Shape;1508;p17"/>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509" name="Google Shape;1509;p17"/>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510" name="Google Shape;1510;p17"/>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511" name="Google Shape;1511;p17"/>
          <p:cNvGrpSpPr/>
          <p:nvPr/>
        </p:nvGrpSpPr>
        <p:grpSpPr>
          <a:xfrm>
            <a:off x="5528837" y="2685375"/>
            <a:ext cx="1404036" cy="384588"/>
            <a:chOff x="8597346" y="692270"/>
            <a:chExt cx="1404036" cy="384588"/>
          </a:xfrm>
        </p:grpSpPr>
        <p:sp>
          <p:nvSpPr>
            <p:cNvPr id="1512" name="Google Shape;1512;p17"/>
            <p:cNvSpPr/>
            <p:nvPr/>
          </p:nvSpPr>
          <p:spPr>
            <a:xfrm>
              <a:off x="8597936" y="756182"/>
              <a:ext cx="1403446"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13" name="Google Shape;1513;p17"/>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514" name="Google Shape;1514;p17"/>
            <p:cNvSpPr txBox="1"/>
            <p:nvPr/>
          </p:nvSpPr>
          <p:spPr>
            <a:xfrm>
              <a:off x="8597346" y="692270"/>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grpSp>
      <p:sp>
        <p:nvSpPr>
          <p:cNvPr id="1515" name="Google Shape;1515;p17"/>
          <p:cNvSpPr/>
          <p:nvPr/>
        </p:nvSpPr>
        <p:spPr>
          <a:xfrm>
            <a:off x="5864224" y="2340021"/>
            <a:ext cx="1063879"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16" name="Google Shape;1516;p17"/>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517" name="Google Shape;1517;p17"/>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518" name="Google Shape;1518;p17"/>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519" name="Google Shape;1519;p17"/>
          <p:cNvSpPr/>
          <p:nvPr/>
        </p:nvSpPr>
        <p:spPr>
          <a:xfrm>
            <a:off x="5864224" y="2291365"/>
            <a:ext cx="1063879" cy="300547"/>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20" name="Google Shape;1520;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grpSp>
        <p:nvGrpSpPr>
          <p:cNvPr id="1526" name="Google Shape;1526;p18"/>
          <p:cNvGrpSpPr/>
          <p:nvPr/>
        </p:nvGrpSpPr>
        <p:grpSpPr>
          <a:xfrm>
            <a:off x="141514" y="827314"/>
            <a:ext cx="11908971" cy="4739615"/>
            <a:chOff x="2511281" y="3262667"/>
            <a:chExt cx="7770812" cy="3121540"/>
          </a:xfrm>
        </p:grpSpPr>
        <p:sp>
          <p:nvSpPr>
            <p:cNvPr id="1527" name="Google Shape;1527;p18"/>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28" name="Google Shape;1528;p18"/>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29" name="Google Shape;1529;p18"/>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30" name="Google Shape;1530;p18"/>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531" name="Google Shape;1531;p18"/>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32" name="Google Shape;1532;p18"/>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533" name="Google Shape;1533;p18"/>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34" name="Google Shape;1534;p18"/>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35" name="Google Shape;1535;p18"/>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536" name="Google Shape;1536;p18"/>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537" name="Google Shape;1537;p18"/>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538" name="Google Shape;1538;p18"/>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39" name="Google Shape;1539;p18"/>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40" name="Google Shape;1540;p18"/>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41" name="Google Shape;1541;p18"/>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42" name="Google Shape;1542;p18"/>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43" name="Google Shape;1543;p18"/>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44" name="Google Shape;1544;p18"/>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45" name="Google Shape;1545;p18"/>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546" name="Google Shape;1546;p18"/>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47" name="Google Shape;1547;p18"/>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48" name="Google Shape;1548;p18"/>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549" name="Google Shape;1549;p18"/>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0" name="Google Shape;1550;p18"/>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1" name="Google Shape;1551;p18"/>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52" name="Google Shape;1552;p18"/>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53" name="Google Shape;1553;p18"/>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54" name="Google Shape;1554;p18"/>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55" name="Google Shape;1555;p18"/>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56" name="Google Shape;1556;p18"/>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57" name="Google Shape;1557;p18"/>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58" name="Google Shape;1558;p18"/>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559" name="Google Shape;1559;p18"/>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60" name="Google Shape;1560;p18"/>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61" name="Google Shape;1561;p18"/>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562" name="Google Shape;1562;p18"/>
            <p:cNvGrpSpPr/>
            <p:nvPr/>
          </p:nvGrpSpPr>
          <p:grpSpPr>
            <a:xfrm>
              <a:off x="2511281" y="5555532"/>
              <a:ext cx="800100" cy="828675"/>
              <a:chOff x="-44" y="1473"/>
              <a:chExt cx="981" cy="1105"/>
            </a:xfrm>
          </p:grpSpPr>
          <p:pic>
            <p:nvPicPr>
              <p:cNvPr descr="desktop_computer_stylized_medium" id="1563" name="Google Shape;1563;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64" name="Google Shape;1564;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565" name="Google Shape;1565;p18"/>
            <p:cNvGrpSpPr/>
            <p:nvPr/>
          </p:nvGrpSpPr>
          <p:grpSpPr>
            <a:xfrm flipH="1">
              <a:off x="9493106" y="5469807"/>
              <a:ext cx="788987" cy="782637"/>
              <a:chOff x="-44" y="1473"/>
              <a:chExt cx="981" cy="1105"/>
            </a:xfrm>
          </p:grpSpPr>
          <p:pic>
            <p:nvPicPr>
              <p:cNvPr descr="desktop_computer_stylized_medium" id="1566" name="Google Shape;1566;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67" name="Google Shape;1567;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568" name="Google Shape;1568;p18"/>
            <p:cNvGrpSpPr/>
            <p:nvPr/>
          </p:nvGrpSpPr>
          <p:grpSpPr>
            <a:xfrm>
              <a:off x="5083031" y="5055469"/>
              <a:ext cx="358775" cy="704850"/>
              <a:chOff x="4140" y="429"/>
              <a:chExt cx="1425" cy="2396"/>
            </a:xfrm>
          </p:grpSpPr>
          <p:sp>
            <p:nvSpPr>
              <p:cNvPr id="1569" name="Google Shape;1569;p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0" name="Google Shape;1570;p1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1" name="Google Shape;1571;p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2" name="Google Shape;1572;p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3" name="Google Shape;1573;p1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74" name="Google Shape;1574;p18"/>
              <p:cNvGrpSpPr/>
              <p:nvPr/>
            </p:nvGrpSpPr>
            <p:grpSpPr>
              <a:xfrm>
                <a:off x="4751" y="667"/>
                <a:ext cx="580" cy="146"/>
                <a:chOff x="617" y="2567"/>
                <a:chExt cx="724" cy="140"/>
              </a:xfrm>
            </p:grpSpPr>
            <p:sp>
              <p:nvSpPr>
                <p:cNvPr id="1575" name="Google Shape;1575;p1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6" name="Google Shape;1576;p1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77" name="Google Shape;1577;p1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78" name="Google Shape;1578;p18"/>
              <p:cNvGrpSpPr/>
              <p:nvPr/>
            </p:nvGrpSpPr>
            <p:grpSpPr>
              <a:xfrm>
                <a:off x="4745" y="996"/>
                <a:ext cx="580" cy="156"/>
                <a:chOff x="612" y="2570"/>
                <a:chExt cx="724" cy="162"/>
              </a:xfrm>
            </p:grpSpPr>
            <p:sp>
              <p:nvSpPr>
                <p:cNvPr id="1579" name="Google Shape;1579;p1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0" name="Google Shape;1580;p1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81" name="Google Shape;1581;p1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2" name="Google Shape;1582;p1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83" name="Google Shape;1583;p18"/>
              <p:cNvGrpSpPr/>
              <p:nvPr/>
            </p:nvGrpSpPr>
            <p:grpSpPr>
              <a:xfrm>
                <a:off x="4733" y="1627"/>
                <a:ext cx="586" cy="151"/>
                <a:chOff x="611" y="2568"/>
                <a:chExt cx="730" cy="139"/>
              </a:xfrm>
            </p:grpSpPr>
            <p:sp>
              <p:nvSpPr>
                <p:cNvPr id="1584" name="Google Shape;1584;p1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5" name="Google Shape;1585;p1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86" name="Google Shape;1586;p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87" name="Google Shape;1587;p18"/>
              <p:cNvGrpSpPr/>
              <p:nvPr/>
            </p:nvGrpSpPr>
            <p:grpSpPr>
              <a:xfrm>
                <a:off x="4739" y="1325"/>
                <a:ext cx="580" cy="140"/>
                <a:chOff x="614" y="2566"/>
                <a:chExt cx="723" cy="140"/>
              </a:xfrm>
            </p:grpSpPr>
            <p:sp>
              <p:nvSpPr>
                <p:cNvPr id="1588" name="Google Shape;1588;p1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89" name="Google Shape;1589;p1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90" name="Google Shape;1590;p1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1" name="Google Shape;1591;p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2" name="Google Shape;1592;p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3" name="Google Shape;1593;p1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4" name="Google Shape;1594;p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5" name="Google Shape;1595;p1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6" name="Google Shape;1596;p1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7" name="Google Shape;1597;p1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98" name="Google Shape;1598;p1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599" name="Google Shape;1599;p1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00" name="Google Shape;1600;p1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601" name="Google Shape;1601;p18"/>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602" name="Google Shape;1602;p18"/>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603" name="Google Shape;1603;p18"/>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604" name="Google Shape;1604;p18"/>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605" name="Google Shape;1605;p18"/>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606" name="Google Shape;1606;p18"/>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607" name="Google Shape;1607;p18"/>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608" name="Google Shape;1608;p18"/>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609" name="Google Shape;1609;p18"/>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610" name="Google Shape;1610;p18"/>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611" name="Google Shape;1611;p18"/>
          <p:cNvGrpSpPr/>
          <p:nvPr/>
        </p:nvGrpSpPr>
        <p:grpSpPr>
          <a:xfrm>
            <a:off x="5525255" y="2683797"/>
            <a:ext cx="1407618" cy="386166"/>
            <a:chOff x="8593764" y="690692"/>
            <a:chExt cx="1407618" cy="386166"/>
          </a:xfrm>
        </p:grpSpPr>
        <p:sp>
          <p:nvSpPr>
            <p:cNvPr id="1612" name="Google Shape;1612;p18"/>
            <p:cNvSpPr/>
            <p:nvPr/>
          </p:nvSpPr>
          <p:spPr>
            <a:xfrm>
              <a:off x="8597936" y="756182"/>
              <a:ext cx="1403446"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3" name="Google Shape;1613;p18"/>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614" name="Google Shape;1614;p18"/>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grpSp>
      <p:grpSp>
        <p:nvGrpSpPr>
          <p:cNvPr id="1615" name="Google Shape;1615;p18"/>
          <p:cNvGrpSpPr/>
          <p:nvPr/>
        </p:nvGrpSpPr>
        <p:grpSpPr>
          <a:xfrm>
            <a:off x="5272320" y="3145339"/>
            <a:ext cx="1651423" cy="389371"/>
            <a:chOff x="8349959" y="687487"/>
            <a:chExt cx="1651423" cy="389371"/>
          </a:xfrm>
        </p:grpSpPr>
        <p:sp>
          <p:nvSpPr>
            <p:cNvPr id="1616" name="Google Shape;1616;p18"/>
            <p:cNvSpPr/>
            <p:nvPr/>
          </p:nvSpPr>
          <p:spPr>
            <a:xfrm>
              <a:off x="8369532" y="756182"/>
              <a:ext cx="1631850"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7" name="Google Shape;1617;p18"/>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618" name="Google Shape;1618;p18"/>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sp>
          <p:nvSpPr>
            <p:cNvPr id="1619" name="Google Shape;1619;p18"/>
            <p:cNvSpPr txBox="1"/>
            <p:nvPr/>
          </p:nvSpPr>
          <p:spPr>
            <a:xfrm>
              <a:off x="8349959" y="687487"/>
              <a:ext cx="4090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n</a:t>
              </a:r>
              <a:endParaRPr b="0" baseline="-25000" i="0" sz="1800" u="none" cap="none" strike="noStrike">
                <a:solidFill>
                  <a:srgbClr val="000000"/>
                </a:solidFill>
                <a:latin typeface="Calibri"/>
                <a:ea typeface="Calibri"/>
                <a:cs typeface="Calibri"/>
                <a:sym typeface="Calibri"/>
              </a:endParaRPr>
            </a:p>
          </p:txBody>
        </p:sp>
      </p:grpSp>
      <p:sp>
        <p:nvSpPr>
          <p:cNvPr id="1620" name="Google Shape;1620;p18"/>
          <p:cNvSpPr/>
          <p:nvPr/>
        </p:nvSpPr>
        <p:spPr>
          <a:xfrm>
            <a:off x="5864224" y="2340021"/>
            <a:ext cx="1063879"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1" name="Google Shape;1621;p18"/>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622" name="Google Shape;1622;p18"/>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623" name="Google Shape;1623;p18"/>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624" name="Google Shape;1624;p18"/>
          <p:cNvSpPr/>
          <p:nvPr/>
        </p:nvSpPr>
        <p:spPr>
          <a:xfrm>
            <a:off x="5864224" y="2291365"/>
            <a:ext cx="1063879" cy="300547"/>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5" name="Google Shape;1625;p18"/>
          <p:cNvSpPr/>
          <p:nvPr/>
        </p:nvSpPr>
        <p:spPr>
          <a:xfrm>
            <a:off x="5474955" y="2744519"/>
            <a:ext cx="1478052" cy="284266"/>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6" name="Google Shape;1626;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grpSp>
        <p:nvGrpSpPr>
          <p:cNvPr id="1632" name="Google Shape;1632;p19"/>
          <p:cNvGrpSpPr/>
          <p:nvPr/>
        </p:nvGrpSpPr>
        <p:grpSpPr>
          <a:xfrm>
            <a:off x="141514" y="827314"/>
            <a:ext cx="11908971" cy="4739615"/>
            <a:chOff x="2511281" y="3262667"/>
            <a:chExt cx="7770812" cy="3121540"/>
          </a:xfrm>
        </p:grpSpPr>
        <p:sp>
          <p:nvSpPr>
            <p:cNvPr id="1633" name="Google Shape;1633;p19"/>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34" name="Google Shape;1634;p19"/>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35" name="Google Shape;1635;p19"/>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36" name="Google Shape;1636;p19"/>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637" name="Google Shape;1637;p19"/>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38" name="Google Shape;1638;p19"/>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639" name="Google Shape;1639;p19"/>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40" name="Google Shape;1640;p19"/>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41" name="Google Shape;1641;p19"/>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642" name="Google Shape;1642;p19"/>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643" name="Google Shape;1643;p19"/>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644" name="Google Shape;1644;p19"/>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45" name="Google Shape;1645;p19"/>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46" name="Google Shape;1646;p19"/>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47" name="Google Shape;1647;p19"/>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48" name="Google Shape;1648;p19"/>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49" name="Google Shape;1649;p19"/>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50" name="Google Shape;1650;p19"/>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51" name="Google Shape;1651;p19"/>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652" name="Google Shape;1652;p19"/>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53" name="Google Shape;1653;p19"/>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54" name="Google Shape;1654;p19"/>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655" name="Google Shape;1655;p19"/>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6" name="Google Shape;1656;p19"/>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7" name="Google Shape;1657;p19"/>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58" name="Google Shape;1658;p19"/>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59" name="Google Shape;1659;p19"/>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60" name="Google Shape;1660;p19"/>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61" name="Google Shape;1661;p19"/>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62" name="Google Shape;1662;p19"/>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63" name="Google Shape;1663;p19"/>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64" name="Google Shape;1664;p19"/>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665" name="Google Shape;1665;p19"/>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66" name="Google Shape;1666;p19"/>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67" name="Google Shape;1667;p19"/>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668" name="Google Shape;1668;p19"/>
            <p:cNvGrpSpPr/>
            <p:nvPr/>
          </p:nvGrpSpPr>
          <p:grpSpPr>
            <a:xfrm>
              <a:off x="2511281" y="5555532"/>
              <a:ext cx="800100" cy="828675"/>
              <a:chOff x="-44" y="1473"/>
              <a:chExt cx="981" cy="1105"/>
            </a:xfrm>
          </p:grpSpPr>
          <p:pic>
            <p:nvPicPr>
              <p:cNvPr descr="desktop_computer_stylized_medium" id="1669" name="Google Shape;1669;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70" name="Google Shape;1670;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671" name="Google Shape;1671;p19"/>
            <p:cNvGrpSpPr/>
            <p:nvPr/>
          </p:nvGrpSpPr>
          <p:grpSpPr>
            <a:xfrm flipH="1">
              <a:off x="9493106" y="5469807"/>
              <a:ext cx="788987" cy="782637"/>
              <a:chOff x="-44" y="1473"/>
              <a:chExt cx="981" cy="1105"/>
            </a:xfrm>
          </p:grpSpPr>
          <p:pic>
            <p:nvPicPr>
              <p:cNvPr descr="desktop_computer_stylized_medium" id="1672" name="Google Shape;1672;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73" name="Google Shape;1673;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674" name="Google Shape;1674;p19"/>
            <p:cNvGrpSpPr/>
            <p:nvPr/>
          </p:nvGrpSpPr>
          <p:grpSpPr>
            <a:xfrm>
              <a:off x="5083031" y="5055469"/>
              <a:ext cx="358775" cy="704850"/>
              <a:chOff x="4140" y="429"/>
              <a:chExt cx="1425" cy="2396"/>
            </a:xfrm>
          </p:grpSpPr>
          <p:sp>
            <p:nvSpPr>
              <p:cNvPr id="1675" name="Google Shape;1675;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6" name="Google Shape;1676;p1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7" name="Google Shape;1677;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8" name="Google Shape;1678;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9" name="Google Shape;1679;p1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80" name="Google Shape;1680;p19"/>
              <p:cNvGrpSpPr/>
              <p:nvPr/>
            </p:nvGrpSpPr>
            <p:grpSpPr>
              <a:xfrm>
                <a:off x="4751" y="667"/>
                <a:ext cx="580" cy="146"/>
                <a:chOff x="617" y="2567"/>
                <a:chExt cx="724" cy="140"/>
              </a:xfrm>
            </p:grpSpPr>
            <p:sp>
              <p:nvSpPr>
                <p:cNvPr id="1681" name="Google Shape;1681;p1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82" name="Google Shape;1682;p1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83" name="Google Shape;1683;p1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84" name="Google Shape;1684;p19"/>
              <p:cNvGrpSpPr/>
              <p:nvPr/>
            </p:nvGrpSpPr>
            <p:grpSpPr>
              <a:xfrm>
                <a:off x="4745" y="996"/>
                <a:ext cx="580" cy="156"/>
                <a:chOff x="612" y="2570"/>
                <a:chExt cx="724" cy="162"/>
              </a:xfrm>
            </p:grpSpPr>
            <p:sp>
              <p:nvSpPr>
                <p:cNvPr id="1685" name="Google Shape;1685;p1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86" name="Google Shape;1686;p1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87" name="Google Shape;1687;p1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88" name="Google Shape;1688;p1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89" name="Google Shape;1689;p19"/>
              <p:cNvGrpSpPr/>
              <p:nvPr/>
            </p:nvGrpSpPr>
            <p:grpSpPr>
              <a:xfrm>
                <a:off x="4733" y="1627"/>
                <a:ext cx="586" cy="151"/>
                <a:chOff x="611" y="2568"/>
                <a:chExt cx="730" cy="139"/>
              </a:xfrm>
            </p:grpSpPr>
            <p:sp>
              <p:nvSpPr>
                <p:cNvPr id="1690" name="Google Shape;1690;p1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1" name="Google Shape;1691;p1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92" name="Google Shape;1692;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93" name="Google Shape;1693;p19"/>
              <p:cNvGrpSpPr/>
              <p:nvPr/>
            </p:nvGrpSpPr>
            <p:grpSpPr>
              <a:xfrm>
                <a:off x="4739" y="1325"/>
                <a:ext cx="580" cy="140"/>
                <a:chOff x="614" y="2566"/>
                <a:chExt cx="723" cy="140"/>
              </a:xfrm>
            </p:grpSpPr>
            <p:sp>
              <p:nvSpPr>
                <p:cNvPr id="1694" name="Google Shape;1694;p1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5" name="Google Shape;1695;p1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96" name="Google Shape;1696;p1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7" name="Google Shape;1697;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8" name="Google Shape;1698;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99" name="Google Shape;1699;p1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0" name="Google Shape;1700;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1" name="Google Shape;1701;p1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2" name="Google Shape;1702;p1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3" name="Google Shape;1703;p1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4" name="Google Shape;1704;p1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705" name="Google Shape;1705;p1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6" name="Google Shape;1706;p1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707" name="Google Shape;1707;p19"/>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708" name="Google Shape;1708;p19"/>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709" name="Google Shape;1709;p19"/>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710" name="Google Shape;1710;p19"/>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711" name="Google Shape;1711;p19"/>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712" name="Google Shape;1712;p19"/>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713" name="Google Shape;1713;p19"/>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714" name="Google Shape;1714;p19"/>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715" name="Google Shape;1715;p19"/>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716" name="Google Shape;1716;p19"/>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717" name="Google Shape;1717;p19"/>
          <p:cNvGrpSpPr/>
          <p:nvPr/>
        </p:nvGrpSpPr>
        <p:grpSpPr>
          <a:xfrm>
            <a:off x="4107096" y="5561831"/>
            <a:ext cx="1651423" cy="389371"/>
            <a:chOff x="8349959" y="687487"/>
            <a:chExt cx="1651423" cy="389371"/>
          </a:xfrm>
        </p:grpSpPr>
        <p:sp>
          <p:nvSpPr>
            <p:cNvPr id="1718" name="Google Shape;1718;p19"/>
            <p:cNvSpPr/>
            <p:nvPr/>
          </p:nvSpPr>
          <p:spPr>
            <a:xfrm>
              <a:off x="8369532" y="756182"/>
              <a:ext cx="1631850"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19" name="Google Shape;1719;p19"/>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720" name="Google Shape;1720;p19"/>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sp>
          <p:nvSpPr>
            <p:cNvPr id="1721" name="Google Shape;1721;p19"/>
            <p:cNvSpPr txBox="1"/>
            <p:nvPr/>
          </p:nvSpPr>
          <p:spPr>
            <a:xfrm>
              <a:off x="8349959" y="687487"/>
              <a:ext cx="4090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n</a:t>
              </a:r>
              <a:endParaRPr b="0" baseline="-25000" i="0" sz="1800" u="none" cap="none" strike="noStrike">
                <a:solidFill>
                  <a:srgbClr val="000000"/>
                </a:solidFill>
                <a:latin typeface="Calibri"/>
                <a:ea typeface="Calibri"/>
                <a:cs typeface="Calibri"/>
                <a:sym typeface="Calibri"/>
              </a:endParaRPr>
            </a:p>
          </p:txBody>
        </p:sp>
      </p:grpSp>
      <p:cxnSp>
        <p:nvCxnSpPr>
          <p:cNvPr id="1722" name="Google Shape;1722;p19"/>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723" name="Google Shape;1723;p19"/>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cxnSp>
        <p:nvCxnSpPr>
          <p:cNvPr id="1724" name="Google Shape;1724;p19"/>
          <p:cNvCxnSpPr/>
          <p:nvPr/>
        </p:nvCxnSpPr>
        <p:spPr>
          <a:xfrm rot="10800000">
            <a:off x="3701909" y="5774614"/>
            <a:ext cx="300263" cy="0"/>
          </a:xfrm>
          <a:prstGeom prst="straightConnector1">
            <a:avLst/>
          </a:prstGeom>
          <a:noFill/>
          <a:ln cap="flat" cmpd="sng" w="25400">
            <a:solidFill>
              <a:schemeClr val="accent1"/>
            </a:solidFill>
            <a:prstDash val="solid"/>
            <a:miter lim="800000"/>
            <a:headEnd len="sm" w="sm" type="none"/>
            <a:tailEnd len="med" w="med" type="triangle"/>
          </a:ln>
        </p:spPr>
      </p:cxnSp>
      <p:sp>
        <p:nvSpPr>
          <p:cNvPr id="1725" name="Google Shape;1725;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17"/>
                                        </p:tgtEl>
                                        <p:attrNameLst>
                                          <p:attrName>style.visibility</p:attrName>
                                        </p:attrNameLst>
                                      </p:cBhvr>
                                      <p:to>
                                        <p:strVal val="visible"/>
                                      </p:to>
                                    </p:set>
                                    <p:animEffect filter="fade" transition="in">
                                      <p:cBhvr>
                                        <p:cTn dur="500"/>
                                        <p:tgtEl>
                                          <p:spTgt spid="17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24"/>
                                        </p:tgtEl>
                                        <p:attrNameLst>
                                          <p:attrName>style.visibility</p:attrName>
                                        </p:attrNameLst>
                                      </p:cBhvr>
                                      <p:to>
                                        <p:strVal val="visible"/>
                                      </p:to>
                                    </p:set>
                                    <p:animEffect filter="fade" transition="in">
                                      <p:cBhvr>
                                        <p:cTn dur="500"/>
                                        <p:tgtEl>
                                          <p:spTgt spid="17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0" name="Shape 1730"/>
        <p:cNvGrpSpPr/>
        <p:nvPr/>
      </p:nvGrpSpPr>
      <p:grpSpPr>
        <a:xfrm>
          <a:off x="0" y="0"/>
          <a:ext cx="0" cy="0"/>
          <a:chOff x="0" y="0"/>
          <a:chExt cx="0" cy="0"/>
        </a:xfrm>
      </p:grpSpPr>
      <p:grpSp>
        <p:nvGrpSpPr>
          <p:cNvPr id="1731" name="Google Shape;1731;p20"/>
          <p:cNvGrpSpPr/>
          <p:nvPr/>
        </p:nvGrpSpPr>
        <p:grpSpPr>
          <a:xfrm>
            <a:off x="141514" y="827314"/>
            <a:ext cx="11908971" cy="4739615"/>
            <a:chOff x="2511281" y="3262667"/>
            <a:chExt cx="7770812" cy="3121540"/>
          </a:xfrm>
        </p:grpSpPr>
        <p:sp>
          <p:nvSpPr>
            <p:cNvPr id="1732" name="Google Shape;1732;p20"/>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33" name="Google Shape;1733;p20"/>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34" name="Google Shape;1734;p20"/>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35" name="Google Shape;1735;p20"/>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736" name="Google Shape;1736;p20"/>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37" name="Google Shape;1737;p20"/>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738" name="Google Shape;1738;p20"/>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39" name="Google Shape;1739;p20"/>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40" name="Google Shape;1740;p20"/>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741" name="Google Shape;1741;p20"/>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742" name="Google Shape;1742;p20"/>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743" name="Google Shape;1743;p20"/>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44" name="Google Shape;1744;p20"/>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45" name="Google Shape;1745;p20"/>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46" name="Google Shape;1746;p20"/>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47" name="Google Shape;1747;p20"/>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48" name="Google Shape;1748;p20"/>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49" name="Google Shape;1749;p20"/>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50" name="Google Shape;1750;p20"/>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751" name="Google Shape;1751;p20"/>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52" name="Google Shape;1752;p20"/>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53" name="Google Shape;1753;p20"/>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754" name="Google Shape;1754;p20"/>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5" name="Google Shape;1755;p20"/>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6" name="Google Shape;1756;p20"/>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57" name="Google Shape;1757;p20"/>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58" name="Google Shape;1758;p20"/>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59" name="Google Shape;1759;p20"/>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60" name="Google Shape;1760;p20"/>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61" name="Google Shape;1761;p20"/>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62" name="Google Shape;1762;p20"/>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63" name="Google Shape;1763;p20"/>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764" name="Google Shape;1764;p20"/>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65" name="Google Shape;1765;p20"/>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66" name="Google Shape;1766;p20"/>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767" name="Google Shape;1767;p20"/>
            <p:cNvGrpSpPr/>
            <p:nvPr/>
          </p:nvGrpSpPr>
          <p:grpSpPr>
            <a:xfrm>
              <a:off x="2511281" y="5555532"/>
              <a:ext cx="800100" cy="828675"/>
              <a:chOff x="-44" y="1473"/>
              <a:chExt cx="981" cy="1105"/>
            </a:xfrm>
          </p:grpSpPr>
          <p:pic>
            <p:nvPicPr>
              <p:cNvPr descr="desktop_computer_stylized_medium" id="1768" name="Google Shape;1768;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769" name="Google Shape;1769;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770" name="Google Shape;1770;p20"/>
            <p:cNvGrpSpPr/>
            <p:nvPr/>
          </p:nvGrpSpPr>
          <p:grpSpPr>
            <a:xfrm flipH="1">
              <a:off x="9493106" y="5469807"/>
              <a:ext cx="788987" cy="782637"/>
              <a:chOff x="-44" y="1473"/>
              <a:chExt cx="981" cy="1105"/>
            </a:xfrm>
          </p:grpSpPr>
          <p:pic>
            <p:nvPicPr>
              <p:cNvPr descr="desktop_computer_stylized_medium" id="1771" name="Google Shape;1771;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772" name="Google Shape;1772;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773" name="Google Shape;1773;p20"/>
            <p:cNvGrpSpPr/>
            <p:nvPr/>
          </p:nvGrpSpPr>
          <p:grpSpPr>
            <a:xfrm>
              <a:off x="5083031" y="5055469"/>
              <a:ext cx="358775" cy="704850"/>
              <a:chOff x="4140" y="429"/>
              <a:chExt cx="1425" cy="2396"/>
            </a:xfrm>
          </p:grpSpPr>
          <p:sp>
            <p:nvSpPr>
              <p:cNvPr id="1774" name="Google Shape;1774;p2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5" name="Google Shape;1775;p20"/>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6" name="Google Shape;1776;p2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7" name="Google Shape;1777;p2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8" name="Google Shape;1778;p20"/>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79" name="Google Shape;1779;p20"/>
              <p:cNvGrpSpPr/>
              <p:nvPr/>
            </p:nvGrpSpPr>
            <p:grpSpPr>
              <a:xfrm>
                <a:off x="4751" y="667"/>
                <a:ext cx="580" cy="146"/>
                <a:chOff x="617" y="2567"/>
                <a:chExt cx="724" cy="140"/>
              </a:xfrm>
            </p:grpSpPr>
            <p:sp>
              <p:nvSpPr>
                <p:cNvPr id="1780" name="Google Shape;1780;p20"/>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1" name="Google Shape;1781;p20"/>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82" name="Google Shape;1782;p20"/>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83" name="Google Shape;1783;p20"/>
              <p:cNvGrpSpPr/>
              <p:nvPr/>
            </p:nvGrpSpPr>
            <p:grpSpPr>
              <a:xfrm>
                <a:off x="4745" y="996"/>
                <a:ext cx="580" cy="156"/>
                <a:chOff x="612" y="2570"/>
                <a:chExt cx="724" cy="162"/>
              </a:xfrm>
            </p:grpSpPr>
            <p:sp>
              <p:nvSpPr>
                <p:cNvPr id="1784" name="Google Shape;1784;p20"/>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5" name="Google Shape;1785;p20"/>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86" name="Google Shape;1786;p20"/>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7" name="Google Shape;1787;p20"/>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88" name="Google Shape;1788;p20"/>
              <p:cNvGrpSpPr/>
              <p:nvPr/>
            </p:nvGrpSpPr>
            <p:grpSpPr>
              <a:xfrm>
                <a:off x="4733" y="1627"/>
                <a:ext cx="586" cy="151"/>
                <a:chOff x="611" y="2568"/>
                <a:chExt cx="730" cy="139"/>
              </a:xfrm>
            </p:grpSpPr>
            <p:sp>
              <p:nvSpPr>
                <p:cNvPr id="1789" name="Google Shape;1789;p20"/>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0" name="Google Shape;1790;p20"/>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91" name="Google Shape;1791;p2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92" name="Google Shape;1792;p20"/>
              <p:cNvGrpSpPr/>
              <p:nvPr/>
            </p:nvGrpSpPr>
            <p:grpSpPr>
              <a:xfrm>
                <a:off x="4739" y="1325"/>
                <a:ext cx="580" cy="140"/>
                <a:chOff x="614" y="2566"/>
                <a:chExt cx="723" cy="140"/>
              </a:xfrm>
            </p:grpSpPr>
            <p:sp>
              <p:nvSpPr>
                <p:cNvPr id="1793" name="Google Shape;1793;p20"/>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4" name="Google Shape;1794;p20"/>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95" name="Google Shape;1795;p20"/>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6" name="Google Shape;1796;p2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7" name="Google Shape;1797;p2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8" name="Google Shape;1798;p20"/>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99" name="Google Shape;1799;p2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0" name="Google Shape;1800;p20"/>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1" name="Google Shape;1801;p20"/>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2" name="Google Shape;1802;p20"/>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3" name="Google Shape;1803;p20"/>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804" name="Google Shape;1804;p20"/>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5" name="Google Shape;1805;p20"/>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806" name="Google Shape;1806;p20"/>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807" name="Google Shape;1807;p20"/>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808" name="Google Shape;1808;p20"/>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809" name="Google Shape;1809;p20"/>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810" name="Google Shape;1810;p20"/>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811" name="Google Shape;1811;p20"/>
            <p:cNvSpPr txBox="1"/>
            <p:nvPr/>
          </p:nvSpPr>
          <p:spPr>
            <a:xfrm>
              <a:off x="3822815" y="3627317"/>
              <a:ext cx="721857" cy="3445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r>
                <a:rPr b="0" baseline="-25000" i="0" lang="en-US" sz="2800" u="none" cap="none" strike="noStrike">
                  <a:solidFill>
                    <a:srgbClr val="000000"/>
                  </a:solidFill>
                  <a:latin typeface="Calibri"/>
                  <a:ea typeface="Calibri"/>
                  <a:cs typeface="Calibri"/>
                  <a:sym typeface="Calibri"/>
                </a:rPr>
                <a:t>1</a:t>
              </a:r>
              <a:endParaRPr/>
            </a:p>
          </p:txBody>
        </p:sp>
        <p:pic>
          <p:nvPicPr>
            <p:cNvPr descr="Image result for netflix logo png" id="1812" name="Google Shape;1812;p20"/>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sp>
          <p:nvSpPr>
            <p:cNvPr id="1813" name="Google Shape;1813;p20"/>
            <p:cNvSpPr txBox="1"/>
            <p:nvPr/>
          </p:nvSpPr>
          <p:spPr>
            <a:xfrm>
              <a:off x="8196770" y="3636485"/>
              <a:ext cx="721857" cy="3445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r>
                <a:rPr b="0" baseline="-25000" i="0" lang="en-US" sz="2800" u="none" cap="none" strike="noStrike">
                  <a:solidFill>
                    <a:srgbClr val="000000"/>
                  </a:solidFill>
                  <a:latin typeface="Calibri"/>
                  <a:ea typeface="Calibri"/>
                  <a:cs typeface="Calibri"/>
                  <a:sym typeface="Calibri"/>
                </a:rPr>
                <a:t>2</a:t>
              </a:r>
              <a:endParaRPr/>
            </a:p>
          </p:txBody>
        </p:sp>
      </p:grpSp>
      <p:sp>
        <p:nvSpPr>
          <p:cNvPr id="1814" name="Google Shape;1814;p20"/>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1815" name="Google Shape;1815;p20"/>
          <p:cNvCxnSpPr/>
          <p:nvPr/>
        </p:nvCxnSpPr>
        <p:spPr>
          <a:xfrm>
            <a:off x="9704593" y="3018504"/>
            <a:ext cx="0" cy="2329600"/>
          </a:xfrm>
          <a:prstGeom prst="straightConnector1">
            <a:avLst/>
          </a:prstGeom>
          <a:noFill/>
          <a:ln cap="flat" cmpd="sng" w="44450">
            <a:solidFill>
              <a:schemeClr val="accent1"/>
            </a:solidFill>
            <a:prstDash val="solid"/>
            <a:miter lim="800000"/>
            <a:headEnd len="sm" w="sm" type="none"/>
            <a:tailEnd len="sm" w="sm" type="none"/>
          </a:ln>
        </p:spPr>
      </p:cxnSp>
      <p:cxnSp>
        <p:nvCxnSpPr>
          <p:cNvPr id="1816" name="Google Shape;1816;p20"/>
          <p:cNvCxnSpPr/>
          <p:nvPr/>
        </p:nvCxnSpPr>
        <p:spPr>
          <a:xfrm>
            <a:off x="6146230" y="5329338"/>
            <a:ext cx="3558363" cy="0"/>
          </a:xfrm>
          <a:prstGeom prst="straightConnector1">
            <a:avLst/>
          </a:prstGeom>
          <a:noFill/>
          <a:ln cap="flat" cmpd="sng" w="44450">
            <a:solidFill>
              <a:schemeClr val="accent1"/>
            </a:solidFill>
            <a:prstDash val="solid"/>
            <a:miter lim="800000"/>
            <a:headEnd len="sm" w="sm" type="none"/>
            <a:tailEnd len="sm" w="sm" type="none"/>
          </a:ln>
        </p:spPr>
      </p:cxnSp>
      <p:sp>
        <p:nvSpPr>
          <p:cNvPr id="1817" name="Google Shape;1817;p20"/>
          <p:cNvSpPr/>
          <p:nvPr/>
        </p:nvSpPr>
        <p:spPr>
          <a:xfrm>
            <a:off x="4977190" y="1924156"/>
            <a:ext cx="1049472" cy="530701"/>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P-client</a:t>
            </a:r>
            <a:r>
              <a:rPr b="0" baseline="-25000" i="0" lang="en-US" sz="1600" u="none" cap="none" strike="noStrike">
                <a:solidFill>
                  <a:srgbClr val="000000"/>
                </a:solidFill>
                <a:latin typeface="Arial"/>
                <a:ea typeface="Arial"/>
                <a:cs typeface="Arial"/>
                <a:sym typeface="Arial"/>
              </a:rPr>
              <a:t>1</a:t>
            </a:r>
            <a:endParaRPr/>
          </a:p>
        </p:txBody>
      </p:sp>
      <p:sp>
        <p:nvSpPr>
          <p:cNvPr id="1818" name="Google Shape;1818;p20"/>
          <p:cNvSpPr/>
          <p:nvPr/>
        </p:nvSpPr>
        <p:spPr>
          <a:xfrm>
            <a:off x="6094177" y="1951196"/>
            <a:ext cx="1049472" cy="530701"/>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P-client</a:t>
            </a:r>
            <a:r>
              <a:rPr b="0" baseline="-25000" i="0" lang="en-US" sz="1600" u="none" cap="none" strike="noStrike">
                <a:solidFill>
                  <a:srgbClr val="000000"/>
                </a:solidFill>
                <a:latin typeface="Arial"/>
                <a:ea typeface="Arial"/>
                <a:cs typeface="Arial"/>
                <a:sym typeface="Arial"/>
              </a:rPr>
              <a:t>2</a:t>
            </a:r>
            <a:endParaRPr/>
          </a:p>
        </p:txBody>
      </p:sp>
      <p:sp>
        <p:nvSpPr>
          <p:cNvPr id="1819" name="Google Shape;1819;p20"/>
          <p:cNvSpPr/>
          <p:nvPr/>
        </p:nvSpPr>
        <p:spPr>
          <a:xfrm>
            <a:off x="6149438" y="2346690"/>
            <a:ext cx="163654" cy="3001414"/>
          </a:xfrm>
          <a:custGeom>
            <a:rect b="b" l="l" r="r" t="t"/>
            <a:pathLst>
              <a:path extrusionOk="0" h="3006247" w="125260">
                <a:moveTo>
                  <a:pt x="0" y="3006247"/>
                </a:moveTo>
                <a:lnTo>
                  <a:pt x="0" y="125260"/>
                </a:lnTo>
                <a:lnTo>
                  <a:pt x="125260" y="0"/>
                </a:lnTo>
              </a:path>
            </a:pathLst>
          </a:custGeom>
          <a:noFill/>
          <a:ln cap="flat" cmpd="sng" w="34925">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0" name="Google Shape;1820;p20"/>
          <p:cNvSpPr/>
          <p:nvPr/>
        </p:nvSpPr>
        <p:spPr>
          <a:xfrm flipH="1">
            <a:off x="5797083" y="2342230"/>
            <a:ext cx="163654" cy="3099711"/>
          </a:xfrm>
          <a:custGeom>
            <a:rect b="b" l="l" r="r" t="t"/>
            <a:pathLst>
              <a:path extrusionOk="0" h="3006247" w="125260">
                <a:moveTo>
                  <a:pt x="0" y="3006247"/>
                </a:moveTo>
                <a:lnTo>
                  <a:pt x="0" y="125260"/>
                </a:lnTo>
                <a:lnTo>
                  <a:pt x="125260" y="0"/>
                </a:lnTo>
              </a:path>
            </a:pathLst>
          </a:custGeom>
          <a:noFill/>
          <a:ln cap="flat" cmpd="sng" w="38100">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821" name="Google Shape;1821;p20"/>
          <p:cNvCxnSpPr/>
          <p:nvPr/>
        </p:nvCxnSpPr>
        <p:spPr>
          <a:xfrm>
            <a:off x="3218929" y="3094306"/>
            <a:ext cx="0" cy="2329600"/>
          </a:xfrm>
          <a:prstGeom prst="straightConnector1">
            <a:avLst/>
          </a:prstGeom>
          <a:noFill/>
          <a:ln cap="flat" cmpd="sng" w="44450">
            <a:solidFill>
              <a:schemeClr val="accent1"/>
            </a:solidFill>
            <a:prstDash val="solid"/>
            <a:miter lim="800000"/>
            <a:headEnd len="sm" w="sm" type="none"/>
            <a:tailEnd len="sm" w="sm" type="none"/>
          </a:ln>
        </p:spPr>
      </p:cxnSp>
      <p:cxnSp>
        <p:nvCxnSpPr>
          <p:cNvPr id="1822" name="Google Shape;1822;p20"/>
          <p:cNvCxnSpPr/>
          <p:nvPr/>
        </p:nvCxnSpPr>
        <p:spPr>
          <a:xfrm>
            <a:off x="3189176" y="5423906"/>
            <a:ext cx="2771561" cy="0"/>
          </a:xfrm>
          <a:prstGeom prst="straightConnector1">
            <a:avLst/>
          </a:prstGeom>
          <a:noFill/>
          <a:ln cap="flat" cmpd="sng" w="44450">
            <a:solidFill>
              <a:schemeClr val="accent1"/>
            </a:solidFill>
            <a:prstDash val="solid"/>
            <a:miter lim="800000"/>
            <a:headEnd len="sm" w="sm" type="none"/>
            <a:tailEnd len="sm" w="sm" type="none"/>
          </a:ln>
        </p:spPr>
      </p:cxnSp>
      <p:pic>
        <p:nvPicPr>
          <p:cNvPr descr="Image result for blue question mark icon" id="1823" name="Google Shape;1823;p20"/>
          <p:cNvPicPr preferRelativeResize="0"/>
          <p:nvPr/>
        </p:nvPicPr>
        <p:blipFill rotWithShape="1">
          <a:blip r:embed="rId8">
            <a:alphaModFix/>
          </a:blip>
          <a:srcRect b="0" l="0" r="0" t="0"/>
          <a:stretch/>
        </p:blipFill>
        <p:spPr>
          <a:xfrm>
            <a:off x="5285255" y="752589"/>
            <a:ext cx="1624375" cy="1624375"/>
          </a:xfrm>
          <a:prstGeom prst="rect">
            <a:avLst/>
          </a:prstGeom>
          <a:noFill/>
          <a:ln>
            <a:noFill/>
          </a:ln>
        </p:spPr>
      </p:pic>
      <p:sp>
        <p:nvSpPr>
          <p:cNvPr id="1824" name="Google Shape;1824;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000"/>
                                  </p:stCondLst>
                                  <p:childTnLst>
                                    <p:set>
                                      <p:cBhvr>
                                        <p:cTn dur="1" fill="hold">
                                          <p:stCondLst>
                                            <p:cond delay="0"/>
                                          </p:stCondLst>
                                        </p:cTn>
                                        <p:tgtEl>
                                          <p:spTgt spid="1823"/>
                                        </p:tgtEl>
                                        <p:attrNameLst>
                                          <p:attrName>style.visibility</p:attrName>
                                        </p:attrNameLst>
                                      </p:cBhvr>
                                      <p:to>
                                        <p:strVal val="visible"/>
                                      </p:to>
                                    </p:set>
                                    <p:animEffect filter="fade" transition="in">
                                      <p:cBhvr>
                                        <p:cTn dur="1000"/>
                                        <p:tgtEl>
                                          <p:spTgt spid="18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sp>
        <p:nvSpPr>
          <p:cNvPr id="1830" name="Google Shape;1830;p2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Multiplexing/demultiplexing</a:t>
            </a:r>
            <a:endParaRPr/>
          </a:p>
        </p:txBody>
      </p:sp>
      <p:sp>
        <p:nvSpPr>
          <p:cNvPr id="1831" name="Google Shape;1831;p21"/>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32" name="Google Shape;1832;p21"/>
          <p:cNvSpPr txBox="1"/>
          <p:nvPr/>
        </p:nvSpPr>
        <p:spPr>
          <a:xfrm>
            <a:off x="10348768" y="4498257"/>
            <a:ext cx="8953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sp>
        <p:nvSpPr>
          <p:cNvPr id="1833" name="Google Shape;1833;p21"/>
          <p:cNvSpPr txBox="1"/>
          <p:nvPr/>
        </p:nvSpPr>
        <p:spPr>
          <a:xfrm>
            <a:off x="10323368" y="4096619"/>
            <a:ext cx="7556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socket</a:t>
            </a:r>
            <a:endParaRPr/>
          </a:p>
        </p:txBody>
      </p:sp>
      <p:grpSp>
        <p:nvGrpSpPr>
          <p:cNvPr id="1834" name="Google Shape;1834;p21"/>
          <p:cNvGrpSpPr/>
          <p:nvPr/>
        </p:nvGrpSpPr>
        <p:grpSpPr>
          <a:xfrm>
            <a:off x="7016607" y="1655043"/>
            <a:ext cx="4836313" cy="1639889"/>
            <a:chOff x="7016607" y="1655043"/>
            <a:chExt cx="4836313" cy="1639889"/>
          </a:xfrm>
        </p:grpSpPr>
        <p:sp>
          <p:nvSpPr>
            <p:cNvPr id="1835" name="Google Shape;1835;p21"/>
            <p:cNvSpPr/>
            <p:nvPr/>
          </p:nvSpPr>
          <p:spPr>
            <a:xfrm>
              <a:off x="7016607" y="1945555"/>
              <a:ext cx="4508220" cy="1251692"/>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836" name="Google Shape;1836;p21"/>
            <p:cNvGrpSpPr/>
            <p:nvPr/>
          </p:nvGrpSpPr>
          <p:grpSpPr>
            <a:xfrm>
              <a:off x="7172970" y="1655043"/>
              <a:ext cx="4679950" cy="1639889"/>
              <a:chOff x="2899" y="903"/>
              <a:chExt cx="2948" cy="1033"/>
            </a:xfrm>
          </p:grpSpPr>
          <p:sp>
            <p:nvSpPr>
              <p:cNvPr id="1837" name="Google Shape;1837;p21"/>
              <p:cNvSpPr/>
              <p:nvPr/>
            </p:nvSpPr>
            <p:spPr>
              <a:xfrm>
                <a:off x="2955" y="1148"/>
                <a:ext cx="2892" cy="788"/>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 header info to deliver</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received segments to correct </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socket</a:t>
                </a:r>
                <a:endParaRPr/>
              </a:p>
            </p:txBody>
          </p:sp>
          <p:grpSp>
            <p:nvGrpSpPr>
              <p:cNvPr id="1838" name="Google Shape;1838;p21"/>
              <p:cNvGrpSpPr/>
              <p:nvPr/>
            </p:nvGrpSpPr>
            <p:grpSpPr>
              <a:xfrm>
                <a:off x="2899" y="903"/>
                <a:ext cx="2553" cy="348"/>
                <a:chOff x="905" y="3594"/>
                <a:chExt cx="2049" cy="348"/>
              </a:xfrm>
            </p:grpSpPr>
            <p:sp>
              <p:nvSpPr>
                <p:cNvPr id="1839" name="Google Shape;1839;p21"/>
                <p:cNvSpPr/>
                <p:nvPr/>
              </p:nvSpPr>
              <p:spPr>
                <a:xfrm>
                  <a:off x="1422" y="3732"/>
                  <a:ext cx="1002" cy="21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40" name="Google Shape;1840;p21"/>
                <p:cNvSpPr txBox="1"/>
                <p:nvPr/>
              </p:nvSpPr>
              <p:spPr>
                <a:xfrm>
                  <a:off x="905" y="3594"/>
                  <a:ext cx="2049" cy="33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demultiplexing at receiver:</a:t>
                  </a:r>
                  <a:endParaRPr/>
                </a:p>
              </p:txBody>
            </p:sp>
          </p:grpSp>
        </p:grpSp>
      </p:grpSp>
      <p:grpSp>
        <p:nvGrpSpPr>
          <p:cNvPr id="1841" name="Google Shape;1841;p21"/>
          <p:cNvGrpSpPr/>
          <p:nvPr/>
        </p:nvGrpSpPr>
        <p:grpSpPr>
          <a:xfrm>
            <a:off x="9823306" y="4171232"/>
            <a:ext cx="533400" cy="206375"/>
            <a:chOff x="344" y="1846"/>
            <a:chExt cx="336" cy="130"/>
          </a:xfrm>
        </p:grpSpPr>
        <p:sp>
          <p:nvSpPr>
            <p:cNvPr id="1842" name="Google Shape;1842;p21"/>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43" name="Google Shape;1843;p21"/>
            <p:cNvSpPr/>
            <p:nvPr/>
          </p:nvSpPr>
          <p:spPr>
            <a:xfrm>
              <a:off x="454" y="186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44" name="Google Shape;1844;p21"/>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45" name="Google Shape;1845;p21"/>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846" name="Google Shape;1846;p21"/>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847" name="Google Shape;1847;p21"/>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848" name="Google Shape;1848;p21"/>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849" name="Google Shape;1849;p21"/>
          <p:cNvSpPr txBox="1"/>
          <p:nvPr/>
        </p:nvSpPr>
        <p:spPr>
          <a:xfrm>
            <a:off x="5698981" y="442999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850" name="Google Shape;1850;p21"/>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851" name="Google Shape;1851;p21"/>
          <p:cNvSpPr txBox="1"/>
          <p:nvPr/>
        </p:nvSpPr>
        <p:spPr>
          <a:xfrm>
            <a:off x="5695806" y="36441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852" name="Google Shape;1852;p21"/>
          <p:cNvSpPr txBox="1"/>
          <p:nvPr/>
        </p:nvSpPr>
        <p:spPr>
          <a:xfrm>
            <a:off x="5692631" y="53348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853" name="Google Shape;1853;p21"/>
          <p:cNvSpPr txBox="1"/>
          <p:nvPr/>
        </p:nvSpPr>
        <p:spPr>
          <a:xfrm>
            <a:off x="5692631" y="50491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854" name="Google Shape;1854;p21"/>
          <p:cNvSpPr txBox="1"/>
          <p:nvPr/>
        </p:nvSpPr>
        <p:spPr>
          <a:xfrm>
            <a:off x="5692631" y="47506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855" name="Google Shape;1855;p21"/>
          <p:cNvSpPr/>
          <p:nvPr/>
        </p:nvSpPr>
        <p:spPr>
          <a:xfrm>
            <a:off x="6392718" y="40188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P2</a:t>
            </a:r>
            <a:endParaRPr/>
          </a:p>
        </p:txBody>
      </p:sp>
      <p:cxnSp>
        <p:nvCxnSpPr>
          <p:cNvPr id="1856" name="Google Shape;1856;p21"/>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857" name="Google Shape;1857;p21"/>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858" name="Google Shape;1858;p21"/>
          <p:cNvSpPr/>
          <p:nvPr/>
        </p:nvSpPr>
        <p:spPr>
          <a:xfrm>
            <a:off x="5687868" y="40188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P1</a:t>
            </a:r>
            <a:endParaRPr/>
          </a:p>
        </p:txBody>
      </p:sp>
      <p:grpSp>
        <p:nvGrpSpPr>
          <p:cNvPr id="1859" name="Google Shape;1859;p21"/>
          <p:cNvGrpSpPr/>
          <p:nvPr/>
        </p:nvGrpSpPr>
        <p:grpSpPr>
          <a:xfrm>
            <a:off x="6468918" y="4377607"/>
            <a:ext cx="412750" cy="158750"/>
            <a:chOff x="1383" y="2620"/>
            <a:chExt cx="260" cy="100"/>
          </a:xfrm>
        </p:grpSpPr>
        <p:sp>
          <p:nvSpPr>
            <p:cNvPr id="1860" name="Google Shape;1860;p21"/>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1" name="Google Shape;1861;p21"/>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2" name="Google Shape;1862;p21"/>
            <p:cNvSpPr/>
            <p:nvPr/>
          </p:nvSpPr>
          <p:spPr>
            <a:xfrm>
              <a:off x="1599" y="2678"/>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3" name="Google Shape;1863;p21"/>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864" name="Google Shape;1864;p21"/>
          <p:cNvGrpSpPr/>
          <p:nvPr/>
        </p:nvGrpSpPr>
        <p:grpSpPr>
          <a:xfrm>
            <a:off x="5767243" y="4369669"/>
            <a:ext cx="412750" cy="158750"/>
            <a:chOff x="1383" y="2620"/>
            <a:chExt cx="260" cy="100"/>
          </a:xfrm>
        </p:grpSpPr>
        <p:sp>
          <p:nvSpPr>
            <p:cNvPr id="1865" name="Google Shape;1865;p21"/>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6" name="Google Shape;1866;p21"/>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7" name="Google Shape;1867;p21"/>
            <p:cNvSpPr/>
            <p:nvPr/>
          </p:nvSpPr>
          <p:spPr>
            <a:xfrm>
              <a:off x="1599" y="2678"/>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8" name="Google Shape;1868;p21"/>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869" name="Google Shape;1869;p21"/>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870" name="Google Shape;1870;p21"/>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871" name="Google Shape;1871;p21"/>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72" name="Google Shape;1872;p21"/>
          <p:cNvSpPr txBox="1"/>
          <p:nvPr/>
        </p:nvSpPr>
        <p:spPr>
          <a:xfrm>
            <a:off x="7846868" y="479035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873" name="Google Shape;1873;p21"/>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74" name="Google Shape;1874;p21"/>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75" name="Google Shape;1875;p21"/>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76" name="Google Shape;1876;p21"/>
          <p:cNvSpPr txBox="1"/>
          <p:nvPr/>
        </p:nvSpPr>
        <p:spPr>
          <a:xfrm>
            <a:off x="7881793" y="40378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877" name="Google Shape;1877;p21"/>
          <p:cNvSpPr txBox="1"/>
          <p:nvPr/>
        </p:nvSpPr>
        <p:spPr>
          <a:xfrm>
            <a:off x="7837343" y="569523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878" name="Google Shape;1878;p21"/>
          <p:cNvSpPr txBox="1"/>
          <p:nvPr/>
        </p:nvSpPr>
        <p:spPr>
          <a:xfrm>
            <a:off x="7856393" y="54094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879" name="Google Shape;1879;p21"/>
          <p:cNvSpPr txBox="1"/>
          <p:nvPr/>
        </p:nvSpPr>
        <p:spPr>
          <a:xfrm>
            <a:off x="7846868" y="511420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880" name="Google Shape;1880;p21"/>
          <p:cNvSpPr/>
          <p:nvPr/>
        </p:nvSpPr>
        <p:spPr>
          <a:xfrm>
            <a:off x="8216756" y="4379194"/>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P4</a:t>
            </a:r>
            <a:endParaRPr/>
          </a:p>
        </p:txBody>
      </p:sp>
      <p:sp>
        <p:nvSpPr>
          <p:cNvPr id="1881" name="Google Shape;1881;p21"/>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2" name="Google Shape;1882;p21"/>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3" name="Google Shape;1883;p21"/>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884" name="Google Shape;1884;p21"/>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885" name="Google Shape;1885;p21"/>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86" name="Google Shape;1886;p21"/>
          <p:cNvSpPr txBox="1"/>
          <p:nvPr/>
        </p:nvSpPr>
        <p:spPr>
          <a:xfrm>
            <a:off x="3501881" y="479829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887" name="Google Shape;1887;p21"/>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88" name="Google Shape;1888;p21"/>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89" name="Google Shape;1889;p21"/>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90" name="Google Shape;1890;p21"/>
          <p:cNvSpPr txBox="1"/>
          <p:nvPr/>
        </p:nvSpPr>
        <p:spPr>
          <a:xfrm>
            <a:off x="3536806" y="40458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891" name="Google Shape;1891;p21"/>
          <p:cNvSpPr txBox="1"/>
          <p:nvPr/>
        </p:nvSpPr>
        <p:spPr>
          <a:xfrm>
            <a:off x="3492356" y="57031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892" name="Google Shape;1892;p21"/>
          <p:cNvSpPr txBox="1"/>
          <p:nvPr/>
        </p:nvSpPr>
        <p:spPr>
          <a:xfrm>
            <a:off x="3511406" y="54174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893" name="Google Shape;1893;p21"/>
          <p:cNvSpPr txBox="1"/>
          <p:nvPr/>
        </p:nvSpPr>
        <p:spPr>
          <a:xfrm>
            <a:off x="3501881" y="512214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894" name="Google Shape;1894;p21"/>
          <p:cNvSpPr/>
          <p:nvPr/>
        </p:nvSpPr>
        <p:spPr>
          <a:xfrm>
            <a:off x="3871768" y="43871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P3</a:t>
            </a:r>
            <a:endParaRPr/>
          </a:p>
        </p:txBody>
      </p:sp>
      <p:grpSp>
        <p:nvGrpSpPr>
          <p:cNvPr id="1895" name="Google Shape;1895;p21"/>
          <p:cNvGrpSpPr/>
          <p:nvPr/>
        </p:nvGrpSpPr>
        <p:grpSpPr>
          <a:xfrm>
            <a:off x="3962256" y="4725269"/>
            <a:ext cx="412750" cy="158750"/>
            <a:chOff x="1287" y="2524"/>
            <a:chExt cx="260" cy="100"/>
          </a:xfrm>
        </p:grpSpPr>
        <p:sp>
          <p:nvSpPr>
            <p:cNvPr id="1896" name="Google Shape;1896;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7" name="Google Shape;1897;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8" name="Google Shape;1898;p21"/>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9" name="Google Shape;1899;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00" name="Google Shape;1900;p21"/>
          <p:cNvGrpSpPr/>
          <p:nvPr/>
        </p:nvGrpSpPr>
        <p:grpSpPr>
          <a:xfrm>
            <a:off x="8302481" y="4723682"/>
            <a:ext cx="412750" cy="158750"/>
            <a:chOff x="1287" y="2524"/>
            <a:chExt cx="260" cy="100"/>
          </a:xfrm>
        </p:grpSpPr>
        <p:sp>
          <p:nvSpPr>
            <p:cNvPr id="1901" name="Google Shape;1901;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2" name="Google Shape;1902;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3" name="Google Shape;1903;p21"/>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4" name="Google Shape;1904;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05" name="Google Shape;1905;p21"/>
          <p:cNvSpPr/>
          <p:nvPr/>
        </p:nvSpPr>
        <p:spPr>
          <a:xfrm>
            <a:off x="6349856" y="4425232"/>
            <a:ext cx="2173287" cy="1989137"/>
          </a:xfrm>
          <a:custGeom>
            <a:rect b="b" l="l" r="r" t="t"/>
            <a:pathLst>
              <a:path extrusionOk="0" h="1253" w="1369">
                <a:moveTo>
                  <a:pt x="1369" y="216"/>
                </a:moveTo>
                <a:lnTo>
                  <a:pt x="1362" y="1252"/>
                </a:lnTo>
                <a:lnTo>
                  <a:pt x="16" y="1253"/>
                </a:lnTo>
                <a:lnTo>
                  <a:pt x="0" y="121"/>
                </a:lnTo>
                <a:lnTo>
                  <a:pt x="191" y="0"/>
                </a:lnTo>
              </a:path>
            </a:pathLst>
          </a:custGeom>
          <a:noFill/>
          <a:ln cap="flat" cmpd="sng" w="19050">
            <a:solidFill>
              <a:srgbClr val="000099"/>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6" name="Google Shape;1906;p21"/>
          <p:cNvSpPr/>
          <p:nvPr/>
        </p:nvSpPr>
        <p:spPr>
          <a:xfrm>
            <a:off x="6468918" y="4456982"/>
            <a:ext cx="1984375" cy="1876425"/>
          </a:xfrm>
          <a:custGeom>
            <a:rect b="b" l="l" r="r" t="t"/>
            <a:pathLst>
              <a:path extrusionOk="0" h="1182" w="1250">
                <a:moveTo>
                  <a:pt x="1250" y="190"/>
                </a:moveTo>
                <a:lnTo>
                  <a:pt x="1244" y="1182"/>
                </a:lnTo>
                <a:lnTo>
                  <a:pt x="19" y="1181"/>
                </a:lnTo>
                <a:lnTo>
                  <a:pt x="0" y="155"/>
                </a:lnTo>
                <a:lnTo>
                  <a:pt x="171" y="0"/>
                </a:lnTo>
              </a:path>
            </a:pathLst>
          </a:custGeom>
          <a:noFill/>
          <a:ln cap="flat" cmpd="sng" w="19050">
            <a:solidFill>
              <a:srgbClr val="000099"/>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7" name="Google Shape;1907;p21"/>
          <p:cNvSpPr/>
          <p:nvPr/>
        </p:nvSpPr>
        <p:spPr>
          <a:xfrm>
            <a:off x="9809018" y="453635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omic Sans MS"/>
              <a:ea typeface="Comic Sans MS"/>
              <a:cs typeface="Comic Sans MS"/>
              <a:sym typeface="Comic Sans MS"/>
            </a:endParaRPr>
          </a:p>
        </p:txBody>
      </p:sp>
      <p:grpSp>
        <p:nvGrpSpPr>
          <p:cNvPr id="1908" name="Google Shape;1908;p21"/>
          <p:cNvGrpSpPr/>
          <p:nvPr/>
        </p:nvGrpSpPr>
        <p:grpSpPr>
          <a:xfrm>
            <a:off x="6060931" y="4663331"/>
            <a:ext cx="555332" cy="71510"/>
            <a:chOff x="1420065" y="5012608"/>
            <a:chExt cx="555332" cy="71510"/>
          </a:xfrm>
        </p:grpSpPr>
        <p:sp>
          <p:nvSpPr>
            <p:cNvPr id="1909" name="Google Shape;1909;p21"/>
            <p:cNvSpPr/>
            <p:nvPr/>
          </p:nvSpPr>
          <p:spPr>
            <a:xfrm>
              <a:off x="1420065" y="5012608"/>
              <a:ext cx="196850" cy="69850"/>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0" name="Google Shape;1910;p21"/>
            <p:cNvSpPr/>
            <p:nvPr/>
          </p:nvSpPr>
          <p:spPr>
            <a:xfrm>
              <a:off x="1778547" y="5014268"/>
              <a:ext cx="196850" cy="69850"/>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11" name="Google Shape;1911;p21"/>
          <p:cNvSpPr/>
          <p:nvPr/>
        </p:nvSpPr>
        <p:spPr>
          <a:xfrm>
            <a:off x="5311630" y="3275882"/>
            <a:ext cx="688975" cy="1435100"/>
          </a:xfrm>
          <a:custGeom>
            <a:rect b="b" l="l" r="r" t="t"/>
            <a:pathLst>
              <a:path extrusionOk="0" h="904" w="434">
                <a:moveTo>
                  <a:pt x="434" y="904"/>
                </a:moveTo>
                <a:lnTo>
                  <a:pt x="2" y="902"/>
                </a:lnTo>
                <a:lnTo>
                  <a:pt x="0" y="0"/>
                </a:lnTo>
              </a:path>
            </a:pathLst>
          </a:custGeom>
          <a:noFill/>
          <a:ln cap="flat" cmpd="sng" w="19050">
            <a:solidFill>
              <a:srgbClr val="CC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12" name="Google Shape;1912;p21"/>
          <p:cNvGrpSpPr/>
          <p:nvPr/>
        </p:nvGrpSpPr>
        <p:grpSpPr>
          <a:xfrm>
            <a:off x="6211743" y="3239369"/>
            <a:ext cx="1047750" cy="1441450"/>
            <a:chOff x="2432" y="1758"/>
            <a:chExt cx="660" cy="908"/>
          </a:xfrm>
        </p:grpSpPr>
        <p:sp>
          <p:nvSpPr>
            <p:cNvPr id="1913" name="Google Shape;1913;p21"/>
            <p:cNvSpPr/>
            <p:nvPr/>
          </p:nvSpPr>
          <p:spPr>
            <a:xfrm>
              <a:off x="2432" y="2564"/>
              <a:ext cx="144" cy="102"/>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4" name="Google Shape;1914;p21"/>
            <p:cNvSpPr/>
            <p:nvPr/>
          </p:nvSpPr>
          <p:spPr>
            <a:xfrm>
              <a:off x="2506" y="1758"/>
              <a:ext cx="586" cy="810"/>
            </a:xfrm>
            <a:custGeom>
              <a:rect b="b" l="l" r="r" t="t"/>
              <a:pathLst>
                <a:path extrusionOk="0" h="810" w="586">
                  <a:moveTo>
                    <a:pt x="0" y="810"/>
                  </a:moveTo>
                  <a:lnTo>
                    <a:pt x="2" y="808"/>
                  </a:lnTo>
                  <a:lnTo>
                    <a:pt x="2" y="170"/>
                  </a:lnTo>
                  <a:lnTo>
                    <a:pt x="586" y="0"/>
                  </a:lnTo>
                </a:path>
              </a:pathLst>
            </a:custGeom>
            <a:noFill/>
            <a:ln cap="flat" cmpd="sng" w="12700">
              <a:solidFill>
                <a:srgbClr val="CC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15" name="Google Shape;1915;p21"/>
          <p:cNvGrpSpPr/>
          <p:nvPr/>
        </p:nvGrpSpPr>
        <p:grpSpPr>
          <a:xfrm>
            <a:off x="2511281" y="5555532"/>
            <a:ext cx="800100" cy="828675"/>
            <a:chOff x="-44" y="1473"/>
            <a:chExt cx="981" cy="1105"/>
          </a:xfrm>
        </p:grpSpPr>
        <p:pic>
          <p:nvPicPr>
            <p:cNvPr descr="desktop_computer_stylized_medium" id="1916" name="Google Shape;1916;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17" name="Google Shape;1917;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18" name="Google Shape;1918;p21"/>
          <p:cNvGrpSpPr/>
          <p:nvPr/>
        </p:nvGrpSpPr>
        <p:grpSpPr>
          <a:xfrm flipH="1">
            <a:off x="9493106" y="5469807"/>
            <a:ext cx="788987" cy="782637"/>
            <a:chOff x="-44" y="1473"/>
            <a:chExt cx="981" cy="1105"/>
          </a:xfrm>
        </p:grpSpPr>
        <p:pic>
          <p:nvPicPr>
            <p:cNvPr descr="desktop_computer_stylized_medium" id="1919" name="Google Shape;1919;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20" name="Google Shape;1920;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21" name="Google Shape;1921;p21"/>
          <p:cNvGrpSpPr/>
          <p:nvPr/>
        </p:nvGrpSpPr>
        <p:grpSpPr>
          <a:xfrm>
            <a:off x="5083031" y="5055469"/>
            <a:ext cx="358775" cy="704850"/>
            <a:chOff x="4140" y="429"/>
            <a:chExt cx="1425" cy="2396"/>
          </a:xfrm>
        </p:grpSpPr>
        <p:sp>
          <p:nvSpPr>
            <p:cNvPr id="1922" name="Google Shape;1922;p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3" name="Google Shape;1923;p2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4" name="Google Shape;1924;p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5" name="Google Shape;1925;p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6" name="Google Shape;1926;p2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27" name="Google Shape;1927;p21"/>
            <p:cNvGrpSpPr/>
            <p:nvPr/>
          </p:nvGrpSpPr>
          <p:grpSpPr>
            <a:xfrm>
              <a:off x="4751" y="667"/>
              <a:ext cx="580" cy="146"/>
              <a:chOff x="617" y="2567"/>
              <a:chExt cx="724" cy="140"/>
            </a:xfrm>
          </p:grpSpPr>
          <p:sp>
            <p:nvSpPr>
              <p:cNvPr id="1928" name="Google Shape;1928;p2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9" name="Google Shape;1929;p2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30" name="Google Shape;1930;p2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31" name="Google Shape;1931;p21"/>
            <p:cNvGrpSpPr/>
            <p:nvPr/>
          </p:nvGrpSpPr>
          <p:grpSpPr>
            <a:xfrm>
              <a:off x="4745" y="996"/>
              <a:ext cx="580" cy="156"/>
              <a:chOff x="612" y="2570"/>
              <a:chExt cx="724" cy="162"/>
            </a:xfrm>
          </p:grpSpPr>
          <p:sp>
            <p:nvSpPr>
              <p:cNvPr id="1932" name="Google Shape;1932;p2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3" name="Google Shape;1933;p2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34" name="Google Shape;1934;p2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5" name="Google Shape;1935;p2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36" name="Google Shape;1936;p21"/>
            <p:cNvGrpSpPr/>
            <p:nvPr/>
          </p:nvGrpSpPr>
          <p:grpSpPr>
            <a:xfrm>
              <a:off x="4733" y="1627"/>
              <a:ext cx="586" cy="151"/>
              <a:chOff x="611" y="2568"/>
              <a:chExt cx="730" cy="139"/>
            </a:xfrm>
          </p:grpSpPr>
          <p:sp>
            <p:nvSpPr>
              <p:cNvPr id="1937" name="Google Shape;1937;p2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8" name="Google Shape;1938;p2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39" name="Google Shape;1939;p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40" name="Google Shape;1940;p21"/>
            <p:cNvGrpSpPr/>
            <p:nvPr/>
          </p:nvGrpSpPr>
          <p:grpSpPr>
            <a:xfrm>
              <a:off x="4739" y="1325"/>
              <a:ext cx="580" cy="140"/>
              <a:chOff x="614" y="2566"/>
              <a:chExt cx="723" cy="140"/>
            </a:xfrm>
          </p:grpSpPr>
          <p:sp>
            <p:nvSpPr>
              <p:cNvPr id="1941" name="Google Shape;1941;p2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2" name="Google Shape;1942;p2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43" name="Google Shape;1943;p2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4" name="Google Shape;1944;p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5" name="Google Shape;1945;p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6" name="Google Shape;1946;p2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7" name="Google Shape;1947;p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8" name="Google Shape;1948;p2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9" name="Google Shape;1949;p2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0" name="Google Shape;1950;p2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1" name="Google Shape;1951;p2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952" name="Google Shape;1952;p2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3" name="Google Shape;1953;p2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54" name="Google Shape;1954;p21"/>
          <p:cNvGrpSpPr/>
          <p:nvPr/>
        </p:nvGrpSpPr>
        <p:grpSpPr>
          <a:xfrm>
            <a:off x="1183088" y="1563001"/>
            <a:ext cx="4826032" cy="1719654"/>
            <a:chOff x="5" y="727"/>
            <a:chExt cx="2460" cy="1047"/>
          </a:xfrm>
        </p:grpSpPr>
        <p:sp>
          <p:nvSpPr>
            <p:cNvPr id="1955" name="Google Shape;1955;p21"/>
            <p:cNvSpPr txBox="1"/>
            <p:nvPr/>
          </p:nvSpPr>
          <p:spPr>
            <a:xfrm>
              <a:off x="133" y="1101"/>
              <a:ext cx="2332" cy="62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handle data from multiple</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sockets, add transport header (later used for demultiplexing)</a:t>
              </a:r>
              <a:endParaRPr/>
            </a:p>
          </p:txBody>
        </p:sp>
        <p:sp>
          <p:nvSpPr>
            <p:cNvPr id="1956" name="Google Shape;1956;p21"/>
            <p:cNvSpPr/>
            <p:nvPr/>
          </p:nvSpPr>
          <p:spPr>
            <a:xfrm>
              <a:off x="5" y="901"/>
              <a:ext cx="2298" cy="873"/>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1957" name="Google Shape;1957;p21"/>
            <p:cNvGrpSpPr/>
            <p:nvPr/>
          </p:nvGrpSpPr>
          <p:grpSpPr>
            <a:xfrm>
              <a:off x="91" y="727"/>
              <a:ext cx="1854" cy="375"/>
              <a:chOff x="869" y="3567"/>
              <a:chExt cx="1780" cy="375"/>
            </a:xfrm>
          </p:grpSpPr>
          <p:sp>
            <p:nvSpPr>
              <p:cNvPr id="1958" name="Google Shape;1958;p21"/>
              <p:cNvSpPr/>
              <p:nvPr/>
            </p:nvSpPr>
            <p:spPr>
              <a:xfrm>
                <a:off x="1422" y="3732"/>
                <a:ext cx="1006"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59" name="Google Shape;1959;p21"/>
              <p:cNvSpPr txBox="1"/>
              <p:nvPr/>
            </p:nvSpPr>
            <p:spPr>
              <a:xfrm>
                <a:off x="869" y="3567"/>
                <a:ext cx="1780" cy="33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multiplexing at sender:</a:t>
                </a:r>
                <a:endParaRPr/>
              </a:p>
            </p:txBody>
          </p:sp>
        </p:grpSp>
      </p:grpSp>
      <p:sp>
        <p:nvSpPr>
          <p:cNvPr id="1960" name="Google Shape;1960;p21"/>
          <p:cNvSpPr/>
          <p:nvPr/>
        </p:nvSpPr>
        <p:spPr>
          <a:xfrm>
            <a:off x="4198793" y="4458569"/>
            <a:ext cx="1962150" cy="1897063"/>
          </a:xfrm>
          <a:custGeom>
            <a:rect b="b" l="l" r="r" t="t"/>
            <a:pathLst>
              <a:path extrusionOk="0" h="1195" w="1236">
                <a:moveTo>
                  <a:pt x="0" y="202"/>
                </a:moveTo>
                <a:lnTo>
                  <a:pt x="6" y="1194"/>
                </a:lnTo>
                <a:lnTo>
                  <a:pt x="1236" y="1195"/>
                </a:lnTo>
                <a:lnTo>
                  <a:pt x="1227" y="150"/>
                </a:lnTo>
                <a:lnTo>
                  <a:pt x="1069" y="0"/>
                </a:lnTo>
              </a:path>
            </a:pathLst>
          </a:custGeom>
          <a:noFill/>
          <a:ln cap="flat" cmpd="sng" w="19050">
            <a:solidFill>
              <a:srgbClr val="000099"/>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61" name="Google Shape;1961;p21"/>
          <p:cNvSpPr/>
          <p:nvPr/>
        </p:nvSpPr>
        <p:spPr>
          <a:xfrm>
            <a:off x="4135293" y="4433169"/>
            <a:ext cx="2160588" cy="1989138"/>
          </a:xfrm>
          <a:custGeom>
            <a:rect b="b" l="l" r="r" t="t"/>
            <a:pathLst>
              <a:path extrusionOk="0" h="1253" w="1361">
                <a:moveTo>
                  <a:pt x="0" y="216"/>
                </a:moveTo>
                <a:lnTo>
                  <a:pt x="7" y="1252"/>
                </a:lnTo>
                <a:lnTo>
                  <a:pt x="1320" y="1253"/>
                </a:lnTo>
                <a:lnTo>
                  <a:pt x="1361" y="1252"/>
                </a:lnTo>
                <a:lnTo>
                  <a:pt x="1353" y="114"/>
                </a:lnTo>
                <a:lnTo>
                  <a:pt x="1178" y="0"/>
                </a:lnTo>
              </a:path>
            </a:pathLst>
          </a:custGeom>
          <a:noFill/>
          <a:ln cap="flat" cmpd="sng" w="19050">
            <a:solidFill>
              <a:srgbClr val="000099"/>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62" name="Google Shape;1962;p21"/>
          <p:cNvGrpSpPr/>
          <p:nvPr/>
        </p:nvGrpSpPr>
        <p:grpSpPr>
          <a:xfrm>
            <a:off x="4455343" y="4186543"/>
            <a:ext cx="3740163" cy="385304"/>
            <a:chOff x="4455343" y="4186543"/>
            <a:chExt cx="3740163" cy="385304"/>
          </a:xfrm>
        </p:grpSpPr>
        <p:sp>
          <p:nvSpPr>
            <p:cNvPr id="1963" name="Google Shape;1963;p21"/>
            <p:cNvSpPr/>
            <p:nvPr/>
          </p:nvSpPr>
          <p:spPr>
            <a:xfrm rot="-778188">
              <a:off x="4450940" y="4321755"/>
              <a:ext cx="1216152" cy="99004"/>
            </a:xfrm>
            <a:prstGeom prst="leftRightArrow">
              <a:avLst>
                <a:gd fmla="val 50000" name="adj1"/>
                <a:gd fmla="val 50000" name="adj2"/>
              </a:avLst>
            </a:prstGeom>
            <a:solidFill>
              <a:srgbClr val="000090"/>
            </a:solidFill>
            <a:ln cap="flat" cmpd="sng" w="9525">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4" name="Google Shape;1964;p21"/>
            <p:cNvSpPr/>
            <p:nvPr/>
          </p:nvSpPr>
          <p:spPr>
            <a:xfrm flipH="1" rot="-10021812">
              <a:off x="6983757" y="4337631"/>
              <a:ext cx="1216152" cy="99004"/>
            </a:xfrm>
            <a:prstGeom prst="leftRightArrow">
              <a:avLst>
                <a:gd fmla="val 50000" name="adj1"/>
                <a:gd fmla="val 50000" name="adj2"/>
              </a:avLst>
            </a:prstGeom>
            <a:solidFill>
              <a:srgbClr val="000090"/>
            </a:solidFill>
            <a:ln cap="flat" cmpd="sng" w="9525">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965" name="Google Shape;1965;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2"/>
                                        </p:tgtEl>
                                        <p:attrNameLst>
                                          <p:attrName>style.visibility</p:attrName>
                                        </p:attrNameLst>
                                      </p:cBhvr>
                                      <p:to>
                                        <p:strVal val="visible"/>
                                      </p:to>
                                    </p:set>
                                    <p:animEffect filter="fade" transition="in">
                                      <p:cBhvr>
                                        <p:cTn dur="500"/>
                                        <p:tgtEl>
                                          <p:spTgt spid="19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62"/>
                                        </p:tgtEl>
                                      </p:cBhvr>
                                    </p:animEffect>
                                    <p:set>
                                      <p:cBhvr>
                                        <p:cTn dur="1" fill="hold">
                                          <p:stCondLst>
                                            <p:cond delay="500"/>
                                          </p:stCondLst>
                                        </p:cTn>
                                        <p:tgtEl>
                                          <p:spTgt spid="196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954"/>
                                        </p:tgtEl>
                                        <p:attrNameLst>
                                          <p:attrName>style.visibility</p:attrName>
                                        </p:attrNameLst>
                                      </p:cBhvr>
                                      <p:to>
                                        <p:strVal val="visible"/>
                                      </p:to>
                                    </p:set>
                                    <p:animEffect filter="fade" transition="in">
                                      <p:cBhvr>
                                        <p:cTn dur="500"/>
                                        <p:tgtEl>
                                          <p:spTgt spid="1954"/>
                                        </p:tgtEl>
                                      </p:cBhvr>
                                    </p:animEffect>
                                  </p:childTnLst>
                                </p:cTn>
                              </p:par>
                              <p:par>
                                <p:cTn fill="hold" nodeType="withEffect" presetClass="entr" presetID="10" presetSubtype="0">
                                  <p:stCondLst>
                                    <p:cond delay="0"/>
                                  </p:stCondLst>
                                  <p:childTnLst>
                                    <p:set>
                                      <p:cBhvr>
                                        <p:cTn dur="1" fill="hold">
                                          <p:stCondLst>
                                            <p:cond delay="0"/>
                                          </p:stCondLst>
                                        </p:cTn>
                                        <p:tgtEl>
                                          <p:spTgt spid="1911"/>
                                        </p:tgtEl>
                                        <p:attrNameLst>
                                          <p:attrName>style.visibility</p:attrName>
                                        </p:attrNameLst>
                                      </p:cBhvr>
                                      <p:to>
                                        <p:strVal val="visible"/>
                                      </p:to>
                                    </p:set>
                                    <p:animEffect filter="fade" transition="in">
                                      <p:cBhvr>
                                        <p:cTn dur="500"/>
                                        <p:tgtEl>
                                          <p:spTgt spid="1911"/>
                                        </p:tgtEl>
                                      </p:cBhvr>
                                    </p:animEffect>
                                  </p:childTnLst>
                                </p:cTn>
                              </p:par>
                              <p:par>
                                <p:cTn fill="hold" nodeType="withEffect" presetClass="entr" presetID="10" presetSubtype="0">
                                  <p:stCondLst>
                                    <p:cond delay="0"/>
                                  </p:stCondLst>
                                  <p:childTnLst>
                                    <p:set>
                                      <p:cBhvr>
                                        <p:cTn dur="1" fill="hold">
                                          <p:stCondLst>
                                            <p:cond delay="0"/>
                                          </p:stCondLst>
                                        </p:cTn>
                                        <p:tgtEl>
                                          <p:spTgt spid="1908"/>
                                        </p:tgtEl>
                                        <p:attrNameLst>
                                          <p:attrName>style.visibility</p:attrName>
                                        </p:attrNameLst>
                                      </p:cBhvr>
                                      <p:to>
                                        <p:strVal val="visible"/>
                                      </p:to>
                                    </p:set>
                                    <p:animEffect filter="fade" transition="in">
                                      <p:cBhvr>
                                        <p:cTn dur="500"/>
                                        <p:tgtEl>
                                          <p:spTgt spid="1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834"/>
                                        </p:tgtEl>
                                        <p:attrNameLst>
                                          <p:attrName>style.visibility</p:attrName>
                                        </p:attrNameLst>
                                      </p:cBhvr>
                                      <p:to>
                                        <p:strVal val="visible"/>
                                      </p:to>
                                    </p:set>
                                    <p:animEffect filter="fade" transition="in">
                                      <p:cBhvr>
                                        <p:cTn dur="500"/>
                                        <p:tgtEl>
                                          <p:spTgt spid="1834"/>
                                        </p:tgtEl>
                                      </p:cBhvr>
                                    </p:animEffect>
                                  </p:childTnLst>
                                </p:cTn>
                              </p:par>
                              <p:par>
                                <p:cTn fill="hold" nodeType="withEffect" presetClass="entr" presetID="10" presetSubtype="0">
                                  <p:stCondLst>
                                    <p:cond delay="0"/>
                                  </p:stCondLst>
                                  <p:childTnLst>
                                    <p:set>
                                      <p:cBhvr>
                                        <p:cTn dur="1" fill="hold">
                                          <p:stCondLst>
                                            <p:cond delay="0"/>
                                          </p:stCondLst>
                                        </p:cTn>
                                        <p:tgtEl>
                                          <p:spTgt spid="1961"/>
                                        </p:tgtEl>
                                        <p:attrNameLst>
                                          <p:attrName>style.visibility</p:attrName>
                                        </p:attrNameLst>
                                      </p:cBhvr>
                                      <p:to>
                                        <p:strVal val="visible"/>
                                      </p:to>
                                    </p:set>
                                    <p:animEffect filter="fade" transition="in">
                                      <p:cBhvr>
                                        <p:cTn dur="500"/>
                                        <p:tgtEl>
                                          <p:spTgt spid="1961"/>
                                        </p:tgtEl>
                                      </p:cBhvr>
                                    </p:animEffect>
                                  </p:childTnLst>
                                </p:cTn>
                              </p:par>
                              <p:par>
                                <p:cTn fill="hold" nodeType="withEffect" presetClass="entr" presetID="10" presetSubtype="0">
                                  <p:stCondLst>
                                    <p:cond delay="0"/>
                                  </p:stCondLst>
                                  <p:childTnLst>
                                    <p:set>
                                      <p:cBhvr>
                                        <p:cTn dur="1" fill="hold">
                                          <p:stCondLst>
                                            <p:cond delay="0"/>
                                          </p:stCondLst>
                                        </p:cTn>
                                        <p:tgtEl>
                                          <p:spTgt spid="1905"/>
                                        </p:tgtEl>
                                        <p:attrNameLst>
                                          <p:attrName>style.visibility</p:attrName>
                                        </p:attrNameLst>
                                      </p:cBhvr>
                                      <p:to>
                                        <p:strVal val="visible"/>
                                      </p:to>
                                    </p:set>
                                    <p:animEffect filter="fade" transition="in">
                                      <p:cBhvr>
                                        <p:cTn dur="500"/>
                                        <p:tgtEl>
                                          <p:spTgt spid="1905"/>
                                        </p:tgtEl>
                                      </p:cBhvr>
                                    </p:animEffect>
                                  </p:childTnLst>
                                </p:cTn>
                              </p:par>
                              <p:par>
                                <p:cTn fill="hold" nodeType="withEffect" presetClass="exit" presetID="10" presetSubtype="0">
                                  <p:stCondLst>
                                    <p:cond delay="0"/>
                                  </p:stCondLst>
                                  <p:childTnLst>
                                    <p:animEffect filter="fade" transition="out">
                                      <p:cBhvr>
                                        <p:cTn dur="500"/>
                                        <p:tgtEl>
                                          <p:spTgt spid="1960"/>
                                        </p:tgtEl>
                                      </p:cBhvr>
                                    </p:animEffect>
                                    <p:set>
                                      <p:cBhvr>
                                        <p:cTn dur="1" fill="hold">
                                          <p:stCondLst>
                                            <p:cond delay="500"/>
                                          </p:stCondLst>
                                        </p:cTn>
                                        <p:tgtEl>
                                          <p:spTgt spid="196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08"/>
                                        </p:tgtEl>
                                      </p:cBhvr>
                                    </p:animEffect>
                                    <p:set>
                                      <p:cBhvr>
                                        <p:cTn dur="1" fill="hold">
                                          <p:stCondLst>
                                            <p:cond delay="500"/>
                                          </p:stCondLst>
                                        </p:cTn>
                                        <p:tgtEl>
                                          <p:spTgt spid="190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11"/>
                                        </p:tgtEl>
                                      </p:cBhvr>
                                    </p:animEffect>
                                    <p:set>
                                      <p:cBhvr>
                                        <p:cTn dur="1" fill="hold">
                                          <p:stCondLst>
                                            <p:cond delay="500"/>
                                          </p:stCondLst>
                                        </p:cTn>
                                        <p:tgtEl>
                                          <p:spTgt spid="191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54"/>
                                        </p:tgtEl>
                                      </p:cBhvr>
                                    </p:animEffect>
                                    <p:set>
                                      <p:cBhvr>
                                        <p:cTn dur="1" fill="hold">
                                          <p:stCondLst>
                                            <p:cond delay="500"/>
                                          </p:stCondLst>
                                        </p:cTn>
                                        <p:tgtEl>
                                          <p:spTgt spid="19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06"/>
                                        </p:tgtEl>
                                      </p:cBhvr>
                                    </p:animEffect>
                                    <p:set>
                                      <p:cBhvr>
                                        <p:cTn dur="1" fill="hold">
                                          <p:stCondLst>
                                            <p:cond delay="500"/>
                                          </p:stCondLst>
                                        </p:cTn>
                                        <p:tgtEl>
                                          <p:spTgt spid="19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0" name="Shape 1970"/>
        <p:cNvGrpSpPr/>
        <p:nvPr/>
      </p:nvGrpSpPr>
      <p:grpSpPr>
        <a:xfrm>
          <a:off x="0" y="0"/>
          <a:ext cx="0" cy="0"/>
          <a:chOff x="0" y="0"/>
          <a:chExt cx="0" cy="0"/>
        </a:xfrm>
      </p:grpSpPr>
      <p:sp>
        <p:nvSpPr>
          <p:cNvPr id="1971" name="Google Shape;1971;p2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How demultiplexing </a:t>
            </a:r>
            <a:r>
              <a:rPr lang="en-US"/>
              <a:t>w</a:t>
            </a:r>
            <a:r>
              <a:rPr lang="en-US" sz="4400"/>
              <a:t>orks</a:t>
            </a:r>
            <a:endParaRPr/>
          </a:p>
        </p:txBody>
      </p:sp>
      <p:sp>
        <p:nvSpPr>
          <p:cNvPr id="1972" name="Google Shape;1972;p22"/>
          <p:cNvSpPr txBox="1"/>
          <p:nvPr/>
        </p:nvSpPr>
        <p:spPr>
          <a:xfrm>
            <a:off x="812799" y="1565761"/>
            <a:ext cx="5703304" cy="27908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host receives IP datagrams</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datagram has source IP address, destination IP address</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datagram carries one transport-layer segment</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segment has source, destination port number </a:t>
            </a:r>
            <a:endParaRPr/>
          </a:p>
          <a:p>
            <a:pPr indent="-284163" lvl="0" marL="284163"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host uses </a:t>
            </a:r>
            <a:r>
              <a:rPr b="0" i="1" lang="en-US" sz="3200" u="none" cap="none" strike="noStrike">
                <a:solidFill>
                  <a:srgbClr val="CC0000"/>
                </a:solidFill>
                <a:latin typeface="Calibri"/>
                <a:ea typeface="Calibri"/>
                <a:cs typeface="Calibri"/>
                <a:sym typeface="Calibri"/>
              </a:rPr>
              <a:t>IP addresses &amp; port numbers</a:t>
            </a:r>
            <a:r>
              <a:rPr b="0" i="0" lang="en-US" sz="3200" u="none" cap="none" strike="noStrike">
                <a:solidFill>
                  <a:srgbClr val="000000"/>
                </a:solidFill>
                <a:latin typeface="Calibri"/>
                <a:ea typeface="Calibri"/>
                <a:cs typeface="Calibri"/>
                <a:sym typeface="Calibri"/>
              </a:rPr>
              <a:t> to direct segment to appropriate socket</a:t>
            </a:r>
            <a:endParaRPr/>
          </a:p>
        </p:txBody>
      </p:sp>
      <p:grpSp>
        <p:nvGrpSpPr>
          <p:cNvPr id="1973" name="Google Shape;1973;p22"/>
          <p:cNvGrpSpPr/>
          <p:nvPr/>
        </p:nvGrpSpPr>
        <p:grpSpPr>
          <a:xfrm>
            <a:off x="7543216" y="1704452"/>
            <a:ext cx="3414712" cy="4121150"/>
            <a:chOff x="7543216" y="1704452"/>
            <a:chExt cx="3414712" cy="4121150"/>
          </a:xfrm>
        </p:grpSpPr>
        <p:sp>
          <p:nvSpPr>
            <p:cNvPr id="1974" name="Google Shape;1974;p22"/>
            <p:cNvSpPr/>
            <p:nvPr/>
          </p:nvSpPr>
          <p:spPr>
            <a:xfrm>
              <a:off x="7633703" y="2048939"/>
              <a:ext cx="3324225" cy="32004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5" name="Google Shape;1975;p22"/>
            <p:cNvSpPr/>
            <p:nvPr/>
          </p:nvSpPr>
          <p:spPr>
            <a:xfrm>
              <a:off x="7557503" y="2144189"/>
              <a:ext cx="3324225" cy="3200400"/>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6" name="Google Shape;1976;p22"/>
            <p:cNvSpPr txBox="1"/>
            <p:nvPr/>
          </p:nvSpPr>
          <p:spPr>
            <a:xfrm>
              <a:off x="7597191" y="2156889"/>
              <a:ext cx="156368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source port #</a:t>
              </a:r>
              <a:endParaRPr b="0" i="0" sz="2400" u="none" cap="none" strike="noStrike">
                <a:solidFill>
                  <a:srgbClr val="CC0000"/>
                </a:solidFill>
                <a:latin typeface="Tahoma"/>
                <a:ea typeface="Tahoma"/>
                <a:cs typeface="Tahoma"/>
                <a:sym typeface="Tahoma"/>
              </a:endParaRPr>
            </a:p>
          </p:txBody>
        </p:sp>
        <p:sp>
          <p:nvSpPr>
            <p:cNvPr id="1977" name="Google Shape;1977;p22"/>
            <p:cNvSpPr txBox="1"/>
            <p:nvPr/>
          </p:nvSpPr>
          <p:spPr>
            <a:xfrm>
              <a:off x="9383128" y="2156889"/>
              <a:ext cx="132873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dest port #</a:t>
              </a:r>
              <a:endParaRPr b="0" i="0" sz="2400" u="none" cap="none" strike="noStrike">
                <a:solidFill>
                  <a:srgbClr val="CC0000"/>
                </a:solidFill>
                <a:latin typeface="Tahoma"/>
                <a:ea typeface="Tahoma"/>
                <a:cs typeface="Tahoma"/>
                <a:sym typeface="Tahoma"/>
              </a:endParaRPr>
            </a:p>
          </p:txBody>
        </p:sp>
        <p:cxnSp>
          <p:nvCxnSpPr>
            <p:cNvPr id="1978" name="Google Shape;1978;p22"/>
            <p:cNvCxnSpPr/>
            <p:nvPr/>
          </p:nvCxnSpPr>
          <p:spPr>
            <a:xfrm>
              <a:off x="7547978" y="2544239"/>
              <a:ext cx="3328988" cy="0"/>
            </a:xfrm>
            <a:prstGeom prst="straightConnector1">
              <a:avLst/>
            </a:prstGeom>
            <a:noFill/>
            <a:ln cap="flat" cmpd="sng" w="19050">
              <a:solidFill>
                <a:srgbClr val="000000"/>
              </a:solidFill>
              <a:prstDash val="solid"/>
              <a:round/>
              <a:headEnd len="med" w="med" type="none"/>
              <a:tailEnd len="med" w="med" type="none"/>
            </a:ln>
          </p:spPr>
        </p:cxnSp>
        <p:cxnSp>
          <p:nvCxnSpPr>
            <p:cNvPr id="1979" name="Google Shape;1979;p22"/>
            <p:cNvCxnSpPr/>
            <p:nvPr/>
          </p:nvCxnSpPr>
          <p:spPr>
            <a:xfrm>
              <a:off x="7557503" y="3534839"/>
              <a:ext cx="3324225" cy="0"/>
            </a:xfrm>
            <a:prstGeom prst="straightConnector1">
              <a:avLst/>
            </a:prstGeom>
            <a:noFill/>
            <a:ln cap="flat" cmpd="sng" w="19050">
              <a:solidFill>
                <a:srgbClr val="000000"/>
              </a:solidFill>
              <a:prstDash val="solid"/>
              <a:round/>
              <a:headEnd len="med" w="med" type="none"/>
              <a:tailEnd len="med" w="med" type="none"/>
            </a:ln>
          </p:spPr>
        </p:cxnSp>
        <p:cxnSp>
          <p:nvCxnSpPr>
            <p:cNvPr id="1980" name="Google Shape;1980;p22"/>
            <p:cNvCxnSpPr/>
            <p:nvPr/>
          </p:nvCxnSpPr>
          <p:spPr>
            <a:xfrm rot="10800000">
              <a:off x="9195803" y="2144189"/>
              <a:ext cx="0" cy="395288"/>
            </a:xfrm>
            <a:prstGeom prst="straightConnector1">
              <a:avLst/>
            </a:prstGeom>
            <a:noFill/>
            <a:ln cap="flat" cmpd="sng" w="19050">
              <a:solidFill>
                <a:srgbClr val="000000"/>
              </a:solidFill>
              <a:prstDash val="solid"/>
              <a:round/>
              <a:headEnd len="med" w="med" type="none"/>
              <a:tailEnd len="med" w="med" type="none"/>
            </a:ln>
          </p:spPr>
        </p:cxnSp>
        <p:sp>
          <p:nvSpPr>
            <p:cNvPr id="1981" name="Google Shape;1981;p22"/>
            <p:cNvSpPr txBox="1"/>
            <p:nvPr/>
          </p:nvSpPr>
          <p:spPr>
            <a:xfrm>
              <a:off x="8740191" y="1704452"/>
              <a:ext cx="8636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32 bits</a:t>
              </a:r>
              <a:endParaRPr b="0" i="0" sz="2400" u="none" cap="none" strike="noStrike">
                <a:solidFill>
                  <a:srgbClr val="000000"/>
                </a:solidFill>
                <a:latin typeface="Tahoma"/>
                <a:ea typeface="Tahoma"/>
                <a:cs typeface="Tahoma"/>
                <a:sym typeface="Tahoma"/>
              </a:endParaRPr>
            </a:p>
          </p:txBody>
        </p:sp>
        <p:cxnSp>
          <p:nvCxnSpPr>
            <p:cNvPr id="1982" name="Google Shape;1982;p22"/>
            <p:cNvCxnSpPr/>
            <p:nvPr/>
          </p:nvCxnSpPr>
          <p:spPr>
            <a:xfrm>
              <a:off x="9653003" y="1910827"/>
              <a:ext cx="1200150" cy="4762"/>
            </a:xfrm>
            <a:prstGeom prst="straightConnector1">
              <a:avLst/>
            </a:prstGeom>
            <a:noFill/>
            <a:ln cap="flat" cmpd="sng" w="19050">
              <a:solidFill>
                <a:srgbClr val="000000"/>
              </a:solidFill>
              <a:prstDash val="solid"/>
              <a:round/>
              <a:headEnd len="med" w="med" type="none"/>
              <a:tailEnd len="med" w="med" type="triangle"/>
            </a:ln>
          </p:spPr>
        </p:cxnSp>
        <p:cxnSp>
          <p:nvCxnSpPr>
            <p:cNvPr id="1983" name="Google Shape;1983;p22"/>
            <p:cNvCxnSpPr/>
            <p:nvPr/>
          </p:nvCxnSpPr>
          <p:spPr>
            <a:xfrm rot="10800000">
              <a:off x="7543216" y="1920352"/>
              <a:ext cx="1128712" cy="0"/>
            </a:xfrm>
            <a:prstGeom prst="straightConnector1">
              <a:avLst/>
            </a:prstGeom>
            <a:noFill/>
            <a:ln cap="flat" cmpd="sng" w="19050">
              <a:solidFill>
                <a:srgbClr val="000000"/>
              </a:solidFill>
              <a:prstDash val="solid"/>
              <a:round/>
              <a:headEnd len="med" w="med" type="none"/>
              <a:tailEnd len="med" w="med" type="triangle"/>
            </a:ln>
          </p:spPr>
        </p:cxnSp>
        <p:sp>
          <p:nvSpPr>
            <p:cNvPr id="1984" name="Google Shape;1984;p22"/>
            <p:cNvSpPr txBox="1"/>
            <p:nvPr/>
          </p:nvSpPr>
          <p:spPr>
            <a:xfrm>
              <a:off x="8451266" y="3865039"/>
              <a:ext cx="13890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data </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(payload)</a:t>
              </a:r>
              <a:endParaRPr b="0" i="0" sz="2400" u="none" cap="none" strike="noStrike">
                <a:solidFill>
                  <a:srgbClr val="000000"/>
                </a:solidFill>
                <a:latin typeface="Tahoma"/>
                <a:ea typeface="Tahoma"/>
                <a:cs typeface="Tahoma"/>
                <a:sym typeface="Tahoma"/>
              </a:endParaRPr>
            </a:p>
          </p:txBody>
        </p:sp>
        <p:sp>
          <p:nvSpPr>
            <p:cNvPr id="1985" name="Google Shape;1985;p22"/>
            <p:cNvSpPr txBox="1"/>
            <p:nvPr/>
          </p:nvSpPr>
          <p:spPr>
            <a:xfrm>
              <a:off x="8067091" y="2898252"/>
              <a:ext cx="22907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other header fields</a:t>
              </a:r>
              <a:endParaRPr b="0" i="0" sz="2400" u="none" cap="none" strike="noStrike">
                <a:solidFill>
                  <a:srgbClr val="000000"/>
                </a:solidFill>
                <a:latin typeface="Tahoma"/>
                <a:ea typeface="Tahoma"/>
                <a:cs typeface="Tahoma"/>
                <a:sym typeface="Tahoma"/>
              </a:endParaRPr>
            </a:p>
          </p:txBody>
        </p:sp>
        <p:sp>
          <p:nvSpPr>
            <p:cNvPr id="1986" name="Google Shape;1986;p22"/>
            <p:cNvSpPr txBox="1"/>
            <p:nvPr/>
          </p:nvSpPr>
          <p:spPr>
            <a:xfrm>
              <a:off x="7770228" y="5428727"/>
              <a:ext cx="3060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TCP/UDP segment format</a:t>
              </a:r>
              <a:endParaRPr b="0" i="0" sz="2400" u="none" cap="none" strike="noStrike">
                <a:solidFill>
                  <a:srgbClr val="000000"/>
                </a:solidFill>
                <a:latin typeface="Tahoma"/>
                <a:ea typeface="Tahoma"/>
                <a:cs typeface="Tahoma"/>
                <a:sym typeface="Tahoma"/>
              </a:endParaRPr>
            </a:p>
          </p:txBody>
        </p:sp>
      </p:grpSp>
      <p:sp>
        <p:nvSpPr>
          <p:cNvPr id="1987" name="Google Shape;1987;p22"/>
          <p:cNvSpPr/>
          <p:nvPr/>
        </p:nvSpPr>
        <p:spPr>
          <a:xfrm>
            <a:off x="7299923" y="1976355"/>
            <a:ext cx="2083205" cy="689091"/>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8" name="Google Shape;1988;p22"/>
          <p:cNvSpPr/>
          <p:nvPr/>
        </p:nvSpPr>
        <p:spPr>
          <a:xfrm>
            <a:off x="9014727" y="1985006"/>
            <a:ext cx="2083205" cy="689091"/>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9" name="Google Shape;1989;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3"/>
                                        </p:tgtEl>
                                        <p:attrNameLst>
                                          <p:attrName>style.visibility</p:attrName>
                                        </p:attrNameLst>
                                      </p:cBhvr>
                                      <p:to>
                                        <p:strVal val="visible"/>
                                      </p:to>
                                    </p:set>
                                    <p:animEffect filter="fade" transition="in">
                                      <p:cBhvr>
                                        <p:cTn dur="500"/>
                                        <p:tgtEl>
                                          <p:spTgt spid="19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7"/>
                                        </p:tgtEl>
                                        <p:attrNameLst>
                                          <p:attrName>style.visibility</p:attrName>
                                        </p:attrNameLst>
                                      </p:cBhvr>
                                      <p:to>
                                        <p:strVal val="visible"/>
                                      </p:to>
                                    </p:set>
                                    <p:animEffect filter="fade" transition="in">
                                      <p:cBhvr>
                                        <p:cTn dur="500"/>
                                        <p:tgtEl>
                                          <p:spTgt spid="19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8"/>
                                        </p:tgtEl>
                                        <p:attrNameLst>
                                          <p:attrName>style.visibility</p:attrName>
                                        </p:attrNameLst>
                                      </p:cBhvr>
                                      <p:to>
                                        <p:strVal val="visible"/>
                                      </p:to>
                                    </p:set>
                                    <p:animEffect filter="fade" transition="in">
                                      <p:cBhvr>
                                        <p:cTn dur="500"/>
                                        <p:tgtEl>
                                          <p:spTgt spid="19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4" name="Shape 1994"/>
        <p:cNvGrpSpPr/>
        <p:nvPr/>
      </p:nvGrpSpPr>
      <p:grpSpPr>
        <a:xfrm>
          <a:off x="0" y="0"/>
          <a:ext cx="0" cy="0"/>
          <a:chOff x="0" y="0"/>
          <a:chExt cx="0" cy="0"/>
        </a:xfrm>
      </p:grpSpPr>
      <p:sp>
        <p:nvSpPr>
          <p:cNvPr id="1995" name="Google Shape;1995;p2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Connectionless demultiplexing</a:t>
            </a:r>
            <a:endParaRPr/>
          </a:p>
        </p:txBody>
      </p:sp>
      <p:sp>
        <p:nvSpPr>
          <p:cNvPr id="1996" name="Google Shape;1996;p23"/>
          <p:cNvSpPr txBox="1"/>
          <p:nvPr/>
        </p:nvSpPr>
        <p:spPr>
          <a:xfrm>
            <a:off x="798689" y="1523600"/>
            <a:ext cx="5254159" cy="2113756"/>
          </a:xfrm>
          <a:prstGeom prst="rect">
            <a:avLst/>
          </a:prstGeom>
          <a:noFill/>
          <a:ln>
            <a:noFill/>
          </a:ln>
        </p:spPr>
        <p:txBody>
          <a:bodyPr anchorCtr="0" anchor="t" bIns="45700" lIns="91425" spcFirstLastPara="1" rIns="91425" wrap="square" tIns="45700">
            <a:normAutofit fontScale="92500" lnSpcReduction="10000"/>
          </a:bodyPr>
          <a:lstStyle/>
          <a:p>
            <a:pPr indent="0" lvl="0" marL="57150" marR="0" rtl="0" algn="l">
              <a:lnSpc>
                <a:spcPct val="90000"/>
              </a:lnSpc>
              <a:spcBef>
                <a:spcPts val="0"/>
              </a:spcBef>
              <a:spcAft>
                <a:spcPts val="0"/>
              </a:spcAft>
              <a:buClr>
                <a:srgbClr val="0000A3"/>
              </a:buClr>
              <a:buSzPct val="100000"/>
              <a:buFont typeface="Noto Sans Symbols"/>
              <a:buNone/>
            </a:pPr>
            <a:r>
              <a:rPr b="0" i="1" lang="en-US" sz="3500" u="none" cap="none" strike="noStrike">
                <a:solidFill>
                  <a:srgbClr val="000000"/>
                </a:solidFill>
                <a:latin typeface="Calibri"/>
                <a:ea typeface="Calibri"/>
                <a:cs typeface="Calibri"/>
                <a:sym typeface="Calibri"/>
              </a:rPr>
              <a:t>Recall:</a:t>
            </a:r>
            <a:r>
              <a:rPr b="0" i="0" lang="en-US" sz="3500" u="none" cap="none" strike="noStrike">
                <a:solidFill>
                  <a:srgbClr val="000000"/>
                </a:solidFill>
                <a:latin typeface="Calibri"/>
                <a:ea typeface="Calibri"/>
                <a:cs typeface="Calibri"/>
                <a:sym typeface="Calibri"/>
              </a:rPr>
              <a:t> </a:t>
            </a:r>
            <a:endParaRPr/>
          </a:p>
          <a:p>
            <a:pPr indent="-290544" lvl="0" marL="347663" marR="0" rtl="0" algn="l">
              <a:lnSpc>
                <a:spcPct val="90000"/>
              </a:lnSpc>
              <a:spcBef>
                <a:spcPts val="1000"/>
              </a:spcBef>
              <a:spcAft>
                <a:spcPts val="0"/>
              </a:spcAft>
              <a:buClr>
                <a:srgbClr val="0000A3"/>
              </a:buClr>
              <a:buSzPct val="100000"/>
              <a:buFont typeface="Noto Sans Symbols"/>
              <a:buChar char="▪"/>
            </a:pPr>
            <a:r>
              <a:rPr b="0" i="0" lang="en-US" sz="3500" u="none" cap="none" strike="noStrike">
                <a:solidFill>
                  <a:srgbClr val="000000"/>
                </a:solidFill>
                <a:latin typeface="Calibri"/>
                <a:ea typeface="Calibri"/>
                <a:cs typeface="Calibri"/>
                <a:sym typeface="Calibri"/>
              </a:rPr>
              <a:t>when creating socket, must specify </a:t>
            </a:r>
            <a:r>
              <a:rPr b="0" i="1" lang="en-US" sz="3500" u="none" cap="none" strike="noStrike">
                <a:solidFill>
                  <a:srgbClr val="CD0004"/>
                </a:solidFill>
                <a:latin typeface="Calibri"/>
                <a:ea typeface="Calibri"/>
                <a:cs typeface="Calibri"/>
                <a:sym typeface="Calibri"/>
              </a:rPr>
              <a:t>host-local </a:t>
            </a:r>
            <a:r>
              <a:rPr b="0" i="0" lang="en-US" sz="3500" u="none" cap="none" strike="noStrike">
                <a:solidFill>
                  <a:srgbClr val="000000"/>
                </a:solidFill>
                <a:latin typeface="Calibri"/>
                <a:ea typeface="Calibri"/>
                <a:cs typeface="Calibri"/>
                <a:sym typeface="Calibri"/>
              </a:rPr>
              <a:t>port #:</a:t>
            </a:r>
            <a:endParaRPr/>
          </a:p>
          <a:p>
            <a:pPr indent="-290513" lvl="0" marL="347663" marR="0" rtl="0" algn="l">
              <a:lnSpc>
                <a:spcPct val="90000"/>
              </a:lnSpc>
              <a:spcBef>
                <a:spcPts val="1000"/>
              </a:spcBef>
              <a:spcAft>
                <a:spcPts val="0"/>
              </a:spcAft>
              <a:buClr>
                <a:srgbClr val="0000A3"/>
              </a:buClr>
              <a:buSzPct val="100000"/>
              <a:buFont typeface="Noto Sans Symbols"/>
              <a:buNone/>
            </a:pPr>
            <a:r>
              <a:rPr b="1" i="0"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ourier"/>
                <a:ea typeface="Courier"/>
                <a:cs typeface="Courier"/>
                <a:sym typeface="Courier"/>
              </a:rPr>
              <a:t>DatagramSocket mySocket1        = new DatagramSocket(</a:t>
            </a:r>
            <a:r>
              <a:rPr b="0" i="0" lang="en-US" sz="2400" u="none" cap="none" strike="noStrike">
                <a:solidFill>
                  <a:srgbClr val="CC0000"/>
                </a:solidFill>
                <a:latin typeface="Courier"/>
                <a:ea typeface="Courier"/>
                <a:cs typeface="Courier"/>
                <a:sym typeface="Courier"/>
              </a:rPr>
              <a:t>12534</a:t>
            </a:r>
            <a:r>
              <a:rPr b="0" i="0" lang="en-US" sz="2400" u="none" cap="none" strike="noStrike">
                <a:solidFill>
                  <a:srgbClr val="000000"/>
                </a:solidFill>
                <a:latin typeface="Courier"/>
                <a:ea typeface="Courier"/>
                <a:cs typeface="Courier"/>
                <a:sym typeface="Courier"/>
              </a:rPr>
              <a:t>);</a:t>
            </a:r>
            <a:endParaRPr/>
          </a:p>
          <a:p>
            <a:pPr indent="-290513" lvl="0" marL="347663" marR="0" rtl="0" algn="l">
              <a:lnSpc>
                <a:spcPct val="9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1997" name="Google Shape;1997;p23"/>
          <p:cNvSpPr txBox="1"/>
          <p:nvPr/>
        </p:nvSpPr>
        <p:spPr>
          <a:xfrm>
            <a:off x="6774662" y="1514612"/>
            <a:ext cx="4894407" cy="2368550"/>
          </a:xfrm>
          <a:prstGeom prst="rect">
            <a:avLst/>
          </a:prstGeom>
          <a:noFill/>
          <a:ln>
            <a:noFill/>
          </a:ln>
        </p:spPr>
        <p:txBody>
          <a:bodyPr anchorCtr="0" anchor="t" bIns="45700" lIns="91425" spcFirstLastPara="1" rIns="91425" wrap="square" tIns="45700">
            <a:normAutofit fontScale="92500" lnSpcReduction="10000"/>
          </a:bodyPr>
          <a:lstStyle/>
          <a:p>
            <a:pPr indent="0" lvl="0" marL="130175" marR="0" rtl="0" algn="l">
              <a:lnSpc>
                <a:spcPct val="90000"/>
              </a:lnSpc>
              <a:spcBef>
                <a:spcPts val="0"/>
              </a:spcBef>
              <a:spcAft>
                <a:spcPts val="0"/>
              </a:spcAft>
              <a:buClr>
                <a:srgbClr val="0000A3"/>
              </a:buClr>
              <a:buSzPct val="100000"/>
              <a:buFont typeface="Noto Sans Symbols"/>
              <a:buNone/>
            </a:pPr>
            <a:r>
              <a:rPr b="0" i="0" lang="en-US" sz="3200" u="none" cap="none" strike="noStrike">
                <a:solidFill>
                  <a:srgbClr val="000000"/>
                </a:solidFill>
                <a:latin typeface="Calibri"/>
                <a:ea typeface="Calibri"/>
                <a:cs typeface="Calibri"/>
                <a:sym typeface="Calibri"/>
              </a:rPr>
              <a:t>when receiving host receives </a:t>
            </a:r>
            <a:r>
              <a:rPr b="0" i="1" lang="en-US" sz="3200" u="none" cap="none" strike="noStrike">
                <a:solidFill>
                  <a:srgbClr val="000000"/>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segment:</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checks destination port # in segment</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directs UDP segment to socket with that port #</a:t>
            </a:r>
            <a:endParaRPr/>
          </a:p>
        </p:txBody>
      </p:sp>
      <p:sp>
        <p:nvSpPr>
          <p:cNvPr id="1998" name="Google Shape;1998;p23"/>
          <p:cNvSpPr/>
          <p:nvPr/>
        </p:nvSpPr>
        <p:spPr>
          <a:xfrm>
            <a:off x="883807" y="3328506"/>
            <a:ext cx="5227637" cy="2751815"/>
          </a:xfrm>
          <a:prstGeom prst="rect">
            <a:avLst/>
          </a:prstGeom>
          <a:noFill/>
          <a:ln>
            <a:noFill/>
          </a:ln>
        </p:spPr>
        <p:txBody>
          <a:bodyPr anchorCtr="0" anchor="t" bIns="45700" lIns="91425" spcFirstLastPara="1" rIns="91425" wrap="square" tIns="45700">
            <a:noAutofit/>
          </a:bodyPr>
          <a:lstStyle/>
          <a:p>
            <a:pPr indent="-191453" lvl="0" marL="347663" marR="0" rtl="0" algn="l">
              <a:lnSpc>
                <a:spcPct val="85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292100" lvl="0" marL="292100"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when creating datagram to send into UDP socket, must specify</a:t>
            </a:r>
            <a:endParaRPr/>
          </a:p>
          <a:p>
            <a:pPr indent="-239712" lvl="1" marL="8588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destination IP address</a:t>
            </a:r>
            <a:endParaRPr/>
          </a:p>
          <a:p>
            <a:pPr indent="-239712" lvl="1" marL="8588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destination port #</a:t>
            </a:r>
            <a:endParaRPr/>
          </a:p>
        </p:txBody>
      </p:sp>
      <p:sp>
        <p:nvSpPr>
          <p:cNvPr id="1999" name="Google Shape;1999;p23"/>
          <p:cNvSpPr/>
          <p:nvPr/>
        </p:nvSpPr>
        <p:spPr>
          <a:xfrm>
            <a:off x="6349002" y="4420787"/>
            <a:ext cx="5188153" cy="233688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IP/UDP datagrams with </a:t>
            </a:r>
            <a:r>
              <a:rPr b="0" i="1" lang="en-US" sz="2800" u="none" cap="none" strike="noStrike">
                <a:solidFill>
                  <a:srgbClr val="CC0000"/>
                </a:solidFill>
                <a:latin typeface="Calibri"/>
                <a:ea typeface="Calibri"/>
                <a:cs typeface="Calibri"/>
                <a:sym typeface="Calibri"/>
              </a:rPr>
              <a:t>same dest. port #,</a:t>
            </a:r>
            <a:r>
              <a:rPr b="0" i="0" lang="en-US" sz="2800" u="none" cap="none" strike="noStrike">
                <a:solidFill>
                  <a:srgbClr val="000000"/>
                </a:solidFill>
                <a:latin typeface="Calibri"/>
                <a:ea typeface="Calibri"/>
                <a:cs typeface="Calibri"/>
                <a:sym typeface="Calibri"/>
              </a:rPr>
              <a:t> but different source IP addresses and/or source port numbers will be directed to </a:t>
            </a:r>
            <a:r>
              <a:rPr b="0" i="1" lang="en-US" sz="2800" u="none" cap="none" strike="noStrike">
                <a:solidFill>
                  <a:srgbClr val="CC0000"/>
                </a:solidFill>
                <a:latin typeface="Calibri"/>
                <a:ea typeface="Calibri"/>
                <a:cs typeface="Calibri"/>
                <a:sym typeface="Calibri"/>
              </a:rPr>
              <a:t>same socket </a:t>
            </a:r>
            <a:r>
              <a:rPr b="0" i="0" lang="en-US" sz="2800" u="none" cap="none" strike="noStrike">
                <a:solidFill>
                  <a:srgbClr val="000000"/>
                </a:solidFill>
                <a:latin typeface="Calibri"/>
                <a:ea typeface="Calibri"/>
                <a:cs typeface="Calibri"/>
                <a:sym typeface="Calibri"/>
              </a:rPr>
              <a:t>at receiving host</a:t>
            </a:r>
            <a:endParaRPr/>
          </a:p>
        </p:txBody>
      </p:sp>
      <p:sp>
        <p:nvSpPr>
          <p:cNvPr id="2000" name="Google Shape;2000;p23"/>
          <p:cNvSpPr/>
          <p:nvPr/>
        </p:nvSpPr>
        <p:spPr>
          <a:xfrm rot="5400000">
            <a:off x="8662884" y="3896801"/>
            <a:ext cx="560388" cy="311150"/>
          </a:xfrm>
          <a:prstGeom prst="rightArrow">
            <a:avLst>
              <a:gd fmla="val 50000" name="adj1"/>
              <a:gd fmla="val 45026" name="adj2"/>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001" name="Google Shape;2001;p23"/>
          <p:cNvSpPr/>
          <p:nvPr/>
        </p:nvSpPr>
        <p:spPr>
          <a:xfrm>
            <a:off x="4202130" y="2887038"/>
            <a:ext cx="1909314" cy="996124"/>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02" name="Google Shape;2002;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1"/>
                                        </p:tgtEl>
                                        <p:attrNameLst>
                                          <p:attrName>style.visibility</p:attrName>
                                        </p:attrNameLst>
                                      </p:cBhvr>
                                      <p:to>
                                        <p:strVal val="visible"/>
                                      </p:to>
                                    </p:set>
                                    <p:animEffect filter="fade" transition="in">
                                      <p:cBhvr>
                                        <p:cTn dur="500"/>
                                        <p:tgtEl>
                                          <p:spTgt spid="20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8"/>
                                        </p:tgtEl>
                                        <p:attrNameLst>
                                          <p:attrName>style.visibility</p:attrName>
                                        </p:attrNameLst>
                                      </p:cBhvr>
                                      <p:to>
                                        <p:strVal val="visible"/>
                                      </p:to>
                                    </p:set>
                                    <p:animEffect filter="fade" transition="in">
                                      <p:cBhvr>
                                        <p:cTn dur="500"/>
                                        <p:tgtEl>
                                          <p:spTgt spid="1998"/>
                                        </p:tgtEl>
                                      </p:cBhvr>
                                    </p:animEffect>
                                  </p:childTnLst>
                                </p:cTn>
                              </p:par>
                              <p:par>
                                <p:cTn fill="hold" nodeType="withEffect" presetClass="exit" presetID="10" presetSubtype="0">
                                  <p:stCondLst>
                                    <p:cond delay="0"/>
                                  </p:stCondLst>
                                  <p:childTnLst>
                                    <p:animEffect filter="fade" transition="out">
                                      <p:cBhvr>
                                        <p:cTn dur="500"/>
                                        <p:tgtEl>
                                          <p:spTgt spid="2001"/>
                                        </p:tgtEl>
                                      </p:cBhvr>
                                    </p:animEffect>
                                    <p:set>
                                      <p:cBhvr>
                                        <p:cTn dur="1" fill="hold">
                                          <p:stCondLst>
                                            <p:cond delay="500"/>
                                          </p:stCondLst>
                                        </p:cTn>
                                        <p:tgtEl>
                                          <p:spTgt spid="20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7"/>
                                        </p:tgtEl>
                                        <p:attrNameLst>
                                          <p:attrName>style.visibility</p:attrName>
                                        </p:attrNameLst>
                                      </p:cBhvr>
                                      <p:to>
                                        <p:strVal val="visible"/>
                                      </p:to>
                                    </p:set>
                                    <p:animEffect filter="fade" transition="in">
                                      <p:cBhvr>
                                        <p:cTn dur="500"/>
                                        <p:tgtEl>
                                          <p:spTgt spid="19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9"/>
                                        </p:tgtEl>
                                        <p:attrNameLst>
                                          <p:attrName>style.visibility</p:attrName>
                                        </p:attrNameLst>
                                      </p:cBhvr>
                                      <p:to>
                                        <p:strVal val="visible"/>
                                      </p:to>
                                    </p:set>
                                    <p:animEffect filter="fade" transition="in">
                                      <p:cBhvr>
                                        <p:cTn dur="500"/>
                                        <p:tgtEl>
                                          <p:spTgt spid="1999"/>
                                        </p:tgtEl>
                                      </p:cBhvr>
                                    </p:animEffect>
                                  </p:childTnLst>
                                </p:cTn>
                              </p:par>
                              <p:par>
                                <p:cTn fill="hold" nodeType="withEffect" presetClass="entr" presetID="10" presetSubtype="0">
                                  <p:stCondLst>
                                    <p:cond delay="0"/>
                                  </p:stCondLst>
                                  <p:childTnLst>
                                    <p:set>
                                      <p:cBhvr>
                                        <p:cTn dur="1" fill="hold">
                                          <p:stCondLst>
                                            <p:cond delay="0"/>
                                          </p:stCondLst>
                                        </p:cTn>
                                        <p:tgtEl>
                                          <p:spTgt spid="2000"/>
                                        </p:tgtEl>
                                        <p:attrNameLst>
                                          <p:attrName>style.visibility</p:attrName>
                                        </p:attrNameLst>
                                      </p:cBhvr>
                                      <p:to>
                                        <p:strVal val="visible"/>
                                      </p:to>
                                    </p:set>
                                    <p:animEffect filter="fade" transition="in">
                                      <p:cBhvr>
                                        <p:cTn dur="500"/>
                                        <p:tgtEl>
                                          <p:spTgt spid="2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7" name="Shape 2007"/>
        <p:cNvGrpSpPr/>
        <p:nvPr/>
      </p:nvGrpSpPr>
      <p:grpSpPr>
        <a:xfrm>
          <a:off x="0" y="0"/>
          <a:ext cx="0" cy="0"/>
          <a:chOff x="0" y="0"/>
          <a:chExt cx="0" cy="0"/>
        </a:xfrm>
      </p:grpSpPr>
      <p:sp>
        <p:nvSpPr>
          <p:cNvPr id="2008" name="Google Shape;2008;p2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Connectionless demultiplexing: an example</a:t>
            </a:r>
            <a:endParaRPr/>
          </a:p>
        </p:txBody>
      </p:sp>
      <p:sp>
        <p:nvSpPr>
          <p:cNvPr id="2009" name="Google Shape;2009;p24"/>
          <p:cNvSpPr txBox="1"/>
          <p:nvPr/>
        </p:nvSpPr>
        <p:spPr>
          <a:xfrm>
            <a:off x="4598987" y="1387147"/>
            <a:ext cx="4217987" cy="725488"/>
          </a:xfrm>
          <a:prstGeom prst="rect">
            <a:avLst/>
          </a:prstGeom>
          <a:noFill/>
          <a:ln>
            <a:noFill/>
          </a:ln>
        </p:spPr>
        <p:txBody>
          <a:bodyPr anchorCtr="0" anchor="t" bIns="45700" lIns="91425" spcFirstLastPara="1" rIns="91425" wrap="square" tIns="45700">
            <a:noAutofit/>
          </a:bodyPr>
          <a:lstStyle/>
          <a:p>
            <a:pPr indent="-173038" lvl="0" marL="173038" marR="0" rtl="0" algn="l">
              <a:lnSpc>
                <a:spcPct val="85000"/>
              </a:lnSpc>
              <a:spcBef>
                <a:spcPts val="0"/>
              </a:spcBef>
              <a:spcAft>
                <a:spcPts val="0"/>
              </a:spcAft>
              <a:buClr>
                <a:srgbClr val="000099"/>
              </a:buClr>
              <a:buSzPts val="2000"/>
              <a:buFont typeface="Noto Sans Symbols"/>
              <a:buNone/>
            </a:pPr>
            <a:r>
              <a:rPr b="1" i="0" lang="en-US" sz="2000" u="none" cap="none" strike="noStrike">
                <a:solidFill>
                  <a:srgbClr val="000000"/>
                </a:solidFill>
                <a:latin typeface="Courier New"/>
                <a:ea typeface="Courier New"/>
                <a:cs typeface="Courier New"/>
                <a:sym typeface="Courier New"/>
              </a:rPr>
              <a:t>DatagramSocket serverSocket = new DatagramSocket</a:t>
            </a:r>
            <a:endParaRPr b="1" i="0" sz="2000" u="none" cap="none" strike="noStrike">
              <a:solidFill>
                <a:srgbClr val="000000"/>
              </a:solidFill>
              <a:latin typeface="Courier New"/>
              <a:ea typeface="Courier New"/>
              <a:cs typeface="Courier New"/>
              <a:sym typeface="Courier New"/>
            </a:endParaRPr>
          </a:p>
          <a:p>
            <a:pPr indent="-173038" lvl="0" marL="173038" marR="0" rtl="0" algn="l">
              <a:lnSpc>
                <a:spcPct val="85000"/>
              </a:lnSpc>
              <a:spcBef>
                <a:spcPts val="400"/>
              </a:spcBef>
              <a:spcAft>
                <a:spcPts val="0"/>
              </a:spcAft>
              <a:buClr>
                <a:srgbClr val="000099"/>
              </a:buClr>
              <a:buSzPts val="2000"/>
              <a:buFont typeface="Noto Sans Symbols"/>
              <a:buNone/>
            </a:pPr>
            <a:r>
              <a:rPr b="1"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CC0000"/>
                </a:solidFill>
                <a:latin typeface="Courier New"/>
                <a:ea typeface="Courier New"/>
                <a:cs typeface="Courier New"/>
                <a:sym typeface="Courier New"/>
              </a:rPr>
              <a:t>6428</a:t>
            </a:r>
            <a:r>
              <a:rPr b="1" i="0" lang="en-US" sz="2000" u="none" cap="none" strike="noStrike">
                <a:solidFill>
                  <a:srgbClr val="000000"/>
                </a:solidFill>
                <a:latin typeface="Courier New"/>
                <a:ea typeface="Courier New"/>
                <a:cs typeface="Courier New"/>
                <a:sym typeface="Courier New"/>
              </a:rPr>
              <a:t>);</a:t>
            </a:r>
            <a:endParaRPr/>
          </a:p>
          <a:p>
            <a:pPr indent="0" lvl="0" marL="173038" marR="0" rtl="0" algn="l">
              <a:lnSpc>
                <a:spcPct val="85000"/>
              </a:lnSpc>
              <a:spcBef>
                <a:spcPts val="800"/>
              </a:spcBef>
              <a:spcAft>
                <a:spcPts val="0"/>
              </a:spcAft>
              <a:buClr>
                <a:srgbClr val="000099"/>
              </a:buClr>
              <a:buSzPts val="4000"/>
              <a:buFont typeface="Noto Sans Symbols"/>
              <a:buNone/>
            </a:pPr>
            <a:r>
              <a:t/>
            </a:r>
            <a:endParaRPr b="0" i="0" sz="4000" u="none" cap="none" strike="noStrike">
              <a:solidFill>
                <a:srgbClr val="000000"/>
              </a:solidFill>
              <a:latin typeface="Gill Sans"/>
              <a:ea typeface="Gill Sans"/>
              <a:cs typeface="Gill Sans"/>
              <a:sym typeface="Gill Sans"/>
            </a:endParaRPr>
          </a:p>
        </p:txBody>
      </p:sp>
      <p:sp>
        <p:nvSpPr>
          <p:cNvPr id="2010" name="Google Shape;2010;p24"/>
          <p:cNvSpPr/>
          <p:nvPr/>
        </p:nvSpPr>
        <p:spPr>
          <a:xfrm>
            <a:off x="4799806" y="250291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1" name="Google Shape;2011;p24"/>
          <p:cNvSpPr/>
          <p:nvPr/>
        </p:nvSpPr>
        <p:spPr>
          <a:xfrm>
            <a:off x="2015331" y="2807714"/>
            <a:ext cx="460375" cy="2193925"/>
          </a:xfrm>
          <a:custGeom>
            <a:rect b="b" l="l" r="r" t="t"/>
            <a:pathLst>
              <a:path extrusionOk="0" h="1382" w="290">
                <a:moveTo>
                  <a:pt x="15" y="1382"/>
                </a:moveTo>
                <a:lnTo>
                  <a:pt x="0" y="1360"/>
                </a:lnTo>
                <a:lnTo>
                  <a:pt x="290" y="0"/>
                </a:lnTo>
                <a:lnTo>
                  <a:pt x="284" y="1258"/>
                </a:lnTo>
                <a:lnTo>
                  <a:pt x="182" y="1382"/>
                </a:lnTo>
                <a:lnTo>
                  <a:pt x="15" y="1382"/>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2" name="Google Shape;2012;p24"/>
          <p:cNvSpPr/>
          <p:nvPr/>
        </p:nvSpPr>
        <p:spPr>
          <a:xfrm>
            <a:off x="2520156" y="2774376"/>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13" name="Google Shape;2013;p24"/>
          <p:cNvSpPr/>
          <p:nvPr/>
        </p:nvSpPr>
        <p:spPr>
          <a:xfrm>
            <a:off x="2482056" y="2828351"/>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14" name="Google Shape;2014;p24"/>
          <p:cNvCxnSpPr/>
          <p:nvPr/>
        </p:nvCxnSpPr>
        <p:spPr>
          <a:xfrm>
            <a:off x="2491581" y="358876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15" name="Google Shape;2015;p24"/>
          <p:cNvSpPr txBox="1"/>
          <p:nvPr/>
        </p:nvSpPr>
        <p:spPr>
          <a:xfrm>
            <a:off x="2448718" y="357130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16" name="Google Shape;2016;p24"/>
          <p:cNvCxnSpPr/>
          <p:nvPr/>
        </p:nvCxnSpPr>
        <p:spPr>
          <a:xfrm>
            <a:off x="2499518" y="3909439"/>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17" name="Google Shape;2017;p24"/>
          <p:cNvCxnSpPr/>
          <p:nvPr/>
        </p:nvCxnSpPr>
        <p:spPr>
          <a:xfrm>
            <a:off x="2485231" y="4219001"/>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18" name="Google Shape;2018;p24"/>
          <p:cNvCxnSpPr/>
          <p:nvPr/>
        </p:nvCxnSpPr>
        <p:spPr>
          <a:xfrm>
            <a:off x="2485231" y="4504751"/>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19" name="Google Shape;2019;p24"/>
          <p:cNvSpPr txBox="1"/>
          <p:nvPr/>
        </p:nvSpPr>
        <p:spPr>
          <a:xfrm>
            <a:off x="2483643" y="281882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20" name="Google Shape;2020;p24"/>
          <p:cNvSpPr txBox="1"/>
          <p:nvPr/>
        </p:nvSpPr>
        <p:spPr>
          <a:xfrm>
            <a:off x="2439193" y="447617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21" name="Google Shape;2021;p24"/>
          <p:cNvSpPr txBox="1"/>
          <p:nvPr/>
        </p:nvSpPr>
        <p:spPr>
          <a:xfrm>
            <a:off x="2458243" y="419042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22" name="Google Shape;2022;p24"/>
          <p:cNvSpPr txBox="1"/>
          <p:nvPr/>
        </p:nvSpPr>
        <p:spPr>
          <a:xfrm>
            <a:off x="2448718" y="389515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023" name="Google Shape;2023;p24"/>
          <p:cNvSpPr/>
          <p:nvPr/>
        </p:nvSpPr>
        <p:spPr>
          <a:xfrm>
            <a:off x="2818606" y="3104576"/>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P3</a:t>
            </a:r>
            <a:endParaRPr/>
          </a:p>
        </p:txBody>
      </p:sp>
      <p:grpSp>
        <p:nvGrpSpPr>
          <p:cNvPr id="2024" name="Google Shape;2024;p24"/>
          <p:cNvGrpSpPr/>
          <p:nvPr/>
        </p:nvGrpSpPr>
        <p:grpSpPr>
          <a:xfrm>
            <a:off x="2786856" y="3428426"/>
            <a:ext cx="620712" cy="228600"/>
            <a:chOff x="1287" y="2524"/>
            <a:chExt cx="260" cy="100"/>
          </a:xfrm>
        </p:grpSpPr>
        <p:sp>
          <p:nvSpPr>
            <p:cNvPr id="2025" name="Google Shape;2025;p2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6" name="Google Shape;2026;p2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7" name="Google Shape;2027;p24"/>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8" name="Google Shape;2028;p2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29" name="Google Shape;2029;p24"/>
          <p:cNvSpPr/>
          <p:nvPr/>
        </p:nvSpPr>
        <p:spPr>
          <a:xfrm>
            <a:off x="5347493" y="254101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30" name="Google Shape;2030;p24"/>
          <p:cNvSpPr/>
          <p:nvPr/>
        </p:nvSpPr>
        <p:spPr>
          <a:xfrm>
            <a:off x="5312568" y="2594989"/>
            <a:ext cx="1473200"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31" name="Google Shape;2031;p24"/>
          <p:cNvCxnSpPr/>
          <p:nvPr/>
        </p:nvCxnSpPr>
        <p:spPr>
          <a:xfrm>
            <a:off x="5318918" y="3364926"/>
            <a:ext cx="1460500" cy="3175"/>
          </a:xfrm>
          <a:prstGeom prst="straightConnector1">
            <a:avLst/>
          </a:prstGeom>
          <a:noFill/>
          <a:ln cap="flat" cmpd="sng" w="28575">
            <a:solidFill>
              <a:srgbClr val="000000"/>
            </a:solidFill>
            <a:prstDash val="solid"/>
            <a:round/>
            <a:headEnd len="med" w="med" type="none"/>
            <a:tailEnd len="med" w="med" type="none"/>
          </a:ln>
        </p:spPr>
      </p:cxnSp>
      <p:sp>
        <p:nvSpPr>
          <p:cNvPr id="2032" name="Google Shape;2032;p24"/>
          <p:cNvSpPr txBox="1"/>
          <p:nvPr/>
        </p:nvSpPr>
        <p:spPr>
          <a:xfrm>
            <a:off x="5390356" y="334746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33" name="Google Shape;2033;p24"/>
          <p:cNvCxnSpPr/>
          <p:nvPr/>
        </p:nvCxnSpPr>
        <p:spPr>
          <a:xfrm>
            <a:off x="5320506" y="3682426"/>
            <a:ext cx="1457325" cy="0"/>
          </a:xfrm>
          <a:prstGeom prst="straightConnector1">
            <a:avLst/>
          </a:prstGeom>
          <a:noFill/>
          <a:ln cap="flat" cmpd="sng" w="28575">
            <a:solidFill>
              <a:srgbClr val="000000"/>
            </a:solidFill>
            <a:prstDash val="solid"/>
            <a:round/>
            <a:headEnd len="med" w="med" type="none"/>
            <a:tailEnd len="med" w="med" type="none"/>
          </a:ln>
        </p:spPr>
      </p:cxnSp>
      <p:sp>
        <p:nvSpPr>
          <p:cNvPr id="2034" name="Google Shape;2034;p24"/>
          <p:cNvSpPr txBox="1"/>
          <p:nvPr/>
        </p:nvSpPr>
        <p:spPr>
          <a:xfrm>
            <a:off x="5387181" y="256165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35" name="Google Shape;2035;p24"/>
          <p:cNvSpPr txBox="1"/>
          <p:nvPr/>
        </p:nvSpPr>
        <p:spPr>
          <a:xfrm>
            <a:off x="5384006" y="42523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36" name="Google Shape;2036;p24"/>
          <p:cNvSpPr txBox="1"/>
          <p:nvPr/>
        </p:nvSpPr>
        <p:spPr>
          <a:xfrm>
            <a:off x="5384006" y="39665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37" name="Google Shape;2037;p24"/>
          <p:cNvSpPr txBox="1"/>
          <p:nvPr/>
        </p:nvSpPr>
        <p:spPr>
          <a:xfrm>
            <a:off x="5384006" y="36681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cxnSp>
        <p:nvCxnSpPr>
          <p:cNvPr id="2038" name="Google Shape;2038;p24"/>
          <p:cNvCxnSpPr/>
          <p:nvPr/>
        </p:nvCxnSpPr>
        <p:spPr>
          <a:xfrm>
            <a:off x="5317331" y="3993576"/>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2039" name="Google Shape;2039;p24"/>
          <p:cNvCxnSpPr/>
          <p:nvPr/>
        </p:nvCxnSpPr>
        <p:spPr>
          <a:xfrm>
            <a:off x="5314156" y="4292026"/>
            <a:ext cx="1457325" cy="0"/>
          </a:xfrm>
          <a:prstGeom prst="straightConnector1">
            <a:avLst/>
          </a:prstGeom>
          <a:noFill/>
          <a:ln cap="flat" cmpd="sng" w="28575">
            <a:solidFill>
              <a:srgbClr val="000000"/>
            </a:solidFill>
            <a:prstDash val="solid"/>
            <a:round/>
            <a:headEnd len="med" w="med" type="none"/>
            <a:tailEnd len="med" w="med" type="none"/>
          </a:ln>
        </p:spPr>
      </p:cxnSp>
      <p:sp>
        <p:nvSpPr>
          <p:cNvPr id="2040" name="Google Shape;2040;p24"/>
          <p:cNvSpPr/>
          <p:nvPr/>
        </p:nvSpPr>
        <p:spPr>
          <a:xfrm>
            <a:off x="5731668" y="2901376"/>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P1</a:t>
            </a:r>
            <a:endParaRPr/>
          </a:p>
        </p:txBody>
      </p:sp>
      <p:grpSp>
        <p:nvGrpSpPr>
          <p:cNvPr id="2041" name="Google Shape;2041;p24"/>
          <p:cNvGrpSpPr/>
          <p:nvPr/>
        </p:nvGrpSpPr>
        <p:grpSpPr>
          <a:xfrm>
            <a:off x="5603081" y="3217289"/>
            <a:ext cx="887412" cy="228600"/>
            <a:chOff x="1383" y="2620"/>
            <a:chExt cx="260" cy="100"/>
          </a:xfrm>
        </p:grpSpPr>
        <p:sp>
          <p:nvSpPr>
            <p:cNvPr id="2042" name="Google Shape;2042;p24"/>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43" name="Google Shape;2043;p24"/>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44" name="Google Shape;2044;p24"/>
            <p:cNvSpPr/>
            <p:nvPr/>
          </p:nvSpPr>
          <p:spPr>
            <a:xfrm>
              <a:off x="1599" y="2678"/>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45" name="Google Shape;2045;p24"/>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46" name="Google Shape;2046;p24"/>
          <p:cNvSpPr/>
          <p:nvPr/>
        </p:nvSpPr>
        <p:spPr>
          <a:xfrm>
            <a:off x="8354218" y="276643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47" name="Google Shape;2047;p24"/>
          <p:cNvSpPr/>
          <p:nvPr/>
        </p:nvSpPr>
        <p:spPr>
          <a:xfrm>
            <a:off x="8316118" y="2820414"/>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48" name="Google Shape;2048;p24"/>
          <p:cNvCxnSpPr/>
          <p:nvPr/>
        </p:nvCxnSpPr>
        <p:spPr>
          <a:xfrm>
            <a:off x="8325643" y="3580826"/>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49" name="Google Shape;2049;p24"/>
          <p:cNvSpPr txBox="1"/>
          <p:nvPr/>
        </p:nvSpPr>
        <p:spPr>
          <a:xfrm>
            <a:off x="8282781" y="356336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50" name="Google Shape;2050;p24"/>
          <p:cNvCxnSpPr/>
          <p:nvPr/>
        </p:nvCxnSpPr>
        <p:spPr>
          <a:xfrm>
            <a:off x="8333581" y="3901501"/>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51" name="Google Shape;2051;p24"/>
          <p:cNvCxnSpPr/>
          <p:nvPr/>
        </p:nvCxnSpPr>
        <p:spPr>
          <a:xfrm>
            <a:off x="8319293" y="421106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52" name="Google Shape;2052;p24"/>
          <p:cNvCxnSpPr/>
          <p:nvPr/>
        </p:nvCxnSpPr>
        <p:spPr>
          <a:xfrm>
            <a:off x="8319293" y="449681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53" name="Google Shape;2053;p24"/>
          <p:cNvSpPr txBox="1"/>
          <p:nvPr/>
        </p:nvSpPr>
        <p:spPr>
          <a:xfrm>
            <a:off x="8317706" y="28108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54" name="Google Shape;2054;p24"/>
          <p:cNvSpPr txBox="1"/>
          <p:nvPr/>
        </p:nvSpPr>
        <p:spPr>
          <a:xfrm>
            <a:off x="8273256" y="44682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55" name="Google Shape;2055;p24"/>
          <p:cNvSpPr txBox="1"/>
          <p:nvPr/>
        </p:nvSpPr>
        <p:spPr>
          <a:xfrm>
            <a:off x="8292306" y="41824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56" name="Google Shape;2056;p24"/>
          <p:cNvSpPr txBox="1"/>
          <p:nvPr/>
        </p:nvSpPr>
        <p:spPr>
          <a:xfrm>
            <a:off x="8282781" y="388721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057" name="Google Shape;2057;p24"/>
          <p:cNvSpPr/>
          <p:nvPr/>
        </p:nvSpPr>
        <p:spPr>
          <a:xfrm>
            <a:off x="8652668" y="3118864"/>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P4</a:t>
            </a:r>
            <a:endParaRPr/>
          </a:p>
        </p:txBody>
      </p:sp>
      <p:sp>
        <p:nvSpPr>
          <p:cNvPr id="2058" name="Google Shape;2058;p24"/>
          <p:cNvSpPr/>
          <p:nvPr/>
        </p:nvSpPr>
        <p:spPr>
          <a:xfrm>
            <a:off x="9613106" y="2787076"/>
            <a:ext cx="504825" cy="2133600"/>
          </a:xfrm>
          <a:custGeom>
            <a:rect b="b" l="l" r="r" t="t"/>
            <a:pathLst>
              <a:path extrusionOk="0" h="1344" w="318">
                <a:moveTo>
                  <a:pt x="318" y="1344"/>
                </a:moveTo>
                <a:lnTo>
                  <a:pt x="12" y="0"/>
                </a:lnTo>
                <a:lnTo>
                  <a:pt x="0" y="1224"/>
                </a:lnTo>
                <a:lnTo>
                  <a:pt x="121" y="1344"/>
                </a:lnTo>
                <a:lnTo>
                  <a:pt x="318" y="1344"/>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59" name="Google Shape;2059;p24"/>
          <p:cNvGrpSpPr/>
          <p:nvPr/>
        </p:nvGrpSpPr>
        <p:grpSpPr>
          <a:xfrm>
            <a:off x="8646318" y="3450651"/>
            <a:ext cx="620713" cy="204788"/>
            <a:chOff x="1287" y="2524"/>
            <a:chExt cx="260" cy="100"/>
          </a:xfrm>
        </p:grpSpPr>
        <p:sp>
          <p:nvSpPr>
            <p:cNvPr id="2060" name="Google Shape;2060;p2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61" name="Google Shape;2061;p2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62" name="Google Shape;2062;p24"/>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63" name="Google Shape;2063;p2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64" name="Google Shape;2064;p24"/>
          <p:cNvSpPr/>
          <p:nvPr/>
        </p:nvSpPr>
        <p:spPr>
          <a:xfrm>
            <a:off x="7968800" y="2094763"/>
            <a:ext cx="4189623" cy="655638"/>
          </a:xfrm>
          <a:prstGeom prst="rect">
            <a:avLst/>
          </a:prstGeom>
          <a:noFill/>
          <a:ln>
            <a:noFill/>
          </a:ln>
        </p:spPr>
        <p:txBody>
          <a:bodyPr anchorCtr="0" anchor="t" bIns="45700" lIns="91425" spcFirstLastPara="1" rIns="91425" wrap="square" tIns="45700">
            <a:noAutofit/>
          </a:bodyPr>
          <a:lstStyle/>
          <a:p>
            <a:pPr indent="-115888" lvl="0" marL="115888"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DatagramSocket mySocket1 = new DatagramSocket (</a:t>
            </a:r>
            <a:r>
              <a:rPr b="1" i="0" lang="en-US" sz="1800" u="none" cap="none" strike="noStrike">
                <a:solidFill>
                  <a:srgbClr val="CC0000"/>
                </a:solidFill>
                <a:latin typeface="Courier New"/>
                <a:ea typeface="Courier New"/>
                <a:cs typeface="Courier New"/>
                <a:sym typeface="Courier New"/>
              </a:rPr>
              <a:t>5775</a:t>
            </a:r>
            <a:r>
              <a:rPr b="1" i="0" lang="en-US" sz="1800" u="none" cap="none" strike="noStrike">
                <a:solidFill>
                  <a:srgbClr val="000000"/>
                </a:solidFill>
                <a:latin typeface="Courier New"/>
                <a:ea typeface="Courier New"/>
                <a:cs typeface="Courier New"/>
                <a:sym typeface="Courier New"/>
              </a:rPr>
              <a:t>);</a:t>
            </a:r>
            <a:endParaRPr/>
          </a:p>
          <a:p>
            <a:pPr indent="-115888" lvl="0" marL="115888" marR="0" rtl="0" algn="l">
              <a:lnSpc>
                <a:spcPct val="85000"/>
              </a:lnSpc>
              <a:spcBef>
                <a:spcPts val="360"/>
              </a:spcBef>
              <a:spcAft>
                <a:spcPts val="0"/>
              </a:spcAft>
              <a:buClr>
                <a:srgbClr val="000099"/>
              </a:buClr>
              <a:buSzPts val="1170"/>
              <a:buFont typeface="Noto Sans Symbols"/>
              <a:buNone/>
            </a:pPr>
            <a:r>
              <a:t/>
            </a:r>
            <a:endParaRPr b="0" i="0" sz="1800" u="none" cap="none" strike="noStrike">
              <a:solidFill>
                <a:srgbClr val="000000"/>
              </a:solidFill>
              <a:latin typeface="Courier New"/>
              <a:ea typeface="Courier New"/>
              <a:cs typeface="Courier New"/>
              <a:sym typeface="Courier New"/>
            </a:endParaRPr>
          </a:p>
        </p:txBody>
      </p:sp>
      <p:sp>
        <p:nvSpPr>
          <p:cNvPr id="2065" name="Google Shape;2065;p24"/>
          <p:cNvSpPr/>
          <p:nvPr/>
        </p:nvSpPr>
        <p:spPr>
          <a:xfrm>
            <a:off x="496329" y="2088579"/>
            <a:ext cx="3755375" cy="655637"/>
          </a:xfrm>
          <a:prstGeom prst="rect">
            <a:avLst/>
          </a:prstGeom>
          <a:noFill/>
          <a:ln>
            <a:noFill/>
          </a:ln>
        </p:spPr>
        <p:txBody>
          <a:bodyPr anchorCtr="0" anchor="t" bIns="45700" lIns="91425" spcFirstLastPara="1" rIns="91425" wrap="square" tIns="45700">
            <a:noAutofit/>
          </a:bodyPr>
          <a:lstStyle/>
          <a:p>
            <a:pPr indent="-115888" lvl="0" marL="115888"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DatagramSocket mySocket2 = new DatagramSocket</a:t>
            </a:r>
            <a:endParaRPr b="1" i="0" sz="1800" u="none" cap="none" strike="noStrike">
              <a:solidFill>
                <a:srgbClr val="000000"/>
              </a:solidFill>
              <a:latin typeface="Courier New"/>
              <a:ea typeface="Courier New"/>
              <a:cs typeface="Courier New"/>
              <a:sym typeface="Courier New"/>
            </a:endParaRPr>
          </a:p>
          <a:p>
            <a:pPr indent="-115888" lvl="0" marL="115888" marR="0" rtl="0" algn="l">
              <a:lnSpc>
                <a:spcPct val="85000"/>
              </a:lnSpc>
              <a:spcBef>
                <a:spcPts val="36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CC0000"/>
                </a:solidFill>
                <a:latin typeface="Courier New"/>
                <a:ea typeface="Courier New"/>
                <a:cs typeface="Courier New"/>
                <a:sym typeface="Courier New"/>
              </a:rPr>
              <a:t>9157</a:t>
            </a:r>
            <a:r>
              <a:rPr b="1" i="0" lang="en-US" sz="1800" u="none" cap="none" strike="noStrike">
                <a:solidFill>
                  <a:srgbClr val="000000"/>
                </a:solidFill>
                <a:latin typeface="Courier New"/>
                <a:ea typeface="Courier New"/>
                <a:cs typeface="Courier New"/>
                <a:sym typeface="Courier New"/>
              </a:rPr>
              <a:t>);</a:t>
            </a:r>
            <a:endParaRPr/>
          </a:p>
          <a:p>
            <a:pPr indent="-115888" lvl="0" marL="115888" marR="0" rtl="0" algn="l">
              <a:lnSpc>
                <a:spcPct val="85000"/>
              </a:lnSpc>
              <a:spcBef>
                <a:spcPts val="400"/>
              </a:spcBef>
              <a:spcAft>
                <a:spcPts val="0"/>
              </a:spcAft>
              <a:buClr>
                <a:srgbClr val="000099"/>
              </a:buClr>
              <a:buSzPts val="1300"/>
              <a:buFont typeface="Noto Sans Symbols"/>
              <a:buNone/>
            </a:pPr>
            <a:r>
              <a:t/>
            </a:r>
            <a:endParaRPr b="0" i="0" sz="2000" u="none" cap="none" strike="noStrike">
              <a:solidFill>
                <a:srgbClr val="000000"/>
              </a:solidFill>
              <a:latin typeface="Courier New"/>
              <a:ea typeface="Courier New"/>
              <a:cs typeface="Courier New"/>
              <a:sym typeface="Courier New"/>
            </a:endParaRPr>
          </a:p>
        </p:txBody>
      </p:sp>
      <p:cxnSp>
        <p:nvCxnSpPr>
          <p:cNvPr id="2066" name="Google Shape;2066;p24"/>
          <p:cNvCxnSpPr/>
          <p:nvPr/>
        </p:nvCxnSpPr>
        <p:spPr>
          <a:xfrm>
            <a:off x="3023393" y="3531614"/>
            <a:ext cx="0" cy="2176462"/>
          </a:xfrm>
          <a:prstGeom prst="straightConnector1">
            <a:avLst/>
          </a:prstGeom>
          <a:noFill/>
          <a:ln cap="flat" cmpd="sng" w="19050">
            <a:solidFill>
              <a:srgbClr val="CC0000"/>
            </a:solidFill>
            <a:prstDash val="solid"/>
            <a:round/>
            <a:headEnd len="med" w="med" type="none"/>
            <a:tailEnd len="med" w="med" type="triangle"/>
          </a:ln>
        </p:spPr>
      </p:cxnSp>
      <p:cxnSp>
        <p:nvCxnSpPr>
          <p:cNvPr id="2067" name="Google Shape;2067;p24"/>
          <p:cNvCxnSpPr/>
          <p:nvPr/>
        </p:nvCxnSpPr>
        <p:spPr>
          <a:xfrm>
            <a:off x="5953918" y="3290314"/>
            <a:ext cx="12700" cy="2408237"/>
          </a:xfrm>
          <a:prstGeom prst="straightConnector1">
            <a:avLst/>
          </a:prstGeom>
          <a:noFill/>
          <a:ln cap="flat" cmpd="sng" w="19050">
            <a:solidFill>
              <a:srgbClr val="CC0000"/>
            </a:solidFill>
            <a:prstDash val="solid"/>
            <a:round/>
            <a:headEnd len="med" w="med" type="triangle"/>
            <a:tailEnd len="med" w="med" type="none"/>
          </a:ln>
        </p:spPr>
      </p:cxnSp>
      <p:cxnSp>
        <p:nvCxnSpPr>
          <p:cNvPr id="2068" name="Google Shape;2068;p24"/>
          <p:cNvCxnSpPr/>
          <p:nvPr/>
        </p:nvCxnSpPr>
        <p:spPr>
          <a:xfrm>
            <a:off x="3023393" y="5690614"/>
            <a:ext cx="2936875" cy="0"/>
          </a:xfrm>
          <a:prstGeom prst="straightConnector1">
            <a:avLst/>
          </a:prstGeom>
          <a:noFill/>
          <a:ln cap="flat" cmpd="sng" w="19050">
            <a:solidFill>
              <a:srgbClr val="CC0000"/>
            </a:solidFill>
            <a:prstDash val="solid"/>
            <a:round/>
            <a:headEnd len="med" w="med" type="none"/>
            <a:tailEnd len="med" w="med" type="triangle"/>
          </a:ln>
        </p:spPr>
      </p:cxnSp>
      <p:cxnSp>
        <p:nvCxnSpPr>
          <p:cNvPr id="2069" name="Google Shape;2069;p24"/>
          <p:cNvCxnSpPr/>
          <p:nvPr/>
        </p:nvCxnSpPr>
        <p:spPr>
          <a:xfrm>
            <a:off x="5830093" y="3303014"/>
            <a:ext cx="0" cy="2246312"/>
          </a:xfrm>
          <a:prstGeom prst="straightConnector1">
            <a:avLst/>
          </a:prstGeom>
          <a:noFill/>
          <a:ln cap="flat" cmpd="sng" w="19050">
            <a:solidFill>
              <a:srgbClr val="CC0000"/>
            </a:solidFill>
            <a:prstDash val="solid"/>
            <a:round/>
            <a:headEnd len="med" w="med" type="none"/>
            <a:tailEnd len="med" w="med" type="triangle"/>
          </a:ln>
        </p:spPr>
      </p:cxnSp>
      <p:cxnSp>
        <p:nvCxnSpPr>
          <p:cNvPr id="2070" name="Google Shape;2070;p24"/>
          <p:cNvCxnSpPr/>
          <p:nvPr/>
        </p:nvCxnSpPr>
        <p:spPr>
          <a:xfrm>
            <a:off x="3131343" y="5531864"/>
            <a:ext cx="2740025" cy="0"/>
          </a:xfrm>
          <a:prstGeom prst="straightConnector1">
            <a:avLst/>
          </a:prstGeom>
          <a:noFill/>
          <a:ln cap="flat" cmpd="sng" w="19050">
            <a:solidFill>
              <a:srgbClr val="CC0000"/>
            </a:solidFill>
            <a:prstDash val="solid"/>
            <a:round/>
            <a:headEnd len="med" w="med" type="triangle"/>
            <a:tailEnd len="med" w="med" type="none"/>
          </a:ln>
        </p:spPr>
      </p:cxnSp>
      <p:cxnSp>
        <p:nvCxnSpPr>
          <p:cNvPr id="2071" name="Google Shape;2071;p24"/>
          <p:cNvCxnSpPr/>
          <p:nvPr/>
        </p:nvCxnSpPr>
        <p:spPr>
          <a:xfrm>
            <a:off x="3124993" y="3518914"/>
            <a:ext cx="12700" cy="2017712"/>
          </a:xfrm>
          <a:prstGeom prst="straightConnector1">
            <a:avLst/>
          </a:prstGeom>
          <a:noFill/>
          <a:ln cap="flat" cmpd="sng" w="19050">
            <a:solidFill>
              <a:srgbClr val="CC0000"/>
            </a:solidFill>
            <a:prstDash val="solid"/>
            <a:round/>
            <a:headEnd len="med" w="med" type="triangle"/>
            <a:tailEnd len="med" w="med" type="none"/>
          </a:ln>
        </p:spPr>
      </p:cxnSp>
      <p:cxnSp>
        <p:nvCxnSpPr>
          <p:cNvPr id="2072" name="Google Shape;2072;p24"/>
          <p:cNvCxnSpPr/>
          <p:nvPr/>
        </p:nvCxnSpPr>
        <p:spPr>
          <a:xfrm>
            <a:off x="9033668" y="3569714"/>
            <a:ext cx="0" cy="2176462"/>
          </a:xfrm>
          <a:prstGeom prst="straightConnector1">
            <a:avLst/>
          </a:prstGeom>
          <a:noFill/>
          <a:ln cap="flat" cmpd="sng" w="19050">
            <a:solidFill>
              <a:srgbClr val="CC0000"/>
            </a:solidFill>
            <a:prstDash val="solid"/>
            <a:round/>
            <a:headEnd len="med" w="med" type="none"/>
            <a:tailEnd len="med" w="med" type="triangle"/>
          </a:ln>
        </p:spPr>
      </p:cxnSp>
      <p:cxnSp>
        <p:nvCxnSpPr>
          <p:cNvPr id="2073" name="Google Shape;2073;p24"/>
          <p:cNvCxnSpPr/>
          <p:nvPr/>
        </p:nvCxnSpPr>
        <p:spPr>
          <a:xfrm>
            <a:off x="8916193" y="3537964"/>
            <a:ext cx="12700" cy="2017712"/>
          </a:xfrm>
          <a:prstGeom prst="straightConnector1">
            <a:avLst/>
          </a:prstGeom>
          <a:noFill/>
          <a:ln cap="flat" cmpd="sng" w="19050">
            <a:solidFill>
              <a:srgbClr val="CC0000"/>
            </a:solidFill>
            <a:prstDash val="solid"/>
            <a:round/>
            <a:headEnd len="med" w="med" type="triangle"/>
            <a:tailEnd len="med" w="med" type="none"/>
          </a:ln>
        </p:spPr>
      </p:cxnSp>
      <p:cxnSp>
        <p:nvCxnSpPr>
          <p:cNvPr id="2074" name="Google Shape;2074;p24"/>
          <p:cNvCxnSpPr/>
          <p:nvPr/>
        </p:nvCxnSpPr>
        <p:spPr>
          <a:xfrm>
            <a:off x="6096793" y="3309364"/>
            <a:ext cx="12700" cy="2408237"/>
          </a:xfrm>
          <a:prstGeom prst="straightConnector1">
            <a:avLst/>
          </a:prstGeom>
          <a:noFill/>
          <a:ln cap="flat" cmpd="sng" w="19050">
            <a:solidFill>
              <a:srgbClr val="CC0000"/>
            </a:solidFill>
            <a:prstDash val="solid"/>
            <a:round/>
            <a:headEnd len="med" w="med" type="triangle"/>
            <a:tailEnd len="med" w="med" type="none"/>
          </a:ln>
        </p:spPr>
      </p:cxnSp>
      <p:cxnSp>
        <p:nvCxnSpPr>
          <p:cNvPr id="2075" name="Google Shape;2075;p24"/>
          <p:cNvCxnSpPr/>
          <p:nvPr/>
        </p:nvCxnSpPr>
        <p:spPr>
          <a:xfrm>
            <a:off x="6230143" y="3322064"/>
            <a:ext cx="0" cy="2246312"/>
          </a:xfrm>
          <a:prstGeom prst="straightConnector1">
            <a:avLst/>
          </a:prstGeom>
          <a:noFill/>
          <a:ln cap="flat" cmpd="sng" w="19050">
            <a:solidFill>
              <a:srgbClr val="CC0000"/>
            </a:solidFill>
            <a:prstDash val="solid"/>
            <a:round/>
            <a:headEnd len="med" w="med" type="none"/>
            <a:tailEnd len="med" w="med" type="triangle"/>
          </a:ln>
        </p:spPr>
      </p:cxnSp>
      <p:cxnSp>
        <p:nvCxnSpPr>
          <p:cNvPr id="2076" name="Google Shape;2076;p24"/>
          <p:cNvCxnSpPr/>
          <p:nvPr/>
        </p:nvCxnSpPr>
        <p:spPr>
          <a:xfrm>
            <a:off x="6119018" y="5709664"/>
            <a:ext cx="2936875" cy="0"/>
          </a:xfrm>
          <a:prstGeom prst="straightConnector1">
            <a:avLst/>
          </a:prstGeom>
          <a:noFill/>
          <a:ln cap="flat" cmpd="sng" w="19050">
            <a:solidFill>
              <a:srgbClr val="CC0000"/>
            </a:solidFill>
            <a:prstDash val="solid"/>
            <a:round/>
            <a:headEnd len="med" w="med" type="triangle"/>
            <a:tailEnd len="med" w="med" type="none"/>
          </a:ln>
        </p:spPr>
      </p:cxnSp>
      <p:cxnSp>
        <p:nvCxnSpPr>
          <p:cNvPr id="2077" name="Google Shape;2077;p24"/>
          <p:cNvCxnSpPr/>
          <p:nvPr/>
        </p:nvCxnSpPr>
        <p:spPr>
          <a:xfrm>
            <a:off x="6204743" y="5541389"/>
            <a:ext cx="2740025" cy="0"/>
          </a:xfrm>
          <a:prstGeom prst="straightConnector1">
            <a:avLst/>
          </a:prstGeom>
          <a:noFill/>
          <a:ln cap="flat" cmpd="sng" w="19050">
            <a:solidFill>
              <a:srgbClr val="CC0000"/>
            </a:solidFill>
            <a:prstDash val="solid"/>
            <a:round/>
            <a:headEnd len="med" w="med" type="none"/>
            <a:tailEnd len="med" w="med" type="triangle"/>
          </a:ln>
        </p:spPr>
      </p:cxnSp>
      <p:grpSp>
        <p:nvGrpSpPr>
          <p:cNvPr id="2078" name="Google Shape;2078;p24"/>
          <p:cNvGrpSpPr/>
          <p:nvPr/>
        </p:nvGrpSpPr>
        <p:grpSpPr>
          <a:xfrm>
            <a:off x="2740818" y="5790626"/>
            <a:ext cx="1644650" cy="652463"/>
            <a:chOff x="1318" y="3697"/>
            <a:chExt cx="1036" cy="411"/>
          </a:xfrm>
        </p:grpSpPr>
        <p:sp>
          <p:nvSpPr>
            <p:cNvPr id="2079" name="Google Shape;2079;p24"/>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80" name="Google Shape;2080;p24"/>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081" name="Google Shape;2081;p24"/>
            <p:cNvSpPr txBox="1"/>
            <p:nvPr/>
          </p:nvSpPr>
          <p:spPr>
            <a:xfrm>
              <a:off x="1318" y="3822"/>
              <a:ext cx="994"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9157</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6428</a:t>
              </a:r>
              <a:endParaRPr/>
            </a:p>
          </p:txBody>
        </p:sp>
      </p:grpSp>
      <p:grpSp>
        <p:nvGrpSpPr>
          <p:cNvPr id="2082" name="Google Shape;2082;p24"/>
          <p:cNvGrpSpPr/>
          <p:nvPr/>
        </p:nvGrpSpPr>
        <p:grpSpPr>
          <a:xfrm>
            <a:off x="4039393" y="4914326"/>
            <a:ext cx="1692275" cy="652463"/>
            <a:chOff x="2741" y="3750"/>
            <a:chExt cx="1066" cy="411"/>
          </a:xfrm>
        </p:grpSpPr>
        <p:sp>
          <p:nvSpPr>
            <p:cNvPr id="2083" name="Google Shape;2083;p24"/>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84" name="Google Shape;2084;p24"/>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085" name="Google Shape;2085;p24"/>
            <p:cNvSpPr txBox="1"/>
            <p:nvPr/>
          </p:nvSpPr>
          <p:spPr>
            <a:xfrm>
              <a:off x="2813" y="3875"/>
              <a:ext cx="994"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6428</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9157</a:t>
              </a:r>
              <a:endParaRPr/>
            </a:p>
          </p:txBody>
        </p:sp>
      </p:grpSp>
      <p:grpSp>
        <p:nvGrpSpPr>
          <p:cNvPr id="2086" name="Google Shape;2086;p24"/>
          <p:cNvGrpSpPr/>
          <p:nvPr/>
        </p:nvGrpSpPr>
        <p:grpSpPr>
          <a:xfrm>
            <a:off x="7063581" y="4914326"/>
            <a:ext cx="1341437" cy="652463"/>
            <a:chOff x="1509" y="3697"/>
            <a:chExt cx="845" cy="411"/>
          </a:xfrm>
        </p:grpSpPr>
        <p:sp>
          <p:nvSpPr>
            <p:cNvPr id="2087" name="Google Shape;2087;p24"/>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88" name="Google Shape;2088;p24"/>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089" name="Google Shape;2089;p24"/>
            <p:cNvSpPr txBox="1"/>
            <p:nvPr/>
          </p:nvSpPr>
          <p:spPr>
            <a:xfrm>
              <a:off x="1509" y="3822"/>
              <a:ext cx="803"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a:t>
              </a:r>
              <a:endParaRPr/>
            </a:p>
          </p:txBody>
        </p:sp>
      </p:grpSp>
      <p:grpSp>
        <p:nvGrpSpPr>
          <p:cNvPr id="2090" name="Google Shape;2090;p24"/>
          <p:cNvGrpSpPr/>
          <p:nvPr/>
        </p:nvGrpSpPr>
        <p:grpSpPr>
          <a:xfrm>
            <a:off x="6304756" y="5768401"/>
            <a:ext cx="1389062" cy="652463"/>
            <a:chOff x="2741" y="3750"/>
            <a:chExt cx="875" cy="411"/>
          </a:xfrm>
        </p:grpSpPr>
        <p:sp>
          <p:nvSpPr>
            <p:cNvPr id="2091" name="Google Shape;2091;p24"/>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92" name="Google Shape;2092;p24"/>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093" name="Google Shape;2093;p24"/>
            <p:cNvSpPr txBox="1"/>
            <p:nvPr/>
          </p:nvSpPr>
          <p:spPr>
            <a:xfrm>
              <a:off x="2813" y="3875"/>
              <a:ext cx="803"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a:t>
              </a:r>
              <a:endParaRPr/>
            </a:p>
          </p:txBody>
        </p:sp>
      </p:grpSp>
      <p:grpSp>
        <p:nvGrpSpPr>
          <p:cNvPr id="2094" name="Google Shape;2094;p24"/>
          <p:cNvGrpSpPr/>
          <p:nvPr/>
        </p:nvGrpSpPr>
        <p:grpSpPr>
          <a:xfrm>
            <a:off x="1610518" y="4406326"/>
            <a:ext cx="711200" cy="669925"/>
            <a:chOff x="-44" y="1473"/>
            <a:chExt cx="981" cy="1105"/>
          </a:xfrm>
        </p:grpSpPr>
        <p:pic>
          <p:nvPicPr>
            <p:cNvPr descr="desktop_computer_stylized_medium" id="2095" name="Google Shape;2095;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096" name="Google Shape;2096;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097" name="Google Shape;2097;p24"/>
          <p:cNvGrpSpPr/>
          <p:nvPr/>
        </p:nvGrpSpPr>
        <p:grpSpPr>
          <a:xfrm flipH="1">
            <a:off x="9879806" y="4530151"/>
            <a:ext cx="711200" cy="669925"/>
            <a:chOff x="-44" y="1473"/>
            <a:chExt cx="981" cy="1105"/>
          </a:xfrm>
        </p:grpSpPr>
        <p:pic>
          <p:nvPicPr>
            <p:cNvPr descr="desktop_computer_stylized_medium" id="2098" name="Google Shape;2098;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099" name="Google Shape;2099;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00" name="Google Shape;2100;p24"/>
          <p:cNvGrpSpPr/>
          <p:nvPr/>
        </p:nvGrpSpPr>
        <p:grpSpPr>
          <a:xfrm>
            <a:off x="4702968" y="3928489"/>
            <a:ext cx="358775" cy="704850"/>
            <a:chOff x="4140" y="429"/>
            <a:chExt cx="1425" cy="2396"/>
          </a:xfrm>
        </p:grpSpPr>
        <p:sp>
          <p:nvSpPr>
            <p:cNvPr id="2101" name="Google Shape;2101;p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2" name="Google Shape;2102;p2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3" name="Google Shape;2103;p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4" name="Google Shape;2104;p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5" name="Google Shape;2105;p2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06" name="Google Shape;2106;p24"/>
            <p:cNvGrpSpPr/>
            <p:nvPr/>
          </p:nvGrpSpPr>
          <p:grpSpPr>
            <a:xfrm>
              <a:off x="4751" y="667"/>
              <a:ext cx="580" cy="146"/>
              <a:chOff x="617" y="2567"/>
              <a:chExt cx="724" cy="140"/>
            </a:xfrm>
          </p:grpSpPr>
          <p:sp>
            <p:nvSpPr>
              <p:cNvPr id="2107" name="Google Shape;2107;p2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8" name="Google Shape;2108;p2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09" name="Google Shape;2109;p2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10" name="Google Shape;2110;p24"/>
            <p:cNvGrpSpPr/>
            <p:nvPr/>
          </p:nvGrpSpPr>
          <p:grpSpPr>
            <a:xfrm>
              <a:off x="4745" y="996"/>
              <a:ext cx="580" cy="156"/>
              <a:chOff x="612" y="2570"/>
              <a:chExt cx="724" cy="162"/>
            </a:xfrm>
          </p:grpSpPr>
          <p:sp>
            <p:nvSpPr>
              <p:cNvPr id="2111" name="Google Shape;2111;p2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2" name="Google Shape;2112;p2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13" name="Google Shape;2113;p2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4" name="Google Shape;2114;p2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15" name="Google Shape;2115;p24"/>
            <p:cNvGrpSpPr/>
            <p:nvPr/>
          </p:nvGrpSpPr>
          <p:grpSpPr>
            <a:xfrm>
              <a:off x="4733" y="1627"/>
              <a:ext cx="586" cy="151"/>
              <a:chOff x="611" y="2568"/>
              <a:chExt cx="730" cy="139"/>
            </a:xfrm>
          </p:grpSpPr>
          <p:sp>
            <p:nvSpPr>
              <p:cNvPr id="2116" name="Google Shape;2116;p2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7" name="Google Shape;2117;p2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18" name="Google Shape;2118;p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19" name="Google Shape;2119;p24"/>
            <p:cNvGrpSpPr/>
            <p:nvPr/>
          </p:nvGrpSpPr>
          <p:grpSpPr>
            <a:xfrm>
              <a:off x="4739" y="1325"/>
              <a:ext cx="580" cy="140"/>
              <a:chOff x="614" y="2566"/>
              <a:chExt cx="723" cy="140"/>
            </a:xfrm>
          </p:grpSpPr>
          <p:sp>
            <p:nvSpPr>
              <p:cNvPr id="2120" name="Google Shape;2120;p2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1" name="Google Shape;2121;p2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22" name="Google Shape;2122;p2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3" name="Google Shape;2123;p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4" name="Google Shape;2124;p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5" name="Google Shape;2125;p2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6" name="Google Shape;2126;p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7" name="Google Shape;2127;p2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8" name="Google Shape;2128;p2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9" name="Google Shape;2129;p2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0" name="Google Shape;2130;p2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131" name="Google Shape;2131;p2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2" name="Google Shape;2132;p2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33" name="Google Shape;2133;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gtEl>
                                        <p:attrNameLst>
                                          <p:attrName>style.visibility</p:attrName>
                                        </p:attrNameLst>
                                      </p:cBhvr>
                                      <p:to>
                                        <p:strVal val="visible"/>
                                      </p:to>
                                    </p:set>
                                    <p:animEffect filter="fade" transition="in">
                                      <p:cBhvr>
                                        <p:cTn dur="500"/>
                                        <p:tgtEl>
                                          <p:spTgt spid="2024"/>
                                        </p:tgtEl>
                                      </p:cBhvr>
                                    </p:animEffect>
                                  </p:childTnLst>
                                </p:cTn>
                              </p:par>
                              <p:par>
                                <p:cTn fill="hold" nodeType="withEffect" presetClass="entr" presetID="10" presetSubtype="0">
                                  <p:stCondLst>
                                    <p:cond delay="0"/>
                                  </p:stCondLst>
                                  <p:childTnLst>
                                    <p:set>
                                      <p:cBhvr>
                                        <p:cTn dur="1" fill="hold">
                                          <p:stCondLst>
                                            <p:cond delay="0"/>
                                          </p:stCondLst>
                                        </p:cTn>
                                        <p:tgtEl>
                                          <p:spTgt spid="2065"/>
                                        </p:tgtEl>
                                        <p:attrNameLst>
                                          <p:attrName>style.visibility</p:attrName>
                                        </p:attrNameLst>
                                      </p:cBhvr>
                                      <p:to>
                                        <p:strVal val="visible"/>
                                      </p:to>
                                    </p:set>
                                    <p:animEffect filter="fade" transition="in">
                                      <p:cBhvr>
                                        <p:cTn dur="500"/>
                                        <p:tgtEl>
                                          <p:spTgt spid="20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9"/>
                                        </p:tgtEl>
                                        <p:attrNameLst>
                                          <p:attrName>style.visibility</p:attrName>
                                        </p:attrNameLst>
                                      </p:cBhvr>
                                      <p:to>
                                        <p:strVal val="visible"/>
                                      </p:to>
                                    </p:set>
                                    <p:animEffect filter="fade" transition="in">
                                      <p:cBhvr>
                                        <p:cTn dur="500"/>
                                        <p:tgtEl>
                                          <p:spTgt spid="2059"/>
                                        </p:tgtEl>
                                      </p:cBhvr>
                                    </p:animEffect>
                                  </p:childTnLst>
                                </p:cTn>
                              </p:par>
                              <p:par>
                                <p:cTn fill="hold" nodeType="withEffect" presetClass="entr" presetID="10" presetSubtype="0">
                                  <p:stCondLst>
                                    <p:cond delay="0"/>
                                  </p:stCondLst>
                                  <p:childTnLst>
                                    <p:set>
                                      <p:cBhvr>
                                        <p:cTn dur="1" fill="hold">
                                          <p:stCondLst>
                                            <p:cond delay="0"/>
                                          </p:stCondLst>
                                        </p:cTn>
                                        <p:tgtEl>
                                          <p:spTgt spid="2064">
                                            <p:txEl>
                                              <p:pRg end="0" st="0"/>
                                            </p:txEl>
                                          </p:spTgt>
                                        </p:tgtEl>
                                        <p:attrNameLst>
                                          <p:attrName>style.visibility</p:attrName>
                                        </p:attrNameLst>
                                      </p:cBhvr>
                                      <p:to>
                                        <p:strVal val="visible"/>
                                      </p:to>
                                    </p:set>
                                    <p:animEffect filter="fade" transition="in">
                                      <p:cBhvr>
                                        <p:cTn dur="500"/>
                                        <p:tgtEl>
                                          <p:spTgt spid="206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64">
                                            <p:txEl>
                                              <p:pRg end="1" st="1"/>
                                            </p:txEl>
                                          </p:spTgt>
                                        </p:tgtEl>
                                        <p:attrNameLst>
                                          <p:attrName>style.visibility</p:attrName>
                                        </p:attrNameLst>
                                      </p:cBhvr>
                                      <p:to>
                                        <p:strVal val="visible"/>
                                      </p:to>
                                    </p:set>
                                    <p:animEffect filter="fade" transition="in">
                                      <p:cBhvr>
                                        <p:cTn dur="500"/>
                                        <p:tgtEl>
                                          <p:spTgt spid="20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1"/>
                                        </p:tgtEl>
                                        <p:attrNameLst>
                                          <p:attrName>style.visibility</p:attrName>
                                        </p:attrNameLst>
                                      </p:cBhvr>
                                      <p:to>
                                        <p:strVal val="visible"/>
                                      </p:to>
                                    </p:set>
                                    <p:animEffect filter="fade" transition="in">
                                      <p:cBhvr>
                                        <p:cTn dur="500"/>
                                        <p:tgtEl>
                                          <p:spTgt spid="2041"/>
                                        </p:tgtEl>
                                      </p:cBhvr>
                                    </p:animEffect>
                                  </p:childTnLst>
                                </p:cTn>
                              </p:par>
                              <p:par>
                                <p:cTn fill="hold" nodeType="withEffect" presetClass="entr" presetID="1" presetSubtype="0">
                                  <p:stCondLst>
                                    <p:cond delay="0"/>
                                  </p:stCondLst>
                                  <p:childTnLst>
                                    <p:set>
                                      <p:cBhvr>
                                        <p:cTn dur="1" fill="hold">
                                          <p:stCondLst>
                                            <p:cond delay="0"/>
                                          </p:stCondLst>
                                        </p:cTn>
                                        <p:tgtEl>
                                          <p:spTgt spid="2009">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9">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6"/>
                                        </p:tgtEl>
                                        <p:attrNameLst>
                                          <p:attrName>style.visibility</p:attrName>
                                        </p:attrNameLst>
                                      </p:cBhvr>
                                      <p:to>
                                        <p:strVal val="visible"/>
                                      </p:to>
                                    </p:set>
                                    <p:animEffect filter="fade" transition="in">
                                      <p:cBhvr>
                                        <p:cTn dur="500"/>
                                        <p:tgtEl>
                                          <p:spTgt spid="206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68"/>
                                        </p:tgtEl>
                                        <p:attrNameLst>
                                          <p:attrName>style.visibility</p:attrName>
                                        </p:attrNameLst>
                                      </p:cBhvr>
                                      <p:to>
                                        <p:strVal val="visible"/>
                                      </p:to>
                                    </p:set>
                                    <p:animEffect filter="fade" transition="in">
                                      <p:cBhvr>
                                        <p:cTn dur="500"/>
                                        <p:tgtEl>
                                          <p:spTgt spid="2068"/>
                                        </p:tgtEl>
                                      </p:cBhvr>
                                    </p:animEffect>
                                  </p:childTnLst>
                                </p:cTn>
                              </p:par>
                              <p:par>
                                <p:cTn fill="hold" nodeType="withEffect" presetClass="entr" presetID="10" presetSubtype="0">
                                  <p:stCondLst>
                                    <p:cond delay="0"/>
                                  </p:stCondLst>
                                  <p:childTnLst>
                                    <p:set>
                                      <p:cBhvr>
                                        <p:cTn dur="1" fill="hold">
                                          <p:stCondLst>
                                            <p:cond delay="0"/>
                                          </p:stCondLst>
                                        </p:cTn>
                                        <p:tgtEl>
                                          <p:spTgt spid="2078"/>
                                        </p:tgtEl>
                                        <p:attrNameLst>
                                          <p:attrName>style.visibility</p:attrName>
                                        </p:attrNameLst>
                                      </p:cBhvr>
                                      <p:to>
                                        <p:strVal val="visible"/>
                                      </p:to>
                                    </p:set>
                                    <p:animEffect filter="fade" transition="in">
                                      <p:cBhvr>
                                        <p:cTn dur="500"/>
                                        <p:tgtEl>
                                          <p:spTgt spid="20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67"/>
                                        </p:tgtEl>
                                        <p:attrNameLst>
                                          <p:attrName>style.visibility</p:attrName>
                                        </p:attrNameLst>
                                      </p:cBhvr>
                                      <p:to>
                                        <p:strVal val="visible"/>
                                      </p:to>
                                    </p:set>
                                    <p:animEffect filter="fade" transition="in">
                                      <p:cBhvr>
                                        <p:cTn dur="500"/>
                                        <p:tgtEl>
                                          <p:spTgt spid="20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9"/>
                                        </p:tgtEl>
                                        <p:attrNameLst>
                                          <p:attrName>style.visibility</p:attrName>
                                        </p:attrNameLst>
                                      </p:cBhvr>
                                      <p:to>
                                        <p:strVal val="visible"/>
                                      </p:to>
                                    </p:set>
                                    <p:animEffect filter="fade" transition="in">
                                      <p:cBhvr>
                                        <p:cTn dur="500"/>
                                        <p:tgtEl>
                                          <p:spTgt spid="206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70"/>
                                        </p:tgtEl>
                                        <p:attrNameLst>
                                          <p:attrName>style.visibility</p:attrName>
                                        </p:attrNameLst>
                                      </p:cBhvr>
                                      <p:to>
                                        <p:strVal val="visible"/>
                                      </p:to>
                                    </p:set>
                                    <p:animEffect filter="fade" transition="in">
                                      <p:cBhvr>
                                        <p:cTn dur="500"/>
                                        <p:tgtEl>
                                          <p:spTgt spid="2070"/>
                                        </p:tgtEl>
                                      </p:cBhvr>
                                    </p:animEffect>
                                  </p:childTnLst>
                                </p:cTn>
                              </p:par>
                              <p:par>
                                <p:cTn fill="hold" nodeType="withEffect" presetClass="entr" presetID="10" presetSubtype="0">
                                  <p:stCondLst>
                                    <p:cond delay="0"/>
                                  </p:stCondLst>
                                  <p:childTnLst>
                                    <p:set>
                                      <p:cBhvr>
                                        <p:cTn dur="1" fill="hold">
                                          <p:stCondLst>
                                            <p:cond delay="0"/>
                                          </p:stCondLst>
                                        </p:cTn>
                                        <p:tgtEl>
                                          <p:spTgt spid="2082"/>
                                        </p:tgtEl>
                                        <p:attrNameLst>
                                          <p:attrName>style.visibility</p:attrName>
                                        </p:attrNameLst>
                                      </p:cBhvr>
                                      <p:to>
                                        <p:strVal val="visible"/>
                                      </p:to>
                                    </p:set>
                                    <p:animEffect filter="fade" transition="in">
                                      <p:cBhvr>
                                        <p:cTn dur="500"/>
                                        <p:tgtEl>
                                          <p:spTgt spid="20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71"/>
                                        </p:tgtEl>
                                        <p:attrNameLst>
                                          <p:attrName>style.visibility</p:attrName>
                                        </p:attrNameLst>
                                      </p:cBhvr>
                                      <p:to>
                                        <p:strVal val="visible"/>
                                      </p:to>
                                    </p:set>
                                    <p:animEffect filter="fade" transition="in">
                                      <p:cBhvr>
                                        <p:cTn dur="500"/>
                                        <p:tgtEl>
                                          <p:spTgt spid="20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5"/>
                                        </p:tgtEl>
                                        <p:attrNameLst>
                                          <p:attrName>style.visibility</p:attrName>
                                        </p:attrNameLst>
                                      </p:cBhvr>
                                      <p:to>
                                        <p:strVal val="visible"/>
                                      </p:to>
                                    </p:set>
                                    <p:animEffect filter="fade" transition="in">
                                      <p:cBhvr>
                                        <p:cTn dur="500"/>
                                        <p:tgtEl>
                                          <p:spTgt spid="207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77"/>
                                        </p:tgtEl>
                                        <p:attrNameLst>
                                          <p:attrName>style.visibility</p:attrName>
                                        </p:attrNameLst>
                                      </p:cBhvr>
                                      <p:to>
                                        <p:strVal val="visible"/>
                                      </p:to>
                                    </p:set>
                                    <p:animEffect filter="fade" transition="in">
                                      <p:cBhvr>
                                        <p:cTn dur="500"/>
                                        <p:tgtEl>
                                          <p:spTgt spid="2077"/>
                                        </p:tgtEl>
                                      </p:cBhvr>
                                    </p:animEffect>
                                  </p:childTnLst>
                                </p:cTn>
                              </p:par>
                              <p:par>
                                <p:cTn fill="hold" nodeType="withEffect" presetClass="entr" presetID="10" presetSubtype="0">
                                  <p:stCondLst>
                                    <p:cond delay="0"/>
                                  </p:stCondLst>
                                  <p:childTnLst>
                                    <p:set>
                                      <p:cBhvr>
                                        <p:cTn dur="1" fill="hold">
                                          <p:stCondLst>
                                            <p:cond delay="0"/>
                                          </p:stCondLst>
                                        </p:cTn>
                                        <p:tgtEl>
                                          <p:spTgt spid="2086"/>
                                        </p:tgtEl>
                                        <p:attrNameLst>
                                          <p:attrName>style.visibility</p:attrName>
                                        </p:attrNameLst>
                                      </p:cBhvr>
                                      <p:to>
                                        <p:strVal val="visible"/>
                                      </p:to>
                                    </p:set>
                                    <p:animEffect filter="fade" transition="in">
                                      <p:cBhvr>
                                        <p:cTn dur="500"/>
                                        <p:tgtEl>
                                          <p:spTgt spid="20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73"/>
                                        </p:tgtEl>
                                        <p:attrNameLst>
                                          <p:attrName>style.visibility</p:attrName>
                                        </p:attrNameLst>
                                      </p:cBhvr>
                                      <p:to>
                                        <p:strVal val="visible"/>
                                      </p:to>
                                    </p:set>
                                    <p:animEffect filter="fade" transition="in">
                                      <p:cBhvr>
                                        <p:cTn dur="500"/>
                                        <p:tgtEl>
                                          <p:spTgt spid="207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072"/>
                                        </p:tgtEl>
                                        <p:attrNameLst>
                                          <p:attrName>style.visibility</p:attrName>
                                        </p:attrNameLst>
                                      </p:cBhvr>
                                      <p:to>
                                        <p:strVal val="visible"/>
                                      </p:to>
                                    </p:set>
                                    <p:animEffect filter="fade" transition="in">
                                      <p:cBhvr>
                                        <p:cTn dur="500"/>
                                        <p:tgtEl>
                                          <p:spTgt spid="207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76"/>
                                        </p:tgtEl>
                                        <p:attrNameLst>
                                          <p:attrName>style.visibility</p:attrName>
                                        </p:attrNameLst>
                                      </p:cBhvr>
                                      <p:to>
                                        <p:strVal val="visible"/>
                                      </p:to>
                                    </p:set>
                                    <p:animEffect filter="fade" transition="in">
                                      <p:cBhvr>
                                        <p:cTn dur="500"/>
                                        <p:tgtEl>
                                          <p:spTgt spid="2076"/>
                                        </p:tgtEl>
                                      </p:cBhvr>
                                    </p:animEffect>
                                  </p:childTnLst>
                                </p:cTn>
                              </p:par>
                              <p:par>
                                <p:cTn fill="hold" nodeType="withEffect" presetClass="entr" presetID="10" presetSubtype="0">
                                  <p:stCondLst>
                                    <p:cond delay="0"/>
                                  </p:stCondLst>
                                  <p:childTnLst>
                                    <p:set>
                                      <p:cBhvr>
                                        <p:cTn dur="1" fill="hold">
                                          <p:stCondLst>
                                            <p:cond delay="0"/>
                                          </p:stCondLst>
                                        </p:cTn>
                                        <p:tgtEl>
                                          <p:spTgt spid="2090"/>
                                        </p:tgtEl>
                                        <p:attrNameLst>
                                          <p:attrName>style.visibility</p:attrName>
                                        </p:attrNameLst>
                                      </p:cBhvr>
                                      <p:to>
                                        <p:strVal val="visible"/>
                                      </p:to>
                                    </p:set>
                                    <p:animEffect filter="fade" transition="in">
                                      <p:cBhvr>
                                        <p:cTn dur="500"/>
                                        <p:tgtEl>
                                          <p:spTgt spid="209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074"/>
                                        </p:tgtEl>
                                        <p:attrNameLst>
                                          <p:attrName>style.visibility</p:attrName>
                                        </p:attrNameLst>
                                      </p:cBhvr>
                                      <p:to>
                                        <p:strVal val="visible"/>
                                      </p:to>
                                    </p:set>
                                    <p:animEffect filter="fade" transition="in">
                                      <p:cBhvr>
                                        <p:cTn dur="500"/>
                                        <p:tgtEl>
                                          <p:spTgt spid="2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8" name="Shape 2138"/>
        <p:cNvGrpSpPr/>
        <p:nvPr/>
      </p:nvGrpSpPr>
      <p:grpSpPr>
        <a:xfrm>
          <a:off x="0" y="0"/>
          <a:ext cx="0" cy="0"/>
          <a:chOff x="0" y="0"/>
          <a:chExt cx="0" cy="0"/>
        </a:xfrm>
      </p:grpSpPr>
      <p:sp>
        <p:nvSpPr>
          <p:cNvPr id="2139" name="Google Shape;2139;p2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Connection-oriented demultiplexing</a:t>
            </a:r>
            <a:endParaRPr/>
          </a:p>
        </p:txBody>
      </p:sp>
      <p:sp>
        <p:nvSpPr>
          <p:cNvPr id="2140" name="Google Shape;2140;p25"/>
          <p:cNvSpPr txBox="1"/>
          <p:nvPr/>
        </p:nvSpPr>
        <p:spPr>
          <a:xfrm>
            <a:off x="798689" y="1495768"/>
            <a:ext cx="4770837" cy="2942610"/>
          </a:xfrm>
          <a:prstGeom prst="rect">
            <a:avLst/>
          </a:prstGeom>
          <a:noFill/>
          <a:ln>
            <a:noFill/>
          </a:ln>
        </p:spPr>
        <p:txBody>
          <a:bodyPr anchorCtr="0" anchor="t" bIns="45700" lIns="91425" spcFirstLastPara="1" rIns="91425" wrap="square" tIns="45700">
            <a:normAutofit/>
          </a:bodyPr>
          <a:lstStyle/>
          <a:p>
            <a:pPr indent="-27622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TCP socket identified by </a:t>
            </a:r>
            <a:r>
              <a:rPr b="0" i="0" lang="en-US" sz="3200" u="none" cap="none" strike="noStrike">
                <a:solidFill>
                  <a:srgbClr val="C00000"/>
                </a:solidFill>
                <a:latin typeface="Calibri"/>
                <a:ea typeface="Calibri"/>
                <a:cs typeface="Calibri"/>
                <a:sym typeface="Calibri"/>
              </a:rPr>
              <a:t>4-</a:t>
            </a:r>
            <a:r>
              <a:rPr b="0" i="0" lang="en-US" sz="3200" u="none" cap="none" strike="noStrike">
                <a:solidFill>
                  <a:srgbClr val="000000"/>
                </a:solidFill>
                <a:latin typeface="Calibri"/>
                <a:ea typeface="Calibri"/>
                <a:cs typeface="Calibri"/>
                <a:sym typeface="Calibri"/>
              </a:rPr>
              <a:t>tuple: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source IP address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source port number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dest IP address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dest port number</a:t>
            </a:r>
            <a:endParaRPr/>
          </a:p>
        </p:txBody>
      </p:sp>
      <p:sp>
        <p:nvSpPr>
          <p:cNvPr id="2141" name="Google Shape;2141;p25"/>
          <p:cNvSpPr txBox="1"/>
          <p:nvPr/>
        </p:nvSpPr>
        <p:spPr>
          <a:xfrm>
            <a:off x="6476415" y="1510775"/>
            <a:ext cx="5036711" cy="4974770"/>
          </a:xfrm>
          <a:prstGeom prst="rect">
            <a:avLst/>
          </a:prstGeom>
          <a:noFill/>
          <a:ln>
            <a:noFill/>
          </a:ln>
        </p:spPr>
        <p:txBody>
          <a:bodyPr anchorCtr="0" anchor="t" bIns="45700" lIns="91425" spcFirstLastPara="1" rIns="91425" wrap="square" tIns="45700">
            <a:normAutofit/>
          </a:bodyPr>
          <a:lstStyle/>
          <a:p>
            <a:pPr indent="-288925" lvl="0" marL="4683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server may support many simultaneous TCP sockets: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socket identified by its own 4-tuple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socket associated with a different connecting client</a:t>
            </a:r>
            <a:endParaRPr/>
          </a:p>
        </p:txBody>
      </p:sp>
      <p:sp>
        <p:nvSpPr>
          <p:cNvPr id="2142" name="Google Shape;2142;p25"/>
          <p:cNvSpPr txBox="1"/>
          <p:nvPr/>
        </p:nvSpPr>
        <p:spPr>
          <a:xfrm>
            <a:off x="784324" y="4284442"/>
            <a:ext cx="4770837" cy="2228578"/>
          </a:xfrm>
          <a:prstGeom prst="rect">
            <a:avLst/>
          </a:prstGeom>
          <a:noFill/>
          <a:ln>
            <a:noFill/>
          </a:ln>
        </p:spPr>
        <p:txBody>
          <a:bodyPr anchorCtr="0" anchor="t" bIns="45700" lIns="91425" spcFirstLastPara="1" rIns="91425" wrap="square" tIns="45700">
            <a:normAutofit/>
          </a:bodyPr>
          <a:lstStyle/>
          <a:p>
            <a:pPr indent="-26987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demux: receiver uses </a:t>
            </a:r>
            <a:r>
              <a:rPr b="0" i="1" lang="en-US" sz="3200" u="none" cap="none" strike="noStrike">
                <a:solidFill>
                  <a:srgbClr val="C00000"/>
                </a:solidFill>
                <a:latin typeface="Calibri"/>
                <a:ea typeface="Calibri"/>
                <a:cs typeface="Calibri"/>
                <a:sym typeface="Calibri"/>
              </a:rPr>
              <a:t>all four values </a:t>
            </a:r>
            <a:r>
              <a:rPr b="0" i="1" lang="en-US" sz="3200" u="none" cap="none" strike="noStrike">
                <a:solidFill>
                  <a:srgbClr val="000000"/>
                </a:solidFill>
                <a:latin typeface="Calibri"/>
                <a:ea typeface="Calibri"/>
                <a:cs typeface="Calibri"/>
                <a:sym typeface="Calibri"/>
              </a:rPr>
              <a:t>(4-tuple)</a:t>
            </a:r>
            <a:r>
              <a:rPr b="0" i="0" lang="en-US" sz="3200" u="none" cap="none" strike="noStrike">
                <a:solidFill>
                  <a:srgbClr val="000000"/>
                </a:solidFill>
                <a:latin typeface="Calibri"/>
                <a:ea typeface="Calibri"/>
                <a:cs typeface="Calibri"/>
                <a:sym typeface="Calibri"/>
              </a:rPr>
              <a:t> to direct segment to appropriate socket</a:t>
            </a:r>
            <a:endParaRPr/>
          </a:p>
        </p:txBody>
      </p:sp>
      <p:sp>
        <p:nvSpPr>
          <p:cNvPr id="2143" name="Google Shape;2143;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2"/>
                                        </p:tgtEl>
                                        <p:attrNameLst>
                                          <p:attrName>style.visibility</p:attrName>
                                        </p:attrNameLst>
                                      </p:cBhvr>
                                      <p:to>
                                        <p:strVal val="visible"/>
                                      </p:to>
                                    </p:set>
                                    <p:animEffect filter="fade" transition="in">
                                      <p:cBhvr>
                                        <p:cTn dur="500"/>
                                        <p:tgtEl>
                                          <p:spTgt spid="2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1"/>
                                        </p:tgtEl>
                                        <p:attrNameLst>
                                          <p:attrName>style.visibility</p:attrName>
                                        </p:attrNameLst>
                                      </p:cBhvr>
                                      <p:to>
                                        <p:strVal val="visible"/>
                                      </p:to>
                                    </p:set>
                                    <p:animEffect filter="fade" transition="in">
                                      <p:cBhvr>
                                        <p:cTn dur="500"/>
                                        <p:tgtEl>
                                          <p:spTgt spid="2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8" name="Shape 2148"/>
        <p:cNvGrpSpPr/>
        <p:nvPr/>
      </p:nvGrpSpPr>
      <p:grpSpPr>
        <a:xfrm>
          <a:off x="0" y="0"/>
          <a:ext cx="0" cy="0"/>
          <a:chOff x="0" y="0"/>
          <a:chExt cx="0" cy="0"/>
        </a:xfrm>
      </p:grpSpPr>
      <p:sp>
        <p:nvSpPr>
          <p:cNvPr id="2149" name="Google Shape;2149;p2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Connection-oriented demultiplexing: example</a:t>
            </a:r>
            <a:endParaRPr/>
          </a:p>
        </p:txBody>
      </p:sp>
      <p:sp>
        <p:nvSpPr>
          <p:cNvPr id="2150" name="Google Shape;2150;p26"/>
          <p:cNvSpPr/>
          <p:nvPr/>
        </p:nvSpPr>
        <p:spPr>
          <a:xfrm>
            <a:off x="4454236" y="1478017"/>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1" name="Google Shape;2151;p26"/>
          <p:cNvSpPr/>
          <p:nvPr/>
        </p:nvSpPr>
        <p:spPr>
          <a:xfrm>
            <a:off x="2052349" y="1657405"/>
            <a:ext cx="460375" cy="2193925"/>
          </a:xfrm>
          <a:custGeom>
            <a:rect b="b" l="l" r="r" t="t"/>
            <a:pathLst>
              <a:path extrusionOk="0" h="1382" w="290">
                <a:moveTo>
                  <a:pt x="15" y="1382"/>
                </a:moveTo>
                <a:lnTo>
                  <a:pt x="0" y="1360"/>
                </a:lnTo>
                <a:lnTo>
                  <a:pt x="290" y="0"/>
                </a:lnTo>
                <a:lnTo>
                  <a:pt x="284" y="1258"/>
                </a:lnTo>
                <a:lnTo>
                  <a:pt x="182" y="1382"/>
                </a:lnTo>
                <a:lnTo>
                  <a:pt x="15" y="1382"/>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2" name="Google Shape;2152;p26"/>
          <p:cNvSpPr/>
          <p:nvPr/>
        </p:nvSpPr>
        <p:spPr>
          <a:xfrm>
            <a:off x="2568286" y="1624067"/>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53" name="Google Shape;2153;p26"/>
          <p:cNvSpPr/>
          <p:nvPr/>
        </p:nvSpPr>
        <p:spPr>
          <a:xfrm>
            <a:off x="2530186" y="1678042"/>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154" name="Google Shape;2154;p26"/>
          <p:cNvCxnSpPr/>
          <p:nvPr/>
        </p:nvCxnSpPr>
        <p:spPr>
          <a:xfrm>
            <a:off x="2539711" y="2438455"/>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155" name="Google Shape;2155;p26"/>
          <p:cNvSpPr txBox="1"/>
          <p:nvPr/>
        </p:nvSpPr>
        <p:spPr>
          <a:xfrm>
            <a:off x="2496849" y="2420992"/>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156" name="Google Shape;2156;p26"/>
          <p:cNvCxnSpPr/>
          <p:nvPr/>
        </p:nvCxnSpPr>
        <p:spPr>
          <a:xfrm>
            <a:off x="2547649" y="2759130"/>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157" name="Google Shape;2157;p26"/>
          <p:cNvCxnSpPr/>
          <p:nvPr/>
        </p:nvCxnSpPr>
        <p:spPr>
          <a:xfrm>
            <a:off x="2533361" y="306869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158" name="Google Shape;2158;p26"/>
          <p:cNvCxnSpPr/>
          <p:nvPr/>
        </p:nvCxnSpPr>
        <p:spPr>
          <a:xfrm>
            <a:off x="2533361" y="3354442"/>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159" name="Google Shape;2159;p26"/>
          <p:cNvSpPr txBox="1"/>
          <p:nvPr/>
        </p:nvSpPr>
        <p:spPr>
          <a:xfrm>
            <a:off x="2531774" y="166851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60" name="Google Shape;2160;p26"/>
          <p:cNvSpPr txBox="1"/>
          <p:nvPr/>
        </p:nvSpPr>
        <p:spPr>
          <a:xfrm>
            <a:off x="2487324" y="332586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61" name="Google Shape;2161;p26"/>
          <p:cNvSpPr txBox="1"/>
          <p:nvPr/>
        </p:nvSpPr>
        <p:spPr>
          <a:xfrm>
            <a:off x="2506374" y="304011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62" name="Google Shape;2162;p26"/>
          <p:cNvSpPr txBox="1"/>
          <p:nvPr/>
        </p:nvSpPr>
        <p:spPr>
          <a:xfrm>
            <a:off x="2496849" y="2744842"/>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163" name="Google Shape;2163;p26"/>
          <p:cNvSpPr/>
          <p:nvPr/>
        </p:nvSpPr>
        <p:spPr>
          <a:xfrm>
            <a:off x="2866736" y="195426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P1</a:t>
            </a:r>
            <a:endParaRPr b="0" i="0" sz="1600" u="none" cap="none" strike="noStrike">
              <a:solidFill>
                <a:srgbClr val="000000"/>
              </a:solidFill>
              <a:latin typeface="Arial"/>
              <a:ea typeface="Arial"/>
              <a:cs typeface="Arial"/>
              <a:sym typeface="Arial"/>
            </a:endParaRPr>
          </a:p>
        </p:txBody>
      </p:sp>
      <p:grpSp>
        <p:nvGrpSpPr>
          <p:cNvPr id="2164" name="Google Shape;2164;p26"/>
          <p:cNvGrpSpPr/>
          <p:nvPr/>
        </p:nvGrpSpPr>
        <p:grpSpPr>
          <a:xfrm>
            <a:off x="2834986" y="2278117"/>
            <a:ext cx="620713" cy="228600"/>
            <a:chOff x="1287" y="2524"/>
            <a:chExt cx="260" cy="100"/>
          </a:xfrm>
        </p:grpSpPr>
        <p:sp>
          <p:nvSpPr>
            <p:cNvPr id="2165" name="Google Shape;2165;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66" name="Google Shape;2166;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67" name="Google Shape;2167;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68" name="Google Shape;2168;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69" name="Google Shape;2169;p26"/>
          <p:cNvSpPr/>
          <p:nvPr/>
        </p:nvSpPr>
        <p:spPr>
          <a:xfrm>
            <a:off x="5067011" y="1390705"/>
            <a:ext cx="2254250"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0" name="Google Shape;2170;p26"/>
          <p:cNvSpPr/>
          <p:nvPr/>
        </p:nvSpPr>
        <p:spPr>
          <a:xfrm>
            <a:off x="5013036" y="1468492"/>
            <a:ext cx="22256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1" name="Google Shape;2171;p26"/>
          <p:cNvSpPr txBox="1"/>
          <p:nvPr/>
        </p:nvSpPr>
        <p:spPr>
          <a:xfrm>
            <a:off x="5438486" y="219715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sp>
        <p:nvSpPr>
          <p:cNvPr id="2172" name="Google Shape;2172;p26"/>
          <p:cNvSpPr txBox="1"/>
          <p:nvPr/>
        </p:nvSpPr>
        <p:spPr>
          <a:xfrm>
            <a:off x="5492461" y="142086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73" name="Google Shape;2173;p26"/>
          <p:cNvSpPr txBox="1"/>
          <p:nvPr/>
        </p:nvSpPr>
        <p:spPr>
          <a:xfrm>
            <a:off x="5432136" y="310203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74" name="Google Shape;2174;p26"/>
          <p:cNvSpPr txBox="1"/>
          <p:nvPr/>
        </p:nvSpPr>
        <p:spPr>
          <a:xfrm>
            <a:off x="5432136" y="28162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75" name="Google Shape;2175;p26"/>
          <p:cNvSpPr/>
          <p:nvPr/>
        </p:nvSpPr>
        <p:spPr>
          <a:xfrm>
            <a:off x="5132099" y="1727255"/>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P4</a:t>
            </a:r>
            <a:endParaRPr/>
          </a:p>
        </p:txBody>
      </p:sp>
      <p:sp>
        <p:nvSpPr>
          <p:cNvPr id="2176" name="Google Shape;2176;p26"/>
          <p:cNvSpPr/>
          <p:nvPr/>
        </p:nvSpPr>
        <p:spPr>
          <a:xfrm>
            <a:off x="8202324" y="1616130"/>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7" name="Google Shape;2177;p26"/>
          <p:cNvSpPr/>
          <p:nvPr/>
        </p:nvSpPr>
        <p:spPr>
          <a:xfrm>
            <a:off x="8005474" y="1657405"/>
            <a:ext cx="1631950"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78" name="Google Shape;2178;p26"/>
          <p:cNvSpPr txBox="1"/>
          <p:nvPr/>
        </p:nvSpPr>
        <p:spPr>
          <a:xfrm>
            <a:off x="8130886" y="241305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sp>
        <p:nvSpPr>
          <p:cNvPr id="2179" name="Google Shape;2179;p26"/>
          <p:cNvSpPr txBox="1"/>
          <p:nvPr/>
        </p:nvSpPr>
        <p:spPr>
          <a:xfrm>
            <a:off x="8165811" y="16605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80" name="Google Shape;2180;p26"/>
          <p:cNvSpPr txBox="1"/>
          <p:nvPr/>
        </p:nvSpPr>
        <p:spPr>
          <a:xfrm>
            <a:off x="8173749" y="331793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81" name="Google Shape;2181;p26"/>
          <p:cNvSpPr txBox="1"/>
          <p:nvPr/>
        </p:nvSpPr>
        <p:spPr>
          <a:xfrm>
            <a:off x="8140411" y="30321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82" name="Google Shape;2182;p26"/>
          <p:cNvSpPr txBox="1"/>
          <p:nvPr/>
        </p:nvSpPr>
        <p:spPr>
          <a:xfrm>
            <a:off x="8130886" y="273690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183" name="Google Shape;2183;p26"/>
          <p:cNvSpPr/>
          <p:nvPr/>
        </p:nvSpPr>
        <p:spPr>
          <a:xfrm>
            <a:off x="8086436" y="195426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P2</a:t>
            </a:r>
            <a:endParaRPr/>
          </a:p>
        </p:txBody>
      </p:sp>
      <p:sp>
        <p:nvSpPr>
          <p:cNvPr id="2184" name="Google Shape;2184;p26"/>
          <p:cNvSpPr/>
          <p:nvPr/>
        </p:nvSpPr>
        <p:spPr>
          <a:xfrm>
            <a:off x="9661236" y="1636767"/>
            <a:ext cx="504825" cy="2133600"/>
          </a:xfrm>
          <a:custGeom>
            <a:rect b="b" l="l" r="r" t="t"/>
            <a:pathLst>
              <a:path extrusionOk="0" h="1344" w="318">
                <a:moveTo>
                  <a:pt x="318" y="1344"/>
                </a:moveTo>
                <a:lnTo>
                  <a:pt x="12" y="0"/>
                </a:lnTo>
                <a:lnTo>
                  <a:pt x="0" y="1224"/>
                </a:lnTo>
                <a:lnTo>
                  <a:pt x="121" y="1344"/>
                </a:lnTo>
                <a:lnTo>
                  <a:pt x="318" y="1344"/>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5" name="Google Shape;2185;p26"/>
          <p:cNvSpPr txBox="1"/>
          <p:nvPr/>
        </p:nvSpPr>
        <p:spPr>
          <a:xfrm flipH="1">
            <a:off x="1723736" y="4418067"/>
            <a:ext cx="1147763"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host: IP address A</a:t>
            </a:r>
            <a:endParaRPr/>
          </a:p>
        </p:txBody>
      </p:sp>
      <p:sp>
        <p:nvSpPr>
          <p:cNvPr id="2186" name="Google Shape;2186;p26"/>
          <p:cNvSpPr txBox="1"/>
          <p:nvPr/>
        </p:nvSpPr>
        <p:spPr>
          <a:xfrm flipH="1">
            <a:off x="9480261" y="4314880"/>
            <a:ext cx="1147763"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host: IP address C</a:t>
            </a:r>
            <a:endParaRPr/>
          </a:p>
        </p:txBody>
      </p:sp>
      <p:cxnSp>
        <p:nvCxnSpPr>
          <p:cNvPr id="2187" name="Google Shape;2187;p26"/>
          <p:cNvCxnSpPr/>
          <p:nvPr/>
        </p:nvCxnSpPr>
        <p:spPr>
          <a:xfrm>
            <a:off x="4989224" y="3144892"/>
            <a:ext cx="2233612" cy="0"/>
          </a:xfrm>
          <a:prstGeom prst="straightConnector1">
            <a:avLst/>
          </a:prstGeom>
          <a:noFill/>
          <a:ln cap="flat" cmpd="sng" w="19050">
            <a:solidFill>
              <a:srgbClr val="000000"/>
            </a:solidFill>
            <a:prstDash val="solid"/>
            <a:round/>
            <a:headEnd len="med" w="med" type="none"/>
            <a:tailEnd len="med" w="med" type="none"/>
          </a:ln>
        </p:spPr>
      </p:cxnSp>
      <p:cxnSp>
        <p:nvCxnSpPr>
          <p:cNvPr id="2188" name="Google Shape;2188;p26"/>
          <p:cNvCxnSpPr/>
          <p:nvPr/>
        </p:nvCxnSpPr>
        <p:spPr>
          <a:xfrm>
            <a:off x="5005099" y="2843267"/>
            <a:ext cx="2233612" cy="0"/>
          </a:xfrm>
          <a:prstGeom prst="straightConnector1">
            <a:avLst/>
          </a:prstGeom>
          <a:noFill/>
          <a:ln cap="flat" cmpd="sng" w="19050">
            <a:solidFill>
              <a:srgbClr val="000000"/>
            </a:solidFill>
            <a:prstDash val="solid"/>
            <a:round/>
            <a:headEnd len="med" w="med" type="none"/>
            <a:tailEnd len="med" w="med" type="none"/>
          </a:ln>
        </p:spPr>
      </p:cxnSp>
      <p:sp>
        <p:nvSpPr>
          <p:cNvPr id="2189" name="Google Shape;2189;p26"/>
          <p:cNvSpPr txBox="1"/>
          <p:nvPr/>
        </p:nvSpPr>
        <p:spPr>
          <a:xfrm>
            <a:off x="5392449" y="250830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cxnSp>
        <p:nvCxnSpPr>
          <p:cNvPr id="2190" name="Google Shape;2190;p26"/>
          <p:cNvCxnSpPr/>
          <p:nvPr/>
        </p:nvCxnSpPr>
        <p:spPr>
          <a:xfrm>
            <a:off x="5008274" y="2521005"/>
            <a:ext cx="2233612" cy="0"/>
          </a:xfrm>
          <a:prstGeom prst="straightConnector1">
            <a:avLst/>
          </a:prstGeom>
          <a:noFill/>
          <a:ln cap="flat" cmpd="sng" w="19050">
            <a:solidFill>
              <a:srgbClr val="000000"/>
            </a:solidFill>
            <a:prstDash val="solid"/>
            <a:round/>
            <a:headEnd len="med" w="med" type="none"/>
            <a:tailEnd len="med" w="med" type="none"/>
          </a:ln>
        </p:spPr>
      </p:cxnSp>
      <p:cxnSp>
        <p:nvCxnSpPr>
          <p:cNvPr id="2191" name="Google Shape;2191;p26"/>
          <p:cNvCxnSpPr/>
          <p:nvPr/>
        </p:nvCxnSpPr>
        <p:spPr>
          <a:xfrm>
            <a:off x="5011449" y="2198742"/>
            <a:ext cx="2233612" cy="0"/>
          </a:xfrm>
          <a:prstGeom prst="straightConnector1">
            <a:avLst/>
          </a:prstGeom>
          <a:noFill/>
          <a:ln cap="flat" cmpd="sng" w="19050">
            <a:solidFill>
              <a:srgbClr val="000000"/>
            </a:solidFill>
            <a:prstDash val="solid"/>
            <a:round/>
            <a:headEnd len="med" w="med" type="none"/>
            <a:tailEnd len="med" w="med" type="none"/>
          </a:ln>
        </p:spPr>
      </p:cxnSp>
      <p:grpSp>
        <p:nvGrpSpPr>
          <p:cNvPr id="2192" name="Google Shape;2192;p26"/>
          <p:cNvGrpSpPr/>
          <p:nvPr/>
        </p:nvGrpSpPr>
        <p:grpSpPr>
          <a:xfrm>
            <a:off x="5187661" y="2060630"/>
            <a:ext cx="473075" cy="228600"/>
            <a:chOff x="1287" y="2524"/>
            <a:chExt cx="260" cy="100"/>
          </a:xfrm>
        </p:grpSpPr>
        <p:sp>
          <p:nvSpPr>
            <p:cNvPr id="2193" name="Google Shape;2193;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4" name="Google Shape;2194;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5" name="Google Shape;2195;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6" name="Google Shape;2196;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97" name="Google Shape;2197;p26"/>
          <p:cNvSpPr/>
          <p:nvPr/>
        </p:nvSpPr>
        <p:spPr>
          <a:xfrm>
            <a:off x="6498936" y="173201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P6</a:t>
            </a:r>
            <a:endParaRPr/>
          </a:p>
        </p:txBody>
      </p:sp>
      <p:sp>
        <p:nvSpPr>
          <p:cNvPr id="2198" name="Google Shape;2198;p26"/>
          <p:cNvSpPr/>
          <p:nvPr/>
        </p:nvSpPr>
        <p:spPr>
          <a:xfrm>
            <a:off x="5827424" y="1730430"/>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P5</a:t>
            </a:r>
            <a:endParaRPr/>
          </a:p>
        </p:txBody>
      </p:sp>
      <p:grpSp>
        <p:nvGrpSpPr>
          <p:cNvPr id="2199" name="Google Shape;2199;p26"/>
          <p:cNvGrpSpPr/>
          <p:nvPr/>
        </p:nvGrpSpPr>
        <p:grpSpPr>
          <a:xfrm>
            <a:off x="5892511" y="2065392"/>
            <a:ext cx="473075" cy="228600"/>
            <a:chOff x="1287" y="2524"/>
            <a:chExt cx="260" cy="100"/>
          </a:xfrm>
        </p:grpSpPr>
        <p:sp>
          <p:nvSpPr>
            <p:cNvPr id="2200" name="Google Shape;2200;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1" name="Google Shape;2201;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2" name="Google Shape;2202;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3" name="Google Shape;2203;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04" name="Google Shape;2204;p26"/>
          <p:cNvGrpSpPr/>
          <p:nvPr/>
        </p:nvGrpSpPr>
        <p:grpSpPr>
          <a:xfrm>
            <a:off x="6564024" y="2070155"/>
            <a:ext cx="473075" cy="228600"/>
            <a:chOff x="1287" y="2524"/>
            <a:chExt cx="260" cy="100"/>
          </a:xfrm>
        </p:grpSpPr>
        <p:sp>
          <p:nvSpPr>
            <p:cNvPr id="2205" name="Google Shape;2205;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6" name="Google Shape;2206;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7" name="Google Shape;2207;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8" name="Google Shape;2208;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2209" name="Google Shape;2209;p26"/>
          <p:cNvCxnSpPr/>
          <p:nvPr/>
        </p:nvCxnSpPr>
        <p:spPr>
          <a:xfrm>
            <a:off x="7997536" y="3360792"/>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10" name="Google Shape;2210;p26"/>
          <p:cNvCxnSpPr/>
          <p:nvPr/>
        </p:nvCxnSpPr>
        <p:spPr>
          <a:xfrm>
            <a:off x="7988011" y="3065517"/>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11" name="Google Shape;2211;p26"/>
          <p:cNvCxnSpPr/>
          <p:nvPr/>
        </p:nvCxnSpPr>
        <p:spPr>
          <a:xfrm>
            <a:off x="7988011" y="2770242"/>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12" name="Google Shape;2212;p26"/>
          <p:cNvCxnSpPr/>
          <p:nvPr/>
        </p:nvCxnSpPr>
        <p:spPr>
          <a:xfrm>
            <a:off x="7988011" y="2465442"/>
            <a:ext cx="1638300" cy="0"/>
          </a:xfrm>
          <a:prstGeom prst="straightConnector1">
            <a:avLst/>
          </a:prstGeom>
          <a:noFill/>
          <a:ln cap="flat" cmpd="sng" w="19050">
            <a:solidFill>
              <a:srgbClr val="000000"/>
            </a:solidFill>
            <a:prstDash val="solid"/>
            <a:round/>
            <a:headEnd len="med" w="med" type="none"/>
            <a:tailEnd len="med" w="med" type="none"/>
          </a:ln>
        </p:spPr>
      </p:cxnSp>
      <p:grpSp>
        <p:nvGrpSpPr>
          <p:cNvPr id="2213" name="Google Shape;2213;p26"/>
          <p:cNvGrpSpPr/>
          <p:nvPr/>
        </p:nvGrpSpPr>
        <p:grpSpPr>
          <a:xfrm>
            <a:off x="8140411" y="2292405"/>
            <a:ext cx="473075" cy="228600"/>
            <a:chOff x="1287" y="2524"/>
            <a:chExt cx="260" cy="100"/>
          </a:xfrm>
        </p:grpSpPr>
        <p:sp>
          <p:nvSpPr>
            <p:cNvPr id="2214" name="Google Shape;2214;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5" name="Google Shape;2215;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6" name="Google Shape;2216;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7" name="Google Shape;2217;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18" name="Google Shape;2218;p26"/>
          <p:cNvGrpSpPr/>
          <p:nvPr/>
        </p:nvGrpSpPr>
        <p:grpSpPr>
          <a:xfrm>
            <a:off x="8935749" y="2282880"/>
            <a:ext cx="473075" cy="228600"/>
            <a:chOff x="1287" y="2524"/>
            <a:chExt cx="260" cy="100"/>
          </a:xfrm>
        </p:grpSpPr>
        <p:sp>
          <p:nvSpPr>
            <p:cNvPr id="2219" name="Google Shape;2219;p2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0" name="Google Shape;2220;p2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1" name="Google Shape;2221;p26"/>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2" name="Google Shape;2222;p2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23" name="Google Shape;2223;p26"/>
          <p:cNvSpPr/>
          <p:nvPr/>
        </p:nvSpPr>
        <p:spPr>
          <a:xfrm>
            <a:off x="8877011" y="1949505"/>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P3</a:t>
            </a:r>
            <a:endParaRPr/>
          </a:p>
        </p:txBody>
      </p:sp>
      <p:grpSp>
        <p:nvGrpSpPr>
          <p:cNvPr id="2224" name="Google Shape;2224;p26"/>
          <p:cNvGrpSpPr/>
          <p:nvPr/>
        </p:nvGrpSpPr>
        <p:grpSpPr>
          <a:xfrm>
            <a:off x="3128674" y="2152705"/>
            <a:ext cx="2695575" cy="3382962"/>
            <a:chOff x="3128674" y="2152705"/>
            <a:chExt cx="2695575" cy="3382962"/>
          </a:xfrm>
        </p:grpSpPr>
        <p:grpSp>
          <p:nvGrpSpPr>
            <p:cNvPr id="2225" name="Google Shape;2225;p26"/>
            <p:cNvGrpSpPr/>
            <p:nvPr/>
          </p:nvGrpSpPr>
          <p:grpSpPr>
            <a:xfrm>
              <a:off x="3301711" y="4192642"/>
              <a:ext cx="2173288" cy="1343025"/>
              <a:chOff x="3301711" y="4192642"/>
              <a:chExt cx="2173288" cy="1343025"/>
            </a:xfrm>
          </p:grpSpPr>
          <p:grpSp>
            <p:nvGrpSpPr>
              <p:cNvPr id="2226" name="Google Shape;2226;p26"/>
              <p:cNvGrpSpPr/>
              <p:nvPr/>
            </p:nvGrpSpPr>
            <p:grpSpPr>
              <a:xfrm>
                <a:off x="3450936" y="4883205"/>
                <a:ext cx="2024063" cy="652462"/>
                <a:chOff x="1079" y="3697"/>
                <a:chExt cx="1275" cy="411"/>
              </a:xfrm>
            </p:grpSpPr>
            <p:sp>
              <p:nvSpPr>
                <p:cNvPr id="2227" name="Google Shape;2227;p26"/>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28" name="Google Shape;2228;p26"/>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229" name="Google Shape;2229;p26"/>
                <p:cNvSpPr txBox="1"/>
                <p:nvPr/>
              </p:nvSpPr>
              <p:spPr>
                <a:xfrm>
                  <a:off x="1079" y="3822"/>
                  <a:ext cx="1233"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A,9157</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 port: B,80</a:t>
                  </a:r>
                  <a:endParaRPr/>
                </a:p>
              </p:txBody>
            </p:sp>
          </p:grpSp>
          <p:grpSp>
            <p:nvGrpSpPr>
              <p:cNvPr id="2230" name="Google Shape;2230;p26"/>
              <p:cNvGrpSpPr/>
              <p:nvPr/>
            </p:nvGrpSpPr>
            <p:grpSpPr>
              <a:xfrm>
                <a:off x="3301711" y="4192642"/>
                <a:ext cx="1887538" cy="652463"/>
                <a:chOff x="2741" y="3750"/>
                <a:chExt cx="1189" cy="411"/>
              </a:xfrm>
            </p:grpSpPr>
            <p:sp>
              <p:nvSpPr>
                <p:cNvPr id="2231" name="Google Shape;2231;p26"/>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32" name="Google Shape;2232;p26"/>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233" name="Google Shape;2233;p26"/>
                <p:cNvSpPr txBox="1"/>
                <p:nvPr/>
              </p:nvSpPr>
              <p:spPr>
                <a:xfrm>
                  <a:off x="2813" y="3875"/>
                  <a:ext cx="1117"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B,80</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A,9157</a:t>
                  </a:r>
                  <a:endParaRPr/>
                </a:p>
              </p:txBody>
            </p:sp>
          </p:grpSp>
        </p:grpSp>
        <p:sp>
          <p:nvSpPr>
            <p:cNvPr id="2234" name="Google Shape;2234;p26"/>
            <p:cNvSpPr/>
            <p:nvPr/>
          </p:nvSpPr>
          <p:spPr>
            <a:xfrm>
              <a:off x="3128674" y="2152705"/>
              <a:ext cx="2695575" cy="2695575"/>
            </a:xfrm>
            <a:custGeom>
              <a:rect b="b" l="l" r="r" t="t"/>
              <a:pathLst>
                <a:path extrusionOk="0" h="1698" w="1698">
                  <a:moveTo>
                    <a:pt x="0" y="131"/>
                  </a:moveTo>
                  <a:lnTo>
                    <a:pt x="0" y="1698"/>
                  </a:lnTo>
                  <a:lnTo>
                    <a:pt x="1698" y="1690"/>
                  </a:lnTo>
                  <a:lnTo>
                    <a:pt x="1691" y="148"/>
                  </a:lnTo>
                  <a:lnTo>
                    <a:pt x="1443" y="0"/>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35" name="Google Shape;2235;p26"/>
          <p:cNvSpPr/>
          <p:nvPr/>
        </p:nvSpPr>
        <p:spPr>
          <a:xfrm>
            <a:off x="6114761" y="2184455"/>
            <a:ext cx="3089275" cy="3252787"/>
          </a:xfrm>
          <a:custGeom>
            <a:rect b="b" l="l" r="r" t="t"/>
            <a:pathLst>
              <a:path extrusionOk="0" h="1801" w="1946">
                <a:moveTo>
                  <a:pt x="0" y="0"/>
                </a:moveTo>
                <a:lnTo>
                  <a:pt x="0" y="1801"/>
                </a:lnTo>
                <a:lnTo>
                  <a:pt x="1946" y="1794"/>
                </a:lnTo>
                <a:lnTo>
                  <a:pt x="1925" y="132"/>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36" name="Google Shape;2236;p26"/>
          <p:cNvGrpSpPr/>
          <p:nvPr/>
        </p:nvGrpSpPr>
        <p:grpSpPr>
          <a:xfrm>
            <a:off x="6773574" y="2173342"/>
            <a:ext cx="2170112" cy="2876550"/>
            <a:chOff x="6773574" y="2173342"/>
            <a:chExt cx="2170112" cy="2876550"/>
          </a:xfrm>
        </p:grpSpPr>
        <p:sp>
          <p:nvSpPr>
            <p:cNvPr id="2237" name="Google Shape;2237;p26"/>
            <p:cNvSpPr/>
            <p:nvPr/>
          </p:nvSpPr>
          <p:spPr>
            <a:xfrm>
              <a:off x="6773574" y="2173342"/>
              <a:ext cx="1609725" cy="2465388"/>
            </a:xfrm>
            <a:custGeom>
              <a:rect b="b" l="l" r="r" t="t"/>
              <a:pathLst>
                <a:path extrusionOk="0" h="1480" w="1014">
                  <a:moveTo>
                    <a:pt x="0" y="0"/>
                  </a:moveTo>
                  <a:lnTo>
                    <a:pt x="0" y="1480"/>
                  </a:lnTo>
                  <a:lnTo>
                    <a:pt x="1014" y="1480"/>
                  </a:lnTo>
                  <a:lnTo>
                    <a:pt x="1014" y="146"/>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38" name="Google Shape;2238;p26"/>
            <p:cNvGrpSpPr/>
            <p:nvPr/>
          </p:nvGrpSpPr>
          <p:grpSpPr>
            <a:xfrm>
              <a:off x="6871999" y="4397430"/>
              <a:ext cx="2071687" cy="652462"/>
              <a:chOff x="2741" y="3750"/>
              <a:chExt cx="1305" cy="411"/>
            </a:xfrm>
          </p:grpSpPr>
          <p:sp>
            <p:nvSpPr>
              <p:cNvPr id="2239" name="Google Shape;2239;p26"/>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40" name="Google Shape;2240;p26"/>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241" name="Google Shape;2241;p26"/>
              <p:cNvSpPr txBox="1"/>
              <p:nvPr/>
            </p:nvSpPr>
            <p:spPr>
              <a:xfrm>
                <a:off x="2813" y="3875"/>
                <a:ext cx="1233"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C,5775</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B,80</a:t>
                </a:r>
                <a:endParaRPr/>
              </a:p>
            </p:txBody>
          </p:sp>
        </p:grpSp>
      </p:grpSp>
      <p:grpSp>
        <p:nvGrpSpPr>
          <p:cNvPr id="2242" name="Google Shape;2242;p26"/>
          <p:cNvGrpSpPr/>
          <p:nvPr/>
        </p:nvGrpSpPr>
        <p:grpSpPr>
          <a:xfrm>
            <a:off x="6941849" y="5186417"/>
            <a:ext cx="2063750" cy="661988"/>
            <a:chOff x="2741" y="3750"/>
            <a:chExt cx="1300" cy="417"/>
          </a:xfrm>
        </p:grpSpPr>
        <p:sp>
          <p:nvSpPr>
            <p:cNvPr id="2243" name="Google Shape;2243;p26"/>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244" name="Google Shape;2244;p26"/>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245" name="Google Shape;2245;p26"/>
            <p:cNvSpPr txBox="1"/>
            <p:nvPr/>
          </p:nvSpPr>
          <p:spPr>
            <a:xfrm>
              <a:off x="2813" y="3875"/>
              <a:ext cx="1228" cy="292"/>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C,9157</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B,80</a:t>
              </a:r>
              <a:endParaRPr/>
            </a:p>
          </p:txBody>
        </p:sp>
      </p:grpSp>
      <p:sp>
        <p:nvSpPr>
          <p:cNvPr id="2246" name="Google Shape;2246;p26"/>
          <p:cNvSpPr txBox="1"/>
          <p:nvPr/>
        </p:nvSpPr>
        <p:spPr>
          <a:xfrm flipH="1">
            <a:off x="6681499" y="3414767"/>
            <a:ext cx="1147762"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server: IP address B</a:t>
            </a:r>
            <a:endParaRPr/>
          </a:p>
        </p:txBody>
      </p:sp>
      <p:grpSp>
        <p:nvGrpSpPr>
          <p:cNvPr id="2247" name="Google Shape;2247;p26"/>
          <p:cNvGrpSpPr/>
          <p:nvPr/>
        </p:nvGrpSpPr>
        <p:grpSpPr>
          <a:xfrm>
            <a:off x="4455824" y="2905180"/>
            <a:ext cx="358775" cy="704850"/>
            <a:chOff x="4140" y="429"/>
            <a:chExt cx="1425" cy="2396"/>
          </a:xfrm>
        </p:grpSpPr>
        <p:sp>
          <p:nvSpPr>
            <p:cNvPr id="2248" name="Google Shape;2248;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9" name="Google Shape;2249;p2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0" name="Google Shape;2250;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1" name="Google Shape;2251;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2" name="Google Shape;2252;p2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53" name="Google Shape;2253;p26"/>
            <p:cNvGrpSpPr/>
            <p:nvPr/>
          </p:nvGrpSpPr>
          <p:grpSpPr>
            <a:xfrm>
              <a:off x="4751" y="667"/>
              <a:ext cx="580" cy="146"/>
              <a:chOff x="617" y="2567"/>
              <a:chExt cx="724" cy="140"/>
            </a:xfrm>
          </p:grpSpPr>
          <p:sp>
            <p:nvSpPr>
              <p:cNvPr id="2254" name="Google Shape;2254;p2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5" name="Google Shape;2255;p2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56" name="Google Shape;2256;p2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57" name="Google Shape;2257;p26"/>
            <p:cNvGrpSpPr/>
            <p:nvPr/>
          </p:nvGrpSpPr>
          <p:grpSpPr>
            <a:xfrm>
              <a:off x="4745" y="996"/>
              <a:ext cx="580" cy="156"/>
              <a:chOff x="612" y="2570"/>
              <a:chExt cx="724" cy="162"/>
            </a:xfrm>
          </p:grpSpPr>
          <p:sp>
            <p:nvSpPr>
              <p:cNvPr id="2258" name="Google Shape;2258;p2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9" name="Google Shape;2259;p2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60" name="Google Shape;2260;p2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1" name="Google Shape;2261;p2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62" name="Google Shape;2262;p26"/>
            <p:cNvGrpSpPr/>
            <p:nvPr/>
          </p:nvGrpSpPr>
          <p:grpSpPr>
            <a:xfrm>
              <a:off x="4733" y="1627"/>
              <a:ext cx="586" cy="151"/>
              <a:chOff x="611" y="2568"/>
              <a:chExt cx="730" cy="139"/>
            </a:xfrm>
          </p:grpSpPr>
          <p:sp>
            <p:nvSpPr>
              <p:cNvPr id="2263" name="Google Shape;2263;p2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4" name="Google Shape;2264;p2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65" name="Google Shape;2265;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66" name="Google Shape;2266;p26"/>
            <p:cNvGrpSpPr/>
            <p:nvPr/>
          </p:nvGrpSpPr>
          <p:grpSpPr>
            <a:xfrm>
              <a:off x="4739" y="1325"/>
              <a:ext cx="580" cy="140"/>
              <a:chOff x="614" y="2566"/>
              <a:chExt cx="723" cy="140"/>
            </a:xfrm>
          </p:grpSpPr>
          <p:sp>
            <p:nvSpPr>
              <p:cNvPr id="2267" name="Google Shape;2267;p2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8" name="Google Shape;2268;p2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69" name="Google Shape;2269;p2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0" name="Google Shape;2270;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1" name="Google Shape;2271;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2" name="Google Shape;2272;p2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3" name="Google Shape;2273;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4" name="Google Shape;2274;p2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5" name="Google Shape;2275;p2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6" name="Google Shape;2276;p2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7" name="Google Shape;2277;p2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278" name="Google Shape;2278;p2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9" name="Google Shape;2279;p2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80" name="Google Shape;2280;p26"/>
          <p:cNvGrpSpPr/>
          <p:nvPr/>
        </p:nvGrpSpPr>
        <p:grpSpPr>
          <a:xfrm>
            <a:off x="1590386" y="3325867"/>
            <a:ext cx="711200" cy="669925"/>
            <a:chOff x="-44" y="1473"/>
            <a:chExt cx="981" cy="1105"/>
          </a:xfrm>
        </p:grpSpPr>
        <p:pic>
          <p:nvPicPr>
            <p:cNvPr descr="desktop_computer_stylized_medium" id="2281" name="Google Shape;2281;p2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282" name="Google Shape;2282;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83" name="Google Shape;2283;p26"/>
          <p:cNvGrpSpPr/>
          <p:nvPr/>
        </p:nvGrpSpPr>
        <p:grpSpPr>
          <a:xfrm flipH="1">
            <a:off x="9893011" y="3241730"/>
            <a:ext cx="711200" cy="669925"/>
            <a:chOff x="-44" y="1473"/>
            <a:chExt cx="981" cy="1105"/>
          </a:xfrm>
        </p:grpSpPr>
        <p:pic>
          <p:nvPicPr>
            <p:cNvPr descr="desktop_computer_stylized_medium" id="2284" name="Google Shape;2284;p2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285" name="Google Shape;2285;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86" name="Google Shape;2286;p26"/>
          <p:cNvSpPr txBox="1"/>
          <p:nvPr/>
        </p:nvSpPr>
        <p:spPr>
          <a:xfrm>
            <a:off x="822086" y="5737235"/>
            <a:ext cx="66428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Three segments, all destined to IP address: B,</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 dest port: 80 are demultiplexed to </a:t>
            </a:r>
            <a:r>
              <a:rPr b="0" i="1" lang="en-US" sz="2400" u="none" cap="none" strike="noStrike">
                <a:solidFill>
                  <a:srgbClr val="C00000"/>
                </a:solidFill>
                <a:latin typeface="Calibri"/>
                <a:ea typeface="Calibri"/>
                <a:cs typeface="Calibri"/>
                <a:sym typeface="Calibri"/>
              </a:rPr>
              <a:t>different</a:t>
            </a:r>
            <a:r>
              <a:rPr b="0" i="1"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sockets</a:t>
            </a:r>
            <a:endParaRPr/>
          </a:p>
        </p:txBody>
      </p:sp>
      <p:sp>
        <p:nvSpPr>
          <p:cNvPr id="2287" name="Google Shape;2287;p26"/>
          <p:cNvSpPr/>
          <p:nvPr/>
        </p:nvSpPr>
        <p:spPr>
          <a:xfrm>
            <a:off x="4454237" y="5186417"/>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8" name="Google Shape;2288;p26"/>
          <p:cNvSpPr/>
          <p:nvPr/>
        </p:nvSpPr>
        <p:spPr>
          <a:xfrm>
            <a:off x="7577600" y="4694310"/>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9" name="Google Shape;2289;p26"/>
          <p:cNvSpPr/>
          <p:nvPr/>
        </p:nvSpPr>
        <p:spPr>
          <a:xfrm>
            <a:off x="7631575" y="5530882"/>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Image result for apache web server logo" id="2290" name="Google Shape;2290;p26"/>
          <p:cNvPicPr preferRelativeResize="0"/>
          <p:nvPr/>
        </p:nvPicPr>
        <p:blipFill rotWithShape="1">
          <a:blip r:embed="rId4">
            <a:alphaModFix/>
          </a:blip>
          <a:srcRect b="0" l="0" r="0" t="0"/>
          <a:stretch/>
        </p:blipFill>
        <p:spPr>
          <a:xfrm>
            <a:off x="5392538" y="1073700"/>
            <a:ext cx="1474756" cy="644858"/>
          </a:xfrm>
          <a:prstGeom prst="rect">
            <a:avLst/>
          </a:prstGeom>
          <a:noFill/>
          <a:ln>
            <a:noFill/>
          </a:ln>
        </p:spPr>
      </p:pic>
      <p:sp>
        <p:nvSpPr>
          <p:cNvPr id="2291" name="Google Shape;2291;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4"/>
                                        </p:tgtEl>
                                        <p:attrNameLst>
                                          <p:attrName>style.visibility</p:attrName>
                                        </p:attrNameLst>
                                      </p:cBhvr>
                                      <p:to>
                                        <p:strVal val="visible"/>
                                      </p:to>
                                    </p:set>
                                    <p:animEffect filter="fade" transition="in">
                                      <p:cBhvr>
                                        <p:cTn dur="500"/>
                                        <p:tgtEl>
                                          <p:spTgt spid="2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6"/>
                                        </p:tgtEl>
                                        <p:attrNameLst>
                                          <p:attrName>style.visibility</p:attrName>
                                        </p:attrNameLst>
                                      </p:cBhvr>
                                      <p:to>
                                        <p:strVal val="visible"/>
                                      </p:to>
                                    </p:set>
                                    <p:animEffect filter="fade" transition="in">
                                      <p:cBhvr>
                                        <p:cTn dur="500"/>
                                        <p:tgtEl>
                                          <p:spTgt spid="2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5"/>
                                        </p:tgtEl>
                                        <p:attrNameLst>
                                          <p:attrName>style.visibility</p:attrName>
                                        </p:attrNameLst>
                                      </p:cBhvr>
                                      <p:to>
                                        <p:strVal val="visible"/>
                                      </p:to>
                                    </p:set>
                                    <p:animEffect filter="fade" transition="in">
                                      <p:cBhvr>
                                        <p:cTn dur="500"/>
                                        <p:tgtEl>
                                          <p:spTgt spid="2235"/>
                                        </p:tgtEl>
                                      </p:cBhvr>
                                    </p:animEffect>
                                  </p:childTnLst>
                                </p:cTn>
                              </p:par>
                              <p:par>
                                <p:cTn fill="hold" nodeType="withEffect" presetClass="entr" presetID="10" presetSubtype="0">
                                  <p:stCondLst>
                                    <p:cond delay="0"/>
                                  </p:stCondLst>
                                  <p:childTnLst>
                                    <p:set>
                                      <p:cBhvr>
                                        <p:cTn dur="1" fill="hold">
                                          <p:stCondLst>
                                            <p:cond delay="0"/>
                                          </p:stCondLst>
                                        </p:cTn>
                                        <p:tgtEl>
                                          <p:spTgt spid="2242"/>
                                        </p:tgtEl>
                                        <p:attrNameLst>
                                          <p:attrName>style.visibility</p:attrName>
                                        </p:attrNameLst>
                                      </p:cBhvr>
                                      <p:to>
                                        <p:strVal val="visible"/>
                                      </p:to>
                                    </p:set>
                                    <p:animEffect filter="fade" transition="in">
                                      <p:cBhvr>
                                        <p:cTn dur="500"/>
                                        <p:tgtEl>
                                          <p:spTgt spid="2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7"/>
                                        </p:tgtEl>
                                        <p:attrNameLst>
                                          <p:attrName>style.visibility</p:attrName>
                                        </p:attrNameLst>
                                      </p:cBhvr>
                                      <p:to>
                                        <p:strVal val="visible"/>
                                      </p:to>
                                    </p:set>
                                    <p:animEffect filter="fade" transition="in">
                                      <p:cBhvr>
                                        <p:cTn dur="500"/>
                                        <p:tgtEl>
                                          <p:spTgt spid="2287"/>
                                        </p:tgtEl>
                                      </p:cBhvr>
                                    </p:animEffect>
                                  </p:childTnLst>
                                </p:cTn>
                              </p:par>
                              <p:par>
                                <p:cTn fill="hold" nodeType="withEffect" presetClass="entr" presetID="10" presetSubtype="0">
                                  <p:stCondLst>
                                    <p:cond delay="0"/>
                                  </p:stCondLst>
                                  <p:childTnLst>
                                    <p:set>
                                      <p:cBhvr>
                                        <p:cTn dur="1" fill="hold">
                                          <p:stCondLst>
                                            <p:cond delay="0"/>
                                          </p:stCondLst>
                                        </p:cTn>
                                        <p:tgtEl>
                                          <p:spTgt spid="2288"/>
                                        </p:tgtEl>
                                        <p:attrNameLst>
                                          <p:attrName>style.visibility</p:attrName>
                                        </p:attrNameLst>
                                      </p:cBhvr>
                                      <p:to>
                                        <p:strVal val="visible"/>
                                      </p:to>
                                    </p:set>
                                    <p:animEffect filter="fade" transition="in">
                                      <p:cBhvr>
                                        <p:cTn dur="500"/>
                                        <p:tgtEl>
                                          <p:spTgt spid="2288"/>
                                        </p:tgtEl>
                                      </p:cBhvr>
                                    </p:animEffect>
                                  </p:childTnLst>
                                </p:cTn>
                              </p:par>
                              <p:par>
                                <p:cTn fill="hold" nodeType="withEffect" presetClass="entr" presetID="10" presetSubtype="0">
                                  <p:stCondLst>
                                    <p:cond delay="0"/>
                                  </p:stCondLst>
                                  <p:childTnLst>
                                    <p:set>
                                      <p:cBhvr>
                                        <p:cTn dur="1" fill="hold">
                                          <p:stCondLst>
                                            <p:cond delay="0"/>
                                          </p:stCondLst>
                                        </p:cTn>
                                        <p:tgtEl>
                                          <p:spTgt spid="2289"/>
                                        </p:tgtEl>
                                        <p:attrNameLst>
                                          <p:attrName>style.visibility</p:attrName>
                                        </p:attrNameLst>
                                      </p:cBhvr>
                                      <p:to>
                                        <p:strVal val="visible"/>
                                      </p:to>
                                    </p:set>
                                    <p:animEffect filter="fade" transition="in">
                                      <p:cBhvr>
                                        <p:cTn dur="500"/>
                                        <p:tgtEl>
                                          <p:spTgt spid="2289"/>
                                        </p:tgtEl>
                                      </p:cBhvr>
                                    </p:animEffect>
                                  </p:childTnLst>
                                </p:cTn>
                              </p:par>
                              <p:par>
                                <p:cTn fill="hold" nodeType="withEffect" presetClass="entr" presetID="10" presetSubtype="0">
                                  <p:stCondLst>
                                    <p:cond delay="0"/>
                                  </p:stCondLst>
                                  <p:childTnLst>
                                    <p:set>
                                      <p:cBhvr>
                                        <p:cTn dur="1" fill="hold">
                                          <p:stCondLst>
                                            <p:cond delay="0"/>
                                          </p:stCondLst>
                                        </p:cTn>
                                        <p:tgtEl>
                                          <p:spTgt spid="2286"/>
                                        </p:tgtEl>
                                        <p:attrNameLst>
                                          <p:attrName>style.visibility</p:attrName>
                                        </p:attrNameLst>
                                      </p:cBhvr>
                                      <p:to>
                                        <p:strVal val="visible"/>
                                      </p:to>
                                    </p:set>
                                    <p:animEffect filter="fade" transition="in">
                                      <p:cBhvr>
                                        <p:cTn dur="500"/>
                                        <p:tgtEl>
                                          <p:spTgt spid="2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6" name="Shape 2296"/>
        <p:cNvGrpSpPr/>
        <p:nvPr/>
      </p:nvGrpSpPr>
      <p:grpSpPr>
        <a:xfrm>
          <a:off x="0" y="0"/>
          <a:ext cx="0" cy="0"/>
          <a:chOff x="0" y="0"/>
          <a:chExt cx="0" cy="0"/>
        </a:xfrm>
      </p:grpSpPr>
      <p:sp>
        <p:nvSpPr>
          <p:cNvPr id="2297" name="Google Shape;2297;p27"/>
          <p:cNvSpPr txBox="1"/>
          <p:nvPr>
            <p:ph type="title"/>
          </p:nvPr>
        </p:nvSpPr>
        <p:spPr>
          <a:xfrm>
            <a:off x="798690" y="289325"/>
            <a:ext cx="11100625" cy="1206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lang="en-US" sz="5400"/>
              <a:t>Summary</a:t>
            </a:r>
            <a:endParaRPr sz="6000"/>
          </a:p>
        </p:txBody>
      </p:sp>
      <p:sp>
        <p:nvSpPr>
          <p:cNvPr id="2298" name="Google Shape;2298;p27"/>
          <p:cNvSpPr txBox="1"/>
          <p:nvPr/>
        </p:nvSpPr>
        <p:spPr>
          <a:xfrm>
            <a:off x="798690" y="1610067"/>
            <a:ext cx="11100625" cy="5247933"/>
          </a:xfrm>
          <a:prstGeom prst="rect">
            <a:avLst/>
          </a:prstGeom>
          <a:noFill/>
          <a:ln>
            <a:noFill/>
          </a:ln>
        </p:spPr>
        <p:txBody>
          <a:bodyPr anchorCtr="0" anchor="t" bIns="45700" lIns="91425" spcFirstLastPara="1" rIns="91425" wrap="square" tIns="45700">
            <a:normAutofit/>
          </a:bodyPr>
          <a:lstStyle/>
          <a:p>
            <a:pPr indent="-339725" lvl="0" marL="4635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Multiplexing, demultiplexing: based on segment, datagram header field values</a:t>
            </a:r>
            <a:endParaRPr/>
          </a:p>
          <a:p>
            <a:pPr indent="-339725" lvl="0" marL="463550" marR="0" rtl="0" algn="l">
              <a:lnSpc>
                <a:spcPct val="90000"/>
              </a:lnSpc>
              <a:spcBef>
                <a:spcPts val="1000"/>
              </a:spcBef>
              <a:spcAft>
                <a:spcPts val="0"/>
              </a:spcAft>
              <a:buClr>
                <a:srgbClr val="0000A3"/>
              </a:buClr>
              <a:buSzPts val="3200"/>
              <a:buFont typeface="Noto Sans Symbols"/>
              <a:buChar char="▪"/>
            </a:pPr>
            <a:r>
              <a:rPr b="1" i="0" lang="en-US" sz="3200" u="none" cap="none" strike="noStrike">
                <a:solidFill>
                  <a:srgbClr val="C00000"/>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demultiplexing using destination port number (only)</a:t>
            </a:r>
            <a:endParaRPr/>
          </a:p>
          <a:p>
            <a:pPr indent="-339725" lvl="0" marL="463550" marR="0" rtl="0" algn="l">
              <a:lnSpc>
                <a:spcPct val="90000"/>
              </a:lnSpc>
              <a:spcBef>
                <a:spcPts val="1000"/>
              </a:spcBef>
              <a:spcAft>
                <a:spcPts val="0"/>
              </a:spcAft>
              <a:buClr>
                <a:srgbClr val="0000A3"/>
              </a:buClr>
              <a:buSzPts val="3600"/>
              <a:buFont typeface="Noto Sans Symbols"/>
              <a:buChar char="▪"/>
            </a:pPr>
            <a:r>
              <a:rPr b="1" i="0" lang="en-US" sz="3600" u="none" cap="none" strike="noStrike">
                <a:solidFill>
                  <a:srgbClr val="C00000"/>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demultiplexing using 4-tuple: source and destination IP addresses, and port numbers</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Multiplexing/demultiplexing happen at </a:t>
            </a:r>
            <a:r>
              <a:rPr b="0" i="1" lang="en-US" sz="3200" u="none" cap="none" strike="noStrike">
                <a:solidFill>
                  <a:srgbClr val="000000"/>
                </a:solidFill>
                <a:latin typeface="Calibri"/>
                <a:ea typeface="Calibri"/>
                <a:cs typeface="Calibri"/>
                <a:sym typeface="Calibri"/>
              </a:rPr>
              <a:t>all</a:t>
            </a:r>
            <a:r>
              <a:rPr b="0" i="0" lang="en-US" sz="3200" u="none" cap="none" strike="noStrike">
                <a:solidFill>
                  <a:srgbClr val="000000"/>
                </a:solidFill>
                <a:latin typeface="Calibri"/>
                <a:ea typeface="Calibri"/>
                <a:cs typeface="Calibri"/>
                <a:sym typeface="Calibri"/>
              </a:rPr>
              <a:t> layers</a:t>
            </a:r>
            <a:endParaRPr b="0" i="0" sz="2400" u="none" cap="none" strike="noStrike">
              <a:solidFill>
                <a:srgbClr val="000000"/>
              </a:solidFill>
              <a:latin typeface="Calibri"/>
              <a:ea typeface="Calibri"/>
              <a:cs typeface="Calibri"/>
              <a:sym typeface="Calibri"/>
            </a:endParaRPr>
          </a:p>
        </p:txBody>
      </p:sp>
      <p:sp>
        <p:nvSpPr>
          <p:cNvPr id="2299" name="Google Shape;2299;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4" name="Shape 2304"/>
        <p:cNvGrpSpPr/>
        <p:nvPr/>
      </p:nvGrpSpPr>
      <p:grpSpPr>
        <a:xfrm>
          <a:off x="0" y="0"/>
          <a:ext cx="0" cy="0"/>
          <a:chOff x="0" y="0"/>
          <a:chExt cx="0" cy="0"/>
        </a:xfrm>
      </p:grpSpPr>
      <p:sp>
        <p:nvSpPr>
          <p:cNvPr id="2305" name="Google Shape;2305;p2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2306" name="Google Shape;2306;p2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SzPts val="3200"/>
              <a:buChar char="▪"/>
            </a:pPr>
            <a:r>
              <a:rPr lang="en-US" sz="3200"/>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0" lvl="0" marL="117475" rtl="0" algn="l">
              <a:lnSpc>
                <a:spcPct val="90000"/>
              </a:lnSpc>
              <a:spcBef>
                <a:spcPts val="800"/>
              </a:spcBef>
              <a:spcAft>
                <a:spcPts val="0"/>
              </a:spcAft>
              <a:buClr>
                <a:srgbClr val="BFBFBF"/>
              </a:buClr>
              <a:buSzPts val="3200"/>
              <a:buNone/>
            </a:pPr>
            <a:r>
              <a:t/>
            </a:r>
            <a:endParaRPr sz="3200">
              <a:solidFill>
                <a:srgbClr val="BFBFB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2307" name="Google Shape;2307;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2308" name="Google Shape;2308;p2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sp>
        <p:nvSpPr>
          <p:cNvPr id="2314" name="Google Shape;2314;p2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a:t>
            </a:r>
            <a:endParaRPr/>
          </a:p>
        </p:txBody>
      </p:sp>
      <p:sp>
        <p:nvSpPr>
          <p:cNvPr id="2315" name="Google Shape;2315;p29"/>
          <p:cNvSpPr txBox="1"/>
          <p:nvPr/>
        </p:nvSpPr>
        <p:spPr>
          <a:xfrm>
            <a:off x="618385" y="1528553"/>
            <a:ext cx="5550595" cy="2927537"/>
          </a:xfrm>
          <a:prstGeom prst="rect">
            <a:avLst/>
          </a:prstGeom>
          <a:noFill/>
          <a:ln>
            <a:noFill/>
          </a:ln>
        </p:spPr>
        <p:txBody>
          <a:bodyPr anchorCtr="0" anchor="t" bIns="45700" lIns="91425" spcFirstLastPara="1" rIns="91425" wrap="square" tIns="45700">
            <a:normAutofit fontScale="92500"/>
          </a:bodyPr>
          <a:lstStyle/>
          <a:p>
            <a:pPr indent="-330200" lvl="0" marL="460375" marR="0" rtl="0" algn="l">
              <a:lnSpc>
                <a:spcPct val="90000"/>
              </a:lnSpc>
              <a:spcBef>
                <a:spcPts val="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“no frills,” “bare bones” Internet transport protocol</a:t>
            </a:r>
            <a:endParaRPr/>
          </a:p>
          <a:p>
            <a:pPr indent="-330200" lvl="0" marL="460375" marR="0" rtl="0" algn="l">
              <a:lnSpc>
                <a:spcPct val="90000"/>
              </a:lnSpc>
              <a:spcBef>
                <a:spcPts val="10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“best effort” service, UDP segments may be:</a:t>
            </a:r>
            <a:endParaRPr/>
          </a:p>
          <a:p>
            <a:pPr indent="-231775" lvl="1" marL="808038"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lost</a:t>
            </a:r>
            <a:endParaRPr/>
          </a:p>
          <a:p>
            <a:pPr indent="-231775" lvl="1" marL="808038"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delivered out-of-order to app</a:t>
            </a:r>
            <a:endParaRPr/>
          </a:p>
        </p:txBody>
      </p:sp>
      <p:grpSp>
        <p:nvGrpSpPr>
          <p:cNvPr id="2316" name="Google Shape;2316;p29"/>
          <p:cNvGrpSpPr/>
          <p:nvPr/>
        </p:nvGrpSpPr>
        <p:grpSpPr>
          <a:xfrm>
            <a:off x="6568225" y="1335368"/>
            <a:ext cx="5029004" cy="5014363"/>
            <a:chOff x="4979987" y="2821302"/>
            <a:chExt cx="6630121" cy="3829830"/>
          </a:xfrm>
        </p:grpSpPr>
        <p:sp>
          <p:nvSpPr>
            <p:cNvPr id="2317" name="Google Shape;2317;p29"/>
            <p:cNvSpPr txBox="1"/>
            <p:nvPr/>
          </p:nvSpPr>
          <p:spPr>
            <a:xfrm>
              <a:off x="5218112" y="3235273"/>
              <a:ext cx="6059488" cy="30448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 connection establishment (which can add RTT delay)</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simple: no connection state at sender, receiver</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small header size</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 congestion control</a:t>
              </a:r>
              <a:endParaRPr/>
            </a:p>
            <a:p>
              <a:pPr indent="-284163" lvl="1" marL="68738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UDP can blast away as fast as desired!</a:t>
              </a:r>
              <a:endParaRPr/>
            </a:p>
            <a:p>
              <a:pPr indent="-284163" lvl="1" marL="68738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can function in the face of congestion</a:t>
              </a:r>
              <a:endParaRPr/>
            </a:p>
          </p:txBody>
        </p:sp>
        <p:sp>
          <p:nvSpPr>
            <p:cNvPr id="2318" name="Google Shape;2318;p29"/>
            <p:cNvSpPr/>
            <p:nvPr/>
          </p:nvSpPr>
          <p:spPr>
            <a:xfrm>
              <a:off x="4979987" y="2988017"/>
              <a:ext cx="6630121" cy="366311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319" name="Google Shape;2319;p29"/>
            <p:cNvSpPr txBox="1"/>
            <p:nvPr/>
          </p:nvSpPr>
          <p:spPr>
            <a:xfrm>
              <a:off x="5124449" y="2821302"/>
              <a:ext cx="5102112" cy="378906"/>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99"/>
                </a:buClr>
                <a:buSzPts val="2080"/>
                <a:buFont typeface="Noto Sans Symbols"/>
                <a:buNone/>
              </a:pPr>
              <a:r>
                <a:rPr b="0" i="0" lang="en-US" sz="3200" u="none" cap="none" strike="noStrike">
                  <a:solidFill>
                    <a:srgbClr val="CC0000"/>
                  </a:solidFill>
                  <a:latin typeface="Calibri"/>
                  <a:ea typeface="Calibri"/>
                  <a:cs typeface="Calibri"/>
                  <a:sym typeface="Calibri"/>
                </a:rPr>
                <a:t>Why is there a UDP?</a:t>
              </a:r>
              <a:endParaRPr b="0" i="0" sz="1800" u="none" cap="none" strike="noStrike">
                <a:solidFill>
                  <a:srgbClr val="000000"/>
                </a:solidFill>
                <a:latin typeface="Calibri"/>
                <a:ea typeface="Calibri"/>
                <a:cs typeface="Calibri"/>
                <a:sym typeface="Calibri"/>
              </a:endParaRPr>
            </a:p>
          </p:txBody>
        </p:sp>
      </p:grpSp>
      <p:sp>
        <p:nvSpPr>
          <p:cNvPr id="2320" name="Google Shape;2320;p29"/>
          <p:cNvSpPr txBox="1"/>
          <p:nvPr/>
        </p:nvSpPr>
        <p:spPr>
          <a:xfrm>
            <a:off x="641997" y="4404835"/>
            <a:ext cx="5550595" cy="2060359"/>
          </a:xfrm>
          <a:prstGeom prst="rect">
            <a:avLst/>
          </a:prstGeom>
          <a:noFill/>
          <a:ln>
            <a:noFill/>
          </a:ln>
        </p:spPr>
        <p:txBody>
          <a:bodyPr anchorCtr="0" anchor="t" bIns="45700" lIns="91425" spcFirstLastPara="1" rIns="91425" wrap="square" tIns="45700">
            <a:normAutofit fontScale="92500" lnSpcReduction="10000"/>
          </a:bodyPr>
          <a:lstStyle/>
          <a:p>
            <a:pPr indent="-333375" lvl="0" marL="460375" marR="0" rtl="0" algn="l">
              <a:lnSpc>
                <a:spcPct val="90000"/>
              </a:lnSpc>
              <a:spcBef>
                <a:spcPts val="0"/>
              </a:spcBef>
              <a:spcAft>
                <a:spcPts val="0"/>
              </a:spcAft>
              <a:buClr>
                <a:srgbClr val="0000A3"/>
              </a:buClr>
              <a:buSzPct val="100000"/>
              <a:buFont typeface="Noto Sans Symbols"/>
              <a:buChar char="▪"/>
            </a:pPr>
            <a:r>
              <a:rPr b="0" i="1" lang="en-US" sz="3200" u="none" cap="none" strike="noStrike">
                <a:solidFill>
                  <a:srgbClr val="CC0000"/>
                </a:solidFill>
                <a:latin typeface="Calibri"/>
                <a:ea typeface="Calibri"/>
                <a:cs typeface="Calibri"/>
                <a:sym typeface="Calibri"/>
              </a:rPr>
              <a:t>connectionless:</a:t>
            </a:r>
            <a:endParaRPr b="0" i="0" sz="36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no handshaking between UDP sender, receiver</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each UDP segment handled independently of others</a:t>
            </a:r>
            <a:endParaRPr/>
          </a:p>
        </p:txBody>
      </p:sp>
      <p:sp>
        <p:nvSpPr>
          <p:cNvPr id="2321" name="Google Shape;2321;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0"/>
                                        </p:tgtEl>
                                        <p:attrNameLst>
                                          <p:attrName>style.visibility</p:attrName>
                                        </p:attrNameLst>
                                      </p:cBhvr>
                                      <p:to>
                                        <p:strVal val="visible"/>
                                      </p:to>
                                    </p:set>
                                    <p:animEffect filter="fade" transition="in">
                                      <p:cBhvr>
                                        <p:cTn dur="500"/>
                                        <p:tgtEl>
                                          <p:spTgt spid="2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6"/>
                                        </p:tgtEl>
                                        <p:attrNameLst>
                                          <p:attrName>style.visibility</p:attrName>
                                        </p:attrNameLst>
                                      </p:cBhvr>
                                      <p:to>
                                        <p:strVal val="visible"/>
                                      </p:to>
                                    </p:set>
                                    <p:animEffect filter="fade" transition="in">
                                      <p:cBhvr>
                                        <p:cTn dur="500"/>
                                        <p:tgtEl>
                                          <p:spTgt spid="2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6" name="Shape 2326"/>
        <p:cNvGrpSpPr/>
        <p:nvPr/>
      </p:nvGrpSpPr>
      <p:grpSpPr>
        <a:xfrm>
          <a:off x="0" y="0"/>
          <a:ext cx="0" cy="0"/>
          <a:chOff x="0" y="0"/>
          <a:chExt cx="0" cy="0"/>
        </a:xfrm>
      </p:grpSpPr>
      <p:sp>
        <p:nvSpPr>
          <p:cNvPr id="2327" name="Google Shape;2327;p3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a:t>
            </a:r>
            <a:endParaRPr/>
          </a:p>
        </p:txBody>
      </p:sp>
      <p:sp>
        <p:nvSpPr>
          <p:cNvPr id="2328" name="Google Shape;2328;p30"/>
          <p:cNvSpPr/>
          <p:nvPr/>
        </p:nvSpPr>
        <p:spPr>
          <a:xfrm>
            <a:off x="798690" y="1543058"/>
            <a:ext cx="11100625" cy="4888778"/>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UDP use:</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streaming multimedia apps (loss tolerant, rate sensitive)</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DNS</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SNMP</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HTTP/3</a:t>
            </a:r>
            <a:endParaRPr/>
          </a:p>
          <a:p>
            <a:pPr indent="-292100" lvl="0" marL="292100"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if reliable transfer needed over UDP (e.g., HTTP/3): </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add needed reliability at application layer</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add congestion control at application layer</a:t>
            </a:r>
            <a:endParaRPr/>
          </a:p>
        </p:txBody>
      </p:sp>
      <p:sp>
        <p:nvSpPr>
          <p:cNvPr id="2329" name="Google Shape;2329;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8"/>
                                        </p:tgtEl>
                                        <p:attrNameLst>
                                          <p:attrName>style.visibility</p:attrName>
                                        </p:attrNameLst>
                                      </p:cBhvr>
                                      <p:to>
                                        <p:strVal val="visible"/>
                                      </p:to>
                                    </p:set>
                                    <p:animEffect filter="fade" transition="in">
                                      <p:cBhvr>
                                        <p:cTn dur="500"/>
                                        <p:tgtEl>
                                          <p:spTgt spid="2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4" name="Shape 2334"/>
        <p:cNvGrpSpPr/>
        <p:nvPr/>
      </p:nvGrpSpPr>
      <p:grpSpPr>
        <a:xfrm>
          <a:off x="0" y="0"/>
          <a:ext cx="0" cy="0"/>
          <a:chOff x="0" y="0"/>
          <a:chExt cx="0" cy="0"/>
        </a:xfrm>
      </p:grpSpPr>
      <p:sp>
        <p:nvSpPr>
          <p:cNvPr id="2335" name="Google Shape;2335;p3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 </a:t>
            </a:r>
            <a:r>
              <a:rPr lang="en-US" sz="3600"/>
              <a:t>[RFC 768]</a:t>
            </a:r>
            <a:endParaRPr sz="4400"/>
          </a:p>
        </p:txBody>
      </p:sp>
      <p:pic>
        <p:nvPicPr>
          <p:cNvPr id="2336" name="Google Shape;2336;p31"/>
          <p:cNvPicPr preferRelativeResize="0"/>
          <p:nvPr/>
        </p:nvPicPr>
        <p:blipFill rotWithShape="1">
          <a:blip r:embed="rId3">
            <a:alphaModFix/>
          </a:blip>
          <a:srcRect b="0" l="0" r="0" t="0"/>
          <a:stretch/>
        </p:blipFill>
        <p:spPr>
          <a:xfrm>
            <a:off x="1885243" y="1232551"/>
            <a:ext cx="6509995" cy="5467403"/>
          </a:xfrm>
          <a:prstGeom prst="rect">
            <a:avLst/>
          </a:prstGeom>
          <a:noFill/>
          <a:ln>
            <a:noFill/>
          </a:ln>
        </p:spPr>
      </p:pic>
      <p:sp>
        <p:nvSpPr>
          <p:cNvPr id="2337" name="Google Shape;2337;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2" name="Shape 2342"/>
        <p:cNvGrpSpPr/>
        <p:nvPr/>
      </p:nvGrpSpPr>
      <p:grpSpPr>
        <a:xfrm>
          <a:off x="0" y="0"/>
          <a:ext cx="0" cy="0"/>
          <a:chOff x="0" y="0"/>
          <a:chExt cx="0" cy="0"/>
        </a:xfrm>
      </p:grpSpPr>
      <p:sp>
        <p:nvSpPr>
          <p:cNvPr id="2343" name="Google Shape;2343;p32"/>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44" name="Google Shape;2344;p32"/>
          <p:cNvGrpSpPr/>
          <p:nvPr/>
        </p:nvGrpSpPr>
        <p:grpSpPr>
          <a:xfrm>
            <a:off x="10955688" y="4246759"/>
            <a:ext cx="549832" cy="1070215"/>
            <a:chOff x="4140" y="429"/>
            <a:chExt cx="1425" cy="2396"/>
          </a:xfrm>
        </p:grpSpPr>
        <p:sp>
          <p:nvSpPr>
            <p:cNvPr id="2345" name="Google Shape;2345;p3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6" name="Google Shape;2346;p3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7" name="Google Shape;2347;p3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8" name="Google Shape;2348;p3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49" name="Google Shape;2349;p3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50" name="Google Shape;2350;p32"/>
            <p:cNvGrpSpPr/>
            <p:nvPr/>
          </p:nvGrpSpPr>
          <p:grpSpPr>
            <a:xfrm>
              <a:off x="4751" y="667"/>
              <a:ext cx="580" cy="146"/>
              <a:chOff x="617" y="2567"/>
              <a:chExt cx="724" cy="140"/>
            </a:xfrm>
          </p:grpSpPr>
          <p:sp>
            <p:nvSpPr>
              <p:cNvPr id="2351" name="Google Shape;2351;p3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52" name="Google Shape;2352;p3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53" name="Google Shape;2353;p3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54" name="Google Shape;2354;p32"/>
            <p:cNvGrpSpPr/>
            <p:nvPr/>
          </p:nvGrpSpPr>
          <p:grpSpPr>
            <a:xfrm>
              <a:off x="4745" y="996"/>
              <a:ext cx="580" cy="156"/>
              <a:chOff x="612" y="2570"/>
              <a:chExt cx="724" cy="162"/>
            </a:xfrm>
          </p:grpSpPr>
          <p:sp>
            <p:nvSpPr>
              <p:cNvPr id="2355" name="Google Shape;2355;p3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56" name="Google Shape;2356;p3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57" name="Google Shape;2357;p3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58" name="Google Shape;2358;p3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59" name="Google Shape;2359;p32"/>
            <p:cNvGrpSpPr/>
            <p:nvPr/>
          </p:nvGrpSpPr>
          <p:grpSpPr>
            <a:xfrm>
              <a:off x="4733" y="1627"/>
              <a:ext cx="586" cy="151"/>
              <a:chOff x="611" y="2568"/>
              <a:chExt cx="730" cy="139"/>
            </a:xfrm>
          </p:grpSpPr>
          <p:sp>
            <p:nvSpPr>
              <p:cNvPr id="2360" name="Google Shape;2360;p3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1" name="Google Shape;2361;p3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62" name="Google Shape;2362;p3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63" name="Google Shape;2363;p32"/>
            <p:cNvGrpSpPr/>
            <p:nvPr/>
          </p:nvGrpSpPr>
          <p:grpSpPr>
            <a:xfrm>
              <a:off x="4739" y="1325"/>
              <a:ext cx="580" cy="140"/>
              <a:chOff x="614" y="2566"/>
              <a:chExt cx="723" cy="140"/>
            </a:xfrm>
          </p:grpSpPr>
          <p:sp>
            <p:nvSpPr>
              <p:cNvPr id="2364" name="Google Shape;2364;p3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5" name="Google Shape;2365;p3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66" name="Google Shape;2366;p3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7" name="Google Shape;2367;p3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8" name="Google Shape;2368;p3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69" name="Google Shape;2369;p3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0" name="Google Shape;2370;p3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1" name="Google Shape;2371;p3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2" name="Google Shape;2372;p3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3" name="Google Shape;2373;p3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4" name="Google Shape;2374;p3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375" name="Google Shape;2375;p3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376" name="Google Shape;2376;p3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377" name="Google Shape;2377;p32"/>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378" name="Google Shape;2378;p32"/>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379" name="Google Shape;2379;p32"/>
          <p:cNvGrpSpPr/>
          <p:nvPr/>
        </p:nvGrpSpPr>
        <p:grpSpPr>
          <a:xfrm>
            <a:off x="8510352" y="2078288"/>
            <a:ext cx="1946338" cy="2912558"/>
            <a:chOff x="8091785" y="2078288"/>
            <a:chExt cx="2364905" cy="2912558"/>
          </a:xfrm>
        </p:grpSpPr>
        <p:sp>
          <p:nvSpPr>
            <p:cNvPr id="2380" name="Google Shape;2380;p3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381" name="Google Shape;2381;p3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382" name="Google Shape;2382;p3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383" name="Google Shape;2383;p32"/>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384" name="Google Shape;2384;p32"/>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385" name="Google Shape;2385;p3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386" name="Google Shape;2386;p3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387" name="Google Shape;2387;p32"/>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388" name="Google Shape;2388;p3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389" name="Google Shape;2389;p3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390" name="Google Shape;2390;p3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2391" name="Google Shape;2391;p3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cxnSp>
        <p:nvCxnSpPr>
          <p:cNvPr id="2392" name="Google Shape;2392;p32"/>
          <p:cNvCxnSpPr>
            <a:stCxn id="2385" idx="2"/>
          </p:cNvCxnSpPr>
          <p:nvPr/>
        </p:nvCxnSpPr>
        <p:spPr>
          <a:xfrm flipH="1">
            <a:off x="7971935" y="4973372"/>
            <a:ext cx="1473600" cy="474300"/>
          </a:xfrm>
          <a:prstGeom prst="straightConnector1">
            <a:avLst/>
          </a:prstGeom>
          <a:noFill/>
          <a:ln cap="flat" cmpd="sng" w="19050">
            <a:solidFill>
              <a:schemeClr val="dk1"/>
            </a:solidFill>
            <a:prstDash val="solid"/>
            <a:miter lim="800000"/>
            <a:headEnd len="sm" w="sm" type="none"/>
            <a:tailEnd len="sm" w="sm" type="none"/>
          </a:ln>
        </p:spPr>
      </p:cxnSp>
      <p:cxnSp>
        <p:nvCxnSpPr>
          <p:cNvPr id="2393" name="Google Shape;2393;p32"/>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sp>
        <p:nvSpPr>
          <p:cNvPr id="2394" name="Google Shape;2394;p32"/>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2395" name="Google Shape;2395;p32"/>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396" name="Google Shape;2396;p32"/>
          <p:cNvGrpSpPr/>
          <p:nvPr/>
        </p:nvGrpSpPr>
        <p:grpSpPr>
          <a:xfrm>
            <a:off x="1687770" y="2167472"/>
            <a:ext cx="2131701" cy="2912558"/>
            <a:chOff x="8091785" y="2078288"/>
            <a:chExt cx="2364905" cy="2912558"/>
          </a:xfrm>
        </p:grpSpPr>
        <p:sp>
          <p:nvSpPr>
            <p:cNvPr id="2397" name="Google Shape;2397;p32"/>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398" name="Google Shape;2398;p32"/>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399" name="Google Shape;2399;p32"/>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00" name="Google Shape;2400;p32"/>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01" name="Google Shape;2401;p32"/>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402" name="Google Shape;2402;p32"/>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03" name="Google Shape;2403;p32"/>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04" name="Google Shape;2404;p32"/>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05" name="Google Shape;2405;p32"/>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06" name="Google Shape;2406;p32"/>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07" name="Google Shape;2407;p32"/>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408" name="Google Shape;2408;p32"/>
          <p:cNvGrpSpPr/>
          <p:nvPr/>
        </p:nvGrpSpPr>
        <p:grpSpPr>
          <a:xfrm>
            <a:off x="500734" y="4943580"/>
            <a:ext cx="1026523" cy="597153"/>
            <a:chOff x="7493876" y="2774731"/>
            <a:chExt cx="1481958" cy="894622"/>
          </a:xfrm>
        </p:grpSpPr>
        <p:sp>
          <p:nvSpPr>
            <p:cNvPr id="2409" name="Google Shape;2409;p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10" name="Google Shape;2410;p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11" name="Google Shape;2411;p32"/>
            <p:cNvGrpSpPr/>
            <p:nvPr/>
          </p:nvGrpSpPr>
          <p:grpSpPr>
            <a:xfrm>
              <a:off x="7713663" y="2848339"/>
              <a:ext cx="1042107" cy="425543"/>
              <a:chOff x="7786941" y="2884917"/>
              <a:chExt cx="897649" cy="353919"/>
            </a:xfrm>
          </p:grpSpPr>
          <p:sp>
            <p:nvSpPr>
              <p:cNvPr id="2412" name="Google Shape;2412;p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3" name="Google Shape;2413;p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4" name="Google Shape;2414;p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5" name="Google Shape;2415;p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16" name="Google Shape;2416;p32"/>
          <p:cNvGrpSpPr/>
          <p:nvPr/>
        </p:nvGrpSpPr>
        <p:grpSpPr>
          <a:xfrm>
            <a:off x="2462207" y="2756023"/>
            <a:ext cx="412750" cy="158750"/>
            <a:chOff x="1287" y="2524"/>
            <a:chExt cx="260" cy="100"/>
          </a:xfrm>
        </p:grpSpPr>
        <p:sp>
          <p:nvSpPr>
            <p:cNvPr id="2417" name="Google Shape;2417;p3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18" name="Google Shape;2418;p3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19" name="Google Shape;2419;p3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0" name="Google Shape;2420;p3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421" name="Google Shape;2421;p32"/>
          <p:cNvGrpSpPr/>
          <p:nvPr/>
        </p:nvGrpSpPr>
        <p:grpSpPr>
          <a:xfrm>
            <a:off x="9681144" y="2673610"/>
            <a:ext cx="412750" cy="158750"/>
            <a:chOff x="1287" y="2524"/>
            <a:chExt cx="260" cy="100"/>
          </a:xfrm>
        </p:grpSpPr>
        <p:sp>
          <p:nvSpPr>
            <p:cNvPr id="2422" name="Google Shape;2422;p32"/>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3" name="Google Shape;2423;p32"/>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4" name="Google Shape;2424;p32"/>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5" name="Google Shape;2425;p32"/>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426" name="Google Shape;2426;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1" name="Shape 2431"/>
        <p:cNvGrpSpPr/>
        <p:nvPr/>
      </p:nvGrpSpPr>
      <p:grpSpPr>
        <a:xfrm>
          <a:off x="0" y="0"/>
          <a:ext cx="0" cy="0"/>
          <a:chOff x="0" y="0"/>
          <a:chExt cx="0" cy="0"/>
        </a:xfrm>
      </p:grpSpPr>
      <p:grpSp>
        <p:nvGrpSpPr>
          <p:cNvPr id="2432" name="Google Shape;2432;p33"/>
          <p:cNvGrpSpPr/>
          <p:nvPr/>
        </p:nvGrpSpPr>
        <p:grpSpPr>
          <a:xfrm>
            <a:off x="2578811" y="4965666"/>
            <a:ext cx="6866725" cy="1028731"/>
            <a:chOff x="2578811" y="4965666"/>
            <a:chExt cx="6866725" cy="1028731"/>
          </a:xfrm>
        </p:grpSpPr>
        <p:cxnSp>
          <p:nvCxnSpPr>
            <p:cNvPr id="2433" name="Google Shape;2433;p33"/>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2434" name="Google Shape;2434;p33"/>
            <p:cNvGrpSpPr/>
            <p:nvPr/>
          </p:nvGrpSpPr>
          <p:grpSpPr>
            <a:xfrm>
              <a:off x="4062521" y="4965666"/>
              <a:ext cx="5383015" cy="1028731"/>
              <a:chOff x="4062521" y="4965666"/>
              <a:chExt cx="5383015" cy="1028731"/>
            </a:xfrm>
          </p:grpSpPr>
          <p:cxnSp>
            <p:nvCxnSpPr>
              <p:cNvPr id="2435" name="Google Shape;2435;p33"/>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2436" name="Google Shape;2436;p33"/>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2437" name="Google Shape;2437;p33"/>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38" name="Google Shape;2438;p33"/>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39" name="Google Shape;2439;p33"/>
          <p:cNvGrpSpPr/>
          <p:nvPr/>
        </p:nvGrpSpPr>
        <p:grpSpPr>
          <a:xfrm>
            <a:off x="10955688" y="4246759"/>
            <a:ext cx="549832" cy="1070215"/>
            <a:chOff x="4140" y="429"/>
            <a:chExt cx="1425" cy="2396"/>
          </a:xfrm>
        </p:grpSpPr>
        <p:sp>
          <p:nvSpPr>
            <p:cNvPr id="2440" name="Google Shape;2440;p3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1" name="Google Shape;2441;p3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2" name="Google Shape;2442;p3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3" name="Google Shape;2443;p3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4" name="Google Shape;2444;p3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45" name="Google Shape;2445;p33"/>
            <p:cNvGrpSpPr/>
            <p:nvPr/>
          </p:nvGrpSpPr>
          <p:grpSpPr>
            <a:xfrm>
              <a:off x="4751" y="667"/>
              <a:ext cx="580" cy="146"/>
              <a:chOff x="617" y="2567"/>
              <a:chExt cx="724" cy="140"/>
            </a:xfrm>
          </p:grpSpPr>
          <p:sp>
            <p:nvSpPr>
              <p:cNvPr id="2446" name="Google Shape;2446;p3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7" name="Google Shape;2447;p3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48" name="Google Shape;2448;p3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49" name="Google Shape;2449;p33"/>
            <p:cNvGrpSpPr/>
            <p:nvPr/>
          </p:nvGrpSpPr>
          <p:grpSpPr>
            <a:xfrm>
              <a:off x="4745" y="996"/>
              <a:ext cx="580" cy="156"/>
              <a:chOff x="612" y="2570"/>
              <a:chExt cx="724" cy="162"/>
            </a:xfrm>
          </p:grpSpPr>
          <p:sp>
            <p:nvSpPr>
              <p:cNvPr id="2450" name="Google Shape;2450;p3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1" name="Google Shape;2451;p3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52" name="Google Shape;2452;p3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3" name="Google Shape;2453;p3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54" name="Google Shape;2454;p33"/>
            <p:cNvGrpSpPr/>
            <p:nvPr/>
          </p:nvGrpSpPr>
          <p:grpSpPr>
            <a:xfrm>
              <a:off x="4733" y="1627"/>
              <a:ext cx="586" cy="151"/>
              <a:chOff x="611" y="2568"/>
              <a:chExt cx="730" cy="139"/>
            </a:xfrm>
          </p:grpSpPr>
          <p:sp>
            <p:nvSpPr>
              <p:cNvPr id="2455" name="Google Shape;2455;p3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6" name="Google Shape;2456;p3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57" name="Google Shape;2457;p3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58" name="Google Shape;2458;p33"/>
            <p:cNvGrpSpPr/>
            <p:nvPr/>
          </p:nvGrpSpPr>
          <p:grpSpPr>
            <a:xfrm>
              <a:off x="4739" y="1325"/>
              <a:ext cx="580" cy="140"/>
              <a:chOff x="614" y="2566"/>
              <a:chExt cx="723" cy="140"/>
            </a:xfrm>
          </p:grpSpPr>
          <p:sp>
            <p:nvSpPr>
              <p:cNvPr id="2459" name="Google Shape;2459;p3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0" name="Google Shape;2460;p3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61" name="Google Shape;2461;p3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2" name="Google Shape;2462;p3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3" name="Google Shape;2463;p3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4" name="Google Shape;2464;p3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5" name="Google Shape;2465;p3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6" name="Google Shape;2466;p3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7" name="Google Shape;2467;p3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8" name="Google Shape;2468;p3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9" name="Google Shape;2469;p3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470" name="Google Shape;2470;p3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71" name="Google Shape;2471;p3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72" name="Google Shape;2472;p33"/>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473" name="Google Shape;2473;p33"/>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474" name="Google Shape;2474;p33"/>
          <p:cNvGrpSpPr/>
          <p:nvPr/>
        </p:nvGrpSpPr>
        <p:grpSpPr>
          <a:xfrm>
            <a:off x="8510352" y="2078288"/>
            <a:ext cx="1946338" cy="2912558"/>
            <a:chOff x="8091785" y="2078288"/>
            <a:chExt cx="2364905" cy="2912558"/>
          </a:xfrm>
        </p:grpSpPr>
        <p:sp>
          <p:nvSpPr>
            <p:cNvPr id="2475" name="Google Shape;2475;p3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476" name="Google Shape;2476;p3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477" name="Google Shape;2477;p3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78" name="Google Shape;2478;p33"/>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79" name="Google Shape;2479;p33"/>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480" name="Google Shape;2480;p3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81" name="Google Shape;2481;p3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82" name="Google Shape;2482;p33"/>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83" name="Google Shape;2483;p3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84" name="Google Shape;2484;p3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85" name="Google Shape;2485;p3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486" name="Google Shape;2486;p33"/>
          <p:cNvGrpSpPr/>
          <p:nvPr/>
        </p:nvGrpSpPr>
        <p:grpSpPr>
          <a:xfrm>
            <a:off x="1687770" y="2167472"/>
            <a:ext cx="2131701" cy="2912558"/>
            <a:chOff x="8091785" y="2078288"/>
            <a:chExt cx="2364905" cy="2912558"/>
          </a:xfrm>
        </p:grpSpPr>
        <p:sp>
          <p:nvSpPr>
            <p:cNvPr id="2487" name="Google Shape;2487;p33"/>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488" name="Google Shape;2488;p33"/>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489" name="Google Shape;2489;p33"/>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90" name="Google Shape;2490;p33"/>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91" name="Google Shape;2491;p33"/>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492" name="Google Shape;2492;p33"/>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93" name="Google Shape;2493;p33"/>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94" name="Google Shape;2494;p33"/>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95" name="Google Shape;2495;p33"/>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96" name="Google Shape;2496;p33"/>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97" name="Google Shape;2497;p33"/>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498" name="Google Shape;2498;p33"/>
          <p:cNvGrpSpPr/>
          <p:nvPr/>
        </p:nvGrpSpPr>
        <p:grpSpPr>
          <a:xfrm>
            <a:off x="500734" y="4943580"/>
            <a:ext cx="1026523" cy="597153"/>
            <a:chOff x="7493876" y="2774731"/>
            <a:chExt cx="1481958" cy="894622"/>
          </a:xfrm>
        </p:grpSpPr>
        <p:sp>
          <p:nvSpPr>
            <p:cNvPr id="2499" name="Google Shape;2499;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00" name="Google Shape;2500;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1" name="Google Shape;2501;p33"/>
            <p:cNvGrpSpPr/>
            <p:nvPr/>
          </p:nvGrpSpPr>
          <p:grpSpPr>
            <a:xfrm>
              <a:off x="7713663" y="2848339"/>
              <a:ext cx="1042107" cy="425543"/>
              <a:chOff x="7786941" y="2884917"/>
              <a:chExt cx="897649" cy="353919"/>
            </a:xfrm>
          </p:grpSpPr>
          <p:sp>
            <p:nvSpPr>
              <p:cNvPr id="2502" name="Google Shape;2502;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3" name="Google Shape;2503;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4" name="Google Shape;2504;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5" name="Google Shape;2505;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506" name="Google Shape;2506;p3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grpSp>
        <p:nvGrpSpPr>
          <p:cNvPr id="2507" name="Google Shape;2507;p33"/>
          <p:cNvGrpSpPr/>
          <p:nvPr/>
        </p:nvGrpSpPr>
        <p:grpSpPr>
          <a:xfrm>
            <a:off x="2462207" y="2756023"/>
            <a:ext cx="412750" cy="158750"/>
            <a:chOff x="1287" y="2524"/>
            <a:chExt cx="260" cy="100"/>
          </a:xfrm>
        </p:grpSpPr>
        <p:sp>
          <p:nvSpPr>
            <p:cNvPr id="2508" name="Google Shape;2508;p3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09" name="Google Shape;2509;p3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0" name="Google Shape;2510;p3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1" name="Google Shape;2511;p3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512" name="Google Shape;2512;p33"/>
          <p:cNvGrpSpPr/>
          <p:nvPr/>
        </p:nvGrpSpPr>
        <p:grpSpPr>
          <a:xfrm>
            <a:off x="9681144" y="2673610"/>
            <a:ext cx="412750" cy="158750"/>
            <a:chOff x="1287" y="2524"/>
            <a:chExt cx="260" cy="100"/>
          </a:xfrm>
        </p:grpSpPr>
        <p:sp>
          <p:nvSpPr>
            <p:cNvPr id="2513" name="Google Shape;2513;p33"/>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4" name="Google Shape;2514;p33"/>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5" name="Google Shape;2515;p33"/>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6" name="Google Shape;2516;p33"/>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517" name="Google Shape;2517;p33"/>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 sender actions:</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2518" name="Google Shape;2518;p33"/>
          <p:cNvSpPr/>
          <p:nvPr/>
        </p:nvSpPr>
        <p:spPr>
          <a:xfrm>
            <a:off x="8502120" y="2078245"/>
            <a:ext cx="1986815" cy="293836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519" name="Google Shape;2519;p33"/>
          <p:cNvGrpSpPr/>
          <p:nvPr/>
        </p:nvGrpSpPr>
        <p:grpSpPr>
          <a:xfrm>
            <a:off x="9130164" y="2303106"/>
            <a:ext cx="1259074" cy="369332"/>
            <a:chOff x="8934916" y="2775692"/>
            <a:chExt cx="1259074" cy="369332"/>
          </a:xfrm>
        </p:grpSpPr>
        <p:sp>
          <p:nvSpPr>
            <p:cNvPr id="2520" name="Google Shape;2520;p3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1" name="Google Shape;2521;p33"/>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sp>
        <p:nvSpPr>
          <p:cNvPr id="2522" name="Google Shape;2522;p33"/>
          <p:cNvSpPr txBox="1"/>
          <p:nvPr/>
        </p:nvSpPr>
        <p:spPr>
          <a:xfrm>
            <a:off x="4391544" y="2325099"/>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is passed an application-layer message</a:t>
            </a:r>
            <a:endParaRPr/>
          </a:p>
        </p:txBody>
      </p:sp>
      <p:sp>
        <p:nvSpPr>
          <p:cNvPr id="2523" name="Google Shape;2523;p33"/>
          <p:cNvSpPr txBox="1"/>
          <p:nvPr/>
        </p:nvSpPr>
        <p:spPr>
          <a:xfrm>
            <a:off x="4388186" y="2990916"/>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determines UDP segment header fields values</a:t>
            </a:r>
            <a:endParaRPr/>
          </a:p>
        </p:txBody>
      </p:sp>
      <p:sp>
        <p:nvSpPr>
          <p:cNvPr id="2524" name="Google Shape;2524;p33"/>
          <p:cNvSpPr txBox="1"/>
          <p:nvPr/>
        </p:nvSpPr>
        <p:spPr>
          <a:xfrm>
            <a:off x="4376692" y="35928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creates UDP segment</a:t>
            </a:r>
            <a:endParaRPr/>
          </a:p>
        </p:txBody>
      </p:sp>
      <p:sp>
        <p:nvSpPr>
          <p:cNvPr id="2525" name="Google Shape;2525;p33"/>
          <p:cNvSpPr txBox="1"/>
          <p:nvPr/>
        </p:nvSpPr>
        <p:spPr>
          <a:xfrm>
            <a:off x="4381369" y="40251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passes segment to IP</a:t>
            </a:r>
            <a:endParaRPr/>
          </a:p>
        </p:txBody>
      </p:sp>
      <p:sp>
        <p:nvSpPr>
          <p:cNvPr id="2526" name="Google Shape;2526;p33"/>
          <p:cNvSpPr/>
          <p:nvPr/>
        </p:nvSpPr>
        <p:spPr>
          <a:xfrm>
            <a:off x="169333" y="1343378"/>
            <a:ext cx="3723445" cy="4402666"/>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527" name="Google Shape;2527;p33"/>
          <p:cNvGrpSpPr/>
          <p:nvPr/>
        </p:nvGrpSpPr>
        <p:grpSpPr>
          <a:xfrm>
            <a:off x="8473556" y="2992506"/>
            <a:ext cx="1259074" cy="338554"/>
            <a:chOff x="8964789" y="2639236"/>
            <a:chExt cx="1259074" cy="338554"/>
          </a:xfrm>
        </p:grpSpPr>
        <p:sp>
          <p:nvSpPr>
            <p:cNvPr id="2528" name="Google Shape;2528;p33"/>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9" name="Google Shape;2529;p33"/>
            <p:cNvSpPr txBox="1"/>
            <p:nvPr/>
          </p:nvSpPr>
          <p:spPr>
            <a:xfrm>
              <a:off x="8964789" y="2639236"/>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530" name="Google Shape;2530;p33"/>
          <p:cNvGrpSpPr/>
          <p:nvPr/>
        </p:nvGrpSpPr>
        <p:grpSpPr>
          <a:xfrm>
            <a:off x="8545052" y="3003638"/>
            <a:ext cx="1818022" cy="369332"/>
            <a:chOff x="7863122" y="5632673"/>
            <a:chExt cx="1818022" cy="369332"/>
          </a:xfrm>
        </p:grpSpPr>
        <p:grpSp>
          <p:nvGrpSpPr>
            <p:cNvPr id="2531" name="Google Shape;2531;p33"/>
            <p:cNvGrpSpPr/>
            <p:nvPr/>
          </p:nvGrpSpPr>
          <p:grpSpPr>
            <a:xfrm>
              <a:off x="7863122" y="5638955"/>
              <a:ext cx="1259074" cy="338554"/>
              <a:chOff x="8964789" y="2648929"/>
              <a:chExt cx="1259074" cy="338554"/>
            </a:xfrm>
          </p:grpSpPr>
          <p:sp>
            <p:nvSpPr>
              <p:cNvPr id="2532" name="Google Shape;2532;p33"/>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3" name="Google Shape;2533;p33"/>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534" name="Google Shape;2534;p33"/>
            <p:cNvGrpSpPr/>
            <p:nvPr/>
          </p:nvGrpSpPr>
          <p:grpSpPr>
            <a:xfrm>
              <a:off x="8422070" y="5632673"/>
              <a:ext cx="1259074" cy="369332"/>
              <a:chOff x="8934916" y="2778923"/>
              <a:chExt cx="1259074" cy="369332"/>
            </a:xfrm>
          </p:grpSpPr>
          <p:sp>
            <p:nvSpPr>
              <p:cNvPr id="2535" name="Google Shape;2535;p33"/>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6" name="Google Shape;2536;p33"/>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grpSp>
      <p:sp>
        <p:nvSpPr>
          <p:cNvPr id="2537" name="Google Shape;2537;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9"/>
                                        </p:tgtEl>
                                        <p:attrNameLst>
                                          <p:attrName>style.visibility</p:attrName>
                                        </p:attrNameLst>
                                      </p:cBhvr>
                                      <p:to>
                                        <p:strVal val="visible"/>
                                      </p:to>
                                    </p:set>
                                    <p:animEffect filter="fade" transition="in">
                                      <p:cBhvr>
                                        <p:cTn dur="500"/>
                                        <p:tgtEl>
                                          <p:spTgt spid="2519"/>
                                        </p:tgtEl>
                                      </p:cBhvr>
                                    </p:animEffect>
                                  </p:childTnLst>
                                </p:cTn>
                              </p:par>
                              <p:par>
                                <p:cTn fill="hold" nodeType="withEffect" presetClass="entr" presetID="10" presetSubtype="0">
                                  <p:stCondLst>
                                    <p:cond delay="0"/>
                                  </p:stCondLst>
                                  <p:childTnLst>
                                    <p:set>
                                      <p:cBhvr>
                                        <p:cTn dur="1" fill="hold">
                                          <p:stCondLst>
                                            <p:cond delay="0"/>
                                          </p:stCondLst>
                                        </p:cTn>
                                        <p:tgtEl>
                                          <p:spTgt spid="2522"/>
                                        </p:tgtEl>
                                        <p:attrNameLst>
                                          <p:attrName>style.visibility</p:attrName>
                                        </p:attrNameLst>
                                      </p:cBhvr>
                                      <p:to>
                                        <p:strVal val="visible"/>
                                      </p:to>
                                    </p:set>
                                    <p:animEffect filter="fade" transition="in">
                                      <p:cBhvr>
                                        <p:cTn dur="500"/>
                                        <p:tgtEl>
                                          <p:spTgt spid="2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7"/>
                                        </p:tgtEl>
                                        <p:attrNameLst>
                                          <p:attrName>style.visibility</p:attrName>
                                        </p:attrNameLst>
                                      </p:cBhvr>
                                      <p:to>
                                        <p:strVal val="visible"/>
                                      </p:to>
                                    </p:set>
                                    <p:animEffect filter="fade" transition="in">
                                      <p:cBhvr>
                                        <p:cTn dur="500"/>
                                        <p:tgtEl>
                                          <p:spTgt spid="2527"/>
                                        </p:tgtEl>
                                      </p:cBhvr>
                                    </p:animEffect>
                                  </p:childTnLst>
                                </p:cTn>
                              </p:par>
                              <p:par>
                                <p:cTn fill="hold" nodeType="withEffect" presetClass="entr" presetID="10" presetSubtype="0">
                                  <p:stCondLst>
                                    <p:cond delay="0"/>
                                  </p:stCondLst>
                                  <p:childTnLst>
                                    <p:set>
                                      <p:cBhvr>
                                        <p:cTn dur="1" fill="hold">
                                          <p:stCondLst>
                                            <p:cond delay="0"/>
                                          </p:stCondLst>
                                        </p:cTn>
                                        <p:tgtEl>
                                          <p:spTgt spid="2523"/>
                                        </p:tgtEl>
                                        <p:attrNameLst>
                                          <p:attrName>style.visibility</p:attrName>
                                        </p:attrNameLst>
                                      </p:cBhvr>
                                      <p:to>
                                        <p:strVal val="visible"/>
                                      </p:to>
                                    </p:set>
                                    <p:animEffect filter="fade" transition="in">
                                      <p:cBhvr>
                                        <p:cTn dur="500"/>
                                        <p:tgtEl>
                                          <p:spTgt spid="2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27"/>
                                        </p:tgtEl>
                                      </p:cBhvr>
                                    </p:animEffect>
                                    <p:set>
                                      <p:cBhvr>
                                        <p:cTn dur="1" fill="hold">
                                          <p:stCondLst>
                                            <p:cond delay="500"/>
                                          </p:stCondLst>
                                        </p:cTn>
                                        <p:tgtEl>
                                          <p:spTgt spid="252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519"/>
                                        </p:tgtEl>
                                      </p:cBhvr>
                                    </p:animEffect>
                                    <p:set>
                                      <p:cBhvr>
                                        <p:cTn dur="1" fill="hold">
                                          <p:stCondLst>
                                            <p:cond delay="500"/>
                                          </p:stCondLst>
                                        </p:cTn>
                                        <p:tgtEl>
                                          <p:spTgt spid="251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30"/>
                                        </p:tgtEl>
                                        <p:attrNameLst>
                                          <p:attrName>style.visibility</p:attrName>
                                        </p:attrNameLst>
                                      </p:cBhvr>
                                      <p:to>
                                        <p:strVal val="visible"/>
                                      </p:to>
                                    </p:set>
                                    <p:animEffect filter="fade" transition="in">
                                      <p:cBhvr>
                                        <p:cTn dur="500"/>
                                        <p:tgtEl>
                                          <p:spTgt spid="2530"/>
                                        </p:tgtEl>
                                      </p:cBhvr>
                                    </p:animEffect>
                                  </p:childTnLst>
                                </p:cTn>
                              </p:par>
                              <p:par>
                                <p:cTn fill="hold" nodeType="withEffect" presetClass="entr" presetID="10" presetSubtype="0">
                                  <p:stCondLst>
                                    <p:cond delay="0"/>
                                  </p:stCondLst>
                                  <p:childTnLst>
                                    <p:set>
                                      <p:cBhvr>
                                        <p:cTn dur="1" fill="hold">
                                          <p:stCondLst>
                                            <p:cond delay="0"/>
                                          </p:stCondLst>
                                        </p:cTn>
                                        <p:tgtEl>
                                          <p:spTgt spid="2524"/>
                                        </p:tgtEl>
                                        <p:attrNameLst>
                                          <p:attrName>style.visibility</p:attrName>
                                        </p:attrNameLst>
                                      </p:cBhvr>
                                      <p:to>
                                        <p:strVal val="visible"/>
                                      </p:to>
                                    </p:set>
                                    <p:animEffect filter="fade" transition="in">
                                      <p:cBhvr>
                                        <p:cTn dur="500"/>
                                        <p:tgtEl>
                                          <p:spTgt spid="25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5"/>
                                        </p:tgtEl>
                                        <p:attrNameLst>
                                          <p:attrName>style.visibility</p:attrName>
                                        </p:attrNameLst>
                                      </p:cBhvr>
                                      <p:to>
                                        <p:strVal val="visible"/>
                                      </p:to>
                                    </p:set>
                                    <p:animEffect filter="fade" transition="in">
                                      <p:cBhvr>
                                        <p:cTn dur="500"/>
                                        <p:tgtEl>
                                          <p:spTgt spid="2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2" name="Shape 2542"/>
        <p:cNvGrpSpPr/>
        <p:nvPr/>
      </p:nvGrpSpPr>
      <p:grpSpPr>
        <a:xfrm>
          <a:off x="0" y="0"/>
          <a:ext cx="0" cy="0"/>
          <a:chOff x="0" y="0"/>
          <a:chExt cx="0" cy="0"/>
        </a:xfrm>
      </p:grpSpPr>
      <p:sp>
        <p:nvSpPr>
          <p:cNvPr id="2543" name="Google Shape;2543;p34"/>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4" name="Google Shape;2544;p34"/>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45" name="Google Shape;2545;p34"/>
          <p:cNvGrpSpPr/>
          <p:nvPr/>
        </p:nvGrpSpPr>
        <p:grpSpPr>
          <a:xfrm>
            <a:off x="10955688" y="4246759"/>
            <a:ext cx="549832" cy="1070215"/>
            <a:chOff x="4140" y="429"/>
            <a:chExt cx="1425" cy="2396"/>
          </a:xfrm>
        </p:grpSpPr>
        <p:sp>
          <p:nvSpPr>
            <p:cNvPr id="2546" name="Google Shape;2546;p3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7" name="Google Shape;2547;p3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8" name="Google Shape;2548;p3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9" name="Google Shape;2549;p3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0" name="Google Shape;2550;p3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51" name="Google Shape;2551;p34"/>
            <p:cNvGrpSpPr/>
            <p:nvPr/>
          </p:nvGrpSpPr>
          <p:grpSpPr>
            <a:xfrm>
              <a:off x="4751" y="667"/>
              <a:ext cx="580" cy="146"/>
              <a:chOff x="617" y="2567"/>
              <a:chExt cx="724" cy="140"/>
            </a:xfrm>
          </p:grpSpPr>
          <p:sp>
            <p:nvSpPr>
              <p:cNvPr id="2552" name="Google Shape;2552;p3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3" name="Google Shape;2553;p3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54" name="Google Shape;2554;p3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55" name="Google Shape;2555;p34"/>
            <p:cNvGrpSpPr/>
            <p:nvPr/>
          </p:nvGrpSpPr>
          <p:grpSpPr>
            <a:xfrm>
              <a:off x="4745" y="996"/>
              <a:ext cx="580" cy="156"/>
              <a:chOff x="612" y="2570"/>
              <a:chExt cx="724" cy="162"/>
            </a:xfrm>
          </p:grpSpPr>
          <p:sp>
            <p:nvSpPr>
              <p:cNvPr id="2556" name="Google Shape;2556;p3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7" name="Google Shape;2557;p3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58" name="Google Shape;2558;p3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9" name="Google Shape;2559;p3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60" name="Google Shape;2560;p34"/>
            <p:cNvGrpSpPr/>
            <p:nvPr/>
          </p:nvGrpSpPr>
          <p:grpSpPr>
            <a:xfrm>
              <a:off x="4733" y="1627"/>
              <a:ext cx="586" cy="151"/>
              <a:chOff x="611" y="2568"/>
              <a:chExt cx="730" cy="139"/>
            </a:xfrm>
          </p:grpSpPr>
          <p:sp>
            <p:nvSpPr>
              <p:cNvPr id="2561" name="Google Shape;2561;p3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2" name="Google Shape;2562;p3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63" name="Google Shape;2563;p3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64" name="Google Shape;2564;p34"/>
            <p:cNvGrpSpPr/>
            <p:nvPr/>
          </p:nvGrpSpPr>
          <p:grpSpPr>
            <a:xfrm>
              <a:off x="4739" y="1325"/>
              <a:ext cx="580" cy="140"/>
              <a:chOff x="614" y="2566"/>
              <a:chExt cx="723" cy="140"/>
            </a:xfrm>
          </p:grpSpPr>
          <p:sp>
            <p:nvSpPr>
              <p:cNvPr id="2565" name="Google Shape;2565;p3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6" name="Google Shape;2566;p3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67" name="Google Shape;2567;p3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8" name="Google Shape;2568;p3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9" name="Google Shape;2569;p3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0" name="Google Shape;2570;p3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1" name="Google Shape;2571;p3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2" name="Google Shape;2572;p3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3" name="Google Shape;2573;p3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4" name="Google Shape;2574;p3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5" name="Google Shape;2575;p3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576" name="Google Shape;2576;p3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77" name="Google Shape;2577;p3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78" name="Google Shape;2578;p34"/>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579" name="Google Shape;2579;p34"/>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580" name="Google Shape;2580;p34"/>
          <p:cNvGrpSpPr/>
          <p:nvPr/>
        </p:nvGrpSpPr>
        <p:grpSpPr>
          <a:xfrm>
            <a:off x="8510352" y="2078288"/>
            <a:ext cx="1946338" cy="2912558"/>
            <a:chOff x="8091785" y="2078288"/>
            <a:chExt cx="2364905" cy="2912558"/>
          </a:xfrm>
        </p:grpSpPr>
        <p:sp>
          <p:nvSpPr>
            <p:cNvPr id="2581" name="Google Shape;2581;p34"/>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582" name="Google Shape;2582;p34"/>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583" name="Google Shape;2583;p34"/>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584" name="Google Shape;2584;p34"/>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585" name="Google Shape;2585;p34"/>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586" name="Google Shape;2586;p34"/>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587" name="Google Shape;2587;p34"/>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588" name="Google Shape;2588;p34"/>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589" name="Google Shape;2589;p34"/>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590" name="Google Shape;2590;p34"/>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591" name="Google Shape;2591;p34"/>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592" name="Google Shape;2592;p34"/>
          <p:cNvGrpSpPr/>
          <p:nvPr/>
        </p:nvGrpSpPr>
        <p:grpSpPr>
          <a:xfrm>
            <a:off x="1687770" y="2167472"/>
            <a:ext cx="2131701" cy="2912558"/>
            <a:chOff x="8091785" y="2078288"/>
            <a:chExt cx="2364905" cy="2912558"/>
          </a:xfrm>
        </p:grpSpPr>
        <p:sp>
          <p:nvSpPr>
            <p:cNvPr id="2593" name="Google Shape;2593;p34"/>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594" name="Google Shape;2594;p34"/>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595" name="Google Shape;2595;p34"/>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596" name="Google Shape;2596;p34"/>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597" name="Google Shape;2597;p34"/>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598" name="Google Shape;2598;p34"/>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599" name="Google Shape;2599;p34"/>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600" name="Google Shape;2600;p34"/>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601" name="Google Shape;2601;p34"/>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602" name="Google Shape;2602;p34"/>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603" name="Google Shape;2603;p34"/>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604" name="Google Shape;2604;p34"/>
          <p:cNvGrpSpPr/>
          <p:nvPr/>
        </p:nvGrpSpPr>
        <p:grpSpPr>
          <a:xfrm>
            <a:off x="500734" y="4943580"/>
            <a:ext cx="1026523" cy="597153"/>
            <a:chOff x="7493876" y="2774731"/>
            <a:chExt cx="1481958" cy="894622"/>
          </a:xfrm>
        </p:grpSpPr>
        <p:sp>
          <p:nvSpPr>
            <p:cNvPr id="2605" name="Google Shape;2605;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06" name="Google Shape;2606;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07" name="Google Shape;2607;p34"/>
            <p:cNvGrpSpPr/>
            <p:nvPr/>
          </p:nvGrpSpPr>
          <p:grpSpPr>
            <a:xfrm>
              <a:off x="7713663" y="2848339"/>
              <a:ext cx="1042107" cy="425543"/>
              <a:chOff x="7786941" y="2884917"/>
              <a:chExt cx="897649" cy="353919"/>
            </a:xfrm>
          </p:grpSpPr>
          <p:sp>
            <p:nvSpPr>
              <p:cNvPr id="2608" name="Google Shape;2608;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9" name="Google Shape;2609;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0" name="Google Shape;2610;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1" name="Google Shape;2611;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612" name="Google Shape;2612;p3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grpSp>
        <p:nvGrpSpPr>
          <p:cNvPr id="2613" name="Google Shape;2613;p34"/>
          <p:cNvGrpSpPr/>
          <p:nvPr/>
        </p:nvGrpSpPr>
        <p:grpSpPr>
          <a:xfrm>
            <a:off x="2462207" y="2756023"/>
            <a:ext cx="412750" cy="158750"/>
            <a:chOff x="1287" y="2524"/>
            <a:chExt cx="260" cy="100"/>
          </a:xfrm>
        </p:grpSpPr>
        <p:sp>
          <p:nvSpPr>
            <p:cNvPr id="2614" name="Google Shape;2614;p3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5" name="Google Shape;2615;p3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6" name="Google Shape;2616;p34"/>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17" name="Google Shape;2617;p3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618" name="Google Shape;2618;p34"/>
          <p:cNvGrpSpPr/>
          <p:nvPr/>
        </p:nvGrpSpPr>
        <p:grpSpPr>
          <a:xfrm>
            <a:off x="9681144" y="2673610"/>
            <a:ext cx="412750" cy="158750"/>
            <a:chOff x="1287" y="2524"/>
            <a:chExt cx="260" cy="100"/>
          </a:xfrm>
        </p:grpSpPr>
        <p:sp>
          <p:nvSpPr>
            <p:cNvPr id="2619" name="Google Shape;2619;p34"/>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0" name="Google Shape;2620;p34"/>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1" name="Google Shape;2621;p34"/>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22" name="Google Shape;2622;p34"/>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623" name="Google Shape;2623;p34"/>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 receiver actions:</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2624" name="Google Shape;2624;p34"/>
          <p:cNvSpPr/>
          <p:nvPr/>
        </p:nvSpPr>
        <p:spPr>
          <a:xfrm>
            <a:off x="1655121" y="2160335"/>
            <a:ext cx="2199790" cy="293836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25" name="Google Shape;2625;p34"/>
          <p:cNvGrpSpPr/>
          <p:nvPr/>
        </p:nvGrpSpPr>
        <p:grpSpPr>
          <a:xfrm>
            <a:off x="2355694" y="3088859"/>
            <a:ext cx="1259074" cy="369332"/>
            <a:chOff x="8934916" y="2775692"/>
            <a:chExt cx="1259074" cy="369332"/>
          </a:xfrm>
        </p:grpSpPr>
        <p:sp>
          <p:nvSpPr>
            <p:cNvPr id="2626" name="Google Shape;2626;p34"/>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7" name="Google Shape;2627;p34"/>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sp>
        <p:nvSpPr>
          <p:cNvPr id="2628" name="Google Shape;2628;p34"/>
          <p:cNvSpPr txBox="1"/>
          <p:nvPr/>
        </p:nvSpPr>
        <p:spPr>
          <a:xfrm>
            <a:off x="4380155" y="3324883"/>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extracts application-layer message</a:t>
            </a:r>
            <a:endParaRPr/>
          </a:p>
        </p:txBody>
      </p:sp>
      <p:sp>
        <p:nvSpPr>
          <p:cNvPr id="2629" name="Google Shape;2629;p34"/>
          <p:cNvSpPr txBox="1"/>
          <p:nvPr/>
        </p:nvSpPr>
        <p:spPr>
          <a:xfrm>
            <a:off x="4378217" y="2693557"/>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checks UDP checksum header value</a:t>
            </a:r>
            <a:endParaRPr/>
          </a:p>
        </p:txBody>
      </p:sp>
      <p:sp>
        <p:nvSpPr>
          <p:cNvPr id="2630" name="Google Shape;2630;p34"/>
          <p:cNvSpPr txBox="1"/>
          <p:nvPr/>
        </p:nvSpPr>
        <p:spPr>
          <a:xfrm>
            <a:off x="4388103" y="2278130"/>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receives segment from IP</a:t>
            </a:r>
            <a:endParaRPr/>
          </a:p>
        </p:txBody>
      </p:sp>
      <p:grpSp>
        <p:nvGrpSpPr>
          <p:cNvPr id="2631" name="Google Shape;2631;p34"/>
          <p:cNvGrpSpPr/>
          <p:nvPr/>
        </p:nvGrpSpPr>
        <p:grpSpPr>
          <a:xfrm>
            <a:off x="1795827" y="3762839"/>
            <a:ext cx="1818022" cy="369332"/>
            <a:chOff x="7863122" y="5632673"/>
            <a:chExt cx="1818022" cy="369332"/>
          </a:xfrm>
        </p:grpSpPr>
        <p:grpSp>
          <p:nvGrpSpPr>
            <p:cNvPr id="2632" name="Google Shape;2632;p34"/>
            <p:cNvGrpSpPr/>
            <p:nvPr/>
          </p:nvGrpSpPr>
          <p:grpSpPr>
            <a:xfrm>
              <a:off x="7863122" y="5638955"/>
              <a:ext cx="1259074" cy="338554"/>
              <a:chOff x="8964789" y="2648929"/>
              <a:chExt cx="1259074" cy="338554"/>
            </a:xfrm>
          </p:grpSpPr>
          <p:sp>
            <p:nvSpPr>
              <p:cNvPr id="2633" name="Google Shape;2633;p34"/>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34" name="Google Shape;2634;p34"/>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635" name="Google Shape;2635;p34"/>
            <p:cNvGrpSpPr/>
            <p:nvPr/>
          </p:nvGrpSpPr>
          <p:grpSpPr>
            <a:xfrm>
              <a:off x="8422070" y="5632673"/>
              <a:ext cx="1259074" cy="369332"/>
              <a:chOff x="8934916" y="2778923"/>
              <a:chExt cx="1259074" cy="369332"/>
            </a:xfrm>
          </p:grpSpPr>
          <p:sp>
            <p:nvSpPr>
              <p:cNvPr id="2636" name="Google Shape;2636;p34"/>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37" name="Google Shape;2637;p34"/>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grpSp>
      <p:sp>
        <p:nvSpPr>
          <p:cNvPr id="2638" name="Google Shape;2638;p34"/>
          <p:cNvSpPr txBox="1"/>
          <p:nvPr/>
        </p:nvSpPr>
        <p:spPr>
          <a:xfrm>
            <a:off x="4379533" y="3932414"/>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demultiplexes message up to application via socket</a:t>
            </a:r>
            <a:endParaRPr/>
          </a:p>
        </p:txBody>
      </p:sp>
      <p:sp>
        <p:nvSpPr>
          <p:cNvPr id="2639" name="Google Shape;2639;p34"/>
          <p:cNvSpPr/>
          <p:nvPr/>
        </p:nvSpPr>
        <p:spPr>
          <a:xfrm>
            <a:off x="8348341" y="2027305"/>
            <a:ext cx="3416536" cy="330284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40" name="Google Shape;2640;p34"/>
          <p:cNvSpPr/>
          <p:nvPr/>
        </p:nvSpPr>
        <p:spPr>
          <a:xfrm>
            <a:off x="1741367" y="2989161"/>
            <a:ext cx="763166" cy="541031"/>
          </a:xfrm>
          <a:prstGeom prst="ellipse">
            <a:avLst/>
          </a:prstGeom>
          <a:noFill/>
          <a:ln cap="flat" cmpd="sng" w="254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641" name="Google Shape;2641;p34"/>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cxnSp>
        <p:nvCxnSpPr>
          <p:cNvPr id="2642" name="Google Shape;2642;p34"/>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sp>
        <p:nvSpPr>
          <p:cNvPr id="2643" name="Google Shape;2643;p34"/>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2644" name="Google Shape;2644;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1"/>
                                        </p:tgtEl>
                                        <p:attrNameLst>
                                          <p:attrName>style.visibility</p:attrName>
                                        </p:attrNameLst>
                                      </p:cBhvr>
                                      <p:to>
                                        <p:strVal val="visible"/>
                                      </p:to>
                                    </p:set>
                                    <p:animEffect filter="fade" transition="in">
                                      <p:cBhvr>
                                        <p:cTn dur="500"/>
                                        <p:tgtEl>
                                          <p:spTgt spid="26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0"/>
                                        </p:tgtEl>
                                        <p:attrNameLst>
                                          <p:attrName>style.visibility</p:attrName>
                                        </p:attrNameLst>
                                      </p:cBhvr>
                                      <p:to>
                                        <p:strVal val="visible"/>
                                      </p:to>
                                    </p:set>
                                    <p:animEffect filter="fade" transition="in">
                                      <p:cBhvr>
                                        <p:cTn dur="500"/>
                                        <p:tgtEl>
                                          <p:spTgt spid="2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0"/>
                                        </p:tgtEl>
                                        <p:attrNameLst>
                                          <p:attrName>style.visibility</p:attrName>
                                        </p:attrNameLst>
                                      </p:cBhvr>
                                      <p:to>
                                        <p:strVal val="visible"/>
                                      </p:to>
                                    </p:set>
                                    <p:animEffect filter="fade" transition="in">
                                      <p:cBhvr>
                                        <p:cTn dur="500"/>
                                        <p:tgtEl>
                                          <p:spTgt spid="2640"/>
                                        </p:tgtEl>
                                      </p:cBhvr>
                                    </p:animEffect>
                                  </p:childTnLst>
                                </p:cTn>
                              </p:par>
                              <p:par>
                                <p:cTn fill="hold" nodeType="withEffect" presetClass="entr" presetID="10" presetSubtype="0">
                                  <p:stCondLst>
                                    <p:cond delay="0"/>
                                  </p:stCondLst>
                                  <p:childTnLst>
                                    <p:set>
                                      <p:cBhvr>
                                        <p:cTn dur="1" fill="hold">
                                          <p:stCondLst>
                                            <p:cond delay="0"/>
                                          </p:stCondLst>
                                        </p:cTn>
                                        <p:tgtEl>
                                          <p:spTgt spid="2629"/>
                                        </p:tgtEl>
                                        <p:attrNameLst>
                                          <p:attrName>style.visibility</p:attrName>
                                        </p:attrNameLst>
                                      </p:cBhvr>
                                      <p:to>
                                        <p:strVal val="visible"/>
                                      </p:to>
                                    </p:set>
                                    <p:animEffect filter="fade" transition="in">
                                      <p:cBhvr>
                                        <p:cTn dur="500"/>
                                        <p:tgtEl>
                                          <p:spTgt spid="26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31"/>
                                        </p:tgtEl>
                                      </p:cBhvr>
                                    </p:animEffect>
                                    <p:set>
                                      <p:cBhvr>
                                        <p:cTn dur="1" fill="hold">
                                          <p:stCondLst>
                                            <p:cond delay="500"/>
                                          </p:stCondLst>
                                        </p:cTn>
                                        <p:tgtEl>
                                          <p:spTgt spid="263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40"/>
                                        </p:tgtEl>
                                      </p:cBhvr>
                                    </p:animEffect>
                                    <p:set>
                                      <p:cBhvr>
                                        <p:cTn dur="1" fill="hold">
                                          <p:stCondLst>
                                            <p:cond delay="500"/>
                                          </p:stCondLst>
                                        </p:cTn>
                                        <p:tgtEl>
                                          <p:spTgt spid="264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25"/>
                                        </p:tgtEl>
                                        <p:attrNameLst>
                                          <p:attrName>style.visibility</p:attrName>
                                        </p:attrNameLst>
                                      </p:cBhvr>
                                      <p:to>
                                        <p:strVal val="visible"/>
                                      </p:to>
                                    </p:set>
                                    <p:animEffect filter="fade" transition="in">
                                      <p:cBhvr>
                                        <p:cTn dur="500"/>
                                        <p:tgtEl>
                                          <p:spTgt spid="2625"/>
                                        </p:tgtEl>
                                      </p:cBhvr>
                                    </p:animEffect>
                                  </p:childTnLst>
                                </p:cTn>
                              </p:par>
                              <p:par>
                                <p:cTn fill="hold" nodeType="withEffect" presetClass="entr" presetID="10" presetSubtype="0">
                                  <p:stCondLst>
                                    <p:cond delay="0"/>
                                  </p:stCondLst>
                                  <p:childTnLst>
                                    <p:set>
                                      <p:cBhvr>
                                        <p:cTn dur="1" fill="hold">
                                          <p:stCondLst>
                                            <p:cond delay="0"/>
                                          </p:stCondLst>
                                        </p:cTn>
                                        <p:tgtEl>
                                          <p:spTgt spid="2628"/>
                                        </p:tgtEl>
                                        <p:attrNameLst>
                                          <p:attrName>style.visibility</p:attrName>
                                        </p:attrNameLst>
                                      </p:cBhvr>
                                      <p:to>
                                        <p:strVal val="visible"/>
                                      </p:to>
                                    </p:set>
                                    <p:animEffect filter="fade" transition="in">
                                      <p:cBhvr>
                                        <p:cTn dur="500"/>
                                        <p:tgtEl>
                                          <p:spTgt spid="2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8"/>
                                        </p:tgtEl>
                                        <p:attrNameLst>
                                          <p:attrName>style.visibility</p:attrName>
                                        </p:attrNameLst>
                                      </p:cBhvr>
                                      <p:to>
                                        <p:strVal val="visible"/>
                                      </p:to>
                                    </p:set>
                                    <p:animEffect filter="fade" transition="in">
                                      <p:cBhvr>
                                        <p:cTn dur="500"/>
                                        <p:tgtEl>
                                          <p:spTgt spid="26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9" name="Shape 2649"/>
        <p:cNvGrpSpPr/>
        <p:nvPr/>
      </p:nvGrpSpPr>
      <p:grpSpPr>
        <a:xfrm>
          <a:off x="0" y="0"/>
          <a:ext cx="0" cy="0"/>
          <a:chOff x="0" y="0"/>
          <a:chExt cx="0" cy="0"/>
        </a:xfrm>
      </p:grpSpPr>
      <p:sp>
        <p:nvSpPr>
          <p:cNvPr id="2650" name="Google Shape;2650;p3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segment </a:t>
            </a:r>
            <a:r>
              <a:rPr lang="en-US"/>
              <a:t>h</a:t>
            </a:r>
            <a:r>
              <a:rPr lang="en-US" sz="4400"/>
              <a:t>eader</a:t>
            </a:r>
            <a:endParaRPr/>
          </a:p>
        </p:txBody>
      </p:sp>
      <p:sp>
        <p:nvSpPr>
          <p:cNvPr id="2651" name="Google Shape;2651;p35"/>
          <p:cNvSpPr/>
          <p:nvPr/>
        </p:nvSpPr>
        <p:spPr>
          <a:xfrm>
            <a:off x="3902299" y="2017713"/>
            <a:ext cx="3324225" cy="3200400"/>
          </a:xfrm>
          <a:prstGeom prst="rect">
            <a:avLst/>
          </a:prstGeom>
          <a:solidFill>
            <a:srgbClr val="FFFFFF"/>
          </a:solidFill>
          <a:ln cap="flat" cmpd="sng" w="349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652" name="Google Shape;2652;p35"/>
          <p:cNvSpPr txBox="1"/>
          <p:nvPr/>
        </p:nvSpPr>
        <p:spPr>
          <a:xfrm>
            <a:off x="3941987" y="2030413"/>
            <a:ext cx="156368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source port #</a:t>
            </a:r>
            <a:endParaRPr b="0" i="0" sz="2400" u="none" cap="none" strike="noStrike">
              <a:solidFill>
                <a:srgbClr val="000000"/>
              </a:solidFill>
              <a:latin typeface="Tahoma"/>
              <a:ea typeface="Tahoma"/>
              <a:cs typeface="Tahoma"/>
              <a:sym typeface="Tahoma"/>
            </a:endParaRPr>
          </a:p>
        </p:txBody>
      </p:sp>
      <p:sp>
        <p:nvSpPr>
          <p:cNvPr id="2653" name="Google Shape;2653;p35"/>
          <p:cNvSpPr txBox="1"/>
          <p:nvPr/>
        </p:nvSpPr>
        <p:spPr>
          <a:xfrm>
            <a:off x="5727924" y="2030413"/>
            <a:ext cx="1328738"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dest port #</a:t>
            </a:r>
            <a:endParaRPr/>
          </a:p>
        </p:txBody>
      </p:sp>
      <p:cxnSp>
        <p:nvCxnSpPr>
          <p:cNvPr id="2654" name="Google Shape;2654;p35"/>
          <p:cNvCxnSpPr/>
          <p:nvPr/>
        </p:nvCxnSpPr>
        <p:spPr>
          <a:xfrm>
            <a:off x="3892774" y="2417763"/>
            <a:ext cx="3328988" cy="0"/>
          </a:xfrm>
          <a:prstGeom prst="straightConnector1">
            <a:avLst/>
          </a:prstGeom>
          <a:noFill/>
          <a:ln cap="flat" cmpd="sng" w="19050">
            <a:solidFill>
              <a:srgbClr val="000000"/>
            </a:solidFill>
            <a:prstDash val="solid"/>
            <a:round/>
            <a:headEnd len="med" w="med" type="none"/>
            <a:tailEnd len="med" w="med" type="none"/>
          </a:ln>
        </p:spPr>
      </p:cxnSp>
      <p:cxnSp>
        <p:nvCxnSpPr>
          <p:cNvPr id="2655" name="Google Shape;2655;p35"/>
          <p:cNvCxnSpPr/>
          <p:nvPr/>
        </p:nvCxnSpPr>
        <p:spPr>
          <a:xfrm>
            <a:off x="3883249" y="2817813"/>
            <a:ext cx="3324225" cy="0"/>
          </a:xfrm>
          <a:prstGeom prst="straightConnector1">
            <a:avLst/>
          </a:prstGeom>
          <a:noFill/>
          <a:ln cap="flat" cmpd="sng" w="19050">
            <a:solidFill>
              <a:srgbClr val="000000"/>
            </a:solidFill>
            <a:prstDash val="solid"/>
            <a:round/>
            <a:headEnd len="med" w="med" type="none"/>
            <a:tailEnd len="med" w="med" type="none"/>
          </a:ln>
        </p:spPr>
      </p:cxnSp>
      <p:cxnSp>
        <p:nvCxnSpPr>
          <p:cNvPr id="2656" name="Google Shape;2656;p35"/>
          <p:cNvCxnSpPr/>
          <p:nvPr/>
        </p:nvCxnSpPr>
        <p:spPr>
          <a:xfrm rot="10800000">
            <a:off x="5540599" y="2017713"/>
            <a:ext cx="0" cy="395287"/>
          </a:xfrm>
          <a:prstGeom prst="straightConnector1">
            <a:avLst/>
          </a:prstGeom>
          <a:noFill/>
          <a:ln cap="flat" cmpd="sng" w="19050">
            <a:solidFill>
              <a:srgbClr val="000000"/>
            </a:solidFill>
            <a:prstDash val="solid"/>
            <a:round/>
            <a:headEnd len="med" w="med" type="none"/>
            <a:tailEnd len="med" w="med" type="none"/>
          </a:ln>
        </p:spPr>
      </p:cxnSp>
      <p:sp>
        <p:nvSpPr>
          <p:cNvPr id="2657" name="Google Shape;2657;p35"/>
          <p:cNvSpPr txBox="1"/>
          <p:nvPr/>
        </p:nvSpPr>
        <p:spPr>
          <a:xfrm>
            <a:off x="5048474" y="1552575"/>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32 bits</a:t>
            </a:r>
            <a:endParaRPr/>
          </a:p>
        </p:txBody>
      </p:sp>
      <p:cxnSp>
        <p:nvCxnSpPr>
          <p:cNvPr id="2658" name="Google Shape;2658;p35"/>
          <p:cNvCxnSpPr/>
          <p:nvPr/>
        </p:nvCxnSpPr>
        <p:spPr>
          <a:xfrm>
            <a:off x="5997799" y="1784350"/>
            <a:ext cx="1200150" cy="4763"/>
          </a:xfrm>
          <a:prstGeom prst="straightConnector1">
            <a:avLst/>
          </a:prstGeom>
          <a:noFill/>
          <a:ln cap="flat" cmpd="sng" w="19050">
            <a:solidFill>
              <a:srgbClr val="000000"/>
            </a:solidFill>
            <a:prstDash val="solid"/>
            <a:round/>
            <a:headEnd len="med" w="med" type="none"/>
            <a:tailEnd len="med" w="med" type="triangle"/>
          </a:ln>
        </p:spPr>
      </p:cxnSp>
      <p:cxnSp>
        <p:nvCxnSpPr>
          <p:cNvPr id="2659" name="Google Shape;2659;p35"/>
          <p:cNvCxnSpPr/>
          <p:nvPr/>
        </p:nvCxnSpPr>
        <p:spPr>
          <a:xfrm rot="10800000">
            <a:off x="3888012" y="1793875"/>
            <a:ext cx="1128712" cy="0"/>
          </a:xfrm>
          <a:prstGeom prst="straightConnector1">
            <a:avLst/>
          </a:prstGeom>
          <a:noFill/>
          <a:ln cap="flat" cmpd="sng" w="19050">
            <a:solidFill>
              <a:srgbClr val="000000"/>
            </a:solidFill>
            <a:prstDash val="solid"/>
            <a:round/>
            <a:headEnd len="med" w="med" type="none"/>
            <a:tailEnd len="med" w="med" type="triangle"/>
          </a:ln>
        </p:spPr>
      </p:cxnSp>
      <p:sp>
        <p:nvSpPr>
          <p:cNvPr id="2660" name="Google Shape;2660;p35"/>
          <p:cNvSpPr txBox="1"/>
          <p:nvPr/>
        </p:nvSpPr>
        <p:spPr>
          <a:xfrm>
            <a:off x="4745262" y="3376613"/>
            <a:ext cx="13890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data </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(payload)</a:t>
            </a:r>
            <a:endParaRPr b="0" i="0" sz="2400" u="none" cap="none" strike="noStrike">
              <a:solidFill>
                <a:srgbClr val="000000"/>
              </a:solidFill>
              <a:latin typeface="Tahoma"/>
              <a:ea typeface="Tahoma"/>
              <a:cs typeface="Tahoma"/>
              <a:sym typeface="Tahoma"/>
            </a:endParaRPr>
          </a:p>
        </p:txBody>
      </p:sp>
      <p:sp>
        <p:nvSpPr>
          <p:cNvPr id="2661" name="Google Shape;2661;p35"/>
          <p:cNvSpPr txBox="1"/>
          <p:nvPr/>
        </p:nvSpPr>
        <p:spPr>
          <a:xfrm>
            <a:off x="4338862" y="5292725"/>
            <a:ext cx="2524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 segment format</a:t>
            </a:r>
            <a:endParaRPr b="0" i="0" sz="2400" u="none" cap="none" strike="noStrike">
              <a:solidFill>
                <a:srgbClr val="000000"/>
              </a:solidFill>
              <a:latin typeface="Tahoma"/>
              <a:ea typeface="Tahoma"/>
              <a:cs typeface="Tahoma"/>
              <a:sym typeface="Tahoma"/>
            </a:endParaRPr>
          </a:p>
        </p:txBody>
      </p:sp>
      <p:cxnSp>
        <p:nvCxnSpPr>
          <p:cNvPr id="2662" name="Google Shape;2662;p35"/>
          <p:cNvCxnSpPr/>
          <p:nvPr/>
        </p:nvCxnSpPr>
        <p:spPr>
          <a:xfrm rot="10800000">
            <a:off x="5540599" y="2427288"/>
            <a:ext cx="0" cy="395287"/>
          </a:xfrm>
          <a:prstGeom prst="straightConnector1">
            <a:avLst/>
          </a:prstGeom>
          <a:noFill/>
          <a:ln cap="flat" cmpd="sng" w="19050">
            <a:solidFill>
              <a:srgbClr val="000000"/>
            </a:solidFill>
            <a:prstDash val="solid"/>
            <a:round/>
            <a:headEnd len="med" w="med" type="none"/>
            <a:tailEnd len="med" w="med" type="none"/>
          </a:ln>
        </p:spPr>
      </p:cxnSp>
      <p:sp>
        <p:nvSpPr>
          <p:cNvPr id="2663" name="Google Shape;2663;p35"/>
          <p:cNvSpPr txBox="1"/>
          <p:nvPr/>
        </p:nvSpPr>
        <p:spPr>
          <a:xfrm>
            <a:off x="4284887" y="2420938"/>
            <a:ext cx="81438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length</a:t>
            </a:r>
            <a:endParaRPr b="0" i="0" sz="2400" u="none" cap="none" strike="noStrike">
              <a:solidFill>
                <a:srgbClr val="000000"/>
              </a:solidFill>
              <a:latin typeface="Tahoma"/>
              <a:ea typeface="Tahoma"/>
              <a:cs typeface="Tahoma"/>
              <a:sym typeface="Tahoma"/>
            </a:endParaRPr>
          </a:p>
        </p:txBody>
      </p:sp>
      <p:sp>
        <p:nvSpPr>
          <p:cNvPr id="2664" name="Google Shape;2664;p35"/>
          <p:cNvSpPr txBox="1"/>
          <p:nvPr/>
        </p:nvSpPr>
        <p:spPr>
          <a:xfrm>
            <a:off x="5831112" y="2411413"/>
            <a:ext cx="117633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checksum</a:t>
            </a:r>
            <a:endParaRPr b="0" i="0" sz="2400" u="none" cap="none" strike="noStrike">
              <a:solidFill>
                <a:srgbClr val="000000"/>
              </a:solidFill>
              <a:latin typeface="Tahoma"/>
              <a:ea typeface="Tahoma"/>
              <a:cs typeface="Tahoma"/>
              <a:sym typeface="Tahoma"/>
            </a:endParaRPr>
          </a:p>
        </p:txBody>
      </p:sp>
      <p:sp>
        <p:nvSpPr>
          <p:cNvPr id="2665" name="Google Shape;2665;p35"/>
          <p:cNvSpPr txBox="1"/>
          <p:nvPr/>
        </p:nvSpPr>
        <p:spPr>
          <a:xfrm>
            <a:off x="7623398" y="3421856"/>
            <a:ext cx="2406650" cy="9159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length, in bytes of UDP segment, including header</a:t>
            </a:r>
            <a:endParaRPr b="0" i="0" sz="2400" u="none" cap="none" strike="noStrike">
              <a:solidFill>
                <a:srgbClr val="000000"/>
              </a:solidFill>
              <a:latin typeface="Tahoma"/>
              <a:ea typeface="Tahoma"/>
              <a:cs typeface="Tahoma"/>
              <a:sym typeface="Tahoma"/>
            </a:endParaRPr>
          </a:p>
        </p:txBody>
      </p:sp>
      <p:cxnSp>
        <p:nvCxnSpPr>
          <p:cNvPr id="2666" name="Google Shape;2666;p35"/>
          <p:cNvCxnSpPr/>
          <p:nvPr/>
        </p:nvCxnSpPr>
        <p:spPr>
          <a:xfrm rot="10800000">
            <a:off x="5142136" y="2597149"/>
            <a:ext cx="3113157" cy="1285397"/>
          </a:xfrm>
          <a:prstGeom prst="straightConnector1">
            <a:avLst/>
          </a:prstGeom>
          <a:noFill/>
          <a:ln cap="flat" cmpd="sng" w="19050">
            <a:solidFill>
              <a:srgbClr val="000000"/>
            </a:solidFill>
            <a:prstDash val="solid"/>
            <a:round/>
            <a:headEnd len="med" w="med" type="none"/>
            <a:tailEnd len="med" w="med" type="triangle"/>
          </a:ln>
        </p:spPr>
      </p:cxnSp>
      <p:sp>
        <p:nvSpPr>
          <p:cNvPr id="2667" name="Google Shape;2667;p35"/>
          <p:cNvSpPr/>
          <p:nvPr/>
        </p:nvSpPr>
        <p:spPr>
          <a:xfrm>
            <a:off x="3695142" y="1957213"/>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8" name="Google Shape;2668;p35"/>
          <p:cNvSpPr/>
          <p:nvPr/>
        </p:nvSpPr>
        <p:spPr>
          <a:xfrm>
            <a:off x="5331049" y="1955208"/>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9" name="Google Shape;2669;p35"/>
          <p:cNvSpPr/>
          <p:nvPr/>
        </p:nvSpPr>
        <p:spPr>
          <a:xfrm>
            <a:off x="3657042" y="2362801"/>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70" name="Google Shape;2670;p35"/>
          <p:cNvSpPr/>
          <p:nvPr/>
        </p:nvSpPr>
        <p:spPr>
          <a:xfrm>
            <a:off x="5290176" y="2341229"/>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71" name="Google Shape;2671;p35"/>
          <p:cNvSpPr/>
          <p:nvPr/>
        </p:nvSpPr>
        <p:spPr>
          <a:xfrm>
            <a:off x="4386800" y="3148706"/>
            <a:ext cx="2097870" cy="1560711"/>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672" name="Google Shape;2672;p35"/>
          <p:cNvCxnSpPr/>
          <p:nvPr/>
        </p:nvCxnSpPr>
        <p:spPr>
          <a:xfrm rot="10800000">
            <a:off x="5915202" y="3972404"/>
            <a:ext cx="3113157" cy="1285397"/>
          </a:xfrm>
          <a:prstGeom prst="straightConnector1">
            <a:avLst/>
          </a:prstGeom>
          <a:noFill/>
          <a:ln cap="flat" cmpd="sng" w="19050">
            <a:solidFill>
              <a:srgbClr val="000000"/>
            </a:solidFill>
            <a:prstDash val="solid"/>
            <a:round/>
            <a:headEnd len="med" w="med" type="none"/>
            <a:tailEnd len="med" w="med" type="triangle"/>
          </a:ln>
        </p:spPr>
      </p:cxnSp>
      <p:sp>
        <p:nvSpPr>
          <p:cNvPr id="2673" name="Google Shape;2673;p35"/>
          <p:cNvSpPr txBox="1"/>
          <p:nvPr/>
        </p:nvSpPr>
        <p:spPr>
          <a:xfrm>
            <a:off x="8032927" y="4969559"/>
            <a:ext cx="2406650"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data to/from application layer</a:t>
            </a:r>
            <a:endParaRPr b="0" i="0" sz="2400" u="none" cap="none" strike="noStrike">
              <a:solidFill>
                <a:srgbClr val="000000"/>
              </a:solidFill>
              <a:latin typeface="Tahoma"/>
              <a:ea typeface="Tahoma"/>
              <a:cs typeface="Tahoma"/>
              <a:sym typeface="Tahoma"/>
            </a:endParaRPr>
          </a:p>
        </p:txBody>
      </p:sp>
      <p:sp>
        <p:nvSpPr>
          <p:cNvPr id="2674" name="Google Shape;2674;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7"/>
                                        </p:tgtEl>
                                        <p:attrNameLst>
                                          <p:attrName>style.visibility</p:attrName>
                                        </p:attrNameLst>
                                      </p:cBhvr>
                                      <p:to>
                                        <p:strVal val="visible"/>
                                      </p:to>
                                    </p:set>
                                    <p:animEffect filter="fade" transition="in">
                                      <p:cBhvr>
                                        <p:cTn dur="500"/>
                                        <p:tgtEl>
                                          <p:spTgt spid="2667"/>
                                        </p:tgtEl>
                                      </p:cBhvr>
                                    </p:animEffect>
                                  </p:childTnLst>
                                </p:cTn>
                              </p:par>
                              <p:par>
                                <p:cTn fill="hold" nodeType="withEffect" presetClass="entr" presetID="10" presetSubtype="0">
                                  <p:stCondLst>
                                    <p:cond delay="0"/>
                                  </p:stCondLst>
                                  <p:childTnLst>
                                    <p:set>
                                      <p:cBhvr>
                                        <p:cTn dur="1" fill="hold">
                                          <p:stCondLst>
                                            <p:cond delay="0"/>
                                          </p:stCondLst>
                                        </p:cTn>
                                        <p:tgtEl>
                                          <p:spTgt spid="2668"/>
                                        </p:tgtEl>
                                        <p:attrNameLst>
                                          <p:attrName>style.visibility</p:attrName>
                                        </p:attrNameLst>
                                      </p:cBhvr>
                                      <p:to>
                                        <p:strVal val="visible"/>
                                      </p:to>
                                    </p:set>
                                    <p:animEffect filter="fade" transition="in">
                                      <p:cBhvr>
                                        <p:cTn dur="500"/>
                                        <p:tgtEl>
                                          <p:spTgt spid="2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9"/>
                                        </p:tgtEl>
                                        <p:attrNameLst>
                                          <p:attrName>style.visibility</p:attrName>
                                        </p:attrNameLst>
                                      </p:cBhvr>
                                      <p:to>
                                        <p:strVal val="visible"/>
                                      </p:to>
                                    </p:set>
                                    <p:animEffect filter="fade" transition="in">
                                      <p:cBhvr>
                                        <p:cTn dur="500"/>
                                        <p:tgtEl>
                                          <p:spTgt spid="2669"/>
                                        </p:tgtEl>
                                      </p:cBhvr>
                                    </p:animEffect>
                                  </p:childTnLst>
                                </p:cTn>
                              </p:par>
                              <p:par>
                                <p:cTn fill="hold" nodeType="withEffect" presetClass="entr" presetID="10" presetSubtype="0">
                                  <p:stCondLst>
                                    <p:cond delay="0"/>
                                  </p:stCondLst>
                                  <p:childTnLst>
                                    <p:set>
                                      <p:cBhvr>
                                        <p:cTn dur="1" fill="hold">
                                          <p:stCondLst>
                                            <p:cond delay="0"/>
                                          </p:stCondLst>
                                        </p:cTn>
                                        <p:tgtEl>
                                          <p:spTgt spid="2666"/>
                                        </p:tgtEl>
                                        <p:attrNameLst>
                                          <p:attrName>style.visibility</p:attrName>
                                        </p:attrNameLst>
                                      </p:cBhvr>
                                      <p:to>
                                        <p:strVal val="visible"/>
                                      </p:to>
                                    </p:set>
                                    <p:animEffect filter="fade" transition="in">
                                      <p:cBhvr>
                                        <p:cTn dur="500"/>
                                        <p:tgtEl>
                                          <p:spTgt spid="2666"/>
                                        </p:tgtEl>
                                      </p:cBhvr>
                                    </p:animEffect>
                                  </p:childTnLst>
                                </p:cTn>
                              </p:par>
                              <p:par>
                                <p:cTn fill="hold" nodeType="withEffect" presetClass="entr" presetID="10" presetSubtype="0">
                                  <p:stCondLst>
                                    <p:cond delay="0"/>
                                  </p:stCondLst>
                                  <p:childTnLst>
                                    <p:set>
                                      <p:cBhvr>
                                        <p:cTn dur="1" fill="hold">
                                          <p:stCondLst>
                                            <p:cond delay="0"/>
                                          </p:stCondLst>
                                        </p:cTn>
                                        <p:tgtEl>
                                          <p:spTgt spid="2665"/>
                                        </p:tgtEl>
                                        <p:attrNameLst>
                                          <p:attrName>style.visibility</p:attrName>
                                        </p:attrNameLst>
                                      </p:cBhvr>
                                      <p:to>
                                        <p:strVal val="visible"/>
                                      </p:to>
                                    </p:set>
                                    <p:animEffect filter="fade" transition="in">
                                      <p:cBhvr>
                                        <p:cTn dur="500"/>
                                        <p:tgtEl>
                                          <p:spTgt spid="2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1"/>
                                        </p:tgtEl>
                                        <p:attrNameLst>
                                          <p:attrName>style.visibility</p:attrName>
                                        </p:attrNameLst>
                                      </p:cBhvr>
                                      <p:to>
                                        <p:strVal val="visible"/>
                                      </p:to>
                                    </p:set>
                                    <p:animEffect filter="fade" transition="in">
                                      <p:cBhvr>
                                        <p:cTn dur="500"/>
                                        <p:tgtEl>
                                          <p:spTgt spid="2671"/>
                                        </p:tgtEl>
                                      </p:cBhvr>
                                    </p:animEffect>
                                  </p:childTnLst>
                                </p:cTn>
                              </p:par>
                              <p:par>
                                <p:cTn fill="hold" nodeType="withEffect" presetClass="entr" presetID="10" presetSubtype="0">
                                  <p:stCondLst>
                                    <p:cond delay="0"/>
                                  </p:stCondLst>
                                  <p:childTnLst>
                                    <p:set>
                                      <p:cBhvr>
                                        <p:cTn dur="1" fill="hold">
                                          <p:stCondLst>
                                            <p:cond delay="0"/>
                                          </p:stCondLst>
                                        </p:cTn>
                                        <p:tgtEl>
                                          <p:spTgt spid="2672"/>
                                        </p:tgtEl>
                                        <p:attrNameLst>
                                          <p:attrName>style.visibility</p:attrName>
                                        </p:attrNameLst>
                                      </p:cBhvr>
                                      <p:to>
                                        <p:strVal val="visible"/>
                                      </p:to>
                                    </p:set>
                                    <p:animEffect filter="fade" transition="in">
                                      <p:cBhvr>
                                        <p:cTn dur="500"/>
                                        <p:tgtEl>
                                          <p:spTgt spid="2672"/>
                                        </p:tgtEl>
                                      </p:cBhvr>
                                    </p:animEffect>
                                  </p:childTnLst>
                                </p:cTn>
                              </p:par>
                              <p:par>
                                <p:cTn fill="hold" nodeType="withEffect" presetClass="entr" presetID="10" presetSubtype="0">
                                  <p:stCondLst>
                                    <p:cond delay="0"/>
                                  </p:stCondLst>
                                  <p:childTnLst>
                                    <p:set>
                                      <p:cBhvr>
                                        <p:cTn dur="1" fill="hold">
                                          <p:stCondLst>
                                            <p:cond delay="0"/>
                                          </p:stCondLst>
                                        </p:cTn>
                                        <p:tgtEl>
                                          <p:spTgt spid="2673"/>
                                        </p:tgtEl>
                                        <p:attrNameLst>
                                          <p:attrName>style.visibility</p:attrName>
                                        </p:attrNameLst>
                                      </p:cBhvr>
                                      <p:to>
                                        <p:strVal val="visible"/>
                                      </p:to>
                                    </p:set>
                                    <p:animEffect filter="fade" transition="in">
                                      <p:cBhvr>
                                        <p:cTn dur="500"/>
                                        <p:tgtEl>
                                          <p:spTgt spid="26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0"/>
                                        </p:tgtEl>
                                        <p:attrNameLst>
                                          <p:attrName>style.visibility</p:attrName>
                                        </p:attrNameLst>
                                      </p:cBhvr>
                                      <p:to>
                                        <p:strVal val="visible"/>
                                      </p:to>
                                    </p:set>
                                    <p:animEffect filter="fade" transition="in">
                                      <p:cBhvr>
                                        <p:cTn dur="500"/>
                                        <p:tgtEl>
                                          <p:spTgt spid="26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9" name="Shape 2679"/>
        <p:cNvGrpSpPr/>
        <p:nvPr/>
      </p:nvGrpSpPr>
      <p:grpSpPr>
        <a:xfrm>
          <a:off x="0" y="0"/>
          <a:ext cx="0" cy="0"/>
          <a:chOff x="0" y="0"/>
          <a:chExt cx="0" cy="0"/>
        </a:xfrm>
      </p:grpSpPr>
      <p:sp>
        <p:nvSpPr>
          <p:cNvPr id="2680" name="Google Shape;2680;p3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checksum</a:t>
            </a:r>
            <a:endParaRPr/>
          </a:p>
        </p:txBody>
      </p:sp>
      <p:sp>
        <p:nvSpPr>
          <p:cNvPr id="2681" name="Google Shape;2681;p36"/>
          <p:cNvSpPr txBox="1"/>
          <p:nvPr/>
        </p:nvSpPr>
        <p:spPr>
          <a:xfrm>
            <a:off x="1270863" y="2652793"/>
            <a:ext cx="10241312" cy="573438"/>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Transmitted:            5               6                11</a:t>
            </a:r>
            <a:endParaRPr/>
          </a:p>
        </p:txBody>
      </p:sp>
      <p:sp>
        <p:nvSpPr>
          <p:cNvPr id="2682" name="Google Shape;2682;p36"/>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C0000"/>
                </a:solidFill>
                <a:latin typeface="Calibri"/>
                <a:ea typeface="Calibri"/>
                <a:cs typeface="Calibri"/>
                <a:sym typeface="Calibri"/>
              </a:rPr>
              <a:t>Goal:</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683" name="Google Shape;2683;p36"/>
          <p:cNvSpPr txBox="1"/>
          <p:nvPr/>
        </p:nvSpPr>
        <p:spPr>
          <a:xfrm>
            <a:off x="1717730" y="4429929"/>
            <a:ext cx="10241312" cy="573438"/>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Received:            4               6                11</a:t>
            </a:r>
            <a:endParaRPr/>
          </a:p>
        </p:txBody>
      </p:sp>
      <p:grpSp>
        <p:nvGrpSpPr>
          <p:cNvPr id="2684" name="Google Shape;2684;p36"/>
          <p:cNvGrpSpPr/>
          <p:nvPr/>
        </p:nvGrpSpPr>
        <p:grpSpPr>
          <a:xfrm>
            <a:off x="3781587" y="2118101"/>
            <a:ext cx="3789990" cy="374499"/>
            <a:chOff x="3781587" y="2118101"/>
            <a:chExt cx="3789990" cy="374499"/>
          </a:xfrm>
        </p:grpSpPr>
        <p:sp>
          <p:nvSpPr>
            <p:cNvPr id="2685" name="Google Shape;2685;p36"/>
            <p:cNvSpPr txBox="1"/>
            <p:nvPr/>
          </p:nvSpPr>
          <p:spPr>
            <a:xfrm>
              <a:off x="3781587" y="2123268"/>
              <a:ext cx="12104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r>
                <a:rPr b="0" baseline="30000" i="0" lang="en-US" sz="1800" u="none" cap="none" strike="noStrike">
                  <a:solidFill>
                    <a:srgbClr val="000000"/>
                  </a:solidFill>
                  <a:latin typeface="Calibri"/>
                  <a:ea typeface="Calibri"/>
                  <a:cs typeface="Calibri"/>
                  <a:sym typeface="Calibri"/>
                </a:rPr>
                <a:t>st</a:t>
              </a:r>
              <a:r>
                <a:rPr b="0" i="0" lang="en-US" sz="1800" u="none" cap="none" strike="noStrike">
                  <a:solidFill>
                    <a:srgbClr val="000000"/>
                  </a:solidFill>
                  <a:latin typeface="Calibri"/>
                  <a:ea typeface="Calibri"/>
                  <a:cs typeface="Calibri"/>
                  <a:sym typeface="Calibri"/>
                </a:rPr>
                <a:t> number</a:t>
              </a:r>
              <a:endParaRPr/>
            </a:p>
          </p:txBody>
        </p:sp>
        <p:sp>
          <p:nvSpPr>
            <p:cNvPr id="2686" name="Google Shape;2686;p36"/>
            <p:cNvSpPr txBox="1"/>
            <p:nvPr/>
          </p:nvSpPr>
          <p:spPr>
            <a:xfrm>
              <a:off x="5173851" y="2120685"/>
              <a:ext cx="12602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r>
                <a:rPr b="0" baseline="30000" i="0" lang="en-US" sz="1800" u="none" cap="none" strike="noStrike">
                  <a:solidFill>
                    <a:srgbClr val="000000"/>
                  </a:solidFill>
                  <a:latin typeface="Calibri"/>
                  <a:ea typeface="Calibri"/>
                  <a:cs typeface="Calibri"/>
                  <a:sym typeface="Calibri"/>
                </a:rPr>
                <a:t>nd</a:t>
              </a:r>
              <a:r>
                <a:rPr b="0" i="0" lang="en-US" sz="1800" u="none" cap="none" strike="noStrike">
                  <a:solidFill>
                    <a:srgbClr val="000000"/>
                  </a:solidFill>
                  <a:latin typeface="Calibri"/>
                  <a:ea typeface="Calibri"/>
                  <a:cs typeface="Calibri"/>
                  <a:sym typeface="Calibri"/>
                </a:rPr>
                <a:t> number</a:t>
              </a:r>
              <a:endParaRPr/>
            </a:p>
          </p:txBody>
        </p:sp>
        <p:sp>
          <p:nvSpPr>
            <p:cNvPr id="2687" name="Google Shape;2687;p36"/>
            <p:cNvSpPr txBox="1"/>
            <p:nvPr/>
          </p:nvSpPr>
          <p:spPr>
            <a:xfrm>
              <a:off x="6938070" y="2118101"/>
              <a:ext cx="6335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sum</a:t>
              </a:r>
              <a:endParaRPr/>
            </a:p>
          </p:txBody>
        </p:sp>
      </p:grpSp>
      <p:sp>
        <p:nvSpPr>
          <p:cNvPr id="2688" name="Google Shape;2688;p36"/>
          <p:cNvSpPr/>
          <p:nvPr/>
        </p:nvSpPr>
        <p:spPr>
          <a:xfrm>
            <a:off x="5269424" y="3316637"/>
            <a:ext cx="1131376" cy="978408"/>
          </a:xfrm>
          <a:prstGeom prst="downArrow">
            <a:avLst>
              <a:gd fmla="val 50000" name="adj1"/>
              <a:gd fmla="val 50000" name="adj2"/>
            </a:avLst>
          </a:prstGeom>
          <a:gradFill>
            <a:gsLst>
              <a:gs pos="0">
                <a:srgbClr val="F5F7FC"/>
              </a:gs>
              <a:gs pos="55000">
                <a:srgbClr val="E47E9F"/>
              </a:gs>
              <a:gs pos="83000">
                <a:srgbClr val="CD0004"/>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89" name="Google Shape;2689;p36"/>
          <p:cNvGrpSpPr/>
          <p:nvPr/>
        </p:nvGrpSpPr>
        <p:grpSpPr>
          <a:xfrm>
            <a:off x="4005390" y="4866468"/>
            <a:ext cx="2218236" cy="1079841"/>
            <a:chOff x="4005390" y="4866468"/>
            <a:chExt cx="2218236" cy="1079841"/>
          </a:xfrm>
        </p:grpSpPr>
        <p:sp>
          <p:nvSpPr>
            <p:cNvPr id="2690" name="Google Shape;2690;p36"/>
            <p:cNvSpPr txBox="1"/>
            <p:nvPr/>
          </p:nvSpPr>
          <p:spPr>
            <a:xfrm>
              <a:off x="4005390" y="5238423"/>
              <a:ext cx="2218236"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receiver-computed </a:t>
              </a:r>
              <a:endParaRPr/>
            </a:p>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691" name="Google Shape;2691;p36"/>
            <p:cNvSpPr/>
            <p:nvPr/>
          </p:nvSpPr>
          <p:spPr>
            <a:xfrm rot="5400000">
              <a:off x="5005953" y="4107051"/>
              <a:ext cx="302449" cy="1821283"/>
            </a:xfrm>
            <a:prstGeom prst="rightBrace">
              <a:avLst>
                <a:gd fmla="val 8333" name="adj1"/>
                <a:gd fmla="val 50000" name="adj2"/>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692" name="Google Shape;2692;p36"/>
          <p:cNvGrpSpPr/>
          <p:nvPr/>
        </p:nvGrpSpPr>
        <p:grpSpPr>
          <a:xfrm>
            <a:off x="6880470" y="4879385"/>
            <a:ext cx="2604945" cy="1064343"/>
            <a:chOff x="6880470" y="4879385"/>
            <a:chExt cx="2604945" cy="1064343"/>
          </a:xfrm>
        </p:grpSpPr>
        <p:sp>
          <p:nvSpPr>
            <p:cNvPr id="2693" name="Google Shape;2693;p36"/>
            <p:cNvSpPr txBox="1"/>
            <p:nvPr/>
          </p:nvSpPr>
          <p:spPr>
            <a:xfrm>
              <a:off x="6880470" y="5235841"/>
              <a:ext cx="260494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sender-computed </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 (as received)</a:t>
              </a:r>
              <a:endParaRPr/>
            </a:p>
          </p:txBody>
        </p:sp>
        <p:sp>
          <p:nvSpPr>
            <p:cNvPr id="2694" name="Google Shape;2694;p36"/>
            <p:cNvSpPr/>
            <p:nvPr/>
          </p:nvSpPr>
          <p:spPr>
            <a:xfrm rot="5400000">
              <a:off x="7219627" y="4631412"/>
              <a:ext cx="266054" cy="761999"/>
            </a:xfrm>
            <a:prstGeom prst="rightBrace">
              <a:avLst>
                <a:gd fmla="val 8333" name="adj1"/>
                <a:gd fmla="val 50000" name="adj2"/>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695" name="Google Shape;2695;p36"/>
          <p:cNvGrpSpPr/>
          <p:nvPr/>
        </p:nvGrpSpPr>
        <p:grpSpPr>
          <a:xfrm>
            <a:off x="6121831" y="5201334"/>
            <a:ext cx="821411" cy="1346699"/>
            <a:chOff x="6121831" y="5201334"/>
            <a:chExt cx="821411" cy="1346699"/>
          </a:xfrm>
        </p:grpSpPr>
        <p:pic>
          <p:nvPicPr>
            <p:cNvPr descr="Image result for error" id="2696" name="Google Shape;2696;p36"/>
            <p:cNvPicPr preferRelativeResize="0"/>
            <p:nvPr/>
          </p:nvPicPr>
          <p:blipFill rotWithShape="1">
            <a:blip r:embed="rId3">
              <a:alphaModFix/>
            </a:blip>
            <a:srcRect b="0" l="0" r="0" t="0"/>
            <a:stretch/>
          </p:blipFill>
          <p:spPr>
            <a:xfrm>
              <a:off x="6121831" y="5782776"/>
              <a:ext cx="821411" cy="765257"/>
            </a:xfrm>
            <a:prstGeom prst="rect">
              <a:avLst/>
            </a:prstGeom>
            <a:noFill/>
            <a:ln>
              <a:noFill/>
            </a:ln>
          </p:spPr>
        </p:pic>
        <p:sp>
          <p:nvSpPr>
            <p:cNvPr id="2697" name="Google Shape;2697;p36"/>
            <p:cNvSpPr txBox="1"/>
            <p:nvPr/>
          </p:nvSpPr>
          <p:spPr>
            <a:xfrm>
              <a:off x="6307811" y="5201334"/>
              <a:ext cx="41389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D0004"/>
                </a:buClr>
                <a:buSzPts val="3600"/>
                <a:buFont typeface="Calibri"/>
                <a:buNone/>
              </a:pPr>
              <a:r>
                <a:rPr b="1" i="0" lang="en-US" sz="3600" u="none" cap="none" strike="noStrike">
                  <a:solidFill>
                    <a:srgbClr val="CD0004"/>
                  </a:solidFill>
                  <a:latin typeface="Calibri"/>
                  <a:ea typeface="Calibri"/>
                  <a:cs typeface="Calibri"/>
                  <a:sym typeface="Calibri"/>
                </a:rPr>
                <a:t>=</a:t>
              </a:r>
              <a:endParaRPr/>
            </a:p>
          </p:txBody>
        </p:sp>
        <p:cxnSp>
          <p:nvCxnSpPr>
            <p:cNvPr id="2698" name="Google Shape;2698;p36"/>
            <p:cNvCxnSpPr/>
            <p:nvPr/>
          </p:nvCxnSpPr>
          <p:spPr>
            <a:xfrm flipH="1">
              <a:off x="6460174" y="5418195"/>
              <a:ext cx="108488" cy="247973"/>
            </a:xfrm>
            <a:prstGeom prst="straightConnector1">
              <a:avLst/>
            </a:prstGeom>
            <a:noFill/>
            <a:ln cap="flat" cmpd="sng" w="31750">
              <a:solidFill>
                <a:srgbClr val="CD0004"/>
              </a:solidFill>
              <a:prstDash val="solid"/>
              <a:miter lim="800000"/>
              <a:headEnd len="sm" w="sm" type="none"/>
              <a:tailEnd len="sm" w="sm" type="none"/>
            </a:ln>
          </p:spPr>
        </p:cxnSp>
      </p:grpSp>
      <p:sp>
        <p:nvSpPr>
          <p:cNvPr id="2699" name="Google Shape;2699;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4"/>
                                        </p:tgtEl>
                                        <p:attrNameLst>
                                          <p:attrName>style.visibility</p:attrName>
                                        </p:attrNameLst>
                                      </p:cBhvr>
                                      <p:to>
                                        <p:strVal val="visible"/>
                                      </p:to>
                                    </p:set>
                                    <p:animEffect filter="fade" transition="in">
                                      <p:cBhvr>
                                        <p:cTn dur="500"/>
                                        <p:tgtEl>
                                          <p:spTgt spid="2684"/>
                                        </p:tgtEl>
                                      </p:cBhvr>
                                    </p:animEffect>
                                  </p:childTnLst>
                                </p:cTn>
                              </p:par>
                              <p:par>
                                <p:cTn fill="hold" nodeType="withEffect" presetClass="entr" presetID="10" presetSubtype="0">
                                  <p:stCondLst>
                                    <p:cond delay="0"/>
                                  </p:stCondLst>
                                  <p:childTnLst>
                                    <p:set>
                                      <p:cBhvr>
                                        <p:cTn dur="1" fill="hold">
                                          <p:stCondLst>
                                            <p:cond delay="0"/>
                                          </p:stCondLst>
                                        </p:cTn>
                                        <p:tgtEl>
                                          <p:spTgt spid="2681"/>
                                        </p:tgtEl>
                                        <p:attrNameLst>
                                          <p:attrName>style.visibility</p:attrName>
                                        </p:attrNameLst>
                                      </p:cBhvr>
                                      <p:to>
                                        <p:strVal val="visible"/>
                                      </p:to>
                                    </p:set>
                                    <p:animEffect filter="fade" transition="in">
                                      <p:cBhvr>
                                        <p:cTn dur="500"/>
                                        <p:tgtEl>
                                          <p:spTgt spid="2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8"/>
                                        </p:tgtEl>
                                        <p:attrNameLst>
                                          <p:attrName>style.visibility</p:attrName>
                                        </p:attrNameLst>
                                      </p:cBhvr>
                                      <p:to>
                                        <p:strVal val="visible"/>
                                      </p:to>
                                    </p:set>
                                    <p:animEffect filter="fade" transition="in">
                                      <p:cBhvr>
                                        <p:cTn dur="500"/>
                                        <p:tgtEl>
                                          <p:spTgt spid="26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83"/>
                                        </p:tgtEl>
                                        <p:attrNameLst>
                                          <p:attrName>style.visibility</p:attrName>
                                        </p:attrNameLst>
                                      </p:cBhvr>
                                      <p:to>
                                        <p:strVal val="visible"/>
                                      </p:to>
                                    </p:set>
                                    <p:animEffect filter="fade" transition="in">
                                      <p:cBhvr>
                                        <p:cTn dur="500"/>
                                        <p:tgtEl>
                                          <p:spTgt spid="2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9"/>
                                        </p:tgtEl>
                                        <p:attrNameLst>
                                          <p:attrName>style.visibility</p:attrName>
                                        </p:attrNameLst>
                                      </p:cBhvr>
                                      <p:to>
                                        <p:strVal val="visible"/>
                                      </p:to>
                                    </p:set>
                                    <p:animEffect filter="fade" transition="in">
                                      <p:cBhvr>
                                        <p:cTn dur="1000"/>
                                        <p:tgtEl>
                                          <p:spTgt spid="2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2"/>
                                        </p:tgtEl>
                                        <p:attrNameLst>
                                          <p:attrName>style.visibility</p:attrName>
                                        </p:attrNameLst>
                                      </p:cBhvr>
                                      <p:to>
                                        <p:strVal val="visible"/>
                                      </p:to>
                                    </p:set>
                                    <p:animEffect filter="fade" transition="in">
                                      <p:cBhvr>
                                        <p:cTn dur="1000"/>
                                        <p:tgtEl>
                                          <p:spTgt spid="26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5"/>
                                        </p:tgtEl>
                                        <p:attrNameLst>
                                          <p:attrName>style.visibility</p:attrName>
                                        </p:attrNameLst>
                                      </p:cBhvr>
                                      <p:to>
                                        <p:strVal val="visible"/>
                                      </p:to>
                                    </p:set>
                                    <p:animEffect filter="fade" transition="in">
                                      <p:cBhvr>
                                        <p:cTn dur="1000"/>
                                        <p:tgtEl>
                                          <p:spTgt spid="26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4" name="Shape 2704"/>
        <p:cNvGrpSpPr/>
        <p:nvPr/>
      </p:nvGrpSpPr>
      <p:grpSpPr>
        <a:xfrm>
          <a:off x="0" y="0"/>
          <a:ext cx="0" cy="0"/>
          <a:chOff x="0" y="0"/>
          <a:chExt cx="0" cy="0"/>
        </a:xfrm>
      </p:grpSpPr>
      <p:sp>
        <p:nvSpPr>
          <p:cNvPr id="2705" name="Google Shape;2705;p3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checksum</a:t>
            </a:r>
            <a:endParaRPr/>
          </a:p>
        </p:txBody>
      </p:sp>
      <p:sp>
        <p:nvSpPr>
          <p:cNvPr id="2706" name="Google Shape;2706;p37"/>
          <p:cNvSpPr txBox="1"/>
          <p:nvPr/>
        </p:nvSpPr>
        <p:spPr>
          <a:xfrm>
            <a:off x="990599" y="2218943"/>
            <a:ext cx="4662055" cy="4478069"/>
          </a:xfrm>
          <a:prstGeom prst="rect">
            <a:avLst/>
          </a:prstGeom>
          <a:noFill/>
          <a:ln>
            <a:noFill/>
          </a:ln>
        </p:spPr>
        <p:txBody>
          <a:bodyPr anchorCtr="0" anchor="t" bIns="45700" lIns="91425" spcFirstLastPara="1" rIns="91425" wrap="square" tIns="45700">
            <a:normAutofit/>
          </a:bodyPr>
          <a:lstStyle/>
          <a:p>
            <a:pPr indent="0" lvl="0" marL="12700" marR="0" rtl="0" algn="l">
              <a:lnSpc>
                <a:spcPct val="7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sender:</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treat contents of UDP segment </a:t>
            </a:r>
            <a:r>
              <a:rPr b="0" i="0" lang="en-US" sz="2400" u="none" cap="none" strike="noStrike">
                <a:solidFill>
                  <a:srgbClr val="000000"/>
                </a:solidFill>
                <a:latin typeface="Calibri"/>
                <a:ea typeface="Calibri"/>
                <a:cs typeface="Calibri"/>
                <a:sym typeface="Calibri"/>
              </a:rPr>
              <a:t>(including UDP header fields and IP addresses) </a:t>
            </a:r>
            <a:r>
              <a:rPr b="0" i="0" lang="en-US" sz="2800" u="none" cap="none" strike="noStrike">
                <a:solidFill>
                  <a:srgbClr val="000000"/>
                </a:solidFill>
                <a:latin typeface="Calibri"/>
                <a:ea typeface="Calibri"/>
                <a:cs typeface="Calibri"/>
                <a:sym typeface="Calibri"/>
              </a:rPr>
              <a:t>as sequence of 16-bit integers</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checksum: </a:t>
            </a:r>
            <a:r>
              <a:rPr b="0" i="0" lang="en-US" sz="2800" u="none" cap="none" strike="noStrike">
                <a:solidFill>
                  <a:srgbClr val="000000"/>
                </a:solidFill>
                <a:latin typeface="Calibri"/>
                <a:ea typeface="Calibri"/>
                <a:cs typeface="Calibri"/>
                <a:sym typeface="Calibri"/>
              </a:rPr>
              <a:t>addition </a:t>
            </a:r>
            <a:r>
              <a:rPr b="0" i="0" lang="en-US" sz="2400" u="none" cap="none" strike="noStrike">
                <a:solidFill>
                  <a:srgbClr val="000000"/>
                </a:solidFill>
                <a:latin typeface="Calibri"/>
                <a:ea typeface="Calibri"/>
                <a:cs typeface="Calibri"/>
                <a:sym typeface="Calibri"/>
              </a:rPr>
              <a:t>(one’s complement sum)</a:t>
            </a:r>
            <a:r>
              <a:rPr b="0" i="0" lang="en-US" sz="2800" u="none" cap="none" strike="noStrike">
                <a:solidFill>
                  <a:srgbClr val="000000"/>
                </a:solidFill>
                <a:latin typeface="Calibri"/>
                <a:ea typeface="Calibri"/>
                <a:cs typeface="Calibri"/>
                <a:sym typeface="Calibri"/>
              </a:rPr>
              <a:t> of segment content</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checksum value put into UDP checksum field</a:t>
            </a:r>
            <a:endParaRPr/>
          </a:p>
          <a:p>
            <a:pPr indent="-222250" lvl="0" marL="352425" marR="0" rtl="0" algn="l">
              <a:lnSpc>
                <a:spcPct val="7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19050" lvl="0" marL="352425" marR="0" rtl="0" algn="l">
              <a:lnSpc>
                <a:spcPct val="7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707" name="Google Shape;2707;p37"/>
          <p:cNvSpPr txBox="1"/>
          <p:nvPr/>
        </p:nvSpPr>
        <p:spPr>
          <a:xfrm>
            <a:off x="5767820" y="2132890"/>
            <a:ext cx="5728855" cy="408247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receiver</a:t>
            </a:r>
            <a:r>
              <a:rPr b="0" i="0" lang="en-US" sz="3500" u="none" cap="none" strike="noStrike">
                <a:solidFill>
                  <a:srgbClr val="CC0000"/>
                </a:solidFill>
                <a:latin typeface="Calibri"/>
                <a:ea typeface="Calibri"/>
                <a:cs typeface="Calibri"/>
                <a:sym typeface="Calibri"/>
              </a:rPr>
              <a: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compute checksum of received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check if computed checksum equals checksum field value: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Not equal - error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Equal - no error detected. </a:t>
            </a:r>
            <a:r>
              <a:rPr b="0" i="1" lang="en-US" sz="2400" u="none" cap="none" strike="noStrike">
                <a:solidFill>
                  <a:srgbClr val="000000"/>
                </a:solidFill>
                <a:latin typeface="Calibri"/>
                <a:ea typeface="Calibri"/>
                <a:cs typeface="Calibri"/>
                <a:sym typeface="Calibri"/>
              </a:rPr>
              <a:t>But maybe errors nonetheless?</a:t>
            </a:r>
            <a:r>
              <a:rPr b="0" i="0" lang="en-US" sz="2400" u="none" cap="none" strike="noStrike">
                <a:solidFill>
                  <a:srgbClr val="000000"/>
                </a:solidFill>
                <a:latin typeface="Calibri"/>
                <a:ea typeface="Calibri"/>
                <a:cs typeface="Calibri"/>
                <a:sym typeface="Calibri"/>
              </a:rPr>
              <a:t> More later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708" name="Google Shape;2708;p37"/>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C0000"/>
                </a:solidFill>
                <a:latin typeface="Calibri"/>
                <a:ea typeface="Calibri"/>
                <a:cs typeface="Calibri"/>
                <a:sym typeface="Calibri"/>
              </a:rPr>
              <a:t>Goal:</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709" name="Google Shape;2709;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7"/>
                                        </p:tgtEl>
                                        <p:attrNameLst>
                                          <p:attrName>style.visibility</p:attrName>
                                        </p:attrNameLst>
                                      </p:cBhvr>
                                      <p:to>
                                        <p:strVal val="visible"/>
                                      </p:to>
                                    </p:set>
                                    <p:animEffect filter="fade" transition="in">
                                      <p:cBhvr>
                                        <p:cTn dur="500"/>
                                        <p:tgtEl>
                                          <p:spTgt spid="2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4" name="Shape 2714"/>
        <p:cNvGrpSpPr/>
        <p:nvPr/>
      </p:nvGrpSpPr>
      <p:grpSpPr>
        <a:xfrm>
          <a:off x="0" y="0"/>
          <a:ext cx="0" cy="0"/>
          <a:chOff x="0" y="0"/>
          <a:chExt cx="0" cy="0"/>
        </a:xfrm>
      </p:grpSpPr>
      <p:sp>
        <p:nvSpPr>
          <p:cNvPr id="2715" name="Google Shape;2715;p3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an example</a:t>
            </a:r>
            <a:endParaRPr/>
          </a:p>
        </p:txBody>
      </p:sp>
      <p:sp>
        <p:nvSpPr>
          <p:cNvPr id="2716" name="Google Shape;2716;p38"/>
          <p:cNvSpPr txBox="1"/>
          <p:nvPr/>
        </p:nvSpPr>
        <p:spPr>
          <a:xfrm>
            <a:off x="1215441" y="1452111"/>
            <a:ext cx="7772400" cy="2743200"/>
          </a:xfrm>
          <a:prstGeom prst="rect">
            <a:avLst/>
          </a:prstGeom>
          <a:noFill/>
          <a:ln>
            <a:noFill/>
          </a:ln>
        </p:spPr>
        <p:txBody>
          <a:bodyPr anchorCtr="0" anchor="t" bIns="45700" lIns="91425" spcFirstLastPara="1" rIns="91425" wrap="square" tIns="45700">
            <a:normAutofit/>
          </a:bodyPr>
          <a:lstStyle/>
          <a:p>
            <a:pPr indent="-233363" lvl="0" marL="233363" marR="0" rtl="0" algn="l">
              <a:lnSpc>
                <a:spcPct val="13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add two 16-bit integers</a:t>
            </a:r>
            <a:endParaRPr/>
          </a:p>
        </p:txBody>
      </p:sp>
      <p:cxnSp>
        <p:nvCxnSpPr>
          <p:cNvPr id="2717" name="Google Shape;2717;p38"/>
          <p:cNvCxnSpPr/>
          <p:nvPr/>
        </p:nvCxnSpPr>
        <p:spPr>
          <a:xfrm rot="10800000">
            <a:off x="2466391" y="3069774"/>
            <a:ext cx="6477000" cy="0"/>
          </a:xfrm>
          <a:prstGeom prst="straightConnector1">
            <a:avLst/>
          </a:prstGeom>
          <a:noFill/>
          <a:ln cap="flat" cmpd="sng" w="12700">
            <a:solidFill>
              <a:schemeClr val="dk1"/>
            </a:solidFill>
            <a:prstDash val="solid"/>
            <a:round/>
            <a:headEnd len="sm" w="sm" type="none"/>
            <a:tailEnd len="med" w="med" type="none"/>
          </a:ln>
        </p:spPr>
      </p:cxnSp>
      <p:sp>
        <p:nvSpPr>
          <p:cNvPr id="2718" name="Google Shape;2718;p38"/>
          <p:cNvSpPr txBox="1"/>
          <p:nvPr/>
        </p:nvSpPr>
        <p:spPr>
          <a:xfrm>
            <a:off x="1777296" y="3862762"/>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sum</a:t>
            </a:r>
            <a:endParaRPr/>
          </a:p>
        </p:txBody>
      </p:sp>
      <p:sp>
        <p:nvSpPr>
          <p:cNvPr id="2719" name="Google Shape;2719;p38"/>
          <p:cNvSpPr txBox="1"/>
          <p:nvPr/>
        </p:nvSpPr>
        <p:spPr>
          <a:xfrm>
            <a:off x="1192843" y="4300504"/>
            <a:ext cx="12210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720" name="Google Shape;2720;p38"/>
          <p:cNvSpPr txBox="1"/>
          <p:nvPr/>
        </p:nvSpPr>
        <p:spPr>
          <a:xfrm>
            <a:off x="798690" y="5071610"/>
            <a:ext cx="10367961" cy="10795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1560"/>
              <a:buFont typeface="Noto Sans Symbols"/>
              <a:buNone/>
            </a:pPr>
            <a:r>
              <a:rPr b="0" i="1" lang="en-US" sz="2400" u="none" cap="none" strike="noStrike">
                <a:solidFill>
                  <a:srgbClr val="000000"/>
                </a:solidFill>
                <a:latin typeface="Calibri"/>
                <a:ea typeface="Calibri"/>
                <a:cs typeface="Calibri"/>
                <a:sym typeface="Calibri"/>
              </a:rPr>
              <a:t>Note:</a:t>
            </a:r>
            <a:r>
              <a:rPr b="0" i="0" lang="en-US" sz="2400" u="none" cap="none" strike="noStrike">
                <a:solidFill>
                  <a:srgbClr val="000000"/>
                </a:solidFill>
                <a:latin typeface="Calibri"/>
                <a:ea typeface="Calibri"/>
                <a:cs typeface="Calibri"/>
                <a:sym typeface="Calibri"/>
              </a:rPr>
              <a:t> when adding numbers, a carryout from the most significant bit needs to be added to the result</a:t>
            </a:r>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21" name="Google Shape;2721;p38"/>
          <p:cNvSpPr txBox="1"/>
          <p:nvPr/>
        </p:nvSpPr>
        <p:spPr>
          <a:xfrm>
            <a:off x="850466" y="6260898"/>
            <a:ext cx="985722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sp>
        <p:nvSpPr>
          <p:cNvPr id="2722" name="Google Shape;2722;p38"/>
          <p:cNvSpPr txBox="1"/>
          <p:nvPr/>
        </p:nvSpPr>
        <p:spPr>
          <a:xfrm>
            <a:off x="2863959" y="2205031"/>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1 1 1 0 0 1 1 0 0 1 1 0 0 1 1 0</a:t>
            </a:r>
            <a:endParaRPr/>
          </a:p>
        </p:txBody>
      </p:sp>
      <p:sp>
        <p:nvSpPr>
          <p:cNvPr id="2723" name="Google Shape;2723;p38"/>
          <p:cNvSpPr txBox="1"/>
          <p:nvPr/>
        </p:nvSpPr>
        <p:spPr>
          <a:xfrm>
            <a:off x="2868710" y="2580910"/>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1 1 0 1 0 1 0 1 0 1 0 1 0 1 0 1</a:t>
            </a:r>
            <a:endParaRPr/>
          </a:p>
        </p:txBody>
      </p:sp>
      <p:sp>
        <p:nvSpPr>
          <p:cNvPr id="2724" name="Google Shape;2724;p38"/>
          <p:cNvSpPr txBox="1"/>
          <p:nvPr/>
        </p:nvSpPr>
        <p:spPr>
          <a:xfrm>
            <a:off x="2501968" y="3194702"/>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1 1 0 1 1 1 0 1 1 1 0 1 1 1 0 1 1</a:t>
            </a:r>
            <a:endParaRPr/>
          </a:p>
        </p:txBody>
      </p:sp>
      <p:sp>
        <p:nvSpPr>
          <p:cNvPr id="2725" name="Google Shape;2725;p38"/>
          <p:cNvSpPr/>
          <p:nvPr/>
        </p:nvSpPr>
        <p:spPr>
          <a:xfrm>
            <a:off x="2516833" y="3264149"/>
            <a:ext cx="304800" cy="304800"/>
          </a:xfrm>
          <a:prstGeom prst="ellipse">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726" name="Google Shape;2726;p38"/>
          <p:cNvSpPr txBox="1"/>
          <p:nvPr/>
        </p:nvSpPr>
        <p:spPr>
          <a:xfrm>
            <a:off x="916633" y="3201536"/>
            <a:ext cx="1457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wraparound</a:t>
            </a:r>
            <a:endParaRPr/>
          </a:p>
        </p:txBody>
      </p:sp>
      <p:cxnSp>
        <p:nvCxnSpPr>
          <p:cNvPr id="2727" name="Google Shape;2727;p38"/>
          <p:cNvCxnSpPr/>
          <p:nvPr/>
        </p:nvCxnSpPr>
        <p:spPr>
          <a:xfrm rot="10800000">
            <a:off x="2440633" y="3788911"/>
            <a:ext cx="6477000" cy="0"/>
          </a:xfrm>
          <a:prstGeom prst="straightConnector1">
            <a:avLst/>
          </a:prstGeom>
          <a:noFill/>
          <a:ln cap="flat" cmpd="sng" w="12700">
            <a:solidFill>
              <a:schemeClr val="dk1"/>
            </a:solidFill>
            <a:prstDash val="solid"/>
            <a:round/>
            <a:headEnd len="sm" w="sm" type="none"/>
            <a:tailEnd len="med" w="med" type="none"/>
          </a:ln>
        </p:spPr>
      </p:cxnSp>
      <p:sp>
        <p:nvSpPr>
          <p:cNvPr id="2728" name="Google Shape;2728;p38"/>
          <p:cNvSpPr/>
          <p:nvPr/>
        </p:nvSpPr>
        <p:spPr>
          <a:xfrm>
            <a:off x="2669233" y="3576532"/>
            <a:ext cx="5795540" cy="95077"/>
          </a:xfrm>
          <a:custGeom>
            <a:rect b="b" l="l" r="r" t="t"/>
            <a:pathLst>
              <a:path extrusionOk="0" h="58" w="3788">
                <a:moveTo>
                  <a:pt x="0" y="0"/>
                </a:moveTo>
                <a:lnTo>
                  <a:pt x="0" y="58"/>
                </a:lnTo>
                <a:lnTo>
                  <a:pt x="3788" y="58"/>
                </a:lnTo>
              </a:path>
            </a:pathLst>
          </a:custGeom>
          <a:noFill/>
          <a:ln cap="flat" cmpd="sng" w="952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29" name="Google Shape;2729;p38"/>
          <p:cNvSpPr txBox="1"/>
          <p:nvPr/>
        </p:nvSpPr>
        <p:spPr>
          <a:xfrm>
            <a:off x="2475478" y="3863610"/>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1 0 1 1 1 0 1 1 1 0 1 1 1 1 0 0</a:t>
            </a:r>
            <a:endParaRPr/>
          </a:p>
        </p:txBody>
      </p:sp>
      <p:sp>
        <p:nvSpPr>
          <p:cNvPr id="2730" name="Google Shape;2730;p38"/>
          <p:cNvSpPr txBox="1"/>
          <p:nvPr/>
        </p:nvSpPr>
        <p:spPr>
          <a:xfrm>
            <a:off x="2505831" y="4287924"/>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0 1 0 0 0 1 0 0 0 1 0 0 0 0 1 1</a:t>
            </a:r>
            <a:endParaRPr/>
          </a:p>
        </p:txBody>
      </p:sp>
      <p:sp>
        <p:nvSpPr>
          <p:cNvPr id="2731" name="Google Shape;2731;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4"/>
                                        </p:tgtEl>
                                        <p:attrNameLst>
                                          <p:attrName>style.visibility</p:attrName>
                                        </p:attrNameLst>
                                      </p:cBhvr>
                                      <p:to>
                                        <p:strVal val="visible"/>
                                      </p:to>
                                    </p:set>
                                    <p:animEffect filter="fade" transition="in">
                                      <p:cBhvr>
                                        <p:cTn dur="500"/>
                                        <p:tgtEl>
                                          <p:spTgt spid="2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6"/>
                                        </p:tgtEl>
                                        <p:attrNameLst>
                                          <p:attrName>style.visibility</p:attrName>
                                        </p:attrNameLst>
                                      </p:cBhvr>
                                      <p:to>
                                        <p:strVal val="visible"/>
                                      </p:to>
                                    </p:set>
                                    <p:animEffect filter="fade" transition="in">
                                      <p:cBhvr>
                                        <p:cTn dur="500"/>
                                        <p:tgtEl>
                                          <p:spTgt spid="2726"/>
                                        </p:tgtEl>
                                      </p:cBhvr>
                                    </p:animEffect>
                                  </p:childTnLst>
                                </p:cTn>
                              </p:par>
                              <p:par>
                                <p:cTn fill="hold" nodeType="withEffect" presetClass="entr" presetID="10" presetSubtype="0">
                                  <p:stCondLst>
                                    <p:cond delay="0"/>
                                  </p:stCondLst>
                                  <p:childTnLst>
                                    <p:set>
                                      <p:cBhvr>
                                        <p:cTn dur="1" fill="hold">
                                          <p:stCondLst>
                                            <p:cond delay="0"/>
                                          </p:stCondLst>
                                        </p:cTn>
                                        <p:tgtEl>
                                          <p:spTgt spid="2725"/>
                                        </p:tgtEl>
                                        <p:attrNameLst>
                                          <p:attrName>style.visibility</p:attrName>
                                        </p:attrNameLst>
                                      </p:cBhvr>
                                      <p:to>
                                        <p:strVal val="visible"/>
                                      </p:to>
                                    </p:set>
                                    <p:animEffect filter="fade" transition="in">
                                      <p:cBhvr>
                                        <p:cTn dur="500"/>
                                        <p:tgtEl>
                                          <p:spTgt spid="2725"/>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728"/>
                                        </p:tgtEl>
                                        <p:attrNameLst>
                                          <p:attrName>style.visibility</p:attrName>
                                        </p:attrNameLst>
                                      </p:cBhvr>
                                      <p:to>
                                        <p:strVal val="visible"/>
                                      </p:to>
                                    </p:set>
                                    <p:animEffect filter="fade" transition="in">
                                      <p:cBhvr>
                                        <p:cTn dur="500"/>
                                        <p:tgtEl>
                                          <p:spTgt spid="2728"/>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2727"/>
                                        </p:tgtEl>
                                        <p:attrNameLst>
                                          <p:attrName>style.visibility</p:attrName>
                                        </p:attrNameLst>
                                      </p:cBhvr>
                                      <p:to>
                                        <p:strVal val="visible"/>
                                      </p:to>
                                    </p:set>
                                    <p:animEffect filter="fade" transition="in">
                                      <p:cBhvr>
                                        <p:cTn dur="500"/>
                                        <p:tgtEl>
                                          <p:spTgt spid="2727"/>
                                        </p:tgtEl>
                                      </p:cBhvr>
                                    </p:animEffect>
                                  </p:childTnLst>
                                </p:cTn>
                              </p:par>
                              <p:par>
                                <p:cTn fill="hold" nodeType="withEffect" presetClass="entr" presetID="10" presetSubtype="0">
                                  <p:stCondLst>
                                    <p:cond delay="0"/>
                                  </p:stCondLst>
                                  <p:childTnLst>
                                    <p:set>
                                      <p:cBhvr>
                                        <p:cTn dur="1" fill="hold">
                                          <p:stCondLst>
                                            <p:cond delay="0"/>
                                          </p:stCondLst>
                                        </p:cTn>
                                        <p:tgtEl>
                                          <p:spTgt spid="2720"/>
                                        </p:tgtEl>
                                        <p:attrNameLst>
                                          <p:attrName>style.visibility</p:attrName>
                                        </p:attrNameLst>
                                      </p:cBhvr>
                                      <p:to>
                                        <p:strVal val="visible"/>
                                      </p:to>
                                    </p:set>
                                    <p:animEffect filter="fade" transition="in">
                                      <p:cBhvr>
                                        <p:cTn dur="500"/>
                                        <p:tgtEl>
                                          <p:spTgt spid="27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9"/>
                                        </p:tgtEl>
                                        <p:attrNameLst>
                                          <p:attrName>style.visibility</p:attrName>
                                        </p:attrNameLst>
                                      </p:cBhvr>
                                      <p:to>
                                        <p:strVal val="visible"/>
                                      </p:to>
                                    </p:set>
                                    <p:animEffect filter="fade" transition="in">
                                      <p:cBhvr>
                                        <p:cTn dur="500"/>
                                        <p:tgtEl>
                                          <p:spTgt spid="2729"/>
                                        </p:tgtEl>
                                      </p:cBhvr>
                                    </p:animEffect>
                                  </p:childTnLst>
                                </p:cTn>
                              </p:par>
                              <p:par>
                                <p:cTn fill="hold" nodeType="withEffect" presetClass="entr" presetID="10" presetSubtype="0">
                                  <p:stCondLst>
                                    <p:cond delay="0"/>
                                  </p:stCondLst>
                                  <p:childTnLst>
                                    <p:set>
                                      <p:cBhvr>
                                        <p:cTn dur="1" fill="hold">
                                          <p:stCondLst>
                                            <p:cond delay="0"/>
                                          </p:stCondLst>
                                        </p:cTn>
                                        <p:tgtEl>
                                          <p:spTgt spid="2718"/>
                                        </p:tgtEl>
                                        <p:attrNameLst>
                                          <p:attrName>style.visibility</p:attrName>
                                        </p:attrNameLst>
                                      </p:cBhvr>
                                      <p:to>
                                        <p:strVal val="visible"/>
                                      </p:to>
                                    </p:set>
                                    <p:animEffect filter="fade" transition="in">
                                      <p:cBhvr>
                                        <p:cTn dur="500"/>
                                        <p:tgtEl>
                                          <p:spTgt spid="27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0"/>
                                        </p:tgtEl>
                                        <p:attrNameLst>
                                          <p:attrName>style.visibility</p:attrName>
                                        </p:attrNameLst>
                                      </p:cBhvr>
                                      <p:to>
                                        <p:strVal val="visible"/>
                                      </p:to>
                                    </p:set>
                                    <p:animEffect filter="fade" transition="in">
                                      <p:cBhvr>
                                        <p:cTn dur="500"/>
                                        <p:tgtEl>
                                          <p:spTgt spid="2730"/>
                                        </p:tgtEl>
                                      </p:cBhvr>
                                    </p:animEffect>
                                  </p:childTnLst>
                                </p:cTn>
                              </p:par>
                              <p:par>
                                <p:cTn fill="hold" nodeType="withEffect" presetClass="entr" presetID="10" presetSubtype="0">
                                  <p:stCondLst>
                                    <p:cond delay="0"/>
                                  </p:stCondLst>
                                  <p:childTnLst>
                                    <p:set>
                                      <p:cBhvr>
                                        <p:cTn dur="1" fill="hold">
                                          <p:stCondLst>
                                            <p:cond delay="0"/>
                                          </p:stCondLst>
                                        </p:cTn>
                                        <p:tgtEl>
                                          <p:spTgt spid="2719"/>
                                        </p:tgtEl>
                                        <p:attrNameLst>
                                          <p:attrName>style.visibility</p:attrName>
                                        </p:attrNameLst>
                                      </p:cBhvr>
                                      <p:to>
                                        <p:strVal val="visible"/>
                                      </p:to>
                                    </p:set>
                                    <p:animEffect filter="fade" transition="in">
                                      <p:cBhvr>
                                        <p:cTn dur="500"/>
                                        <p:tgtEl>
                                          <p:spTgt spid="27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6" name="Shape 2736"/>
        <p:cNvGrpSpPr/>
        <p:nvPr/>
      </p:nvGrpSpPr>
      <p:grpSpPr>
        <a:xfrm>
          <a:off x="0" y="0"/>
          <a:ext cx="0" cy="0"/>
          <a:chOff x="0" y="0"/>
          <a:chExt cx="0" cy="0"/>
        </a:xfrm>
      </p:grpSpPr>
      <p:sp>
        <p:nvSpPr>
          <p:cNvPr id="2737" name="Google Shape;2737;p3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weak protection!</a:t>
            </a:r>
            <a:endParaRPr/>
          </a:p>
        </p:txBody>
      </p:sp>
      <p:sp>
        <p:nvSpPr>
          <p:cNvPr id="2738" name="Google Shape;2738;p39"/>
          <p:cNvSpPr txBox="1"/>
          <p:nvPr/>
        </p:nvSpPr>
        <p:spPr>
          <a:xfrm>
            <a:off x="1215441" y="1452111"/>
            <a:ext cx="7772400" cy="2743200"/>
          </a:xfrm>
          <a:prstGeom prst="rect">
            <a:avLst/>
          </a:prstGeom>
          <a:noFill/>
          <a:ln>
            <a:noFill/>
          </a:ln>
        </p:spPr>
        <p:txBody>
          <a:bodyPr anchorCtr="0" anchor="t" bIns="45700" lIns="91425" spcFirstLastPara="1" rIns="91425" wrap="square" tIns="45700">
            <a:normAutofit/>
          </a:bodyPr>
          <a:lstStyle/>
          <a:p>
            <a:pPr indent="-233363" lvl="0" marL="233363" marR="0" rtl="0" algn="l">
              <a:lnSpc>
                <a:spcPct val="13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add two 16-bit integers</a:t>
            </a:r>
            <a:endParaRPr/>
          </a:p>
        </p:txBody>
      </p:sp>
      <p:cxnSp>
        <p:nvCxnSpPr>
          <p:cNvPr id="2739" name="Google Shape;2739;p39"/>
          <p:cNvCxnSpPr/>
          <p:nvPr/>
        </p:nvCxnSpPr>
        <p:spPr>
          <a:xfrm rot="10800000">
            <a:off x="2466391" y="3069774"/>
            <a:ext cx="6477000" cy="0"/>
          </a:xfrm>
          <a:prstGeom prst="straightConnector1">
            <a:avLst/>
          </a:prstGeom>
          <a:noFill/>
          <a:ln cap="flat" cmpd="sng" w="12700">
            <a:solidFill>
              <a:schemeClr val="dk1"/>
            </a:solidFill>
            <a:prstDash val="solid"/>
            <a:round/>
            <a:headEnd len="sm" w="sm" type="none"/>
            <a:tailEnd len="med" w="med" type="none"/>
          </a:ln>
        </p:spPr>
      </p:cxnSp>
      <p:sp>
        <p:nvSpPr>
          <p:cNvPr id="2740" name="Google Shape;2740;p39"/>
          <p:cNvSpPr txBox="1"/>
          <p:nvPr/>
        </p:nvSpPr>
        <p:spPr>
          <a:xfrm>
            <a:off x="1777296" y="3862762"/>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sum</a:t>
            </a:r>
            <a:endParaRPr/>
          </a:p>
        </p:txBody>
      </p:sp>
      <p:sp>
        <p:nvSpPr>
          <p:cNvPr id="2741" name="Google Shape;2741;p39"/>
          <p:cNvSpPr txBox="1"/>
          <p:nvPr/>
        </p:nvSpPr>
        <p:spPr>
          <a:xfrm>
            <a:off x="1192843" y="4300504"/>
            <a:ext cx="12210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742" name="Google Shape;2742;p39"/>
          <p:cNvSpPr txBox="1"/>
          <p:nvPr/>
        </p:nvSpPr>
        <p:spPr>
          <a:xfrm>
            <a:off x="2863959" y="2205031"/>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1 1 1 0 0 1 1 0 0 1 1 0 0 1 1 0</a:t>
            </a:r>
            <a:endParaRPr/>
          </a:p>
        </p:txBody>
      </p:sp>
      <p:sp>
        <p:nvSpPr>
          <p:cNvPr id="2743" name="Google Shape;2743;p39"/>
          <p:cNvSpPr txBox="1"/>
          <p:nvPr/>
        </p:nvSpPr>
        <p:spPr>
          <a:xfrm>
            <a:off x="2868710" y="2580910"/>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1 1 0 1 0 1 0 1 0 1 0 1 0 1 0 1</a:t>
            </a:r>
            <a:endParaRPr/>
          </a:p>
        </p:txBody>
      </p:sp>
      <p:sp>
        <p:nvSpPr>
          <p:cNvPr id="2744" name="Google Shape;2744;p39"/>
          <p:cNvSpPr txBox="1"/>
          <p:nvPr/>
        </p:nvSpPr>
        <p:spPr>
          <a:xfrm>
            <a:off x="2501968" y="3194702"/>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1 1 0 1 1 1 0 1 1 1 0 1 1 1 0 1 1</a:t>
            </a:r>
            <a:endParaRPr/>
          </a:p>
        </p:txBody>
      </p:sp>
      <p:grpSp>
        <p:nvGrpSpPr>
          <p:cNvPr id="2745" name="Google Shape;2745;p39"/>
          <p:cNvGrpSpPr/>
          <p:nvPr/>
        </p:nvGrpSpPr>
        <p:grpSpPr>
          <a:xfrm>
            <a:off x="942391" y="3201536"/>
            <a:ext cx="8001000" cy="1123739"/>
            <a:chOff x="942391" y="3201536"/>
            <a:chExt cx="8001000" cy="1123739"/>
          </a:xfrm>
        </p:grpSpPr>
        <p:sp>
          <p:nvSpPr>
            <p:cNvPr id="2746" name="Google Shape;2746;p39"/>
            <p:cNvSpPr/>
            <p:nvPr/>
          </p:nvSpPr>
          <p:spPr>
            <a:xfrm>
              <a:off x="2542591" y="3264149"/>
              <a:ext cx="304800" cy="304800"/>
            </a:xfrm>
            <a:prstGeom prst="ellipse">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747" name="Google Shape;2747;p39"/>
            <p:cNvSpPr txBox="1"/>
            <p:nvPr/>
          </p:nvSpPr>
          <p:spPr>
            <a:xfrm>
              <a:off x="942391" y="3201536"/>
              <a:ext cx="1457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wraparound</a:t>
              </a:r>
              <a:endParaRPr/>
            </a:p>
          </p:txBody>
        </p:sp>
        <p:cxnSp>
          <p:nvCxnSpPr>
            <p:cNvPr id="2748" name="Google Shape;2748;p39"/>
            <p:cNvCxnSpPr/>
            <p:nvPr/>
          </p:nvCxnSpPr>
          <p:spPr>
            <a:xfrm rot="10800000">
              <a:off x="2466391" y="3788911"/>
              <a:ext cx="6477000" cy="0"/>
            </a:xfrm>
            <a:prstGeom prst="straightConnector1">
              <a:avLst/>
            </a:prstGeom>
            <a:noFill/>
            <a:ln cap="flat" cmpd="sng" w="12700">
              <a:solidFill>
                <a:schemeClr val="dk1"/>
              </a:solidFill>
              <a:prstDash val="solid"/>
              <a:round/>
              <a:headEnd len="sm" w="sm" type="none"/>
              <a:tailEnd len="med" w="med" type="none"/>
            </a:ln>
          </p:spPr>
        </p:cxnSp>
        <p:sp>
          <p:nvSpPr>
            <p:cNvPr id="2749" name="Google Shape;2749;p39"/>
            <p:cNvSpPr/>
            <p:nvPr/>
          </p:nvSpPr>
          <p:spPr>
            <a:xfrm>
              <a:off x="2694991" y="3576532"/>
              <a:ext cx="5795540" cy="95077"/>
            </a:xfrm>
            <a:custGeom>
              <a:rect b="b" l="l" r="r" t="t"/>
              <a:pathLst>
                <a:path extrusionOk="0" h="58" w="3788">
                  <a:moveTo>
                    <a:pt x="0" y="0"/>
                  </a:moveTo>
                  <a:lnTo>
                    <a:pt x="0" y="58"/>
                  </a:lnTo>
                  <a:lnTo>
                    <a:pt x="3788" y="58"/>
                  </a:lnTo>
                </a:path>
              </a:pathLst>
            </a:custGeom>
            <a:noFill/>
            <a:ln cap="flat" cmpd="sng" w="952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50" name="Google Shape;2750;p39"/>
            <p:cNvSpPr txBox="1"/>
            <p:nvPr/>
          </p:nvSpPr>
          <p:spPr>
            <a:xfrm>
              <a:off x="2501236" y="3863610"/>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1 0 1 1 1 0 1 1 1 0 1 1 1 1 0 0</a:t>
              </a:r>
              <a:endParaRPr/>
            </a:p>
          </p:txBody>
        </p:sp>
      </p:grpSp>
      <p:sp>
        <p:nvSpPr>
          <p:cNvPr id="2751" name="Google Shape;2751;p39"/>
          <p:cNvSpPr txBox="1"/>
          <p:nvPr/>
        </p:nvSpPr>
        <p:spPr>
          <a:xfrm>
            <a:off x="2505831" y="4287924"/>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0 1 0 0 0 1 0 0 0 1 0 0 0 0 1 1</a:t>
            </a:r>
            <a:endParaRPr/>
          </a:p>
        </p:txBody>
      </p:sp>
      <p:grpSp>
        <p:nvGrpSpPr>
          <p:cNvPr id="2752" name="Google Shape;2752;p39"/>
          <p:cNvGrpSpPr/>
          <p:nvPr/>
        </p:nvGrpSpPr>
        <p:grpSpPr>
          <a:xfrm>
            <a:off x="7895417" y="1927511"/>
            <a:ext cx="2249559" cy="712515"/>
            <a:chOff x="9436187" y="4862446"/>
            <a:chExt cx="2249559" cy="712515"/>
          </a:xfrm>
        </p:grpSpPr>
        <p:sp>
          <p:nvSpPr>
            <p:cNvPr id="2753" name="Google Shape;2753;p39"/>
            <p:cNvSpPr/>
            <p:nvPr/>
          </p:nvSpPr>
          <p:spPr>
            <a:xfrm>
              <a:off x="9436187" y="5113295"/>
              <a:ext cx="802095" cy="461666"/>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54" name="Google Shape;2754;p39"/>
            <p:cNvCxnSpPr/>
            <p:nvPr/>
          </p:nvCxnSpPr>
          <p:spPr>
            <a:xfrm flipH="1" rot="10800000">
              <a:off x="10238282" y="5111429"/>
              <a:ext cx="546739" cy="212682"/>
            </a:xfrm>
            <a:prstGeom prst="straightConnector1">
              <a:avLst/>
            </a:prstGeom>
            <a:noFill/>
            <a:ln cap="flat" cmpd="sng" w="38100">
              <a:solidFill>
                <a:srgbClr val="C00000"/>
              </a:solidFill>
              <a:prstDash val="solid"/>
              <a:miter lim="800000"/>
              <a:headEnd len="sm" w="sm" type="none"/>
              <a:tailEnd len="med" w="med" type="triangle"/>
            </a:ln>
          </p:spPr>
        </p:cxnSp>
        <p:sp>
          <p:nvSpPr>
            <p:cNvPr id="2755" name="Google Shape;2755;p39"/>
            <p:cNvSpPr txBox="1"/>
            <p:nvPr/>
          </p:nvSpPr>
          <p:spPr>
            <a:xfrm>
              <a:off x="10395008" y="4862446"/>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a:t>
              </a:r>
              <a:endParaRPr/>
            </a:p>
          </p:txBody>
        </p:sp>
      </p:grpSp>
      <p:grpSp>
        <p:nvGrpSpPr>
          <p:cNvPr id="2756" name="Google Shape;2756;p39"/>
          <p:cNvGrpSpPr/>
          <p:nvPr/>
        </p:nvGrpSpPr>
        <p:grpSpPr>
          <a:xfrm>
            <a:off x="7910407" y="2289202"/>
            <a:ext cx="2249559" cy="712515"/>
            <a:chOff x="9436187" y="4862446"/>
            <a:chExt cx="2249559" cy="712515"/>
          </a:xfrm>
        </p:grpSpPr>
        <p:sp>
          <p:nvSpPr>
            <p:cNvPr id="2757" name="Google Shape;2757;p39"/>
            <p:cNvSpPr/>
            <p:nvPr/>
          </p:nvSpPr>
          <p:spPr>
            <a:xfrm>
              <a:off x="9436187" y="5113295"/>
              <a:ext cx="802095" cy="461666"/>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58" name="Google Shape;2758;p39"/>
            <p:cNvCxnSpPr/>
            <p:nvPr/>
          </p:nvCxnSpPr>
          <p:spPr>
            <a:xfrm flipH="1" rot="10800000">
              <a:off x="10238282" y="5111429"/>
              <a:ext cx="546739" cy="212682"/>
            </a:xfrm>
            <a:prstGeom prst="straightConnector1">
              <a:avLst/>
            </a:prstGeom>
            <a:noFill/>
            <a:ln cap="flat" cmpd="sng" w="38100">
              <a:solidFill>
                <a:srgbClr val="C00000"/>
              </a:solidFill>
              <a:prstDash val="solid"/>
              <a:miter lim="800000"/>
              <a:headEnd len="sm" w="sm" type="none"/>
              <a:tailEnd len="med" w="med" type="triangle"/>
            </a:ln>
          </p:spPr>
        </p:cxnSp>
        <p:sp>
          <p:nvSpPr>
            <p:cNvPr id="2759" name="Google Shape;2759;p39"/>
            <p:cNvSpPr txBox="1"/>
            <p:nvPr/>
          </p:nvSpPr>
          <p:spPr>
            <a:xfrm>
              <a:off x="10395008" y="4862446"/>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a:t>
              </a:r>
              <a:endParaRPr/>
            </a:p>
          </p:txBody>
        </p:sp>
      </p:grpSp>
      <p:grpSp>
        <p:nvGrpSpPr>
          <p:cNvPr id="2760" name="Google Shape;2760;p39"/>
          <p:cNvGrpSpPr/>
          <p:nvPr/>
        </p:nvGrpSpPr>
        <p:grpSpPr>
          <a:xfrm>
            <a:off x="8933167" y="3121843"/>
            <a:ext cx="2729496" cy="1754326"/>
            <a:chOff x="8933167" y="3121843"/>
            <a:chExt cx="2729496" cy="1754326"/>
          </a:xfrm>
        </p:grpSpPr>
        <p:sp>
          <p:nvSpPr>
            <p:cNvPr id="2761" name="Google Shape;2761;p39"/>
            <p:cNvSpPr/>
            <p:nvPr/>
          </p:nvSpPr>
          <p:spPr>
            <a:xfrm>
              <a:off x="8933167" y="3244723"/>
              <a:ext cx="247697" cy="1504855"/>
            </a:xfrm>
            <a:prstGeom prst="rightBrace">
              <a:avLst>
                <a:gd fmla="val 8333" name="adj1"/>
                <a:gd fmla="val 50000" name="adj2"/>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62" name="Google Shape;2762;p39"/>
            <p:cNvSpPr txBox="1"/>
            <p:nvPr/>
          </p:nvSpPr>
          <p:spPr>
            <a:xfrm>
              <a:off x="9259241" y="3121843"/>
              <a:ext cx="2403422" cy="1754326"/>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Even though numbers have changed (bit flips), </a:t>
              </a:r>
              <a:r>
                <a:rPr b="0" i="1" lang="en-US" sz="2400" u="none" cap="none" strike="noStrike">
                  <a:solidFill>
                    <a:srgbClr val="C00000"/>
                  </a:solidFill>
                  <a:latin typeface="Calibri"/>
                  <a:ea typeface="Calibri"/>
                  <a:cs typeface="Calibri"/>
                  <a:sym typeface="Calibri"/>
                </a:rPr>
                <a:t>no</a:t>
              </a:r>
              <a:r>
                <a:rPr b="0" i="0" lang="en-US" sz="2400" u="none" cap="none" strike="noStrike">
                  <a:solidFill>
                    <a:srgbClr val="000000"/>
                  </a:solidFill>
                  <a:latin typeface="Calibri"/>
                  <a:ea typeface="Calibri"/>
                  <a:cs typeface="Calibri"/>
                  <a:sym typeface="Calibri"/>
                </a:rPr>
                <a:t> change in checksum!</a:t>
              </a:r>
              <a:endParaRPr/>
            </a:p>
          </p:txBody>
        </p:sp>
      </p:grpSp>
      <p:sp>
        <p:nvSpPr>
          <p:cNvPr id="2763" name="Google Shape;2763;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2"/>
                                        </p:tgtEl>
                                        <p:attrNameLst>
                                          <p:attrName>style.visibility</p:attrName>
                                        </p:attrNameLst>
                                      </p:cBhvr>
                                      <p:to>
                                        <p:strVal val="visible"/>
                                      </p:to>
                                    </p:set>
                                    <p:animEffect filter="fade" transition="in">
                                      <p:cBhvr>
                                        <p:cTn dur="500"/>
                                        <p:tgtEl>
                                          <p:spTgt spid="27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6"/>
                                        </p:tgtEl>
                                        <p:attrNameLst>
                                          <p:attrName>style.visibility</p:attrName>
                                        </p:attrNameLst>
                                      </p:cBhvr>
                                      <p:to>
                                        <p:strVal val="visible"/>
                                      </p:to>
                                    </p:set>
                                    <p:animEffect filter="fade" transition="in">
                                      <p:cBhvr>
                                        <p:cTn dur="500"/>
                                        <p:tgtEl>
                                          <p:spTgt spid="2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0"/>
                                        </p:tgtEl>
                                        <p:attrNameLst>
                                          <p:attrName>style.visibility</p:attrName>
                                        </p:attrNameLst>
                                      </p:cBhvr>
                                      <p:to>
                                        <p:strVal val="visible"/>
                                      </p:to>
                                    </p:set>
                                    <p:animEffect filter="fade" transition="in">
                                      <p:cBhvr>
                                        <p:cTn dur="500"/>
                                        <p:tgtEl>
                                          <p:spTgt spid="2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8" name="Shape 2768"/>
        <p:cNvGrpSpPr/>
        <p:nvPr/>
      </p:nvGrpSpPr>
      <p:grpSpPr>
        <a:xfrm>
          <a:off x="0" y="0"/>
          <a:ext cx="0" cy="0"/>
          <a:chOff x="0" y="0"/>
          <a:chExt cx="0" cy="0"/>
        </a:xfrm>
      </p:grpSpPr>
      <p:sp>
        <p:nvSpPr>
          <p:cNvPr id="2769" name="Google Shape;2769;p40"/>
          <p:cNvSpPr txBox="1"/>
          <p:nvPr>
            <p:ph type="title"/>
          </p:nvPr>
        </p:nvSpPr>
        <p:spPr>
          <a:xfrm>
            <a:off x="662184" y="196879"/>
            <a:ext cx="11100625" cy="1206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b="0" lang="en-US" sz="5400"/>
              <a:t>Summary</a:t>
            </a:r>
            <a:r>
              <a:rPr b="0" lang="en-US" sz="4800"/>
              <a:t>: UDP</a:t>
            </a:r>
            <a:endParaRPr/>
          </a:p>
        </p:txBody>
      </p:sp>
      <p:sp>
        <p:nvSpPr>
          <p:cNvPr id="2770" name="Google Shape;2770;p40"/>
          <p:cNvSpPr txBox="1"/>
          <p:nvPr/>
        </p:nvSpPr>
        <p:spPr>
          <a:xfrm>
            <a:off x="525681" y="1403321"/>
            <a:ext cx="11373633" cy="5247933"/>
          </a:xfrm>
          <a:prstGeom prst="rect">
            <a:avLst/>
          </a:prstGeom>
          <a:noFill/>
          <a:ln>
            <a:noFill/>
          </a:ln>
        </p:spPr>
        <p:txBody>
          <a:bodyPr anchorCtr="0" anchor="t" bIns="45700" lIns="91425" spcFirstLastPara="1" rIns="91425" wrap="square" tIns="45700">
            <a:noAutofit/>
          </a:bodyPr>
          <a:lstStyle/>
          <a:p>
            <a:pPr indent="-339725" lvl="0" marL="4635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“no frills” protocol: </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segments may be lost, delivered out of order</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best effort service: “send and hope for the best”</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UDP has its plusses:</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no setup/handshaking needed (no RTT incurred)</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can function when network service is compromised</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helps with reliability (checksum)</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build additional functionality on top of UDP in application layer (e.g., HTTP/3)</a:t>
            </a:r>
            <a:endParaRPr b="0" i="0" sz="2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0" st="0"/>
                                            </p:txEl>
                                          </p:spTgt>
                                        </p:tgtEl>
                                        <p:attrNameLst>
                                          <p:attrName>style.visibility</p:attrName>
                                        </p:attrNameLst>
                                      </p:cBhvr>
                                      <p:to>
                                        <p:strVal val="visible"/>
                                      </p:to>
                                    </p:set>
                                    <p:animEffect filter="fade" transition="in">
                                      <p:cBhvr>
                                        <p:cTn dur="500"/>
                                        <p:tgtEl>
                                          <p:spTgt spid="27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1" st="1"/>
                                            </p:txEl>
                                          </p:spTgt>
                                        </p:tgtEl>
                                        <p:attrNameLst>
                                          <p:attrName>style.visibility</p:attrName>
                                        </p:attrNameLst>
                                      </p:cBhvr>
                                      <p:to>
                                        <p:strVal val="visible"/>
                                      </p:to>
                                    </p:set>
                                    <p:animEffect filter="fade" transition="in">
                                      <p:cBhvr>
                                        <p:cTn dur="500"/>
                                        <p:tgtEl>
                                          <p:spTgt spid="27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2" st="2"/>
                                            </p:txEl>
                                          </p:spTgt>
                                        </p:tgtEl>
                                        <p:attrNameLst>
                                          <p:attrName>style.visibility</p:attrName>
                                        </p:attrNameLst>
                                      </p:cBhvr>
                                      <p:to>
                                        <p:strVal val="visible"/>
                                      </p:to>
                                    </p:set>
                                    <p:animEffect filter="fade" transition="in">
                                      <p:cBhvr>
                                        <p:cTn dur="500"/>
                                        <p:tgtEl>
                                          <p:spTgt spid="27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3" st="3"/>
                                            </p:txEl>
                                          </p:spTgt>
                                        </p:tgtEl>
                                        <p:attrNameLst>
                                          <p:attrName>style.visibility</p:attrName>
                                        </p:attrNameLst>
                                      </p:cBhvr>
                                      <p:to>
                                        <p:strVal val="visible"/>
                                      </p:to>
                                    </p:set>
                                    <p:animEffect filter="fade" transition="in">
                                      <p:cBhvr>
                                        <p:cTn dur="500"/>
                                        <p:tgtEl>
                                          <p:spTgt spid="27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4" st="4"/>
                                            </p:txEl>
                                          </p:spTgt>
                                        </p:tgtEl>
                                        <p:attrNameLst>
                                          <p:attrName>style.visibility</p:attrName>
                                        </p:attrNameLst>
                                      </p:cBhvr>
                                      <p:to>
                                        <p:strVal val="visible"/>
                                      </p:to>
                                    </p:set>
                                    <p:animEffect filter="fade" transition="in">
                                      <p:cBhvr>
                                        <p:cTn dur="500"/>
                                        <p:tgtEl>
                                          <p:spTgt spid="27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5" st="5"/>
                                            </p:txEl>
                                          </p:spTgt>
                                        </p:tgtEl>
                                        <p:attrNameLst>
                                          <p:attrName>style.visibility</p:attrName>
                                        </p:attrNameLst>
                                      </p:cBhvr>
                                      <p:to>
                                        <p:strVal val="visible"/>
                                      </p:to>
                                    </p:set>
                                    <p:animEffect filter="fade" transition="in">
                                      <p:cBhvr>
                                        <p:cTn dur="500"/>
                                        <p:tgtEl>
                                          <p:spTgt spid="27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6" st="6"/>
                                            </p:txEl>
                                          </p:spTgt>
                                        </p:tgtEl>
                                        <p:attrNameLst>
                                          <p:attrName>style.visibility</p:attrName>
                                        </p:attrNameLst>
                                      </p:cBhvr>
                                      <p:to>
                                        <p:strVal val="visible"/>
                                      </p:to>
                                    </p:set>
                                    <p:animEffect filter="fade" transition="in">
                                      <p:cBhvr>
                                        <p:cTn dur="500"/>
                                        <p:tgtEl>
                                          <p:spTgt spid="277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0">
                                            <p:txEl>
                                              <p:pRg end="7" st="7"/>
                                            </p:txEl>
                                          </p:spTgt>
                                        </p:tgtEl>
                                        <p:attrNameLst>
                                          <p:attrName>style.visibility</p:attrName>
                                        </p:attrNameLst>
                                      </p:cBhvr>
                                      <p:to>
                                        <p:strVal val="visible"/>
                                      </p:to>
                                    </p:set>
                                    <p:animEffect filter="fade" transition="in">
                                      <p:cBhvr>
                                        <p:cTn dur="500"/>
                                        <p:tgtEl>
                                          <p:spTgt spid="2770">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5" name="Shape 2775"/>
        <p:cNvGrpSpPr/>
        <p:nvPr/>
      </p:nvGrpSpPr>
      <p:grpSpPr>
        <a:xfrm>
          <a:off x="0" y="0"/>
          <a:ext cx="0" cy="0"/>
          <a:chOff x="0" y="0"/>
          <a:chExt cx="0" cy="0"/>
        </a:xfrm>
      </p:grpSpPr>
      <p:sp>
        <p:nvSpPr>
          <p:cNvPr id="2776" name="Google Shape;2776;p4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2777" name="Google Shape;2777;p41"/>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010086"/>
              </a:buClr>
              <a:buSzPts val="3200"/>
              <a:buChar char="▪"/>
            </a:pPr>
            <a:r>
              <a:rPr lang="en-US" sz="3200"/>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2778" name="Google Shape;2778;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2779" name="Google Shape;2779;p41"/>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4" name="Shape 2784"/>
        <p:cNvGrpSpPr/>
        <p:nvPr/>
      </p:nvGrpSpPr>
      <p:grpSpPr>
        <a:xfrm>
          <a:off x="0" y="0"/>
          <a:ext cx="0" cy="0"/>
          <a:chOff x="0" y="0"/>
          <a:chExt cx="0" cy="0"/>
        </a:xfrm>
      </p:grpSpPr>
      <p:sp>
        <p:nvSpPr>
          <p:cNvPr id="2785" name="Google Shape;2785;p4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2786" name="Google Shape;2786;p42"/>
          <p:cNvGrpSpPr/>
          <p:nvPr/>
        </p:nvGrpSpPr>
        <p:grpSpPr>
          <a:xfrm>
            <a:off x="238849" y="1911780"/>
            <a:ext cx="5147343" cy="2073847"/>
            <a:chOff x="737513" y="2398718"/>
            <a:chExt cx="5595549" cy="2073847"/>
          </a:xfrm>
        </p:grpSpPr>
        <p:sp>
          <p:nvSpPr>
            <p:cNvPr id="2787" name="Google Shape;2787;p42"/>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88" name="Google Shape;2788;p42"/>
            <p:cNvGrpSpPr/>
            <p:nvPr/>
          </p:nvGrpSpPr>
          <p:grpSpPr>
            <a:xfrm>
              <a:off x="1442223" y="2551892"/>
              <a:ext cx="1245036" cy="593992"/>
              <a:chOff x="9852456" y="608434"/>
              <a:chExt cx="1245036" cy="593992"/>
            </a:xfrm>
          </p:grpSpPr>
          <p:sp>
            <p:nvSpPr>
              <p:cNvPr id="2789" name="Google Shape;2789;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790" name="Google Shape;2790;p42"/>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2791" name="Google Shape;2791;p42"/>
            <p:cNvGrpSpPr/>
            <p:nvPr/>
          </p:nvGrpSpPr>
          <p:grpSpPr>
            <a:xfrm>
              <a:off x="2038693" y="3003923"/>
              <a:ext cx="577241" cy="307777"/>
              <a:chOff x="9950444" y="999755"/>
              <a:chExt cx="577241" cy="307777"/>
            </a:xfrm>
          </p:grpSpPr>
          <p:sp>
            <p:nvSpPr>
              <p:cNvPr id="2792" name="Google Shape;2792;p4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93" name="Google Shape;2793;p42"/>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794" name="Google Shape;2794;p42"/>
            <p:cNvGrpSpPr/>
            <p:nvPr/>
          </p:nvGrpSpPr>
          <p:grpSpPr>
            <a:xfrm>
              <a:off x="1175476" y="2432423"/>
              <a:ext cx="545509" cy="512284"/>
              <a:chOff x="-44" y="1473"/>
              <a:chExt cx="981" cy="1105"/>
            </a:xfrm>
          </p:grpSpPr>
          <p:pic>
            <p:nvPicPr>
              <p:cNvPr descr="desktop_computer_stylized_medium" id="2795" name="Google Shape;2795;p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796" name="Google Shape;2796;p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797" name="Google Shape;2797;p42"/>
            <p:cNvGrpSpPr/>
            <p:nvPr/>
          </p:nvGrpSpPr>
          <p:grpSpPr>
            <a:xfrm>
              <a:off x="4756576" y="2530702"/>
              <a:ext cx="1245036" cy="593992"/>
              <a:chOff x="9852456" y="608434"/>
              <a:chExt cx="1245036" cy="593992"/>
            </a:xfrm>
          </p:grpSpPr>
          <p:sp>
            <p:nvSpPr>
              <p:cNvPr id="2798" name="Google Shape;2798;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799" name="Google Shape;2799;p42"/>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2800" name="Google Shape;2800;p42"/>
            <p:cNvGrpSpPr/>
            <p:nvPr/>
          </p:nvGrpSpPr>
          <p:grpSpPr>
            <a:xfrm>
              <a:off x="4815705" y="3003923"/>
              <a:ext cx="577241" cy="307777"/>
              <a:chOff x="9678159" y="981583"/>
              <a:chExt cx="577241" cy="307777"/>
            </a:xfrm>
          </p:grpSpPr>
          <p:sp>
            <p:nvSpPr>
              <p:cNvPr id="2801" name="Google Shape;2801;p42"/>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02" name="Google Shape;2802;p42"/>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803" name="Google Shape;2803;p42"/>
            <p:cNvGrpSpPr/>
            <p:nvPr/>
          </p:nvGrpSpPr>
          <p:grpSpPr>
            <a:xfrm>
              <a:off x="5854223" y="2398718"/>
              <a:ext cx="230514" cy="466725"/>
              <a:chOff x="4140" y="429"/>
              <a:chExt cx="1425" cy="2396"/>
            </a:xfrm>
          </p:grpSpPr>
          <p:sp>
            <p:nvSpPr>
              <p:cNvPr id="2804" name="Google Shape;2804;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5" name="Google Shape;2805;p4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6" name="Google Shape;2806;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7" name="Google Shape;2807;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08" name="Google Shape;2808;p4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09" name="Google Shape;2809;p42"/>
              <p:cNvGrpSpPr/>
              <p:nvPr/>
            </p:nvGrpSpPr>
            <p:grpSpPr>
              <a:xfrm>
                <a:off x="4751" y="667"/>
                <a:ext cx="580" cy="146"/>
                <a:chOff x="617" y="2567"/>
                <a:chExt cx="724" cy="140"/>
              </a:xfrm>
            </p:grpSpPr>
            <p:sp>
              <p:nvSpPr>
                <p:cNvPr id="2810" name="Google Shape;2810;p4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1" name="Google Shape;2811;p4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12" name="Google Shape;2812;p4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13" name="Google Shape;2813;p42"/>
              <p:cNvGrpSpPr/>
              <p:nvPr/>
            </p:nvGrpSpPr>
            <p:grpSpPr>
              <a:xfrm>
                <a:off x="4745" y="996"/>
                <a:ext cx="580" cy="156"/>
                <a:chOff x="612" y="2570"/>
                <a:chExt cx="724" cy="162"/>
              </a:xfrm>
            </p:grpSpPr>
            <p:sp>
              <p:nvSpPr>
                <p:cNvPr id="2814" name="Google Shape;2814;p4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5" name="Google Shape;2815;p4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16" name="Google Shape;2816;p4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7" name="Google Shape;2817;p4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18" name="Google Shape;2818;p42"/>
              <p:cNvGrpSpPr/>
              <p:nvPr/>
            </p:nvGrpSpPr>
            <p:grpSpPr>
              <a:xfrm>
                <a:off x="4733" y="1627"/>
                <a:ext cx="586" cy="151"/>
                <a:chOff x="611" y="2568"/>
                <a:chExt cx="730" cy="139"/>
              </a:xfrm>
            </p:grpSpPr>
            <p:sp>
              <p:nvSpPr>
                <p:cNvPr id="2819" name="Google Shape;2819;p4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0" name="Google Shape;2820;p4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21" name="Google Shape;2821;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22" name="Google Shape;2822;p42"/>
              <p:cNvGrpSpPr/>
              <p:nvPr/>
            </p:nvGrpSpPr>
            <p:grpSpPr>
              <a:xfrm>
                <a:off x="4739" y="1325"/>
                <a:ext cx="580" cy="140"/>
                <a:chOff x="614" y="2566"/>
                <a:chExt cx="723" cy="140"/>
              </a:xfrm>
            </p:grpSpPr>
            <p:sp>
              <p:nvSpPr>
                <p:cNvPr id="2823" name="Google Shape;2823;p4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4" name="Google Shape;2824;p4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25" name="Google Shape;2825;p4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6" name="Google Shape;2826;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7" name="Google Shape;2827;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8" name="Google Shape;2828;p4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9" name="Google Shape;2829;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0" name="Google Shape;2830;p4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1" name="Google Shape;2831;p4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2" name="Google Shape;2832;p4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3" name="Google Shape;2833;p4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834" name="Google Shape;2834;p4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5" name="Google Shape;2835;p4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836" name="Google Shape;2836;p42"/>
            <p:cNvGrpSpPr/>
            <p:nvPr/>
          </p:nvGrpSpPr>
          <p:grpSpPr>
            <a:xfrm>
              <a:off x="2669417" y="3423937"/>
              <a:ext cx="2003932" cy="369332"/>
              <a:chOff x="7504363" y="3141846"/>
              <a:chExt cx="2003932" cy="369332"/>
            </a:xfrm>
          </p:grpSpPr>
          <p:grpSp>
            <p:nvGrpSpPr>
              <p:cNvPr id="2837" name="Google Shape;2837;p42"/>
              <p:cNvGrpSpPr/>
              <p:nvPr/>
            </p:nvGrpSpPr>
            <p:grpSpPr>
              <a:xfrm>
                <a:off x="7504363" y="3183676"/>
                <a:ext cx="2003932" cy="306163"/>
                <a:chOff x="1616358" y="2551230"/>
                <a:chExt cx="2141698" cy="218510"/>
              </a:xfrm>
            </p:grpSpPr>
            <p:sp>
              <p:nvSpPr>
                <p:cNvPr id="2838" name="Google Shape;2838;p42"/>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39" name="Google Shape;2839;p42"/>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0" name="Google Shape;2840;p42"/>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1" name="Google Shape;2841;p42"/>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842" name="Google Shape;2842;p42"/>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2843" name="Google Shape;2843;p42"/>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844" name="Google Shape;2844;p42"/>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845" name="Google Shape;2845;p42"/>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846" name="Google Shape;2846;p42"/>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2847" name="Google Shape;2847;p42"/>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2848" name="Google Shape;2848;p42"/>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abstraction</a:t>
              </a:r>
              <a:endParaRPr/>
            </a:p>
          </p:txBody>
        </p:sp>
      </p:grpSp>
      <p:sp>
        <p:nvSpPr>
          <p:cNvPr id="2849" name="Google Shape;2849;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4" name="Shape 2854"/>
        <p:cNvGrpSpPr/>
        <p:nvPr/>
      </p:nvGrpSpPr>
      <p:grpSpPr>
        <a:xfrm>
          <a:off x="0" y="0"/>
          <a:ext cx="0" cy="0"/>
          <a:chOff x="0" y="0"/>
          <a:chExt cx="0" cy="0"/>
        </a:xfrm>
      </p:grpSpPr>
      <p:sp>
        <p:nvSpPr>
          <p:cNvPr id="2855" name="Google Shape;2855;p4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2856" name="Google Shape;2856;p43"/>
          <p:cNvGrpSpPr/>
          <p:nvPr/>
        </p:nvGrpSpPr>
        <p:grpSpPr>
          <a:xfrm>
            <a:off x="6226081" y="1900904"/>
            <a:ext cx="5598584" cy="4095684"/>
            <a:chOff x="6226081" y="2364366"/>
            <a:chExt cx="5598584" cy="4095684"/>
          </a:xfrm>
        </p:grpSpPr>
        <p:grpSp>
          <p:nvGrpSpPr>
            <p:cNvPr id="2857" name="Google Shape;2857;p43"/>
            <p:cNvGrpSpPr/>
            <p:nvPr/>
          </p:nvGrpSpPr>
          <p:grpSpPr>
            <a:xfrm>
              <a:off x="6944646" y="2545250"/>
              <a:ext cx="1245036" cy="593992"/>
              <a:chOff x="9852456" y="608434"/>
              <a:chExt cx="1245036" cy="593992"/>
            </a:xfrm>
          </p:grpSpPr>
          <p:sp>
            <p:nvSpPr>
              <p:cNvPr id="2858" name="Google Shape;2858;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859" name="Google Shape;2859;p43"/>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2860" name="Google Shape;2860;p43"/>
            <p:cNvGrpSpPr/>
            <p:nvPr/>
          </p:nvGrpSpPr>
          <p:grpSpPr>
            <a:xfrm>
              <a:off x="7541116" y="2997281"/>
              <a:ext cx="577241" cy="338554"/>
              <a:chOff x="9950444" y="999755"/>
              <a:chExt cx="577241" cy="338554"/>
            </a:xfrm>
          </p:grpSpPr>
          <p:sp>
            <p:nvSpPr>
              <p:cNvPr id="2861" name="Google Shape;2861;p43"/>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62" name="Google Shape;2862;p43"/>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863" name="Google Shape;2863;p43"/>
            <p:cNvGrpSpPr/>
            <p:nvPr/>
          </p:nvGrpSpPr>
          <p:grpSpPr>
            <a:xfrm>
              <a:off x="6677899" y="2425781"/>
              <a:ext cx="545509" cy="512284"/>
              <a:chOff x="-44" y="1473"/>
              <a:chExt cx="981" cy="1105"/>
            </a:xfrm>
          </p:grpSpPr>
          <p:pic>
            <p:nvPicPr>
              <p:cNvPr descr="desktop_computer_stylized_medium" id="2864" name="Google Shape;2864;p4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865" name="Google Shape;2865;p4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866" name="Google Shape;2866;p43"/>
            <p:cNvGrpSpPr/>
            <p:nvPr/>
          </p:nvGrpSpPr>
          <p:grpSpPr>
            <a:xfrm>
              <a:off x="10189724" y="2496350"/>
              <a:ext cx="1245036" cy="593992"/>
              <a:chOff x="9852456" y="608434"/>
              <a:chExt cx="1245036" cy="593992"/>
            </a:xfrm>
          </p:grpSpPr>
          <p:sp>
            <p:nvSpPr>
              <p:cNvPr id="2867" name="Google Shape;2867;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868" name="Google Shape;2868;p43"/>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2869" name="Google Shape;2869;p43"/>
            <p:cNvGrpSpPr/>
            <p:nvPr/>
          </p:nvGrpSpPr>
          <p:grpSpPr>
            <a:xfrm>
              <a:off x="10248853" y="2969571"/>
              <a:ext cx="577241" cy="338554"/>
              <a:chOff x="9678159" y="981583"/>
              <a:chExt cx="577241" cy="338554"/>
            </a:xfrm>
          </p:grpSpPr>
          <p:sp>
            <p:nvSpPr>
              <p:cNvPr id="2870" name="Google Shape;2870;p43"/>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1" name="Google Shape;2871;p43"/>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872" name="Google Shape;2872;p43"/>
            <p:cNvGrpSpPr/>
            <p:nvPr/>
          </p:nvGrpSpPr>
          <p:grpSpPr>
            <a:xfrm>
              <a:off x="11287371" y="2364366"/>
              <a:ext cx="230514" cy="466725"/>
              <a:chOff x="4140" y="429"/>
              <a:chExt cx="1425" cy="2396"/>
            </a:xfrm>
          </p:grpSpPr>
          <p:sp>
            <p:nvSpPr>
              <p:cNvPr id="2873" name="Google Shape;2873;p4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4" name="Google Shape;2874;p4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5" name="Google Shape;2875;p4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6" name="Google Shape;2876;p4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7" name="Google Shape;2877;p4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78" name="Google Shape;2878;p43"/>
              <p:cNvGrpSpPr/>
              <p:nvPr/>
            </p:nvGrpSpPr>
            <p:grpSpPr>
              <a:xfrm>
                <a:off x="4751" y="667"/>
                <a:ext cx="580" cy="146"/>
                <a:chOff x="617" y="2567"/>
                <a:chExt cx="724" cy="140"/>
              </a:xfrm>
            </p:grpSpPr>
            <p:sp>
              <p:nvSpPr>
                <p:cNvPr id="2879" name="Google Shape;2879;p4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0" name="Google Shape;2880;p4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81" name="Google Shape;2881;p4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82" name="Google Shape;2882;p43"/>
              <p:cNvGrpSpPr/>
              <p:nvPr/>
            </p:nvGrpSpPr>
            <p:grpSpPr>
              <a:xfrm>
                <a:off x="4745" y="996"/>
                <a:ext cx="580" cy="156"/>
                <a:chOff x="612" y="2570"/>
                <a:chExt cx="724" cy="162"/>
              </a:xfrm>
            </p:grpSpPr>
            <p:sp>
              <p:nvSpPr>
                <p:cNvPr id="2883" name="Google Shape;2883;p4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4" name="Google Shape;2884;p4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85" name="Google Shape;2885;p4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6" name="Google Shape;2886;p4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87" name="Google Shape;2887;p43"/>
              <p:cNvGrpSpPr/>
              <p:nvPr/>
            </p:nvGrpSpPr>
            <p:grpSpPr>
              <a:xfrm>
                <a:off x="4733" y="1627"/>
                <a:ext cx="586" cy="151"/>
                <a:chOff x="611" y="2568"/>
                <a:chExt cx="730" cy="139"/>
              </a:xfrm>
            </p:grpSpPr>
            <p:sp>
              <p:nvSpPr>
                <p:cNvPr id="2888" name="Google Shape;2888;p4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89" name="Google Shape;2889;p4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90" name="Google Shape;2890;p4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91" name="Google Shape;2891;p43"/>
              <p:cNvGrpSpPr/>
              <p:nvPr/>
            </p:nvGrpSpPr>
            <p:grpSpPr>
              <a:xfrm>
                <a:off x="4739" y="1325"/>
                <a:ext cx="580" cy="140"/>
                <a:chOff x="614" y="2566"/>
                <a:chExt cx="723" cy="140"/>
              </a:xfrm>
            </p:grpSpPr>
            <p:sp>
              <p:nvSpPr>
                <p:cNvPr id="2892" name="Google Shape;2892;p4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3" name="Google Shape;2893;p4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894" name="Google Shape;2894;p4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5" name="Google Shape;2895;p4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6" name="Google Shape;2896;p4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7" name="Google Shape;2897;p4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8" name="Google Shape;2898;p4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99" name="Google Shape;2899;p4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0" name="Google Shape;2900;p4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1" name="Google Shape;2901;p4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2" name="Google Shape;2902;p4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903" name="Google Shape;2903;p4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4" name="Google Shape;2904;p4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2905" name="Google Shape;2905;p43"/>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2906" name="Google Shape;2906;p43"/>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907" name="Google Shape;2907;p43"/>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2908" name="Google Shape;2908;p43"/>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2909" name="Google Shape;2909;p43"/>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2910" name="Google Shape;2910;p43"/>
            <p:cNvGrpSpPr/>
            <p:nvPr/>
          </p:nvGrpSpPr>
          <p:grpSpPr>
            <a:xfrm>
              <a:off x="6573835" y="5301907"/>
              <a:ext cx="5250830" cy="481581"/>
              <a:chOff x="6737055" y="3471301"/>
              <a:chExt cx="5250830" cy="481581"/>
            </a:xfrm>
          </p:grpSpPr>
          <p:grpSp>
            <p:nvGrpSpPr>
              <p:cNvPr id="2911" name="Google Shape;2911;p43"/>
              <p:cNvGrpSpPr/>
              <p:nvPr/>
            </p:nvGrpSpPr>
            <p:grpSpPr>
              <a:xfrm>
                <a:off x="8324240" y="3583550"/>
                <a:ext cx="2044628" cy="369332"/>
                <a:chOff x="7504363" y="3155701"/>
                <a:chExt cx="2044628" cy="369332"/>
              </a:xfrm>
            </p:grpSpPr>
            <p:grpSp>
              <p:nvGrpSpPr>
                <p:cNvPr id="2912" name="Google Shape;2912;p43"/>
                <p:cNvGrpSpPr/>
                <p:nvPr/>
              </p:nvGrpSpPr>
              <p:grpSpPr>
                <a:xfrm>
                  <a:off x="7504363" y="3183676"/>
                  <a:ext cx="2003932" cy="306163"/>
                  <a:chOff x="1616358" y="2551230"/>
                  <a:chExt cx="2141698" cy="218510"/>
                </a:xfrm>
              </p:grpSpPr>
              <p:sp>
                <p:nvSpPr>
                  <p:cNvPr id="2913" name="Google Shape;2913;p43"/>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4" name="Google Shape;2914;p43"/>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5" name="Google Shape;2915;p43"/>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6" name="Google Shape;2916;p43"/>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917" name="Google Shape;2917;p43"/>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2918" name="Google Shape;2918;p43"/>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2919" name="Google Shape;2919;p43"/>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2920" name="Google Shape;2920;p43"/>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2921" name="Google Shape;2921;p43"/>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2922" name="Google Shape;2922;p43"/>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2923" name="Google Shape;2923;p43"/>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2924" name="Google Shape;2924;p43"/>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2925" name="Google Shape;2925;p43"/>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2926" name="Google Shape;2926;p43"/>
            <p:cNvGrpSpPr/>
            <p:nvPr/>
          </p:nvGrpSpPr>
          <p:grpSpPr>
            <a:xfrm>
              <a:off x="7535361" y="5023850"/>
              <a:ext cx="632009" cy="632009"/>
              <a:chOff x="7408199" y="4955748"/>
              <a:chExt cx="632009" cy="632009"/>
            </a:xfrm>
          </p:grpSpPr>
          <p:cxnSp>
            <p:nvCxnSpPr>
              <p:cNvPr id="2927" name="Google Shape;2927;p43"/>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2928" name="Google Shape;2928;p43"/>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2929" name="Google Shape;2929;p43"/>
            <p:cNvGrpSpPr/>
            <p:nvPr/>
          </p:nvGrpSpPr>
          <p:grpSpPr>
            <a:xfrm rot="-5400000">
              <a:off x="10248530" y="5019008"/>
              <a:ext cx="632009" cy="632009"/>
              <a:chOff x="7408199" y="4948974"/>
              <a:chExt cx="632009" cy="632009"/>
            </a:xfrm>
          </p:grpSpPr>
          <p:cxnSp>
            <p:nvCxnSpPr>
              <p:cNvPr id="2930" name="Google Shape;2930;p43"/>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2931" name="Google Shape;2931;p43"/>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2932" name="Google Shape;2932;p43"/>
          <p:cNvGrpSpPr/>
          <p:nvPr/>
        </p:nvGrpSpPr>
        <p:grpSpPr>
          <a:xfrm>
            <a:off x="238849" y="1911780"/>
            <a:ext cx="5147343" cy="2073847"/>
            <a:chOff x="737513" y="2398718"/>
            <a:chExt cx="5595549" cy="2073847"/>
          </a:xfrm>
        </p:grpSpPr>
        <p:sp>
          <p:nvSpPr>
            <p:cNvPr id="2933" name="Google Shape;2933;p43"/>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934" name="Google Shape;2934;p43"/>
            <p:cNvGrpSpPr/>
            <p:nvPr/>
          </p:nvGrpSpPr>
          <p:grpSpPr>
            <a:xfrm>
              <a:off x="1442223" y="2551892"/>
              <a:ext cx="1245036" cy="593992"/>
              <a:chOff x="9852456" y="608434"/>
              <a:chExt cx="1245036" cy="593992"/>
            </a:xfrm>
          </p:grpSpPr>
          <p:sp>
            <p:nvSpPr>
              <p:cNvPr id="2935" name="Google Shape;2935;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936" name="Google Shape;2936;p43"/>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2937" name="Google Shape;2937;p43"/>
            <p:cNvGrpSpPr/>
            <p:nvPr/>
          </p:nvGrpSpPr>
          <p:grpSpPr>
            <a:xfrm>
              <a:off x="2038693" y="3003923"/>
              <a:ext cx="577241" cy="307777"/>
              <a:chOff x="9950444" y="999755"/>
              <a:chExt cx="577241" cy="307777"/>
            </a:xfrm>
          </p:grpSpPr>
          <p:sp>
            <p:nvSpPr>
              <p:cNvPr id="2938" name="Google Shape;2938;p43"/>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39" name="Google Shape;2939;p43"/>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940" name="Google Shape;2940;p43"/>
            <p:cNvGrpSpPr/>
            <p:nvPr/>
          </p:nvGrpSpPr>
          <p:grpSpPr>
            <a:xfrm>
              <a:off x="1175476" y="2432423"/>
              <a:ext cx="545509" cy="512284"/>
              <a:chOff x="-44" y="1473"/>
              <a:chExt cx="981" cy="1105"/>
            </a:xfrm>
          </p:grpSpPr>
          <p:pic>
            <p:nvPicPr>
              <p:cNvPr descr="desktop_computer_stylized_medium" id="2941" name="Google Shape;2941;p4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42" name="Google Shape;2942;p4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943" name="Google Shape;2943;p43"/>
            <p:cNvGrpSpPr/>
            <p:nvPr/>
          </p:nvGrpSpPr>
          <p:grpSpPr>
            <a:xfrm>
              <a:off x="4756576" y="2530702"/>
              <a:ext cx="1245036" cy="593992"/>
              <a:chOff x="9852456" y="608434"/>
              <a:chExt cx="1245036" cy="593992"/>
            </a:xfrm>
          </p:grpSpPr>
          <p:sp>
            <p:nvSpPr>
              <p:cNvPr id="2944" name="Google Shape;2944;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945" name="Google Shape;2945;p43"/>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2946" name="Google Shape;2946;p43"/>
            <p:cNvGrpSpPr/>
            <p:nvPr/>
          </p:nvGrpSpPr>
          <p:grpSpPr>
            <a:xfrm>
              <a:off x="4815705" y="3003923"/>
              <a:ext cx="577241" cy="307777"/>
              <a:chOff x="9678159" y="981583"/>
              <a:chExt cx="577241" cy="307777"/>
            </a:xfrm>
          </p:grpSpPr>
          <p:sp>
            <p:nvSpPr>
              <p:cNvPr id="2947" name="Google Shape;2947;p43"/>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48" name="Google Shape;2948;p43"/>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949" name="Google Shape;2949;p43"/>
            <p:cNvGrpSpPr/>
            <p:nvPr/>
          </p:nvGrpSpPr>
          <p:grpSpPr>
            <a:xfrm>
              <a:off x="5854223" y="2398718"/>
              <a:ext cx="230514" cy="466725"/>
              <a:chOff x="4140" y="429"/>
              <a:chExt cx="1425" cy="2396"/>
            </a:xfrm>
          </p:grpSpPr>
          <p:sp>
            <p:nvSpPr>
              <p:cNvPr id="2950" name="Google Shape;2950;p4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1" name="Google Shape;2951;p4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2" name="Google Shape;2952;p4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3" name="Google Shape;2953;p4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4" name="Google Shape;2954;p4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55" name="Google Shape;2955;p43"/>
              <p:cNvGrpSpPr/>
              <p:nvPr/>
            </p:nvGrpSpPr>
            <p:grpSpPr>
              <a:xfrm>
                <a:off x="4751" y="667"/>
                <a:ext cx="580" cy="146"/>
                <a:chOff x="617" y="2567"/>
                <a:chExt cx="724" cy="140"/>
              </a:xfrm>
            </p:grpSpPr>
            <p:sp>
              <p:nvSpPr>
                <p:cNvPr id="2956" name="Google Shape;2956;p4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57" name="Google Shape;2957;p4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58" name="Google Shape;2958;p4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59" name="Google Shape;2959;p43"/>
              <p:cNvGrpSpPr/>
              <p:nvPr/>
            </p:nvGrpSpPr>
            <p:grpSpPr>
              <a:xfrm>
                <a:off x="4745" y="996"/>
                <a:ext cx="580" cy="156"/>
                <a:chOff x="612" y="2570"/>
                <a:chExt cx="724" cy="162"/>
              </a:xfrm>
            </p:grpSpPr>
            <p:sp>
              <p:nvSpPr>
                <p:cNvPr id="2960" name="Google Shape;2960;p4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1" name="Google Shape;2961;p4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62" name="Google Shape;2962;p4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3" name="Google Shape;2963;p4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64" name="Google Shape;2964;p43"/>
              <p:cNvGrpSpPr/>
              <p:nvPr/>
            </p:nvGrpSpPr>
            <p:grpSpPr>
              <a:xfrm>
                <a:off x="4733" y="1627"/>
                <a:ext cx="586" cy="151"/>
                <a:chOff x="611" y="2568"/>
                <a:chExt cx="730" cy="139"/>
              </a:xfrm>
            </p:grpSpPr>
            <p:sp>
              <p:nvSpPr>
                <p:cNvPr id="2965" name="Google Shape;2965;p4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6" name="Google Shape;2966;p4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67" name="Google Shape;2967;p4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68" name="Google Shape;2968;p43"/>
              <p:cNvGrpSpPr/>
              <p:nvPr/>
            </p:nvGrpSpPr>
            <p:grpSpPr>
              <a:xfrm>
                <a:off x="4739" y="1325"/>
                <a:ext cx="580" cy="140"/>
                <a:chOff x="614" y="2566"/>
                <a:chExt cx="723" cy="140"/>
              </a:xfrm>
            </p:grpSpPr>
            <p:sp>
              <p:nvSpPr>
                <p:cNvPr id="2969" name="Google Shape;2969;p4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0" name="Google Shape;2970;p4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71" name="Google Shape;2971;p4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2" name="Google Shape;2972;p4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3" name="Google Shape;2973;p4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4" name="Google Shape;2974;p4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5" name="Google Shape;2975;p4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6" name="Google Shape;2976;p4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7" name="Google Shape;2977;p4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8" name="Google Shape;2978;p4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9" name="Google Shape;2979;p4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980" name="Google Shape;2980;p4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1" name="Google Shape;2981;p4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982" name="Google Shape;2982;p43"/>
            <p:cNvGrpSpPr/>
            <p:nvPr/>
          </p:nvGrpSpPr>
          <p:grpSpPr>
            <a:xfrm>
              <a:off x="2669417" y="3423937"/>
              <a:ext cx="2003932" cy="369332"/>
              <a:chOff x="7504363" y="3141846"/>
              <a:chExt cx="2003932" cy="369332"/>
            </a:xfrm>
          </p:grpSpPr>
          <p:grpSp>
            <p:nvGrpSpPr>
              <p:cNvPr id="2983" name="Google Shape;2983;p43"/>
              <p:cNvGrpSpPr/>
              <p:nvPr/>
            </p:nvGrpSpPr>
            <p:grpSpPr>
              <a:xfrm>
                <a:off x="7504363" y="3183676"/>
                <a:ext cx="2003932" cy="306163"/>
                <a:chOff x="1616358" y="2551230"/>
                <a:chExt cx="2141698" cy="218510"/>
              </a:xfrm>
            </p:grpSpPr>
            <p:sp>
              <p:nvSpPr>
                <p:cNvPr id="2984" name="Google Shape;2984;p43"/>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5" name="Google Shape;2985;p43"/>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6" name="Google Shape;2986;p43"/>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7" name="Google Shape;2987;p43"/>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988" name="Google Shape;2988;p43"/>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2989" name="Google Shape;2989;p43"/>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990" name="Google Shape;2990;p43"/>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991" name="Google Shape;2991;p43"/>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992" name="Google Shape;2992;p43"/>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2993" name="Google Shape;2993;p43"/>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2994" name="Google Shape;2994;p43"/>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000000"/>
                  </a:solidFill>
                  <a:latin typeface="Calibri"/>
                  <a:ea typeface="Calibri"/>
                  <a:cs typeface="Calibri"/>
                  <a:sym typeface="Calibri"/>
                </a:rPr>
                <a:t>abstraction</a:t>
              </a:r>
              <a:endParaRPr/>
            </a:p>
          </p:txBody>
        </p:sp>
      </p:grpSp>
      <p:sp>
        <p:nvSpPr>
          <p:cNvPr id="2995" name="Google Shape;2995;p43"/>
          <p:cNvSpPr/>
          <p:nvPr/>
        </p:nvSpPr>
        <p:spPr>
          <a:xfrm>
            <a:off x="295893" y="1816276"/>
            <a:ext cx="5265664" cy="2394608"/>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6" name="Google Shape;2996;p43"/>
          <p:cNvSpPr/>
          <p:nvPr/>
        </p:nvSpPr>
        <p:spPr>
          <a:xfrm>
            <a:off x="5448822" y="3106456"/>
            <a:ext cx="638827" cy="1014608"/>
          </a:xfrm>
          <a:prstGeom prst="rightArrow">
            <a:avLst>
              <a:gd fmla="val 50000" name="adj1"/>
              <a:gd fmla="val 50000" name="adj2"/>
            </a:avLst>
          </a:prstGeom>
          <a:gradFill>
            <a:gsLst>
              <a:gs pos="0">
                <a:srgbClr val="F5F7FC"/>
              </a:gs>
              <a:gs pos="56000">
                <a:srgbClr val="C00000"/>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7" name="Google Shape;2997;p43"/>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8" name="Google Shape;2998;p43"/>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9" name="Google Shape;2999;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96"/>
                                        </p:tgtEl>
                                        <p:attrNameLst>
                                          <p:attrName>style.visibility</p:attrName>
                                        </p:attrNameLst>
                                      </p:cBhvr>
                                      <p:to>
                                        <p:strVal val="visible"/>
                                      </p:to>
                                    </p:set>
                                    <p:animEffect filter="fade" transition="in">
                                      <p:cBhvr>
                                        <p:cTn dur="500"/>
                                        <p:tgtEl>
                                          <p:spTgt spid="29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56"/>
                                        </p:tgtEl>
                                        <p:attrNameLst>
                                          <p:attrName>style.visibility</p:attrName>
                                        </p:attrNameLst>
                                      </p:cBhvr>
                                      <p:to>
                                        <p:strVal val="visible"/>
                                      </p:to>
                                    </p:set>
                                    <p:animEffect filter="fade" transition="in">
                                      <p:cBhvr>
                                        <p:cTn dur="1000"/>
                                        <p:tgtEl>
                                          <p:spTgt spid="2856"/>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2996"/>
                                        </p:tgtEl>
                                      </p:cBhvr>
                                    </p:animEffect>
                                    <p:set>
                                      <p:cBhvr>
                                        <p:cTn dur="1" fill="hold">
                                          <p:stCondLst>
                                            <p:cond delay="500"/>
                                          </p:stCondLst>
                                        </p:cTn>
                                        <p:tgtEl>
                                          <p:spTgt spid="29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7"/>
                                        </p:tgtEl>
                                        <p:attrNameLst>
                                          <p:attrName>style.visibility</p:attrName>
                                        </p:attrNameLst>
                                      </p:cBhvr>
                                      <p:to>
                                        <p:strVal val="visible"/>
                                      </p:to>
                                    </p:set>
                                    <p:animEffect filter="fade" transition="in">
                                      <p:cBhvr>
                                        <p:cTn dur="500"/>
                                        <p:tgtEl>
                                          <p:spTgt spid="2997"/>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2998"/>
                                        </p:tgtEl>
                                        <p:attrNameLst>
                                          <p:attrName>style.visibility</p:attrName>
                                        </p:attrNameLst>
                                      </p:cBhvr>
                                      <p:to>
                                        <p:strVal val="visible"/>
                                      </p:to>
                                    </p:set>
                                    <p:animEffect filter="fade" transition="in">
                                      <p:cBhvr>
                                        <p:cTn dur="500"/>
                                        <p:tgtEl>
                                          <p:spTgt spid="29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4" name="Shape 3004"/>
        <p:cNvGrpSpPr/>
        <p:nvPr/>
      </p:nvGrpSpPr>
      <p:grpSpPr>
        <a:xfrm>
          <a:off x="0" y="0"/>
          <a:ext cx="0" cy="0"/>
          <a:chOff x="0" y="0"/>
          <a:chExt cx="0" cy="0"/>
        </a:xfrm>
      </p:grpSpPr>
      <p:sp>
        <p:nvSpPr>
          <p:cNvPr id="3005" name="Google Shape;3005;p4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3006" name="Google Shape;3006;p44"/>
          <p:cNvGrpSpPr/>
          <p:nvPr/>
        </p:nvGrpSpPr>
        <p:grpSpPr>
          <a:xfrm>
            <a:off x="6226081" y="1900904"/>
            <a:ext cx="5598584" cy="4095684"/>
            <a:chOff x="6226081" y="2364366"/>
            <a:chExt cx="5598584" cy="4095684"/>
          </a:xfrm>
        </p:grpSpPr>
        <p:grpSp>
          <p:nvGrpSpPr>
            <p:cNvPr id="3007" name="Google Shape;3007;p44"/>
            <p:cNvGrpSpPr/>
            <p:nvPr/>
          </p:nvGrpSpPr>
          <p:grpSpPr>
            <a:xfrm>
              <a:off x="6944646" y="2545250"/>
              <a:ext cx="1245036" cy="593992"/>
              <a:chOff x="9852456" y="608434"/>
              <a:chExt cx="1245036" cy="593992"/>
            </a:xfrm>
          </p:grpSpPr>
          <p:sp>
            <p:nvSpPr>
              <p:cNvPr id="3008" name="Google Shape;3008;p44"/>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09" name="Google Shape;3009;p44"/>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010" name="Google Shape;3010;p44"/>
            <p:cNvGrpSpPr/>
            <p:nvPr/>
          </p:nvGrpSpPr>
          <p:grpSpPr>
            <a:xfrm>
              <a:off x="7541116" y="2997281"/>
              <a:ext cx="577241" cy="338554"/>
              <a:chOff x="9950444" y="999755"/>
              <a:chExt cx="577241" cy="338554"/>
            </a:xfrm>
          </p:grpSpPr>
          <p:sp>
            <p:nvSpPr>
              <p:cNvPr id="3011" name="Google Shape;3011;p44"/>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12" name="Google Shape;3012;p44"/>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13" name="Google Shape;3013;p44"/>
            <p:cNvGrpSpPr/>
            <p:nvPr/>
          </p:nvGrpSpPr>
          <p:grpSpPr>
            <a:xfrm>
              <a:off x="6677899" y="2425781"/>
              <a:ext cx="545509" cy="512284"/>
              <a:chOff x="-44" y="1473"/>
              <a:chExt cx="981" cy="1105"/>
            </a:xfrm>
          </p:grpSpPr>
          <p:pic>
            <p:nvPicPr>
              <p:cNvPr descr="desktop_computer_stylized_medium" id="3014" name="Google Shape;3014;p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15" name="Google Shape;3015;p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016" name="Google Shape;3016;p44"/>
            <p:cNvGrpSpPr/>
            <p:nvPr/>
          </p:nvGrpSpPr>
          <p:grpSpPr>
            <a:xfrm>
              <a:off x="10189724" y="2496350"/>
              <a:ext cx="1245036" cy="593992"/>
              <a:chOff x="9852456" y="608434"/>
              <a:chExt cx="1245036" cy="593992"/>
            </a:xfrm>
          </p:grpSpPr>
          <p:sp>
            <p:nvSpPr>
              <p:cNvPr id="3017" name="Google Shape;3017;p44"/>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18" name="Google Shape;3018;p44"/>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019" name="Google Shape;3019;p44"/>
            <p:cNvGrpSpPr/>
            <p:nvPr/>
          </p:nvGrpSpPr>
          <p:grpSpPr>
            <a:xfrm>
              <a:off x="10248853" y="2969571"/>
              <a:ext cx="577241" cy="338554"/>
              <a:chOff x="9678159" y="981583"/>
              <a:chExt cx="577241" cy="338554"/>
            </a:xfrm>
          </p:grpSpPr>
          <p:sp>
            <p:nvSpPr>
              <p:cNvPr id="3020" name="Google Shape;3020;p44"/>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1" name="Google Shape;3021;p44"/>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22" name="Google Shape;3022;p44"/>
            <p:cNvGrpSpPr/>
            <p:nvPr/>
          </p:nvGrpSpPr>
          <p:grpSpPr>
            <a:xfrm>
              <a:off x="11287371" y="2364366"/>
              <a:ext cx="230514" cy="466725"/>
              <a:chOff x="4140" y="429"/>
              <a:chExt cx="1425" cy="2396"/>
            </a:xfrm>
          </p:grpSpPr>
          <p:sp>
            <p:nvSpPr>
              <p:cNvPr id="3023" name="Google Shape;3023;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4" name="Google Shape;3024;p4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5" name="Google Shape;3025;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6" name="Google Shape;3026;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27" name="Google Shape;3027;p4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28" name="Google Shape;3028;p44"/>
              <p:cNvGrpSpPr/>
              <p:nvPr/>
            </p:nvGrpSpPr>
            <p:grpSpPr>
              <a:xfrm>
                <a:off x="4751" y="667"/>
                <a:ext cx="580" cy="146"/>
                <a:chOff x="617" y="2567"/>
                <a:chExt cx="724" cy="140"/>
              </a:xfrm>
            </p:grpSpPr>
            <p:sp>
              <p:nvSpPr>
                <p:cNvPr id="3029" name="Google Shape;3029;p4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0" name="Google Shape;3030;p4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31" name="Google Shape;3031;p4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32" name="Google Shape;3032;p44"/>
              <p:cNvGrpSpPr/>
              <p:nvPr/>
            </p:nvGrpSpPr>
            <p:grpSpPr>
              <a:xfrm>
                <a:off x="4745" y="996"/>
                <a:ext cx="580" cy="156"/>
                <a:chOff x="612" y="2570"/>
                <a:chExt cx="724" cy="162"/>
              </a:xfrm>
            </p:grpSpPr>
            <p:sp>
              <p:nvSpPr>
                <p:cNvPr id="3033" name="Google Shape;3033;p4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4" name="Google Shape;3034;p4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35" name="Google Shape;3035;p4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6" name="Google Shape;3036;p4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37" name="Google Shape;3037;p44"/>
              <p:cNvGrpSpPr/>
              <p:nvPr/>
            </p:nvGrpSpPr>
            <p:grpSpPr>
              <a:xfrm>
                <a:off x="4733" y="1627"/>
                <a:ext cx="586" cy="151"/>
                <a:chOff x="611" y="2568"/>
                <a:chExt cx="730" cy="139"/>
              </a:xfrm>
            </p:grpSpPr>
            <p:sp>
              <p:nvSpPr>
                <p:cNvPr id="3038" name="Google Shape;3038;p4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9" name="Google Shape;3039;p4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0" name="Google Shape;3040;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41" name="Google Shape;3041;p44"/>
              <p:cNvGrpSpPr/>
              <p:nvPr/>
            </p:nvGrpSpPr>
            <p:grpSpPr>
              <a:xfrm>
                <a:off x="4739" y="1325"/>
                <a:ext cx="580" cy="140"/>
                <a:chOff x="614" y="2566"/>
                <a:chExt cx="723" cy="140"/>
              </a:xfrm>
            </p:grpSpPr>
            <p:sp>
              <p:nvSpPr>
                <p:cNvPr id="3042" name="Google Shape;3042;p4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3" name="Google Shape;3043;p4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4" name="Google Shape;3044;p4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5" name="Google Shape;3045;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6" name="Google Shape;3046;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7" name="Google Shape;3047;p4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8" name="Google Shape;3048;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9" name="Google Shape;3049;p4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0" name="Google Shape;3050;p4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1" name="Google Shape;3051;p4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2" name="Google Shape;3052;p4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053" name="Google Shape;3053;p4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4" name="Google Shape;3054;p4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055" name="Google Shape;3055;p44"/>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056" name="Google Shape;3056;p44"/>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057" name="Google Shape;3057;p44"/>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058" name="Google Shape;3058;p44"/>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059" name="Google Shape;3059;p44"/>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060" name="Google Shape;3060;p44"/>
            <p:cNvGrpSpPr/>
            <p:nvPr/>
          </p:nvGrpSpPr>
          <p:grpSpPr>
            <a:xfrm>
              <a:off x="6573835" y="5301907"/>
              <a:ext cx="5250830" cy="481581"/>
              <a:chOff x="6737055" y="3471301"/>
              <a:chExt cx="5250830" cy="481581"/>
            </a:xfrm>
          </p:grpSpPr>
          <p:grpSp>
            <p:nvGrpSpPr>
              <p:cNvPr id="3061" name="Google Shape;3061;p44"/>
              <p:cNvGrpSpPr/>
              <p:nvPr/>
            </p:nvGrpSpPr>
            <p:grpSpPr>
              <a:xfrm>
                <a:off x="8324240" y="3583550"/>
                <a:ext cx="2044628" cy="369332"/>
                <a:chOff x="7504363" y="3155701"/>
                <a:chExt cx="2044628" cy="369332"/>
              </a:xfrm>
            </p:grpSpPr>
            <p:grpSp>
              <p:nvGrpSpPr>
                <p:cNvPr id="3062" name="Google Shape;3062;p44"/>
                <p:cNvGrpSpPr/>
                <p:nvPr/>
              </p:nvGrpSpPr>
              <p:grpSpPr>
                <a:xfrm>
                  <a:off x="7504363" y="3183676"/>
                  <a:ext cx="2003932" cy="306163"/>
                  <a:chOff x="1616358" y="2551230"/>
                  <a:chExt cx="2141698" cy="218510"/>
                </a:xfrm>
              </p:grpSpPr>
              <p:sp>
                <p:nvSpPr>
                  <p:cNvPr id="3063" name="Google Shape;3063;p44"/>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4" name="Google Shape;3064;p44"/>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5" name="Google Shape;3065;p44"/>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6" name="Google Shape;3066;p44"/>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067" name="Google Shape;3067;p44"/>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068" name="Google Shape;3068;p44"/>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069" name="Google Shape;3069;p44"/>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070" name="Google Shape;3070;p44"/>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071" name="Google Shape;3071;p44"/>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072" name="Google Shape;3072;p44"/>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073" name="Google Shape;3073;p44"/>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074" name="Google Shape;3074;p44"/>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075" name="Google Shape;3075;p44"/>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076" name="Google Shape;3076;p44"/>
            <p:cNvGrpSpPr/>
            <p:nvPr/>
          </p:nvGrpSpPr>
          <p:grpSpPr>
            <a:xfrm>
              <a:off x="7535361" y="5023850"/>
              <a:ext cx="632009" cy="632009"/>
              <a:chOff x="7408199" y="4955748"/>
              <a:chExt cx="632009" cy="632009"/>
            </a:xfrm>
          </p:grpSpPr>
          <p:cxnSp>
            <p:nvCxnSpPr>
              <p:cNvPr id="3077" name="Google Shape;3077;p44"/>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078" name="Google Shape;3078;p44"/>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079" name="Google Shape;3079;p44"/>
            <p:cNvGrpSpPr/>
            <p:nvPr/>
          </p:nvGrpSpPr>
          <p:grpSpPr>
            <a:xfrm rot="-5400000">
              <a:off x="10248530" y="5019008"/>
              <a:ext cx="632009" cy="632009"/>
              <a:chOff x="7408199" y="4948974"/>
              <a:chExt cx="632009" cy="632009"/>
            </a:xfrm>
          </p:grpSpPr>
          <p:cxnSp>
            <p:nvCxnSpPr>
              <p:cNvPr id="3080" name="Google Shape;3080;p44"/>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081" name="Google Shape;3081;p44"/>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082" name="Google Shape;3082;p44"/>
          <p:cNvGrpSpPr/>
          <p:nvPr/>
        </p:nvGrpSpPr>
        <p:grpSpPr>
          <a:xfrm>
            <a:off x="995688" y="3550466"/>
            <a:ext cx="9016751" cy="2246769"/>
            <a:chOff x="995688" y="4013928"/>
            <a:chExt cx="9016751" cy="2246769"/>
          </a:xfrm>
        </p:grpSpPr>
        <p:sp>
          <p:nvSpPr>
            <p:cNvPr id="3083" name="Google Shape;3083;p44"/>
            <p:cNvSpPr txBox="1"/>
            <p:nvPr/>
          </p:nvSpPr>
          <p:spPr>
            <a:xfrm>
              <a:off x="995688" y="4013928"/>
              <a:ext cx="4815357" cy="224676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Complexity of reliable data transfer protocol  will depend (strongly) on characteristics of unreliable channel (lose, corrupt, reorder data?)</a:t>
              </a:r>
              <a:endParaRPr/>
            </a:p>
          </p:txBody>
        </p:sp>
        <p:cxnSp>
          <p:nvCxnSpPr>
            <p:cNvPr id="3084" name="Google Shape;3084;p44"/>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085" name="Google Shape;3085;p44"/>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086" name="Google Shape;3086;p44"/>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87" name="Google Shape;3087;p44"/>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88" name="Google Shape;3088;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2"/>
                                        </p:tgtEl>
                                        <p:attrNameLst>
                                          <p:attrName>style.visibility</p:attrName>
                                        </p:attrNameLst>
                                      </p:cBhvr>
                                      <p:to>
                                        <p:strVal val="visible"/>
                                      </p:to>
                                    </p:set>
                                    <p:animEffect filter="fade" transition="in">
                                      <p:cBhvr>
                                        <p:cTn dur="1000"/>
                                        <p:tgtEl>
                                          <p:spTgt spid="30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3" name="Shape 3093"/>
        <p:cNvGrpSpPr/>
        <p:nvPr/>
      </p:nvGrpSpPr>
      <p:grpSpPr>
        <a:xfrm>
          <a:off x="0" y="0"/>
          <a:ext cx="0" cy="0"/>
          <a:chOff x="0" y="0"/>
          <a:chExt cx="0" cy="0"/>
        </a:xfrm>
      </p:grpSpPr>
      <p:sp>
        <p:nvSpPr>
          <p:cNvPr id="3094" name="Google Shape;3094;p4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3095" name="Google Shape;3095;p45"/>
          <p:cNvGrpSpPr/>
          <p:nvPr/>
        </p:nvGrpSpPr>
        <p:grpSpPr>
          <a:xfrm>
            <a:off x="6226081" y="1900904"/>
            <a:ext cx="5598584" cy="4095684"/>
            <a:chOff x="6226081" y="2364366"/>
            <a:chExt cx="5598584" cy="4095684"/>
          </a:xfrm>
        </p:grpSpPr>
        <p:grpSp>
          <p:nvGrpSpPr>
            <p:cNvPr id="3096" name="Google Shape;3096;p45"/>
            <p:cNvGrpSpPr/>
            <p:nvPr/>
          </p:nvGrpSpPr>
          <p:grpSpPr>
            <a:xfrm>
              <a:off x="6944646" y="2545250"/>
              <a:ext cx="1245036" cy="593992"/>
              <a:chOff x="9852456" y="608434"/>
              <a:chExt cx="1245036" cy="593992"/>
            </a:xfrm>
          </p:grpSpPr>
          <p:sp>
            <p:nvSpPr>
              <p:cNvPr id="3097" name="Google Shape;3097;p45"/>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98" name="Google Shape;3098;p45"/>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099" name="Google Shape;3099;p45"/>
            <p:cNvGrpSpPr/>
            <p:nvPr/>
          </p:nvGrpSpPr>
          <p:grpSpPr>
            <a:xfrm>
              <a:off x="7541116" y="2997281"/>
              <a:ext cx="577241" cy="338554"/>
              <a:chOff x="9950444" y="999755"/>
              <a:chExt cx="577241" cy="338554"/>
            </a:xfrm>
          </p:grpSpPr>
          <p:sp>
            <p:nvSpPr>
              <p:cNvPr id="3100" name="Google Shape;3100;p45"/>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1" name="Google Shape;3101;p45"/>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02" name="Google Shape;3102;p45"/>
            <p:cNvGrpSpPr/>
            <p:nvPr/>
          </p:nvGrpSpPr>
          <p:grpSpPr>
            <a:xfrm>
              <a:off x="6677899" y="2425781"/>
              <a:ext cx="545509" cy="512284"/>
              <a:chOff x="-44" y="1473"/>
              <a:chExt cx="981" cy="1105"/>
            </a:xfrm>
          </p:grpSpPr>
          <p:pic>
            <p:nvPicPr>
              <p:cNvPr descr="desktop_computer_stylized_medium" id="3103" name="Google Shape;3103;p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04" name="Google Shape;3104;p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05" name="Google Shape;3105;p45"/>
            <p:cNvGrpSpPr/>
            <p:nvPr/>
          </p:nvGrpSpPr>
          <p:grpSpPr>
            <a:xfrm>
              <a:off x="10189724" y="2496350"/>
              <a:ext cx="1245036" cy="593992"/>
              <a:chOff x="9852456" y="608434"/>
              <a:chExt cx="1245036" cy="593992"/>
            </a:xfrm>
          </p:grpSpPr>
          <p:sp>
            <p:nvSpPr>
              <p:cNvPr id="3106" name="Google Shape;3106;p45"/>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07" name="Google Shape;3107;p45"/>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108" name="Google Shape;3108;p45"/>
            <p:cNvGrpSpPr/>
            <p:nvPr/>
          </p:nvGrpSpPr>
          <p:grpSpPr>
            <a:xfrm>
              <a:off x="10248853" y="2969571"/>
              <a:ext cx="577241" cy="338554"/>
              <a:chOff x="9678159" y="981583"/>
              <a:chExt cx="577241" cy="338554"/>
            </a:xfrm>
          </p:grpSpPr>
          <p:sp>
            <p:nvSpPr>
              <p:cNvPr id="3109" name="Google Shape;3109;p45"/>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10" name="Google Shape;3110;p45"/>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11" name="Google Shape;3111;p45"/>
            <p:cNvGrpSpPr/>
            <p:nvPr/>
          </p:nvGrpSpPr>
          <p:grpSpPr>
            <a:xfrm>
              <a:off x="11287371" y="2364366"/>
              <a:ext cx="230514" cy="466725"/>
              <a:chOff x="4140" y="429"/>
              <a:chExt cx="1425" cy="2396"/>
            </a:xfrm>
          </p:grpSpPr>
          <p:sp>
            <p:nvSpPr>
              <p:cNvPr id="3112" name="Google Shape;3112;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3" name="Google Shape;3113;p45"/>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4" name="Google Shape;3114;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5" name="Google Shape;3115;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6" name="Google Shape;3116;p45"/>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17" name="Google Shape;3117;p45"/>
              <p:cNvGrpSpPr/>
              <p:nvPr/>
            </p:nvGrpSpPr>
            <p:grpSpPr>
              <a:xfrm>
                <a:off x="4751" y="667"/>
                <a:ext cx="580" cy="146"/>
                <a:chOff x="617" y="2567"/>
                <a:chExt cx="724" cy="140"/>
              </a:xfrm>
            </p:grpSpPr>
            <p:sp>
              <p:nvSpPr>
                <p:cNvPr id="3118" name="Google Shape;3118;p45"/>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9" name="Google Shape;3119;p45"/>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0" name="Google Shape;3120;p45"/>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21" name="Google Shape;3121;p45"/>
              <p:cNvGrpSpPr/>
              <p:nvPr/>
            </p:nvGrpSpPr>
            <p:grpSpPr>
              <a:xfrm>
                <a:off x="4745" y="996"/>
                <a:ext cx="580" cy="156"/>
                <a:chOff x="612" y="2570"/>
                <a:chExt cx="724" cy="162"/>
              </a:xfrm>
            </p:grpSpPr>
            <p:sp>
              <p:nvSpPr>
                <p:cNvPr id="3122" name="Google Shape;3122;p45"/>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3" name="Google Shape;3123;p45"/>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4" name="Google Shape;3124;p45"/>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5" name="Google Shape;3125;p45"/>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26" name="Google Shape;3126;p45"/>
              <p:cNvGrpSpPr/>
              <p:nvPr/>
            </p:nvGrpSpPr>
            <p:grpSpPr>
              <a:xfrm>
                <a:off x="4733" y="1627"/>
                <a:ext cx="586" cy="151"/>
                <a:chOff x="611" y="2568"/>
                <a:chExt cx="730" cy="139"/>
              </a:xfrm>
            </p:grpSpPr>
            <p:sp>
              <p:nvSpPr>
                <p:cNvPr id="3127" name="Google Shape;3127;p45"/>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8" name="Google Shape;3128;p45"/>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9" name="Google Shape;3129;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30" name="Google Shape;3130;p45"/>
              <p:cNvGrpSpPr/>
              <p:nvPr/>
            </p:nvGrpSpPr>
            <p:grpSpPr>
              <a:xfrm>
                <a:off x="4739" y="1325"/>
                <a:ext cx="580" cy="140"/>
                <a:chOff x="614" y="2566"/>
                <a:chExt cx="723" cy="140"/>
              </a:xfrm>
            </p:grpSpPr>
            <p:sp>
              <p:nvSpPr>
                <p:cNvPr id="3131" name="Google Shape;3131;p45"/>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2" name="Google Shape;3132;p45"/>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33" name="Google Shape;3133;p45"/>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4" name="Google Shape;3134;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5" name="Google Shape;3135;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6" name="Google Shape;3136;p45"/>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7" name="Google Shape;3137;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8" name="Google Shape;3138;p45"/>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9" name="Google Shape;3139;p45"/>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40" name="Google Shape;3140;p45"/>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41" name="Google Shape;3141;p45"/>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142" name="Google Shape;3142;p45"/>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43" name="Google Shape;3143;p45"/>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144" name="Google Shape;3144;p45"/>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145" name="Google Shape;3145;p45"/>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146" name="Google Shape;3146;p45"/>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147" name="Google Shape;3147;p45"/>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148" name="Google Shape;3148;p45"/>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149" name="Google Shape;3149;p45"/>
            <p:cNvGrpSpPr/>
            <p:nvPr/>
          </p:nvGrpSpPr>
          <p:grpSpPr>
            <a:xfrm>
              <a:off x="6573835" y="5301907"/>
              <a:ext cx="5250830" cy="481581"/>
              <a:chOff x="6737055" y="3471301"/>
              <a:chExt cx="5250830" cy="481581"/>
            </a:xfrm>
          </p:grpSpPr>
          <p:grpSp>
            <p:nvGrpSpPr>
              <p:cNvPr id="3150" name="Google Shape;3150;p45"/>
              <p:cNvGrpSpPr/>
              <p:nvPr/>
            </p:nvGrpSpPr>
            <p:grpSpPr>
              <a:xfrm>
                <a:off x="8324240" y="3583550"/>
                <a:ext cx="2044628" cy="369332"/>
                <a:chOff x="7504363" y="3155701"/>
                <a:chExt cx="2044628" cy="369332"/>
              </a:xfrm>
            </p:grpSpPr>
            <p:grpSp>
              <p:nvGrpSpPr>
                <p:cNvPr id="3151" name="Google Shape;3151;p45"/>
                <p:cNvGrpSpPr/>
                <p:nvPr/>
              </p:nvGrpSpPr>
              <p:grpSpPr>
                <a:xfrm>
                  <a:off x="7504363" y="3183676"/>
                  <a:ext cx="2003932" cy="306163"/>
                  <a:chOff x="1616358" y="2551230"/>
                  <a:chExt cx="2141698" cy="218510"/>
                </a:xfrm>
              </p:grpSpPr>
              <p:sp>
                <p:nvSpPr>
                  <p:cNvPr id="3152" name="Google Shape;3152;p45"/>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3" name="Google Shape;3153;p45"/>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4" name="Google Shape;3154;p45"/>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5" name="Google Shape;3155;p45"/>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156" name="Google Shape;3156;p45"/>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157" name="Google Shape;3157;p45"/>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158" name="Google Shape;3158;p45"/>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159" name="Google Shape;3159;p45"/>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160" name="Google Shape;3160;p45"/>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161" name="Google Shape;3161;p45"/>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162" name="Google Shape;3162;p45"/>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163" name="Google Shape;3163;p45"/>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164" name="Google Shape;3164;p45"/>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165" name="Google Shape;3165;p45"/>
            <p:cNvGrpSpPr/>
            <p:nvPr/>
          </p:nvGrpSpPr>
          <p:grpSpPr>
            <a:xfrm>
              <a:off x="7535361" y="5023850"/>
              <a:ext cx="632009" cy="632009"/>
              <a:chOff x="7408199" y="4955748"/>
              <a:chExt cx="632009" cy="632009"/>
            </a:xfrm>
          </p:grpSpPr>
          <p:cxnSp>
            <p:nvCxnSpPr>
              <p:cNvPr id="3166" name="Google Shape;3166;p45"/>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167" name="Google Shape;3167;p45"/>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168" name="Google Shape;3168;p45"/>
            <p:cNvGrpSpPr/>
            <p:nvPr/>
          </p:nvGrpSpPr>
          <p:grpSpPr>
            <a:xfrm rot="-5400000">
              <a:off x="10248530" y="5019008"/>
              <a:ext cx="632009" cy="632009"/>
              <a:chOff x="7408199" y="4948974"/>
              <a:chExt cx="632009" cy="632009"/>
            </a:xfrm>
          </p:grpSpPr>
          <p:cxnSp>
            <p:nvCxnSpPr>
              <p:cNvPr id="3169" name="Google Shape;3169;p45"/>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170" name="Google Shape;3170;p45"/>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171" name="Google Shape;3171;p45"/>
          <p:cNvGrpSpPr/>
          <p:nvPr/>
        </p:nvGrpSpPr>
        <p:grpSpPr>
          <a:xfrm>
            <a:off x="1042183" y="3581463"/>
            <a:ext cx="8970256" cy="2246769"/>
            <a:chOff x="1042183" y="4044925"/>
            <a:chExt cx="8970256" cy="2246769"/>
          </a:xfrm>
        </p:grpSpPr>
        <p:sp>
          <p:nvSpPr>
            <p:cNvPr id="3172" name="Google Shape;3172;p45"/>
            <p:cNvSpPr txBox="1"/>
            <p:nvPr/>
          </p:nvSpPr>
          <p:spPr>
            <a:xfrm>
              <a:off x="1042183" y="4044925"/>
              <a:ext cx="4815357"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 receiver do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the “state” of each other, e.g., was a message received?</a:t>
              </a:r>
              <a:endParaRPr/>
            </a:p>
            <a:p>
              <a:pPr indent="-457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unless communicated via a message</a:t>
              </a:r>
              <a:endParaRPr/>
            </a:p>
          </p:txBody>
        </p:sp>
        <p:cxnSp>
          <p:nvCxnSpPr>
            <p:cNvPr id="3173" name="Google Shape;3173;p45"/>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174" name="Google Shape;3174;p45"/>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175" name="Google Shape;3175;p45"/>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76" name="Google Shape;3176;p45"/>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A shower curtain&#10;&#10;Description automatically generated" id="3177" name="Google Shape;3177;p45"/>
          <p:cNvPicPr preferRelativeResize="0"/>
          <p:nvPr/>
        </p:nvPicPr>
        <p:blipFill rotWithShape="1">
          <a:blip r:embed="rId4">
            <a:alphaModFix/>
          </a:blip>
          <a:srcRect b="0" l="0" r="0" t="0"/>
          <a:stretch/>
        </p:blipFill>
        <p:spPr>
          <a:xfrm>
            <a:off x="8292476" y="1291955"/>
            <a:ext cx="1976012" cy="4393769"/>
          </a:xfrm>
          <a:prstGeom prst="rect">
            <a:avLst/>
          </a:prstGeom>
          <a:noFill/>
          <a:ln>
            <a:noFill/>
          </a:ln>
        </p:spPr>
      </p:pic>
      <p:pic>
        <p:nvPicPr>
          <p:cNvPr descr="A shower curtain&#10;&#10;Description automatically generated" id="3178" name="Google Shape;3178;p45"/>
          <p:cNvPicPr preferRelativeResize="0"/>
          <p:nvPr/>
        </p:nvPicPr>
        <p:blipFill rotWithShape="1">
          <a:blip r:embed="rId4">
            <a:alphaModFix/>
          </a:blip>
          <a:srcRect b="0" l="0" r="0" t="0"/>
          <a:stretch/>
        </p:blipFill>
        <p:spPr>
          <a:xfrm>
            <a:off x="8219289" y="1165171"/>
            <a:ext cx="3972711" cy="4579749"/>
          </a:xfrm>
          <a:prstGeom prst="rect">
            <a:avLst/>
          </a:prstGeom>
          <a:noFill/>
          <a:ln>
            <a:noFill/>
          </a:ln>
        </p:spPr>
      </p:pic>
      <p:sp>
        <p:nvSpPr>
          <p:cNvPr id="3179" name="Google Shape;3179;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71"/>
                                        </p:tgtEl>
                                        <p:attrNameLst>
                                          <p:attrName>style.visibility</p:attrName>
                                        </p:attrNameLst>
                                      </p:cBhvr>
                                      <p:to>
                                        <p:strVal val="visible"/>
                                      </p:to>
                                    </p:set>
                                    <p:animEffect filter="fade" transition="in">
                                      <p:cBhvr>
                                        <p:cTn dur="1000"/>
                                        <p:tgtEl>
                                          <p:spTgt spid="3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7"/>
                                        </p:tgtEl>
                                        <p:attrNameLst>
                                          <p:attrName>style.visibility</p:attrName>
                                        </p:attrNameLst>
                                      </p:cBhvr>
                                      <p:to>
                                        <p:strVal val="visible"/>
                                      </p:to>
                                    </p:set>
                                    <p:animEffect filter="fade" transition="in">
                                      <p:cBhvr>
                                        <p:cTn dur="500"/>
                                        <p:tgtEl>
                                          <p:spTgt spid="3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8"/>
                                        </p:tgtEl>
                                        <p:attrNameLst>
                                          <p:attrName>style.visibility</p:attrName>
                                        </p:attrNameLst>
                                      </p:cBhvr>
                                      <p:to>
                                        <p:strVal val="visible"/>
                                      </p:to>
                                    </p:set>
                                    <p:animEffect filter="fade" transition="in">
                                      <p:cBhvr>
                                        <p:cTn dur="1000"/>
                                        <p:tgtEl>
                                          <p:spTgt spid="3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4" name="Shape 3184"/>
        <p:cNvGrpSpPr/>
        <p:nvPr/>
      </p:nvGrpSpPr>
      <p:grpSpPr>
        <a:xfrm>
          <a:off x="0" y="0"/>
          <a:ext cx="0" cy="0"/>
          <a:chOff x="0" y="0"/>
          <a:chExt cx="0" cy="0"/>
        </a:xfrm>
      </p:grpSpPr>
      <p:sp>
        <p:nvSpPr>
          <p:cNvPr id="3185" name="Google Shape;3185;p4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protocol (rdt): interfaces</a:t>
            </a:r>
            <a:endParaRPr/>
          </a:p>
        </p:txBody>
      </p:sp>
      <p:grpSp>
        <p:nvGrpSpPr>
          <p:cNvPr id="3186" name="Google Shape;3186;p46"/>
          <p:cNvGrpSpPr/>
          <p:nvPr/>
        </p:nvGrpSpPr>
        <p:grpSpPr>
          <a:xfrm>
            <a:off x="2579501" y="2165159"/>
            <a:ext cx="7088417" cy="3419122"/>
            <a:chOff x="2293693" y="1943479"/>
            <a:chExt cx="7088417" cy="3419122"/>
          </a:xfrm>
        </p:grpSpPr>
        <p:grpSp>
          <p:nvGrpSpPr>
            <p:cNvPr id="3187" name="Google Shape;3187;p46"/>
            <p:cNvGrpSpPr/>
            <p:nvPr/>
          </p:nvGrpSpPr>
          <p:grpSpPr>
            <a:xfrm>
              <a:off x="3481010" y="2124363"/>
              <a:ext cx="1245036" cy="593992"/>
              <a:chOff x="9852456" y="608434"/>
              <a:chExt cx="1245036" cy="593992"/>
            </a:xfrm>
          </p:grpSpPr>
          <p:sp>
            <p:nvSpPr>
              <p:cNvPr id="3188" name="Google Shape;3188;p46"/>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89" name="Google Shape;3189;p46"/>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190" name="Google Shape;3190;p46"/>
            <p:cNvGrpSpPr/>
            <p:nvPr/>
          </p:nvGrpSpPr>
          <p:grpSpPr>
            <a:xfrm>
              <a:off x="4077480" y="2576394"/>
              <a:ext cx="577241" cy="338554"/>
              <a:chOff x="9950444" y="999755"/>
              <a:chExt cx="577241" cy="338554"/>
            </a:xfrm>
          </p:grpSpPr>
          <p:sp>
            <p:nvSpPr>
              <p:cNvPr id="3191" name="Google Shape;3191;p46"/>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92" name="Google Shape;3192;p46"/>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93" name="Google Shape;3193;p46"/>
            <p:cNvGrpSpPr/>
            <p:nvPr/>
          </p:nvGrpSpPr>
          <p:grpSpPr>
            <a:xfrm>
              <a:off x="3214263" y="2004894"/>
              <a:ext cx="545509" cy="512284"/>
              <a:chOff x="-44" y="1473"/>
              <a:chExt cx="981" cy="1105"/>
            </a:xfrm>
          </p:grpSpPr>
          <p:pic>
            <p:nvPicPr>
              <p:cNvPr descr="desktop_computer_stylized_medium" id="3194" name="Google Shape;3194;p4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95" name="Google Shape;3195;p4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96" name="Google Shape;3196;p46"/>
            <p:cNvGrpSpPr/>
            <p:nvPr/>
          </p:nvGrpSpPr>
          <p:grpSpPr>
            <a:xfrm>
              <a:off x="6726088" y="2075463"/>
              <a:ext cx="1245036" cy="593992"/>
              <a:chOff x="9852456" y="608434"/>
              <a:chExt cx="1245036" cy="593992"/>
            </a:xfrm>
          </p:grpSpPr>
          <p:sp>
            <p:nvSpPr>
              <p:cNvPr id="3197" name="Google Shape;3197;p46"/>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98" name="Google Shape;3198;p46"/>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199" name="Google Shape;3199;p46"/>
            <p:cNvGrpSpPr/>
            <p:nvPr/>
          </p:nvGrpSpPr>
          <p:grpSpPr>
            <a:xfrm>
              <a:off x="6785217" y="2548684"/>
              <a:ext cx="577241" cy="338554"/>
              <a:chOff x="9678159" y="981583"/>
              <a:chExt cx="577241" cy="338554"/>
            </a:xfrm>
          </p:grpSpPr>
          <p:sp>
            <p:nvSpPr>
              <p:cNvPr id="3200" name="Google Shape;3200;p46"/>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01" name="Google Shape;3201;p46"/>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02" name="Google Shape;3202;p46"/>
            <p:cNvGrpSpPr/>
            <p:nvPr/>
          </p:nvGrpSpPr>
          <p:grpSpPr>
            <a:xfrm>
              <a:off x="7823735" y="1943479"/>
              <a:ext cx="230514" cy="466725"/>
              <a:chOff x="4140" y="429"/>
              <a:chExt cx="1425" cy="2396"/>
            </a:xfrm>
          </p:grpSpPr>
          <p:sp>
            <p:nvSpPr>
              <p:cNvPr id="3203" name="Google Shape;3203;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4" name="Google Shape;3204;p4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5" name="Google Shape;3205;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6" name="Google Shape;3206;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7" name="Google Shape;3207;p4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08" name="Google Shape;3208;p46"/>
              <p:cNvGrpSpPr/>
              <p:nvPr/>
            </p:nvGrpSpPr>
            <p:grpSpPr>
              <a:xfrm>
                <a:off x="4751" y="667"/>
                <a:ext cx="580" cy="146"/>
                <a:chOff x="617" y="2567"/>
                <a:chExt cx="724" cy="140"/>
              </a:xfrm>
            </p:grpSpPr>
            <p:sp>
              <p:nvSpPr>
                <p:cNvPr id="3209" name="Google Shape;3209;p4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0" name="Google Shape;3210;p4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11" name="Google Shape;3211;p4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12" name="Google Shape;3212;p46"/>
              <p:cNvGrpSpPr/>
              <p:nvPr/>
            </p:nvGrpSpPr>
            <p:grpSpPr>
              <a:xfrm>
                <a:off x="4745" y="996"/>
                <a:ext cx="580" cy="156"/>
                <a:chOff x="612" y="2570"/>
                <a:chExt cx="724" cy="162"/>
              </a:xfrm>
            </p:grpSpPr>
            <p:sp>
              <p:nvSpPr>
                <p:cNvPr id="3213" name="Google Shape;3213;p4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4" name="Google Shape;3214;p4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15" name="Google Shape;3215;p4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6" name="Google Shape;3216;p4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17" name="Google Shape;3217;p46"/>
              <p:cNvGrpSpPr/>
              <p:nvPr/>
            </p:nvGrpSpPr>
            <p:grpSpPr>
              <a:xfrm>
                <a:off x="4733" y="1627"/>
                <a:ext cx="586" cy="151"/>
                <a:chOff x="611" y="2568"/>
                <a:chExt cx="730" cy="139"/>
              </a:xfrm>
            </p:grpSpPr>
            <p:sp>
              <p:nvSpPr>
                <p:cNvPr id="3218" name="Google Shape;3218;p4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9" name="Google Shape;3219;p4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20" name="Google Shape;3220;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21" name="Google Shape;3221;p46"/>
              <p:cNvGrpSpPr/>
              <p:nvPr/>
            </p:nvGrpSpPr>
            <p:grpSpPr>
              <a:xfrm>
                <a:off x="4739" y="1325"/>
                <a:ext cx="580" cy="140"/>
                <a:chOff x="614" y="2566"/>
                <a:chExt cx="723" cy="140"/>
              </a:xfrm>
            </p:grpSpPr>
            <p:sp>
              <p:nvSpPr>
                <p:cNvPr id="3222" name="Google Shape;3222;p4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3" name="Google Shape;3223;p4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24" name="Google Shape;3224;p4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5" name="Google Shape;3225;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6" name="Google Shape;3226;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7" name="Google Shape;3227;p4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8" name="Google Shape;3228;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29" name="Google Shape;3229;p4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0" name="Google Shape;3230;p4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1" name="Google Shape;3231;p4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2" name="Google Shape;3232;p4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233" name="Google Shape;3233;p4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34" name="Google Shape;3234;p4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235" name="Google Shape;3235;p46"/>
            <p:cNvCxnSpPr/>
            <p:nvPr/>
          </p:nvCxnSpPr>
          <p:spPr>
            <a:xfrm>
              <a:off x="3121019" y="2898014"/>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36" name="Google Shape;3236;p46"/>
            <p:cNvCxnSpPr/>
            <p:nvPr/>
          </p:nvCxnSpPr>
          <p:spPr>
            <a:xfrm>
              <a:off x="6614663" y="2870304"/>
              <a:ext cx="1687911" cy="0"/>
            </a:xfrm>
            <a:prstGeom prst="straightConnector1">
              <a:avLst/>
            </a:prstGeom>
            <a:noFill/>
            <a:ln cap="flat" cmpd="sng" w="22225">
              <a:solidFill>
                <a:srgbClr val="C00000"/>
              </a:solidFill>
              <a:prstDash val="solid"/>
              <a:miter lim="800000"/>
              <a:headEnd len="sm" w="sm" type="none"/>
              <a:tailEnd len="sm" w="sm" type="none"/>
            </a:ln>
          </p:spPr>
        </p:cxnSp>
        <p:grpSp>
          <p:nvGrpSpPr>
            <p:cNvPr id="3237" name="Google Shape;3237;p46"/>
            <p:cNvGrpSpPr/>
            <p:nvPr/>
          </p:nvGrpSpPr>
          <p:grpSpPr>
            <a:xfrm>
              <a:off x="3110199" y="4881020"/>
              <a:ext cx="5250830" cy="481581"/>
              <a:chOff x="6737055" y="3471301"/>
              <a:chExt cx="5250830" cy="481581"/>
            </a:xfrm>
          </p:grpSpPr>
          <p:grpSp>
            <p:nvGrpSpPr>
              <p:cNvPr id="3238" name="Google Shape;3238;p46"/>
              <p:cNvGrpSpPr/>
              <p:nvPr/>
            </p:nvGrpSpPr>
            <p:grpSpPr>
              <a:xfrm>
                <a:off x="8324240" y="3583550"/>
                <a:ext cx="2044628" cy="369332"/>
                <a:chOff x="7504363" y="3155701"/>
                <a:chExt cx="2044628" cy="369332"/>
              </a:xfrm>
            </p:grpSpPr>
            <p:grpSp>
              <p:nvGrpSpPr>
                <p:cNvPr id="3239" name="Google Shape;3239;p46"/>
                <p:cNvGrpSpPr/>
                <p:nvPr/>
              </p:nvGrpSpPr>
              <p:grpSpPr>
                <a:xfrm>
                  <a:off x="7504363" y="3183676"/>
                  <a:ext cx="2003932" cy="306163"/>
                  <a:chOff x="1616358" y="2551230"/>
                  <a:chExt cx="2141698" cy="218510"/>
                </a:xfrm>
              </p:grpSpPr>
              <p:sp>
                <p:nvSpPr>
                  <p:cNvPr id="3240" name="Google Shape;3240;p46"/>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1" name="Google Shape;3241;p46"/>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2" name="Google Shape;3242;p46"/>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3" name="Google Shape;3243;p46"/>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244" name="Google Shape;3244;p46"/>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245" name="Google Shape;3245;p46"/>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46" name="Google Shape;3246;p46"/>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cxnSp>
          <p:nvCxnSpPr>
            <p:cNvPr id="3247" name="Google Shape;3247;p46"/>
            <p:cNvCxnSpPr/>
            <p:nvPr/>
          </p:nvCxnSpPr>
          <p:spPr>
            <a:xfrm>
              <a:off x="4069352" y="2795325"/>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248" name="Google Shape;3248;p46"/>
            <p:cNvCxnSpPr/>
            <p:nvPr/>
          </p:nvCxnSpPr>
          <p:spPr>
            <a:xfrm rot="10800000">
              <a:off x="7403443" y="2731748"/>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249" name="Google Shape;3249;p46"/>
            <p:cNvSpPr txBox="1"/>
            <p:nvPr/>
          </p:nvSpPr>
          <p:spPr>
            <a:xfrm>
              <a:off x="3042206" y="3300756"/>
              <a:ext cx="2001038"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a:t>
              </a:r>
              <a:r>
                <a:rPr b="0" i="0" lang="en-US" sz="1800" u="none" cap="none" strike="noStrike">
                  <a:solidFill>
                    <a:srgbClr val="000000"/>
                  </a:solidFill>
                  <a:latin typeface="Calibri"/>
                  <a:ea typeface="Calibri"/>
                  <a:cs typeface="Calibri"/>
                  <a:sym typeface="Calibri"/>
                </a:rPr>
                <a:t> reliable data transfer protocol</a:t>
              </a:r>
              <a:endParaRPr/>
            </a:p>
          </p:txBody>
        </p:sp>
        <p:sp>
          <p:nvSpPr>
            <p:cNvPr id="3250" name="Google Shape;3250;p46"/>
            <p:cNvSpPr txBox="1"/>
            <p:nvPr/>
          </p:nvSpPr>
          <p:spPr>
            <a:xfrm>
              <a:off x="6413059" y="3328511"/>
              <a:ext cx="200103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reliable data transfer protocol</a:t>
              </a:r>
              <a:endParaRPr/>
            </a:p>
          </p:txBody>
        </p:sp>
        <p:grpSp>
          <p:nvGrpSpPr>
            <p:cNvPr id="3251" name="Google Shape;3251;p46"/>
            <p:cNvGrpSpPr/>
            <p:nvPr/>
          </p:nvGrpSpPr>
          <p:grpSpPr>
            <a:xfrm>
              <a:off x="4071725" y="4602963"/>
              <a:ext cx="632009" cy="632009"/>
              <a:chOff x="7408199" y="4955748"/>
              <a:chExt cx="632009" cy="632009"/>
            </a:xfrm>
          </p:grpSpPr>
          <p:cxnSp>
            <p:nvCxnSpPr>
              <p:cNvPr id="3252" name="Google Shape;3252;p46"/>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253" name="Google Shape;3253;p46"/>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254" name="Google Shape;3254;p46"/>
            <p:cNvGrpSpPr/>
            <p:nvPr/>
          </p:nvGrpSpPr>
          <p:grpSpPr>
            <a:xfrm rot="-5400000">
              <a:off x="6784894" y="4598122"/>
              <a:ext cx="632009" cy="632009"/>
              <a:chOff x="7408199" y="4948974"/>
              <a:chExt cx="632009" cy="632009"/>
            </a:xfrm>
          </p:grpSpPr>
          <p:cxnSp>
            <p:nvCxnSpPr>
              <p:cNvPr id="3255" name="Google Shape;3255;p46"/>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256" name="Google Shape;3256;p46"/>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sp>
          <p:nvSpPr>
            <p:cNvPr id="3257" name="Google Shape;3257;p46"/>
            <p:cNvSpPr txBox="1"/>
            <p:nvPr/>
          </p:nvSpPr>
          <p:spPr>
            <a:xfrm>
              <a:off x="2293693" y="2546898"/>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rdt_send()</a:t>
              </a:r>
              <a:endParaRPr/>
            </a:p>
          </p:txBody>
        </p:sp>
        <p:sp>
          <p:nvSpPr>
            <p:cNvPr id="3258" name="Google Shape;3258;p46"/>
            <p:cNvSpPr txBox="1"/>
            <p:nvPr/>
          </p:nvSpPr>
          <p:spPr>
            <a:xfrm>
              <a:off x="2637055" y="452990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udt_send()</a:t>
              </a:r>
              <a:endParaRPr/>
            </a:p>
          </p:txBody>
        </p:sp>
        <p:sp>
          <p:nvSpPr>
            <p:cNvPr id="3259" name="Google Shape;3259;p46"/>
            <p:cNvSpPr txBox="1"/>
            <p:nvPr/>
          </p:nvSpPr>
          <p:spPr>
            <a:xfrm>
              <a:off x="7460091" y="452269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rdt_rcv()</a:t>
              </a:r>
              <a:endParaRPr/>
            </a:p>
          </p:txBody>
        </p:sp>
        <p:sp>
          <p:nvSpPr>
            <p:cNvPr id="3260" name="Google Shape;3260;p46"/>
            <p:cNvSpPr txBox="1"/>
            <p:nvPr/>
          </p:nvSpPr>
          <p:spPr>
            <a:xfrm>
              <a:off x="7446811" y="2872208"/>
              <a:ext cx="193529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deliver_data()</a:t>
              </a:r>
              <a:endParaRPr/>
            </a:p>
          </p:txBody>
        </p:sp>
        <p:grpSp>
          <p:nvGrpSpPr>
            <p:cNvPr id="3261" name="Google Shape;3261;p46"/>
            <p:cNvGrpSpPr/>
            <p:nvPr/>
          </p:nvGrpSpPr>
          <p:grpSpPr>
            <a:xfrm>
              <a:off x="4198761" y="4538107"/>
              <a:ext cx="1129178" cy="338554"/>
              <a:chOff x="4492148" y="4699180"/>
              <a:chExt cx="1129178" cy="338554"/>
            </a:xfrm>
          </p:grpSpPr>
          <p:grpSp>
            <p:nvGrpSpPr>
              <p:cNvPr id="3262" name="Google Shape;3262;p46"/>
              <p:cNvGrpSpPr/>
              <p:nvPr/>
            </p:nvGrpSpPr>
            <p:grpSpPr>
              <a:xfrm>
                <a:off x="5044085" y="4699180"/>
                <a:ext cx="577241" cy="338554"/>
                <a:chOff x="9950444" y="999755"/>
                <a:chExt cx="577241" cy="338554"/>
              </a:xfrm>
            </p:grpSpPr>
            <p:sp>
              <p:nvSpPr>
                <p:cNvPr id="3263" name="Google Shape;3263;p46"/>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4" name="Google Shape;3264;p46"/>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65" name="Google Shape;3265;p46"/>
              <p:cNvGrpSpPr/>
              <p:nvPr/>
            </p:nvGrpSpPr>
            <p:grpSpPr>
              <a:xfrm>
                <a:off x="4492148" y="4738794"/>
                <a:ext cx="684009" cy="276999"/>
                <a:chOff x="9965227" y="1039458"/>
                <a:chExt cx="684009" cy="276999"/>
              </a:xfrm>
            </p:grpSpPr>
            <p:sp>
              <p:nvSpPr>
                <p:cNvPr id="3266" name="Google Shape;3266;p46"/>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7" name="Google Shape;3267;p46"/>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nvGrpSpPr>
            <p:cNvPr id="3268" name="Google Shape;3268;p46"/>
            <p:cNvGrpSpPr/>
            <p:nvPr/>
          </p:nvGrpSpPr>
          <p:grpSpPr>
            <a:xfrm>
              <a:off x="6194588" y="4534824"/>
              <a:ext cx="1129178" cy="338554"/>
              <a:chOff x="4492148" y="4699180"/>
              <a:chExt cx="1129178" cy="338554"/>
            </a:xfrm>
          </p:grpSpPr>
          <p:grpSp>
            <p:nvGrpSpPr>
              <p:cNvPr id="3269" name="Google Shape;3269;p46"/>
              <p:cNvGrpSpPr/>
              <p:nvPr/>
            </p:nvGrpSpPr>
            <p:grpSpPr>
              <a:xfrm>
                <a:off x="5044085" y="4699180"/>
                <a:ext cx="577241" cy="338554"/>
                <a:chOff x="9950444" y="999755"/>
                <a:chExt cx="577241" cy="338554"/>
              </a:xfrm>
            </p:grpSpPr>
            <p:sp>
              <p:nvSpPr>
                <p:cNvPr id="3270" name="Google Shape;3270;p46"/>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1" name="Google Shape;3271;p46"/>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72" name="Google Shape;3272;p46"/>
              <p:cNvGrpSpPr/>
              <p:nvPr/>
            </p:nvGrpSpPr>
            <p:grpSpPr>
              <a:xfrm>
                <a:off x="4492148" y="4738794"/>
                <a:ext cx="684009" cy="276999"/>
                <a:chOff x="9965227" y="1039458"/>
                <a:chExt cx="684009" cy="276999"/>
              </a:xfrm>
            </p:grpSpPr>
            <p:sp>
              <p:nvSpPr>
                <p:cNvPr id="3273" name="Google Shape;3273;p46"/>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4" name="Google Shape;3274;p46"/>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grpSp>
        <p:nvGrpSpPr>
          <p:cNvPr id="3275" name="Google Shape;3275;p46"/>
          <p:cNvGrpSpPr/>
          <p:nvPr/>
        </p:nvGrpSpPr>
        <p:grpSpPr>
          <a:xfrm>
            <a:off x="352441" y="1450769"/>
            <a:ext cx="3206750" cy="1430338"/>
            <a:chOff x="240" y="920"/>
            <a:chExt cx="2020" cy="901"/>
          </a:xfrm>
        </p:grpSpPr>
        <p:sp>
          <p:nvSpPr>
            <p:cNvPr id="3276" name="Google Shape;3276;p46"/>
            <p:cNvSpPr txBox="1"/>
            <p:nvPr/>
          </p:nvSpPr>
          <p:spPr>
            <a:xfrm>
              <a:off x="318" y="920"/>
              <a:ext cx="1895"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from above, (e.g., by app.). Passed data to deliver to receiver upper layer</a:t>
              </a:r>
              <a:endParaRPr b="0" i="0" sz="2400" u="none" cap="none" strike="noStrike">
                <a:solidFill>
                  <a:srgbClr val="000000"/>
                </a:solidFill>
                <a:latin typeface="Calibri"/>
                <a:ea typeface="Calibri"/>
                <a:cs typeface="Calibri"/>
                <a:sym typeface="Calibri"/>
              </a:endParaRPr>
            </a:p>
          </p:txBody>
        </p:sp>
        <p:grpSp>
          <p:nvGrpSpPr>
            <p:cNvPr id="3277" name="Google Shape;3277;p46"/>
            <p:cNvGrpSpPr/>
            <p:nvPr/>
          </p:nvGrpSpPr>
          <p:grpSpPr>
            <a:xfrm>
              <a:off x="240" y="921"/>
              <a:ext cx="2020" cy="900"/>
              <a:chOff x="240" y="933"/>
              <a:chExt cx="2020" cy="900"/>
            </a:xfrm>
          </p:grpSpPr>
          <p:cxnSp>
            <p:nvCxnSpPr>
              <p:cNvPr id="3278" name="Google Shape;3278;p46"/>
              <p:cNvCxnSpPr/>
              <p:nvPr/>
            </p:nvCxnSpPr>
            <p:spPr>
              <a:xfrm>
                <a:off x="1787" y="1509"/>
                <a:ext cx="174" cy="324"/>
              </a:xfrm>
              <a:prstGeom prst="straightConnector1">
                <a:avLst/>
              </a:prstGeom>
              <a:noFill/>
              <a:ln cap="flat" cmpd="sng" w="19050">
                <a:solidFill>
                  <a:srgbClr val="C00000"/>
                </a:solidFill>
                <a:prstDash val="solid"/>
                <a:round/>
                <a:headEnd len="med" w="med" type="none"/>
                <a:tailEnd len="med" w="med" type="triangle"/>
              </a:ln>
            </p:spPr>
          </p:cxnSp>
          <p:sp>
            <p:nvSpPr>
              <p:cNvPr id="3279" name="Google Shape;3279;p46"/>
              <p:cNvSpPr/>
              <p:nvPr/>
            </p:nvSpPr>
            <p:spPr>
              <a:xfrm>
                <a:off x="240" y="933"/>
                <a:ext cx="2020"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80" name="Google Shape;3280;p46"/>
          <p:cNvGrpSpPr/>
          <p:nvPr/>
        </p:nvGrpSpPr>
        <p:grpSpPr>
          <a:xfrm>
            <a:off x="665618" y="5097921"/>
            <a:ext cx="3074988" cy="1393825"/>
            <a:chOff x="218" y="3055"/>
            <a:chExt cx="1937" cy="878"/>
          </a:xfrm>
        </p:grpSpPr>
        <p:sp>
          <p:nvSpPr>
            <p:cNvPr id="3281" name="Google Shape;3281;p46"/>
            <p:cNvSpPr txBox="1"/>
            <p:nvPr/>
          </p:nvSpPr>
          <p:spPr>
            <a:xfrm>
              <a:off x="233" y="3356"/>
              <a:ext cx="1878" cy="5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udt_send():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a:t>
              </a:r>
              <a:endParaRPr b="0" i="0" sz="1800" u="none" cap="none" strike="noStrike">
                <a:solidFill>
                  <a:srgbClr val="000000"/>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to transfer packet over </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unreliable channel to receiver</a:t>
              </a:r>
              <a:endParaRPr b="0" i="0" sz="2400" u="none" cap="none" strike="noStrike">
                <a:solidFill>
                  <a:srgbClr val="000000"/>
                </a:solidFill>
                <a:latin typeface="Calibri"/>
                <a:ea typeface="Calibri"/>
                <a:cs typeface="Calibri"/>
                <a:sym typeface="Calibri"/>
              </a:endParaRPr>
            </a:p>
          </p:txBody>
        </p:sp>
        <p:grpSp>
          <p:nvGrpSpPr>
            <p:cNvPr id="3282" name="Google Shape;3282;p46"/>
            <p:cNvGrpSpPr/>
            <p:nvPr/>
          </p:nvGrpSpPr>
          <p:grpSpPr>
            <a:xfrm>
              <a:off x="218" y="3055"/>
              <a:ext cx="1937" cy="867"/>
              <a:chOff x="218" y="3055"/>
              <a:chExt cx="1937" cy="867"/>
            </a:xfrm>
          </p:grpSpPr>
          <p:cxnSp>
            <p:nvCxnSpPr>
              <p:cNvPr id="3283" name="Google Shape;3283;p46"/>
              <p:cNvCxnSpPr/>
              <p:nvPr/>
            </p:nvCxnSpPr>
            <p:spPr>
              <a:xfrm flipH="1" rot="10800000">
                <a:off x="1433" y="3055"/>
                <a:ext cx="359" cy="303"/>
              </a:xfrm>
              <a:prstGeom prst="straightConnector1">
                <a:avLst/>
              </a:prstGeom>
              <a:noFill/>
              <a:ln cap="flat" cmpd="sng" w="19050">
                <a:solidFill>
                  <a:srgbClr val="C00000"/>
                </a:solidFill>
                <a:prstDash val="solid"/>
                <a:round/>
                <a:headEnd len="med" w="med" type="none"/>
                <a:tailEnd len="med" w="med" type="triangle"/>
              </a:ln>
            </p:spPr>
          </p:cxnSp>
          <p:sp>
            <p:nvSpPr>
              <p:cNvPr id="3284" name="Google Shape;3284;p46"/>
              <p:cNvSpPr/>
              <p:nvPr/>
            </p:nvSpPr>
            <p:spPr>
              <a:xfrm>
                <a:off x="218" y="3364"/>
                <a:ext cx="1937"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85" name="Google Shape;3285;p46"/>
          <p:cNvGrpSpPr/>
          <p:nvPr/>
        </p:nvGrpSpPr>
        <p:grpSpPr>
          <a:xfrm>
            <a:off x="8446406" y="5042355"/>
            <a:ext cx="3122613" cy="1520825"/>
            <a:chOff x="3071" y="2986"/>
            <a:chExt cx="1967" cy="958"/>
          </a:xfrm>
        </p:grpSpPr>
        <p:sp>
          <p:nvSpPr>
            <p:cNvPr id="3286" name="Google Shape;3286;p46"/>
            <p:cNvSpPr txBox="1"/>
            <p:nvPr/>
          </p:nvSpPr>
          <p:spPr>
            <a:xfrm>
              <a:off x="3101" y="3362"/>
              <a:ext cx="1937"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rdt_rcv():</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when packet arrives on receiver side of channel</a:t>
              </a:r>
              <a:endParaRPr b="0" i="0" sz="2400" u="none" cap="none" strike="noStrike">
                <a:solidFill>
                  <a:srgbClr val="000000"/>
                </a:solidFill>
                <a:latin typeface="Calibri"/>
                <a:ea typeface="Calibri"/>
                <a:cs typeface="Calibri"/>
                <a:sym typeface="Calibri"/>
              </a:endParaRPr>
            </a:p>
          </p:txBody>
        </p:sp>
        <p:grpSp>
          <p:nvGrpSpPr>
            <p:cNvPr id="3287" name="Google Shape;3287;p46"/>
            <p:cNvGrpSpPr/>
            <p:nvPr/>
          </p:nvGrpSpPr>
          <p:grpSpPr>
            <a:xfrm>
              <a:off x="3071" y="2986"/>
              <a:ext cx="1937" cy="943"/>
              <a:chOff x="3071" y="2986"/>
              <a:chExt cx="1937" cy="943"/>
            </a:xfrm>
          </p:grpSpPr>
          <p:cxnSp>
            <p:nvCxnSpPr>
              <p:cNvPr id="3288" name="Google Shape;3288;p46"/>
              <p:cNvCxnSpPr/>
              <p:nvPr/>
            </p:nvCxnSpPr>
            <p:spPr>
              <a:xfrm rot="10800000">
                <a:off x="3312" y="2986"/>
                <a:ext cx="398" cy="371"/>
              </a:xfrm>
              <a:prstGeom prst="straightConnector1">
                <a:avLst/>
              </a:prstGeom>
              <a:noFill/>
              <a:ln cap="flat" cmpd="sng" w="19050">
                <a:solidFill>
                  <a:srgbClr val="C00000"/>
                </a:solidFill>
                <a:prstDash val="solid"/>
                <a:round/>
                <a:headEnd len="med" w="med" type="none"/>
                <a:tailEnd len="med" w="med" type="triangle"/>
              </a:ln>
            </p:spPr>
          </p:cxnSp>
          <p:sp>
            <p:nvSpPr>
              <p:cNvPr id="3289" name="Google Shape;3289;p46"/>
              <p:cNvSpPr/>
              <p:nvPr/>
            </p:nvSpPr>
            <p:spPr>
              <a:xfrm>
                <a:off x="3071" y="3348"/>
                <a:ext cx="1937" cy="581"/>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90" name="Google Shape;3290;p46"/>
          <p:cNvGrpSpPr/>
          <p:nvPr/>
        </p:nvGrpSpPr>
        <p:grpSpPr>
          <a:xfrm>
            <a:off x="8824801" y="1555220"/>
            <a:ext cx="3063876" cy="1571625"/>
            <a:chOff x="3138" y="936"/>
            <a:chExt cx="1930" cy="990"/>
          </a:xfrm>
        </p:grpSpPr>
        <p:sp>
          <p:nvSpPr>
            <p:cNvPr id="3291" name="Google Shape;3291;p46"/>
            <p:cNvSpPr txBox="1"/>
            <p:nvPr/>
          </p:nvSpPr>
          <p:spPr>
            <a:xfrm>
              <a:off x="3168" y="936"/>
              <a:ext cx="190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deliver_data():</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to deliver data to upper layer</a:t>
              </a:r>
              <a:endParaRPr/>
            </a:p>
          </p:txBody>
        </p:sp>
        <p:grpSp>
          <p:nvGrpSpPr>
            <p:cNvPr id="3292" name="Google Shape;3292;p46"/>
            <p:cNvGrpSpPr/>
            <p:nvPr/>
          </p:nvGrpSpPr>
          <p:grpSpPr>
            <a:xfrm>
              <a:off x="3138" y="942"/>
              <a:ext cx="1899" cy="984"/>
              <a:chOff x="3138" y="942"/>
              <a:chExt cx="1899" cy="984"/>
            </a:xfrm>
          </p:grpSpPr>
          <p:cxnSp>
            <p:nvCxnSpPr>
              <p:cNvPr id="3293" name="Google Shape;3293;p46"/>
              <p:cNvCxnSpPr/>
              <p:nvPr/>
            </p:nvCxnSpPr>
            <p:spPr>
              <a:xfrm flipH="1">
                <a:off x="3328" y="1334"/>
                <a:ext cx="325" cy="592"/>
              </a:xfrm>
              <a:prstGeom prst="straightConnector1">
                <a:avLst/>
              </a:prstGeom>
              <a:noFill/>
              <a:ln cap="flat" cmpd="sng" w="19050">
                <a:solidFill>
                  <a:srgbClr val="C00000"/>
                </a:solidFill>
                <a:prstDash val="solid"/>
                <a:round/>
                <a:headEnd len="med" w="med" type="none"/>
                <a:tailEnd len="med" w="med" type="triangle"/>
              </a:ln>
            </p:spPr>
          </p:cxnSp>
          <p:sp>
            <p:nvSpPr>
              <p:cNvPr id="3294" name="Google Shape;3294;p46"/>
              <p:cNvSpPr/>
              <p:nvPr/>
            </p:nvSpPr>
            <p:spPr>
              <a:xfrm>
                <a:off x="3138" y="942"/>
                <a:ext cx="1899" cy="396"/>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295" name="Google Shape;3295;p46"/>
          <p:cNvGrpSpPr/>
          <p:nvPr/>
        </p:nvGrpSpPr>
        <p:grpSpPr>
          <a:xfrm>
            <a:off x="4390890" y="5513755"/>
            <a:ext cx="3819165" cy="1064365"/>
            <a:chOff x="2631911" y="5334147"/>
            <a:chExt cx="3819165" cy="1064365"/>
          </a:xfrm>
        </p:grpSpPr>
        <p:sp>
          <p:nvSpPr>
            <p:cNvPr id="3296" name="Google Shape;3296;p46"/>
            <p:cNvSpPr txBox="1"/>
            <p:nvPr/>
          </p:nvSpPr>
          <p:spPr>
            <a:xfrm>
              <a:off x="2631911" y="5807581"/>
              <a:ext cx="3819165"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Bi-directional communication over unreliable channel</a:t>
              </a:r>
              <a:endParaRPr/>
            </a:p>
          </p:txBody>
        </p:sp>
        <p:cxnSp>
          <p:nvCxnSpPr>
            <p:cNvPr id="3297" name="Google Shape;3297;p46"/>
            <p:cNvCxnSpPr/>
            <p:nvPr/>
          </p:nvCxnSpPr>
          <p:spPr>
            <a:xfrm>
              <a:off x="2905750" y="5334147"/>
              <a:ext cx="1431271" cy="473434"/>
            </a:xfrm>
            <a:prstGeom prst="straightConnector1">
              <a:avLst/>
            </a:prstGeom>
            <a:noFill/>
            <a:ln cap="flat" cmpd="sng" w="9525">
              <a:solidFill>
                <a:srgbClr val="FF0000"/>
              </a:solidFill>
              <a:prstDash val="solid"/>
              <a:miter lim="800000"/>
              <a:headEnd len="sm" w="sm" type="none"/>
              <a:tailEnd len="sm" w="sm" type="none"/>
            </a:ln>
          </p:spPr>
        </p:cxnSp>
        <p:cxnSp>
          <p:nvCxnSpPr>
            <p:cNvPr id="3298" name="Google Shape;3298;p46"/>
            <p:cNvCxnSpPr/>
            <p:nvPr/>
          </p:nvCxnSpPr>
          <p:spPr>
            <a:xfrm flipH="1">
              <a:off x="4339308" y="5338301"/>
              <a:ext cx="1358761" cy="469280"/>
            </a:xfrm>
            <a:prstGeom prst="straightConnector1">
              <a:avLst/>
            </a:prstGeom>
            <a:noFill/>
            <a:ln cap="flat" cmpd="sng" w="9525">
              <a:solidFill>
                <a:srgbClr val="FF0000"/>
              </a:solidFill>
              <a:prstDash val="solid"/>
              <a:miter lim="800000"/>
              <a:headEnd len="sm" w="sm" type="none"/>
              <a:tailEnd len="sm" w="sm" type="none"/>
            </a:ln>
          </p:spPr>
        </p:cxnSp>
      </p:grpSp>
      <p:grpSp>
        <p:nvGrpSpPr>
          <p:cNvPr id="3299" name="Google Shape;3299;p46"/>
          <p:cNvGrpSpPr/>
          <p:nvPr/>
        </p:nvGrpSpPr>
        <p:grpSpPr>
          <a:xfrm>
            <a:off x="4175224" y="3108918"/>
            <a:ext cx="3819165" cy="674861"/>
            <a:chOff x="2418275" y="5437546"/>
            <a:chExt cx="3819165" cy="674861"/>
          </a:xfrm>
        </p:grpSpPr>
        <p:sp>
          <p:nvSpPr>
            <p:cNvPr id="3300" name="Google Shape;3300;p46"/>
            <p:cNvSpPr txBox="1"/>
            <p:nvPr/>
          </p:nvSpPr>
          <p:spPr>
            <a:xfrm>
              <a:off x="2418275" y="5770775"/>
              <a:ext cx="3819165"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cxnSp>
          <p:nvCxnSpPr>
            <p:cNvPr id="3301" name="Google Shape;3301;p46"/>
            <p:cNvCxnSpPr>
              <a:stCxn id="3192" idx="2"/>
            </p:cNvCxnSpPr>
            <p:nvPr/>
          </p:nvCxnSpPr>
          <p:spPr>
            <a:xfrm>
              <a:off x="2894960" y="5465256"/>
              <a:ext cx="1454700" cy="401700"/>
            </a:xfrm>
            <a:prstGeom prst="straightConnector1">
              <a:avLst/>
            </a:prstGeom>
            <a:noFill/>
            <a:ln cap="flat" cmpd="sng" w="9525">
              <a:solidFill>
                <a:srgbClr val="FF0000"/>
              </a:solidFill>
              <a:prstDash val="solid"/>
              <a:miter lim="800000"/>
              <a:headEnd len="sm" w="sm" type="none"/>
              <a:tailEnd len="sm" w="sm" type="none"/>
            </a:ln>
          </p:spPr>
        </p:cxnSp>
        <p:cxnSp>
          <p:nvCxnSpPr>
            <p:cNvPr id="3302" name="Google Shape;3302;p46"/>
            <p:cNvCxnSpPr>
              <a:stCxn id="3201" idx="2"/>
            </p:cNvCxnSpPr>
            <p:nvPr/>
          </p:nvCxnSpPr>
          <p:spPr>
            <a:xfrm flipH="1">
              <a:off x="4351997" y="5437546"/>
              <a:ext cx="1250700" cy="429600"/>
            </a:xfrm>
            <a:prstGeom prst="straightConnector1">
              <a:avLst/>
            </a:prstGeom>
            <a:noFill/>
            <a:ln cap="flat" cmpd="sng" w="9525">
              <a:solidFill>
                <a:srgbClr val="FF0000"/>
              </a:solidFill>
              <a:prstDash val="solid"/>
              <a:miter lim="800000"/>
              <a:headEnd len="sm" w="sm" type="none"/>
              <a:tailEnd len="sm" w="sm" type="none"/>
            </a:ln>
          </p:spPr>
        </p:cxnSp>
      </p:grpSp>
      <p:grpSp>
        <p:nvGrpSpPr>
          <p:cNvPr id="3303" name="Google Shape;3303;p46"/>
          <p:cNvGrpSpPr/>
          <p:nvPr/>
        </p:nvGrpSpPr>
        <p:grpSpPr>
          <a:xfrm>
            <a:off x="5125651" y="4114827"/>
            <a:ext cx="1774588" cy="687847"/>
            <a:chOff x="5125651" y="4114827"/>
            <a:chExt cx="1774588" cy="687847"/>
          </a:xfrm>
        </p:grpSpPr>
        <p:sp>
          <p:nvSpPr>
            <p:cNvPr id="3304" name="Google Shape;3304;p46"/>
            <p:cNvSpPr txBox="1"/>
            <p:nvPr/>
          </p:nvSpPr>
          <p:spPr>
            <a:xfrm>
              <a:off x="5532497" y="4114827"/>
              <a:ext cx="1135642"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packet</a:t>
              </a:r>
              <a:endParaRPr/>
            </a:p>
          </p:txBody>
        </p:sp>
        <p:grpSp>
          <p:nvGrpSpPr>
            <p:cNvPr id="3305" name="Google Shape;3305;p46"/>
            <p:cNvGrpSpPr/>
            <p:nvPr/>
          </p:nvGrpSpPr>
          <p:grpSpPr>
            <a:xfrm flipH="1" rot="10800000">
              <a:off x="5125651" y="4373167"/>
              <a:ext cx="1774588" cy="429507"/>
              <a:chOff x="8970705" y="3780959"/>
              <a:chExt cx="2707737" cy="429507"/>
            </a:xfrm>
          </p:grpSpPr>
          <p:cxnSp>
            <p:nvCxnSpPr>
              <p:cNvPr id="3306" name="Google Shape;3306;p46"/>
              <p:cNvCxnSpPr/>
              <p:nvPr/>
            </p:nvCxnSpPr>
            <p:spPr>
              <a:xfrm>
                <a:off x="8970705" y="3808669"/>
                <a:ext cx="1454761" cy="401797"/>
              </a:xfrm>
              <a:prstGeom prst="straightConnector1">
                <a:avLst/>
              </a:prstGeom>
              <a:noFill/>
              <a:ln cap="flat" cmpd="sng" w="9525">
                <a:solidFill>
                  <a:srgbClr val="FF0000"/>
                </a:solidFill>
                <a:prstDash val="solid"/>
                <a:miter lim="800000"/>
                <a:headEnd len="sm" w="sm" type="none"/>
                <a:tailEnd len="sm" w="sm" type="none"/>
              </a:ln>
            </p:spPr>
          </p:cxnSp>
          <p:cxnSp>
            <p:nvCxnSpPr>
              <p:cNvPr id="3307" name="Google Shape;3307;p46"/>
              <p:cNvCxnSpPr/>
              <p:nvPr/>
            </p:nvCxnSpPr>
            <p:spPr>
              <a:xfrm flipH="1">
                <a:off x="10427754" y="3780959"/>
                <a:ext cx="1250688" cy="429507"/>
              </a:xfrm>
              <a:prstGeom prst="straightConnector1">
                <a:avLst/>
              </a:prstGeom>
              <a:noFill/>
              <a:ln cap="flat" cmpd="sng" w="9525">
                <a:solidFill>
                  <a:srgbClr val="FF0000"/>
                </a:solidFill>
                <a:prstDash val="solid"/>
                <a:miter lim="800000"/>
                <a:headEnd len="sm" w="sm" type="none"/>
                <a:tailEnd len="sm" w="sm" type="none"/>
              </a:ln>
            </p:spPr>
          </p:cxnSp>
        </p:grpSp>
      </p:grpSp>
      <p:sp>
        <p:nvSpPr>
          <p:cNvPr id="3308" name="Google Shape;3308;p46"/>
          <p:cNvSpPr/>
          <p:nvPr/>
        </p:nvSpPr>
        <p:spPr>
          <a:xfrm>
            <a:off x="3233978" y="34819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09" name="Google Shape;3309;p46"/>
          <p:cNvSpPr/>
          <p:nvPr/>
        </p:nvSpPr>
        <p:spPr>
          <a:xfrm>
            <a:off x="6574078" y="34946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0" name="Google Shape;3310;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75"/>
                                        </p:tgtEl>
                                        <p:attrNameLst>
                                          <p:attrName>style.visibility</p:attrName>
                                        </p:attrNameLst>
                                      </p:cBhvr>
                                      <p:to>
                                        <p:strVal val="visible"/>
                                      </p:to>
                                    </p:set>
                                    <p:anim calcmode="lin" valueType="num">
                                      <p:cBhvr additive="base">
                                        <p:cTn dur="500"/>
                                        <p:tgtEl>
                                          <p:spTgt spid="327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80"/>
                                        </p:tgtEl>
                                        <p:attrNameLst>
                                          <p:attrName>style.visibility</p:attrName>
                                        </p:attrNameLst>
                                      </p:cBhvr>
                                      <p:to>
                                        <p:strVal val="visible"/>
                                      </p:to>
                                    </p:set>
                                    <p:anim calcmode="lin" valueType="num">
                                      <p:cBhvr additive="base">
                                        <p:cTn dur="500"/>
                                        <p:tgtEl>
                                          <p:spTgt spid="328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285"/>
                                        </p:tgtEl>
                                        <p:attrNameLst>
                                          <p:attrName>style.visibility</p:attrName>
                                        </p:attrNameLst>
                                      </p:cBhvr>
                                      <p:to>
                                        <p:strVal val="visible"/>
                                      </p:to>
                                    </p:set>
                                    <p:anim calcmode="lin" valueType="num">
                                      <p:cBhvr additive="base">
                                        <p:cTn dur="500"/>
                                        <p:tgtEl>
                                          <p:spTgt spid="328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290"/>
                                        </p:tgtEl>
                                        <p:attrNameLst>
                                          <p:attrName>style.visibility</p:attrName>
                                        </p:attrNameLst>
                                      </p:cBhvr>
                                      <p:to>
                                        <p:strVal val="visible"/>
                                      </p:to>
                                    </p:set>
                                    <p:anim calcmode="lin" valueType="num">
                                      <p:cBhvr additive="base">
                                        <p:cTn dur="500"/>
                                        <p:tgtEl>
                                          <p:spTgt spid="329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5"/>
                                        </p:tgtEl>
                                        <p:attrNameLst>
                                          <p:attrName>style.visibility</p:attrName>
                                        </p:attrNameLst>
                                      </p:cBhvr>
                                      <p:to>
                                        <p:strVal val="visible"/>
                                      </p:to>
                                    </p:set>
                                    <p:animEffect filter="fade" transition="in">
                                      <p:cBhvr>
                                        <p:cTn dur="500"/>
                                        <p:tgtEl>
                                          <p:spTgt spid="3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9"/>
                                        </p:tgtEl>
                                        <p:attrNameLst>
                                          <p:attrName>style.visibility</p:attrName>
                                        </p:attrNameLst>
                                      </p:cBhvr>
                                      <p:to>
                                        <p:strVal val="visible"/>
                                      </p:to>
                                    </p:set>
                                    <p:animEffect filter="fade" transition="in">
                                      <p:cBhvr>
                                        <p:cTn dur="500"/>
                                        <p:tgtEl>
                                          <p:spTgt spid="3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3"/>
                                        </p:tgtEl>
                                        <p:attrNameLst>
                                          <p:attrName>style.visibility</p:attrName>
                                        </p:attrNameLst>
                                      </p:cBhvr>
                                      <p:to>
                                        <p:strVal val="visible"/>
                                      </p:to>
                                    </p:set>
                                    <p:animEffect filter="fade" transition="in">
                                      <p:cBhvr>
                                        <p:cTn dur="500"/>
                                        <p:tgtEl>
                                          <p:spTgt spid="3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5" name="Shape 3315"/>
        <p:cNvGrpSpPr/>
        <p:nvPr/>
      </p:nvGrpSpPr>
      <p:grpSpPr>
        <a:xfrm>
          <a:off x="0" y="0"/>
          <a:ext cx="0" cy="0"/>
          <a:chOff x="0" y="0"/>
          <a:chExt cx="0" cy="0"/>
        </a:xfrm>
      </p:grpSpPr>
      <p:sp>
        <p:nvSpPr>
          <p:cNvPr id="3316" name="Google Shape;3316;p4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getting started</a:t>
            </a:r>
            <a:endParaRPr/>
          </a:p>
        </p:txBody>
      </p:sp>
      <p:sp>
        <p:nvSpPr>
          <p:cNvPr id="3317" name="Google Shape;3317;p47"/>
          <p:cNvSpPr txBox="1"/>
          <p:nvPr/>
        </p:nvSpPr>
        <p:spPr>
          <a:xfrm>
            <a:off x="906239" y="1209675"/>
            <a:ext cx="11056577" cy="3352800"/>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We will:</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incrementally develop sender, receiver sides of </a:t>
            </a:r>
            <a:r>
              <a:rPr b="0" i="0" lang="en-US" sz="2800" u="sng" cap="none" strike="noStrike">
                <a:solidFill>
                  <a:srgbClr val="CC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eliable </a:t>
            </a:r>
            <a:r>
              <a:rPr b="0" i="0" lang="en-US" sz="2800" u="sng"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ata </a:t>
            </a:r>
            <a:r>
              <a:rPr b="0" i="0" lang="en-US" sz="2800" u="sng" cap="none" strike="noStrike">
                <a:solidFill>
                  <a:srgbClr val="CC0000"/>
                </a:solidFill>
                <a:latin typeface="Calibri"/>
                <a:ea typeface="Calibri"/>
                <a:cs typeface="Calibri"/>
                <a:sym typeface="Calibri"/>
              </a:rPr>
              <a:t>t</a:t>
            </a:r>
            <a:r>
              <a:rPr b="0" i="0" lang="en-US" sz="2800" u="none" cap="none" strike="noStrike">
                <a:solidFill>
                  <a:srgbClr val="000000"/>
                </a:solidFill>
                <a:latin typeface="Calibri"/>
                <a:ea typeface="Calibri"/>
                <a:cs typeface="Calibri"/>
                <a:sym typeface="Calibri"/>
              </a:rPr>
              <a:t>ransfer protocol (</a:t>
            </a:r>
            <a:r>
              <a:rPr b="0" i="0" lang="en-US" sz="2800" u="none" cap="none" strike="noStrike">
                <a:solidFill>
                  <a:srgbClr val="000000"/>
                </a:solidFill>
                <a:latin typeface="Courier"/>
                <a:ea typeface="Courier"/>
                <a:cs typeface="Courier"/>
                <a:sym typeface="Courier"/>
              </a:rPr>
              <a:t>rdt</a:t>
            </a:r>
            <a:r>
              <a:rPr b="0" i="0" lang="en-US" sz="2800" u="none" cap="none" strike="noStrike">
                <a:solidFill>
                  <a:srgbClr val="000000"/>
                </a:solidFill>
                <a:latin typeface="Calibri"/>
                <a:ea typeface="Calibri"/>
                <a:cs typeface="Calibri"/>
                <a:sym typeface="Calibri"/>
              </a:rPr>
              <a:t>)</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consider only unidirectional data transfer</a:t>
            </a:r>
            <a:endParaRPr/>
          </a:p>
          <a:p>
            <a:pPr indent="-230187" lvl="1" marL="68738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but control info will flow in both directions!</a:t>
            </a:r>
            <a:endParaRPr/>
          </a:p>
        </p:txBody>
      </p:sp>
      <p:sp>
        <p:nvSpPr>
          <p:cNvPr id="3318" name="Google Shape;3318;p47"/>
          <p:cNvSpPr/>
          <p:nvPr/>
        </p:nvSpPr>
        <p:spPr>
          <a:xfrm>
            <a:off x="4017605" y="4873894"/>
            <a:ext cx="885825"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19" name="Google Shape;3319;p47"/>
          <p:cNvSpPr/>
          <p:nvPr/>
        </p:nvSpPr>
        <p:spPr>
          <a:xfrm>
            <a:off x="3927117" y="4899294"/>
            <a:ext cx="94297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0" name="Google Shape;3320;p47"/>
          <p:cNvSpPr txBox="1"/>
          <p:nvPr/>
        </p:nvSpPr>
        <p:spPr>
          <a:xfrm>
            <a:off x="4038243" y="5013594"/>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1</a:t>
            </a:r>
            <a:endParaRPr/>
          </a:p>
        </p:txBody>
      </p:sp>
      <p:sp>
        <p:nvSpPr>
          <p:cNvPr id="3321" name="Google Shape;3321;p47"/>
          <p:cNvSpPr/>
          <p:nvPr/>
        </p:nvSpPr>
        <p:spPr>
          <a:xfrm>
            <a:off x="4870092" y="4851669"/>
            <a:ext cx="3952875" cy="285750"/>
          </a:xfrm>
          <a:custGeom>
            <a:rect b="b" l="l" r="r" t="t"/>
            <a:pathLst>
              <a:path extrusionOk="0" h="180" w="1446">
                <a:moveTo>
                  <a:pt x="0" y="180"/>
                </a:moveTo>
                <a:cubicBezTo>
                  <a:pt x="540" y="30"/>
                  <a:pt x="972" y="0"/>
                  <a:pt x="1446" y="168"/>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2" name="Google Shape;3322;p47"/>
          <p:cNvSpPr/>
          <p:nvPr/>
        </p:nvSpPr>
        <p:spPr>
          <a:xfrm>
            <a:off x="8802330" y="4977635"/>
            <a:ext cx="873124"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3" name="Google Shape;3323;p47"/>
          <p:cNvSpPr/>
          <p:nvPr/>
        </p:nvSpPr>
        <p:spPr>
          <a:xfrm>
            <a:off x="8737242" y="5004069"/>
            <a:ext cx="88582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24" name="Google Shape;3324;p47"/>
          <p:cNvSpPr txBox="1"/>
          <p:nvPr/>
        </p:nvSpPr>
        <p:spPr>
          <a:xfrm>
            <a:off x="8802017" y="5112019"/>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2</a:t>
            </a:r>
            <a:endParaRPr/>
          </a:p>
        </p:txBody>
      </p:sp>
      <p:sp>
        <p:nvSpPr>
          <p:cNvPr id="3325" name="Google Shape;3325;p47"/>
          <p:cNvSpPr txBox="1"/>
          <p:nvPr/>
        </p:nvSpPr>
        <p:spPr>
          <a:xfrm>
            <a:off x="5100280" y="4216669"/>
            <a:ext cx="31527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 causing state transition</a:t>
            </a:r>
            <a:endParaRPr b="0" i="0" sz="2400" u="none" cap="none" strike="noStrike">
              <a:solidFill>
                <a:srgbClr val="CC0000"/>
              </a:solidFill>
              <a:latin typeface="Tahoma"/>
              <a:ea typeface="Tahoma"/>
              <a:cs typeface="Tahoma"/>
              <a:sym typeface="Tahoma"/>
            </a:endParaRPr>
          </a:p>
        </p:txBody>
      </p:sp>
      <p:sp>
        <p:nvSpPr>
          <p:cNvPr id="3326" name="Google Shape;3326;p47"/>
          <p:cNvSpPr txBox="1"/>
          <p:nvPr/>
        </p:nvSpPr>
        <p:spPr>
          <a:xfrm>
            <a:off x="5027255" y="4511944"/>
            <a:ext cx="342106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 taken on state transition</a:t>
            </a:r>
            <a:endParaRPr b="0" i="0" sz="2400" u="none" cap="none" strike="noStrike">
              <a:solidFill>
                <a:srgbClr val="CC0000"/>
              </a:solidFill>
              <a:latin typeface="Tahoma"/>
              <a:ea typeface="Tahoma"/>
              <a:cs typeface="Tahoma"/>
              <a:sym typeface="Tahoma"/>
            </a:endParaRPr>
          </a:p>
        </p:txBody>
      </p:sp>
      <p:cxnSp>
        <p:nvCxnSpPr>
          <p:cNvPr id="3327" name="Google Shape;3327;p47"/>
          <p:cNvCxnSpPr/>
          <p:nvPr/>
        </p:nvCxnSpPr>
        <p:spPr>
          <a:xfrm>
            <a:off x="4993917" y="4565919"/>
            <a:ext cx="3381375" cy="0"/>
          </a:xfrm>
          <a:prstGeom prst="straightConnector1">
            <a:avLst/>
          </a:prstGeom>
          <a:noFill/>
          <a:ln cap="flat" cmpd="sng" w="28575">
            <a:solidFill>
              <a:srgbClr val="CC0000"/>
            </a:solidFill>
            <a:prstDash val="solid"/>
            <a:round/>
            <a:headEnd len="med" w="med" type="none"/>
            <a:tailEnd len="med" w="med" type="none"/>
          </a:ln>
        </p:spPr>
      </p:cxnSp>
      <p:sp>
        <p:nvSpPr>
          <p:cNvPr id="3328" name="Google Shape;3328;p47"/>
          <p:cNvSpPr/>
          <p:nvPr/>
        </p:nvSpPr>
        <p:spPr>
          <a:xfrm>
            <a:off x="1012467" y="4899294"/>
            <a:ext cx="2771775" cy="1238250"/>
          </a:xfrm>
          <a:prstGeom prst="rect">
            <a:avLst/>
          </a:prstGeom>
          <a:noFill/>
          <a:ln>
            <a:noFill/>
          </a:ln>
        </p:spPr>
        <p:txBody>
          <a:bodyPr anchorCtr="0" anchor="t" bIns="45700" lIns="91425" spcFirstLastPara="1" rIns="91425" wrap="square" tIns="45700">
            <a:noAutofit/>
          </a:bodyPr>
          <a:lstStyle/>
          <a:p>
            <a:pPr indent="-342900" lvl="0" marL="342900" marR="0" rtl="0" algn="r">
              <a:lnSpc>
                <a:spcPct val="85000"/>
              </a:lnSpc>
              <a:spcBef>
                <a:spcPts val="0"/>
              </a:spcBef>
              <a:spcAft>
                <a:spcPts val="0"/>
              </a:spcAft>
              <a:buClr>
                <a:srgbClr val="000099"/>
              </a:buClr>
              <a:buSzPts val="1170"/>
              <a:buFont typeface="Noto Sans Symbols"/>
              <a:buNone/>
            </a:pPr>
            <a:r>
              <a:rPr b="0" i="0" lang="en-US" sz="1800" u="none" cap="none" strike="noStrike">
                <a:solidFill>
                  <a:srgbClr val="CC0000"/>
                </a:solidFill>
                <a:latin typeface="Calibri"/>
                <a:ea typeface="Calibri"/>
                <a:cs typeface="Calibri"/>
                <a:sym typeface="Calibri"/>
              </a:rPr>
              <a:t>state:</a:t>
            </a:r>
            <a:r>
              <a:rPr b="0" i="0" lang="en-US" sz="1800" u="none" cap="none" strike="noStrike">
                <a:solidFill>
                  <a:srgbClr val="000000"/>
                </a:solidFill>
                <a:latin typeface="Calibri"/>
                <a:ea typeface="Calibri"/>
                <a:cs typeface="Calibri"/>
                <a:sym typeface="Calibri"/>
              </a:rPr>
              <a:t> when in this “state” next state uniquely determined by next event</a:t>
            </a:r>
            <a:endParaRPr b="0" i="0" sz="1800" u="none" cap="none" strike="noStrike">
              <a:solidFill>
                <a:srgbClr val="000000"/>
              </a:solidFill>
              <a:latin typeface="Calibri"/>
              <a:ea typeface="Calibri"/>
              <a:cs typeface="Calibri"/>
              <a:sym typeface="Calibri"/>
            </a:endParaRPr>
          </a:p>
        </p:txBody>
      </p:sp>
      <p:sp>
        <p:nvSpPr>
          <p:cNvPr id="3329" name="Google Shape;3329;p47"/>
          <p:cNvSpPr/>
          <p:nvPr/>
        </p:nvSpPr>
        <p:spPr>
          <a:xfrm>
            <a:off x="4270017" y="57755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30" name="Google Shape;3330;p47"/>
          <p:cNvSpPr/>
          <p:nvPr/>
        </p:nvSpPr>
        <p:spPr>
          <a:xfrm rot="10800000">
            <a:off x="9413517" y="58136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331" name="Google Shape;3331;p47"/>
          <p:cNvCxnSpPr/>
          <p:nvPr/>
        </p:nvCxnSpPr>
        <p:spPr>
          <a:xfrm>
            <a:off x="4824055" y="5532730"/>
            <a:ext cx="1541462" cy="738164"/>
          </a:xfrm>
          <a:prstGeom prst="straightConnector1">
            <a:avLst/>
          </a:prstGeom>
          <a:noFill/>
          <a:ln cap="flat" cmpd="sng" w="28575">
            <a:solidFill>
              <a:srgbClr val="CC0000"/>
            </a:solidFill>
            <a:prstDash val="solid"/>
            <a:round/>
            <a:headEnd len="med" w="med" type="none"/>
            <a:tailEnd len="med" w="med" type="triangle"/>
          </a:ln>
        </p:spPr>
      </p:cxnSp>
      <p:sp>
        <p:nvSpPr>
          <p:cNvPr id="3332" name="Google Shape;3332;p47"/>
          <p:cNvSpPr txBox="1"/>
          <p:nvPr/>
        </p:nvSpPr>
        <p:spPr>
          <a:xfrm>
            <a:off x="5560655" y="5312044"/>
            <a:ext cx="7429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a:t>
            </a:r>
            <a:endParaRPr b="0" i="0" sz="2400" u="none" cap="none" strike="noStrike">
              <a:solidFill>
                <a:srgbClr val="CC0000"/>
              </a:solidFill>
              <a:latin typeface="Tahoma"/>
              <a:ea typeface="Tahoma"/>
              <a:cs typeface="Tahoma"/>
              <a:sym typeface="Tahoma"/>
            </a:endParaRPr>
          </a:p>
        </p:txBody>
      </p:sp>
      <p:sp>
        <p:nvSpPr>
          <p:cNvPr id="3333" name="Google Shape;3333;p47"/>
          <p:cNvSpPr txBox="1"/>
          <p:nvPr/>
        </p:nvSpPr>
        <p:spPr>
          <a:xfrm>
            <a:off x="5520967" y="5616844"/>
            <a:ext cx="89058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a:t>
            </a:r>
            <a:endParaRPr b="0" i="0" sz="2400" u="none" cap="none" strike="noStrike">
              <a:solidFill>
                <a:srgbClr val="CC0000"/>
              </a:solidFill>
              <a:latin typeface="Tahoma"/>
              <a:ea typeface="Tahoma"/>
              <a:cs typeface="Tahoma"/>
              <a:sym typeface="Tahoma"/>
            </a:endParaRPr>
          </a:p>
        </p:txBody>
      </p:sp>
      <p:cxnSp>
        <p:nvCxnSpPr>
          <p:cNvPr id="3334" name="Google Shape;3334;p47"/>
          <p:cNvCxnSpPr/>
          <p:nvPr/>
        </p:nvCxnSpPr>
        <p:spPr>
          <a:xfrm>
            <a:off x="5470167" y="5670819"/>
            <a:ext cx="942975" cy="0"/>
          </a:xfrm>
          <a:prstGeom prst="straightConnector1">
            <a:avLst/>
          </a:prstGeom>
          <a:noFill/>
          <a:ln cap="flat" cmpd="sng" w="28575">
            <a:solidFill>
              <a:srgbClr val="CC0000"/>
            </a:solidFill>
            <a:prstDash val="solid"/>
            <a:round/>
            <a:headEnd len="med" w="med" type="none"/>
            <a:tailEnd len="med" w="med" type="none"/>
          </a:ln>
        </p:spPr>
      </p:cxnSp>
      <p:sp>
        <p:nvSpPr>
          <p:cNvPr id="3335" name="Google Shape;3335;p47"/>
          <p:cNvSpPr txBox="1"/>
          <p:nvPr/>
        </p:nvSpPr>
        <p:spPr>
          <a:xfrm>
            <a:off x="918939" y="3470275"/>
            <a:ext cx="11056577" cy="542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use finite state machines (FSM)  to specify sender, receiver</a:t>
            </a:r>
            <a:endParaRPr/>
          </a:p>
        </p:txBody>
      </p:sp>
      <p:sp>
        <p:nvSpPr>
          <p:cNvPr id="3336" name="Google Shape;3336;p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8"/>
                                        </p:tgtEl>
                                        <p:attrNameLst>
                                          <p:attrName>style.visibility</p:attrName>
                                        </p:attrNameLst>
                                      </p:cBhvr>
                                      <p:to>
                                        <p:strVal val="visible"/>
                                      </p:to>
                                    </p:set>
                                    <p:animEffect filter="fade" transition="in">
                                      <p:cBhvr>
                                        <p:cTn dur="500"/>
                                        <p:tgtEl>
                                          <p:spTgt spid="3318"/>
                                        </p:tgtEl>
                                      </p:cBhvr>
                                    </p:animEffect>
                                  </p:childTnLst>
                                </p:cTn>
                              </p:par>
                              <p:par>
                                <p:cTn fill="hold" nodeType="withEffect" presetClass="entr" presetID="10" presetSubtype="0">
                                  <p:stCondLst>
                                    <p:cond delay="0"/>
                                  </p:stCondLst>
                                  <p:childTnLst>
                                    <p:set>
                                      <p:cBhvr>
                                        <p:cTn dur="1" fill="hold">
                                          <p:stCondLst>
                                            <p:cond delay="0"/>
                                          </p:stCondLst>
                                        </p:cTn>
                                        <p:tgtEl>
                                          <p:spTgt spid="3319"/>
                                        </p:tgtEl>
                                        <p:attrNameLst>
                                          <p:attrName>style.visibility</p:attrName>
                                        </p:attrNameLst>
                                      </p:cBhvr>
                                      <p:to>
                                        <p:strVal val="visible"/>
                                      </p:to>
                                    </p:set>
                                    <p:animEffect filter="fade" transition="in">
                                      <p:cBhvr>
                                        <p:cTn dur="500"/>
                                        <p:tgtEl>
                                          <p:spTgt spid="3319"/>
                                        </p:tgtEl>
                                      </p:cBhvr>
                                    </p:animEffect>
                                  </p:childTnLst>
                                </p:cTn>
                              </p:par>
                              <p:par>
                                <p:cTn fill="hold" nodeType="withEffect" presetClass="entr" presetID="10" presetSubtype="0">
                                  <p:stCondLst>
                                    <p:cond delay="0"/>
                                  </p:stCondLst>
                                  <p:childTnLst>
                                    <p:set>
                                      <p:cBhvr>
                                        <p:cTn dur="1" fill="hold">
                                          <p:stCondLst>
                                            <p:cond delay="0"/>
                                          </p:stCondLst>
                                        </p:cTn>
                                        <p:tgtEl>
                                          <p:spTgt spid="3320"/>
                                        </p:tgtEl>
                                        <p:attrNameLst>
                                          <p:attrName>style.visibility</p:attrName>
                                        </p:attrNameLst>
                                      </p:cBhvr>
                                      <p:to>
                                        <p:strVal val="visible"/>
                                      </p:to>
                                    </p:set>
                                    <p:animEffect filter="fade" transition="in">
                                      <p:cBhvr>
                                        <p:cTn dur="500"/>
                                        <p:tgtEl>
                                          <p:spTgt spid="3320"/>
                                        </p:tgtEl>
                                      </p:cBhvr>
                                    </p:animEffect>
                                  </p:childTnLst>
                                </p:cTn>
                              </p:par>
                              <p:par>
                                <p:cTn fill="hold" nodeType="withEffect" presetClass="entr" presetID="10" presetSubtype="0">
                                  <p:stCondLst>
                                    <p:cond delay="0"/>
                                  </p:stCondLst>
                                  <p:childTnLst>
                                    <p:set>
                                      <p:cBhvr>
                                        <p:cTn dur="1" fill="hold">
                                          <p:stCondLst>
                                            <p:cond delay="0"/>
                                          </p:stCondLst>
                                        </p:cTn>
                                        <p:tgtEl>
                                          <p:spTgt spid="3321"/>
                                        </p:tgtEl>
                                        <p:attrNameLst>
                                          <p:attrName>style.visibility</p:attrName>
                                        </p:attrNameLst>
                                      </p:cBhvr>
                                      <p:to>
                                        <p:strVal val="visible"/>
                                      </p:to>
                                    </p:set>
                                    <p:animEffect filter="fade" transition="in">
                                      <p:cBhvr>
                                        <p:cTn dur="500"/>
                                        <p:tgtEl>
                                          <p:spTgt spid="3321"/>
                                        </p:tgtEl>
                                      </p:cBhvr>
                                    </p:animEffect>
                                  </p:childTnLst>
                                </p:cTn>
                              </p:par>
                              <p:par>
                                <p:cTn fill="hold" nodeType="withEffect" presetClass="entr" presetID="10" presetSubtype="0">
                                  <p:stCondLst>
                                    <p:cond delay="0"/>
                                  </p:stCondLst>
                                  <p:childTnLst>
                                    <p:set>
                                      <p:cBhvr>
                                        <p:cTn dur="1" fill="hold">
                                          <p:stCondLst>
                                            <p:cond delay="0"/>
                                          </p:stCondLst>
                                        </p:cTn>
                                        <p:tgtEl>
                                          <p:spTgt spid="3322"/>
                                        </p:tgtEl>
                                        <p:attrNameLst>
                                          <p:attrName>style.visibility</p:attrName>
                                        </p:attrNameLst>
                                      </p:cBhvr>
                                      <p:to>
                                        <p:strVal val="visible"/>
                                      </p:to>
                                    </p:set>
                                    <p:animEffect filter="fade" transition="in">
                                      <p:cBhvr>
                                        <p:cTn dur="500"/>
                                        <p:tgtEl>
                                          <p:spTgt spid="3322"/>
                                        </p:tgtEl>
                                      </p:cBhvr>
                                    </p:animEffect>
                                  </p:childTnLst>
                                </p:cTn>
                              </p:par>
                              <p:par>
                                <p:cTn fill="hold" nodeType="withEffect" presetClass="entr" presetID="10" presetSubtype="0">
                                  <p:stCondLst>
                                    <p:cond delay="0"/>
                                  </p:stCondLst>
                                  <p:childTnLst>
                                    <p:set>
                                      <p:cBhvr>
                                        <p:cTn dur="1" fill="hold">
                                          <p:stCondLst>
                                            <p:cond delay="0"/>
                                          </p:stCondLst>
                                        </p:cTn>
                                        <p:tgtEl>
                                          <p:spTgt spid="3323"/>
                                        </p:tgtEl>
                                        <p:attrNameLst>
                                          <p:attrName>style.visibility</p:attrName>
                                        </p:attrNameLst>
                                      </p:cBhvr>
                                      <p:to>
                                        <p:strVal val="visible"/>
                                      </p:to>
                                    </p:set>
                                    <p:animEffect filter="fade" transition="in">
                                      <p:cBhvr>
                                        <p:cTn dur="500"/>
                                        <p:tgtEl>
                                          <p:spTgt spid="3323"/>
                                        </p:tgtEl>
                                      </p:cBhvr>
                                    </p:animEffect>
                                  </p:childTnLst>
                                </p:cTn>
                              </p:par>
                              <p:par>
                                <p:cTn fill="hold" nodeType="withEffect" presetClass="entr" presetID="10" presetSubtype="0">
                                  <p:stCondLst>
                                    <p:cond delay="0"/>
                                  </p:stCondLst>
                                  <p:childTnLst>
                                    <p:set>
                                      <p:cBhvr>
                                        <p:cTn dur="1" fill="hold">
                                          <p:stCondLst>
                                            <p:cond delay="0"/>
                                          </p:stCondLst>
                                        </p:cTn>
                                        <p:tgtEl>
                                          <p:spTgt spid="3324"/>
                                        </p:tgtEl>
                                        <p:attrNameLst>
                                          <p:attrName>style.visibility</p:attrName>
                                        </p:attrNameLst>
                                      </p:cBhvr>
                                      <p:to>
                                        <p:strVal val="visible"/>
                                      </p:to>
                                    </p:set>
                                    <p:animEffect filter="fade" transition="in">
                                      <p:cBhvr>
                                        <p:cTn dur="500"/>
                                        <p:tgtEl>
                                          <p:spTgt spid="3324"/>
                                        </p:tgtEl>
                                      </p:cBhvr>
                                    </p:animEffect>
                                  </p:childTnLst>
                                </p:cTn>
                              </p:par>
                              <p:par>
                                <p:cTn fill="hold" nodeType="withEffect" presetClass="entr" presetID="10" presetSubtype="0">
                                  <p:stCondLst>
                                    <p:cond delay="0"/>
                                  </p:stCondLst>
                                  <p:childTnLst>
                                    <p:set>
                                      <p:cBhvr>
                                        <p:cTn dur="1" fill="hold">
                                          <p:stCondLst>
                                            <p:cond delay="0"/>
                                          </p:stCondLst>
                                        </p:cTn>
                                        <p:tgtEl>
                                          <p:spTgt spid="3325"/>
                                        </p:tgtEl>
                                        <p:attrNameLst>
                                          <p:attrName>style.visibility</p:attrName>
                                        </p:attrNameLst>
                                      </p:cBhvr>
                                      <p:to>
                                        <p:strVal val="visible"/>
                                      </p:to>
                                    </p:set>
                                    <p:animEffect filter="fade" transition="in">
                                      <p:cBhvr>
                                        <p:cTn dur="500"/>
                                        <p:tgtEl>
                                          <p:spTgt spid="3325"/>
                                        </p:tgtEl>
                                      </p:cBhvr>
                                    </p:animEffect>
                                  </p:childTnLst>
                                </p:cTn>
                              </p:par>
                              <p:par>
                                <p:cTn fill="hold" nodeType="withEffect" presetClass="entr" presetID="10" presetSubtype="0">
                                  <p:stCondLst>
                                    <p:cond delay="0"/>
                                  </p:stCondLst>
                                  <p:childTnLst>
                                    <p:set>
                                      <p:cBhvr>
                                        <p:cTn dur="1" fill="hold">
                                          <p:stCondLst>
                                            <p:cond delay="0"/>
                                          </p:stCondLst>
                                        </p:cTn>
                                        <p:tgtEl>
                                          <p:spTgt spid="3326"/>
                                        </p:tgtEl>
                                        <p:attrNameLst>
                                          <p:attrName>style.visibility</p:attrName>
                                        </p:attrNameLst>
                                      </p:cBhvr>
                                      <p:to>
                                        <p:strVal val="visible"/>
                                      </p:to>
                                    </p:set>
                                    <p:animEffect filter="fade" transition="in">
                                      <p:cBhvr>
                                        <p:cTn dur="500"/>
                                        <p:tgtEl>
                                          <p:spTgt spid="3326"/>
                                        </p:tgtEl>
                                      </p:cBhvr>
                                    </p:animEffect>
                                  </p:childTnLst>
                                </p:cTn>
                              </p:par>
                              <p:par>
                                <p:cTn fill="hold" nodeType="withEffect" presetClass="entr" presetID="10" presetSubtype="0">
                                  <p:stCondLst>
                                    <p:cond delay="0"/>
                                  </p:stCondLst>
                                  <p:childTnLst>
                                    <p:set>
                                      <p:cBhvr>
                                        <p:cTn dur="1" fill="hold">
                                          <p:stCondLst>
                                            <p:cond delay="0"/>
                                          </p:stCondLst>
                                        </p:cTn>
                                        <p:tgtEl>
                                          <p:spTgt spid="3327"/>
                                        </p:tgtEl>
                                        <p:attrNameLst>
                                          <p:attrName>style.visibility</p:attrName>
                                        </p:attrNameLst>
                                      </p:cBhvr>
                                      <p:to>
                                        <p:strVal val="visible"/>
                                      </p:to>
                                    </p:set>
                                    <p:animEffect filter="fade" transition="in">
                                      <p:cBhvr>
                                        <p:cTn dur="500"/>
                                        <p:tgtEl>
                                          <p:spTgt spid="3327"/>
                                        </p:tgtEl>
                                      </p:cBhvr>
                                    </p:animEffect>
                                  </p:childTnLst>
                                </p:cTn>
                              </p:par>
                              <p:par>
                                <p:cTn fill="hold" nodeType="withEffect" presetClass="entr" presetID="10" presetSubtype="0">
                                  <p:stCondLst>
                                    <p:cond delay="0"/>
                                  </p:stCondLst>
                                  <p:childTnLst>
                                    <p:set>
                                      <p:cBhvr>
                                        <p:cTn dur="1" fill="hold">
                                          <p:stCondLst>
                                            <p:cond delay="0"/>
                                          </p:stCondLst>
                                        </p:cTn>
                                        <p:tgtEl>
                                          <p:spTgt spid="3328"/>
                                        </p:tgtEl>
                                        <p:attrNameLst>
                                          <p:attrName>style.visibility</p:attrName>
                                        </p:attrNameLst>
                                      </p:cBhvr>
                                      <p:to>
                                        <p:strVal val="visible"/>
                                      </p:to>
                                    </p:set>
                                    <p:animEffect filter="fade" transition="in">
                                      <p:cBhvr>
                                        <p:cTn dur="500"/>
                                        <p:tgtEl>
                                          <p:spTgt spid="3328"/>
                                        </p:tgtEl>
                                      </p:cBhvr>
                                    </p:animEffect>
                                  </p:childTnLst>
                                </p:cTn>
                              </p:par>
                              <p:par>
                                <p:cTn fill="hold" nodeType="withEffect" presetClass="entr" presetID="10" presetSubtype="0">
                                  <p:stCondLst>
                                    <p:cond delay="0"/>
                                  </p:stCondLst>
                                  <p:childTnLst>
                                    <p:set>
                                      <p:cBhvr>
                                        <p:cTn dur="1" fill="hold">
                                          <p:stCondLst>
                                            <p:cond delay="0"/>
                                          </p:stCondLst>
                                        </p:cTn>
                                        <p:tgtEl>
                                          <p:spTgt spid="3329"/>
                                        </p:tgtEl>
                                        <p:attrNameLst>
                                          <p:attrName>style.visibility</p:attrName>
                                        </p:attrNameLst>
                                      </p:cBhvr>
                                      <p:to>
                                        <p:strVal val="visible"/>
                                      </p:to>
                                    </p:set>
                                    <p:animEffect filter="fade" transition="in">
                                      <p:cBhvr>
                                        <p:cTn dur="500"/>
                                        <p:tgtEl>
                                          <p:spTgt spid="3329"/>
                                        </p:tgtEl>
                                      </p:cBhvr>
                                    </p:animEffect>
                                  </p:childTnLst>
                                </p:cTn>
                              </p:par>
                              <p:par>
                                <p:cTn fill="hold" nodeType="withEffect" presetClass="entr" presetID="10" presetSubtype="0">
                                  <p:stCondLst>
                                    <p:cond delay="0"/>
                                  </p:stCondLst>
                                  <p:childTnLst>
                                    <p:set>
                                      <p:cBhvr>
                                        <p:cTn dur="1" fill="hold">
                                          <p:stCondLst>
                                            <p:cond delay="0"/>
                                          </p:stCondLst>
                                        </p:cTn>
                                        <p:tgtEl>
                                          <p:spTgt spid="3330"/>
                                        </p:tgtEl>
                                        <p:attrNameLst>
                                          <p:attrName>style.visibility</p:attrName>
                                        </p:attrNameLst>
                                      </p:cBhvr>
                                      <p:to>
                                        <p:strVal val="visible"/>
                                      </p:to>
                                    </p:set>
                                    <p:animEffect filter="fade" transition="in">
                                      <p:cBhvr>
                                        <p:cTn dur="500"/>
                                        <p:tgtEl>
                                          <p:spTgt spid="3330"/>
                                        </p:tgtEl>
                                      </p:cBhvr>
                                    </p:animEffect>
                                  </p:childTnLst>
                                </p:cTn>
                              </p:par>
                              <p:par>
                                <p:cTn fill="hold" nodeType="withEffect" presetClass="entr" presetID="10" presetSubtype="0">
                                  <p:stCondLst>
                                    <p:cond delay="0"/>
                                  </p:stCondLst>
                                  <p:childTnLst>
                                    <p:set>
                                      <p:cBhvr>
                                        <p:cTn dur="1" fill="hold">
                                          <p:stCondLst>
                                            <p:cond delay="0"/>
                                          </p:stCondLst>
                                        </p:cTn>
                                        <p:tgtEl>
                                          <p:spTgt spid="3331"/>
                                        </p:tgtEl>
                                        <p:attrNameLst>
                                          <p:attrName>style.visibility</p:attrName>
                                        </p:attrNameLst>
                                      </p:cBhvr>
                                      <p:to>
                                        <p:strVal val="visible"/>
                                      </p:to>
                                    </p:set>
                                    <p:animEffect filter="fade" transition="in">
                                      <p:cBhvr>
                                        <p:cTn dur="500"/>
                                        <p:tgtEl>
                                          <p:spTgt spid="3331"/>
                                        </p:tgtEl>
                                      </p:cBhvr>
                                    </p:animEffect>
                                  </p:childTnLst>
                                </p:cTn>
                              </p:par>
                              <p:par>
                                <p:cTn fill="hold" nodeType="withEffect" presetClass="entr" presetID="10" presetSubtype="0">
                                  <p:stCondLst>
                                    <p:cond delay="0"/>
                                  </p:stCondLst>
                                  <p:childTnLst>
                                    <p:set>
                                      <p:cBhvr>
                                        <p:cTn dur="1" fill="hold">
                                          <p:stCondLst>
                                            <p:cond delay="0"/>
                                          </p:stCondLst>
                                        </p:cTn>
                                        <p:tgtEl>
                                          <p:spTgt spid="3332"/>
                                        </p:tgtEl>
                                        <p:attrNameLst>
                                          <p:attrName>style.visibility</p:attrName>
                                        </p:attrNameLst>
                                      </p:cBhvr>
                                      <p:to>
                                        <p:strVal val="visible"/>
                                      </p:to>
                                    </p:set>
                                    <p:animEffect filter="fade" transition="in">
                                      <p:cBhvr>
                                        <p:cTn dur="500"/>
                                        <p:tgtEl>
                                          <p:spTgt spid="3332"/>
                                        </p:tgtEl>
                                      </p:cBhvr>
                                    </p:animEffect>
                                  </p:childTnLst>
                                </p:cTn>
                              </p:par>
                              <p:par>
                                <p:cTn fill="hold" nodeType="withEffect" presetClass="entr" presetID="10" presetSubtype="0">
                                  <p:stCondLst>
                                    <p:cond delay="0"/>
                                  </p:stCondLst>
                                  <p:childTnLst>
                                    <p:set>
                                      <p:cBhvr>
                                        <p:cTn dur="1" fill="hold">
                                          <p:stCondLst>
                                            <p:cond delay="0"/>
                                          </p:stCondLst>
                                        </p:cTn>
                                        <p:tgtEl>
                                          <p:spTgt spid="3333"/>
                                        </p:tgtEl>
                                        <p:attrNameLst>
                                          <p:attrName>style.visibility</p:attrName>
                                        </p:attrNameLst>
                                      </p:cBhvr>
                                      <p:to>
                                        <p:strVal val="visible"/>
                                      </p:to>
                                    </p:set>
                                    <p:animEffect filter="fade" transition="in">
                                      <p:cBhvr>
                                        <p:cTn dur="500"/>
                                        <p:tgtEl>
                                          <p:spTgt spid="3333"/>
                                        </p:tgtEl>
                                      </p:cBhvr>
                                    </p:animEffect>
                                  </p:childTnLst>
                                </p:cTn>
                              </p:par>
                              <p:par>
                                <p:cTn fill="hold" nodeType="withEffect" presetClass="entr" presetID="10" presetSubtype="0">
                                  <p:stCondLst>
                                    <p:cond delay="0"/>
                                  </p:stCondLst>
                                  <p:childTnLst>
                                    <p:set>
                                      <p:cBhvr>
                                        <p:cTn dur="1" fill="hold">
                                          <p:stCondLst>
                                            <p:cond delay="0"/>
                                          </p:stCondLst>
                                        </p:cTn>
                                        <p:tgtEl>
                                          <p:spTgt spid="3334"/>
                                        </p:tgtEl>
                                        <p:attrNameLst>
                                          <p:attrName>style.visibility</p:attrName>
                                        </p:attrNameLst>
                                      </p:cBhvr>
                                      <p:to>
                                        <p:strVal val="visible"/>
                                      </p:to>
                                    </p:set>
                                    <p:animEffect filter="fade" transition="in">
                                      <p:cBhvr>
                                        <p:cTn dur="500"/>
                                        <p:tgtEl>
                                          <p:spTgt spid="3334"/>
                                        </p:tgtEl>
                                      </p:cBhvr>
                                    </p:animEffect>
                                  </p:childTnLst>
                                </p:cTn>
                              </p:par>
                              <p:par>
                                <p:cTn fill="hold" nodeType="withEffect" presetClass="entr" presetID="10" presetSubtype="0">
                                  <p:stCondLst>
                                    <p:cond delay="0"/>
                                  </p:stCondLst>
                                  <p:childTnLst>
                                    <p:set>
                                      <p:cBhvr>
                                        <p:cTn dur="1" fill="hold">
                                          <p:stCondLst>
                                            <p:cond delay="0"/>
                                          </p:stCondLst>
                                        </p:cTn>
                                        <p:tgtEl>
                                          <p:spTgt spid="3335"/>
                                        </p:tgtEl>
                                        <p:attrNameLst>
                                          <p:attrName>style.visibility</p:attrName>
                                        </p:attrNameLst>
                                      </p:cBhvr>
                                      <p:to>
                                        <p:strVal val="visible"/>
                                      </p:to>
                                    </p:set>
                                    <p:animEffect filter="fade" transition="in">
                                      <p:cBhvr>
                                        <p:cTn dur="500"/>
                                        <p:tgtEl>
                                          <p:spTgt spid="3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1" name="Shape 3341"/>
        <p:cNvGrpSpPr/>
        <p:nvPr/>
      </p:nvGrpSpPr>
      <p:grpSpPr>
        <a:xfrm>
          <a:off x="0" y="0"/>
          <a:ext cx="0" cy="0"/>
          <a:chOff x="0" y="0"/>
          <a:chExt cx="0" cy="0"/>
        </a:xfrm>
      </p:grpSpPr>
      <p:sp>
        <p:nvSpPr>
          <p:cNvPr id="3342" name="Google Shape;3342;p4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rdt1.0: </a:t>
            </a:r>
            <a:r>
              <a:rPr lang="en-US" sz="4400"/>
              <a:t>reliable transfer over a reliable channel</a:t>
            </a:r>
            <a:endParaRPr/>
          </a:p>
        </p:txBody>
      </p:sp>
      <p:sp>
        <p:nvSpPr>
          <p:cNvPr id="3343" name="Google Shape;3343;p48"/>
          <p:cNvSpPr txBox="1"/>
          <p:nvPr/>
        </p:nvSpPr>
        <p:spPr>
          <a:xfrm>
            <a:off x="798690" y="1370551"/>
            <a:ext cx="7896225" cy="301942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underlying channel perfectly reliable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bit errors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loss of packets</a:t>
            </a:r>
            <a:endParaRPr/>
          </a:p>
        </p:txBody>
      </p:sp>
      <p:sp>
        <p:nvSpPr>
          <p:cNvPr id="3344" name="Google Shape;3344;p48"/>
          <p:cNvSpPr/>
          <p:nvPr/>
        </p:nvSpPr>
        <p:spPr>
          <a:xfrm>
            <a:off x="2850759" y="4627024"/>
            <a:ext cx="611187" cy="102711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45" name="Google Shape;3345;p48"/>
          <p:cNvSpPr txBox="1"/>
          <p:nvPr/>
        </p:nvSpPr>
        <p:spPr>
          <a:xfrm>
            <a:off x="3251680" y="5048046"/>
            <a:ext cx="2682875" cy="5984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 make_pkt(data)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udt_send(packet)</a:t>
            </a:r>
            <a:endParaRPr b="0" i="0" sz="1600" u="none" cap="none" strike="noStrike">
              <a:solidFill>
                <a:srgbClr val="000000"/>
              </a:solidFill>
              <a:latin typeface="Times New Roman"/>
              <a:ea typeface="Times New Roman"/>
              <a:cs typeface="Times New Roman"/>
              <a:sym typeface="Times New Roman"/>
            </a:endParaRPr>
          </a:p>
        </p:txBody>
      </p:sp>
      <p:grpSp>
        <p:nvGrpSpPr>
          <p:cNvPr id="3346" name="Google Shape;3346;p48"/>
          <p:cNvGrpSpPr/>
          <p:nvPr/>
        </p:nvGrpSpPr>
        <p:grpSpPr>
          <a:xfrm>
            <a:off x="3261921" y="4671474"/>
            <a:ext cx="2255838" cy="428625"/>
            <a:chOff x="3084121" y="4379374"/>
            <a:chExt cx="2255838" cy="428625"/>
          </a:xfrm>
        </p:grpSpPr>
        <p:sp>
          <p:nvSpPr>
            <p:cNvPr id="3347" name="Google Shape;3347;p48"/>
            <p:cNvSpPr txBox="1"/>
            <p:nvPr/>
          </p:nvSpPr>
          <p:spPr>
            <a:xfrm>
              <a:off x="3084121" y="4379374"/>
              <a:ext cx="22558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348" name="Google Shape;3348;p48"/>
            <p:cNvCxnSpPr/>
            <p:nvPr/>
          </p:nvCxnSpPr>
          <p:spPr>
            <a:xfrm>
              <a:off x="3184134" y="4722274"/>
              <a:ext cx="1296987" cy="0"/>
            </a:xfrm>
            <a:prstGeom prst="straightConnector1">
              <a:avLst/>
            </a:prstGeom>
            <a:noFill/>
            <a:ln cap="flat" cmpd="sng" w="19050">
              <a:solidFill>
                <a:srgbClr val="000000"/>
              </a:solidFill>
              <a:prstDash val="solid"/>
              <a:round/>
              <a:headEnd len="med" w="med" type="none"/>
              <a:tailEnd len="med" w="med" type="none"/>
            </a:ln>
          </p:spPr>
        </p:cxnSp>
      </p:grpSp>
      <p:sp>
        <p:nvSpPr>
          <p:cNvPr id="3349" name="Google Shape;3349;p48"/>
          <p:cNvSpPr txBox="1"/>
          <p:nvPr/>
        </p:nvSpPr>
        <p:spPr>
          <a:xfrm>
            <a:off x="9581566" y="5063272"/>
            <a:ext cx="2487612"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 (packet,data)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b="0" i="0" sz="1600" u="none" cap="none" strike="noStrike">
              <a:solidFill>
                <a:srgbClr val="000000"/>
              </a:solidFill>
              <a:latin typeface="Times New Roman"/>
              <a:ea typeface="Times New Roman"/>
              <a:cs typeface="Times New Roman"/>
              <a:sym typeface="Times New Roman"/>
            </a:endParaRPr>
          </a:p>
        </p:txBody>
      </p:sp>
      <p:sp>
        <p:nvSpPr>
          <p:cNvPr id="3350" name="Google Shape;3350;p48"/>
          <p:cNvSpPr/>
          <p:nvPr/>
        </p:nvSpPr>
        <p:spPr>
          <a:xfrm>
            <a:off x="9171991" y="4666397"/>
            <a:ext cx="611187" cy="102711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51" name="Google Shape;3351;p48"/>
          <p:cNvGrpSpPr/>
          <p:nvPr/>
        </p:nvGrpSpPr>
        <p:grpSpPr>
          <a:xfrm>
            <a:off x="9597441" y="4742597"/>
            <a:ext cx="1541462" cy="336550"/>
            <a:chOff x="9419641" y="4450497"/>
            <a:chExt cx="1541462" cy="336550"/>
          </a:xfrm>
        </p:grpSpPr>
        <p:cxnSp>
          <p:nvCxnSpPr>
            <p:cNvPr id="3352" name="Google Shape;3352;p48"/>
            <p:cNvCxnSpPr/>
            <p:nvPr/>
          </p:nvCxnSpPr>
          <p:spPr>
            <a:xfrm>
              <a:off x="9505366" y="4774347"/>
              <a:ext cx="1296987" cy="0"/>
            </a:xfrm>
            <a:prstGeom prst="straightConnector1">
              <a:avLst/>
            </a:prstGeom>
            <a:noFill/>
            <a:ln cap="flat" cmpd="sng" w="19050">
              <a:solidFill>
                <a:srgbClr val="000000"/>
              </a:solidFill>
              <a:prstDash val="solid"/>
              <a:round/>
              <a:headEnd len="med" w="med" type="none"/>
              <a:tailEnd len="med" w="med" type="none"/>
            </a:ln>
          </p:spPr>
        </p:cxnSp>
        <p:sp>
          <p:nvSpPr>
            <p:cNvPr id="3353" name="Google Shape;3353;p48"/>
            <p:cNvSpPr/>
            <p:nvPr/>
          </p:nvSpPr>
          <p:spPr>
            <a:xfrm>
              <a:off x="9419641" y="4450497"/>
              <a:ext cx="1541462" cy="3365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rdt_rcv(packet)</a:t>
              </a:r>
              <a:endParaRPr/>
            </a:p>
          </p:txBody>
        </p:sp>
      </p:grpSp>
      <p:grpSp>
        <p:nvGrpSpPr>
          <p:cNvPr id="3354" name="Google Shape;3354;p48"/>
          <p:cNvGrpSpPr/>
          <p:nvPr/>
        </p:nvGrpSpPr>
        <p:grpSpPr>
          <a:xfrm>
            <a:off x="6812375" y="4666397"/>
            <a:ext cx="2496141" cy="1027113"/>
            <a:chOff x="6075775" y="5479197"/>
            <a:chExt cx="2496141" cy="1027113"/>
          </a:xfrm>
        </p:grpSpPr>
        <p:sp>
          <p:nvSpPr>
            <p:cNvPr id="3355" name="Google Shape;3355;p48"/>
            <p:cNvSpPr/>
            <p:nvPr/>
          </p:nvSpPr>
          <p:spPr>
            <a:xfrm>
              <a:off x="7536866" y="5495072"/>
              <a:ext cx="955675" cy="101123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356" name="Google Shape;3356;p48"/>
            <p:cNvSpPr txBox="1"/>
            <p:nvPr/>
          </p:nvSpPr>
          <p:spPr>
            <a:xfrm>
              <a:off x="7473366" y="5580797"/>
              <a:ext cx="1098550" cy="9128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cxnSp>
          <p:nvCxnSpPr>
            <p:cNvPr id="3357" name="Google Shape;3357;p48"/>
            <p:cNvCxnSpPr/>
            <p:nvPr/>
          </p:nvCxnSpPr>
          <p:spPr>
            <a:xfrm>
              <a:off x="7213016" y="5479197"/>
              <a:ext cx="385762" cy="242888"/>
            </a:xfrm>
            <a:prstGeom prst="straightConnector1">
              <a:avLst/>
            </a:prstGeom>
            <a:noFill/>
            <a:ln cap="flat" cmpd="sng" w="9525">
              <a:solidFill>
                <a:srgbClr val="000000"/>
              </a:solidFill>
              <a:prstDash val="dash"/>
              <a:round/>
              <a:headEnd len="med" w="med" type="none"/>
              <a:tailEnd len="med" w="med" type="triangle"/>
            </a:ln>
          </p:spPr>
        </p:cxnSp>
        <p:sp>
          <p:nvSpPr>
            <p:cNvPr id="3358" name="Google Shape;3358;p48"/>
            <p:cNvSpPr txBox="1"/>
            <p:nvPr/>
          </p:nvSpPr>
          <p:spPr>
            <a:xfrm>
              <a:off x="6075775" y="5745404"/>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grpSp>
      <p:pic>
        <p:nvPicPr>
          <p:cNvPr descr="Image result for easy button&quot;" id="3359" name="Google Shape;3359;p48"/>
          <p:cNvPicPr preferRelativeResize="0"/>
          <p:nvPr/>
        </p:nvPicPr>
        <p:blipFill rotWithShape="1">
          <a:blip r:embed="rId3">
            <a:alphaModFix/>
          </a:blip>
          <a:srcRect b="0" l="0" r="0" t="0"/>
          <a:stretch/>
        </p:blipFill>
        <p:spPr>
          <a:xfrm>
            <a:off x="8237940" y="1871323"/>
            <a:ext cx="2139751" cy="2139751"/>
          </a:xfrm>
          <a:prstGeom prst="rect">
            <a:avLst/>
          </a:prstGeom>
          <a:noFill/>
          <a:ln>
            <a:noFill/>
          </a:ln>
        </p:spPr>
      </p:pic>
      <p:sp>
        <p:nvSpPr>
          <p:cNvPr id="3360" name="Google Shape;3360;p48"/>
          <p:cNvSpPr txBox="1"/>
          <p:nvPr/>
        </p:nvSpPr>
        <p:spPr>
          <a:xfrm>
            <a:off x="798690" y="2794001"/>
            <a:ext cx="7896225" cy="15113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separate</a:t>
            </a:r>
            <a:r>
              <a:rPr b="0" i="0" lang="en-US" sz="2800" u="none" cap="none" strike="noStrike">
                <a:solidFill>
                  <a:srgbClr val="000000"/>
                </a:solidFill>
                <a:latin typeface="Calibri"/>
                <a:ea typeface="Calibri"/>
                <a:cs typeface="Calibri"/>
                <a:sym typeface="Calibri"/>
              </a:rPr>
              <a:t> FSMs for sender, receiver: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sends data into underlying channel</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reads data from underlying channel</a:t>
            </a:r>
            <a:endParaRPr/>
          </a:p>
        </p:txBody>
      </p:sp>
      <p:grpSp>
        <p:nvGrpSpPr>
          <p:cNvPr id="3361" name="Google Shape;3361;p48"/>
          <p:cNvGrpSpPr/>
          <p:nvPr/>
        </p:nvGrpSpPr>
        <p:grpSpPr>
          <a:xfrm>
            <a:off x="706840" y="4601624"/>
            <a:ext cx="2271310" cy="1027112"/>
            <a:chOff x="262340" y="5579524"/>
            <a:chExt cx="2271310" cy="1027112"/>
          </a:xfrm>
        </p:grpSpPr>
        <p:grpSp>
          <p:nvGrpSpPr>
            <p:cNvPr id="3362" name="Google Shape;3362;p48"/>
            <p:cNvGrpSpPr/>
            <p:nvPr/>
          </p:nvGrpSpPr>
          <p:grpSpPr>
            <a:xfrm>
              <a:off x="262340" y="5579524"/>
              <a:ext cx="2201069" cy="1027112"/>
              <a:chOff x="795740" y="4614324"/>
              <a:chExt cx="2201069" cy="1027112"/>
            </a:xfrm>
          </p:grpSpPr>
          <p:cxnSp>
            <p:nvCxnSpPr>
              <p:cNvPr id="3363" name="Google Shape;3363;p48"/>
              <p:cNvCxnSpPr/>
              <p:nvPr/>
            </p:nvCxnSpPr>
            <p:spPr>
              <a:xfrm>
                <a:off x="1717284" y="4614324"/>
                <a:ext cx="385762" cy="242887"/>
              </a:xfrm>
              <a:prstGeom prst="straightConnector1">
                <a:avLst/>
              </a:prstGeom>
              <a:noFill/>
              <a:ln cap="flat" cmpd="sng" w="9525">
                <a:solidFill>
                  <a:srgbClr val="000000"/>
                </a:solidFill>
                <a:prstDash val="dash"/>
                <a:round/>
                <a:headEnd len="med" w="med" type="none"/>
                <a:tailEnd len="med" w="med" type="triangle"/>
              </a:ln>
            </p:spPr>
          </p:cxnSp>
          <p:sp>
            <p:nvSpPr>
              <p:cNvPr id="3364" name="Google Shape;3364;p48"/>
              <p:cNvSpPr txBox="1"/>
              <p:nvPr/>
            </p:nvSpPr>
            <p:spPr>
              <a:xfrm>
                <a:off x="795740" y="4985781"/>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365" name="Google Shape;3365;p48"/>
              <p:cNvSpPr/>
              <p:nvPr/>
            </p:nvSpPr>
            <p:spPr>
              <a:xfrm>
                <a:off x="2041134" y="4630199"/>
                <a:ext cx="955675" cy="1011237"/>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366" name="Google Shape;3366;p48"/>
            <p:cNvSpPr txBox="1"/>
            <p:nvPr/>
          </p:nvSpPr>
          <p:spPr>
            <a:xfrm>
              <a:off x="1435100" y="5693824"/>
              <a:ext cx="1098550" cy="9128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sp>
        <p:nvSpPr>
          <p:cNvPr id="3367" name="Google Shape;3367;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0"/>
                                        </p:tgtEl>
                                        <p:attrNameLst>
                                          <p:attrName>style.visibility</p:attrName>
                                        </p:attrNameLst>
                                      </p:cBhvr>
                                      <p:to>
                                        <p:strVal val="visible"/>
                                      </p:to>
                                    </p:set>
                                    <p:animEffect filter="fade" transition="in">
                                      <p:cBhvr>
                                        <p:cTn dur="500"/>
                                        <p:tgtEl>
                                          <p:spTgt spid="3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1"/>
                                        </p:tgtEl>
                                        <p:attrNameLst>
                                          <p:attrName>style.visibility</p:attrName>
                                        </p:attrNameLst>
                                      </p:cBhvr>
                                      <p:to>
                                        <p:strVal val="visible"/>
                                      </p:to>
                                    </p:set>
                                    <p:animEffect filter="fade" transition="in">
                                      <p:cBhvr>
                                        <p:cTn dur="500"/>
                                        <p:tgtEl>
                                          <p:spTgt spid="3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4"/>
                                        </p:tgtEl>
                                        <p:attrNameLst>
                                          <p:attrName>style.visibility</p:attrName>
                                        </p:attrNameLst>
                                      </p:cBhvr>
                                      <p:to>
                                        <p:strVal val="visible"/>
                                      </p:to>
                                    </p:set>
                                    <p:animEffect filter="fade" transition="in">
                                      <p:cBhvr>
                                        <p:cTn dur="500"/>
                                        <p:tgtEl>
                                          <p:spTgt spid="33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46"/>
                                        </p:tgtEl>
                                        <p:attrNameLst>
                                          <p:attrName>style.visibility</p:attrName>
                                        </p:attrNameLst>
                                      </p:cBhvr>
                                      <p:to>
                                        <p:strVal val="visible"/>
                                      </p:to>
                                    </p:set>
                                    <p:animEffect filter="fade" transition="in">
                                      <p:cBhvr>
                                        <p:cTn dur="500"/>
                                        <p:tgtEl>
                                          <p:spTgt spid="33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45"/>
                                        </p:tgtEl>
                                        <p:attrNameLst>
                                          <p:attrName>style.visibility</p:attrName>
                                        </p:attrNameLst>
                                      </p:cBhvr>
                                      <p:to>
                                        <p:strVal val="visible"/>
                                      </p:to>
                                    </p:set>
                                    <p:animEffect filter="fade" transition="in">
                                      <p:cBhvr>
                                        <p:cTn dur="500"/>
                                        <p:tgtEl>
                                          <p:spTgt spid="3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4"/>
                                        </p:tgtEl>
                                        <p:attrNameLst>
                                          <p:attrName>style.visibility</p:attrName>
                                        </p:attrNameLst>
                                      </p:cBhvr>
                                      <p:to>
                                        <p:strVal val="visible"/>
                                      </p:to>
                                    </p:set>
                                    <p:animEffect filter="fade" transition="in">
                                      <p:cBhvr>
                                        <p:cTn dur="500"/>
                                        <p:tgtEl>
                                          <p:spTgt spid="3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0"/>
                                        </p:tgtEl>
                                        <p:attrNameLst>
                                          <p:attrName>style.visibility</p:attrName>
                                        </p:attrNameLst>
                                      </p:cBhvr>
                                      <p:to>
                                        <p:strVal val="visible"/>
                                      </p:to>
                                    </p:set>
                                    <p:animEffect filter="fade" transition="in">
                                      <p:cBhvr>
                                        <p:cTn dur="500"/>
                                        <p:tgtEl>
                                          <p:spTgt spid="33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51"/>
                                        </p:tgtEl>
                                        <p:attrNameLst>
                                          <p:attrName>style.visibility</p:attrName>
                                        </p:attrNameLst>
                                      </p:cBhvr>
                                      <p:to>
                                        <p:strVal val="visible"/>
                                      </p:to>
                                    </p:set>
                                    <p:animEffect filter="fade" transition="in">
                                      <p:cBhvr>
                                        <p:cTn dur="500"/>
                                        <p:tgtEl>
                                          <p:spTgt spid="335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49"/>
                                        </p:tgtEl>
                                        <p:attrNameLst>
                                          <p:attrName>style.visibility</p:attrName>
                                        </p:attrNameLst>
                                      </p:cBhvr>
                                      <p:to>
                                        <p:strVal val="visible"/>
                                      </p:to>
                                    </p:set>
                                    <p:animEffect filter="fade" transition="in">
                                      <p:cBhvr>
                                        <p:cTn dur="500"/>
                                        <p:tgtEl>
                                          <p:spTgt spid="3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9"/>
                                        </p:tgtEl>
                                        <p:attrNameLst>
                                          <p:attrName>style.visibility</p:attrName>
                                        </p:attrNameLst>
                                      </p:cBhvr>
                                      <p:to>
                                        <p:strVal val="visible"/>
                                      </p:to>
                                    </p:set>
                                    <p:animEffect filter="fade" transition="in">
                                      <p:cBhvr>
                                        <p:cTn dur="500"/>
                                        <p:tgtEl>
                                          <p:spTgt spid="3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2" name="Shape 3372"/>
        <p:cNvGrpSpPr/>
        <p:nvPr/>
      </p:nvGrpSpPr>
      <p:grpSpPr>
        <a:xfrm>
          <a:off x="0" y="0"/>
          <a:ext cx="0" cy="0"/>
          <a:chOff x="0" y="0"/>
          <a:chExt cx="0" cy="0"/>
        </a:xfrm>
      </p:grpSpPr>
      <p:sp>
        <p:nvSpPr>
          <p:cNvPr id="3373" name="Google Shape;3373;p4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3374" name="Google Shape;3374;p49"/>
          <p:cNvSpPr txBox="1"/>
          <p:nvPr/>
        </p:nvSpPr>
        <p:spPr>
          <a:xfrm>
            <a:off x="673994" y="1482748"/>
            <a:ext cx="11100625" cy="4448175"/>
          </a:xfrm>
          <a:prstGeom prst="rect">
            <a:avLst/>
          </a:prstGeom>
          <a:noFill/>
          <a:ln>
            <a:noFill/>
          </a:ln>
        </p:spPr>
        <p:txBody>
          <a:bodyPr anchorCtr="0" anchor="t" bIns="45700" lIns="91425" spcFirstLastPara="1" rIns="91425" wrap="square" tIns="45700">
            <a:normAutofit/>
          </a:bodyPr>
          <a:lstStyle/>
          <a:p>
            <a:pPr indent="-292100" lvl="0" marL="457200"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28600" lvl="1" marL="800100" marR="0" rtl="0" algn="l">
              <a:lnSpc>
                <a:spcPct val="7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(e.g., Internet checksum) to detect bit errors</a:t>
            </a:r>
            <a:endParaRPr/>
          </a:p>
          <a:p>
            <a:pPr indent="-292100" lvl="0" marL="457200"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3375" name="Google Shape;3375;p49"/>
          <p:cNvSpPr txBox="1"/>
          <p:nvPr/>
        </p:nvSpPr>
        <p:spPr>
          <a:xfrm>
            <a:off x="1328236" y="3911182"/>
            <a:ext cx="1004153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3200"/>
              <a:buFont typeface="Calibri"/>
              <a:buNone/>
            </a:pPr>
            <a:r>
              <a:rPr b="0" i="1" lang="en-US" sz="3200" u="none" cap="none" strike="noStrike">
                <a:solidFill>
                  <a:srgbClr val="CC0000"/>
                </a:solidFill>
                <a:latin typeface="Calibri"/>
                <a:ea typeface="Calibri"/>
                <a:cs typeface="Calibri"/>
                <a:sym typeface="Calibri"/>
              </a:rPr>
              <a:t>How do humans recover from “errors” during conversation?</a:t>
            </a:r>
            <a:endParaRPr/>
          </a:p>
        </p:txBody>
      </p:sp>
      <p:sp>
        <p:nvSpPr>
          <p:cNvPr id="3376" name="Google Shape;3376;p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1" name="Shape 3381"/>
        <p:cNvGrpSpPr/>
        <p:nvPr/>
      </p:nvGrpSpPr>
      <p:grpSpPr>
        <a:xfrm>
          <a:off x="0" y="0"/>
          <a:ext cx="0" cy="0"/>
          <a:chOff x="0" y="0"/>
          <a:chExt cx="0" cy="0"/>
        </a:xfrm>
      </p:grpSpPr>
      <p:sp>
        <p:nvSpPr>
          <p:cNvPr id="3382" name="Google Shape;3382;p5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3383" name="Google Shape;3383;p50"/>
          <p:cNvSpPr txBox="1"/>
          <p:nvPr/>
        </p:nvSpPr>
        <p:spPr>
          <a:xfrm>
            <a:off x="673994" y="1274398"/>
            <a:ext cx="11100625" cy="4448175"/>
          </a:xfrm>
          <a:prstGeom prst="rect">
            <a:avLst/>
          </a:prstGeom>
          <a:noFill/>
          <a:ln>
            <a:noFill/>
          </a:ln>
        </p:spPr>
        <p:txBody>
          <a:bodyPr anchorCtr="0" anchor="t" bIns="45700" lIns="91425" spcFirstLastPara="1" rIns="91425" wrap="square" tIns="45700">
            <a:normAutofit/>
          </a:bodyPr>
          <a:lstStyle/>
          <a:p>
            <a:pPr indent="-295275" lvl="0" marL="409575"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31775" lvl="1" marL="695325" marR="0" rtl="0" algn="l">
              <a:lnSpc>
                <a:spcPct val="80000"/>
              </a:lnSpc>
              <a:spcBef>
                <a:spcPts val="8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to detect bit errors</a:t>
            </a:r>
            <a:endParaRPr/>
          </a:p>
          <a:p>
            <a:pPr indent="-279400" lvl="0" marL="409575"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3384" name="Google Shape;3384;p50"/>
          <p:cNvSpPr txBox="1"/>
          <p:nvPr/>
        </p:nvSpPr>
        <p:spPr>
          <a:xfrm>
            <a:off x="662419" y="2680738"/>
            <a:ext cx="11004862" cy="2157003"/>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acknowledgements (ACKs):</a:t>
            </a:r>
            <a:r>
              <a:rPr b="0" i="0" lang="en-US" sz="2800" u="none" cap="none" strike="noStrike">
                <a:solidFill>
                  <a:srgbClr val="000000"/>
                </a:solidFill>
                <a:latin typeface="Calibri"/>
                <a:ea typeface="Calibri"/>
                <a:cs typeface="Calibri"/>
                <a:sym typeface="Calibri"/>
              </a:rPr>
              <a:t> receiver explicitly tells sender that pkt received OK</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negative acknowledgements (NAKs):</a:t>
            </a:r>
            <a:r>
              <a:rPr b="0" i="0" lang="en-US" sz="2800" u="none" cap="none" strike="noStrike">
                <a:solidFill>
                  <a:srgbClr val="000000"/>
                </a:solidFill>
                <a:latin typeface="Calibri"/>
                <a:ea typeface="Calibri"/>
                <a:cs typeface="Calibri"/>
                <a:sym typeface="Calibri"/>
              </a:rPr>
              <a:t> receiver explicitly tells sender that pkt had errors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a:t>
            </a:r>
            <a:r>
              <a:rPr b="0" i="1" lang="en-US" sz="2800" u="none" cap="none" strike="noStrike">
                <a:solidFill>
                  <a:srgbClr val="C00000"/>
                </a:solidFill>
                <a:latin typeface="Calibri"/>
                <a:ea typeface="Calibri"/>
                <a:cs typeface="Calibri"/>
                <a:sym typeface="Calibri"/>
              </a:rPr>
              <a:t>retransmits</a:t>
            </a:r>
            <a:r>
              <a:rPr b="0" i="0" lang="en-US" sz="2800" u="none" cap="none" strike="noStrike">
                <a:solidFill>
                  <a:srgbClr val="000000"/>
                </a:solidFill>
                <a:latin typeface="Calibri"/>
                <a:ea typeface="Calibri"/>
                <a:cs typeface="Calibri"/>
                <a:sym typeface="Calibri"/>
              </a:rPr>
              <a:t> pkt on receipt of NAK</a:t>
            </a:r>
            <a:endParaRPr/>
          </a:p>
        </p:txBody>
      </p:sp>
      <p:grpSp>
        <p:nvGrpSpPr>
          <p:cNvPr id="3385" name="Google Shape;3385;p50"/>
          <p:cNvGrpSpPr/>
          <p:nvPr/>
        </p:nvGrpSpPr>
        <p:grpSpPr>
          <a:xfrm>
            <a:off x="937549" y="5087784"/>
            <a:ext cx="10729731" cy="1466850"/>
            <a:chOff x="1552" y="2800"/>
            <a:chExt cx="2578" cy="924"/>
          </a:xfrm>
        </p:grpSpPr>
        <p:sp>
          <p:nvSpPr>
            <p:cNvPr id="3386" name="Google Shape;3386;p50"/>
            <p:cNvSpPr/>
            <p:nvPr/>
          </p:nvSpPr>
          <p:spPr>
            <a:xfrm>
              <a:off x="1552" y="2974"/>
              <a:ext cx="2578" cy="59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387" name="Google Shape;3387;p50"/>
            <p:cNvSpPr/>
            <p:nvPr/>
          </p:nvSpPr>
          <p:spPr>
            <a:xfrm>
              <a:off x="2226" y="2864"/>
              <a:ext cx="88"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388" name="Google Shape;3388;p50"/>
            <p:cNvSpPr txBox="1"/>
            <p:nvPr/>
          </p:nvSpPr>
          <p:spPr>
            <a:xfrm>
              <a:off x="1724" y="2800"/>
              <a:ext cx="687"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3389" name="Google Shape;3389;p50"/>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3390" name="Google Shape;3390;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3"/>
                                        </p:tgtEl>
                                        <p:attrNameLst>
                                          <p:attrName>style.visibility</p:attrName>
                                        </p:attrNameLst>
                                      </p:cBhvr>
                                      <p:to>
                                        <p:strVal val="visible"/>
                                      </p:to>
                                    </p:set>
                                    <p:animEffect filter="fade" transition="in">
                                      <p:cBhvr>
                                        <p:cTn dur="500"/>
                                        <p:tgtEl>
                                          <p:spTgt spid="3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4">
                                            <p:txEl>
                                              <p:pRg end="0" st="0"/>
                                            </p:txEl>
                                          </p:spTgt>
                                        </p:tgtEl>
                                        <p:attrNameLst>
                                          <p:attrName>style.visibility</p:attrName>
                                        </p:attrNameLst>
                                      </p:cBhvr>
                                      <p:to>
                                        <p:strVal val="visible"/>
                                      </p:to>
                                    </p:set>
                                    <p:animEffect filter="fade" transition="in">
                                      <p:cBhvr>
                                        <p:cTn dur="500"/>
                                        <p:tgtEl>
                                          <p:spTgt spid="33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4">
                                            <p:txEl>
                                              <p:pRg end="1" st="1"/>
                                            </p:txEl>
                                          </p:spTgt>
                                        </p:tgtEl>
                                        <p:attrNameLst>
                                          <p:attrName>style.visibility</p:attrName>
                                        </p:attrNameLst>
                                      </p:cBhvr>
                                      <p:to>
                                        <p:strVal val="visible"/>
                                      </p:to>
                                    </p:set>
                                    <p:animEffect filter="fade" transition="in">
                                      <p:cBhvr>
                                        <p:cTn dur="500"/>
                                        <p:tgtEl>
                                          <p:spTgt spid="33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4">
                                            <p:txEl>
                                              <p:pRg end="2" st="2"/>
                                            </p:txEl>
                                          </p:spTgt>
                                        </p:tgtEl>
                                        <p:attrNameLst>
                                          <p:attrName>style.visibility</p:attrName>
                                        </p:attrNameLst>
                                      </p:cBhvr>
                                      <p:to>
                                        <p:strVal val="visible"/>
                                      </p:to>
                                    </p:set>
                                    <p:animEffect filter="fade" transition="in">
                                      <p:cBhvr>
                                        <p:cTn dur="500"/>
                                        <p:tgtEl>
                                          <p:spTgt spid="33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5"/>
                                        </p:tgtEl>
                                        <p:attrNameLst>
                                          <p:attrName>style.visibility</p:attrName>
                                        </p:attrNameLst>
                                      </p:cBhvr>
                                      <p:to>
                                        <p:strVal val="visible"/>
                                      </p:to>
                                    </p:set>
                                    <p:animEffect filter="fade" transition="in">
                                      <p:cBhvr>
                                        <p:cTn dur="500"/>
                                        <p:tgtEl>
                                          <p:spTgt spid="3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5" name="Shape 3395"/>
        <p:cNvGrpSpPr/>
        <p:nvPr/>
      </p:nvGrpSpPr>
      <p:grpSpPr>
        <a:xfrm>
          <a:off x="0" y="0"/>
          <a:ext cx="0" cy="0"/>
          <a:chOff x="0" y="0"/>
          <a:chExt cx="0" cy="0"/>
        </a:xfrm>
      </p:grpSpPr>
      <p:sp>
        <p:nvSpPr>
          <p:cNvPr id="3396" name="Google Shape;3396;p51"/>
          <p:cNvSpPr/>
          <p:nvPr/>
        </p:nvSpPr>
        <p:spPr>
          <a:xfrm>
            <a:off x="9870220" y="5077299"/>
            <a:ext cx="1669250"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7" name="Google Shape;3397;p51"/>
          <p:cNvSpPr/>
          <p:nvPr/>
        </p:nvSpPr>
        <p:spPr>
          <a:xfrm>
            <a:off x="10103160" y="2734197"/>
            <a:ext cx="1333279"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8" name="Google Shape;3398;p5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specifications</a:t>
            </a:r>
            <a:endParaRPr sz="4400"/>
          </a:p>
        </p:txBody>
      </p:sp>
      <p:sp>
        <p:nvSpPr>
          <p:cNvPr id="3399" name="Google Shape;3399;p51"/>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00" name="Google Shape;3400;p51"/>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3401" name="Google Shape;3401;p51"/>
          <p:cNvGrpSpPr/>
          <p:nvPr/>
        </p:nvGrpSpPr>
        <p:grpSpPr>
          <a:xfrm>
            <a:off x="5004826" y="2400535"/>
            <a:ext cx="3673475" cy="919271"/>
            <a:chOff x="5004826" y="2400535"/>
            <a:chExt cx="3673475" cy="919271"/>
          </a:xfrm>
        </p:grpSpPr>
        <p:sp>
          <p:nvSpPr>
            <p:cNvPr id="3402" name="Google Shape;3402;p51"/>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03" name="Google Shape;3403;p51"/>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404" name="Google Shape;3404;p51"/>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405" name="Google Shape;3405;p51"/>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3406" name="Google Shape;3406;p51"/>
          <p:cNvGrpSpPr/>
          <p:nvPr/>
        </p:nvGrpSpPr>
        <p:grpSpPr>
          <a:xfrm>
            <a:off x="4044388" y="2362543"/>
            <a:ext cx="1074738" cy="962025"/>
            <a:chOff x="1540" y="2116"/>
            <a:chExt cx="677" cy="606"/>
          </a:xfrm>
        </p:grpSpPr>
        <p:sp>
          <p:nvSpPr>
            <p:cNvPr id="3407" name="Google Shape;3407;p51"/>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08" name="Google Shape;3408;p51"/>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09" name="Google Shape;3409;p51"/>
          <p:cNvGrpSpPr/>
          <p:nvPr/>
        </p:nvGrpSpPr>
        <p:grpSpPr>
          <a:xfrm>
            <a:off x="8325876" y="2721318"/>
            <a:ext cx="3394075" cy="1036638"/>
            <a:chOff x="8325876" y="2721318"/>
            <a:chExt cx="3394075" cy="1036638"/>
          </a:xfrm>
        </p:grpSpPr>
        <p:grpSp>
          <p:nvGrpSpPr>
            <p:cNvPr id="3410" name="Google Shape;3410;p51"/>
            <p:cNvGrpSpPr/>
            <p:nvPr/>
          </p:nvGrpSpPr>
          <p:grpSpPr>
            <a:xfrm>
              <a:off x="8325876" y="2721318"/>
              <a:ext cx="3394075" cy="630238"/>
              <a:chOff x="2222" y="2804"/>
              <a:chExt cx="2138" cy="397"/>
            </a:xfrm>
          </p:grpSpPr>
          <p:sp>
            <p:nvSpPr>
              <p:cNvPr id="3411" name="Google Shape;3411;p51"/>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3412" name="Google Shape;3412;p51"/>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13" name="Google Shape;3413;p51"/>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3414" name="Google Shape;3414;p51"/>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415" name="Google Shape;3415;p51"/>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16" name="Google Shape;3416;p51"/>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3417" name="Google Shape;3417;p51"/>
          <p:cNvGrpSpPr/>
          <p:nvPr/>
        </p:nvGrpSpPr>
        <p:grpSpPr>
          <a:xfrm>
            <a:off x="8049650" y="4591214"/>
            <a:ext cx="4142349" cy="1379872"/>
            <a:chOff x="8049650" y="4591214"/>
            <a:chExt cx="4142349" cy="1379872"/>
          </a:xfrm>
        </p:grpSpPr>
        <p:grpSp>
          <p:nvGrpSpPr>
            <p:cNvPr id="3418" name="Google Shape;3418;p51"/>
            <p:cNvGrpSpPr/>
            <p:nvPr/>
          </p:nvGrpSpPr>
          <p:grpSpPr>
            <a:xfrm>
              <a:off x="8049650" y="5037504"/>
              <a:ext cx="4142349" cy="933582"/>
              <a:chOff x="8049650" y="5037504"/>
              <a:chExt cx="4142349" cy="933582"/>
            </a:xfrm>
          </p:grpSpPr>
          <p:sp>
            <p:nvSpPr>
              <p:cNvPr id="3419" name="Google Shape;3419;p51"/>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420" name="Google Shape;3420;p51"/>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21" name="Google Shape;3421;p51"/>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3422" name="Google Shape;3422;p51"/>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23" name="Google Shape;3423;p51"/>
          <p:cNvGrpSpPr/>
          <p:nvPr/>
        </p:nvGrpSpPr>
        <p:grpSpPr>
          <a:xfrm>
            <a:off x="2756926" y="1340193"/>
            <a:ext cx="3643312" cy="1027113"/>
            <a:chOff x="2756926" y="1340193"/>
            <a:chExt cx="3643312" cy="1027113"/>
          </a:xfrm>
        </p:grpSpPr>
        <p:sp>
          <p:nvSpPr>
            <p:cNvPr id="3424" name="Google Shape;3424;p51"/>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425" name="Google Shape;3425;p51"/>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426" name="Google Shape;3426;p51"/>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27" name="Google Shape;3427;p51"/>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28" name="Google Shape;3428;p51"/>
          <p:cNvGrpSpPr/>
          <p:nvPr/>
        </p:nvGrpSpPr>
        <p:grpSpPr>
          <a:xfrm>
            <a:off x="2270357" y="3283338"/>
            <a:ext cx="3548062" cy="989290"/>
            <a:chOff x="2270357" y="3283338"/>
            <a:chExt cx="3548062" cy="989290"/>
          </a:xfrm>
        </p:grpSpPr>
        <p:sp>
          <p:nvSpPr>
            <p:cNvPr id="3429" name="Google Shape;3429;p51"/>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430" name="Google Shape;3430;p51"/>
            <p:cNvGrpSpPr/>
            <p:nvPr/>
          </p:nvGrpSpPr>
          <p:grpSpPr>
            <a:xfrm>
              <a:off x="2270357" y="3545923"/>
              <a:ext cx="3548062" cy="726705"/>
              <a:chOff x="2270357" y="3545923"/>
              <a:chExt cx="3548062" cy="726705"/>
            </a:xfrm>
          </p:grpSpPr>
          <p:sp>
            <p:nvSpPr>
              <p:cNvPr id="3431" name="Google Shape;3431;p51"/>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432" name="Google Shape;3432;p51"/>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433" name="Google Shape;3433;p51"/>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3434" name="Google Shape;3434;p51"/>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435" name="Google Shape;3435;p51"/>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436" name="Google Shape;3436;p51"/>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3437" name="Google Shape;3437;p51"/>
          <p:cNvSpPr/>
          <p:nvPr/>
        </p:nvSpPr>
        <p:spPr>
          <a:xfrm>
            <a:off x="7841292" y="2480153"/>
            <a:ext cx="4246323" cy="40083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38" name="Google Shape;3438;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3"/>
                                        </p:tgtEl>
                                        <p:attrNameLst>
                                          <p:attrName>style.visibility</p:attrName>
                                        </p:attrNameLst>
                                      </p:cBhvr>
                                      <p:to>
                                        <p:strVal val="visible"/>
                                      </p:to>
                                    </p:set>
                                    <p:animEffect filter="fade" transition="in">
                                      <p:cBhvr>
                                        <p:cTn dur="500"/>
                                        <p:tgtEl>
                                          <p:spTgt spid="3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8"/>
                                        </p:tgtEl>
                                        <p:attrNameLst>
                                          <p:attrName>style.visibility</p:attrName>
                                        </p:attrNameLst>
                                      </p:cBhvr>
                                      <p:to>
                                        <p:strVal val="visible"/>
                                      </p:to>
                                    </p:set>
                                    <p:animEffect filter="fade" transition="in">
                                      <p:cBhvr>
                                        <p:cTn dur="500"/>
                                        <p:tgtEl>
                                          <p:spTgt spid="3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1"/>
                                        </p:tgtEl>
                                        <p:attrNameLst>
                                          <p:attrName>style.visibility</p:attrName>
                                        </p:attrNameLst>
                                      </p:cBhvr>
                                      <p:to>
                                        <p:strVal val="visible"/>
                                      </p:to>
                                    </p:set>
                                    <p:animEffect filter="fade" transition="in">
                                      <p:cBhvr>
                                        <p:cTn dur="500"/>
                                        <p:tgtEl>
                                          <p:spTgt spid="3401"/>
                                        </p:tgtEl>
                                      </p:cBhvr>
                                    </p:animEffect>
                                  </p:childTnLst>
                                </p:cTn>
                              </p:par>
                              <p:par>
                                <p:cTn fill="hold" nodeType="withEffect" presetClass="entr" presetID="10" presetSubtype="0">
                                  <p:stCondLst>
                                    <p:cond delay="0"/>
                                  </p:stCondLst>
                                  <p:childTnLst>
                                    <p:set>
                                      <p:cBhvr>
                                        <p:cTn dur="1" fill="hold">
                                          <p:stCondLst>
                                            <p:cond delay="0"/>
                                          </p:stCondLst>
                                        </p:cTn>
                                        <p:tgtEl>
                                          <p:spTgt spid="3436"/>
                                        </p:tgtEl>
                                        <p:attrNameLst>
                                          <p:attrName>style.visibility</p:attrName>
                                        </p:attrNameLst>
                                      </p:cBhvr>
                                      <p:to>
                                        <p:strVal val="visible"/>
                                      </p:to>
                                    </p:set>
                                    <p:animEffect filter="fade" transition="in">
                                      <p:cBhvr>
                                        <p:cTn dur="500"/>
                                        <p:tgtEl>
                                          <p:spTgt spid="3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437"/>
                                        </p:tgtEl>
                                      </p:cBhvr>
                                    </p:animEffect>
                                    <p:set>
                                      <p:cBhvr>
                                        <p:cTn dur="1" fill="hold">
                                          <p:stCondLst>
                                            <p:cond delay="500"/>
                                          </p:stCondLst>
                                        </p:cTn>
                                        <p:tgtEl>
                                          <p:spTgt spid="34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9"/>
                                        </p:tgtEl>
                                        <p:attrNameLst>
                                          <p:attrName>style.visibility</p:attrName>
                                        </p:attrNameLst>
                                      </p:cBhvr>
                                      <p:to>
                                        <p:strVal val="visible"/>
                                      </p:to>
                                    </p:set>
                                    <p:animEffect filter="fade" transition="in">
                                      <p:cBhvr>
                                        <p:cTn dur="500"/>
                                        <p:tgtEl>
                                          <p:spTgt spid="3409"/>
                                        </p:tgtEl>
                                      </p:cBhvr>
                                    </p:animEffect>
                                  </p:childTnLst>
                                </p:cTn>
                              </p:par>
                              <p:par>
                                <p:cTn fill="hold" nodeType="withEffect" presetClass="entr" presetID="10" presetSubtype="0">
                                  <p:stCondLst>
                                    <p:cond delay="0"/>
                                  </p:stCondLst>
                                  <p:childTnLst>
                                    <p:set>
                                      <p:cBhvr>
                                        <p:cTn dur="1" fill="hold">
                                          <p:stCondLst>
                                            <p:cond delay="0"/>
                                          </p:stCondLst>
                                        </p:cTn>
                                        <p:tgtEl>
                                          <p:spTgt spid="3397"/>
                                        </p:tgtEl>
                                        <p:attrNameLst>
                                          <p:attrName>style.visibility</p:attrName>
                                        </p:attrNameLst>
                                      </p:cBhvr>
                                      <p:to>
                                        <p:strVal val="visible"/>
                                      </p:to>
                                    </p:set>
                                    <p:animEffect filter="fade" transition="in">
                                      <p:cBhvr>
                                        <p:cTn dur="500"/>
                                        <p:tgtEl>
                                          <p:spTgt spid="3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7"/>
                                        </p:tgtEl>
                                        <p:attrNameLst>
                                          <p:attrName>style.visibility</p:attrName>
                                        </p:attrNameLst>
                                      </p:cBhvr>
                                      <p:to>
                                        <p:strVal val="visible"/>
                                      </p:to>
                                    </p:set>
                                    <p:animEffect filter="fade" transition="in">
                                      <p:cBhvr>
                                        <p:cTn dur="500"/>
                                        <p:tgtEl>
                                          <p:spTgt spid="3417"/>
                                        </p:tgtEl>
                                      </p:cBhvr>
                                    </p:animEffect>
                                  </p:childTnLst>
                                </p:cTn>
                              </p:par>
                              <p:par>
                                <p:cTn fill="hold" nodeType="withEffect" presetClass="entr" presetID="10" presetSubtype="0">
                                  <p:stCondLst>
                                    <p:cond delay="0"/>
                                  </p:stCondLst>
                                  <p:childTnLst>
                                    <p:set>
                                      <p:cBhvr>
                                        <p:cTn dur="1" fill="hold">
                                          <p:stCondLst>
                                            <p:cond delay="0"/>
                                          </p:stCondLst>
                                        </p:cTn>
                                        <p:tgtEl>
                                          <p:spTgt spid="3396"/>
                                        </p:tgtEl>
                                        <p:attrNameLst>
                                          <p:attrName>style.visibility</p:attrName>
                                        </p:attrNameLst>
                                      </p:cBhvr>
                                      <p:to>
                                        <p:strVal val="visible"/>
                                      </p:to>
                                    </p:set>
                                    <p:animEffect filter="fade" transition="in">
                                      <p:cBhvr>
                                        <p:cTn dur="500"/>
                                        <p:tgtEl>
                                          <p:spTgt spid="3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3" name="Shape 3443"/>
        <p:cNvGrpSpPr/>
        <p:nvPr/>
      </p:nvGrpSpPr>
      <p:grpSpPr>
        <a:xfrm>
          <a:off x="0" y="0"/>
          <a:ext cx="0" cy="0"/>
          <a:chOff x="0" y="0"/>
          <a:chExt cx="0" cy="0"/>
        </a:xfrm>
      </p:grpSpPr>
      <p:sp>
        <p:nvSpPr>
          <p:cNvPr id="3444" name="Google Shape;3444;p5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a:t>
            </a:r>
            <a:endParaRPr sz="4400"/>
          </a:p>
        </p:txBody>
      </p:sp>
      <p:sp>
        <p:nvSpPr>
          <p:cNvPr id="3445" name="Google Shape;3445;p52"/>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46" name="Google Shape;3446;p52"/>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3447" name="Google Shape;3447;p52"/>
          <p:cNvGrpSpPr/>
          <p:nvPr/>
        </p:nvGrpSpPr>
        <p:grpSpPr>
          <a:xfrm>
            <a:off x="5004826" y="2400535"/>
            <a:ext cx="3673475" cy="919271"/>
            <a:chOff x="5004826" y="2400535"/>
            <a:chExt cx="3673475" cy="919271"/>
          </a:xfrm>
        </p:grpSpPr>
        <p:sp>
          <p:nvSpPr>
            <p:cNvPr id="3448" name="Google Shape;3448;p52"/>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9" name="Google Shape;3449;p52"/>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450" name="Google Shape;3450;p52"/>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451" name="Google Shape;3451;p52"/>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3452" name="Google Shape;3452;p52"/>
          <p:cNvGrpSpPr/>
          <p:nvPr/>
        </p:nvGrpSpPr>
        <p:grpSpPr>
          <a:xfrm>
            <a:off x="4044388" y="2362543"/>
            <a:ext cx="1074738" cy="962025"/>
            <a:chOff x="1540" y="2116"/>
            <a:chExt cx="677" cy="606"/>
          </a:xfrm>
        </p:grpSpPr>
        <p:sp>
          <p:nvSpPr>
            <p:cNvPr id="3453" name="Google Shape;3453;p52"/>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54" name="Google Shape;3454;p52"/>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55" name="Google Shape;3455;p52"/>
          <p:cNvGrpSpPr/>
          <p:nvPr/>
        </p:nvGrpSpPr>
        <p:grpSpPr>
          <a:xfrm>
            <a:off x="8325876" y="2721318"/>
            <a:ext cx="3394075" cy="1036638"/>
            <a:chOff x="8325876" y="2721318"/>
            <a:chExt cx="3394075" cy="1036638"/>
          </a:xfrm>
        </p:grpSpPr>
        <p:grpSp>
          <p:nvGrpSpPr>
            <p:cNvPr id="3456" name="Google Shape;3456;p52"/>
            <p:cNvGrpSpPr/>
            <p:nvPr/>
          </p:nvGrpSpPr>
          <p:grpSpPr>
            <a:xfrm>
              <a:off x="8325876" y="2721318"/>
              <a:ext cx="3394075" cy="630238"/>
              <a:chOff x="2222" y="2804"/>
              <a:chExt cx="2138" cy="397"/>
            </a:xfrm>
          </p:grpSpPr>
          <p:sp>
            <p:nvSpPr>
              <p:cNvPr id="3457" name="Google Shape;3457;p52"/>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3458" name="Google Shape;3458;p52"/>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59" name="Google Shape;3459;p52"/>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3460" name="Google Shape;3460;p52"/>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461" name="Google Shape;3461;p52"/>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62" name="Google Shape;3462;p52"/>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3463" name="Google Shape;3463;p52"/>
          <p:cNvGrpSpPr/>
          <p:nvPr/>
        </p:nvGrpSpPr>
        <p:grpSpPr>
          <a:xfrm>
            <a:off x="8049650" y="4591214"/>
            <a:ext cx="4142349" cy="1379872"/>
            <a:chOff x="8049650" y="4591214"/>
            <a:chExt cx="4142349" cy="1379872"/>
          </a:xfrm>
        </p:grpSpPr>
        <p:grpSp>
          <p:nvGrpSpPr>
            <p:cNvPr id="3464" name="Google Shape;3464;p52"/>
            <p:cNvGrpSpPr/>
            <p:nvPr/>
          </p:nvGrpSpPr>
          <p:grpSpPr>
            <a:xfrm>
              <a:off x="8049650" y="5037504"/>
              <a:ext cx="4142349" cy="933582"/>
              <a:chOff x="8049650" y="5037504"/>
              <a:chExt cx="4142349" cy="933582"/>
            </a:xfrm>
          </p:grpSpPr>
          <p:sp>
            <p:nvSpPr>
              <p:cNvPr id="3465" name="Google Shape;3465;p52"/>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466" name="Google Shape;3466;p52"/>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467" name="Google Shape;3467;p52"/>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3468" name="Google Shape;3468;p52"/>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69" name="Google Shape;3469;p52"/>
          <p:cNvGrpSpPr/>
          <p:nvPr/>
        </p:nvGrpSpPr>
        <p:grpSpPr>
          <a:xfrm>
            <a:off x="2756926" y="1340193"/>
            <a:ext cx="3643312" cy="1027113"/>
            <a:chOff x="2756926" y="1340193"/>
            <a:chExt cx="3643312" cy="1027113"/>
          </a:xfrm>
        </p:grpSpPr>
        <p:sp>
          <p:nvSpPr>
            <p:cNvPr id="3470" name="Google Shape;3470;p52"/>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471" name="Google Shape;3471;p52"/>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472" name="Google Shape;3472;p52"/>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3" name="Google Shape;3473;p52"/>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3474" name="Google Shape;3474;p52"/>
          <p:cNvGrpSpPr/>
          <p:nvPr/>
        </p:nvGrpSpPr>
        <p:grpSpPr>
          <a:xfrm>
            <a:off x="2270357" y="3283338"/>
            <a:ext cx="3548062" cy="989290"/>
            <a:chOff x="2270357" y="3283338"/>
            <a:chExt cx="3548062" cy="989290"/>
          </a:xfrm>
        </p:grpSpPr>
        <p:sp>
          <p:nvSpPr>
            <p:cNvPr id="3475" name="Google Shape;3475;p52"/>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476" name="Google Shape;3476;p52"/>
            <p:cNvGrpSpPr/>
            <p:nvPr/>
          </p:nvGrpSpPr>
          <p:grpSpPr>
            <a:xfrm>
              <a:off x="2270357" y="3545923"/>
              <a:ext cx="3548062" cy="726705"/>
              <a:chOff x="2270357" y="3545923"/>
              <a:chExt cx="3548062" cy="726705"/>
            </a:xfrm>
          </p:grpSpPr>
          <p:sp>
            <p:nvSpPr>
              <p:cNvPr id="3477" name="Google Shape;3477;p52"/>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478" name="Google Shape;3478;p52"/>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479" name="Google Shape;3479;p52"/>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3480" name="Google Shape;3480;p52"/>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481" name="Google Shape;3481;p52"/>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482" name="Google Shape;3482;p52"/>
          <p:cNvSpPr txBox="1"/>
          <p:nvPr/>
        </p:nvSpPr>
        <p:spPr>
          <a:xfrm>
            <a:off x="965915" y="4680633"/>
            <a:ext cx="653281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Note: </a:t>
            </a:r>
            <a:r>
              <a:rPr b="0" i="0" lang="en-US" sz="2400" u="none" cap="none" strike="noStrike">
                <a:solidFill>
                  <a:srgbClr val="000000"/>
                </a:solidFill>
                <a:latin typeface="Calibri"/>
                <a:ea typeface="Calibri"/>
                <a:cs typeface="Calibri"/>
                <a:sym typeface="Calibri"/>
              </a:rPr>
              <a:t>“state” of receiver (did the receiver get my message correctly?) isn’t known to sender unless somehow communicated from receiver to sender</a:t>
            </a:r>
            <a:endParaRPr/>
          </a:p>
          <a:p>
            <a:pPr indent="-228600" lvl="0" marL="342900"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that’s why we need a protocol!</a:t>
            </a:r>
            <a:endParaRPr/>
          </a:p>
        </p:txBody>
      </p:sp>
      <p:sp>
        <p:nvSpPr>
          <p:cNvPr id="3483" name="Google Shape;3483;p52"/>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pic>
        <p:nvPicPr>
          <p:cNvPr descr="A shower curtain&#10;&#10;Description automatically generated" id="3484" name="Google Shape;3484;p52"/>
          <p:cNvPicPr preferRelativeResize="0"/>
          <p:nvPr/>
        </p:nvPicPr>
        <p:blipFill rotWithShape="1">
          <a:blip r:embed="rId3">
            <a:alphaModFix/>
          </a:blip>
          <a:srcRect b="0" l="0" r="0" t="0"/>
          <a:stretch/>
        </p:blipFill>
        <p:spPr>
          <a:xfrm>
            <a:off x="7333303" y="2155771"/>
            <a:ext cx="4642797" cy="4579749"/>
          </a:xfrm>
          <a:prstGeom prst="rect">
            <a:avLst/>
          </a:prstGeom>
          <a:noFill/>
          <a:ln>
            <a:noFill/>
          </a:ln>
        </p:spPr>
      </p:pic>
      <p:sp>
        <p:nvSpPr>
          <p:cNvPr id="3485" name="Google Shape;3485;p52"/>
          <p:cNvSpPr txBox="1"/>
          <p:nvPr/>
        </p:nvSpPr>
        <p:spPr>
          <a:xfrm>
            <a:off x="5459797" y="2400795"/>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isNAK(rcvpkt)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3486" name="Google Shape;3486;p52"/>
          <p:cNvSpPr txBox="1"/>
          <p:nvPr/>
        </p:nvSpPr>
        <p:spPr>
          <a:xfrm>
            <a:off x="3949171" y="3557373"/>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isACK(rcvpkt)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3487" name="Google Shape;3487;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4"/>
                                        </p:tgtEl>
                                        <p:attrNameLst>
                                          <p:attrName>style.visibility</p:attrName>
                                        </p:attrNameLst>
                                      </p:cBhvr>
                                      <p:to>
                                        <p:strVal val="visible"/>
                                      </p:to>
                                    </p:set>
                                    <p:animEffect filter="fade" transition="in">
                                      <p:cBhvr>
                                        <p:cTn dur="1000"/>
                                        <p:tgtEl>
                                          <p:spTgt spid="34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5"/>
                                        </p:tgtEl>
                                        <p:attrNameLst>
                                          <p:attrName>style.visibility</p:attrName>
                                        </p:attrNameLst>
                                      </p:cBhvr>
                                      <p:to>
                                        <p:strVal val="visible"/>
                                      </p:to>
                                    </p:set>
                                    <p:animEffect filter="fade" transition="in">
                                      <p:cBhvr>
                                        <p:cTn dur="500"/>
                                        <p:tgtEl>
                                          <p:spTgt spid="3485"/>
                                        </p:tgtEl>
                                      </p:cBhvr>
                                    </p:animEffect>
                                  </p:childTnLst>
                                </p:cTn>
                              </p:par>
                              <p:par>
                                <p:cTn fill="hold" nodeType="withEffect" presetClass="entr" presetID="10" presetSubtype="0">
                                  <p:stCondLst>
                                    <p:cond delay="0"/>
                                  </p:stCondLst>
                                  <p:childTnLst>
                                    <p:set>
                                      <p:cBhvr>
                                        <p:cTn dur="1" fill="hold">
                                          <p:stCondLst>
                                            <p:cond delay="0"/>
                                          </p:stCondLst>
                                        </p:cTn>
                                        <p:tgtEl>
                                          <p:spTgt spid="3486"/>
                                        </p:tgtEl>
                                        <p:attrNameLst>
                                          <p:attrName>style.visibility</p:attrName>
                                        </p:attrNameLst>
                                      </p:cBhvr>
                                      <p:to>
                                        <p:strVal val="visible"/>
                                      </p:to>
                                    </p:set>
                                    <p:animEffect filter="fade" transition="in">
                                      <p:cBhvr>
                                        <p:cTn dur="500"/>
                                        <p:tgtEl>
                                          <p:spTgt spid="3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2" name="Shape 3492"/>
        <p:cNvGrpSpPr/>
        <p:nvPr/>
      </p:nvGrpSpPr>
      <p:grpSpPr>
        <a:xfrm>
          <a:off x="0" y="0"/>
          <a:ext cx="0" cy="0"/>
          <a:chOff x="0" y="0"/>
          <a:chExt cx="0" cy="0"/>
        </a:xfrm>
      </p:grpSpPr>
      <p:sp>
        <p:nvSpPr>
          <p:cNvPr id="3493" name="Google Shape;3493;p5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operation with no errors</a:t>
            </a:r>
            <a:endParaRPr sz="4400"/>
          </a:p>
        </p:txBody>
      </p:sp>
      <p:sp>
        <p:nvSpPr>
          <p:cNvPr id="3494" name="Google Shape;3494;p53"/>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495" name="Google Shape;3495;p53"/>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3496" name="Google Shape;3496;p53"/>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497" name="Google Shape;3497;p53"/>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498" name="Google Shape;3498;p53"/>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9" name="Google Shape;3499;p53"/>
          <p:cNvSpPr/>
          <p:nvPr/>
        </p:nvSpPr>
        <p:spPr>
          <a:xfrm>
            <a:off x="2856938"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0" name="Google Shape;3500;p53"/>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1" name="Google Shape;3501;p53"/>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502" name="Google Shape;3502;p53"/>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3503" name="Google Shape;3503;p53"/>
          <p:cNvGrpSpPr/>
          <p:nvPr/>
        </p:nvGrpSpPr>
        <p:grpSpPr>
          <a:xfrm>
            <a:off x="8325876" y="3094378"/>
            <a:ext cx="1828800" cy="257175"/>
            <a:chOff x="2222" y="3039"/>
            <a:chExt cx="1152" cy="162"/>
          </a:xfrm>
        </p:grpSpPr>
        <p:sp>
          <p:nvSpPr>
            <p:cNvPr id="3504" name="Google Shape;3504;p53"/>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3505" name="Google Shape;3505;p53"/>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grpSp>
        <p:nvGrpSpPr>
          <p:cNvPr id="3506" name="Google Shape;3506;p53"/>
          <p:cNvGrpSpPr/>
          <p:nvPr/>
        </p:nvGrpSpPr>
        <p:grpSpPr>
          <a:xfrm>
            <a:off x="4044388" y="2362543"/>
            <a:ext cx="1074738" cy="962025"/>
            <a:chOff x="1540" y="2116"/>
            <a:chExt cx="677" cy="606"/>
          </a:xfrm>
        </p:grpSpPr>
        <p:sp>
          <p:nvSpPr>
            <p:cNvPr id="3507" name="Google Shape;3507;p53"/>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08" name="Google Shape;3508;p53"/>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3509" name="Google Shape;3509;p53"/>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0" name="Google Shape;3510;p53"/>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11" name="Google Shape;3511;p53"/>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3512" name="Google Shape;3512;p53"/>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13" name="Google Shape;3513;p53"/>
          <p:cNvGrpSpPr/>
          <p:nvPr/>
        </p:nvGrpSpPr>
        <p:grpSpPr>
          <a:xfrm>
            <a:off x="2101288" y="2306981"/>
            <a:ext cx="1333500" cy="1004887"/>
            <a:chOff x="220" y="1365"/>
            <a:chExt cx="840" cy="633"/>
          </a:xfrm>
        </p:grpSpPr>
        <p:cxnSp>
          <p:nvCxnSpPr>
            <p:cNvPr id="3514" name="Google Shape;3514;p53"/>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3515" name="Google Shape;3515;p53"/>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3516" name="Google Shape;3516;p53"/>
          <p:cNvGrpSpPr/>
          <p:nvPr/>
        </p:nvGrpSpPr>
        <p:grpSpPr>
          <a:xfrm>
            <a:off x="8086163" y="3637306"/>
            <a:ext cx="1414463" cy="1033462"/>
            <a:chOff x="3990" y="2203"/>
            <a:chExt cx="891" cy="651"/>
          </a:xfrm>
        </p:grpSpPr>
        <p:cxnSp>
          <p:nvCxnSpPr>
            <p:cNvPr id="3517" name="Google Shape;3517;p53"/>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3518" name="Google Shape;3518;p53"/>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19" name="Google Shape;3519;p53"/>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520" name="Google Shape;3520;p53"/>
          <p:cNvCxnSpPr/>
          <p:nvPr/>
        </p:nvCxnSpPr>
        <p:spPr>
          <a:xfrm>
            <a:off x="2763276"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3521" name="Google Shape;3521;p53"/>
          <p:cNvSpPr/>
          <p:nvPr/>
        </p:nvSpPr>
        <p:spPr>
          <a:xfrm>
            <a:off x="2763276" y="2146642"/>
            <a:ext cx="7148415" cy="2944699"/>
          </a:xfrm>
          <a:custGeom>
            <a:rect b="b" l="l" r="r" t="t"/>
            <a:pathLst>
              <a:path extrusionOk="0" h="9621" w="10673">
                <a:moveTo>
                  <a:pt x="0" y="52"/>
                </a:moveTo>
                <a:lnTo>
                  <a:pt x="2377" y="0"/>
                </a:lnTo>
                <a:lnTo>
                  <a:pt x="8009" y="9621"/>
                </a:lnTo>
                <a:lnTo>
                  <a:pt x="10673" y="962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22" name="Google Shape;3522;p53"/>
          <p:cNvGrpSpPr/>
          <p:nvPr/>
        </p:nvGrpSpPr>
        <p:grpSpPr>
          <a:xfrm>
            <a:off x="2099701" y="2306981"/>
            <a:ext cx="1333500" cy="1004887"/>
            <a:chOff x="220" y="1365"/>
            <a:chExt cx="840" cy="633"/>
          </a:xfrm>
        </p:grpSpPr>
        <p:cxnSp>
          <p:nvCxnSpPr>
            <p:cNvPr id="3523" name="Google Shape;3523;p53"/>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3524" name="Google Shape;3524;p53"/>
            <p:cNvSpPr/>
            <p:nvPr/>
          </p:nvSpPr>
          <p:spPr>
            <a:xfrm>
              <a:off x="439" y="1392"/>
              <a:ext cx="621" cy="606"/>
            </a:xfrm>
            <a:prstGeom prst="ellipse">
              <a:avLst/>
            </a:prstGeom>
            <a:noFill/>
            <a:ln cap="flat" cmpd="sng" w="381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25" name="Google Shape;3525;p53"/>
          <p:cNvSpPr/>
          <p:nvPr/>
        </p:nvSpPr>
        <p:spPr>
          <a:xfrm>
            <a:off x="4084076"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3526" name="Google Shape;3526;p53"/>
          <p:cNvCxnSpPr/>
          <p:nvPr/>
        </p:nvCxnSpPr>
        <p:spPr>
          <a:xfrm flipH="1">
            <a:off x="8013138"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3527" name="Google Shape;3527;p53"/>
          <p:cNvSpPr/>
          <p:nvPr/>
        </p:nvSpPr>
        <p:spPr>
          <a:xfrm>
            <a:off x="2122306" y="3871617"/>
            <a:ext cx="7452932" cy="2415225"/>
          </a:xfrm>
          <a:custGeom>
            <a:rect b="b" l="l" r="r" t="t"/>
            <a:pathLst>
              <a:path extrusionOk="0" h="10684" w="11178">
                <a:moveTo>
                  <a:pt x="11178" y="10684"/>
                </a:moveTo>
                <a:lnTo>
                  <a:pt x="8854" y="10684"/>
                </a:lnTo>
                <a:lnTo>
                  <a:pt x="5345"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28" name="Google Shape;3528;p53"/>
          <p:cNvGrpSpPr/>
          <p:nvPr/>
        </p:nvGrpSpPr>
        <p:grpSpPr>
          <a:xfrm>
            <a:off x="2099701" y="2306981"/>
            <a:ext cx="1333500" cy="1004887"/>
            <a:chOff x="220" y="1365"/>
            <a:chExt cx="840" cy="633"/>
          </a:xfrm>
        </p:grpSpPr>
        <p:cxnSp>
          <p:nvCxnSpPr>
            <p:cNvPr id="3529" name="Google Shape;3529;p53"/>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3530" name="Google Shape;3530;p53"/>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31" name="Google Shape;3531;p53"/>
          <p:cNvSpPr/>
          <p:nvPr/>
        </p:nvSpPr>
        <p:spPr>
          <a:xfrm>
            <a:off x="4080901" y="2367306"/>
            <a:ext cx="985837" cy="962025"/>
          </a:xfrm>
          <a:prstGeom prst="ellipse">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32" name="Google Shape;3532;p53"/>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3533" name="Google Shape;3533;p53"/>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3534" name="Google Shape;3534;p53"/>
          <p:cNvGrpSpPr/>
          <p:nvPr/>
        </p:nvGrpSpPr>
        <p:grpSpPr>
          <a:xfrm>
            <a:off x="2271408" y="3285357"/>
            <a:ext cx="3548062" cy="989290"/>
            <a:chOff x="2270357" y="3283338"/>
            <a:chExt cx="3548062" cy="989290"/>
          </a:xfrm>
        </p:grpSpPr>
        <p:sp>
          <p:nvSpPr>
            <p:cNvPr id="3535" name="Google Shape;3535;p53"/>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536" name="Google Shape;3536;p53"/>
            <p:cNvGrpSpPr/>
            <p:nvPr/>
          </p:nvGrpSpPr>
          <p:grpSpPr>
            <a:xfrm>
              <a:off x="2270357" y="3545923"/>
              <a:ext cx="3548062" cy="726705"/>
              <a:chOff x="2270357" y="3545923"/>
              <a:chExt cx="3548062" cy="726705"/>
            </a:xfrm>
          </p:grpSpPr>
          <p:sp>
            <p:nvSpPr>
              <p:cNvPr id="3537" name="Google Shape;3537;p53"/>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538" name="Google Shape;3538;p53"/>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539" name="Google Shape;3539;p53"/>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grpSp>
        <p:nvGrpSpPr>
          <p:cNvPr id="3540" name="Google Shape;3540;p53"/>
          <p:cNvGrpSpPr/>
          <p:nvPr/>
        </p:nvGrpSpPr>
        <p:grpSpPr>
          <a:xfrm>
            <a:off x="8049650" y="5037504"/>
            <a:ext cx="4142349" cy="933582"/>
            <a:chOff x="8049650" y="5037504"/>
            <a:chExt cx="4142349" cy="933582"/>
          </a:xfrm>
        </p:grpSpPr>
        <p:sp>
          <p:nvSpPr>
            <p:cNvPr id="3541" name="Google Shape;3541;p53"/>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542" name="Google Shape;3542;p53"/>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543" name="Google Shape;3543;p53"/>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3544" name="Google Shape;3544;p53"/>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545" name="Google Shape;3545;p53"/>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546" name="Google Shape;3546;p53"/>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3547" name="Google Shape;3547;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3"/>
                                        </p:tgtEl>
                                        <p:attrNameLst>
                                          <p:attrName>style.visibility</p:attrName>
                                        </p:attrNameLst>
                                      </p:cBhvr>
                                      <p:to>
                                        <p:strVal val="visible"/>
                                      </p:to>
                                    </p:set>
                                    <p:animEffect filter="fade" transition="in">
                                      <p:cBhvr>
                                        <p:cTn dur="500"/>
                                        <p:tgtEl>
                                          <p:spTgt spid="35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6"/>
                                        </p:tgtEl>
                                        <p:attrNameLst>
                                          <p:attrName>style.visibility</p:attrName>
                                        </p:attrNameLst>
                                      </p:cBhvr>
                                      <p:to>
                                        <p:strVal val="visible"/>
                                      </p:to>
                                    </p:set>
                                    <p:animEffect filter="fade" transition="in">
                                      <p:cBhvr>
                                        <p:cTn dur="500"/>
                                        <p:tgtEl>
                                          <p:spTgt spid="3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0"/>
                                        </p:tgtEl>
                                        <p:attrNameLst>
                                          <p:attrName>style.visibility</p:attrName>
                                        </p:attrNameLst>
                                      </p:cBhvr>
                                      <p:to>
                                        <p:strVal val="visible"/>
                                      </p:to>
                                    </p:set>
                                    <p:animEffect filter="fade" transition="in">
                                      <p:cBhvr>
                                        <p:cTn dur="1000"/>
                                        <p:tgtEl>
                                          <p:spTgt spid="3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1"/>
                                        </p:tgtEl>
                                        <p:attrNameLst>
                                          <p:attrName>style.visibility</p:attrName>
                                        </p:attrNameLst>
                                      </p:cBhvr>
                                      <p:to>
                                        <p:strVal val="visible"/>
                                      </p:to>
                                    </p:set>
                                    <p:animEffect filter="fade" transition="in">
                                      <p:cBhvr>
                                        <p:cTn dur="1000"/>
                                        <p:tgtEl>
                                          <p:spTgt spid="3521"/>
                                        </p:tgtEl>
                                      </p:cBhvr>
                                    </p:animEffect>
                                  </p:childTnLst>
                                </p:cTn>
                              </p:par>
                              <p:par>
                                <p:cTn fill="hold" nodeType="withEffect" presetClass="entr" presetID="1" presetSubtype="0">
                                  <p:stCondLst>
                                    <p:cond delay="0"/>
                                  </p:stCondLst>
                                  <p:childTnLst>
                                    <p:set>
                                      <p:cBhvr>
                                        <p:cTn dur="1" fill="hold">
                                          <p:stCondLst>
                                            <p:cond delay="0"/>
                                          </p:stCondLst>
                                        </p:cTn>
                                        <p:tgtEl>
                                          <p:spTgt spid="35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6"/>
                                        </p:tgtEl>
                                        <p:attrNameLst>
                                          <p:attrName>style.visibility</p:attrName>
                                        </p:attrNameLst>
                                      </p:cBhvr>
                                      <p:to>
                                        <p:strVal val="visible"/>
                                      </p:to>
                                    </p:set>
                                    <p:animEffect filter="fade" transition="in">
                                      <p:cBhvr>
                                        <p:cTn dur="1000"/>
                                        <p:tgtEl>
                                          <p:spTgt spid="35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7"/>
                                        </p:tgtEl>
                                        <p:attrNameLst>
                                          <p:attrName>style.visibility</p:attrName>
                                        </p:attrNameLst>
                                      </p:cBhvr>
                                      <p:to>
                                        <p:strVal val="visible"/>
                                      </p:to>
                                    </p:set>
                                    <p:animEffect filter="fade" transition="in">
                                      <p:cBhvr>
                                        <p:cTn dur="1000"/>
                                        <p:tgtEl>
                                          <p:spTgt spid="3527"/>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2" name="Shape 3552"/>
        <p:cNvGrpSpPr/>
        <p:nvPr/>
      </p:nvGrpSpPr>
      <p:grpSpPr>
        <a:xfrm>
          <a:off x="0" y="0"/>
          <a:ext cx="0" cy="0"/>
          <a:chOff x="0" y="0"/>
          <a:chExt cx="0" cy="0"/>
        </a:xfrm>
      </p:grpSpPr>
      <p:sp>
        <p:nvSpPr>
          <p:cNvPr id="3553" name="Google Shape;3553;p5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corrupted packet scenario</a:t>
            </a:r>
            <a:endParaRPr sz="4400"/>
          </a:p>
        </p:txBody>
      </p:sp>
      <p:sp>
        <p:nvSpPr>
          <p:cNvPr id="3554" name="Google Shape;3554;p54"/>
          <p:cNvSpPr/>
          <p:nvPr/>
        </p:nvSpPr>
        <p:spPr>
          <a:xfrm>
            <a:off x="2448440"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55" name="Google Shape;3555;p54"/>
          <p:cNvSpPr txBox="1"/>
          <p:nvPr/>
        </p:nvSpPr>
        <p:spPr>
          <a:xfrm>
            <a:off x="2346840"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3556" name="Google Shape;3556;p54"/>
          <p:cNvSpPr txBox="1"/>
          <p:nvPr/>
        </p:nvSpPr>
        <p:spPr>
          <a:xfrm>
            <a:off x="2756415"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3557" name="Google Shape;3557;p54"/>
          <p:cNvCxnSpPr/>
          <p:nvPr/>
        </p:nvCxnSpPr>
        <p:spPr>
          <a:xfrm>
            <a:off x="2861190"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3558" name="Google Shape;3558;p54"/>
          <p:cNvSpPr/>
          <p:nvPr/>
        </p:nvSpPr>
        <p:spPr>
          <a:xfrm flipH="1" rot="10800000">
            <a:off x="2808802"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59" name="Google Shape;3559;p54"/>
          <p:cNvSpPr/>
          <p:nvPr/>
        </p:nvSpPr>
        <p:spPr>
          <a:xfrm>
            <a:off x="2856427"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0" name="Google Shape;3560;p54"/>
          <p:cNvSpPr/>
          <p:nvPr/>
        </p:nvSpPr>
        <p:spPr>
          <a:xfrm>
            <a:off x="5004315"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1" name="Google Shape;3561;p54"/>
          <p:cNvSpPr txBox="1"/>
          <p:nvPr/>
        </p:nvSpPr>
        <p:spPr>
          <a:xfrm>
            <a:off x="5313877"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562" name="Google Shape;3562;p54"/>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cxnSp>
        <p:nvCxnSpPr>
          <p:cNvPr id="3563" name="Google Shape;3563;p54"/>
          <p:cNvCxnSpPr/>
          <p:nvPr/>
        </p:nvCxnSpPr>
        <p:spPr>
          <a:xfrm>
            <a:off x="5407540"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3564" name="Google Shape;3564;p54"/>
          <p:cNvGrpSpPr/>
          <p:nvPr/>
        </p:nvGrpSpPr>
        <p:grpSpPr>
          <a:xfrm>
            <a:off x="4043877" y="2362543"/>
            <a:ext cx="1074738" cy="962025"/>
            <a:chOff x="1540" y="2116"/>
            <a:chExt cx="677" cy="606"/>
          </a:xfrm>
        </p:grpSpPr>
        <p:sp>
          <p:nvSpPr>
            <p:cNvPr id="3565" name="Google Shape;3565;p54"/>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66" name="Google Shape;3566;p54"/>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3567" name="Google Shape;3567;p54"/>
          <p:cNvSpPr/>
          <p:nvPr/>
        </p:nvSpPr>
        <p:spPr>
          <a:xfrm>
            <a:off x="8423790"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8" name="Google Shape;3568;p54"/>
          <p:cNvSpPr/>
          <p:nvPr/>
        </p:nvSpPr>
        <p:spPr>
          <a:xfrm>
            <a:off x="8515865"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69" name="Google Shape;3569;p54"/>
          <p:cNvSpPr txBox="1"/>
          <p:nvPr/>
        </p:nvSpPr>
        <p:spPr>
          <a:xfrm>
            <a:off x="8428552"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3570" name="Google Shape;3570;p54"/>
          <p:cNvSpPr/>
          <p:nvPr/>
        </p:nvSpPr>
        <p:spPr>
          <a:xfrm flipH="1" rot="10800000">
            <a:off x="8436490"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71" name="Google Shape;3571;p54"/>
          <p:cNvGrpSpPr/>
          <p:nvPr/>
        </p:nvGrpSpPr>
        <p:grpSpPr>
          <a:xfrm>
            <a:off x="2100777" y="2306981"/>
            <a:ext cx="1333500" cy="1004887"/>
            <a:chOff x="220" y="1365"/>
            <a:chExt cx="840" cy="633"/>
          </a:xfrm>
        </p:grpSpPr>
        <p:cxnSp>
          <p:nvCxnSpPr>
            <p:cNvPr id="3572" name="Google Shape;3572;p54"/>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3573" name="Google Shape;3573;p54"/>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3574" name="Google Shape;3574;p54"/>
          <p:cNvGrpSpPr/>
          <p:nvPr/>
        </p:nvGrpSpPr>
        <p:grpSpPr>
          <a:xfrm>
            <a:off x="8085652" y="3637306"/>
            <a:ext cx="1414463" cy="1033462"/>
            <a:chOff x="3990" y="2203"/>
            <a:chExt cx="891" cy="651"/>
          </a:xfrm>
        </p:grpSpPr>
        <p:cxnSp>
          <p:nvCxnSpPr>
            <p:cNvPr id="3575" name="Google Shape;3575;p54"/>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3576" name="Google Shape;3576;p54"/>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77" name="Google Shape;3577;p54"/>
          <p:cNvSpPr txBox="1"/>
          <p:nvPr/>
        </p:nvSpPr>
        <p:spPr>
          <a:xfrm>
            <a:off x="2781815"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578" name="Google Shape;3578;p54"/>
          <p:cNvCxnSpPr/>
          <p:nvPr/>
        </p:nvCxnSpPr>
        <p:spPr>
          <a:xfrm>
            <a:off x="2762765"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3579" name="Google Shape;3579;p54"/>
          <p:cNvSpPr/>
          <p:nvPr/>
        </p:nvSpPr>
        <p:spPr>
          <a:xfrm>
            <a:off x="2762765" y="2146643"/>
            <a:ext cx="6940550" cy="654050"/>
          </a:xfrm>
          <a:custGeom>
            <a:rect b="b" l="l" r="r" t="t"/>
            <a:pathLst>
              <a:path extrusionOk="0" h="412" w="4372">
                <a:moveTo>
                  <a:pt x="0" y="10"/>
                </a:moveTo>
                <a:lnTo>
                  <a:pt x="1003" y="0"/>
                </a:lnTo>
                <a:lnTo>
                  <a:pt x="3508" y="412"/>
                </a:lnTo>
                <a:lnTo>
                  <a:pt x="4372" y="412"/>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80" name="Google Shape;3580;p54"/>
          <p:cNvGrpSpPr/>
          <p:nvPr/>
        </p:nvGrpSpPr>
        <p:grpSpPr>
          <a:xfrm>
            <a:off x="2099190" y="2306981"/>
            <a:ext cx="1333500" cy="1004887"/>
            <a:chOff x="220" y="1365"/>
            <a:chExt cx="840" cy="633"/>
          </a:xfrm>
        </p:grpSpPr>
        <p:cxnSp>
          <p:nvCxnSpPr>
            <p:cNvPr id="3581" name="Google Shape;3581;p54"/>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3582" name="Google Shape;3582;p54"/>
            <p:cNvSpPr/>
            <p:nvPr/>
          </p:nvSpPr>
          <p:spPr>
            <a:xfrm>
              <a:off x="439" y="1392"/>
              <a:ext cx="621" cy="60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83" name="Google Shape;3583;p54"/>
          <p:cNvSpPr/>
          <p:nvPr/>
        </p:nvSpPr>
        <p:spPr>
          <a:xfrm>
            <a:off x="4083565"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3584" name="Google Shape;3584;p54"/>
          <p:cNvCxnSpPr/>
          <p:nvPr/>
        </p:nvCxnSpPr>
        <p:spPr>
          <a:xfrm flipH="1">
            <a:off x="8012627"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3585" name="Google Shape;3585;p54"/>
          <p:cNvSpPr/>
          <p:nvPr/>
        </p:nvSpPr>
        <p:spPr>
          <a:xfrm>
            <a:off x="2353297" y="3858893"/>
            <a:ext cx="7272844" cy="2363522"/>
          </a:xfrm>
          <a:custGeom>
            <a:rect b="b" l="l" r="r" t="t"/>
            <a:pathLst>
              <a:path extrusionOk="0" h="10762" w="10845">
                <a:moveTo>
                  <a:pt x="10845" y="10762"/>
                </a:moveTo>
                <a:lnTo>
                  <a:pt x="8419" y="10762"/>
                </a:lnTo>
                <a:lnTo>
                  <a:pt x="4911"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86" name="Google Shape;3586;p54"/>
          <p:cNvGrpSpPr/>
          <p:nvPr/>
        </p:nvGrpSpPr>
        <p:grpSpPr>
          <a:xfrm>
            <a:off x="2099190" y="2306981"/>
            <a:ext cx="1333500" cy="1004887"/>
            <a:chOff x="220" y="1365"/>
            <a:chExt cx="840" cy="633"/>
          </a:xfrm>
        </p:grpSpPr>
        <p:cxnSp>
          <p:nvCxnSpPr>
            <p:cNvPr id="3587" name="Google Shape;3587;p54"/>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3588" name="Google Shape;3588;p54"/>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3589" name="Google Shape;3589;p54"/>
          <p:cNvSpPr/>
          <p:nvPr/>
        </p:nvSpPr>
        <p:spPr>
          <a:xfrm>
            <a:off x="4080390" y="2367306"/>
            <a:ext cx="985837" cy="962025"/>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3590" name="Google Shape;3590;p54"/>
          <p:cNvCxnSpPr/>
          <p:nvPr/>
        </p:nvCxnSpPr>
        <p:spPr>
          <a:xfrm>
            <a:off x="8304727" y="2634006"/>
            <a:ext cx="0" cy="817562"/>
          </a:xfrm>
          <a:prstGeom prst="straightConnector1">
            <a:avLst/>
          </a:prstGeom>
          <a:noFill/>
          <a:ln cap="flat" cmpd="sng" w="76200">
            <a:solidFill>
              <a:srgbClr val="FF0000"/>
            </a:solidFill>
            <a:prstDash val="solid"/>
            <a:round/>
            <a:headEnd len="med" w="med" type="none"/>
            <a:tailEnd len="med" w="med" type="none"/>
          </a:ln>
        </p:spPr>
      </p:cxnSp>
      <p:sp>
        <p:nvSpPr>
          <p:cNvPr id="3591" name="Google Shape;3591;p54"/>
          <p:cNvSpPr/>
          <p:nvPr/>
        </p:nvSpPr>
        <p:spPr>
          <a:xfrm>
            <a:off x="5409127" y="2356193"/>
            <a:ext cx="4378325" cy="1025525"/>
          </a:xfrm>
          <a:custGeom>
            <a:rect b="b" l="l" r="r" t="t"/>
            <a:pathLst>
              <a:path extrusionOk="0" h="646" w="2758">
                <a:moveTo>
                  <a:pt x="2758" y="646"/>
                </a:moveTo>
                <a:lnTo>
                  <a:pt x="1763" y="629"/>
                </a:lnTo>
                <a:lnTo>
                  <a:pt x="1039"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592" name="Google Shape;3592;p54"/>
          <p:cNvCxnSpPr/>
          <p:nvPr/>
        </p:nvCxnSpPr>
        <p:spPr>
          <a:xfrm>
            <a:off x="5299590" y="2230781"/>
            <a:ext cx="0" cy="846137"/>
          </a:xfrm>
          <a:prstGeom prst="straightConnector1">
            <a:avLst/>
          </a:prstGeom>
          <a:noFill/>
          <a:ln cap="flat" cmpd="sng" w="76200">
            <a:solidFill>
              <a:srgbClr val="FF0000"/>
            </a:solidFill>
            <a:prstDash val="solid"/>
            <a:round/>
            <a:headEnd len="med" w="med" type="none"/>
            <a:tailEnd len="med" w="med" type="none"/>
          </a:ln>
        </p:spPr>
      </p:cxnSp>
      <p:sp>
        <p:nvSpPr>
          <p:cNvPr id="3593" name="Google Shape;3593;p54"/>
          <p:cNvSpPr/>
          <p:nvPr/>
        </p:nvSpPr>
        <p:spPr>
          <a:xfrm>
            <a:off x="5394840" y="3091206"/>
            <a:ext cx="5464750" cy="1966367"/>
          </a:xfrm>
          <a:custGeom>
            <a:rect b="b" l="l" r="r" t="t"/>
            <a:pathLst>
              <a:path extrusionOk="0" h="9871" w="9930">
                <a:moveTo>
                  <a:pt x="0" y="0"/>
                </a:moveTo>
                <a:lnTo>
                  <a:pt x="2923" y="0"/>
                </a:lnTo>
                <a:lnTo>
                  <a:pt x="4713" y="9870"/>
                </a:lnTo>
                <a:lnTo>
                  <a:pt x="9930" y="987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94" name="Google Shape;3594;p54"/>
          <p:cNvGrpSpPr/>
          <p:nvPr/>
        </p:nvGrpSpPr>
        <p:grpSpPr>
          <a:xfrm>
            <a:off x="8325876" y="3094378"/>
            <a:ext cx="1828800" cy="257175"/>
            <a:chOff x="2222" y="3039"/>
            <a:chExt cx="1152" cy="162"/>
          </a:xfrm>
        </p:grpSpPr>
        <p:sp>
          <p:nvSpPr>
            <p:cNvPr id="3595" name="Google Shape;3595;p54"/>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3596" name="Google Shape;3596;p54"/>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3597" name="Google Shape;3597;p54"/>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3598" name="Google Shape;3598;p54"/>
          <p:cNvGrpSpPr/>
          <p:nvPr/>
        </p:nvGrpSpPr>
        <p:grpSpPr>
          <a:xfrm>
            <a:off x="8049650" y="5037504"/>
            <a:ext cx="4142349" cy="933582"/>
            <a:chOff x="8049650" y="5037504"/>
            <a:chExt cx="4142349" cy="933582"/>
          </a:xfrm>
        </p:grpSpPr>
        <p:sp>
          <p:nvSpPr>
            <p:cNvPr id="3599" name="Google Shape;3599;p54"/>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3600" name="Google Shape;3600;p54"/>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3601" name="Google Shape;3601;p54"/>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grpSp>
        <p:nvGrpSpPr>
          <p:cNvPr id="3602" name="Google Shape;3602;p54"/>
          <p:cNvGrpSpPr/>
          <p:nvPr/>
        </p:nvGrpSpPr>
        <p:grpSpPr>
          <a:xfrm>
            <a:off x="2271408" y="3285357"/>
            <a:ext cx="3548062" cy="989290"/>
            <a:chOff x="2270357" y="3283338"/>
            <a:chExt cx="3548062" cy="989290"/>
          </a:xfrm>
        </p:grpSpPr>
        <p:sp>
          <p:nvSpPr>
            <p:cNvPr id="3603" name="Google Shape;3603;p54"/>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604" name="Google Shape;3604;p54"/>
            <p:cNvGrpSpPr/>
            <p:nvPr/>
          </p:nvGrpSpPr>
          <p:grpSpPr>
            <a:xfrm>
              <a:off x="2270357" y="3545923"/>
              <a:ext cx="3548062" cy="726705"/>
              <a:chOff x="2270357" y="3545923"/>
              <a:chExt cx="3548062" cy="726705"/>
            </a:xfrm>
          </p:grpSpPr>
          <p:sp>
            <p:nvSpPr>
              <p:cNvPr id="3605" name="Google Shape;3605;p54"/>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3606" name="Google Shape;3606;p54"/>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3607" name="Google Shape;3607;p54"/>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3608" name="Google Shape;3608;p54"/>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3609" name="Google Shape;3609;p54"/>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3610" name="Google Shape;3610;p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1"/>
                                        </p:tgtEl>
                                        <p:attrNameLst>
                                          <p:attrName>style.visibility</p:attrName>
                                        </p:attrNameLst>
                                      </p:cBhvr>
                                      <p:to>
                                        <p:strVal val="visible"/>
                                      </p:to>
                                    </p:set>
                                    <p:animEffect filter="fade" transition="in">
                                      <p:cBhvr>
                                        <p:cTn dur="500"/>
                                        <p:tgtEl>
                                          <p:spTgt spid="3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4"/>
                                        </p:tgtEl>
                                        <p:attrNameLst>
                                          <p:attrName>style.visibility</p:attrName>
                                        </p:attrNameLst>
                                      </p:cBhvr>
                                      <p:to>
                                        <p:strVal val="visible"/>
                                      </p:to>
                                    </p:set>
                                    <p:animEffect filter="fade" transition="in">
                                      <p:cBhvr>
                                        <p:cTn dur="500"/>
                                        <p:tgtEl>
                                          <p:spTgt spid="3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8"/>
                                        </p:tgtEl>
                                        <p:attrNameLst>
                                          <p:attrName>style.visibility</p:attrName>
                                        </p:attrNameLst>
                                      </p:cBhvr>
                                      <p:to>
                                        <p:strVal val="visible"/>
                                      </p:to>
                                    </p:set>
                                    <p:animEffect filter="fade" transition="in">
                                      <p:cBhvr>
                                        <p:cTn dur="1000"/>
                                        <p:tgtEl>
                                          <p:spTgt spid="3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9"/>
                                        </p:tgtEl>
                                        <p:attrNameLst>
                                          <p:attrName>style.visibility</p:attrName>
                                        </p:attrNameLst>
                                      </p:cBhvr>
                                      <p:to>
                                        <p:strVal val="visible"/>
                                      </p:to>
                                    </p:set>
                                    <p:animEffect filter="fade" transition="in">
                                      <p:cBhvr>
                                        <p:cTn dur="1000"/>
                                        <p:tgtEl>
                                          <p:spTgt spid="3579"/>
                                        </p:tgtEl>
                                      </p:cBhvr>
                                    </p:animEffect>
                                  </p:childTnLst>
                                </p:cTn>
                              </p:par>
                              <p:par>
                                <p:cTn fill="hold" nodeType="withEffect" presetClass="entr" presetID="1" presetSubtype="0">
                                  <p:stCondLst>
                                    <p:cond delay="0"/>
                                  </p:stCondLst>
                                  <p:childTnLst>
                                    <p:set>
                                      <p:cBhvr>
                                        <p:cTn dur="1" fill="hold">
                                          <p:stCondLst>
                                            <p:cond delay="0"/>
                                          </p:stCondLst>
                                        </p:cTn>
                                        <p:tgtEl>
                                          <p:spTgt spid="35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0"/>
                                        </p:tgtEl>
                                        <p:attrNameLst>
                                          <p:attrName>style.visibility</p:attrName>
                                        </p:attrNameLst>
                                      </p:cBhvr>
                                      <p:to>
                                        <p:strVal val="visible"/>
                                      </p:to>
                                    </p:set>
                                    <p:animEffect filter="fade" transition="in">
                                      <p:cBhvr>
                                        <p:cTn dur="1000"/>
                                        <p:tgtEl>
                                          <p:spTgt spid="35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1"/>
                                        </p:tgtEl>
                                        <p:attrNameLst>
                                          <p:attrName>style.visibility</p:attrName>
                                        </p:attrNameLst>
                                      </p:cBhvr>
                                      <p:to>
                                        <p:strVal val="visible"/>
                                      </p:to>
                                    </p:set>
                                    <p:animEffect filter="fade" transition="in">
                                      <p:cBhvr>
                                        <p:cTn dur="1000"/>
                                        <p:tgtEl>
                                          <p:spTgt spid="35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2"/>
                                        </p:tgtEl>
                                        <p:attrNameLst>
                                          <p:attrName>style.visibility</p:attrName>
                                        </p:attrNameLst>
                                      </p:cBhvr>
                                      <p:to>
                                        <p:strVal val="visible"/>
                                      </p:to>
                                    </p:set>
                                    <p:animEffect filter="fade" transition="in">
                                      <p:cBhvr>
                                        <p:cTn dur="1000"/>
                                        <p:tgtEl>
                                          <p:spTgt spid="35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3"/>
                                        </p:tgtEl>
                                        <p:attrNameLst>
                                          <p:attrName>style.visibility</p:attrName>
                                        </p:attrNameLst>
                                      </p:cBhvr>
                                      <p:to>
                                        <p:strVal val="visible"/>
                                      </p:to>
                                    </p:set>
                                    <p:animEffect filter="fade" transition="in">
                                      <p:cBhvr>
                                        <p:cTn dur="2000"/>
                                        <p:tgtEl>
                                          <p:spTgt spid="35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4"/>
                                        </p:tgtEl>
                                        <p:attrNameLst>
                                          <p:attrName>style.visibility</p:attrName>
                                        </p:attrNameLst>
                                      </p:cBhvr>
                                      <p:to>
                                        <p:strVal val="visible"/>
                                      </p:to>
                                    </p:set>
                                    <p:animEffect filter="fade" transition="in">
                                      <p:cBhvr>
                                        <p:cTn dur="1000"/>
                                        <p:tgtEl>
                                          <p:spTgt spid="3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5"/>
                                        </p:tgtEl>
                                        <p:attrNameLst>
                                          <p:attrName>style.visibility</p:attrName>
                                        </p:attrNameLst>
                                      </p:cBhvr>
                                      <p:to>
                                        <p:strVal val="visible"/>
                                      </p:to>
                                    </p:set>
                                    <p:animEffect filter="fade" transition="in">
                                      <p:cBhvr>
                                        <p:cTn dur="1000"/>
                                        <p:tgtEl>
                                          <p:spTgt spid="3585"/>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5" name="Shape 3615"/>
        <p:cNvGrpSpPr/>
        <p:nvPr/>
      </p:nvGrpSpPr>
      <p:grpSpPr>
        <a:xfrm>
          <a:off x="0" y="0"/>
          <a:ext cx="0" cy="0"/>
          <a:chOff x="0" y="0"/>
          <a:chExt cx="0" cy="0"/>
        </a:xfrm>
      </p:grpSpPr>
      <p:sp>
        <p:nvSpPr>
          <p:cNvPr id="3616" name="Google Shape;3616;p5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has a fatal flaw!</a:t>
            </a:r>
            <a:endParaRPr sz="4400"/>
          </a:p>
        </p:txBody>
      </p:sp>
      <p:sp>
        <p:nvSpPr>
          <p:cNvPr id="3617" name="Google Shape;3617;p55"/>
          <p:cNvSpPr txBox="1"/>
          <p:nvPr/>
        </p:nvSpPr>
        <p:spPr>
          <a:xfrm>
            <a:off x="691480" y="1384568"/>
            <a:ext cx="582523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what happens if ACK/NAK corrupted</a:t>
            </a:r>
            <a:r>
              <a:rPr b="0" i="0" lang="en-US" sz="2800" u="none" cap="none" strike="noStrike">
                <a:solidFill>
                  <a:srgbClr val="CC0000"/>
                </a:solidFill>
                <a:latin typeface="Calibri"/>
                <a:ea typeface="Calibri"/>
                <a:cs typeface="Calibri"/>
                <a:sym typeface="Calibri"/>
              </a:rPr>
              <a:t>?</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doesn’t know what happened at receiver!</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can’t just retransmit: possible duplicate</a:t>
            </a:r>
            <a:endParaRPr b="0" i="0" sz="3200" u="none" cap="none" strike="noStrike">
              <a:solidFill>
                <a:srgbClr val="000000"/>
              </a:solidFill>
              <a:latin typeface="Calibri"/>
              <a:ea typeface="Calibri"/>
              <a:cs typeface="Calibri"/>
              <a:sym typeface="Calibri"/>
            </a:endParaRPr>
          </a:p>
          <a:p>
            <a:pPr indent="-222250" lvl="0" marL="352425" marR="0" rtl="0" algn="l">
              <a:lnSpc>
                <a:spcPct val="80000"/>
              </a:lnSpc>
              <a:spcBef>
                <a:spcPts val="144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618" name="Google Shape;3618;p55"/>
          <p:cNvSpPr txBox="1"/>
          <p:nvPr/>
        </p:nvSpPr>
        <p:spPr>
          <a:xfrm>
            <a:off x="6207334" y="1371689"/>
            <a:ext cx="5293186" cy="3063891"/>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C0000"/>
                </a:solidFill>
                <a:latin typeface="Calibri"/>
                <a:ea typeface="Calibri"/>
                <a:cs typeface="Calibri"/>
                <a:sym typeface="Calibri"/>
              </a:rPr>
              <a:t>handling duplicates</a:t>
            </a:r>
            <a:r>
              <a:rPr b="0" i="0" lang="en-US" sz="3500" u="none" cap="none" strike="noStrike">
                <a:solidFill>
                  <a:srgbClr val="FF0000"/>
                </a:solidFill>
                <a:latin typeface="Calibri"/>
                <a:ea typeface="Calibri"/>
                <a:cs typeface="Calibri"/>
                <a:sym typeface="Calibri"/>
              </a:rPr>
              <a:t>: </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current pkt if ACK/NAK corrupted</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adds </a:t>
            </a:r>
            <a:r>
              <a:rPr b="0" i="1" lang="en-US" sz="2800" u="none" cap="none" strike="noStrike">
                <a:solidFill>
                  <a:srgbClr val="000099"/>
                </a:solidFill>
                <a:latin typeface="Calibri"/>
                <a:ea typeface="Calibri"/>
                <a:cs typeface="Calibri"/>
                <a:sym typeface="Calibri"/>
              </a:rPr>
              <a:t>sequence number</a:t>
            </a:r>
            <a:r>
              <a:rPr b="0" i="0" lang="en-US" sz="2800" u="none" cap="none" strike="noStrike">
                <a:solidFill>
                  <a:srgbClr val="000000"/>
                </a:solidFill>
                <a:latin typeface="Calibri"/>
                <a:ea typeface="Calibri"/>
                <a:cs typeface="Calibri"/>
                <a:sym typeface="Calibri"/>
              </a:rPr>
              <a:t> to each pkt</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receiver discards (doesn’t deliver up) duplicate pkt</a:t>
            </a:r>
            <a:endParaRPr b="0" i="0" sz="2800" u="none" cap="none" strike="noStrike">
              <a:solidFill>
                <a:srgbClr val="000000"/>
              </a:solidFill>
              <a:latin typeface="Calibri"/>
              <a:ea typeface="Calibri"/>
              <a:cs typeface="Calibri"/>
              <a:sym typeface="Calibri"/>
            </a:endParaRPr>
          </a:p>
        </p:txBody>
      </p:sp>
      <p:grpSp>
        <p:nvGrpSpPr>
          <p:cNvPr id="3619" name="Google Shape;3619;p55"/>
          <p:cNvGrpSpPr/>
          <p:nvPr/>
        </p:nvGrpSpPr>
        <p:grpSpPr>
          <a:xfrm>
            <a:off x="3103667" y="4578498"/>
            <a:ext cx="5984666" cy="1603375"/>
            <a:chOff x="1552" y="2800"/>
            <a:chExt cx="2578" cy="1010"/>
          </a:xfrm>
        </p:grpSpPr>
        <p:sp>
          <p:nvSpPr>
            <p:cNvPr id="3620" name="Google Shape;3620;p55"/>
            <p:cNvSpPr/>
            <p:nvPr/>
          </p:nvSpPr>
          <p:spPr>
            <a:xfrm>
              <a:off x="1552" y="2974"/>
              <a:ext cx="2578" cy="836"/>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621" name="Google Shape;3621;p55"/>
            <p:cNvSpPr/>
            <p:nvPr/>
          </p:nvSpPr>
          <p:spPr>
            <a:xfrm>
              <a:off x="2226" y="2864"/>
              <a:ext cx="596"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622" name="Google Shape;3622;p55"/>
            <p:cNvSpPr txBox="1"/>
            <p:nvPr/>
          </p:nvSpPr>
          <p:spPr>
            <a:xfrm>
              <a:off x="1724" y="2800"/>
              <a:ext cx="10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3623" name="Google Shape;3623;p55"/>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3624" name="Google Shape;3624;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7"/>
                                        </p:tgtEl>
                                        <p:attrNameLst>
                                          <p:attrName>style.visibility</p:attrName>
                                        </p:attrNameLst>
                                      </p:cBhvr>
                                      <p:to>
                                        <p:strVal val="visible"/>
                                      </p:to>
                                    </p:set>
                                    <p:animEffect filter="fade" transition="in">
                                      <p:cBhvr>
                                        <p:cTn dur="500"/>
                                        <p:tgtEl>
                                          <p:spTgt spid="3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8"/>
                                        </p:tgtEl>
                                        <p:attrNameLst>
                                          <p:attrName>style.visibility</p:attrName>
                                        </p:attrNameLst>
                                      </p:cBhvr>
                                      <p:to>
                                        <p:strVal val="visible"/>
                                      </p:to>
                                    </p:set>
                                    <p:animEffect filter="fade" transition="in">
                                      <p:cBhvr>
                                        <p:cTn dur="500"/>
                                        <p:tgtEl>
                                          <p:spTgt spid="3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9"/>
                                        </p:tgtEl>
                                        <p:attrNameLst>
                                          <p:attrName>style.visibility</p:attrName>
                                        </p:attrNameLst>
                                      </p:cBhvr>
                                      <p:to>
                                        <p:strVal val="visible"/>
                                      </p:to>
                                    </p:set>
                                    <p:animEffect filter="fade" transition="in">
                                      <p:cBhvr>
                                        <p:cTn dur="500"/>
                                        <p:tgtEl>
                                          <p:spTgt spid="3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9" name="Shape 3629"/>
        <p:cNvGrpSpPr/>
        <p:nvPr/>
      </p:nvGrpSpPr>
      <p:grpSpPr>
        <a:xfrm>
          <a:off x="0" y="0"/>
          <a:ext cx="0" cy="0"/>
          <a:chOff x="0" y="0"/>
          <a:chExt cx="0" cy="0"/>
        </a:xfrm>
      </p:grpSpPr>
      <p:sp>
        <p:nvSpPr>
          <p:cNvPr id="3630" name="Google Shape;3630;p5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sender, handling garbled ACK/NAKs</a:t>
            </a:r>
            <a:endParaRPr sz="4400"/>
          </a:p>
        </p:txBody>
      </p:sp>
      <p:sp>
        <p:nvSpPr>
          <p:cNvPr id="3631" name="Google Shape;3631;p56"/>
          <p:cNvSpPr/>
          <p:nvPr/>
        </p:nvSpPr>
        <p:spPr>
          <a:xfrm>
            <a:off x="4658777" y="2435427"/>
            <a:ext cx="901700" cy="83661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32" name="Google Shape;3632;p56"/>
          <p:cNvSpPr txBox="1"/>
          <p:nvPr/>
        </p:nvSpPr>
        <p:spPr>
          <a:xfrm>
            <a:off x="4567752" y="2511448"/>
            <a:ext cx="1090613"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cxnSp>
        <p:nvCxnSpPr>
          <p:cNvPr id="3633" name="Google Shape;3633;p56"/>
          <p:cNvCxnSpPr/>
          <p:nvPr/>
        </p:nvCxnSpPr>
        <p:spPr>
          <a:xfrm>
            <a:off x="4384139" y="2390977"/>
            <a:ext cx="377825" cy="190500"/>
          </a:xfrm>
          <a:prstGeom prst="straightConnector1">
            <a:avLst/>
          </a:prstGeom>
          <a:noFill/>
          <a:ln cap="flat" cmpd="sng" w="28575">
            <a:solidFill>
              <a:srgbClr val="000000"/>
            </a:solidFill>
            <a:prstDash val="dash"/>
            <a:round/>
            <a:headEnd len="med" w="med" type="none"/>
            <a:tailEnd len="med" w="med" type="triangle"/>
          </a:ln>
        </p:spPr>
      </p:cxnSp>
      <p:grpSp>
        <p:nvGrpSpPr>
          <p:cNvPr id="3634" name="Google Shape;3634;p56"/>
          <p:cNvGrpSpPr/>
          <p:nvPr/>
        </p:nvGrpSpPr>
        <p:grpSpPr>
          <a:xfrm>
            <a:off x="6492339" y="2383039"/>
            <a:ext cx="1089025" cy="865188"/>
            <a:chOff x="2848" y="1499"/>
            <a:chExt cx="660" cy="510"/>
          </a:xfrm>
        </p:grpSpPr>
        <p:sp>
          <p:nvSpPr>
            <p:cNvPr id="3635" name="Google Shape;3635;p56"/>
            <p:cNvSpPr/>
            <p:nvPr/>
          </p:nvSpPr>
          <p:spPr>
            <a:xfrm>
              <a:off x="2893" y="1499"/>
              <a:ext cx="568" cy="51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36" name="Google Shape;3636;p56"/>
            <p:cNvSpPr txBox="1"/>
            <p:nvPr/>
          </p:nvSpPr>
          <p:spPr>
            <a:xfrm>
              <a:off x="2848" y="1551"/>
              <a:ext cx="660"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37" name="Google Shape;3637;p56"/>
          <p:cNvGrpSpPr/>
          <p:nvPr/>
        </p:nvGrpSpPr>
        <p:grpSpPr>
          <a:xfrm>
            <a:off x="4914364" y="1394027"/>
            <a:ext cx="3694113" cy="1087437"/>
            <a:chOff x="4914364" y="1394027"/>
            <a:chExt cx="3694113" cy="1087437"/>
          </a:xfrm>
        </p:grpSpPr>
        <p:sp>
          <p:nvSpPr>
            <p:cNvPr id="3638" name="Google Shape;3638;p56"/>
            <p:cNvSpPr txBox="1"/>
            <p:nvPr/>
          </p:nvSpPr>
          <p:spPr>
            <a:xfrm>
              <a:off x="4914364" y="1706764"/>
              <a:ext cx="36941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3639" name="Google Shape;3639;p56"/>
            <p:cNvGrpSpPr/>
            <p:nvPr/>
          </p:nvGrpSpPr>
          <p:grpSpPr>
            <a:xfrm>
              <a:off x="4928652" y="1394027"/>
              <a:ext cx="2852737" cy="1087437"/>
              <a:chOff x="4928652" y="1394027"/>
              <a:chExt cx="2852737" cy="1087437"/>
            </a:xfrm>
          </p:grpSpPr>
          <p:sp>
            <p:nvSpPr>
              <p:cNvPr id="3640" name="Google Shape;3640;p56"/>
              <p:cNvSpPr txBox="1"/>
              <p:nvPr/>
            </p:nvSpPr>
            <p:spPr>
              <a:xfrm>
                <a:off x="4928652" y="1394027"/>
                <a:ext cx="2111375"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641" name="Google Shape;3641;p56"/>
              <p:cNvCxnSpPr/>
              <p:nvPr/>
            </p:nvCxnSpPr>
            <p:spPr>
              <a:xfrm>
                <a:off x="5046127" y="1759152"/>
                <a:ext cx="2735262" cy="0"/>
              </a:xfrm>
              <a:prstGeom prst="straightConnector1">
                <a:avLst/>
              </a:prstGeom>
              <a:noFill/>
              <a:ln cap="flat" cmpd="sng" w="28575">
                <a:solidFill>
                  <a:srgbClr val="000000"/>
                </a:solidFill>
                <a:prstDash val="solid"/>
                <a:round/>
                <a:headEnd len="med" w="med" type="none"/>
                <a:tailEnd len="med" w="med" type="none"/>
              </a:ln>
            </p:spPr>
          </p:cxnSp>
          <p:sp>
            <p:nvSpPr>
              <p:cNvPr id="3642" name="Google Shape;3642;p56"/>
              <p:cNvSpPr/>
              <p:nvPr/>
            </p:nvSpPr>
            <p:spPr>
              <a:xfrm flipH="1" rot="10800000">
                <a:off x="5215989" y="2260802"/>
                <a:ext cx="1482725" cy="22066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3643" name="Google Shape;3643;p56"/>
          <p:cNvGrpSpPr/>
          <p:nvPr/>
        </p:nvGrpSpPr>
        <p:grpSpPr>
          <a:xfrm>
            <a:off x="7265819" y="1999849"/>
            <a:ext cx="3627361" cy="1207103"/>
            <a:chOff x="7265819" y="1999849"/>
            <a:chExt cx="3627361" cy="1207103"/>
          </a:xfrm>
        </p:grpSpPr>
        <p:sp>
          <p:nvSpPr>
            <p:cNvPr id="3644" name="Google Shape;3644;p56"/>
            <p:cNvSpPr/>
            <p:nvPr/>
          </p:nvSpPr>
          <p:spPr>
            <a:xfrm rot="-1357180">
              <a:off x="7379752" y="2244927"/>
              <a:ext cx="466725" cy="685800"/>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45" name="Google Shape;3645;p56"/>
            <p:cNvSpPr txBox="1"/>
            <p:nvPr/>
          </p:nvSpPr>
          <p:spPr>
            <a:xfrm>
              <a:off x="7742239" y="2806902"/>
              <a:ext cx="2262187"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646" name="Google Shape;3646;p56"/>
            <p:cNvSpPr txBox="1"/>
            <p:nvPr/>
          </p:nvSpPr>
          <p:spPr>
            <a:xfrm>
              <a:off x="7714671" y="1999849"/>
              <a:ext cx="3178509"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3647" name="Google Shape;3647;p56"/>
            <p:cNvCxnSpPr/>
            <p:nvPr/>
          </p:nvCxnSpPr>
          <p:spPr>
            <a:xfrm>
              <a:off x="7835364" y="2846589"/>
              <a:ext cx="1433513" cy="0"/>
            </a:xfrm>
            <a:prstGeom prst="straightConnector1">
              <a:avLst/>
            </a:prstGeom>
            <a:noFill/>
            <a:ln cap="flat" cmpd="sng" w="28575">
              <a:solidFill>
                <a:srgbClr val="000000"/>
              </a:solidFill>
              <a:prstDash val="solid"/>
              <a:round/>
              <a:headEnd len="med" w="med" type="none"/>
              <a:tailEnd len="med" w="med" type="none"/>
            </a:ln>
          </p:spPr>
        </p:cxnSp>
      </p:grpSp>
      <p:grpSp>
        <p:nvGrpSpPr>
          <p:cNvPr id="3648" name="Google Shape;3648;p56"/>
          <p:cNvGrpSpPr/>
          <p:nvPr/>
        </p:nvGrpSpPr>
        <p:grpSpPr>
          <a:xfrm>
            <a:off x="5155664" y="4908752"/>
            <a:ext cx="3763963" cy="984250"/>
            <a:chOff x="5155664" y="4908752"/>
            <a:chExt cx="3763963" cy="984250"/>
          </a:xfrm>
        </p:grpSpPr>
        <p:sp>
          <p:nvSpPr>
            <p:cNvPr id="3649" name="Google Shape;3649;p56"/>
            <p:cNvSpPr/>
            <p:nvPr/>
          </p:nvSpPr>
          <p:spPr>
            <a:xfrm>
              <a:off x="5390614" y="4908752"/>
              <a:ext cx="1606550" cy="24765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50" name="Google Shape;3650;p56"/>
            <p:cNvSpPr txBox="1"/>
            <p:nvPr/>
          </p:nvSpPr>
          <p:spPr>
            <a:xfrm>
              <a:off x="5155664" y="5492952"/>
              <a:ext cx="376396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651" name="Google Shape;3651;p56"/>
            <p:cNvSpPr txBox="1"/>
            <p:nvPr/>
          </p:nvSpPr>
          <p:spPr>
            <a:xfrm>
              <a:off x="5225514" y="5154814"/>
              <a:ext cx="2389188"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652" name="Google Shape;3652;p56"/>
            <p:cNvCxnSpPr/>
            <p:nvPr/>
          </p:nvCxnSpPr>
          <p:spPr>
            <a:xfrm>
              <a:off x="5273139" y="5507239"/>
              <a:ext cx="2903538" cy="0"/>
            </a:xfrm>
            <a:prstGeom prst="straightConnector1">
              <a:avLst/>
            </a:prstGeom>
            <a:noFill/>
            <a:ln cap="flat" cmpd="sng" w="28575">
              <a:solidFill>
                <a:srgbClr val="000000"/>
              </a:solidFill>
              <a:prstDash val="solid"/>
              <a:round/>
              <a:headEnd len="med" w="med" type="none"/>
              <a:tailEnd len="med" w="med" type="none"/>
            </a:ln>
          </p:spPr>
        </p:cxnSp>
      </p:grpSp>
      <p:grpSp>
        <p:nvGrpSpPr>
          <p:cNvPr id="3653" name="Google Shape;3653;p56"/>
          <p:cNvGrpSpPr/>
          <p:nvPr/>
        </p:nvGrpSpPr>
        <p:grpSpPr>
          <a:xfrm>
            <a:off x="1859796" y="4436442"/>
            <a:ext cx="3008971" cy="1404172"/>
            <a:chOff x="1859796" y="4436442"/>
            <a:chExt cx="3008971" cy="1404172"/>
          </a:xfrm>
        </p:grpSpPr>
        <p:sp>
          <p:nvSpPr>
            <p:cNvPr id="3654" name="Google Shape;3654;p56"/>
            <p:cNvSpPr/>
            <p:nvPr/>
          </p:nvSpPr>
          <p:spPr>
            <a:xfrm rot="-6989453">
              <a:off x="3969802" y="4732539"/>
              <a:ext cx="952500" cy="469900"/>
            </a:xfrm>
            <a:custGeom>
              <a:rect b="b" l="l" r="r" t="t"/>
              <a:pathLst>
                <a:path extrusionOk="0" h="740" w="1500">
                  <a:moveTo>
                    <a:pt x="361" y="671"/>
                  </a:moveTo>
                  <a:cubicBezTo>
                    <a:pt x="0" y="0"/>
                    <a:pt x="1500" y="90"/>
                    <a:pt x="1017" y="74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55" name="Google Shape;3655;p56"/>
            <p:cNvSpPr txBox="1"/>
            <p:nvPr/>
          </p:nvSpPr>
          <p:spPr>
            <a:xfrm>
              <a:off x="2510889" y="5564389"/>
              <a:ext cx="1819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656" name="Google Shape;3656;p56"/>
            <p:cNvSpPr txBox="1"/>
            <p:nvPr/>
          </p:nvSpPr>
          <p:spPr>
            <a:xfrm>
              <a:off x="1859796" y="4726939"/>
              <a:ext cx="2391034"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(corrupt(rcvpkt)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3657" name="Google Shape;3657;p56"/>
            <p:cNvCxnSpPr/>
            <p:nvPr/>
          </p:nvCxnSpPr>
          <p:spPr>
            <a:xfrm>
              <a:off x="2601377" y="5572327"/>
              <a:ext cx="1557337" cy="0"/>
            </a:xfrm>
            <a:prstGeom prst="straightConnector1">
              <a:avLst/>
            </a:prstGeom>
            <a:noFill/>
            <a:ln cap="flat" cmpd="sng" w="28575">
              <a:solidFill>
                <a:srgbClr val="000000"/>
              </a:solidFill>
              <a:prstDash val="solid"/>
              <a:round/>
              <a:headEnd len="med" w="med" type="none"/>
              <a:tailEnd len="med" w="med" type="none"/>
            </a:ln>
          </p:spPr>
        </p:cxnSp>
      </p:grpSp>
      <p:grpSp>
        <p:nvGrpSpPr>
          <p:cNvPr id="3658" name="Google Shape;3658;p56"/>
          <p:cNvGrpSpPr/>
          <p:nvPr/>
        </p:nvGrpSpPr>
        <p:grpSpPr>
          <a:xfrm>
            <a:off x="6643152" y="4329314"/>
            <a:ext cx="1117600" cy="823913"/>
            <a:chOff x="4156" y="2812"/>
            <a:chExt cx="704" cy="519"/>
          </a:xfrm>
        </p:grpSpPr>
        <p:sp>
          <p:nvSpPr>
            <p:cNvPr id="3659" name="Google Shape;3659;p56"/>
            <p:cNvSpPr/>
            <p:nvPr/>
          </p:nvSpPr>
          <p:spPr>
            <a:xfrm>
              <a:off x="4242" y="2812"/>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60" name="Google Shape;3660;p56"/>
            <p:cNvSpPr txBox="1"/>
            <p:nvPr/>
          </p:nvSpPr>
          <p:spPr>
            <a:xfrm>
              <a:off x="4156" y="2870"/>
              <a:ext cx="7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61" name="Google Shape;3661;p56"/>
          <p:cNvGrpSpPr/>
          <p:nvPr/>
        </p:nvGrpSpPr>
        <p:grpSpPr>
          <a:xfrm>
            <a:off x="4453989" y="4275339"/>
            <a:ext cx="1046163" cy="823913"/>
            <a:chOff x="4916" y="3266"/>
            <a:chExt cx="659" cy="519"/>
          </a:xfrm>
        </p:grpSpPr>
        <p:sp>
          <p:nvSpPr>
            <p:cNvPr id="3662" name="Google Shape;3662;p56"/>
            <p:cNvSpPr/>
            <p:nvPr/>
          </p:nvSpPr>
          <p:spPr>
            <a:xfrm>
              <a:off x="4957" y="3266"/>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63" name="Google Shape;3663;p56"/>
            <p:cNvSpPr txBox="1"/>
            <p:nvPr/>
          </p:nvSpPr>
          <p:spPr>
            <a:xfrm>
              <a:off x="4916" y="3319"/>
              <a:ext cx="65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1</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64" name="Google Shape;3664;p56"/>
          <p:cNvGrpSpPr/>
          <p:nvPr/>
        </p:nvGrpSpPr>
        <p:grpSpPr>
          <a:xfrm>
            <a:off x="7340063" y="2989465"/>
            <a:ext cx="3184985" cy="1470025"/>
            <a:chOff x="7340063" y="2989464"/>
            <a:chExt cx="3184985" cy="1470025"/>
          </a:xfrm>
        </p:grpSpPr>
        <p:sp>
          <p:nvSpPr>
            <p:cNvPr id="3665" name="Google Shape;3665;p56"/>
            <p:cNvSpPr/>
            <p:nvPr/>
          </p:nvSpPr>
          <p:spPr>
            <a:xfrm rot="-5400000">
              <a:off x="6760626" y="3568902"/>
              <a:ext cx="1363663" cy="204788"/>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66" name="Google Shape;3666;p56"/>
            <p:cNvSpPr txBox="1"/>
            <p:nvPr/>
          </p:nvSpPr>
          <p:spPr>
            <a:xfrm>
              <a:off x="7529435" y="3255707"/>
              <a:ext cx="2995613"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isACK(rcvpkt) </a:t>
              </a:r>
              <a:endParaRPr/>
            </a:p>
          </p:txBody>
        </p:sp>
        <p:cxnSp>
          <p:nvCxnSpPr>
            <p:cNvPr id="3667" name="Google Shape;3667;p56"/>
            <p:cNvCxnSpPr/>
            <p:nvPr/>
          </p:nvCxnSpPr>
          <p:spPr>
            <a:xfrm>
              <a:off x="7611527" y="4113414"/>
              <a:ext cx="990600" cy="0"/>
            </a:xfrm>
            <a:prstGeom prst="straightConnector1">
              <a:avLst/>
            </a:prstGeom>
            <a:noFill/>
            <a:ln cap="flat" cmpd="sng" w="28575">
              <a:solidFill>
                <a:srgbClr val="000000"/>
              </a:solidFill>
              <a:prstDash val="solid"/>
              <a:round/>
              <a:headEnd len="med" w="med" type="none"/>
              <a:tailEnd len="med" w="med" type="none"/>
            </a:ln>
          </p:spPr>
        </p:cxnSp>
        <p:sp>
          <p:nvSpPr>
            <p:cNvPr id="3668" name="Google Shape;3668;p56"/>
            <p:cNvSpPr txBox="1"/>
            <p:nvPr/>
          </p:nvSpPr>
          <p:spPr>
            <a:xfrm>
              <a:off x="7994114" y="412293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669" name="Google Shape;3669;p56"/>
          <p:cNvGrpSpPr/>
          <p:nvPr/>
        </p:nvGrpSpPr>
        <p:grpSpPr>
          <a:xfrm>
            <a:off x="768495" y="3049789"/>
            <a:ext cx="3918857" cy="1284288"/>
            <a:chOff x="768495" y="3049789"/>
            <a:chExt cx="3918857" cy="1284288"/>
          </a:xfrm>
        </p:grpSpPr>
        <p:sp>
          <p:nvSpPr>
            <p:cNvPr id="3670" name="Google Shape;3670;p56"/>
            <p:cNvSpPr/>
            <p:nvPr/>
          </p:nvSpPr>
          <p:spPr>
            <a:xfrm flipH="1" rot="5400000">
              <a:off x="3992027" y="3621289"/>
              <a:ext cx="1266825" cy="12382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71" name="Google Shape;3671;p56"/>
            <p:cNvSpPr txBox="1"/>
            <p:nvPr/>
          </p:nvSpPr>
          <p:spPr>
            <a:xfrm>
              <a:off x="768495" y="3141125"/>
              <a:ext cx="3623727"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&amp;&amp; isACK(rcvpkt)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672" name="Google Shape;3672;p56"/>
            <p:cNvCxnSpPr/>
            <p:nvPr/>
          </p:nvCxnSpPr>
          <p:spPr>
            <a:xfrm>
              <a:off x="2572802" y="3983239"/>
              <a:ext cx="1738312" cy="0"/>
            </a:xfrm>
            <a:prstGeom prst="straightConnector1">
              <a:avLst/>
            </a:prstGeom>
            <a:noFill/>
            <a:ln cap="flat" cmpd="sng" w="28575">
              <a:solidFill>
                <a:srgbClr val="000000"/>
              </a:solidFill>
              <a:prstDash val="solid"/>
              <a:round/>
              <a:headEnd len="med" w="med" type="none"/>
              <a:tailEnd len="med" w="med" type="none"/>
            </a:ln>
          </p:spPr>
        </p:cxnSp>
        <p:sp>
          <p:nvSpPr>
            <p:cNvPr id="3673" name="Google Shape;3673;p56"/>
            <p:cNvSpPr txBox="1"/>
            <p:nvPr/>
          </p:nvSpPr>
          <p:spPr>
            <a:xfrm>
              <a:off x="3144302" y="3997527"/>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674" name="Google Shape;3674;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7"/>
                                        </p:tgtEl>
                                        <p:attrNameLst>
                                          <p:attrName>style.visibility</p:attrName>
                                        </p:attrNameLst>
                                      </p:cBhvr>
                                      <p:to>
                                        <p:strVal val="visible"/>
                                      </p:to>
                                    </p:set>
                                    <p:animEffect filter="fade" transition="in">
                                      <p:cBhvr>
                                        <p:cTn dur="500"/>
                                        <p:tgtEl>
                                          <p:spTgt spid="3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4"/>
                                        </p:tgtEl>
                                        <p:attrNameLst>
                                          <p:attrName>style.visibility</p:attrName>
                                        </p:attrNameLst>
                                      </p:cBhvr>
                                      <p:to>
                                        <p:strVal val="visible"/>
                                      </p:to>
                                    </p:set>
                                    <p:animEffect filter="fade" transition="in">
                                      <p:cBhvr>
                                        <p:cTn dur="500"/>
                                        <p:tgtEl>
                                          <p:spTgt spid="3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8"/>
                                        </p:tgtEl>
                                        <p:attrNameLst>
                                          <p:attrName>style.visibility</p:attrName>
                                        </p:attrNameLst>
                                      </p:cBhvr>
                                      <p:to>
                                        <p:strVal val="visible"/>
                                      </p:to>
                                    </p:set>
                                    <p:animEffect filter="fade" transition="in">
                                      <p:cBhvr>
                                        <p:cTn dur="500"/>
                                        <p:tgtEl>
                                          <p:spTgt spid="36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9"/>
                                        </p:tgtEl>
                                        <p:attrNameLst>
                                          <p:attrName>style.visibility</p:attrName>
                                        </p:attrNameLst>
                                      </p:cBhvr>
                                      <p:to>
                                        <p:strVal val="visible"/>
                                      </p:to>
                                    </p:set>
                                    <p:animEffect filter="fade" transition="in">
                                      <p:cBhvr>
                                        <p:cTn dur="500"/>
                                        <p:tgtEl>
                                          <p:spTgt spid="3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3"/>
                                        </p:tgtEl>
                                        <p:attrNameLst>
                                          <p:attrName>style.visibility</p:attrName>
                                        </p:attrNameLst>
                                      </p:cBhvr>
                                      <p:to>
                                        <p:strVal val="visible"/>
                                      </p:to>
                                    </p:set>
                                    <p:animEffect filter="fade" transition="in">
                                      <p:cBhvr>
                                        <p:cTn dur="500"/>
                                        <p:tgtEl>
                                          <p:spTgt spid="3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3"/>
                                        </p:tgtEl>
                                        <p:attrNameLst>
                                          <p:attrName>style.visibility</p:attrName>
                                        </p:attrNameLst>
                                      </p:cBhvr>
                                      <p:to>
                                        <p:strVal val="visible"/>
                                      </p:to>
                                    </p:set>
                                    <p:animEffect filter="fade" transition="in">
                                      <p:cBhvr>
                                        <p:cTn dur="500"/>
                                        <p:tgtEl>
                                          <p:spTgt spid="36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9" name="Shape 3679"/>
        <p:cNvGrpSpPr/>
        <p:nvPr/>
      </p:nvGrpSpPr>
      <p:grpSpPr>
        <a:xfrm>
          <a:off x="0" y="0"/>
          <a:ext cx="0" cy="0"/>
          <a:chOff x="0" y="0"/>
          <a:chExt cx="0" cy="0"/>
        </a:xfrm>
      </p:grpSpPr>
      <p:sp>
        <p:nvSpPr>
          <p:cNvPr id="3680" name="Google Shape;3680;p5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receiver, handling garbled ACK/NAKs</a:t>
            </a:r>
            <a:endParaRPr sz="4400"/>
          </a:p>
        </p:txBody>
      </p:sp>
      <p:grpSp>
        <p:nvGrpSpPr>
          <p:cNvPr id="3681" name="Google Shape;3681;p57"/>
          <p:cNvGrpSpPr/>
          <p:nvPr/>
        </p:nvGrpSpPr>
        <p:grpSpPr>
          <a:xfrm>
            <a:off x="4764244" y="3345999"/>
            <a:ext cx="817563" cy="795338"/>
            <a:chOff x="963" y="1131"/>
            <a:chExt cx="515" cy="501"/>
          </a:xfrm>
        </p:grpSpPr>
        <p:sp>
          <p:nvSpPr>
            <p:cNvPr id="3682" name="Google Shape;3682;p57"/>
            <p:cNvSpPr/>
            <p:nvPr/>
          </p:nvSpPr>
          <p:spPr>
            <a:xfrm>
              <a:off x="963" y="1131"/>
              <a:ext cx="490"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83" name="Google Shape;3683;p57"/>
            <p:cNvSpPr txBox="1"/>
            <p:nvPr/>
          </p:nvSpPr>
          <p:spPr>
            <a:xfrm>
              <a:off x="974" y="115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cxnSp>
        <p:nvCxnSpPr>
          <p:cNvPr id="3684" name="Google Shape;3684;p57"/>
          <p:cNvCxnSpPr/>
          <p:nvPr/>
        </p:nvCxnSpPr>
        <p:spPr>
          <a:xfrm>
            <a:off x="4600732" y="2276024"/>
            <a:ext cx="419100" cy="1079500"/>
          </a:xfrm>
          <a:prstGeom prst="straightConnector1">
            <a:avLst/>
          </a:prstGeom>
          <a:noFill/>
          <a:ln cap="flat" cmpd="sng" w="28575">
            <a:solidFill>
              <a:srgbClr val="000000"/>
            </a:solidFill>
            <a:prstDash val="dash"/>
            <a:round/>
            <a:headEnd len="med" w="med" type="none"/>
            <a:tailEnd len="med" w="med" type="triangle"/>
          </a:ln>
        </p:spPr>
      </p:cxnSp>
      <p:grpSp>
        <p:nvGrpSpPr>
          <p:cNvPr id="3685" name="Google Shape;3685;p57"/>
          <p:cNvGrpSpPr/>
          <p:nvPr/>
        </p:nvGrpSpPr>
        <p:grpSpPr>
          <a:xfrm>
            <a:off x="4688044" y="4161974"/>
            <a:ext cx="3862388" cy="2187575"/>
            <a:chOff x="4688044" y="4161974"/>
            <a:chExt cx="3862388" cy="2187575"/>
          </a:xfrm>
        </p:grpSpPr>
        <p:sp>
          <p:nvSpPr>
            <p:cNvPr id="3686" name="Google Shape;3686;p57"/>
            <p:cNvSpPr/>
            <p:nvPr/>
          </p:nvSpPr>
          <p:spPr>
            <a:xfrm>
              <a:off x="5299232" y="4161974"/>
              <a:ext cx="1590675" cy="68897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87" name="Google Shape;3687;p57"/>
            <p:cNvSpPr txBox="1"/>
            <p:nvPr/>
          </p:nvSpPr>
          <p:spPr>
            <a:xfrm>
              <a:off x="4688044" y="4742999"/>
              <a:ext cx="35814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has_seq1(rcvpkt)</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3688" name="Google Shape;3688;p57"/>
            <p:cNvCxnSpPr/>
            <p:nvPr/>
          </p:nvCxnSpPr>
          <p:spPr>
            <a:xfrm>
              <a:off x="4754719" y="5300212"/>
              <a:ext cx="2898775" cy="0"/>
            </a:xfrm>
            <a:prstGeom prst="straightConnector1">
              <a:avLst/>
            </a:prstGeom>
            <a:noFill/>
            <a:ln cap="flat" cmpd="sng" w="28575">
              <a:solidFill>
                <a:srgbClr val="000000"/>
              </a:solidFill>
              <a:prstDash val="solid"/>
              <a:round/>
              <a:headEnd len="med" w="med" type="none"/>
              <a:tailEnd len="med" w="med" type="none"/>
            </a:ln>
          </p:spPr>
        </p:cxnSp>
        <p:sp>
          <p:nvSpPr>
            <p:cNvPr id="3689" name="Google Shape;3689;p57"/>
            <p:cNvSpPr txBox="1"/>
            <p:nvPr/>
          </p:nvSpPr>
          <p:spPr>
            <a:xfrm>
              <a:off x="4697569" y="5355774"/>
              <a:ext cx="3852863" cy="993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90" name="Google Shape;3690;p57"/>
          <p:cNvGrpSpPr/>
          <p:nvPr/>
        </p:nvGrpSpPr>
        <p:grpSpPr>
          <a:xfrm>
            <a:off x="6462869" y="3380924"/>
            <a:ext cx="825500" cy="796925"/>
            <a:chOff x="4398" y="3133"/>
            <a:chExt cx="520" cy="502"/>
          </a:xfrm>
        </p:grpSpPr>
        <p:sp>
          <p:nvSpPr>
            <p:cNvPr id="3691" name="Google Shape;3691;p57"/>
            <p:cNvSpPr/>
            <p:nvPr/>
          </p:nvSpPr>
          <p:spPr>
            <a:xfrm>
              <a:off x="4398" y="3133"/>
              <a:ext cx="507" cy="50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692" name="Google Shape;3692;p57"/>
            <p:cNvSpPr txBox="1"/>
            <p:nvPr/>
          </p:nvSpPr>
          <p:spPr>
            <a:xfrm>
              <a:off x="4414" y="316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 from below</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93" name="Google Shape;3693;p57"/>
          <p:cNvGrpSpPr/>
          <p:nvPr/>
        </p:nvGrpSpPr>
        <p:grpSpPr>
          <a:xfrm>
            <a:off x="4849969" y="1277487"/>
            <a:ext cx="3981450" cy="2101850"/>
            <a:chOff x="4849969" y="1277487"/>
            <a:chExt cx="3981450" cy="2101850"/>
          </a:xfrm>
        </p:grpSpPr>
        <p:sp>
          <p:nvSpPr>
            <p:cNvPr id="3694" name="Google Shape;3694;p57"/>
            <p:cNvSpPr/>
            <p:nvPr/>
          </p:nvSpPr>
          <p:spPr>
            <a:xfrm flipH="1" rot="10800000">
              <a:off x="5281769" y="2593524"/>
              <a:ext cx="1590675" cy="785813"/>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695" name="Google Shape;3695;p57"/>
            <p:cNvGrpSpPr/>
            <p:nvPr/>
          </p:nvGrpSpPr>
          <p:grpSpPr>
            <a:xfrm>
              <a:off x="4849969" y="1277487"/>
              <a:ext cx="3981450" cy="1231900"/>
              <a:chOff x="4849969" y="1277487"/>
              <a:chExt cx="3981450" cy="1231900"/>
            </a:xfrm>
          </p:grpSpPr>
          <p:sp>
            <p:nvSpPr>
              <p:cNvPr id="3696" name="Google Shape;3696;p57"/>
              <p:cNvSpPr txBox="1"/>
              <p:nvPr/>
            </p:nvSpPr>
            <p:spPr>
              <a:xfrm>
                <a:off x="4849969" y="1277487"/>
                <a:ext cx="39814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has_seq0(rcvpkt) </a:t>
                </a:r>
                <a:endParaRPr b="0" i="0" sz="1400" u="none" cap="none" strike="noStrike">
                  <a:solidFill>
                    <a:srgbClr val="000000"/>
                  </a:solidFill>
                  <a:latin typeface="Times New Roman"/>
                  <a:ea typeface="Times New Roman"/>
                  <a:cs typeface="Times New Roman"/>
                  <a:sym typeface="Times New Roman"/>
                </a:endParaRPr>
              </a:p>
            </p:txBody>
          </p:sp>
          <p:cxnSp>
            <p:nvCxnSpPr>
              <p:cNvPr id="3697" name="Google Shape;3697;p57"/>
              <p:cNvCxnSpPr/>
              <p:nvPr/>
            </p:nvCxnSpPr>
            <p:spPr>
              <a:xfrm>
                <a:off x="4959507" y="1847399"/>
                <a:ext cx="1914525" cy="0"/>
              </a:xfrm>
              <a:prstGeom prst="straightConnector1">
                <a:avLst/>
              </a:prstGeom>
              <a:noFill/>
              <a:ln cap="flat" cmpd="sng" w="28575">
                <a:solidFill>
                  <a:srgbClr val="000000"/>
                </a:solidFill>
                <a:prstDash val="solid"/>
                <a:round/>
                <a:headEnd len="med" w="med" type="none"/>
                <a:tailEnd len="med" w="med" type="none"/>
              </a:ln>
            </p:spPr>
          </p:cxnSp>
          <p:sp>
            <p:nvSpPr>
              <p:cNvPr id="3698" name="Google Shape;3698;p57"/>
              <p:cNvSpPr txBox="1"/>
              <p:nvPr/>
            </p:nvSpPr>
            <p:spPr>
              <a:xfrm>
                <a:off x="4862669" y="1804537"/>
                <a:ext cx="3475038" cy="704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grpSp>
        <p:nvGrpSpPr>
          <p:cNvPr id="3699" name="Google Shape;3699;p57"/>
          <p:cNvGrpSpPr/>
          <p:nvPr/>
        </p:nvGrpSpPr>
        <p:grpSpPr>
          <a:xfrm>
            <a:off x="7028916" y="2655437"/>
            <a:ext cx="3840853" cy="1309628"/>
            <a:chOff x="7028916" y="2655437"/>
            <a:chExt cx="3840853" cy="1309628"/>
          </a:xfrm>
        </p:grpSpPr>
        <p:sp>
          <p:nvSpPr>
            <p:cNvPr id="3700" name="Google Shape;3700;p57"/>
            <p:cNvSpPr txBox="1"/>
            <p:nvPr/>
          </p:nvSpPr>
          <p:spPr>
            <a:xfrm>
              <a:off x="7842407" y="295229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701" name="Google Shape;3701;p57"/>
            <p:cNvSpPr/>
            <p:nvPr/>
          </p:nvSpPr>
          <p:spPr>
            <a:xfrm rot="-1361013">
              <a:off x="7162957" y="2972937"/>
              <a:ext cx="839787"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02" name="Google Shape;3702;p57"/>
            <p:cNvSpPr txBox="1"/>
            <p:nvPr/>
          </p:nvSpPr>
          <p:spPr>
            <a:xfrm>
              <a:off x="7793194" y="2655437"/>
              <a:ext cx="287178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3703" name="Google Shape;3703;p57"/>
            <p:cNvCxnSpPr/>
            <p:nvPr/>
          </p:nvCxnSpPr>
          <p:spPr>
            <a:xfrm>
              <a:off x="7931307" y="2966587"/>
              <a:ext cx="1938337" cy="0"/>
            </a:xfrm>
            <a:prstGeom prst="straightConnector1">
              <a:avLst/>
            </a:prstGeom>
            <a:noFill/>
            <a:ln cap="flat" cmpd="sng" w="28575">
              <a:solidFill>
                <a:srgbClr val="000000"/>
              </a:solidFill>
              <a:prstDash val="solid"/>
              <a:round/>
              <a:headEnd len="med" w="med" type="none"/>
              <a:tailEnd len="med" w="med" type="none"/>
            </a:ln>
          </p:spPr>
        </p:cxnSp>
      </p:grpSp>
      <p:grpSp>
        <p:nvGrpSpPr>
          <p:cNvPr id="3704" name="Google Shape;3704;p57"/>
          <p:cNvGrpSpPr/>
          <p:nvPr/>
        </p:nvGrpSpPr>
        <p:grpSpPr>
          <a:xfrm>
            <a:off x="7078824" y="3592896"/>
            <a:ext cx="3662358" cy="1234241"/>
            <a:chOff x="7078824" y="3592896"/>
            <a:chExt cx="3662358" cy="1234241"/>
          </a:xfrm>
        </p:grpSpPr>
        <p:sp>
          <p:nvSpPr>
            <p:cNvPr id="3705" name="Google Shape;3705;p57"/>
            <p:cNvSpPr txBox="1"/>
            <p:nvPr/>
          </p:nvSpPr>
          <p:spPr>
            <a:xfrm>
              <a:off x="7845582" y="3665087"/>
              <a:ext cx="262413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has_seq0(rcvpkt)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706" name="Google Shape;3706;p57"/>
            <p:cNvCxnSpPr/>
            <p:nvPr/>
          </p:nvCxnSpPr>
          <p:spPr>
            <a:xfrm>
              <a:off x="7929719" y="4363587"/>
              <a:ext cx="1938338" cy="0"/>
            </a:xfrm>
            <a:prstGeom prst="straightConnector1">
              <a:avLst/>
            </a:prstGeom>
            <a:noFill/>
            <a:ln cap="flat" cmpd="sng" w="28575">
              <a:solidFill>
                <a:srgbClr val="000000"/>
              </a:solidFill>
              <a:prstDash val="solid"/>
              <a:round/>
              <a:headEnd len="med" w="med" type="none"/>
              <a:tailEnd len="med" w="med" type="none"/>
            </a:ln>
          </p:spPr>
        </p:cxnSp>
        <p:sp>
          <p:nvSpPr>
            <p:cNvPr id="3707" name="Google Shape;3707;p57"/>
            <p:cNvSpPr/>
            <p:nvPr/>
          </p:nvSpPr>
          <p:spPr>
            <a:xfrm rot="1020547">
              <a:off x="7186769" y="36968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08" name="Google Shape;3708;p57"/>
            <p:cNvSpPr txBox="1"/>
            <p:nvPr/>
          </p:nvSpPr>
          <p:spPr>
            <a:xfrm>
              <a:off x="7801132" y="4417562"/>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3709" name="Google Shape;3709;p57"/>
          <p:cNvGrpSpPr/>
          <p:nvPr/>
        </p:nvGrpSpPr>
        <p:grpSpPr>
          <a:xfrm>
            <a:off x="1919444" y="3529396"/>
            <a:ext cx="2989258" cy="1254878"/>
            <a:chOff x="1919444" y="3529396"/>
            <a:chExt cx="2989258" cy="1254878"/>
          </a:xfrm>
        </p:grpSpPr>
        <p:sp>
          <p:nvSpPr>
            <p:cNvPr id="3710" name="Google Shape;3710;p57"/>
            <p:cNvSpPr txBox="1"/>
            <p:nvPr/>
          </p:nvSpPr>
          <p:spPr>
            <a:xfrm>
              <a:off x="1919444" y="3644449"/>
              <a:ext cx="262413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has_seq1(rcvpkt)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711" name="Google Shape;3711;p57"/>
            <p:cNvCxnSpPr/>
            <p:nvPr/>
          </p:nvCxnSpPr>
          <p:spPr>
            <a:xfrm>
              <a:off x="2003582" y="4352474"/>
              <a:ext cx="1938337" cy="0"/>
            </a:xfrm>
            <a:prstGeom prst="straightConnector1">
              <a:avLst/>
            </a:prstGeom>
            <a:noFill/>
            <a:ln cap="flat" cmpd="sng" w="28575">
              <a:solidFill>
                <a:srgbClr val="000000"/>
              </a:solidFill>
              <a:prstDash val="solid"/>
              <a:round/>
              <a:headEnd len="med" w="med" type="none"/>
              <a:tailEnd len="med" w="med" type="none"/>
            </a:ln>
          </p:spPr>
        </p:cxnSp>
        <p:sp>
          <p:nvSpPr>
            <p:cNvPr id="3712" name="Google Shape;3712;p57"/>
            <p:cNvSpPr txBox="1"/>
            <p:nvPr/>
          </p:nvSpPr>
          <p:spPr>
            <a:xfrm>
              <a:off x="1951194" y="4374699"/>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713" name="Google Shape;3713;p57"/>
            <p:cNvSpPr/>
            <p:nvPr/>
          </p:nvSpPr>
          <p:spPr>
            <a:xfrm flipH="1" rot="-1020547">
              <a:off x="3960969" y="36333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714" name="Google Shape;3714;p57"/>
          <p:cNvGrpSpPr/>
          <p:nvPr/>
        </p:nvGrpSpPr>
        <p:grpSpPr>
          <a:xfrm>
            <a:off x="1867057" y="2591937"/>
            <a:ext cx="3087687" cy="1385828"/>
            <a:chOff x="1867057" y="2591937"/>
            <a:chExt cx="3087687" cy="1385828"/>
          </a:xfrm>
        </p:grpSpPr>
        <p:sp>
          <p:nvSpPr>
            <p:cNvPr id="3715" name="Google Shape;3715;p57"/>
            <p:cNvSpPr txBox="1"/>
            <p:nvPr/>
          </p:nvSpPr>
          <p:spPr>
            <a:xfrm>
              <a:off x="1867057" y="2591937"/>
              <a:ext cx="287178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3716" name="Google Shape;3716;p57"/>
            <p:cNvCxnSpPr/>
            <p:nvPr/>
          </p:nvCxnSpPr>
          <p:spPr>
            <a:xfrm>
              <a:off x="2005169" y="2966587"/>
              <a:ext cx="1938338" cy="0"/>
            </a:xfrm>
            <a:prstGeom prst="straightConnector1">
              <a:avLst/>
            </a:prstGeom>
            <a:noFill/>
            <a:ln cap="flat" cmpd="sng" w="28575">
              <a:solidFill>
                <a:srgbClr val="000000"/>
              </a:solidFill>
              <a:prstDash val="solid"/>
              <a:round/>
              <a:headEnd len="med" w="med" type="none"/>
              <a:tailEnd len="med" w="med" type="none"/>
            </a:ln>
          </p:spPr>
        </p:cxnSp>
        <p:sp>
          <p:nvSpPr>
            <p:cNvPr id="3717" name="Google Shape;3717;p57"/>
            <p:cNvSpPr txBox="1"/>
            <p:nvPr/>
          </p:nvSpPr>
          <p:spPr>
            <a:xfrm>
              <a:off x="1927382" y="293324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718" name="Google Shape;3718;p57"/>
            <p:cNvSpPr/>
            <p:nvPr/>
          </p:nvSpPr>
          <p:spPr>
            <a:xfrm flipH="1" rot="1361013">
              <a:off x="3948269" y="29856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719" name="Google Shape;3719;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3"/>
                                        </p:tgtEl>
                                        <p:attrNameLst>
                                          <p:attrName>style.visibility</p:attrName>
                                        </p:attrNameLst>
                                      </p:cBhvr>
                                      <p:to>
                                        <p:strVal val="visible"/>
                                      </p:to>
                                    </p:set>
                                    <p:animEffect filter="fade" transition="in">
                                      <p:cBhvr>
                                        <p:cTn dur="500"/>
                                        <p:tgtEl>
                                          <p:spTgt spid="3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5"/>
                                        </p:tgtEl>
                                        <p:attrNameLst>
                                          <p:attrName>style.visibility</p:attrName>
                                        </p:attrNameLst>
                                      </p:cBhvr>
                                      <p:to>
                                        <p:strVal val="visible"/>
                                      </p:to>
                                    </p:set>
                                    <p:animEffect filter="fade" transition="in">
                                      <p:cBhvr>
                                        <p:cTn dur="500"/>
                                        <p:tgtEl>
                                          <p:spTgt spid="3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9"/>
                                        </p:tgtEl>
                                        <p:attrNameLst>
                                          <p:attrName>style.visibility</p:attrName>
                                        </p:attrNameLst>
                                      </p:cBhvr>
                                      <p:to>
                                        <p:strVal val="visible"/>
                                      </p:to>
                                    </p:set>
                                    <p:animEffect filter="fade" transition="in">
                                      <p:cBhvr>
                                        <p:cTn dur="500"/>
                                        <p:tgtEl>
                                          <p:spTgt spid="3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4"/>
                                        </p:tgtEl>
                                        <p:attrNameLst>
                                          <p:attrName>style.visibility</p:attrName>
                                        </p:attrNameLst>
                                      </p:cBhvr>
                                      <p:to>
                                        <p:strVal val="visible"/>
                                      </p:to>
                                    </p:set>
                                    <p:animEffect filter="fade" transition="in">
                                      <p:cBhvr>
                                        <p:cTn dur="500"/>
                                        <p:tgtEl>
                                          <p:spTgt spid="3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9"/>
                                        </p:tgtEl>
                                        <p:attrNameLst>
                                          <p:attrName>style.visibility</p:attrName>
                                        </p:attrNameLst>
                                      </p:cBhvr>
                                      <p:to>
                                        <p:strVal val="visible"/>
                                      </p:to>
                                    </p:set>
                                    <p:animEffect filter="fade" transition="in">
                                      <p:cBhvr>
                                        <p:cTn dur="500"/>
                                        <p:tgtEl>
                                          <p:spTgt spid="37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4"/>
                                        </p:tgtEl>
                                        <p:attrNameLst>
                                          <p:attrName>style.visibility</p:attrName>
                                        </p:attrNameLst>
                                      </p:cBhvr>
                                      <p:to>
                                        <p:strVal val="visible"/>
                                      </p:to>
                                    </p:set>
                                    <p:animEffect filter="fade" transition="in">
                                      <p:cBhvr>
                                        <p:cTn dur="500"/>
                                        <p:tgtEl>
                                          <p:spTgt spid="37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4" name="Shape 3724"/>
        <p:cNvGrpSpPr/>
        <p:nvPr/>
      </p:nvGrpSpPr>
      <p:grpSpPr>
        <a:xfrm>
          <a:off x="0" y="0"/>
          <a:ext cx="0" cy="0"/>
          <a:chOff x="0" y="0"/>
          <a:chExt cx="0" cy="0"/>
        </a:xfrm>
      </p:grpSpPr>
      <p:sp>
        <p:nvSpPr>
          <p:cNvPr id="3725" name="Google Shape;3725;p5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discussion</a:t>
            </a:r>
            <a:endParaRPr sz="4400"/>
          </a:p>
        </p:txBody>
      </p:sp>
      <p:sp>
        <p:nvSpPr>
          <p:cNvPr id="3726" name="Google Shape;3726;p58"/>
          <p:cNvSpPr txBox="1"/>
          <p:nvPr/>
        </p:nvSpPr>
        <p:spPr>
          <a:xfrm>
            <a:off x="798690" y="1355502"/>
            <a:ext cx="529731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sender: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added to pkt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seq. #s (0,1) will suffice.  Why?</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ACK/NAK corrupted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twice as many states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must “remember” whether “expected” pkt should have seq # of 0 or 1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727" name="Google Shape;3727;p58"/>
          <p:cNvSpPr txBox="1"/>
          <p:nvPr/>
        </p:nvSpPr>
        <p:spPr>
          <a:xfrm>
            <a:off x="6543540" y="1355502"/>
            <a:ext cx="4849769"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receiver: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packet is duplicate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indicates whether 0 or 1 is expected pkt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note: receiver can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if its last ACK/NAK received OK at sender</a:t>
            </a:r>
            <a:endParaRPr/>
          </a:p>
        </p:txBody>
      </p:sp>
      <p:sp>
        <p:nvSpPr>
          <p:cNvPr id="3728" name="Google Shape;3728;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7"/>
                                        </p:tgtEl>
                                        <p:attrNameLst>
                                          <p:attrName>style.visibility</p:attrName>
                                        </p:attrNameLst>
                                      </p:cBhvr>
                                      <p:to>
                                        <p:strVal val="visible"/>
                                      </p:to>
                                    </p:set>
                                    <p:animEffect filter="fade" transition="in">
                                      <p:cBhvr>
                                        <p:cTn dur="500"/>
                                        <p:tgtEl>
                                          <p:spTgt spid="3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3" name="Shape 3733"/>
        <p:cNvGrpSpPr/>
        <p:nvPr/>
      </p:nvGrpSpPr>
      <p:grpSpPr>
        <a:xfrm>
          <a:off x="0" y="0"/>
          <a:ext cx="0" cy="0"/>
          <a:chOff x="0" y="0"/>
          <a:chExt cx="0" cy="0"/>
        </a:xfrm>
      </p:grpSpPr>
      <p:sp>
        <p:nvSpPr>
          <p:cNvPr id="3734" name="Google Shape;3734;p5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a NAK-free protocol</a:t>
            </a:r>
            <a:endParaRPr sz="4400"/>
          </a:p>
        </p:txBody>
      </p:sp>
      <p:sp>
        <p:nvSpPr>
          <p:cNvPr id="3735" name="Google Shape;3735;p59"/>
          <p:cNvSpPr txBox="1"/>
          <p:nvPr/>
        </p:nvSpPr>
        <p:spPr>
          <a:xfrm>
            <a:off x="606648" y="1714500"/>
            <a:ext cx="10978703" cy="3385534"/>
          </a:xfrm>
          <a:prstGeom prst="rect">
            <a:avLst/>
          </a:prstGeom>
          <a:noFill/>
          <a:ln>
            <a:noFill/>
          </a:ln>
        </p:spPr>
        <p:txBody>
          <a:bodyPr anchorCtr="0" anchor="t" bIns="45700" lIns="91425" spcFirstLastPara="1" rIns="91425" wrap="square" tIns="45700">
            <a:normAutofit/>
          </a:bodyPr>
          <a:lstStyle/>
          <a:p>
            <a:pPr indent="-280988" lvl="0" marL="4603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same functionality as rdt2.1, using ACKs only</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instead of NAK, receiver sends ACK for last pkt received OK</a:t>
            </a:r>
            <a:endParaRPr/>
          </a:p>
          <a:p>
            <a:pPr indent="-219075" lvl="1" marL="808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a:t>
            </a:r>
            <a:r>
              <a:rPr b="0" i="1" lang="en-US" sz="2800" u="none" cap="none" strike="noStrike">
                <a:solidFill>
                  <a:srgbClr val="000000"/>
                </a:solidFill>
                <a:latin typeface="Calibri"/>
                <a:ea typeface="Calibri"/>
                <a:cs typeface="Calibri"/>
                <a:sym typeface="Calibri"/>
              </a:rPr>
              <a:t>explicitly</a:t>
            </a:r>
            <a:r>
              <a:rPr b="0" i="0" lang="en-US" sz="2800" u="none" cap="none" strike="noStrike">
                <a:solidFill>
                  <a:srgbClr val="000000"/>
                </a:solidFill>
                <a:latin typeface="Calibri"/>
                <a:ea typeface="Calibri"/>
                <a:cs typeface="Calibri"/>
                <a:sym typeface="Calibri"/>
              </a:rPr>
              <a:t> include seq # of pkt being ACKed </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duplicate ACK at sender results in same action as NAK: </a:t>
            </a:r>
            <a:r>
              <a:rPr b="0" i="1" lang="en-US" sz="3200" u="none" cap="none" strike="noStrike">
                <a:solidFill>
                  <a:srgbClr val="000000"/>
                </a:solidFill>
                <a:latin typeface="Calibri"/>
                <a:ea typeface="Calibri"/>
                <a:cs typeface="Calibri"/>
                <a:sym typeface="Calibri"/>
              </a:rPr>
              <a:t>retransmit current pkt</a:t>
            </a:r>
            <a:endParaRPr b="0" i="0" sz="3200" u="none" cap="none" strike="noStrike">
              <a:solidFill>
                <a:srgbClr val="000000"/>
              </a:solidFill>
              <a:latin typeface="Calibri"/>
              <a:ea typeface="Calibri"/>
              <a:cs typeface="Calibri"/>
              <a:sym typeface="Calibri"/>
            </a:endParaRPr>
          </a:p>
        </p:txBody>
      </p:sp>
      <p:sp>
        <p:nvSpPr>
          <p:cNvPr id="3736" name="Google Shape;3736;p59"/>
          <p:cNvSpPr txBox="1"/>
          <p:nvPr/>
        </p:nvSpPr>
        <p:spPr>
          <a:xfrm>
            <a:off x="798690" y="4623515"/>
            <a:ext cx="90637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As we will see, TCP uses this approach to be NAK-free</a:t>
            </a:r>
            <a:endParaRPr/>
          </a:p>
        </p:txBody>
      </p:sp>
      <p:sp>
        <p:nvSpPr>
          <p:cNvPr id="3737" name="Google Shape;3737;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2" name="Shape 3742"/>
        <p:cNvGrpSpPr/>
        <p:nvPr/>
      </p:nvGrpSpPr>
      <p:grpSpPr>
        <a:xfrm>
          <a:off x="0" y="0"/>
          <a:ext cx="0" cy="0"/>
          <a:chOff x="0" y="0"/>
          <a:chExt cx="0" cy="0"/>
        </a:xfrm>
      </p:grpSpPr>
      <p:sp>
        <p:nvSpPr>
          <p:cNvPr id="3743" name="Google Shape;3743;p6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sender, receiver fragments</a:t>
            </a:r>
            <a:endParaRPr sz="4400"/>
          </a:p>
        </p:txBody>
      </p:sp>
      <p:grpSp>
        <p:nvGrpSpPr>
          <p:cNvPr id="3744" name="Google Shape;3744;p60"/>
          <p:cNvGrpSpPr/>
          <p:nvPr/>
        </p:nvGrpSpPr>
        <p:grpSpPr>
          <a:xfrm>
            <a:off x="3740933" y="1183947"/>
            <a:ext cx="6508750" cy="2841625"/>
            <a:chOff x="1529" y="780"/>
            <a:chExt cx="4100" cy="1790"/>
          </a:xfrm>
        </p:grpSpPr>
        <p:grpSp>
          <p:nvGrpSpPr>
            <p:cNvPr id="3745" name="Google Shape;3745;p60"/>
            <p:cNvGrpSpPr/>
            <p:nvPr/>
          </p:nvGrpSpPr>
          <p:grpSpPr>
            <a:xfrm>
              <a:off x="1651" y="1399"/>
              <a:ext cx="669" cy="528"/>
              <a:chOff x="1441" y="2062"/>
              <a:chExt cx="669" cy="528"/>
            </a:xfrm>
          </p:grpSpPr>
          <p:sp>
            <p:nvSpPr>
              <p:cNvPr id="3746" name="Google Shape;3746;p60"/>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747" name="Google Shape;3747;p60"/>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grpSp>
        <p:sp>
          <p:nvSpPr>
            <p:cNvPr id="3748" name="Google Shape;3748;p60"/>
            <p:cNvSpPr txBox="1"/>
            <p:nvPr/>
          </p:nvSpPr>
          <p:spPr>
            <a:xfrm>
              <a:off x="1863" y="957"/>
              <a:ext cx="2345"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749" name="Google Shape;3749;p60"/>
            <p:cNvSpPr txBox="1"/>
            <p:nvPr/>
          </p:nvSpPr>
          <p:spPr>
            <a:xfrm>
              <a:off x="1871" y="780"/>
              <a:ext cx="1086" cy="1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750" name="Google Shape;3750;p60"/>
            <p:cNvCxnSpPr/>
            <p:nvPr/>
          </p:nvCxnSpPr>
          <p:spPr>
            <a:xfrm>
              <a:off x="1910" y="992"/>
              <a:ext cx="2238" cy="0"/>
            </a:xfrm>
            <a:prstGeom prst="straightConnector1">
              <a:avLst/>
            </a:prstGeom>
            <a:noFill/>
            <a:ln cap="flat" cmpd="sng" w="28575">
              <a:solidFill>
                <a:srgbClr val="000000"/>
              </a:solidFill>
              <a:prstDash val="solid"/>
              <a:round/>
              <a:headEnd len="med" w="med" type="none"/>
              <a:tailEnd len="med" w="med" type="none"/>
            </a:ln>
          </p:spPr>
        </p:cxnSp>
        <p:cxnSp>
          <p:nvCxnSpPr>
            <p:cNvPr id="3751" name="Google Shape;3751;p60"/>
            <p:cNvCxnSpPr/>
            <p:nvPr/>
          </p:nvCxnSpPr>
          <p:spPr>
            <a:xfrm>
              <a:off x="1529" y="1313"/>
              <a:ext cx="264" cy="145"/>
            </a:xfrm>
            <a:prstGeom prst="straightConnector1">
              <a:avLst/>
            </a:prstGeom>
            <a:noFill/>
            <a:ln cap="flat" cmpd="sng" w="19050">
              <a:solidFill>
                <a:srgbClr val="000000"/>
              </a:solidFill>
              <a:prstDash val="dash"/>
              <a:round/>
              <a:headEnd len="med" w="med" type="none"/>
              <a:tailEnd len="med" w="med" type="triangle"/>
            </a:ln>
          </p:spPr>
        </p:cxnSp>
        <p:sp>
          <p:nvSpPr>
            <p:cNvPr id="3752" name="Google Shape;3752;p60"/>
            <p:cNvSpPr/>
            <p:nvPr/>
          </p:nvSpPr>
          <p:spPr>
            <a:xfrm flipH="1" rot="10800000">
              <a:off x="2096" y="1272"/>
              <a:ext cx="1195" cy="13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53" name="Google Shape;3753;p60"/>
            <p:cNvSpPr/>
            <p:nvPr/>
          </p:nvSpPr>
          <p:spPr>
            <a:xfrm rot="-1357180">
              <a:off x="3655" y="1225"/>
              <a:ext cx="285" cy="54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54" name="Google Shape;3754;p60"/>
            <p:cNvSpPr txBox="1"/>
            <p:nvPr/>
          </p:nvSpPr>
          <p:spPr>
            <a:xfrm>
              <a:off x="3978" y="1670"/>
              <a:ext cx="1338"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3755" name="Google Shape;3755;p60"/>
            <p:cNvSpPr txBox="1"/>
            <p:nvPr/>
          </p:nvSpPr>
          <p:spPr>
            <a:xfrm>
              <a:off x="3917" y="1174"/>
              <a:ext cx="171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isACK(rcvpkt,1)</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3756" name="Google Shape;3756;p60"/>
            <p:cNvCxnSpPr/>
            <p:nvPr/>
          </p:nvCxnSpPr>
          <p:spPr>
            <a:xfrm flipH="1" rot="10800000">
              <a:off x="4043" y="1666"/>
              <a:ext cx="895" cy="1"/>
            </a:xfrm>
            <a:prstGeom prst="straightConnector1">
              <a:avLst/>
            </a:prstGeom>
            <a:noFill/>
            <a:ln cap="flat" cmpd="sng" w="28575">
              <a:solidFill>
                <a:srgbClr val="000000"/>
              </a:solidFill>
              <a:prstDash val="solid"/>
              <a:round/>
              <a:headEnd len="med" w="med" type="none"/>
              <a:tailEnd len="med" w="med" type="none"/>
            </a:ln>
          </p:spPr>
        </p:cxnSp>
        <p:sp>
          <p:nvSpPr>
            <p:cNvPr id="3757" name="Google Shape;3757;p60"/>
            <p:cNvSpPr/>
            <p:nvPr/>
          </p:nvSpPr>
          <p:spPr>
            <a:xfrm>
              <a:off x="3747" y="1792"/>
              <a:ext cx="128" cy="774"/>
            </a:xfrm>
            <a:custGeom>
              <a:rect b="b" l="l" r="r" t="t"/>
              <a:pathLst>
                <a:path extrusionOk="0" h="774" w="128">
                  <a:moveTo>
                    <a:pt x="67" y="774"/>
                  </a:moveTo>
                  <a:cubicBezTo>
                    <a:pt x="128" y="425"/>
                    <a:pt x="81" y="0"/>
                    <a:pt x="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58" name="Google Shape;3758;p60"/>
            <p:cNvSpPr txBox="1"/>
            <p:nvPr/>
          </p:nvSpPr>
          <p:spPr>
            <a:xfrm>
              <a:off x="3838" y="2051"/>
              <a:ext cx="1520"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a:t>
              </a:r>
              <a:r>
                <a:rPr b="1" i="0" lang="en-US" sz="1600" u="none" cap="none" strike="noStrike">
                  <a:solidFill>
                    <a:srgbClr val="FF0000"/>
                  </a:solidFill>
                  <a:latin typeface="Arial"/>
                  <a:ea typeface="Arial"/>
                  <a:cs typeface="Arial"/>
                  <a:sym typeface="Arial"/>
                </a:rPr>
                <a:t>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759" name="Google Shape;3759;p60"/>
            <p:cNvCxnSpPr/>
            <p:nvPr/>
          </p:nvCxnSpPr>
          <p:spPr>
            <a:xfrm>
              <a:off x="3894" y="2570"/>
              <a:ext cx="1174" cy="0"/>
            </a:xfrm>
            <a:prstGeom prst="straightConnector1">
              <a:avLst/>
            </a:prstGeom>
            <a:noFill/>
            <a:ln cap="flat" cmpd="sng" w="28575">
              <a:solidFill>
                <a:srgbClr val="000000"/>
              </a:solidFill>
              <a:prstDash val="solid"/>
              <a:round/>
              <a:headEnd len="med" w="med" type="none"/>
              <a:tailEnd len="med" w="med" type="none"/>
            </a:ln>
          </p:spPr>
        </p:cxnSp>
        <p:grpSp>
          <p:nvGrpSpPr>
            <p:cNvPr id="3760" name="Google Shape;3760;p60"/>
            <p:cNvGrpSpPr/>
            <p:nvPr/>
          </p:nvGrpSpPr>
          <p:grpSpPr>
            <a:xfrm>
              <a:off x="3135" y="1365"/>
              <a:ext cx="669" cy="528"/>
              <a:chOff x="1441" y="2062"/>
              <a:chExt cx="669" cy="528"/>
            </a:xfrm>
          </p:grpSpPr>
          <p:sp>
            <p:nvSpPr>
              <p:cNvPr id="3761" name="Google Shape;3761;p60"/>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762" name="Google Shape;3762;p60"/>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rgbClr val="000000"/>
                  </a:solidFill>
                  <a:latin typeface="Times New Roman"/>
                  <a:ea typeface="Times New Roman"/>
                  <a:cs typeface="Times New Roman"/>
                  <a:sym typeface="Times New Roman"/>
                </a:endParaRPr>
              </a:p>
            </p:txBody>
          </p:sp>
        </p:grpSp>
        <p:sp>
          <p:nvSpPr>
            <p:cNvPr id="3763" name="Google Shape;3763;p60"/>
            <p:cNvSpPr txBox="1"/>
            <p:nvPr/>
          </p:nvSpPr>
          <p:spPr>
            <a:xfrm>
              <a:off x="2363" y="1810"/>
              <a:ext cx="935"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sender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cxnSp>
        <p:nvCxnSpPr>
          <p:cNvPr id="3764" name="Google Shape;3764;p60"/>
          <p:cNvCxnSpPr/>
          <p:nvPr/>
        </p:nvCxnSpPr>
        <p:spPr>
          <a:xfrm>
            <a:off x="1978808" y="2549197"/>
            <a:ext cx="7883525" cy="2757488"/>
          </a:xfrm>
          <a:prstGeom prst="straightConnector1">
            <a:avLst/>
          </a:prstGeom>
          <a:noFill/>
          <a:ln cap="flat" cmpd="sng" w="9525">
            <a:solidFill>
              <a:srgbClr val="000000"/>
            </a:solidFill>
            <a:prstDash val="dot"/>
            <a:round/>
            <a:headEnd len="med" w="med" type="none"/>
            <a:tailEnd len="med" w="med" type="none"/>
          </a:ln>
        </p:spPr>
      </p:cxnSp>
      <p:grpSp>
        <p:nvGrpSpPr>
          <p:cNvPr id="3765" name="Google Shape;3765;p60"/>
          <p:cNvGrpSpPr/>
          <p:nvPr/>
        </p:nvGrpSpPr>
        <p:grpSpPr>
          <a:xfrm>
            <a:off x="1313645" y="3769985"/>
            <a:ext cx="7234238" cy="2535237"/>
            <a:chOff x="0" y="2409"/>
            <a:chExt cx="4557" cy="1597"/>
          </a:xfrm>
        </p:grpSpPr>
        <p:sp>
          <p:nvSpPr>
            <p:cNvPr id="3766" name="Google Shape;3766;p60"/>
            <p:cNvSpPr txBox="1"/>
            <p:nvPr/>
          </p:nvSpPr>
          <p:spPr>
            <a:xfrm>
              <a:off x="1849" y="3217"/>
              <a:ext cx="248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&amp;&amp; has_seq1(rcvpkt) </a:t>
              </a:r>
              <a:endParaRPr b="0" i="0" sz="1600" u="none" cap="none" strike="noStrike">
                <a:solidFill>
                  <a:srgbClr val="000000"/>
                </a:solidFill>
                <a:latin typeface="Times New Roman"/>
                <a:ea typeface="Times New Roman"/>
                <a:cs typeface="Times New Roman"/>
                <a:sym typeface="Times New Roman"/>
              </a:endParaRPr>
            </a:p>
          </p:txBody>
        </p:sp>
        <p:sp>
          <p:nvSpPr>
            <p:cNvPr id="3767" name="Google Shape;3767;p60"/>
            <p:cNvSpPr txBox="1"/>
            <p:nvPr/>
          </p:nvSpPr>
          <p:spPr>
            <a:xfrm>
              <a:off x="1829" y="3568"/>
              <a:ext cx="2630" cy="4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sndpkt = make_pkt(ACK1, chksum)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3768" name="Google Shape;3768;p60"/>
            <p:cNvGrpSpPr/>
            <p:nvPr/>
          </p:nvGrpSpPr>
          <p:grpSpPr>
            <a:xfrm>
              <a:off x="0" y="2409"/>
              <a:ext cx="3510" cy="1168"/>
              <a:chOff x="0" y="2409"/>
              <a:chExt cx="3510" cy="1168"/>
            </a:xfrm>
          </p:grpSpPr>
          <p:grpSp>
            <p:nvGrpSpPr>
              <p:cNvPr id="3769" name="Google Shape;3769;p60"/>
              <p:cNvGrpSpPr/>
              <p:nvPr/>
            </p:nvGrpSpPr>
            <p:grpSpPr>
              <a:xfrm>
                <a:off x="1529" y="2687"/>
                <a:ext cx="534" cy="501"/>
                <a:chOff x="3570" y="3063"/>
                <a:chExt cx="534" cy="501"/>
              </a:xfrm>
            </p:grpSpPr>
            <p:sp>
              <p:nvSpPr>
                <p:cNvPr id="3770" name="Google Shape;3770;p60"/>
                <p:cNvSpPr/>
                <p:nvPr/>
              </p:nvSpPr>
              <p:spPr>
                <a:xfrm>
                  <a:off x="3570" y="3063"/>
                  <a:ext cx="534"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771" name="Google Shape;3771;p60"/>
                <p:cNvSpPr txBox="1"/>
                <p:nvPr/>
              </p:nvSpPr>
              <p:spPr>
                <a:xfrm>
                  <a:off x="3597" y="3085"/>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sp>
            <p:nvSpPr>
              <p:cNvPr id="3772" name="Google Shape;3772;p60"/>
              <p:cNvSpPr/>
              <p:nvPr/>
            </p:nvSpPr>
            <p:spPr>
              <a:xfrm>
                <a:off x="1925" y="2618"/>
                <a:ext cx="520" cy="117"/>
              </a:xfrm>
              <a:custGeom>
                <a:rect b="b" l="l" r="r" t="t"/>
                <a:pathLst>
                  <a:path extrusionOk="0" h="117" w="520">
                    <a:moveTo>
                      <a:pt x="0" y="117"/>
                    </a:moveTo>
                    <a:cubicBezTo>
                      <a:pt x="136" y="17"/>
                      <a:pt x="276" y="0"/>
                      <a:pt x="520"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73" name="Google Shape;3773;p60"/>
              <p:cNvSpPr/>
              <p:nvPr/>
            </p:nvSpPr>
            <p:spPr>
              <a:xfrm>
                <a:off x="1996" y="3125"/>
                <a:ext cx="1514" cy="130"/>
              </a:xfrm>
              <a:custGeom>
                <a:rect b="b" l="l" r="r" t="t"/>
                <a:pathLst>
                  <a:path extrusionOk="0" h="130" w="1514">
                    <a:moveTo>
                      <a:pt x="0" y="0"/>
                    </a:moveTo>
                    <a:cubicBezTo>
                      <a:pt x="266" y="130"/>
                      <a:pt x="1322" y="113"/>
                      <a:pt x="1514"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774" name="Google Shape;3774;p60"/>
              <p:cNvCxnSpPr/>
              <p:nvPr/>
            </p:nvCxnSpPr>
            <p:spPr>
              <a:xfrm>
                <a:off x="1919" y="3577"/>
                <a:ext cx="1206" cy="0"/>
              </a:xfrm>
              <a:prstGeom prst="straightConnector1">
                <a:avLst/>
              </a:prstGeom>
              <a:noFill/>
              <a:ln cap="flat" cmpd="sng" w="28575">
                <a:solidFill>
                  <a:srgbClr val="000000"/>
                </a:solidFill>
                <a:prstDash val="solid"/>
                <a:round/>
                <a:headEnd len="med" w="med" type="none"/>
                <a:tailEnd len="med" w="med" type="none"/>
              </a:ln>
            </p:spPr>
          </p:cxnSp>
          <p:sp>
            <p:nvSpPr>
              <p:cNvPr id="3775" name="Google Shape;3775;p60"/>
              <p:cNvSpPr/>
              <p:nvPr/>
            </p:nvSpPr>
            <p:spPr>
              <a:xfrm flipH="1">
                <a:off x="1237" y="2468"/>
                <a:ext cx="309" cy="856"/>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3776" name="Google Shape;3776;p60"/>
              <p:cNvCxnSpPr/>
              <p:nvPr/>
            </p:nvCxnSpPr>
            <p:spPr>
              <a:xfrm>
                <a:off x="57" y="2936"/>
                <a:ext cx="1212" cy="0"/>
              </a:xfrm>
              <a:prstGeom prst="straightConnector1">
                <a:avLst/>
              </a:prstGeom>
              <a:noFill/>
              <a:ln cap="flat" cmpd="sng" w="28575">
                <a:solidFill>
                  <a:srgbClr val="000000"/>
                </a:solidFill>
                <a:prstDash val="solid"/>
                <a:round/>
                <a:headEnd len="med" w="med" type="none"/>
                <a:tailEnd len="med" w="med" type="none"/>
              </a:ln>
            </p:spPr>
          </p:cxnSp>
          <p:sp>
            <p:nvSpPr>
              <p:cNvPr id="3777" name="Google Shape;3777;p60"/>
              <p:cNvSpPr txBox="1"/>
              <p:nvPr/>
            </p:nvSpPr>
            <p:spPr>
              <a:xfrm>
                <a:off x="6" y="2409"/>
                <a:ext cx="1487" cy="4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has_seq1(rcvpkt))</a:t>
                </a:r>
                <a:endParaRPr b="1" i="0" sz="1600" u="none" cap="none" strike="noStrike">
                  <a:solidFill>
                    <a:srgbClr val="FF0000"/>
                  </a:solidFill>
                  <a:latin typeface="Times New Roman"/>
                  <a:ea typeface="Times New Roman"/>
                  <a:cs typeface="Times New Roman"/>
                  <a:sym typeface="Times New Roman"/>
                </a:endParaRPr>
              </a:p>
            </p:txBody>
          </p:sp>
          <p:sp>
            <p:nvSpPr>
              <p:cNvPr id="3778" name="Google Shape;3778;p60"/>
              <p:cNvSpPr txBox="1"/>
              <p:nvPr/>
            </p:nvSpPr>
            <p:spPr>
              <a:xfrm>
                <a:off x="0" y="2954"/>
                <a:ext cx="1284" cy="2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3779" name="Google Shape;3779;p60"/>
              <p:cNvSpPr txBox="1"/>
              <p:nvPr/>
            </p:nvSpPr>
            <p:spPr>
              <a:xfrm>
                <a:off x="2166" y="2709"/>
                <a:ext cx="1020"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receiver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sp>
          <p:nvSpPr>
            <p:cNvPr id="3780" name="Google Shape;3780;p60"/>
            <p:cNvSpPr txBox="1"/>
            <p:nvPr/>
          </p:nvSpPr>
          <p:spPr>
            <a:xfrm>
              <a:off x="4318" y="2585"/>
              <a:ext cx="23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781" name="Google Shape;3781;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6" name="Shape 3786"/>
        <p:cNvGrpSpPr/>
        <p:nvPr/>
      </p:nvGrpSpPr>
      <p:grpSpPr>
        <a:xfrm>
          <a:off x="0" y="0"/>
          <a:ext cx="0" cy="0"/>
          <a:chOff x="0" y="0"/>
          <a:chExt cx="0" cy="0"/>
        </a:xfrm>
      </p:grpSpPr>
      <p:sp>
        <p:nvSpPr>
          <p:cNvPr id="3787" name="Google Shape;3787;p6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3788" name="Google Shape;3788;p61"/>
          <p:cNvSpPr txBox="1"/>
          <p:nvPr/>
        </p:nvSpPr>
        <p:spPr>
          <a:xfrm>
            <a:off x="700825" y="1291107"/>
            <a:ext cx="10533232" cy="4648200"/>
          </a:xfrm>
          <a:prstGeom prst="rect">
            <a:avLst/>
          </a:prstGeom>
          <a:noFill/>
          <a:ln>
            <a:noFill/>
          </a:ln>
        </p:spPr>
        <p:txBody>
          <a:bodyPr anchorCtr="0" anchor="t" bIns="45700" lIns="91425" spcFirstLastPara="1" rIns="91425" wrap="square" tIns="45700">
            <a:normAutofit/>
          </a:bodyPr>
          <a:lstStyle/>
          <a:p>
            <a:pPr indent="-12700" lvl="0" marL="1143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New channel assumption:</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underlying channel can also </a:t>
            </a:r>
            <a:r>
              <a:rPr b="0" i="1" lang="en-US" sz="3200" u="none" cap="none" strike="noStrike">
                <a:solidFill>
                  <a:srgbClr val="000000"/>
                </a:solidFill>
                <a:latin typeface="Calibri"/>
                <a:ea typeface="Calibri"/>
                <a:cs typeface="Calibri"/>
                <a:sym typeface="Calibri"/>
              </a:rPr>
              <a:t>lose</a:t>
            </a:r>
            <a:r>
              <a:rPr b="0" i="0" lang="en-US" sz="3200" u="none" cap="none" strike="noStrike">
                <a:solidFill>
                  <a:srgbClr val="000000"/>
                </a:solidFill>
                <a:latin typeface="Calibri"/>
                <a:ea typeface="Calibri"/>
                <a:cs typeface="Calibri"/>
                <a:sym typeface="Calibri"/>
              </a:rPr>
              <a:t> packets (data, ACKs)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sequence #s, ACKs, retransmissions will be of help … but not quite enough</a:t>
            </a:r>
            <a:endParaRPr/>
          </a:p>
        </p:txBody>
      </p:sp>
      <p:sp>
        <p:nvSpPr>
          <p:cNvPr id="3789" name="Google Shape;3789;p61"/>
          <p:cNvSpPr txBox="1"/>
          <p:nvPr/>
        </p:nvSpPr>
        <p:spPr>
          <a:xfrm>
            <a:off x="1351723" y="4023238"/>
            <a:ext cx="9435547" cy="1323439"/>
          </a:xfrm>
          <a:prstGeom prst="rect">
            <a:avLst/>
          </a:prstGeom>
          <a:noFill/>
          <a:ln>
            <a:noFill/>
          </a:ln>
        </p:spPr>
        <p:txBody>
          <a:bodyPr anchorCtr="0" anchor="t" bIns="45700" lIns="91425" spcFirstLastPara="1" rIns="91425" wrap="square" tIns="45700">
            <a:spAutoFit/>
          </a:bodyPr>
          <a:lstStyle/>
          <a:p>
            <a:pPr indent="-568325" lvl="0" marL="581025" marR="0" rtl="0" algn="ctr">
              <a:lnSpc>
                <a:spcPct val="100000"/>
              </a:lnSpc>
              <a:spcBef>
                <a:spcPts val="0"/>
              </a:spcBef>
              <a:spcAft>
                <a:spcPts val="0"/>
              </a:spcAft>
              <a:buClr>
                <a:srgbClr val="C00000"/>
              </a:buClr>
              <a:buSzPts val="4000"/>
              <a:buFont typeface="Calibri"/>
              <a:buNone/>
            </a:pPr>
            <a:r>
              <a:rPr b="0" i="1" lang="en-US" sz="4000" u="none" cap="none" strike="noStrike">
                <a:solidFill>
                  <a:srgbClr val="C00000"/>
                </a:solidFill>
                <a:latin typeface="Calibri"/>
                <a:ea typeface="Calibri"/>
                <a:cs typeface="Calibri"/>
                <a:sym typeface="Calibri"/>
              </a:rPr>
              <a:t>Q: </a:t>
            </a:r>
            <a:r>
              <a:rPr b="0" i="0" lang="en-US" sz="4000" u="none" cap="none" strike="noStrike">
                <a:solidFill>
                  <a:srgbClr val="000000"/>
                </a:solidFill>
                <a:latin typeface="Calibri"/>
                <a:ea typeface="Calibri"/>
                <a:cs typeface="Calibri"/>
                <a:sym typeface="Calibri"/>
              </a:rPr>
              <a:t>How do </a:t>
            </a:r>
            <a:r>
              <a:rPr b="0" i="1" lang="en-US" sz="4000" u="none" cap="none" strike="noStrike">
                <a:solidFill>
                  <a:srgbClr val="000000"/>
                </a:solidFill>
                <a:latin typeface="Calibri"/>
                <a:ea typeface="Calibri"/>
                <a:cs typeface="Calibri"/>
                <a:sym typeface="Calibri"/>
              </a:rPr>
              <a:t>humans</a:t>
            </a:r>
            <a:r>
              <a:rPr b="0" i="0" lang="en-US" sz="4000" u="none" cap="none" strike="noStrike">
                <a:solidFill>
                  <a:srgbClr val="000000"/>
                </a:solidFill>
                <a:latin typeface="Calibri"/>
                <a:ea typeface="Calibri"/>
                <a:cs typeface="Calibri"/>
                <a:sym typeface="Calibri"/>
              </a:rPr>
              <a:t> handle lost sender-to-receiver words in conversation?</a:t>
            </a:r>
            <a:endParaRPr/>
          </a:p>
        </p:txBody>
      </p:sp>
      <p:sp>
        <p:nvSpPr>
          <p:cNvPr id="3790" name="Google Shape;3790;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9"/>
                                        </p:tgtEl>
                                        <p:attrNameLst>
                                          <p:attrName>style.visibility</p:attrName>
                                        </p:attrNameLst>
                                      </p:cBhvr>
                                      <p:to>
                                        <p:strVal val="visible"/>
                                      </p:to>
                                    </p:set>
                                    <p:animEffect filter="fade" transition="in">
                                      <p:cBhvr>
                                        <p:cTn dur="500"/>
                                        <p:tgtEl>
                                          <p:spTgt spid="37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5" name="Shape 3795"/>
        <p:cNvGrpSpPr/>
        <p:nvPr/>
      </p:nvGrpSpPr>
      <p:grpSpPr>
        <a:xfrm>
          <a:off x="0" y="0"/>
          <a:ext cx="0" cy="0"/>
          <a:chOff x="0" y="0"/>
          <a:chExt cx="0" cy="0"/>
        </a:xfrm>
      </p:grpSpPr>
      <p:sp>
        <p:nvSpPr>
          <p:cNvPr id="3796" name="Google Shape;3796;p6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3797" name="Google Shape;3797;p62"/>
          <p:cNvSpPr txBox="1"/>
          <p:nvPr/>
        </p:nvSpPr>
        <p:spPr>
          <a:xfrm>
            <a:off x="751114" y="1355502"/>
            <a:ext cx="10924659" cy="5074708"/>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Approach:</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sender waits “reasonable” amount of time for ACK </a:t>
            </a:r>
            <a:endParaRPr/>
          </a:p>
          <a:p>
            <a:pPr indent="-341313" lvl="0" marL="406400" marR="0" rtl="0" algn="l">
              <a:lnSpc>
                <a:spcPct val="8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retransmits if no ACK received in this time</a:t>
            </a:r>
            <a:endParaRPr/>
          </a:p>
          <a:p>
            <a:pPr indent="-341313" lvl="0" marL="406400" marR="0" rtl="0" algn="l">
              <a:lnSpc>
                <a:spcPct val="7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if pkt (or ACK) just delayed (not lost):</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retransmission will be  duplicate, but seq #s already handles this!</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specify seq # of packet being ACKed</a:t>
            </a:r>
            <a:endParaRPr b="0" i="0" sz="2800" u="none" cap="none" strike="noStrike">
              <a:solidFill>
                <a:srgbClr val="000000"/>
              </a:solidFill>
              <a:latin typeface="Calibri"/>
              <a:ea typeface="Calibri"/>
              <a:cs typeface="Calibri"/>
              <a:sym typeface="Calibri"/>
            </a:endParaRPr>
          </a:p>
        </p:txBody>
      </p:sp>
      <p:grpSp>
        <p:nvGrpSpPr>
          <p:cNvPr id="3798" name="Google Shape;3798;p62"/>
          <p:cNvGrpSpPr/>
          <p:nvPr/>
        </p:nvGrpSpPr>
        <p:grpSpPr>
          <a:xfrm>
            <a:off x="3852654" y="4876800"/>
            <a:ext cx="3484723" cy="1905000"/>
            <a:chOff x="3667124" y="4359729"/>
            <a:chExt cx="3484723" cy="1905000"/>
          </a:xfrm>
        </p:grpSpPr>
        <p:pic>
          <p:nvPicPr>
            <p:cNvPr descr="Image result for red alarm clock" id="3799" name="Google Shape;3799;p62"/>
            <p:cNvPicPr preferRelativeResize="0"/>
            <p:nvPr/>
          </p:nvPicPr>
          <p:blipFill rotWithShape="1">
            <a:blip r:embed="rId3">
              <a:alphaModFix/>
            </a:blip>
            <a:srcRect b="0" l="0" r="0" t="0"/>
            <a:stretch/>
          </p:blipFill>
          <p:spPr>
            <a:xfrm>
              <a:off x="3667124" y="4359729"/>
              <a:ext cx="3381375" cy="1905000"/>
            </a:xfrm>
            <a:prstGeom prst="rect">
              <a:avLst/>
            </a:prstGeom>
            <a:noFill/>
            <a:ln>
              <a:noFill/>
            </a:ln>
          </p:spPr>
        </p:pic>
        <p:sp>
          <p:nvSpPr>
            <p:cNvPr id="3800" name="Google Shape;3800;p62"/>
            <p:cNvSpPr txBox="1"/>
            <p:nvPr/>
          </p:nvSpPr>
          <p:spPr>
            <a:xfrm>
              <a:off x="5932303" y="4757575"/>
              <a:ext cx="1219544" cy="370396"/>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C00000"/>
                </a:buClr>
                <a:buSzPts val="2400"/>
                <a:buFont typeface="Tahoma"/>
                <a:buNone/>
              </a:pPr>
              <a:r>
                <a:rPr b="0" i="1" lang="en-US" sz="2400" u="none" cap="none" strike="noStrike">
                  <a:solidFill>
                    <a:srgbClr val="C00000"/>
                  </a:solidFill>
                  <a:latin typeface="Tahoma"/>
                  <a:ea typeface="Tahoma"/>
                  <a:cs typeface="Tahoma"/>
                  <a:sym typeface="Tahoma"/>
                </a:rPr>
                <a:t>timeout</a:t>
              </a:r>
              <a:endParaRPr/>
            </a:p>
          </p:txBody>
        </p:sp>
      </p:grpSp>
      <p:sp>
        <p:nvSpPr>
          <p:cNvPr id="3801" name="Google Shape;3801;p62"/>
          <p:cNvSpPr txBox="1"/>
          <p:nvPr/>
        </p:nvSpPr>
        <p:spPr>
          <a:xfrm>
            <a:off x="808619" y="4059181"/>
            <a:ext cx="10924659" cy="1016402"/>
          </a:xfrm>
          <a:prstGeom prst="rect">
            <a:avLst/>
          </a:prstGeom>
          <a:noFill/>
          <a:ln>
            <a:noFill/>
          </a:ln>
        </p:spPr>
        <p:txBody>
          <a:bodyPr anchorCtr="0" anchor="t" bIns="45700" lIns="91425" spcFirstLastPara="1" rIns="91425" wrap="square" tIns="45700">
            <a:normAutofit lnSpcReduction="10000"/>
          </a:bodyPr>
          <a:lstStyle/>
          <a:p>
            <a:pPr indent="-341313" lvl="0" marL="4064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use countdown timer to interrupt after “reasonable” amount of time</a:t>
            </a:r>
            <a:endParaRPr/>
          </a:p>
        </p:txBody>
      </p:sp>
      <p:sp>
        <p:nvSpPr>
          <p:cNvPr id="3802" name="Google Shape;3802;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801">
                                            <p:txEl>
                                              <p:pRg end="0" st="0"/>
                                            </p:txEl>
                                          </p:spTgt>
                                        </p:tgtEl>
                                        <p:attrNameLst>
                                          <p:attrName>style.visibility</p:attrName>
                                        </p:attrNameLst>
                                      </p:cBhvr>
                                      <p:to>
                                        <p:strVal val="visible"/>
                                      </p:to>
                                    </p:set>
                                    <p:animEffect filter="fade" transition="in">
                                      <p:cBhvr>
                                        <p:cTn dur="500"/>
                                        <p:tgtEl>
                                          <p:spTgt spid="380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98"/>
                                        </p:tgtEl>
                                        <p:attrNameLst>
                                          <p:attrName>style.visibility</p:attrName>
                                        </p:attrNameLst>
                                      </p:cBhvr>
                                      <p:to>
                                        <p:strVal val="visible"/>
                                      </p:to>
                                    </p:set>
                                    <p:animEffect filter="fade" transition="in">
                                      <p:cBhvr>
                                        <p:cTn dur="500"/>
                                        <p:tgtEl>
                                          <p:spTgt spid="37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7" name="Shape 3807"/>
        <p:cNvGrpSpPr/>
        <p:nvPr/>
      </p:nvGrpSpPr>
      <p:grpSpPr>
        <a:xfrm>
          <a:off x="0" y="0"/>
          <a:ext cx="0" cy="0"/>
          <a:chOff x="0" y="0"/>
          <a:chExt cx="0" cy="0"/>
        </a:xfrm>
      </p:grpSpPr>
      <p:sp>
        <p:nvSpPr>
          <p:cNvPr id="3808" name="Google Shape;3808;p63"/>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09" name="Google Shape;3809;p63"/>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0" name="Google Shape;3810;p63"/>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1" name="Google Shape;3811;p63"/>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2" name="Google Shape;3812;p6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3813" name="Google Shape;3813;p63"/>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3814" name="Google Shape;3814;p63"/>
          <p:cNvGrpSpPr/>
          <p:nvPr/>
        </p:nvGrpSpPr>
        <p:grpSpPr>
          <a:xfrm>
            <a:off x="7099636" y="2184072"/>
            <a:ext cx="889000" cy="865187"/>
            <a:chOff x="445" y="1273"/>
            <a:chExt cx="560" cy="545"/>
          </a:xfrm>
        </p:grpSpPr>
        <p:sp>
          <p:nvSpPr>
            <p:cNvPr id="3815" name="Google Shape;3815;p63"/>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16" name="Google Shape;3816;p63"/>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17" name="Google Shape;3817;p63"/>
          <p:cNvGrpSpPr/>
          <p:nvPr/>
        </p:nvGrpSpPr>
        <p:grpSpPr>
          <a:xfrm>
            <a:off x="4758073" y="1183947"/>
            <a:ext cx="3860800" cy="1144587"/>
            <a:chOff x="4758073" y="1183947"/>
            <a:chExt cx="3860800" cy="1144587"/>
          </a:xfrm>
        </p:grpSpPr>
        <p:sp>
          <p:nvSpPr>
            <p:cNvPr id="3818" name="Google Shape;3818;p63"/>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19" name="Google Shape;3819;p63"/>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20" name="Google Shape;3820;p63"/>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3821" name="Google Shape;3821;p63"/>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822" name="Google Shape;3822;p63"/>
          <p:cNvGrpSpPr/>
          <p:nvPr/>
        </p:nvGrpSpPr>
        <p:grpSpPr>
          <a:xfrm>
            <a:off x="7191711" y="4098597"/>
            <a:ext cx="1189037" cy="850900"/>
            <a:chOff x="4090" y="3230"/>
            <a:chExt cx="749" cy="536"/>
          </a:xfrm>
        </p:grpSpPr>
        <p:sp>
          <p:nvSpPr>
            <p:cNvPr id="3823" name="Google Shape;3823;p63"/>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24" name="Google Shape;3824;p63"/>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25" name="Google Shape;3825;p63"/>
          <p:cNvGrpSpPr/>
          <p:nvPr/>
        </p:nvGrpSpPr>
        <p:grpSpPr>
          <a:xfrm>
            <a:off x="5054936" y="4832022"/>
            <a:ext cx="3444875" cy="1038225"/>
            <a:chOff x="5054936" y="4832022"/>
            <a:chExt cx="3444875" cy="1038225"/>
          </a:xfrm>
        </p:grpSpPr>
        <p:sp>
          <p:nvSpPr>
            <p:cNvPr id="3826" name="Google Shape;3826;p63"/>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27" name="Google Shape;3827;p63"/>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28" name="Google Shape;3828;p63"/>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29" name="Google Shape;3829;p63"/>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3830" name="Google Shape;3830;p63"/>
          <p:cNvGrpSpPr/>
          <p:nvPr/>
        </p:nvGrpSpPr>
        <p:grpSpPr>
          <a:xfrm>
            <a:off x="7858461" y="2912734"/>
            <a:ext cx="2309812" cy="1184275"/>
            <a:chOff x="7858461" y="2912734"/>
            <a:chExt cx="2309812" cy="1184275"/>
          </a:xfrm>
        </p:grpSpPr>
        <p:sp>
          <p:nvSpPr>
            <p:cNvPr id="3831" name="Google Shape;3831;p63"/>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32" name="Google Shape;3832;p63"/>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33" name="Google Shape;3833;p63"/>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3834" name="Google Shape;3834;p63"/>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35" name="Google Shape;3835;p63"/>
          <p:cNvGrpSpPr/>
          <p:nvPr/>
        </p:nvGrpSpPr>
        <p:grpSpPr>
          <a:xfrm>
            <a:off x="2638761" y="2958772"/>
            <a:ext cx="1933239" cy="1239836"/>
            <a:chOff x="2638761" y="2958772"/>
            <a:chExt cx="1933239" cy="1239836"/>
          </a:xfrm>
        </p:grpSpPr>
        <p:sp>
          <p:nvSpPr>
            <p:cNvPr id="3836" name="Google Shape;3836;p63"/>
            <p:cNvSpPr/>
            <p:nvPr/>
          </p:nvSpPr>
          <p:spPr>
            <a:xfrm flipH="1" rot="5400000">
              <a:off x="3932569" y="3559178"/>
              <a:ext cx="1137909" cy="1409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37" name="Google Shape;3837;p63"/>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38" name="Google Shape;3838;p63"/>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3839" name="Google Shape;3839;p63"/>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40" name="Google Shape;3840;p63"/>
          <p:cNvGrpSpPr/>
          <p:nvPr/>
        </p:nvGrpSpPr>
        <p:grpSpPr>
          <a:xfrm>
            <a:off x="4157998" y="2228522"/>
            <a:ext cx="1189038" cy="850900"/>
            <a:chOff x="4090" y="3230"/>
            <a:chExt cx="749" cy="536"/>
          </a:xfrm>
        </p:grpSpPr>
        <p:sp>
          <p:nvSpPr>
            <p:cNvPr id="3841" name="Google Shape;3841;p63"/>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42" name="Google Shape;3842;p63"/>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43" name="Google Shape;3843;p63"/>
          <p:cNvGrpSpPr/>
          <p:nvPr/>
        </p:nvGrpSpPr>
        <p:grpSpPr>
          <a:xfrm>
            <a:off x="4369136" y="4082722"/>
            <a:ext cx="889000" cy="865187"/>
            <a:chOff x="445" y="1273"/>
            <a:chExt cx="560" cy="545"/>
          </a:xfrm>
        </p:grpSpPr>
        <p:sp>
          <p:nvSpPr>
            <p:cNvPr id="3844" name="Google Shape;3844;p63"/>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45" name="Google Shape;3845;p63"/>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sp>
        <p:nvSpPr>
          <p:cNvPr id="3846" name="Google Shape;3846;p63"/>
          <p:cNvSpPr/>
          <p:nvPr/>
        </p:nvSpPr>
        <p:spPr>
          <a:xfrm>
            <a:off x="3771900" y="1861459"/>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7" name="Google Shape;3847;p63"/>
          <p:cNvSpPr/>
          <p:nvPr/>
        </p:nvSpPr>
        <p:spPr>
          <a:xfrm>
            <a:off x="3858986" y="3777345"/>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8" name="Google Shape;3848;p63"/>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9" name="Google Shape;3849;p63"/>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0" name="Google Shape;3850;p63"/>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1" name="Google Shape;3851;p63"/>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2" name="Google Shape;3852;p63"/>
          <p:cNvSpPr/>
          <p:nvPr/>
        </p:nvSpPr>
        <p:spPr>
          <a:xfrm>
            <a:off x="4251325" y="2212996"/>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53" name="Google Shape;3853;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6"/>
                                        </p:tgtEl>
                                        <p:attrNameLst>
                                          <p:attrName>style.visibility</p:attrName>
                                        </p:attrNameLst>
                                      </p:cBhvr>
                                      <p:to>
                                        <p:strVal val="visible"/>
                                      </p:to>
                                    </p:set>
                                    <p:animEffect filter="fade" transition="in">
                                      <p:cBhvr>
                                        <p:cTn dur="500"/>
                                        <p:tgtEl>
                                          <p:spTgt spid="3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846"/>
                                        </p:tgtEl>
                                      </p:cBhvr>
                                    </p:animEffect>
                                    <p:set>
                                      <p:cBhvr>
                                        <p:cTn dur="1" fill="hold">
                                          <p:stCondLst>
                                            <p:cond delay="500"/>
                                          </p:stCondLst>
                                        </p:cTn>
                                        <p:tgtEl>
                                          <p:spTgt spid="384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47"/>
                                        </p:tgtEl>
                                        <p:attrNameLst>
                                          <p:attrName>style.visibility</p:attrName>
                                        </p:attrNameLst>
                                      </p:cBhvr>
                                      <p:to>
                                        <p:strVal val="visible"/>
                                      </p:to>
                                    </p:set>
                                    <p:animEffect filter="fade" transition="in">
                                      <p:cBhvr>
                                        <p:cTn dur="500"/>
                                        <p:tgtEl>
                                          <p:spTgt spid="3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8"/>
                                        </p:tgtEl>
                                        <p:attrNameLst>
                                          <p:attrName>style.visibility</p:attrName>
                                        </p:attrNameLst>
                                      </p:cBhvr>
                                      <p:to>
                                        <p:strVal val="visible"/>
                                      </p:to>
                                    </p:set>
                                    <p:animEffect filter="fade" transition="in">
                                      <p:cBhvr>
                                        <p:cTn dur="500"/>
                                        <p:tgtEl>
                                          <p:spTgt spid="3848"/>
                                        </p:tgtEl>
                                      </p:cBhvr>
                                    </p:animEffect>
                                  </p:childTnLst>
                                </p:cTn>
                              </p:par>
                              <p:par>
                                <p:cTn fill="hold" nodeType="withEffect" presetClass="exit" presetID="10" presetSubtype="0">
                                  <p:stCondLst>
                                    <p:cond delay="0"/>
                                  </p:stCondLst>
                                  <p:childTnLst>
                                    <p:animEffect filter="fade" transition="out">
                                      <p:cBhvr>
                                        <p:cTn dur="500"/>
                                        <p:tgtEl>
                                          <p:spTgt spid="3847"/>
                                        </p:tgtEl>
                                      </p:cBhvr>
                                    </p:animEffect>
                                    <p:set>
                                      <p:cBhvr>
                                        <p:cTn dur="1" fill="hold">
                                          <p:stCondLst>
                                            <p:cond delay="500"/>
                                          </p:stCondLst>
                                        </p:cTn>
                                        <p:tgtEl>
                                          <p:spTgt spid="38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7"/>
                                        </p:tgtEl>
                                        <p:attrNameLst>
                                          <p:attrName>style.visibility</p:attrName>
                                        </p:attrNameLst>
                                      </p:cBhvr>
                                      <p:to>
                                        <p:strVal val="visible"/>
                                      </p:to>
                                    </p:set>
                                    <p:animEffect filter="fade" transition="in">
                                      <p:cBhvr>
                                        <p:cTn dur="500"/>
                                        <p:tgtEl>
                                          <p:spTgt spid="3817"/>
                                        </p:tgtEl>
                                      </p:cBhvr>
                                    </p:animEffect>
                                  </p:childTnLst>
                                </p:cTn>
                              </p:par>
                              <p:par>
                                <p:cTn fill="hold" nodeType="withEffect" presetClass="exit" presetID="10" presetSubtype="0">
                                  <p:stCondLst>
                                    <p:cond delay="0"/>
                                  </p:stCondLst>
                                  <p:childTnLst>
                                    <p:animEffect filter="fade" transition="out">
                                      <p:cBhvr>
                                        <p:cTn dur="500"/>
                                        <p:tgtEl>
                                          <p:spTgt spid="3848"/>
                                        </p:tgtEl>
                                      </p:cBhvr>
                                    </p:animEffect>
                                    <p:set>
                                      <p:cBhvr>
                                        <p:cTn dur="1" fill="hold">
                                          <p:stCondLst>
                                            <p:cond delay="500"/>
                                          </p:stCondLst>
                                        </p:cTn>
                                        <p:tgtEl>
                                          <p:spTgt spid="384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11"/>
                                        </p:tgtEl>
                                        <p:attrNameLst>
                                          <p:attrName>style.visibility</p:attrName>
                                        </p:attrNameLst>
                                      </p:cBhvr>
                                      <p:to>
                                        <p:strVal val="visible"/>
                                      </p:to>
                                    </p:set>
                                    <p:animEffect filter="fade" transition="in">
                                      <p:cBhvr>
                                        <p:cTn dur="500"/>
                                        <p:tgtEl>
                                          <p:spTgt spid="38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49"/>
                                        </p:tgtEl>
                                        <p:attrNameLst>
                                          <p:attrName>style.visibility</p:attrName>
                                        </p:attrNameLst>
                                      </p:cBhvr>
                                      <p:to>
                                        <p:strVal val="visible"/>
                                      </p:to>
                                    </p:set>
                                    <p:animEffect filter="fade" transition="in">
                                      <p:cBhvr>
                                        <p:cTn dur="500"/>
                                        <p:tgtEl>
                                          <p:spTgt spid="38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0"/>
                                        </p:tgtEl>
                                        <p:attrNameLst>
                                          <p:attrName>style.visibility</p:attrName>
                                        </p:attrNameLst>
                                      </p:cBhvr>
                                      <p:to>
                                        <p:strVal val="visible"/>
                                      </p:to>
                                    </p:set>
                                    <p:animEffect filter="fade" transition="in">
                                      <p:cBhvr>
                                        <p:cTn dur="500"/>
                                        <p:tgtEl>
                                          <p:spTgt spid="3830"/>
                                        </p:tgtEl>
                                      </p:cBhvr>
                                    </p:animEffect>
                                  </p:childTnLst>
                                </p:cTn>
                              </p:par>
                              <p:par>
                                <p:cTn fill="hold" nodeType="withEffect" presetClass="exit" presetID="10" presetSubtype="0">
                                  <p:stCondLst>
                                    <p:cond delay="0"/>
                                  </p:stCondLst>
                                  <p:childTnLst>
                                    <p:animEffect filter="fade" transition="out">
                                      <p:cBhvr>
                                        <p:cTn dur="500"/>
                                        <p:tgtEl>
                                          <p:spTgt spid="3849"/>
                                        </p:tgtEl>
                                      </p:cBhvr>
                                    </p:animEffect>
                                    <p:set>
                                      <p:cBhvr>
                                        <p:cTn dur="1" fill="hold">
                                          <p:stCondLst>
                                            <p:cond delay="500"/>
                                          </p:stCondLst>
                                        </p:cTn>
                                        <p:tgtEl>
                                          <p:spTgt spid="384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10"/>
                                        </p:tgtEl>
                                        <p:attrNameLst>
                                          <p:attrName>style.visibility</p:attrName>
                                        </p:attrNameLst>
                                      </p:cBhvr>
                                      <p:to>
                                        <p:strVal val="visible"/>
                                      </p:to>
                                    </p:set>
                                    <p:animEffect filter="fade" transition="in">
                                      <p:cBhvr>
                                        <p:cTn dur="500"/>
                                        <p:tgtEl>
                                          <p:spTgt spid="38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0"/>
                                        </p:tgtEl>
                                        <p:attrNameLst>
                                          <p:attrName>style.visibility</p:attrName>
                                        </p:attrNameLst>
                                      </p:cBhvr>
                                      <p:to>
                                        <p:strVal val="visible"/>
                                      </p:to>
                                    </p:set>
                                    <p:animEffect filter="fade" transition="in">
                                      <p:cBhvr>
                                        <p:cTn dur="500"/>
                                        <p:tgtEl>
                                          <p:spTgt spid="3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5"/>
                                        </p:tgtEl>
                                        <p:attrNameLst>
                                          <p:attrName>style.visibility</p:attrName>
                                        </p:attrNameLst>
                                      </p:cBhvr>
                                      <p:to>
                                        <p:strVal val="visible"/>
                                      </p:to>
                                    </p:set>
                                    <p:animEffect filter="fade" transition="in">
                                      <p:cBhvr>
                                        <p:cTn dur="500"/>
                                        <p:tgtEl>
                                          <p:spTgt spid="3825"/>
                                        </p:tgtEl>
                                      </p:cBhvr>
                                    </p:animEffect>
                                  </p:childTnLst>
                                </p:cTn>
                              </p:par>
                              <p:par>
                                <p:cTn fill="hold" nodeType="withEffect" presetClass="exit" presetID="10" presetSubtype="0">
                                  <p:stCondLst>
                                    <p:cond delay="0"/>
                                  </p:stCondLst>
                                  <p:childTnLst>
                                    <p:animEffect filter="fade" transition="out">
                                      <p:cBhvr>
                                        <p:cTn dur="500"/>
                                        <p:tgtEl>
                                          <p:spTgt spid="3850"/>
                                        </p:tgtEl>
                                      </p:cBhvr>
                                    </p:animEffect>
                                    <p:set>
                                      <p:cBhvr>
                                        <p:cTn dur="1" fill="hold">
                                          <p:stCondLst>
                                            <p:cond delay="500"/>
                                          </p:stCondLst>
                                        </p:cTn>
                                        <p:tgtEl>
                                          <p:spTgt spid="385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09"/>
                                        </p:tgtEl>
                                        <p:attrNameLst>
                                          <p:attrName>style.visibility</p:attrName>
                                        </p:attrNameLst>
                                      </p:cBhvr>
                                      <p:to>
                                        <p:strVal val="visible"/>
                                      </p:to>
                                    </p:set>
                                    <p:animEffect filter="fade" transition="in">
                                      <p:cBhvr>
                                        <p:cTn dur="500"/>
                                        <p:tgtEl>
                                          <p:spTgt spid="38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1"/>
                                        </p:tgtEl>
                                        <p:attrNameLst>
                                          <p:attrName>style.visibility</p:attrName>
                                        </p:attrNameLst>
                                      </p:cBhvr>
                                      <p:to>
                                        <p:strVal val="visible"/>
                                      </p:to>
                                    </p:set>
                                    <p:animEffect filter="fade" transition="in">
                                      <p:cBhvr>
                                        <p:cTn dur="500"/>
                                        <p:tgtEl>
                                          <p:spTgt spid="38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5"/>
                                        </p:tgtEl>
                                        <p:attrNameLst>
                                          <p:attrName>style.visibility</p:attrName>
                                        </p:attrNameLst>
                                      </p:cBhvr>
                                      <p:to>
                                        <p:strVal val="visible"/>
                                      </p:to>
                                    </p:set>
                                    <p:animEffect filter="fade" transition="in">
                                      <p:cBhvr>
                                        <p:cTn dur="500"/>
                                        <p:tgtEl>
                                          <p:spTgt spid="3835"/>
                                        </p:tgtEl>
                                      </p:cBhvr>
                                    </p:animEffect>
                                  </p:childTnLst>
                                </p:cTn>
                              </p:par>
                              <p:par>
                                <p:cTn fill="hold" nodeType="withEffect" presetClass="entr" presetID="10" presetSubtype="0">
                                  <p:stCondLst>
                                    <p:cond delay="0"/>
                                  </p:stCondLst>
                                  <p:childTnLst>
                                    <p:set>
                                      <p:cBhvr>
                                        <p:cTn dur="1" fill="hold">
                                          <p:stCondLst>
                                            <p:cond delay="0"/>
                                          </p:stCondLst>
                                        </p:cTn>
                                        <p:tgtEl>
                                          <p:spTgt spid="3808"/>
                                        </p:tgtEl>
                                        <p:attrNameLst>
                                          <p:attrName>style.visibility</p:attrName>
                                        </p:attrNameLst>
                                      </p:cBhvr>
                                      <p:to>
                                        <p:strVal val="visible"/>
                                      </p:to>
                                    </p:set>
                                    <p:animEffect filter="fade" transition="in">
                                      <p:cBhvr>
                                        <p:cTn dur="500"/>
                                        <p:tgtEl>
                                          <p:spTgt spid="3808"/>
                                        </p:tgtEl>
                                      </p:cBhvr>
                                    </p:animEffect>
                                  </p:childTnLst>
                                </p:cTn>
                              </p:par>
                              <p:par>
                                <p:cTn fill="hold" nodeType="withEffect" presetClass="exit" presetID="10" presetSubtype="0">
                                  <p:stCondLst>
                                    <p:cond delay="0"/>
                                  </p:stCondLst>
                                  <p:childTnLst>
                                    <p:animEffect filter="fade" transition="out">
                                      <p:cBhvr>
                                        <p:cTn dur="500"/>
                                        <p:tgtEl>
                                          <p:spTgt spid="3851"/>
                                        </p:tgtEl>
                                      </p:cBhvr>
                                    </p:animEffect>
                                    <p:set>
                                      <p:cBhvr>
                                        <p:cTn dur="1" fill="hold">
                                          <p:stCondLst>
                                            <p:cond delay="500"/>
                                          </p:stCondLst>
                                        </p:cTn>
                                        <p:tgtEl>
                                          <p:spTgt spid="385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2"/>
                                        </p:tgtEl>
                                        <p:attrNameLst>
                                          <p:attrName>style.visibility</p:attrName>
                                        </p:attrNameLst>
                                      </p:cBhvr>
                                      <p:to>
                                        <p:strVal val="visible"/>
                                      </p:to>
                                    </p:set>
                                    <p:animEffect filter="fade" transition="in">
                                      <p:cBhvr>
                                        <p:cTn dur="500"/>
                                        <p:tgtEl>
                                          <p:spTgt spid="38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8" name="Shape 3858"/>
        <p:cNvGrpSpPr/>
        <p:nvPr/>
      </p:nvGrpSpPr>
      <p:grpSpPr>
        <a:xfrm>
          <a:off x="0" y="0"/>
          <a:ext cx="0" cy="0"/>
          <a:chOff x="0" y="0"/>
          <a:chExt cx="0" cy="0"/>
        </a:xfrm>
      </p:grpSpPr>
      <p:sp>
        <p:nvSpPr>
          <p:cNvPr id="3859" name="Google Shape;3859;p64"/>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0" name="Google Shape;3860;p64"/>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1" name="Google Shape;3861;p64"/>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2" name="Google Shape;3862;p64"/>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3" name="Google Shape;3863;p6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3864" name="Google Shape;3864;p64"/>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3865" name="Google Shape;3865;p64"/>
          <p:cNvGrpSpPr/>
          <p:nvPr/>
        </p:nvGrpSpPr>
        <p:grpSpPr>
          <a:xfrm>
            <a:off x="7099636" y="2184072"/>
            <a:ext cx="889000" cy="865187"/>
            <a:chOff x="445" y="1273"/>
            <a:chExt cx="560" cy="545"/>
          </a:xfrm>
        </p:grpSpPr>
        <p:sp>
          <p:nvSpPr>
            <p:cNvPr id="3866" name="Google Shape;3866;p64"/>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67" name="Google Shape;3867;p64"/>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68" name="Google Shape;3868;p64"/>
          <p:cNvGrpSpPr/>
          <p:nvPr/>
        </p:nvGrpSpPr>
        <p:grpSpPr>
          <a:xfrm>
            <a:off x="4758073" y="1183947"/>
            <a:ext cx="3860800" cy="1144587"/>
            <a:chOff x="4758073" y="1183947"/>
            <a:chExt cx="3860800" cy="1144587"/>
          </a:xfrm>
        </p:grpSpPr>
        <p:sp>
          <p:nvSpPr>
            <p:cNvPr id="3869" name="Google Shape;3869;p64"/>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70" name="Google Shape;3870;p64"/>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71" name="Google Shape;3871;p64"/>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3872" name="Google Shape;3872;p64"/>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873" name="Google Shape;3873;p64"/>
          <p:cNvGrpSpPr/>
          <p:nvPr/>
        </p:nvGrpSpPr>
        <p:grpSpPr>
          <a:xfrm>
            <a:off x="7191711" y="4098597"/>
            <a:ext cx="1189037" cy="850900"/>
            <a:chOff x="4090" y="3230"/>
            <a:chExt cx="749" cy="536"/>
          </a:xfrm>
        </p:grpSpPr>
        <p:sp>
          <p:nvSpPr>
            <p:cNvPr id="3874" name="Google Shape;3874;p64"/>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875" name="Google Shape;3875;p64"/>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76" name="Google Shape;3876;p64"/>
          <p:cNvGrpSpPr/>
          <p:nvPr/>
        </p:nvGrpSpPr>
        <p:grpSpPr>
          <a:xfrm>
            <a:off x="5054936" y="4832022"/>
            <a:ext cx="3444875" cy="1038225"/>
            <a:chOff x="5054936" y="4832022"/>
            <a:chExt cx="3444875" cy="1038225"/>
          </a:xfrm>
        </p:grpSpPr>
        <p:sp>
          <p:nvSpPr>
            <p:cNvPr id="3877" name="Google Shape;3877;p64"/>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78" name="Google Shape;3878;p64"/>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79" name="Google Shape;3879;p64"/>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3880" name="Google Shape;3880;p64"/>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3881" name="Google Shape;3881;p64"/>
          <p:cNvGrpSpPr/>
          <p:nvPr/>
        </p:nvGrpSpPr>
        <p:grpSpPr>
          <a:xfrm>
            <a:off x="7858461" y="2912734"/>
            <a:ext cx="2309812" cy="1184275"/>
            <a:chOff x="7858461" y="2912734"/>
            <a:chExt cx="2309812" cy="1184275"/>
          </a:xfrm>
        </p:grpSpPr>
        <p:sp>
          <p:nvSpPr>
            <p:cNvPr id="3882" name="Google Shape;3882;p64"/>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83" name="Google Shape;3883;p64"/>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84" name="Google Shape;3884;p64"/>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3885" name="Google Shape;3885;p64"/>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86" name="Google Shape;3886;p64"/>
          <p:cNvGrpSpPr/>
          <p:nvPr/>
        </p:nvGrpSpPr>
        <p:grpSpPr>
          <a:xfrm>
            <a:off x="2638761" y="2958772"/>
            <a:ext cx="1945938" cy="1239836"/>
            <a:chOff x="2638761" y="2958772"/>
            <a:chExt cx="1945938" cy="1239836"/>
          </a:xfrm>
        </p:grpSpPr>
        <p:sp>
          <p:nvSpPr>
            <p:cNvPr id="3887" name="Google Shape;3887;p64"/>
            <p:cNvSpPr/>
            <p:nvPr/>
          </p:nvSpPr>
          <p:spPr>
            <a:xfrm flipH="1" rot="5400000">
              <a:off x="3932568" y="3546478"/>
              <a:ext cx="1150609" cy="1536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88" name="Google Shape;3888;p64"/>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889" name="Google Shape;3889;p64"/>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3890" name="Google Shape;3890;p64"/>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3891" name="Google Shape;3891;p64"/>
          <p:cNvGrpSpPr/>
          <p:nvPr/>
        </p:nvGrpSpPr>
        <p:grpSpPr>
          <a:xfrm>
            <a:off x="7977523" y="2372984"/>
            <a:ext cx="2447925" cy="741363"/>
            <a:chOff x="7977523" y="2372984"/>
            <a:chExt cx="2447925" cy="741363"/>
          </a:xfrm>
        </p:grpSpPr>
        <p:sp>
          <p:nvSpPr>
            <p:cNvPr id="3892" name="Google Shape;3892;p64"/>
            <p:cNvSpPr/>
            <p:nvPr/>
          </p:nvSpPr>
          <p:spPr>
            <a:xfrm>
              <a:off x="8369605" y="2404148"/>
              <a:ext cx="73251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3" name="Google Shape;3893;p64"/>
            <p:cNvSpPr/>
            <p:nvPr/>
          </p:nvSpPr>
          <p:spPr>
            <a:xfrm>
              <a:off x="8358054" y="287058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894" name="Google Shape;3894;p64"/>
            <p:cNvGrpSpPr/>
            <p:nvPr/>
          </p:nvGrpSpPr>
          <p:grpSpPr>
            <a:xfrm>
              <a:off x="7977523" y="2372984"/>
              <a:ext cx="2447925" cy="741363"/>
              <a:chOff x="7977523" y="2372984"/>
              <a:chExt cx="2447925" cy="741363"/>
            </a:xfrm>
          </p:grpSpPr>
          <p:sp>
            <p:nvSpPr>
              <p:cNvPr id="3895" name="Google Shape;3895;p64"/>
              <p:cNvSpPr/>
              <p:nvPr/>
            </p:nvSpPr>
            <p:spPr>
              <a:xfrm>
                <a:off x="7977523" y="2431722"/>
                <a:ext cx="461963" cy="682625"/>
              </a:xfrm>
              <a:custGeom>
                <a:rect b="b" l="l" r="r" t="t"/>
                <a:pathLst>
                  <a:path extrusionOk="0" h="430" w="291">
                    <a:moveTo>
                      <a:pt x="0" y="120"/>
                    </a:moveTo>
                    <a:cubicBezTo>
                      <a:pt x="291" y="0"/>
                      <a:pt x="259" y="430"/>
                      <a:pt x="15" y="2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96" name="Google Shape;3896;p64"/>
              <p:cNvSpPr txBox="1"/>
              <p:nvPr/>
            </p:nvSpPr>
            <p:spPr>
              <a:xfrm>
                <a:off x="8309311" y="2609522"/>
                <a:ext cx="21161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897" name="Google Shape;3897;p64"/>
              <p:cNvSpPr txBox="1"/>
              <p:nvPr/>
            </p:nvSpPr>
            <p:spPr>
              <a:xfrm>
                <a:off x="8331536" y="2372984"/>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3898" name="Google Shape;3898;p64"/>
              <p:cNvCxnSpPr/>
              <p:nvPr/>
            </p:nvCxnSpPr>
            <p:spPr>
              <a:xfrm>
                <a:off x="8420436" y="2626984"/>
                <a:ext cx="990600"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3899" name="Google Shape;3899;p64"/>
          <p:cNvGrpSpPr/>
          <p:nvPr/>
        </p:nvGrpSpPr>
        <p:grpSpPr>
          <a:xfrm>
            <a:off x="4157998" y="2228522"/>
            <a:ext cx="1189038" cy="850900"/>
            <a:chOff x="4090" y="3230"/>
            <a:chExt cx="749" cy="536"/>
          </a:xfrm>
        </p:grpSpPr>
        <p:sp>
          <p:nvSpPr>
            <p:cNvPr id="3900" name="Google Shape;3900;p64"/>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901" name="Google Shape;3901;p64"/>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902" name="Google Shape;3902;p64"/>
          <p:cNvGrpSpPr/>
          <p:nvPr/>
        </p:nvGrpSpPr>
        <p:grpSpPr>
          <a:xfrm>
            <a:off x="4369136" y="4082722"/>
            <a:ext cx="889000" cy="865187"/>
            <a:chOff x="445" y="1273"/>
            <a:chExt cx="560" cy="545"/>
          </a:xfrm>
        </p:grpSpPr>
        <p:sp>
          <p:nvSpPr>
            <p:cNvPr id="3903" name="Google Shape;3903;p64"/>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904" name="Google Shape;3904;p64"/>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grpSp>
        <p:nvGrpSpPr>
          <p:cNvPr id="3905" name="Google Shape;3905;p64"/>
          <p:cNvGrpSpPr/>
          <p:nvPr/>
        </p:nvGrpSpPr>
        <p:grpSpPr>
          <a:xfrm>
            <a:off x="8164848" y="4466897"/>
            <a:ext cx="1760538" cy="890587"/>
            <a:chOff x="8164848" y="4466897"/>
            <a:chExt cx="1760538" cy="890587"/>
          </a:xfrm>
        </p:grpSpPr>
        <p:sp>
          <p:nvSpPr>
            <p:cNvPr id="3906" name="Google Shape;3906;p64"/>
            <p:cNvSpPr/>
            <p:nvPr/>
          </p:nvSpPr>
          <p:spPr>
            <a:xfrm>
              <a:off x="8164848" y="44668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07" name="Google Shape;3907;p64"/>
            <p:cNvSpPr txBox="1"/>
            <p:nvPr/>
          </p:nvSpPr>
          <p:spPr>
            <a:xfrm>
              <a:off x="8963361" y="4946322"/>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3908" name="Google Shape;3908;p64"/>
            <p:cNvSpPr txBox="1"/>
            <p:nvPr/>
          </p:nvSpPr>
          <p:spPr>
            <a:xfrm>
              <a:off x="8496636" y="4697084"/>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3909" name="Google Shape;3909;p64"/>
            <p:cNvCxnSpPr/>
            <p:nvPr/>
          </p:nvCxnSpPr>
          <p:spPr>
            <a:xfrm>
              <a:off x="8583948" y="4982834"/>
              <a:ext cx="1101725" cy="0"/>
            </a:xfrm>
            <a:prstGeom prst="straightConnector1">
              <a:avLst/>
            </a:prstGeom>
            <a:noFill/>
            <a:ln cap="flat" cmpd="sng" w="28575">
              <a:solidFill>
                <a:srgbClr val="000000"/>
              </a:solidFill>
              <a:prstDash val="solid"/>
              <a:round/>
              <a:headEnd len="med" w="med" type="none"/>
              <a:tailEnd len="med" w="med" type="none"/>
            </a:ln>
          </p:spPr>
        </p:cxnSp>
      </p:grpSp>
      <p:grpSp>
        <p:nvGrpSpPr>
          <p:cNvPr id="3910" name="Google Shape;3910;p64"/>
          <p:cNvGrpSpPr/>
          <p:nvPr/>
        </p:nvGrpSpPr>
        <p:grpSpPr>
          <a:xfrm>
            <a:off x="7807661" y="1290309"/>
            <a:ext cx="2117725" cy="1144588"/>
            <a:chOff x="7807661" y="1290309"/>
            <a:chExt cx="2117725" cy="1144588"/>
          </a:xfrm>
        </p:grpSpPr>
        <p:sp>
          <p:nvSpPr>
            <p:cNvPr id="3911" name="Google Shape;3911;p64"/>
            <p:cNvSpPr/>
            <p:nvPr/>
          </p:nvSpPr>
          <p:spPr>
            <a:xfrm>
              <a:off x="7807661" y="1768147"/>
              <a:ext cx="871537" cy="666750"/>
            </a:xfrm>
            <a:custGeom>
              <a:rect b="b" l="l" r="r" t="t"/>
              <a:pathLst>
                <a:path extrusionOk="0" h="420" w="549">
                  <a:moveTo>
                    <a:pt x="0" y="306"/>
                  </a:moveTo>
                  <a:cubicBezTo>
                    <a:pt x="78" y="0"/>
                    <a:pt x="549" y="315"/>
                    <a:pt x="87" y="42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12" name="Google Shape;3912;p64"/>
            <p:cNvSpPr txBox="1"/>
            <p:nvPr/>
          </p:nvSpPr>
          <p:spPr>
            <a:xfrm>
              <a:off x="8220411" y="1290309"/>
              <a:ext cx="17049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isACK(rcvpkt,1) )</a:t>
              </a:r>
              <a:endParaRPr b="0" i="0" sz="1400" u="none" cap="none" strike="noStrike">
                <a:solidFill>
                  <a:srgbClr val="000000"/>
                </a:solidFill>
                <a:latin typeface="Times New Roman"/>
                <a:ea typeface="Times New Roman"/>
                <a:cs typeface="Times New Roman"/>
                <a:sym typeface="Times New Roman"/>
              </a:endParaRPr>
            </a:p>
          </p:txBody>
        </p:sp>
        <p:cxnSp>
          <p:nvCxnSpPr>
            <p:cNvPr id="3913" name="Google Shape;3913;p64"/>
            <p:cNvCxnSpPr/>
            <p:nvPr/>
          </p:nvCxnSpPr>
          <p:spPr>
            <a:xfrm>
              <a:off x="8429961" y="1991984"/>
              <a:ext cx="1350962" cy="0"/>
            </a:xfrm>
            <a:prstGeom prst="straightConnector1">
              <a:avLst/>
            </a:prstGeom>
            <a:noFill/>
            <a:ln cap="flat" cmpd="sng" w="28575">
              <a:solidFill>
                <a:srgbClr val="000000"/>
              </a:solidFill>
              <a:prstDash val="solid"/>
              <a:round/>
              <a:headEnd len="med" w="med" type="none"/>
              <a:tailEnd len="med" w="med" type="none"/>
            </a:ln>
          </p:spPr>
        </p:cxnSp>
        <p:sp>
          <p:nvSpPr>
            <p:cNvPr id="3914" name="Google Shape;3914;p64"/>
            <p:cNvSpPr txBox="1"/>
            <p:nvPr/>
          </p:nvSpPr>
          <p:spPr>
            <a:xfrm>
              <a:off x="8866523" y="1941184"/>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915" name="Google Shape;3915;p64"/>
          <p:cNvGrpSpPr/>
          <p:nvPr/>
        </p:nvGrpSpPr>
        <p:grpSpPr>
          <a:xfrm>
            <a:off x="2775286" y="1876097"/>
            <a:ext cx="1549400" cy="890587"/>
            <a:chOff x="2775286" y="1876097"/>
            <a:chExt cx="1549400" cy="890587"/>
          </a:xfrm>
        </p:grpSpPr>
        <p:sp>
          <p:nvSpPr>
            <p:cNvPr id="3916" name="Google Shape;3916;p64"/>
            <p:cNvSpPr txBox="1"/>
            <p:nvPr/>
          </p:nvSpPr>
          <p:spPr>
            <a:xfrm>
              <a:off x="2775286" y="1968172"/>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3917" name="Google Shape;3917;p64"/>
            <p:cNvCxnSpPr/>
            <p:nvPr/>
          </p:nvCxnSpPr>
          <p:spPr>
            <a:xfrm>
              <a:off x="2862598" y="2253922"/>
              <a:ext cx="1101725" cy="0"/>
            </a:xfrm>
            <a:prstGeom prst="straightConnector1">
              <a:avLst/>
            </a:prstGeom>
            <a:noFill/>
            <a:ln cap="flat" cmpd="sng" w="28575">
              <a:solidFill>
                <a:srgbClr val="000000"/>
              </a:solidFill>
              <a:prstDash val="solid"/>
              <a:round/>
              <a:headEnd len="med" w="med" type="none"/>
              <a:tailEnd len="med" w="med" type="none"/>
            </a:ln>
          </p:spPr>
        </p:cxnSp>
        <p:sp>
          <p:nvSpPr>
            <p:cNvPr id="3918" name="Google Shape;3918;p64"/>
            <p:cNvSpPr/>
            <p:nvPr/>
          </p:nvSpPr>
          <p:spPr>
            <a:xfrm rot="10800000">
              <a:off x="3745248" y="18760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19" name="Google Shape;3919;p64"/>
            <p:cNvSpPr txBox="1"/>
            <p:nvPr/>
          </p:nvSpPr>
          <p:spPr>
            <a:xfrm>
              <a:off x="3215023" y="22174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920" name="Google Shape;3920;p64"/>
          <p:cNvGrpSpPr/>
          <p:nvPr/>
        </p:nvGrpSpPr>
        <p:grpSpPr>
          <a:xfrm>
            <a:off x="2367298" y="4307189"/>
            <a:ext cx="1973263" cy="725996"/>
            <a:chOff x="2367298" y="4307189"/>
            <a:chExt cx="1973263" cy="725996"/>
          </a:xfrm>
        </p:grpSpPr>
        <p:sp>
          <p:nvSpPr>
            <p:cNvPr id="3921" name="Google Shape;3921;p64"/>
            <p:cNvSpPr/>
            <p:nvPr/>
          </p:nvSpPr>
          <p:spPr>
            <a:xfrm>
              <a:off x="2418382" y="4342649"/>
              <a:ext cx="76965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2" name="Google Shape;3922;p64"/>
            <p:cNvSpPr/>
            <p:nvPr/>
          </p:nvSpPr>
          <p:spPr>
            <a:xfrm>
              <a:off x="2418337" y="4809347"/>
              <a:ext cx="909161"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3" name="Google Shape;3923;p64"/>
            <p:cNvSpPr/>
            <p:nvPr/>
          </p:nvSpPr>
          <p:spPr>
            <a:xfrm>
              <a:off x="3769061" y="4506584"/>
              <a:ext cx="571500" cy="420688"/>
            </a:xfrm>
            <a:custGeom>
              <a:rect b="b" l="l" r="r" t="t"/>
              <a:pathLst>
                <a:path extrusionOk="0" h="662" w="900">
                  <a:moveTo>
                    <a:pt x="900" y="360"/>
                  </a:moveTo>
                  <a:cubicBezTo>
                    <a:pt x="171" y="662"/>
                    <a:pt x="0" y="0"/>
                    <a:pt x="825" y="1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24" name="Google Shape;3924;p64"/>
            <p:cNvSpPr txBox="1"/>
            <p:nvPr/>
          </p:nvSpPr>
          <p:spPr>
            <a:xfrm>
              <a:off x="2367298" y="4554209"/>
              <a:ext cx="18240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3925" name="Google Shape;3925;p64"/>
            <p:cNvSpPr txBox="1"/>
            <p:nvPr/>
          </p:nvSpPr>
          <p:spPr>
            <a:xfrm>
              <a:off x="2381586" y="4307189"/>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3926" name="Google Shape;3926;p64"/>
            <p:cNvCxnSpPr/>
            <p:nvPr/>
          </p:nvCxnSpPr>
          <p:spPr>
            <a:xfrm>
              <a:off x="2484773" y="4582784"/>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3927" name="Google Shape;3927;p64"/>
          <p:cNvGrpSpPr/>
          <p:nvPr/>
        </p:nvGrpSpPr>
        <p:grpSpPr>
          <a:xfrm>
            <a:off x="3029286" y="4795509"/>
            <a:ext cx="1631950" cy="1428750"/>
            <a:chOff x="3029286" y="4795509"/>
            <a:chExt cx="1631950" cy="1428750"/>
          </a:xfrm>
        </p:grpSpPr>
        <p:sp>
          <p:nvSpPr>
            <p:cNvPr id="3928" name="Google Shape;3928;p64"/>
            <p:cNvSpPr txBox="1"/>
            <p:nvPr/>
          </p:nvSpPr>
          <p:spPr>
            <a:xfrm>
              <a:off x="3029286" y="5155872"/>
              <a:ext cx="162242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isACK(rcvpkt,0) )</a:t>
              </a:r>
              <a:endParaRPr b="0" i="0" sz="1400" u="none" cap="none" strike="noStrike">
                <a:solidFill>
                  <a:srgbClr val="000000"/>
                </a:solidFill>
                <a:latin typeface="Times New Roman"/>
                <a:ea typeface="Times New Roman"/>
                <a:cs typeface="Times New Roman"/>
                <a:sym typeface="Times New Roman"/>
              </a:endParaRPr>
            </a:p>
          </p:txBody>
        </p:sp>
        <p:cxnSp>
          <p:nvCxnSpPr>
            <p:cNvPr id="3929" name="Google Shape;3929;p64"/>
            <p:cNvCxnSpPr/>
            <p:nvPr/>
          </p:nvCxnSpPr>
          <p:spPr>
            <a:xfrm>
              <a:off x="3132473" y="5881359"/>
              <a:ext cx="1254125" cy="0"/>
            </a:xfrm>
            <a:prstGeom prst="straightConnector1">
              <a:avLst/>
            </a:prstGeom>
            <a:noFill/>
            <a:ln cap="flat" cmpd="sng" w="28575">
              <a:solidFill>
                <a:srgbClr val="000000"/>
              </a:solidFill>
              <a:prstDash val="solid"/>
              <a:round/>
              <a:headEnd len="med" w="med" type="none"/>
              <a:tailEnd len="med" w="med" type="none"/>
            </a:ln>
          </p:spPr>
        </p:cxnSp>
        <p:sp>
          <p:nvSpPr>
            <p:cNvPr id="3930" name="Google Shape;3930;p64"/>
            <p:cNvSpPr/>
            <p:nvPr/>
          </p:nvSpPr>
          <p:spPr>
            <a:xfrm>
              <a:off x="3969086" y="4795509"/>
              <a:ext cx="692150" cy="631825"/>
            </a:xfrm>
            <a:custGeom>
              <a:rect b="b" l="l" r="r" t="t"/>
              <a:pathLst>
                <a:path extrusionOk="0" h="398" w="436">
                  <a:moveTo>
                    <a:pt x="436" y="101"/>
                  </a:moveTo>
                  <a:cubicBezTo>
                    <a:pt x="367" y="398"/>
                    <a:pt x="0" y="31"/>
                    <a:pt x="30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31" name="Google Shape;3931;p64"/>
            <p:cNvSpPr txBox="1"/>
            <p:nvPr/>
          </p:nvSpPr>
          <p:spPr>
            <a:xfrm>
              <a:off x="3618248" y="58877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932" name="Google Shape;3932;p64"/>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3" name="Google Shape;3933;p64"/>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4" name="Google Shape;3934;p64"/>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5" name="Google Shape;3935;p64"/>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6" name="Google Shape;3936;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32"/>
                                        </p:tgtEl>
                                        <p:attrNameLst>
                                          <p:attrName>style.visibility</p:attrName>
                                        </p:attrNameLst>
                                      </p:cBhvr>
                                      <p:to>
                                        <p:strVal val="visible"/>
                                      </p:to>
                                    </p:set>
                                    <p:animEffect filter="fade" transition="in">
                                      <p:cBhvr>
                                        <p:cTn dur="500"/>
                                        <p:tgtEl>
                                          <p:spTgt spid="39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91"/>
                                        </p:tgtEl>
                                        <p:attrNameLst>
                                          <p:attrName>style.visibility</p:attrName>
                                        </p:attrNameLst>
                                      </p:cBhvr>
                                      <p:to>
                                        <p:strVal val="visible"/>
                                      </p:to>
                                    </p:set>
                                    <p:animEffect filter="fade" transition="in">
                                      <p:cBhvr>
                                        <p:cTn dur="500"/>
                                        <p:tgtEl>
                                          <p:spTgt spid="3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0"/>
                                        </p:tgtEl>
                                        <p:attrNameLst>
                                          <p:attrName>style.visibility</p:attrName>
                                        </p:attrNameLst>
                                      </p:cBhvr>
                                      <p:to>
                                        <p:strVal val="visible"/>
                                      </p:to>
                                    </p:set>
                                    <p:animEffect filter="fade" transition="in">
                                      <p:cBhvr>
                                        <p:cTn dur="500"/>
                                        <p:tgtEl>
                                          <p:spTgt spid="39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32"/>
                                        </p:tgtEl>
                                      </p:cBhvr>
                                    </p:animEffect>
                                    <p:set>
                                      <p:cBhvr>
                                        <p:cTn dur="1" fill="hold">
                                          <p:stCondLst>
                                            <p:cond delay="500"/>
                                          </p:stCondLst>
                                        </p:cTn>
                                        <p:tgtEl>
                                          <p:spTgt spid="393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33"/>
                                        </p:tgtEl>
                                        <p:attrNameLst>
                                          <p:attrName>style.visibility</p:attrName>
                                        </p:attrNameLst>
                                      </p:cBhvr>
                                      <p:to>
                                        <p:strVal val="visible"/>
                                      </p:to>
                                    </p:set>
                                    <p:animEffect filter="fade" transition="in">
                                      <p:cBhvr>
                                        <p:cTn dur="500"/>
                                        <p:tgtEl>
                                          <p:spTgt spid="39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05"/>
                                        </p:tgtEl>
                                        <p:attrNameLst>
                                          <p:attrName>style.visibility</p:attrName>
                                        </p:attrNameLst>
                                      </p:cBhvr>
                                      <p:to>
                                        <p:strVal val="visible"/>
                                      </p:to>
                                    </p:set>
                                    <p:animEffect filter="fade" transition="in">
                                      <p:cBhvr>
                                        <p:cTn dur="500"/>
                                        <p:tgtEl>
                                          <p:spTgt spid="39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33"/>
                                        </p:tgtEl>
                                      </p:cBhvr>
                                    </p:animEffect>
                                    <p:set>
                                      <p:cBhvr>
                                        <p:cTn dur="1" fill="hold">
                                          <p:stCondLst>
                                            <p:cond delay="500"/>
                                          </p:stCondLst>
                                        </p:cTn>
                                        <p:tgtEl>
                                          <p:spTgt spid="393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34"/>
                                        </p:tgtEl>
                                        <p:attrNameLst>
                                          <p:attrName>style.visibility</p:attrName>
                                        </p:attrNameLst>
                                      </p:cBhvr>
                                      <p:to>
                                        <p:strVal val="visible"/>
                                      </p:to>
                                    </p:set>
                                    <p:animEffect filter="fade" transition="in">
                                      <p:cBhvr>
                                        <p:cTn dur="500"/>
                                        <p:tgtEl>
                                          <p:spTgt spid="3934"/>
                                        </p:tgtEl>
                                      </p:cBhvr>
                                    </p:animEffect>
                                  </p:childTnLst>
                                </p:cTn>
                              </p:par>
                              <p:par>
                                <p:cTn fill="hold" nodeType="withEffect" presetClass="entr" presetID="10" presetSubtype="0">
                                  <p:stCondLst>
                                    <p:cond delay="0"/>
                                  </p:stCondLst>
                                  <p:childTnLst>
                                    <p:set>
                                      <p:cBhvr>
                                        <p:cTn dur="1" fill="hold">
                                          <p:stCondLst>
                                            <p:cond delay="0"/>
                                          </p:stCondLst>
                                        </p:cTn>
                                        <p:tgtEl>
                                          <p:spTgt spid="3920"/>
                                        </p:tgtEl>
                                        <p:attrNameLst>
                                          <p:attrName>style.visibility</p:attrName>
                                        </p:attrNameLst>
                                      </p:cBhvr>
                                      <p:to>
                                        <p:strVal val="visible"/>
                                      </p:to>
                                    </p:set>
                                    <p:animEffect filter="fade" transition="in">
                                      <p:cBhvr>
                                        <p:cTn dur="500"/>
                                        <p:tgtEl>
                                          <p:spTgt spid="3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7"/>
                                        </p:tgtEl>
                                        <p:attrNameLst>
                                          <p:attrName>style.visibility</p:attrName>
                                        </p:attrNameLst>
                                      </p:cBhvr>
                                      <p:to>
                                        <p:strVal val="visible"/>
                                      </p:to>
                                    </p:set>
                                    <p:animEffect filter="fade" transition="in">
                                      <p:cBhvr>
                                        <p:cTn dur="500"/>
                                        <p:tgtEl>
                                          <p:spTgt spid="3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34"/>
                                        </p:tgtEl>
                                      </p:cBhvr>
                                    </p:animEffect>
                                    <p:set>
                                      <p:cBhvr>
                                        <p:cTn dur="1" fill="hold">
                                          <p:stCondLst>
                                            <p:cond delay="500"/>
                                          </p:stCondLst>
                                        </p:cTn>
                                        <p:tgtEl>
                                          <p:spTgt spid="393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935"/>
                                        </p:tgtEl>
                                        <p:attrNameLst>
                                          <p:attrName>style.visibility</p:attrName>
                                        </p:attrNameLst>
                                      </p:cBhvr>
                                      <p:to>
                                        <p:strVal val="visible"/>
                                      </p:to>
                                    </p:set>
                                    <p:animEffect filter="fade" transition="in">
                                      <p:cBhvr>
                                        <p:cTn dur="500"/>
                                        <p:tgtEl>
                                          <p:spTgt spid="3935"/>
                                        </p:tgtEl>
                                      </p:cBhvr>
                                    </p:animEffect>
                                  </p:childTnLst>
                                </p:cTn>
                              </p:par>
                              <p:par>
                                <p:cTn fill="hold" nodeType="withEffect" presetClass="entr" presetID="10" presetSubtype="0">
                                  <p:stCondLst>
                                    <p:cond delay="0"/>
                                  </p:stCondLst>
                                  <p:childTnLst>
                                    <p:set>
                                      <p:cBhvr>
                                        <p:cTn dur="1" fill="hold">
                                          <p:stCondLst>
                                            <p:cond delay="0"/>
                                          </p:stCondLst>
                                        </p:cTn>
                                        <p:tgtEl>
                                          <p:spTgt spid="3915"/>
                                        </p:tgtEl>
                                        <p:attrNameLst>
                                          <p:attrName>style.visibility</p:attrName>
                                        </p:attrNameLst>
                                      </p:cBhvr>
                                      <p:to>
                                        <p:strVal val="visible"/>
                                      </p:to>
                                    </p:set>
                                    <p:animEffect filter="fade" transition="in">
                                      <p:cBhvr>
                                        <p:cTn dur="500"/>
                                        <p:tgtEl>
                                          <p:spTgt spid="39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1" name="Shape 3941"/>
        <p:cNvGrpSpPr/>
        <p:nvPr/>
      </p:nvGrpSpPr>
      <p:grpSpPr>
        <a:xfrm>
          <a:off x="0" y="0"/>
          <a:ext cx="0" cy="0"/>
          <a:chOff x="0" y="0"/>
          <a:chExt cx="0" cy="0"/>
        </a:xfrm>
      </p:grpSpPr>
      <p:sp>
        <p:nvSpPr>
          <p:cNvPr id="3942" name="Google Shape;3942;p6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3943" name="Google Shape;3943;p65"/>
          <p:cNvSpPr txBox="1"/>
          <p:nvPr/>
        </p:nvSpPr>
        <p:spPr>
          <a:xfrm>
            <a:off x="1363148" y="15124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944" name="Google Shape;3944;p65"/>
          <p:cNvSpPr txBox="1"/>
          <p:nvPr/>
        </p:nvSpPr>
        <p:spPr>
          <a:xfrm>
            <a:off x="3803136" y="1507725"/>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945" name="Google Shape;3945;p65"/>
          <p:cNvSpPr txBox="1"/>
          <p:nvPr/>
        </p:nvSpPr>
        <p:spPr>
          <a:xfrm>
            <a:off x="3806311" y="31317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946" name="Google Shape;3946;p65"/>
          <p:cNvSpPr txBox="1"/>
          <p:nvPr/>
        </p:nvSpPr>
        <p:spPr>
          <a:xfrm>
            <a:off x="3812661" y="39874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947" name="Google Shape;3947;p65"/>
          <p:cNvSpPr txBox="1"/>
          <p:nvPr/>
        </p:nvSpPr>
        <p:spPr>
          <a:xfrm>
            <a:off x="3809486" y="24459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48" name="Google Shape;3948;p65"/>
          <p:cNvSpPr txBox="1"/>
          <p:nvPr/>
        </p:nvSpPr>
        <p:spPr>
          <a:xfrm>
            <a:off x="3806311" y="33571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949" name="Google Shape;3949;p65"/>
          <p:cNvSpPr txBox="1"/>
          <p:nvPr/>
        </p:nvSpPr>
        <p:spPr>
          <a:xfrm>
            <a:off x="3806311" y="41826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50" name="Google Shape;3950;p65"/>
          <p:cNvSpPr txBox="1"/>
          <p:nvPr/>
        </p:nvSpPr>
        <p:spPr>
          <a:xfrm>
            <a:off x="1291711" y="26951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951" name="Google Shape;3951;p65"/>
          <p:cNvSpPr txBox="1"/>
          <p:nvPr/>
        </p:nvSpPr>
        <p:spPr>
          <a:xfrm>
            <a:off x="1136136" y="3788962"/>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52" name="Google Shape;3952;p65"/>
          <p:cNvSpPr txBox="1"/>
          <p:nvPr/>
        </p:nvSpPr>
        <p:spPr>
          <a:xfrm>
            <a:off x="1136136" y="29142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953" name="Google Shape;3953;p65"/>
          <p:cNvSpPr txBox="1"/>
          <p:nvPr/>
        </p:nvSpPr>
        <p:spPr>
          <a:xfrm>
            <a:off x="1280598" y="3549250"/>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954" name="Google Shape;3954;p65"/>
          <p:cNvSpPr txBox="1"/>
          <p:nvPr/>
        </p:nvSpPr>
        <p:spPr>
          <a:xfrm>
            <a:off x="1125023" y="19522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55" name="Google Shape;3955;p65"/>
          <p:cNvSpPr txBox="1"/>
          <p:nvPr/>
        </p:nvSpPr>
        <p:spPr>
          <a:xfrm>
            <a:off x="3801548" y="22348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956" name="Google Shape;3956;p65"/>
          <p:cNvGrpSpPr/>
          <p:nvPr/>
        </p:nvGrpSpPr>
        <p:grpSpPr>
          <a:xfrm>
            <a:off x="2341048" y="2022075"/>
            <a:ext cx="1471613" cy="512762"/>
            <a:chOff x="850" y="1159"/>
            <a:chExt cx="927" cy="323"/>
          </a:xfrm>
        </p:grpSpPr>
        <p:cxnSp>
          <p:nvCxnSpPr>
            <p:cNvPr id="3957" name="Google Shape;3957;p65"/>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58" name="Google Shape;3958;p65"/>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59" name="Google Shape;3959;p65"/>
          <p:cNvGrpSpPr/>
          <p:nvPr/>
        </p:nvGrpSpPr>
        <p:grpSpPr>
          <a:xfrm>
            <a:off x="2334698" y="3758800"/>
            <a:ext cx="1471613" cy="487362"/>
            <a:chOff x="846" y="2253"/>
            <a:chExt cx="927" cy="307"/>
          </a:xfrm>
        </p:grpSpPr>
        <p:cxnSp>
          <p:nvCxnSpPr>
            <p:cNvPr id="3960" name="Google Shape;3960;p65"/>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61" name="Google Shape;3961;p65"/>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62" name="Google Shape;3962;p65"/>
          <p:cNvGrpSpPr/>
          <p:nvPr/>
        </p:nvGrpSpPr>
        <p:grpSpPr>
          <a:xfrm>
            <a:off x="2348986" y="2896787"/>
            <a:ext cx="1471612" cy="504825"/>
            <a:chOff x="855" y="1710"/>
            <a:chExt cx="927" cy="318"/>
          </a:xfrm>
        </p:grpSpPr>
        <p:cxnSp>
          <p:nvCxnSpPr>
            <p:cNvPr id="3963" name="Google Shape;3963;p6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64" name="Google Shape;3964;p65"/>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965" name="Google Shape;3965;p65"/>
          <p:cNvGrpSpPr/>
          <p:nvPr/>
        </p:nvGrpSpPr>
        <p:grpSpPr>
          <a:xfrm>
            <a:off x="2334698" y="3361925"/>
            <a:ext cx="1471613" cy="471487"/>
            <a:chOff x="846" y="2003"/>
            <a:chExt cx="927" cy="297"/>
          </a:xfrm>
        </p:grpSpPr>
        <p:cxnSp>
          <p:nvCxnSpPr>
            <p:cNvPr id="3966" name="Google Shape;3966;p65"/>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67" name="Google Shape;3967;p65"/>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968" name="Google Shape;3968;p65"/>
          <p:cNvGrpSpPr/>
          <p:nvPr/>
        </p:nvGrpSpPr>
        <p:grpSpPr>
          <a:xfrm>
            <a:off x="2326761" y="2522137"/>
            <a:ext cx="1471612" cy="455613"/>
            <a:chOff x="841" y="1474"/>
            <a:chExt cx="927" cy="287"/>
          </a:xfrm>
        </p:grpSpPr>
        <p:cxnSp>
          <p:nvCxnSpPr>
            <p:cNvPr id="3969" name="Google Shape;3969;p65"/>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70" name="Google Shape;3970;p65"/>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971" name="Google Shape;3971;p65"/>
          <p:cNvGrpSpPr/>
          <p:nvPr/>
        </p:nvGrpSpPr>
        <p:grpSpPr>
          <a:xfrm>
            <a:off x="2320411" y="4214412"/>
            <a:ext cx="1471612" cy="461963"/>
            <a:chOff x="837" y="2540"/>
            <a:chExt cx="927" cy="291"/>
          </a:xfrm>
        </p:grpSpPr>
        <p:cxnSp>
          <p:nvCxnSpPr>
            <p:cNvPr id="3972" name="Google Shape;3972;p65"/>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73" name="Google Shape;3973;p65"/>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3974" name="Google Shape;3974;p65"/>
          <p:cNvSpPr txBox="1"/>
          <p:nvPr/>
        </p:nvSpPr>
        <p:spPr>
          <a:xfrm>
            <a:off x="2628386" y="5293912"/>
            <a:ext cx="12525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 no loss</a:t>
            </a:r>
            <a:endParaRPr/>
          </a:p>
        </p:txBody>
      </p:sp>
      <p:sp>
        <p:nvSpPr>
          <p:cNvPr id="3975" name="Google Shape;3975;p65"/>
          <p:cNvSpPr txBox="1"/>
          <p:nvPr/>
        </p:nvSpPr>
        <p:spPr>
          <a:xfrm>
            <a:off x="7079959" y="14616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976" name="Google Shape;3976;p65"/>
          <p:cNvSpPr txBox="1"/>
          <p:nvPr/>
        </p:nvSpPr>
        <p:spPr>
          <a:xfrm>
            <a:off x="9519946" y="1456925"/>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977" name="Google Shape;3977;p65"/>
          <p:cNvSpPr txBox="1"/>
          <p:nvPr/>
        </p:nvSpPr>
        <p:spPr>
          <a:xfrm>
            <a:off x="9521534" y="4373162"/>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978" name="Google Shape;3978;p65"/>
          <p:cNvSpPr txBox="1"/>
          <p:nvPr/>
        </p:nvSpPr>
        <p:spPr>
          <a:xfrm>
            <a:off x="9529471" y="52145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979" name="Google Shape;3979;p65"/>
          <p:cNvSpPr txBox="1"/>
          <p:nvPr/>
        </p:nvSpPr>
        <p:spPr>
          <a:xfrm>
            <a:off x="9526296" y="23951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80" name="Google Shape;3980;p65"/>
          <p:cNvSpPr txBox="1"/>
          <p:nvPr/>
        </p:nvSpPr>
        <p:spPr>
          <a:xfrm>
            <a:off x="9523121" y="45843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981" name="Google Shape;3981;p65"/>
          <p:cNvSpPr txBox="1"/>
          <p:nvPr/>
        </p:nvSpPr>
        <p:spPr>
          <a:xfrm>
            <a:off x="9523121" y="54098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982" name="Google Shape;3982;p65"/>
          <p:cNvSpPr txBox="1"/>
          <p:nvPr/>
        </p:nvSpPr>
        <p:spPr>
          <a:xfrm>
            <a:off x="7008521" y="26443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983" name="Google Shape;3983;p65"/>
          <p:cNvSpPr txBox="1"/>
          <p:nvPr/>
        </p:nvSpPr>
        <p:spPr>
          <a:xfrm>
            <a:off x="6852946" y="501610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84" name="Google Shape;3984;p65"/>
          <p:cNvSpPr txBox="1"/>
          <p:nvPr/>
        </p:nvSpPr>
        <p:spPr>
          <a:xfrm>
            <a:off x="6852946" y="28634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985" name="Google Shape;3985;p65"/>
          <p:cNvSpPr txBox="1"/>
          <p:nvPr/>
        </p:nvSpPr>
        <p:spPr>
          <a:xfrm>
            <a:off x="6997409" y="4776387"/>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986" name="Google Shape;3986;p65"/>
          <p:cNvSpPr txBox="1"/>
          <p:nvPr/>
        </p:nvSpPr>
        <p:spPr>
          <a:xfrm>
            <a:off x="6841834" y="19014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987" name="Google Shape;3987;p65"/>
          <p:cNvSpPr txBox="1"/>
          <p:nvPr/>
        </p:nvSpPr>
        <p:spPr>
          <a:xfrm>
            <a:off x="9518359" y="21840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988" name="Google Shape;3988;p65"/>
          <p:cNvGrpSpPr/>
          <p:nvPr/>
        </p:nvGrpSpPr>
        <p:grpSpPr>
          <a:xfrm>
            <a:off x="8057859" y="1971275"/>
            <a:ext cx="1471612" cy="512762"/>
            <a:chOff x="850" y="1159"/>
            <a:chExt cx="927" cy="323"/>
          </a:xfrm>
        </p:grpSpPr>
        <p:cxnSp>
          <p:nvCxnSpPr>
            <p:cNvPr id="3989" name="Google Shape;3989;p65"/>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90" name="Google Shape;3990;p65"/>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91" name="Google Shape;3991;p65"/>
          <p:cNvGrpSpPr/>
          <p:nvPr/>
        </p:nvGrpSpPr>
        <p:grpSpPr>
          <a:xfrm>
            <a:off x="8051509" y="4985937"/>
            <a:ext cx="1471612" cy="487363"/>
            <a:chOff x="846" y="2253"/>
            <a:chExt cx="927" cy="307"/>
          </a:xfrm>
        </p:grpSpPr>
        <p:cxnSp>
          <p:nvCxnSpPr>
            <p:cNvPr id="3992" name="Google Shape;3992;p65"/>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993" name="Google Shape;3993;p65"/>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994" name="Google Shape;3994;p65"/>
          <p:cNvGrpSpPr/>
          <p:nvPr/>
        </p:nvGrpSpPr>
        <p:grpSpPr>
          <a:xfrm>
            <a:off x="8051509" y="4589062"/>
            <a:ext cx="1471612" cy="471488"/>
            <a:chOff x="846" y="2003"/>
            <a:chExt cx="927" cy="297"/>
          </a:xfrm>
        </p:grpSpPr>
        <p:cxnSp>
          <p:nvCxnSpPr>
            <p:cNvPr id="3995" name="Google Shape;3995;p65"/>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96" name="Google Shape;3996;p65"/>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997" name="Google Shape;3997;p65"/>
          <p:cNvGrpSpPr/>
          <p:nvPr/>
        </p:nvGrpSpPr>
        <p:grpSpPr>
          <a:xfrm>
            <a:off x="8043571" y="2471337"/>
            <a:ext cx="1471613" cy="455613"/>
            <a:chOff x="841" y="1474"/>
            <a:chExt cx="927" cy="287"/>
          </a:xfrm>
        </p:grpSpPr>
        <p:cxnSp>
          <p:nvCxnSpPr>
            <p:cNvPr id="3998" name="Google Shape;3998;p65"/>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999" name="Google Shape;3999;p65"/>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4000" name="Google Shape;4000;p65"/>
          <p:cNvGrpSpPr/>
          <p:nvPr/>
        </p:nvGrpSpPr>
        <p:grpSpPr>
          <a:xfrm>
            <a:off x="8037221" y="5436787"/>
            <a:ext cx="1471613" cy="466725"/>
            <a:chOff x="837" y="2537"/>
            <a:chExt cx="927" cy="294"/>
          </a:xfrm>
        </p:grpSpPr>
        <p:cxnSp>
          <p:nvCxnSpPr>
            <p:cNvPr id="4001" name="Google Shape;4001;p65"/>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02" name="Google Shape;4002;p65"/>
            <p:cNvSpPr txBox="1"/>
            <p:nvPr/>
          </p:nvSpPr>
          <p:spPr>
            <a:xfrm>
              <a:off x="1091" y="2537"/>
              <a:ext cx="3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Tahoma"/>
                <a:buNone/>
              </a:pPr>
              <a:r>
                <a:rPr b="0" i="0" lang="en-US" sz="1600" u="none" cap="none" strike="noStrike">
                  <a:solidFill>
                    <a:srgbClr val="008000"/>
                  </a:solidFill>
                  <a:latin typeface="Tahoma"/>
                  <a:ea typeface="Tahoma"/>
                  <a:cs typeface="Tahoma"/>
                  <a:sym typeface="Tahoma"/>
                </a:rPr>
                <a:t>ack0</a:t>
              </a:r>
              <a:endParaRPr/>
            </a:p>
          </p:txBody>
        </p:sp>
      </p:grpSp>
      <p:sp>
        <p:nvSpPr>
          <p:cNvPr id="4003" name="Google Shape;4003;p65"/>
          <p:cNvSpPr txBox="1"/>
          <p:nvPr/>
        </p:nvSpPr>
        <p:spPr>
          <a:xfrm>
            <a:off x="8130884" y="6207345"/>
            <a:ext cx="16716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(b) packet loss</a:t>
            </a:r>
            <a:endParaRPr/>
          </a:p>
        </p:txBody>
      </p:sp>
      <p:grpSp>
        <p:nvGrpSpPr>
          <p:cNvPr id="4004" name="Google Shape;4004;p65"/>
          <p:cNvGrpSpPr/>
          <p:nvPr/>
        </p:nvGrpSpPr>
        <p:grpSpPr>
          <a:xfrm>
            <a:off x="8065796" y="2845987"/>
            <a:ext cx="1157288" cy="738188"/>
            <a:chOff x="3726" y="1687"/>
            <a:chExt cx="729" cy="465"/>
          </a:xfrm>
        </p:grpSpPr>
        <p:cxnSp>
          <p:nvCxnSpPr>
            <p:cNvPr id="4005" name="Google Shape;4005;p65"/>
            <p:cNvCxnSpPr/>
            <p:nvPr/>
          </p:nvCxnSpPr>
          <p:spPr>
            <a:xfrm>
              <a:off x="3726" y="1780"/>
              <a:ext cx="548" cy="148"/>
            </a:xfrm>
            <a:prstGeom prst="straightConnector1">
              <a:avLst/>
            </a:prstGeom>
            <a:noFill/>
            <a:ln cap="flat" cmpd="sng" w="28575">
              <a:solidFill>
                <a:srgbClr val="000099"/>
              </a:solidFill>
              <a:prstDash val="solid"/>
              <a:round/>
              <a:headEnd len="med" w="med" type="none"/>
              <a:tailEnd len="med" w="med" type="triangle"/>
            </a:ln>
          </p:spPr>
        </p:cxnSp>
        <p:sp>
          <p:nvSpPr>
            <p:cNvPr id="4006" name="Google Shape;4006;p65"/>
            <p:cNvSpPr txBox="1"/>
            <p:nvPr/>
          </p:nvSpPr>
          <p:spPr>
            <a:xfrm>
              <a:off x="3965" y="1687"/>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sp>
          <p:nvSpPr>
            <p:cNvPr id="4007" name="Google Shape;4007;p65"/>
            <p:cNvSpPr txBox="1"/>
            <p:nvPr/>
          </p:nvSpPr>
          <p:spPr>
            <a:xfrm>
              <a:off x="4185" y="1808"/>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008" name="Google Shape;4008;p65"/>
            <p:cNvSpPr txBox="1"/>
            <p:nvPr/>
          </p:nvSpPr>
          <p:spPr>
            <a:xfrm>
              <a:off x="4126" y="1940"/>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4009" name="Google Shape;4009;p65"/>
          <p:cNvGrpSpPr/>
          <p:nvPr/>
        </p:nvGrpSpPr>
        <p:grpSpPr>
          <a:xfrm>
            <a:off x="7946734" y="3149200"/>
            <a:ext cx="122237" cy="1033462"/>
            <a:chOff x="3651" y="1878"/>
            <a:chExt cx="78" cy="963"/>
          </a:xfrm>
        </p:grpSpPr>
        <p:cxnSp>
          <p:nvCxnSpPr>
            <p:cNvPr id="4010" name="Google Shape;4010;p65"/>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011" name="Google Shape;4011;p65"/>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4012" name="Google Shape;4012;p65"/>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4013" name="Google Shape;4013;p65"/>
          <p:cNvGrpSpPr/>
          <p:nvPr/>
        </p:nvGrpSpPr>
        <p:grpSpPr>
          <a:xfrm>
            <a:off x="8075321" y="4138212"/>
            <a:ext cx="1471613" cy="504825"/>
            <a:chOff x="855" y="1710"/>
            <a:chExt cx="927" cy="318"/>
          </a:xfrm>
        </p:grpSpPr>
        <p:cxnSp>
          <p:nvCxnSpPr>
            <p:cNvPr id="4014" name="Google Shape;4014;p6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15" name="Google Shape;4015;p65"/>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016" name="Google Shape;4016;p65"/>
          <p:cNvGrpSpPr/>
          <p:nvPr/>
        </p:nvGrpSpPr>
        <p:grpSpPr>
          <a:xfrm>
            <a:off x="6643396" y="3761975"/>
            <a:ext cx="1377950" cy="731837"/>
            <a:chOff x="2802" y="2348"/>
            <a:chExt cx="868" cy="461"/>
          </a:xfrm>
        </p:grpSpPr>
        <p:pic>
          <p:nvPicPr>
            <p:cNvPr descr="alarm_clock_ringing" id="4017" name="Google Shape;4017;p65"/>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4018" name="Google Shape;4018;p65"/>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4019" name="Google Shape;4019;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6"/>
                                        </p:tgtEl>
                                        <p:attrNameLst>
                                          <p:attrName>style.visibility</p:attrName>
                                        </p:attrNameLst>
                                      </p:cBhvr>
                                      <p:to>
                                        <p:strVal val="visible"/>
                                      </p:to>
                                    </p:set>
                                    <p:animEffect filter="fade" transition="in">
                                      <p:cBhvr>
                                        <p:cTn dur="500"/>
                                        <p:tgtEl>
                                          <p:spTgt spid="39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55">
                                            <p:txEl>
                                              <p:pRg end="0" st="0"/>
                                            </p:txEl>
                                          </p:spTgt>
                                        </p:tgtEl>
                                        <p:attrNameLst>
                                          <p:attrName>style.visibility</p:attrName>
                                        </p:attrNameLst>
                                      </p:cBhvr>
                                      <p:to>
                                        <p:strVal val="visible"/>
                                      </p:to>
                                    </p:set>
                                    <p:animEffect filter="fade" transition="in">
                                      <p:cBhvr>
                                        <p:cTn dur="500"/>
                                        <p:tgtEl>
                                          <p:spTgt spid="39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7"/>
                                        </p:tgtEl>
                                        <p:attrNameLst>
                                          <p:attrName>style.visibility</p:attrName>
                                        </p:attrNameLst>
                                      </p:cBhvr>
                                      <p:to>
                                        <p:strVal val="visible"/>
                                      </p:to>
                                    </p:set>
                                    <p:animEffect filter="fade" transition="in">
                                      <p:cBhvr>
                                        <p:cTn dur="500"/>
                                        <p:tgtEl>
                                          <p:spTgt spid="39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68"/>
                                        </p:tgtEl>
                                        <p:attrNameLst>
                                          <p:attrName>style.visibility</p:attrName>
                                        </p:attrNameLst>
                                      </p:cBhvr>
                                      <p:to>
                                        <p:strVal val="visible"/>
                                      </p:to>
                                    </p:set>
                                    <p:animEffect filter="fade" transition="in">
                                      <p:cBhvr>
                                        <p:cTn dur="500"/>
                                        <p:tgtEl>
                                          <p:spTgt spid="39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50"/>
                                        </p:tgtEl>
                                        <p:attrNameLst>
                                          <p:attrName>style.visibility</p:attrName>
                                        </p:attrNameLst>
                                      </p:cBhvr>
                                      <p:to>
                                        <p:strVal val="visible"/>
                                      </p:to>
                                    </p:set>
                                    <p:animEffect filter="fade" transition="in">
                                      <p:cBhvr>
                                        <p:cTn dur="500"/>
                                        <p:tgtEl>
                                          <p:spTgt spid="39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2"/>
                                        </p:tgtEl>
                                        <p:attrNameLst>
                                          <p:attrName>style.visibility</p:attrName>
                                        </p:attrNameLst>
                                      </p:cBhvr>
                                      <p:to>
                                        <p:strVal val="visible"/>
                                      </p:to>
                                    </p:set>
                                    <p:animEffect filter="fade" transition="in">
                                      <p:cBhvr>
                                        <p:cTn dur="500"/>
                                        <p:tgtEl>
                                          <p:spTgt spid="395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62"/>
                                        </p:tgtEl>
                                        <p:attrNameLst>
                                          <p:attrName>style.visibility</p:attrName>
                                        </p:attrNameLst>
                                      </p:cBhvr>
                                      <p:to>
                                        <p:strVal val="visible"/>
                                      </p:to>
                                    </p:set>
                                    <p:animEffect filter="fade" transition="in">
                                      <p:cBhvr>
                                        <p:cTn dur="500"/>
                                        <p:tgtEl>
                                          <p:spTgt spid="39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45">
                                            <p:txEl>
                                              <p:pRg end="0" st="0"/>
                                            </p:txEl>
                                          </p:spTgt>
                                        </p:tgtEl>
                                        <p:attrNameLst>
                                          <p:attrName>style.visibility</p:attrName>
                                        </p:attrNameLst>
                                      </p:cBhvr>
                                      <p:to>
                                        <p:strVal val="visible"/>
                                      </p:to>
                                    </p:set>
                                    <p:animEffect filter="fade" transition="in">
                                      <p:cBhvr>
                                        <p:cTn dur="500"/>
                                        <p:tgtEl>
                                          <p:spTgt spid="3945">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48"/>
                                        </p:tgtEl>
                                        <p:attrNameLst>
                                          <p:attrName>style.visibility</p:attrName>
                                        </p:attrNameLst>
                                      </p:cBhvr>
                                      <p:to>
                                        <p:strVal val="visible"/>
                                      </p:to>
                                    </p:set>
                                    <p:animEffect filter="fade" transition="in">
                                      <p:cBhvr>
                                        <p:cTn dur="500"/>
                                        <p:tgtEl>
                                          <p:spTgt spid="394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65"/>
                                        </p:tgtEl>
                                        <p:attrNameLst>
                                          <p:attrName>style.visibility</p:attrName>
                                        </p:attrNameLst>
                                      </p:cBhvr>
                                      <p:to>
                                        <p:strVal val="visible"/>
                                      </p:to>
                                    </p:set>
                                    <p:animEffect filter="fade" transition="in">
                                      <p:cBhvr>
                                        <p:cTn dur="500"/>
                                        <p:tgtEl>
                                          <p:spTgt spid="396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953"/>
                                        </p:tgtEl>
                                        <p:attrNameLst>
                                          <p:attrName>style.visibility</p:attrName>
                                        </p:attrNameLst>
                                      </p:cBhvr>
                                      <p:to>
                                        <p:strVal val="visible"/>
                                      </p:to>
                                    </p:set>
                                    <p:animEffect filter="fade" transition="in">
                                      <p:cBhvr>
                                        <p:cTn dur="500"/>
                                        <p:tgtEl>
                                          <p:spTgt spid="395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51"/>
                                        </p:tgtEl>
                                        <p:attrNameLst>
                                          <p:attrName>style.visibility</p:attrName>
                                        </p:attrNameLst>
                                      </p:cBhvr>
                                      <p:to>
                                        <p:strVal val="visible"/>
                                      </p:to>
                                    </p:set>
                                    <p:animEffect filter="fade" transition="in">
                                      <p:cBhvr>
                                        <p:cTn dur="500"/>
                                        <p:tgtEl>
                                          <p:spTgt spid="395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959"/>
                                        </p:tgtEl>
                                        <p:attrNameLst>
                                          <p:attrName>style.visibility</p:attrName>
                                        </p:attrNameLst>
                                      </p:cBhvr>
                                      <p:to>
                                        <p:strVal val="visible"/>
                                      </p:to>
                                    </p:set>
                                    <p:animEffect filter="fade" transition="in">
                                      <p:cBhvr>
                                        <p:cTn dur="500"/>
                                        <p:tgtEl>
                                          <p:spTgt spid="395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46"/>
                                        </p:tgtEl>
                                        <p:attrNameLst>
                                          <p:attrName>style.visibility</p:attrName>
                                        </p:attrNameLst>
                                      </p:cBhvr>
                                      <p:to>
                                        <p:strVal val="visible"/>
                                      </p:to>
                                    </p:set>
                                    <p:animEffect filter="fade" transition="in">
                                      <p:cBhvr>
                                        <p:cTn dur="500"/>
                                        <p:tgtEl>
                                          <p:spTgt spid="3946"/>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949">
                                            <p:txEl>
                                              <p:pRg end="0" st="0"/>
                                            </p:txEl>
                                          </p:spTgt>
                                        </p:tgtEl>
                                        <p:attrNameLst>
                                          <p:attrName>style.visibility</p:attrName>
                                        </p:attrNameLst>
                                      </p:cBhvr>
                                      <p:to>
                                        <p:strVal val="visible"/>
                                      </p:to>
                                    </p:set>
                                    <p:animEffect filter="fade" transition="in">
                                      <p:cBhvr>
                                        <p:cTn dur="500"/>
                                        <p:tgtEl>
                                          <p:spTgt spid="3949">
                                            <p:txEl>
                                              <p:pRg end="0" st="0"/>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971"/>
                                        </p:tgtEl>
                                        <p:attrNameLst>
                                          <p:attrName>style.visibility</p:attrName>
                                        </p:attrNameLst>
                                      </p:cBhvr>
                                      <p:to>
                                        <p:strVal val="visible"/>
                                      </p:to>
                                    </p:set>
                                    <p:animEffect filter="fade" transition="in">
                                      <p:cBhvr>
                                        <p:cTn dur="500"/>
                                        <p:tgtEl>
                                          <p:spTgt spid="39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8"/>
                                        </p:tgtEl>
                                        <p:attrNameLst>
                                          <p:attrName>style.visibility</p:attrName>
                                        </p:attrNameLst>
                                      </p:cBhvr>
                                      <p:to>
                                        <p:strVal val="visible"/>
                                      </p:to>
                                    </p:set>
                                    <p:animEffect filter="fade" transition="in">
                                      <p:cBhvr>
                                        <p:cTn dur="500"/>
                                        <p:tgtEl>
                                          <p:spTgt spid="39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87">
                                            <p:txEl>
                                              <p:pRg end="0" st="0"/>
                                            </p:txEl>
                                          </p:spTgt>
                                        </p:tgtEl>
                                        <p:attrNameLst>
                                          <p:attrName>style.visibility</p:attrName>
                                        </p:attrNameLst>
                                      </p:cBhvr>
                                      <p:to>
                                        <p:strVal val="visible"/>
                                      </p:to>
                                    </p:set>
                                    <p:animEffect filter="fade" transition="in">
                                      <p:cBhvr>
                                        <p:cTn dur="500"/>
                                        <p:tgtEl>
                                          <p:spTgt spid="398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79"/>
                                        </p:tgtEl>
                                        <p:attrNameLst>
                                          <p:attrName>style.visibility</p:attrName>
                                        </p:attrNameLst>
                                      </p:cBhvr>
                                      <p:to>
                                        <p:strVal val="visible"/>
                                      </p:to>
                                    </p:set>
                                    <p:animEffect filter="fade" transition="in">
                                      <p:cBhvr>
                                        <p:cTn dur="500"/>
                                        <p:tgtEl>
                                          <p:spTgt spid="397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97"/>
                                        </p:tgtEl>
                                        <p:attrNameLst>
                                          <p:attrName>style.visibility</p:attrName>
                                        </p:attrNameLst>
                                      </p:cBhvr>
                                      <p:to>
                                        <p:strVal val="visible"/>
                                      </p:to>
                                    </p:set>
                                    <p:animEffect filter="fade" transition="in">
                                      <p:cBhvr>
                                        <p:cTn dur="500"/>
                                        <p:tgtEl>
                                          <p:spTgt spid="399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82"/>
                                        </p:tgtEl>
                                        <p:attrNameLst>
                                          <p:attrName>style.visibility</p:attrName>
                                        </p:attrNameLst>
                                      </p:cBhvr>
                                      <p:to>
                                        <p:strVal val="visible"/>
                                      </p:to>
                                    </p:set>
                                    <p:animEffect filter="fade" transition="in">
                                      <p:cBhvr>
                                        <p:cTn dur="500"/>
                                        <p:tgtEl>
                                          <p:spTgt spid="398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984"/>
                                        </p:tgtEl>
                                        <p:attrNameLst>
                                          <p:attrName>style.visibility</p:attrName>
                                        </p:attrNameLst>
                                      </p:cBhvr>
                                      <p:to>
                                        <p:strVal val="visible"/>
                                      </p:to>
                                    </p:set>
                                    <p:animEffect filter="fade" transition="in">
                                      <p:cBhvr>
                                        <p:cTn dur="500"/>
                                        <p:tgtEl>
                                          <p:spTgt spid="398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04"/>
                                        </p:tgtEl>
                                        <p:attrNameLst>
                                          <p:attrName>style.visibility</p:attrName>
                                        </p:attrNameLst>
                                      </p:cBhvr>
                                      <p:to>
                                        <p:strVal val="visible"/>
                                      </p:to>
                                    </p:set>
                                    <p:animEffect filter="fade" transition="in">
                                      <p:cBhvr>
                                        <p:cTn dur="500"/>
                                        <p:tgtEl>
                                          <p:spTgt spid="40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9"/>
                                        </p:tgtEl>
                                        <p:attrNameLst>
                                          <p:attrName>style.visibility</p:attrName>
                                        </p:attrNameLst>
                                      </p:cBhvr>
                                      <p:to>
                                        <p:strVal val="visible"/>
                                      </p:to>
                                    </p:set>
                                    <p:animEffect filter="fade" transition="in">
                                      <p:cBhvr>
                                        <p:cTn dur="1000"/>
                                        <p:tgtEl>
                                          <p:spTgt spid="40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16"/>
                                        </p:tgtEl>
                                        <p:attrNameLst>
                                          <p:attrName>style.visibility</p:attrName>
                                        </p:attrNameLst>
                                      </p:cBhvr>
                                      <p:to>
                                        <p:strVal val="visible"/>
                                      </p:to>
                                    </p:set>
                                    <p:animEffect filter="fade" transition="in">
                                      <p:cBhvr>
                                        <p:cTn dur="500"/>
                                        <p:tgtEl>
                                          <p:spTgt spid="40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3"/>
                                        </p:tgtEl>
                                        <p:attrNameLst>
                                          <p:attrName>style.visibility</p:attrName>
                                        </p:attrNameLst>
                                      </p:cBhvr>
                                      <p:to>
                                        <p:strVal val="visible"/>
                                      </p:to>
                                    </p:set>
                                    <p:animEffect filter="fade" transition="in">
                                      <p:cBhvr>
                                        <p:cTn dur="500"/>
                                        <p:tgtEl>
                                          <p:spTgt spid="401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77">
                                            <p:txEl>
                                              <p:pRg end="0" st="0"/>
                                            </p:txEl>
                                          </p:spTgt>
                                        </p:tgtEl>
                                        <p:attrNameLst>
                                          <p:attrName>style.visibility</p:attrName>
                                        </p:attrNameLst>
                                      </p:cBhvr>
                                      <p:to>
                                        <p:strVal val="visible"/>
                                      </p:to>
                                    </p:set>
                                    <p:animEffect filter="fade" transition="in">
                                      <p:cBhvr>
                                        <p:cTn dur="500"/>
                                        <p:tgtEl>
                                          <p:spTgt spid="397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80"/>
                                        </p:tgtEl>
                                        <p:attrNameLst>
                                          <p:attrName>style.visibility</p:attrName>
                                        </p:attrNameLst>
                                      </p:cBhvr>
                                      <p:to>
                                        <p:strVal val="visible"/>
                                      </p:to>
                                    </p:set>
                                    <p:animEffect filter="fade" transition="in">
                                      <p:cBhvr>
                                        <p:cTn dur="500"/>
                                        <p:tgtEl>
                                          <p:spTgt spid="398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94"/>
                                        </p:tgtEl>
                                        <p:attrNameLst>
                                          <p:attrName>style.visibility</p:attrName>
                                        </p:attrNameLst>
                                      </p:cBhvr>
                                      <p:to>
                                        <p:strVal val="visible"/>
                                      </p:to>
                                    </p:set>
                                    <p:animEffect filter="fade" transition="in">
                                      <p:cBhvr>
                                        <p:cTn dur="500"/>
                                        <p:tgtEl>
                                          <p:spTgt spid="399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85"/>
                                        </p:tgtEl>
                                        <p:attrNameLst>
                                          <p:attrName>style.visibility</p:attrName>
                                        </p:attrNameLst>
                                      </p:cBhvr>
                                      <p:to>
                                        <p:strVal val="visible"/>
                                      </p:to>
                                    </p:set>
                                    <p:animEffect filter="fade" transition="in">
                                      <p:cBhvr>
                                        <p:cTn dur="500"/>
                                        <p:tgtEl>
                                          <p:spTgt spid="398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983"/>
                                        </p:tgtEl>
                                        <p:attrNameLst>
                                          <p:attrName>style.visibility</p:attrName>
                                        </p:attrNameLst>
                                      </p:cBhvr>
                                      <p:to>
                                        <p:strVal val="visible"/>
                                      </p:to>
                                    </p:set>
                                    <p:animEffect filter="fade" transition="in">
                                      <p:cBhvr>
                                        <p:cTn dur="500"/>
                                        <p:tgtEl>
                                          <p:spTgt spid="398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91"/>
                                        </p:tgtEl>
                                        <p:attrNameLst>
                                          <p:attrName>style.visibility</p:attrName>
                                        </p:attrNameLst>
                                      </p:cBhvr>
                                      <p:to>
                                        <p:strVal val="visible"/>
                                      </p:to>
                                    </p:set>
                                    <p:animEffect filter="fade" transition="in">
                                      <p:cBhvr>
                                        <p:cTn dur="500"/>
                                        <p:tgtEl>
                                          <p:spTgt spid="399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978"/>
                                        </p:tgtEl>
                                        <p:attrNameLst>
                                          <p:attrName>style.visibility</p:attrName>
                                        </p:attrNameLst>
                                      </p:cBhvr>
                                      <p:to>
                                        <p:strVal val="visible"/>
                                      </p:to>
                                    </p:set>
                                    <p:animEffect filter="fade" transition="in">
                                      <p:cBhvr>
                                        <p:cTn dur="500"/>
                                        <p:tgtEl>
                                          <p:spTgt spid="397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81">
                                            <p:txEl>
                                              <p:pRg end="0" st="0"/>
                                            </p:txEl>
                                          </p:spTgt>
                                        </p:tgtEl>
                                        <p:attrNameLst>
                                          <p:attrName>style.visibility</p:attrName>
                                        </p:attrNameLst>
                                      </p:cBhvr>
                                      <p:to>
                                        <p:strVal val="visible"/>
                                      </p:to>
                                    </p:set>
                                    <p:animEffect filter="fade" transition="in">
                                      <p:cBhvr>
                                        <p:cTn dur="500"/>
                                        <p:tgtEl>
                                          <p:spTgt spid="3981">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00"/>
                                        </p:tgtEl>
                                        <p:attrNameLst>
                                          <p:attrName>style.visibility</p:attrName>
                                        </p:attrNameLst>
                                      </p:cBhvr>
                                      <p:to>
                                        <p:strVal val="visible"/>
                                      </p:to>
                                    </p:set>
                                    <p:animEffect filter="fade" transition="in">
                                      <p:cBhvr>
                                        <p:cTn dur="500"/>
                                        <p:tgtEl>
                                          <p:spTgt spid="4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4" name="Shape 4024"/>
        <p:cNvGrpSpPr/>
        <p:nvPr/>
      </p:nvGrpSpPr>
      <p:grpSpPr>
        <a:xfrm>
          <a:off x="0" y="0"/>
          <a:ext cx="0" cy="0"/>
          <a:chOff x="0" y="0"/>
          <a:chExt cx="0" cy="0"/>
        </a:xfrm>
      </p:grpSpPr>
      <p:sp>
        <p:nvSpPr>
          <p:cNvPr id="4025" name="Google Shape;4025;p6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4026" name="Google Shape;4026;p66"/>
          <p:cNvSpPr txBox="1"/>
          <p:nvPr/>
        </p:nvSpPr>
        <p:spPr>
          <a:xfrm>
            <a:off x="3808470" y="3116226"/>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27" name="Google Shape;4027;p66"/>
          <p:cNvSpPr txBox="1"/>
          <p:nvPr/>
        </p:nvSpPr>
        <p:spPr>
          <a:xfrm>
            <a:off x="3808470" y="33416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4028" name="Google Shape;4028;p66"/>
          <p:cNvSpPr txBox="1"/>
          <p:nvPr/>
        </p:nvSpPr>
        <p:spPr>
          <a:xfrm>
            <a:off x="3789420" y="4532276"/>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4029" name="Google Shape;4029;p66"/>
          <p:cNvGrpSpPr/>
          <p:nvPr/>
        </p:nvGrpSpPr>
        <p:grpSpPr>
          <a:xfrm>
            <a:off x="2340033" y="2889213"/>
            <a:ext cx="1471612" cy="504825"/>
            <a:chOff x="855" y="1710"/>
            <a:chExt cx="927" cy="318"/>
          </a:xfrm>
        </p:grpSpPr>
        <p:cxnSp>
          <p:nvCxnSpPr>
            <p:cNvPr id="4030" name="Google Shape;4030;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31" name="Google Shape;4031;p66"/>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4032" name="Google Shape;4032;p66"/>
          <p:cNvSpPr txBox="1"/>
          <p:nvPr/>
        </p:nvSpPr>
        <p:spPr>
          <a:xfrm>
            <a:off x="1352608" y="1508088"/>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033" name="Google Shape;4033;p66"/>
          <p:cNvSpPr txBox="1"/>
          <p:nvPr/>
        </p:nvSpPr>
        <p:spPr>
          <a:xfrm>
            <a:off x="3792595" y="1503326"/>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4034" name="Google Shape;4034;p66"/>
          <p:cNvSpPr txBox="1"/>
          <p:nvPr/>
        </p:nvSpPr>
        <p:spPr>
          <a:xfrm>
            <a:off x="3805295" y="426398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35" name="Google Shape;4035;p66"/>
          <p:cNvSpPr txBox="1"/>
          <p:nvPr/>
        </p:nvSpPr>
        <p:spPr>
          <a:xfrm>
            <a:off x="3802120" y="52609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4036" name="Google Shape;4036;p66"/>
          <p:cNvSpPr txBox="1"/>
          <p:nvPr/>
        </p:nvSpPr>
        <p:spPr>
          <a:xfrm>
            <a:off x="3798945" y="2441538"/>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4037" name="Google Shape;4037;p66"/>
          <p:cNvSpPr txBox="1"/>
          <p:nvPr/>
        </p:nvSpPr>
        <p:spPr>
          <a:xfrm>
            <a:off x="3817995" y="46862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4038" name="Google Shape;4038;p66"/>
          <p:cNvSpPr txBox="1"/>
          <p:nvPr/>
        </p:nvSpPr>
        <p:spPr>
          <a:xfrm>
            <a:off x="3795770" y="545620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4039" name="Google Shape;4039;p66"/>
          <p:cNvSpPr txBox="1"/>
          <p:nvPr/>
        </p:nvSpPr>
        <p:spPr>
          <a:xfrm>
            <a:off x="1281170" y="2690776"/>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4040" name="Google Shape;4040;p66"/>
          <p:cNvSpPr txBox="1"/>
          <p:nvPr/>
        </p:nvSpPr>
        <p:spPr>
          <a:xfrm>
            <a:off x="1125595" y="506250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041" name="Google Shape;4041;p66"/>
          <p:cNvSpPr txBox="1"/>
          <p:nvPr/>
        </p:nvSpPr>
        <p:spPr>
          <a:xfrm>
            <a:off x="1125595" y="290985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4042" name="Google Shape;4042;p66"/>
          <p:cNvSpPr txBox="1"/>
          <p:nvPr/>
        </p:nvSpPr>
        <p:spPr>
          <a:xfrm>
            <a:off x="1270058" y="48227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4043" name="Google Shape;4043;p66"/>
          <p:cNvSpPr txBox="1"/>
          <p:nvPr/>
        </p:nvSpPr>
        <p:spPr>
          <a:xfrm>
            <a:off x="1114483" y="1947826"/>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044" name="Google Shape;4044;p66"/>
          <p:cNvSpPr txBox="1"/>
          <p:nvPr/>
        </p:nvSpPr>
        <p:spPr>
          <a:xfrm>
            <a:off x="3791008" y="22304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4045" name="Google Shape;4045;p66"/>
          <p:cNvGrpSpPr/>
          <p:nvPr/>
        </p:nvGrpSpPr>
        <p:grpSpPr>
          <a:xfrm>
            <a:off x="2330508" y="2017676"/>
            <a:ext cx="1471612" cy="512762"/>
            <a:chOff x="850" y="1159"/>
            <a:chExt cx="927" cy="323"/>
          </a:xfrm>
        </p:grpSpPr>
        <p:cxnSp>
          <p:nvCxnSpPr>
            <p:cNvPr id="4046" name="Google Shape;4046;p66"/>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47" name="Google Shape;4047;p66"/>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048" name="Google Shape;4048;p66"/>
          <p:cNvGrpSpPr/>
          <p:nvPr/>
        </p:nvGrpSpPr>
        <p:grpSpPr>
          <a:xfrm>
            <a:off x="2324158" y="5032338"/>
            <a:ext cx="1471612" cy="487363"/>
            <a:chOff x="846" y="2253"/>
            <a:chExt cx="927" cy="307"/>
          </a:xfrm>
        </p:grpSpPr>
        <p:cxnSp>
          <p:nvCxnSpPr>
            <p:cNvPr id="4049" name="Google Shape;4049;p66"/>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50" name="Google Shape;4050;p66"/>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051" name="Google Shape;4051;p66"/>
          <p:cNvGrpSpPr/>
          <p:nvPr/>
        </p:nvGrpSpPr>
        <p:grpSpPr>
          <a:xfrm>
            <a:off x="2324158" y="4635463"/>
            <a:ext cx="1471612" cy="471488"/>
            <a:chOff x="846" y="2003"/>
            <a:chExt cx="927" cy="297"/>
          </a:xfrm>
        </p:grpSpPr>
        <p:cxnSp>
          <p:nvCxnSpPr>
            <p:cNvPr id="4052" name="Google Shape;4052;p66"/>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53" name="Google Shape;4053;p66"/>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4054" name="Google Shape;4054;p66"/>
          <p:cNvGrpSpPr/>
          <p:nvPr/>
        </p:nvGrpSpPr>
        <p:grpSpPr>
          <a:xfrm>
            <a:off x="2316220" y="2517738"/>
            <a:ext cx="1471613" cy="455613"/>
            <a:chOff x="841" y="1474"/>
            <a:chExt cx="927" cy="287"/>
          </a:xfrm>
        </p:grpSpPr>
        <p:cxnSp>
          <p:nvCxnSpPr>
            <p:cNvPr id="4055" name="Google Shape;4055;p66"/>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56" name="Google Shape;4056;p66"/>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4057" name="Google Shape;4057;p66"/>
          <p:cNvGrpSpPr/>
          <p:nvPr/>
        </p:nvGrpSpPr>
        <p:grpSpPr>
          <a:xfrm>
            <a:off x="2309870" y="5487951"/>
            <a:ext cx="1471613" cy="461962"/>
            <a:chOff x="837" y="2540"/>
            <a:chExt cx="927" cy="291"/>
          </a:xfrm>
        </p:grpSpPr>
        <p:cxnSp>
          <p:nvCxnSpPr>
            <p:cNvPr id="4058" name="Google Shape;4058;p66"/>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59" name="Google Shape;4059;p66"/>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4060" name="Google Shape;4060;p66"/>
          <p:cNvSpPr txBox="1"/>
          <p:nvPr/>
        </p:nvSpPr>
        <p:spPr>
          <a:xfrm>
            <a:off x="2108258" y="6200738"/>
            <a:ext cx="13938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 ACK loss</a:t>
            </a:r>
            <a:endParaRPr/>
          </a:p>
        </p:txBody>
      </p:sp>
      <p:grpSp>
        <p:nvGrpSpPr>
          <p:cNvPr id="4061" name="Google Shape;4061;p66"/>
          <p:cNvGrpSpPr/>
          <p:nvPr/>
        </p:nvGrpSpPr>
        <p:grpSpPr>
          <a:xfrm>
            <a:off x="2595620" y="3289263"/>
            <a:ext cx="1212850" cy="719138"/>
            <a:chOff x="1324" y="1931"/>
            <a:chExt cx="764" cy="453"/>
          </a:xfrm>
        </p:grpSpPr>
        <p:cxnSp>
          <p:nvCxnSpPr>
            <p:cNvPr id="4062" name="Google Shape;4062;p66"/>
            <p:cNvCxnSpPr/>
            <p:nvPr/>
          </p:nvCxnSpPr>
          <p:spPr>
            <a:xfrm flipH="1">
              <a:off x="1514" y="2031"/>
              <a:ext cx="574" cy="132"/>
            </a:xfrm>
            <a:prstGeom prst="straightConnector1">
              <a:avLst/>
            </a:prstGeom>
            <a:noFill/>
            <a:ln cap="flat" cmpd="sng" w="28575">
              <a:solidFill>
                <a:srgbClr val="008000"/>
              </a:solidFill>
              <a:prstDash val="solid"/>
              <a:round/>
              <a:headEnd len="med" w="med" type="none"/>
              <a:tailEnd len="med" w="med" type="triangle"/>
            </a:ln>
          </p:spPr>
        </p:cxnSp>
        <p:sp>
          <p:nvSpPr>
            <p:cNvPr id="4063" name="Google Shape;4063;p66"/>
            <p:cNvSpPr txBox="1"/>
            <p:nvPr/>
          </p:nvSpPr>
          <p:spPr>
            <a:xfrm>
              <a:off x="1456" y="1931"/>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sp>
          <p:nvSpPr>
            <p:cNvPr id="4064" name="Google Shape;4064;p66"/>
            <p:cNvSpPr txBox="1"/>
            <p:nvPr/>
          </p:nvSpPr>
          <p:spPr>
            <a:xfrm>
              <a:off x="1383" y="2040"/>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065" name="Google Shape;4065;p66"/>
            <p:cNvSpPr txBox="1"/>
            <p:nvPr/>
          </p:nvSpPr>
          <p:spPr>
            <a:xfrm>
              <a:off x="1324" y="2172"/>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4066" name="Google Shape;4066;p66"/>
          <p:cNvGrpSpPr/>
          <p:nvPr/>
        </p:nvGrpSpPr>
        <p:grpSpPr>
          <a:xfrm>
            <a:off x="2219383" y="3195601"/>
            <a:ext cx="122237" cy="1033462"/>
            <a:chOff x="3651" y="1878"/>
            <a:chExt cx="78" cy="963"/>
          </a:xfrm>
        </p:grpSpPr>
        <p:cxnSp>
          <p:nvCxnSpPr>
            <p:cNvPr id="4067" name="Google Shape;4067;p66"/>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068" name="Google Shape;4068;p66"/>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4069" name="Google Shape;4069;p66"/>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4070" name="Google Shape;4070;p66"/>
          <p:cNvGrpSpPr/>
          <p:nvPr/>
        </p:nvGrpSpPr>
        <p:grpSpPr>
          <a:xfrm>
            <a:off x="2347970" y="4184613"/>
            <a:ext cx="1471613" cy="504825"/>
            <a:chOff x="855" y="1710"/>
            <a:chExt cx="927" cy="318"/>
          </a:xfrm>
        </p:grpSpPr>
        <p:cxnSp>
          <p:nvCxnSpPr>
            <p:cNvPr id="4071" name="Google Shape;4071;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72" name="Google Shape;4072;p66"/>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073" name="Google Shape;4073;p66"/>
          <p:cNvGrpSpPr/>
          <p:nvPr/>
        </p:nvGrpSpPr>
        <p:grpSpPr>
          <a:xfrm>
            <a:off x="916045" y="3808376"/>
            <a:ext cx="1377950" cy="731837"/>
            <a:chOff x="2802" y="2348"/>
            <a:chExt cx="868" cy="461"/>
          </a:xfrm>
        </p:grpSpPr>
        <p:pic>
          <p:nvPicPr>
            <p:cNvPr descr="alarm_clock_ringing" id="4074" name="Google Shape;4074;p66"/>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4075" name="Google Shape;4075;p66"/>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4076" name="Google Shape;4076;p66"/>
          <p:cNvSpPr txBox="1"/>
          <p:nvPr/>
        </p:nvSpPr>
        <p:spPr>
          <a:xfrm>
            <a:off x="9492400" y="26447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77" name="Google Shape;4077;p66"/>
          <p:cNvSpPr txBox="1"/>
          <p:nvPr/>
        </p:nvSpPr>
        <p:spPr>
          <a:xfrm>
            <a:off x="9492400" y="28701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4078" name="Google Shape;4078;p66"/>
          <p:cNvSpPr txBox="1"/>
          <p:nvPr/>
        </p:nvSpPr>
        <p:spPr>
          <a:xfrm>
            <a:off x="9432963" y="4166394"/>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4079" name="Google Shape;4079;p66"/>
          <p:cNvGrpSpPr/>
          <p:nvPr/>
        </p:nvGrpSpPr>
        <p:grpSpPr>
          <a:xfrm>
            <a:off x="8023963" y="2517742"/>
            <a:ext cx="1471612" cy="404813"/>
            <a:chOff x="855" y="1773"/>
            <a:chExt cx="927" cy="255"/>
          </a:xfrm>
        </p:grpSpPr>
        <p:cxnSp>
          <p:nvCxnSpPr>
            <p:cNvPr id="4080" name="Google Shape;4080;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81" name="Google Shape;4081;p66"/>
            <p:cNvSpPr txBox="1"/>
            <p:nvPr/>
          </p:nvSpPr>
          <p:spPr>
            <a:xfrm>
              <a:off x="1094" y="1773"/>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4082" name="Google Shape;4082;p66"/>
          <p:cNvSpPr txBox="1"/>
          <p:nvPr/>
        </p:nvSpPr>
        <p:spPr>
          <a:xfrm>
            <a:off x="7036538" y="1036601"/>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083" name="Google Shape;4083;p66"/>
          <p:cNvSpPr txBox="1"/>
          <p:nvPr/>
        </p:nvSpPr>
        <p:spPr>
          <a:xfrm>
            <a:off x="9476525" y="1031838"/>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4084" name="Google Shape;4084;p66"/>
          <p:cNvSpPr txBox="1"/>
          <p:nvPr/>
        </p:nvSpPr>
        <p:spPr>
          <a:xfrm>
            <a:off x="9500155" y="38865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4085" name="Google Shape;4085;p66"/>
          <p:cNvSpPr txBox="1"/>
          <p:nvPr/>
        </p:nvSpPr>
        <p:spPr>
          <a:xfrm>
            <a:off x="9482875" y="19700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4086" name="Google Shape;4086;p66"/>
          <p:cNvSpPr txBox="1"/>
          <p:nvPr/>
        </p:nvSpPr>
        <p:spPr>
          <a:xfrm>
            <a:off x="6965100" y="22192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4087" name="Google Shape;4087;p66"/>
          <p:cNvSpPr txBox="1"/>
          <p:nvPr/>
        </p:nvSpPr>
        <p:spPr>
          <a:xfrm>
            <a:off x="6809525" y="2438363"/>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4088" name="Google Shape;4088;p66"/>
          <p:cNvSpPr txBox="1"/>
          <p:nvPr/>
        </p:nvSpPr>
        <p:spPr>
          <a:xfrm>
            <a:off x="6798413" y="1476338"/>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089" name="Google Shape;4089;p66"/>
          <p:cNvSpPr txBox="1"/>
          <p:nvPr/>
        </p:nvSpPr>
        <p:spPr>
          <a:xfrm>
            <a:off x="9474938" y="1758913"/>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4090" name="Google Shape;4090;p66"/>
          <p:cNvGrpSpPr/>
          <p:nvPr/>
        </p:nvGrpSpPr>
        <p:grpSpPr>
          <a:xfrm>
            <a:off x="8014438" y="1658899"/>
            <a:ext cx="1471612" cy="400050"/>
            <a:chOff x="850" y="1230"/>
            <a:chExt cx="927" cy="252"/>
          </a:xfrm>
        </p:grpSpPr>
        <p:cxnSp>
          <p:nvCxnSpPr>
            <p:cNvPr id="4091" name="Google Shape;4091;p66"/>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4092" name="Google Shape;4092;p66"/>
            <p:cNvSpPr txBox="1"/>
            <p:nvPr/>
          </p:nvSpPr>
          <p:spPr>
            <a:xfrm>
              <a:off x="1082" y="1230"/>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093" name="Google Shape;4093;p66"/>
          <p:cNvGrpSpPr/>
          <p:nvPr/>
        </p:nvGrpSpPr>
        <p:grpSpPr>
          <a:xfrm>
            <a:off x="8000150" y="2131982"/>
            <a:ext cx="1471613" cy="369888"/>
            <a:chOff x="841" y="1528"/>
            <a:chExt cx="927" cy="233"/>
          </a:xfrm>
        </p:grpSpPr>
        <p:cxnSp>
          <p:nvCxnSpPr>
            <p:cNvPr id="4094" name="Google Shape;4094;p66"/>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4095" name="Google Shape;4095;p66"/>
            <p:cNvSpPr txBox="1"/>
            <p:nvPr/>
          </p:nvSpPr>
          <p:spPr>
            <a:xfrm>
              <a:off x="1089" y="1528"/>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4096" name="Google Shape;4096;p66"/>
          <p:cNvSpPr txBox="1"/>
          <p:nvPr/>
        </p:nvSpPr>
        <p:spPr>
          <a:xfrm>
            <a:off x="6965100" y="6200644"/>
            <a:ext cx="3867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 premature timeout/ delayed ACK</a:t>
            </a:r>
            <a:endParaRPr/>
          </a:p>
        </p:txBody>
      </p:sp>
      <p:grpSp>
        <p:nvGrpSpPr>
          <p:cNvPr id="4097" name="Google Shape;4097;p66"/>
          <p:cNvGrpSpPr/>
          <p:nvPr/>
        </p:nvGrpSpPr>
        <p:grpSpPr>
          <a:xfrm>
            <a:off x="7903313" y="2724113"/>
            <a:ext cx="122237" cy="1033463"/>
            <a:chOff x="3651" y="1878"/>
            <a:chExt cx="78" cy="963"/>
          </a:xfrm>
        </p:grpSpPr>
        <p:cxnSp>
          <p:nvCxnSpPr>
            <p:cNvPr id="4098" name="Google Shape;4098;p66"/>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099" name="Google Shape;4099;p66"/>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4100" name="Google Shape;4100;p66"/>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4101" name="Google Shape;4101;p66"/>
          <p:cNvGrpSpPr/>
          <p:nvPr/>
        </p:nvGrpSpPr>
        <p:grpSpPr>
          <a:xfrm>
            <a:off x="8031900" y="3854417"/>
            <a:ext cx="1471613" cy="363538"/>
            <a:chOff x="855" y="1799"/>
            <a:chExt cx="927" cy="229"/>
          </a:xfrm>
        </p:grpSpPr>
        <p:cxnSp>
          <p:nvCxnSpPr>
            <p:cNvPr id="4102" name="Google Shape;4102;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103" name="Google Shape;4103;p66"/>
            <p:cNvSpPr txBox="1"/>
            <p:nvPr/>
          </p:nvSpPr>
          <p:spPr>
            <a:xfrm>
              <a:off x="1121"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104" name="Google Shape;4104;p66"/>
          <p:cNvGrpSpPr/>
          <p:nvPr/>
        </p:nvGrpSpPr>
        <p:grpSpPr>
          <a:xfrm>
            <a:off x="6599975" y="3336888"/>
            <a:ext cx="1377950" cy="731838"/>
            <a:chOff x="2802" y="2348"/>
            <a:chExt cx="868" cy="461"/>
          </a:xfrm>
        </p:grpSpPr>
        <p:pic>
          <p:nvPicPr>
            <p:cNvPr descr="alarm_clock_ringing" id="4105" name="Google Shape;4105;p66"/>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4106" name="Google Shape;4106;p66"/>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grpSp>
        <p:nvGrpSpPr>
          <p:cNvPr id="4107" name="Google Shape;4107;p66"/>
          <p:cNvGrpSpPr/>
          <p:nvPr/>
        </p:nvGrpSpPr>
        <p:grpSpPr>
          <a:xfrm>
            <a:off x="8580889" y="2976526"/>
            <a:ext cx="911514" cy="752475"/>
            <a:chOff x="4186" y="1705"/>
            <a:chExt cx="598" cy="453"/>
          </a:xfrm>
        </p:grpSpPr>
        <p:cxnSp>
          <p:nvCxnSpPr>
            <p:cNvPr id="4108" name="Google Shape;4108;p66"/>
            <p:cNvCxnSpPr/>
            <p:nvPr/>
          </p:nvCxnSpPr>
          <p:spPr>
            <a:xfrm flipH="1">
              <a:off x="4343" y="1705"/>
              <a:ext cx="441" cy="329"/>
            </a:xfrm>
            <a:prstGeom prst="straightConnector1">
              <a:avLst/>
            </a:prstGeom>
            <a:noFill/>
            <a:ln cap="flat" cmpd="sng" w="28575">
              <a:solidFill>
                <a:srgbClr val="008000"/>
              </a:solidFill>
              <a:prstDash val="solid"/>
              <a:round/>
              <a:headEnd len="med" w="med" type="none"/>
              <a:tailEnd len="med" w="med" type="none"/>
            </a:ln>
          </p:spPr>
        </p:cxnSp>
        <p:cxnSp>
          <p:nvCxnSpPr>
            <p:cNvPr id="4109" name="Google Shape;4109;p66"/>
            <p:cNvCxnSpPr/>
            <p:nvPr/>
          </p:nvCxnSpPr>
          <p:spPr>
            <a:xfrm flipH="1">
              <a:off x="4186" y="2047"/>
              <a:ext cx="146" cy="111"/>
            </a:xfrm>
            <a:prstGeom prst="straightConnector1">
              <a:avLst/>
            </a:prstGeom>
            <a:noFill/>
            <a:ln cap="flat" cmpd="sng" w="28575">
              <a:solidFill>
                <a:srgbClr val="008000"/>
              </a:solidFill>
              <a:prstDash val="dot"/>
              <a:round/>
              <a:headEnd len="med" w="med" type="none"/>
              <a:tailEnd len="med" w="med" type="none"/>
            </a:ln>
          </p:spPr>
        </p:cxnSp>
        <p:sp>
          <p:nvSpPr>
            <p:cNvPr id="4110" name="Google Shape;4110;p66"/>
            <p:cNvSpPr txBox="1"/>
            <p:nvPr/>
          </p:nvSpPr>
          <p:spPr>
            <a:xfrm>
              <a:off x="4223" y="1846"/>
              <a:ext cx="460" cy="20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cxnSp>
        <p:nvCxnSpPr>
          <p:cNvPr id="4111" name="Google Shape;4111;p66"/>
          <p:cNvCxnSpPr/>
          <p:nvPr/>
        </p:nvCxnSpPr>
        <p:spPr>
          <a:xfrm flipH="1">
            <a:off x="7922363" y="3521038"/>
            <a:ext cx="909637" cy="739775"/>
          </a:xfrm>
          <a:prstGeom prst="straightConnector1">
            <a:avLst/>
          </a:prstGeom>
          <a:noFill/>
          <a:ln cap="flat" cmpd="sng" w="28575">
            <a:solidFill>
              <a:srgbClr val="008000"/>
            </a:solidFill>
            <a:prstDash val="solid"/>
            <a:round/>
            <a:headEnd len="med" w="med" type="none"/>
            <a:tailEnd len="med" w="med" type="triangle"/>
          </a:ln>
        </p:spPr>
      </p:cxnSp>
      <p:grpSp>
        <p:nvGrpSpPr>
          <p:cNvPr id="4112" name="Google Shape;4112;p66"/>
          <p:cNvGrpSpPr/>
          <p:nvPr/>
        </p:nvGrpSpPr>
        <p:grpSpPr>
          <a:xfrm>
            <a:off x="8012670" y="4309460"/>
            <a:ext cx="2667702" cy="714018"/>
            <a:chOff x="8162097" y="4679496"/>
            <a:chExt cx="2667702" cy="714018"/>
          </a:xfrm>
        </p:grpSpPr>
        <p:grpSp>
          <p:nvGrpSpPr>
            <p:cNvPr id="4113" name="Google Shape;4113;p66"/>
            <p:cNvGrpSpPr/>
            <p:nvPr/>
          </p:nvGrpSpPr>
          <p:grpSpPr>
            <a:xfrm>
              <a:off x="8162097" y="4974413"/>
              <a:ext cx="1471613" cy="419101"/>
              <a:chOff x="2229" y="3467"/>
              <a:chExt cx="927" cy="264"/>
            </a:xfrm>
          </p:grpSpPr>
          <p:cxnSp>
            <p:nvCxnSpPr>
              <p:cNvPr id="4114" name="Google Shape;4114;p66"/>
              <p:cNvCxnSpPr/>
              <p:nvPr/>
            </p:nvCxnSpPr>
            <p:spPr>
              <a:xfrm flipH="1">
                <a:off x="2229" y="3467"/>
                <a:ext cx="927" cy="225"/>
              </a:xfrm>
              <a:prstGeom prst="straightConnector1">
                <a:avLst/>
              </a:prstGeom>
              <a:noFill/>
              <a:ln cap="flat" cmpd="sng" w="28575">
                <a:solidFill>
                  <a:srgbClr val="008000"/>
                </a:solidFill>
                <a:prstDash val="solid"/>
                <a:round/>
                <a:headEnd len="med" w="med" type="none"/>
                <a:tailEnd len="med" w="med" type="triangle"/>
              </a:ln>
            </p:spPr>
          </p:cxnSp>
          <p:sp>
            <p:nvSpPr>
              <p:cNvPr id="4115" name="Google Shape;4115;p66"/>
              <p:cNvSpPr txBox="1"/>
              <p:nvPr/>
            </p:nvSpPr>
            <p:spPr>
              <a:xfrm>
                <a:off x="2336" y="3519"/>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sp>
          <p:nvSpPr>
            <p:cNvPr id="4116" name="Google Shape;4116;p66"/>
            <p:cNvSpPr txBox="1"/>
            <p:nvPr/>
          </p:nvSpPr>
          <p:spPr>
            <a:xfrm>
              <a:off x="9632824" y="4679496"/>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grpSp>
      <p:grpSp>
        <p:nvGrpSpPr>
          <p:cNvPr id="4117" name="Google Shape;4117;p66"/>
          <p:cNvGrpSpPr/>
          <p:nvPr/>
        </p:nvGrpSpPr>
        <p:grpSpPr>
          <a:xfrm>
            <a:off x="6804583" y="4153524"/>
            <a:ext cx="3833816" cy="1104906"/>
            <a:chOff x="6954010" y="4523560"/>
            <a:chExt cx="3833816" cy="1104906"/>
          </a:xfrm>
        </p:grpSpPr>
        <p:grpSp>
          <p:nvGrpSpPr>
            <p:cNvPr id="4118" name="Google Shape;4118;p66"/>
            <p:cNvGrpSpPr/>
            <p:nvPr/>
          </p:nvGrpSpPr>
          <p:grpSpPr>
            <a:xfrm>
              <a:off x="6954010" y="4523560"/>
              <a:ext cx="1174750" cy="609601"/>
              <a:chOff x="2830" y="3285"/>
              <a:chExt cx="740" cy="384"/>
            </a:xfrm>
          </p:grpSpPr>
          <p:sp>
            <p:nvSpPr>
              <p:cNvPr id="4119" name="Google Shape;4119;p66"/>
              <p:cNvSpPr txBox="1"/>
              <p:nvPr/>
            </p:nvSpPr>
            <p:spPr>
              <a:xfrm>
                <a:off x="2830" y="3438"/>
                <a:ext cx="7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4120" name="Google Shape;4120;p66"/>
              <p:cNvSpPr txBox="1"/>
              <p:nvPr/>
            </p:nvSpPr>
            <p:spPr>
              <a:xfrm>
                <a:off x="2916" y="3285"/>
                <a:ext cx="64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grpSp>
          <p:nvGrpSpPr>
            <p:cNvPr id="4121" name="Google Shape;4121;p66"/>
            <p:cNvGrpSpPr/>
            <p:nvPr/>
          </p:nvGrpSpPr>
          <p:grpSpPr>
            <a:xfrm>
              <a:off x="8073197" y="4747083"/>
              <a:ext cx="1547813" cy="446403"/>
              <a:chOff x="850" y="1229"/>
              <a:chExt cx="927" cy="253"/>
            </a:xfrm>
          </p:grpSpPr>
          <p:cxnSp>
            <p:nvCxnSpPr>
              <p:cNvPr id="4122" name="Google Shape;4122;p66"/>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4123" name="Google Shape;4123;p66"/>
              <p:cNvSpPr txBox="1"/>
              <p:nvPr/>
            </p:nvSpPr>
            <p:spPr>
              <a:xfrm>
                <a:off x="1014" y="1229"/>
                <a:ext cx="340" cy="19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4124" name="Google Shape;4124;p66"/>
            <p:cNvGrpSpPr/>
            <p:nvPr/>
          </p:nvGrpSpPr>
          <p:grpSpPr>
            <a:xfrm>
              <a:off x="9582913" y="5037915"/>
              <a:ext cx="1204913" cy="590551"/>
              <a:chOff x="4762" y="2985"/>
              <a:chExt cx="759" cy="372"/>
            </a:xfrm>
          </p:grpSpPr>
          <p:sp>
            <p:nvSpPr>
              <p:cNvPr id="4125" name="Google Shape;4125;p66"/>
              <p:cNvSpPr txBox="1"/>
              <p:nvPr/>
            </p:nvSpPr>
            <p:spPr>
              <a:xfrm>
                <a:off x="4762" y="2985"/>
                <a:ext cx="63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4126" name="Google Shape;4126;p66"/>
              <p:cNvSpPr txBox="1"/>
              <p:nvPr/>
            </p:nvSpPr>
            <p:spPr>
              <a:xfrm>
                <a:off x="4767" y="3126"/>
                <a:ext cx="75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grpSp>
      </p:grpSp>
      <p:grpSp>
        <p:nvGrpSpPr>
          <p:cNvPr id="4127" name="Google Shape;4127;p66"/>
          <p:cNvGrpSpPr/>
          <p:nvPr/>
        </p:nvGrpSpPr>
        <p:grpSpPr>
          <a:xfrm>
            <a:off x="8034892" y="4967903"/>
            <a:ext cx="1457325" cy="488950"/>
            <a:chOff x="3839" y="2850"/>
            <a:chExt cx="918" cy="308"/>
          </a:xfrm>
        </p:grpSpPr>
        <p:cxnSp>
          <p:nvCxnSpPr>
            <p:cNvPr id="4128" name="Google Shape;4128;p66"/>
            <p:cNvCxnSpPr/>
            <p:nvPr/>
          </p:nvCxnSpPr>
          <p:spPr>
            <a:xfrm flipH="1">
              <a:off x="3839" y="2850"/>
              <a:ext cx="918" cy="308"/>
            </a:xfrm>
            <a:prstGeom prst="straightConnector1">
              <a:avLst/>
            </a:prstGeom>
            <a:noFill/>
            <a:ln cap="flat" cmpd="sng" w="28575">
              <a:solidFill>
                <a:srgbClr val="008000"/>
              </a:solidFill>
              <a:prstDash val="solid"/>
              <a:round/>
              <a:headEnd len="med" w="med" type="none"/>
              <a:tailEnd len="med" w="med" type="triangle"/>
            </a:ln>
          </p:spPr>
        </p:cxnSp>
        <p:sp>
          <p:nvSpPr>
            <p:cNvPr id="4129" name="Google Shape;4129;p66"/>
            <p:cNvSpPr txBox="1"/>
            <p:nvPr/>
          </p:nvSpPr>
          <p:spPr>
            <a:xfrm>
              <a:off x="4104" y="2873"/>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4130" name="Google Shape;4130;p66"/>
          <p:cNvGrpSpPr/>
          <p:nvPr/>
        </p:nvGrpSpPr>
        <p:grpSpPr>
          <a:xfrm>
            <a:off x="8026461" y="5469606"/>
            <a:ext cx="1471612" cy="363538"/>
            <a:chOff x="855" y="1799"/>
            <a:chExt cx="927" cy="229"/>
          </a:xfrm>
        </p:grpSpPr>
        <p:cxnSp>
          <p:nvCxnSpPr>
            <p:cNvPr id="4131" name="Google Shape;4131;p66"/>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4132" name="Google Shape;4132;p66"/>
            <p:cNvSpPr txBox="1"/>
            <p:nvPr/>
          </p:nvSpPr>
          <p:spPr>
            <a:xfrm>
              <a:off x="1129"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4133" name="Google Shape;4133;p66"/>
          <p:cNvGrpSpPr/>
          <p:nvPr/>
        </p:nvGrpSpPr>
        <p:grpSpPr>
          <a:xfrm>
            <a:off x="6993934" y="4806637"/>
            <a:ext cx="1022350" cy="553607"/>
            <a:chOff x="6289259" y="5452590"/>
            <a:chExt cx="1022350" cy="553607"/>
          </a:xfrm>
        </p:grpSpPr>
        <p:sp>
          <p:nvSpPr>
            <p:cNvPr id="4134" name="Google Shape;4134;p66"/>
            <p:cNvSpPr txBox="1"/>
            <p:nvPr/>
          </p:nvSpPr>
          <p:spPr>
            <a:xfrm>
              <a:off x="6339123" y="5698420"/>
              <a:ext cx="81945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a:t>
              </a:r>
              <a:endParaRPr/>
            </a:p>
          </p:txBody>
        </p:sp>
        <p:sp>
          <p:nvSpPr>
            <p:cNvPr id="4135" name="Google Shape;4135;p66"/>
            <p:cNvSpPr txBox="1"/>
            <p:nvPr/>
          </p:nvSpPr>
          <p:spPr>
            <a:xfrm>
              <a:off x="6289259" y="5452590"/>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sp>
        <p:nvSpPr>
          <p:cNvPr id="4136" name="Google Shape;4136;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5"/>
                                        </p:tgtEl>
                                        <p:attrNameLst>
                                          <p:attrName>style.visibility</p:attrName>
                                        </p:attrNameLst>
                                      </p:cBhvr>
                                      <p:to>
                                        <p:strVal val="visible"/>
                                      </p:to>
                                    </p:set>
                                    <p:animEffect filter="fade" transition="in">
                                      <p:cBhvr>
                                        <p:cTn dur="500"/>
                                        <p:tgtEl>
                                          <p:spTgt spid="404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44">
                                            <p:txEl>
                                              <p:pRg end="0" st="0"/>
                                            </p:txEl>
                                          </p:spTgt>
                                        </p:tgtEl>
                                        <p:attrNameLst>
                                          <p:attrName>style.visibility</p:attrName>
                                        </p:attrNameLst>
                                      </p:cBhvr>
                                      <p:to>
                                        <p:strVal val="visible"/>
                                      </p:to>
                                    </p:set>
                                    <p:animEffect filter="fade" transition="in">
                                      <p:cBhvr>
                                        <p:cTn dur="500"/>
                                        <p:tgtEl>
                                          <p:spTgt spid="4044">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36"/>
                                        </p:tgtEl>
                                        <p:attrNameLst>
                                          <p:attrName>style.visibility</p:attrName>
                                        </p:attrNameLst>
                                      </p:cBhvr>
                                      <p:to>
                                        <p:strVal val="visible"/>
                                      </p:to>
                                    </p:set>
                                    <p:animEffect filter="fade" transition="in">
                                      <p:cBhvr>
                                        <p:cTn dur="500"/>
                                        <p:tgtEl>
                                          <p:spTgt spid="403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54"/>
                                        </p:tgtEl>
                                        <p:attrNameLst>
                                          <p:attrName>style.visibility</p:attrName>
                                        </p:attrNameLst>
                                      </p:cBhvr>
                                      <p:to>
                                        <p:strVal val="visible"/>
                                      </p:to>
                                    </p:set>
                                    <p:animEffect filter="fade" transition="in">
                                      <p:cBhvr>
                                        <p:cTn dur="500"/>
                                        <p:tgtEl>
                                          <p:spTgt spid="405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39"/>
                                        </p:tgtEl>
                                        <p:attrNameLst>
                                          <p:attrName>style.visibility</p:attrName>
                                        </p:attrNameLst>
                                      </p:cBhvr>
                                      <p:to>
                                        <p:strVal val="visible"/>
                                      </p:to>
                                    </p:set>
                                    <p:animEffect filter="fade" transition="in">
                                      <p:cBhvr>
                                        <p:cTn dur="500"/>
                                        <p:tgtEl>
                                          <p:spTgt spid="403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041"/>
                                        </p:tgtEl>
                                        <p:attrNameLst>
                                          <p:attrName>style.visibility</p:attrName>
                                        </p:attrNameLst>
                                      </p:cBhvr>
                                      <p:to>
                                        <p:strVal val="visible"/>
                                      </p:to>
                                    </p:set>
                                    <p:animEffect filter="fade" transition="in">
                                      <p:cBhvr>
                                        <p:cTn dur="500"/>
                                        <p:tgtEl>
                                          <p:spTgt spid="404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29"/>
                                        </p:tgtEl>
                                        <p:attrNameLst>
                                          <p:attrName>style.visibility</p:attrName>
                                        </p:attrNameLst>
                                      </p:cBhvr>
                                      <p:to>
                                        <p:strVal val="visible"/>
                                      </p:to>
                                    </p:set>
                                    <p:animEffect filter="fade" transition="in">
                                      <p:cBhvr>
                                        <p:cTn dur="500"/>
                                        <p:tgtEl>
                                          <p:spTgt spid="402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026">
                                            <p:txEl>
                                              <p:pRg end="0" st="0"/>
                                            </p:txEl>
                                          </p:spTgt>
                                        </p:tgtEl>
                                        <p:attrNameLst>
                                          <p:attrName>style.visibility</p:attrName>
                                        </p:attrNameLst>
                                      </p:cBhvr>
                                      <p:to>
                                        <p:strVal val="visible"/>
                                      </p:to>
                                    </p:set>
                                    <p:animEffect filter="fade" transition="in">
                                      <p:cBhvr>
                                        <p:cTn dur="500"/>
                                        <p:tgtEl>
                                          <p:spTgt spid="4026">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027"/>
                                        </p:tgtEl>
                                        <p:attrNameLst>
                                          <p:attrName>style.visibility</p:attrName>
                                        </p:attrNameLst>
                                      </p:cBhvr>
                                      <p:to>
                                        <p:strVal val="visible"/>
                                      </p:to>
                                    </p:set>
                                    <p:animEffect filter="fade" transition="in">
                                      <p:cBhvr>
                                        <p:cTn dur="500"/>
                                        <p:tgtEl>
                                          <p:spTgt spid="402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61"/>
                                        </p:tgtEl>
                                        <p:attrNameLst>
                                          <p:attrName>style.visibility</p:attrName>
                                        </p:attrNameLst>
                                      </p:cBhvr>
                                      <p:to>
                                        <p:strVal val="visible"/>
                                      </p:to>
                                    </p:set>
                                    <p:animEffect filter="fade" transition="in">
                                      <p:cBhvr>
                                        <p:cTn dur="500"/>
                                        <p:tgtEl>
                                          <p:spTgt spid="40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6"/>
                                        </p:tgtEl>
                                        <p:attrNameLst>
                                          <p:attrName>style.visibility</p:attrName>
                                        </p:attrNameLst>
                                      </p:cBhvr>
                                      <p:to>
                                        <p:strVal val="visible"/>
                                      </p:to>
                                    </p:set>
                                    <p:animEffect filter="fade" transition="in">
                                      <p:cBhvr>
                                        <p:cTn dur="1000"/>
                                        <p:tgtEl>
                                          <p:spTgt spid="40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73"/>
                                        </p:tgtEl>
                                        <p:attrNameLst>
                                          <p:attrName>style.visibility</p:attrName>
                                        </p:attrNameLst>
                                      </p:cBhvr>
                                      <p:to>
                                        <p:strVal val="visible"/>
                                      </p:to>
                                    </p:set>
                                    <p:animEffect filter="fade" transition="in">
                                      <p:cBhvr>
                                        <p:cTn dur="500"/>
                                        <p:tgtEl>
                                          <p:spTgt spid="4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0"/>
                                        </p:tgtEl>
                                        <p:attrNameLst>
                                          <p:attrName>style.visibility</p:attrName>
                                        </p:attrNameLst>
                                      </p:cBhvr>
                                      <p:to>
                                        <p:strVal val="visible"/>
                                      </p:to>
                                    </p:set>
                                    <p:animEffect filter="fade" transition="in">
                                      <p:cBhvr>
                                        <p:cTn dur="500"/>
                                        <p:tgtEl>
                                          <p:spTgt spid="40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34">
                                            <p:txEl>
                                              <p:pRg end="0" st="0"/>
                                            </p:txEl>
                                          </p:spTgt>
                                        </p:tgtEl>
                                        <p:attrNameLst>
                                          <p:attrName>style.visibility</p:attrName>
                                        </p:attrNameLst>
                                      </p:cBhvr>
                                      <p:to>
                                        <p:strVal val="visible"/>
                                      </p:to>
                                    </p:set>
                                    <p:animEffect filter="fade" transition="in">
                                      <p:cBhvr>
                                        <p:cTn dur="500"/>
                                        <p:tgtEl>
                                          <p:spTgt spid="403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28"/>
                                        </p:tgtEl>
                                        <p:attrNameLst>
                                          <p:attrName>style.visibility</p:attrName>
                                        </p:attrNameLst>
                                      </p:cBhvr>
                                      <p:to>
                                        <p:strVal val="visible"/>
                                      </p:to>
                                    </p:set>
                                    <p:animEffect filter="fade" transition="in">
                                      <p:cBhvr>
                                        <p:cTn dur="500"/>
                                        <p:tgtEl>
                                          <p:spTgt spid="40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37"/>
                                        </p:tgtEl>
                                        <p:attrNameLst>
                                          <p:attrName>style.visibility</p:attrName>
                                        </p:attrNameLst>
                                      </p:cBhvr>
                                      <p:to>
                                        <p:strVal val="visible"/>
                                      </p:to>
                                    </p:set>
                                    <p:animEffect filter="fade" transition="in">
                                      <p:cBhvr>
                                        <p:cTn dur="500"/>
                                        <p:tgtEl>
                                          <p:spTgt spid="403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51"/>
                                        </p:tgtEl>
                                        <p:attrNameLst>
                                          <p:attrName>style.visibility</p:attrName>
                                        </p:attrNameLst>
                                      </p:cBhvr>
                                      <p:to>
                                        <p:strVal val="visible"/>
                                      </p:to>
                                    </p:set>
                                    <p:animEffect filter="fade" transition="in">
                                      <p:cBhvr>
                                        <p:cTn dur="500"/>
                                        <p:tgtEl>
                                          <p:spTgt spid="405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42"/>
                                        </p:tgtEl>
                                        <p:attrNameLst>
                                          <p:attrName>style.visibility</p:attrName>
                                        </p:attrNameLst>
                                      </p:cBhvr>
                                      <p:to>
                                        <p:strVal val="visible"/>
                                      </p:to>
                                    </p:set>
                                    <p:animEffect filter="fade" transition="in">
                                      <p:cBhvr>
                                        <p:cTn dur="500"/>
                                        <p:tgtEl>
                                          <p:spTgt spid="404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040"/>
                                        </p:tgtEl>
                                        <p:attrNameLst>
                                          <p:attrName>style.visibility</p:attrName>
                                        </p:attrNameLst>
                                      </p:cBhvr>
                                      <p:to>
                                        <p:strVal val="visible"/>
                                      </p:to>
                                    </p:set>
                                    <p:animEffect filter="fade" transition="in">
                                      <p:cBhvr>
                                        <p:cTn dur="500"/>
                                        <p:tgtEl>
                                          <p:spTgt spid="404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48"/>
                                        </p:tgtEl>
                                        <p:attrNameLst>
                                          <p:attrName>style.visibility</p:attrName>
                                        </p:attrNameLst>
                                      </p:cBhvr>
                                      <p:to>
                                        <p:strVal val="visible"/>
                                      </p:to>
                                    </p:set>
                                    <p:animEffect filter="fade" transition="in">
                                      <p:cBhvr>
                                        <p:cTn dur="500"/>
                                        <p:tgtEl>
                                          <p:spTgt spid="404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035"/>
                                        </p:tgtEl>
                                        <p:attrNameLst>
                                          <p:attrName>style.visibility</p:attrName>
                                        </p:attrNameLst>
                                      </p:cBhvr>
                                      <p:to>
                                        <p:strVal val="visible"/>
                                      </p:to>
                                    </p:set>
                                    <p:animEffect filter="fade" transition="in">
                                      <p:cBhvr>
                                        <p:cTn dur="500"/>
                                        <p:tgtEl>
                                          <p:spTgt spid="403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038">
                                            <p:txEl>
                                              <p:pRg end="0" st="0"/>
                                            </p:txEl>
                                          </p:spTgt>
                                        </p:tgtEl>
                                        <p:attrNameLst>
                                          <p:attrName>style.visibility</p:attrName>
                                        </p:attrNameLst>
                                      </p:cBhvr>
                                      <p:to>
                                        <p:strVal val="visible"/>
                                      </p:to>
                                    </p:set>
                                    <p:animEffect filter="fade" transition="in">
                                      <p:cBhvr>
                                        <p:cTn dur="500"/>
                                        <p:tgtEl>
                                          <p:spTgt spid="4038">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57"/>
                                        </p:tgtEl>
                                        <p:attrNameLst>
                                          <p:attrName>style.visibility</p:attrName>
                                        </p:attrNameLst>
                                      </p:cBhvr>
                                      <p:to>
                                        <p:strVal val="visible"/>
                                      </p:to>
                                    </p:set>
                                    <p:animEffect filter="fade" transition="in">
                                      <p:cBhvr>
                                        <p:cTn dur="500"/>
                                        <p:tgtEl>
                                          <p:spTgt spid="40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0"/>
                                        </p:tgtEl>
                                        <p:attrNameLst>
                                          <p:attrName>style.visibility</p:attrName>
                                        </p:attrNameLst>
                                      </p:cBhvr>
                                      <p:to>
                                        <p:strVal val="visible"/>
                                      </p:to>
                                    </p:set>
                                    <p:animEffect filter="fade" transition="in">
                                      <p:cBhvr>
                                        <p:cTn dur="500"/>
                                        <p:tgtEl>
                                          <p:spTgt spid="40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89">
                                            <p:txEl>
                                              <p:pRg end="0" st="0"/>
                                            </p:txEl>
                                          </p:spTgt>
                                        </p:tgtEl>
                                        <p:attrNameLst>
                                          <p:attrName>style.visibility</p:attrName>
                                        </p:attrNameLst>
                                      </p:cBhvr>
                                      <p:to>
                                        <p:strVal val="visible"/>
                                      </p:to>
                                    </p:set>
                                    <p:animEffect filter="fade" transition="in">
                                      <p:cBhvr>
                                        <p:cTn dur="500"/>
                                        <p:tgtEl>
                                          <p:spTgt spid="408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85"/>
                                        </p:tgtEl>
                                        <p:attrNameLst>
                                          <p:attrName>style.visibility</p:attrName>
                                        </p:attrNameLst>
                                      </p:cBhvr>
                                      <p:to>
                                        <p:strVal val="visible"/>
                                      </p:to>
                                    </p:set>
                                    <p:animEffect filter="fade" transition="in">
                                      <p:cBhvr>
                                        <p:cTn dur="500"/>
                                        <p:tgtEl>
                                          <p:spTgt spid="408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93"/>
                                        </p:tgtEl>
                                        <p:attrNameLst>
                                          <p:attrName>style.visibility</p:attrName>
                                        </p:attrNameLst>
                                      </p:cBhvr>
                                      <p:to>
                                        <p:strVal val="visible"/>
                                      </p:to>
                                    </p:set>
                                    <p:animEffect filter="fade" transition="in">
                                      <p:cBhvr>
                                        <p:cTn dur="500"/>
                                        <p:tgtEl>
                                          <p:spTgt spid="409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86"/>
                                        </p:tgtEl>
                                        <p:attrNameLst>
                                          <p:attrName>style.visibility</p:attrName>
                                        </p:attrNameLst>
                                      </p:cBhvr>
                                      <p:to>
                                        <p:strVal val="visible"/>
                                      </p:to>
                                    </p:set>
                                    <p:animEffect filter="fade" transition="in">
                                      <p:cBhvr>
                                        <p:cTn dur="500"/>
                                        <p:tgtEl>
                                          <p:spTgt spid="408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087"/>
                                        </p:tgtEl>
                                        <p:attrNameLst>
                                          <p:attrName>style.visibility</p:attrName>
                                        </p:attrNameLst>
                                      </p:cBhvr>
                                      <p:to>
                                        <p:strVal val="visible"/>
                                      </p:to>
                                    </p:set>
                                    <p:animEffect filter="fade" transition="in">
                                      <p:cBhvr>
                                        <p:cTn dur="500"/>
                                        <p:tgtEl>
                                          <p:spTgt spid="408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079"/>
                                        </p:tgtEl>
                                        <p:attrNameLst>
                                          <p:attrName>style.visibility</p:attrName>
                                        </p:attrNameLst>
                                      </p:cBhvr>
                                      <p:to>
                                        <p:strVal val="visible"/>
                                      </p:to>
                                    </p:set>
                                    <p:animEffect filter="fade" transition="in">
                                      <p:cBhvr>
                                        <p:cTn dur="500"/>
                                        <p:tgtEl>
                                          <p:spTgt spid="407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076">
                                            <p:txEl>
                                              <p:pRg end="0" st="0"/>
                                            </p:txEl>
                                          </p:spTgt>
                                        </p:tgtEl>
                                        <p:attrNameLst>
                                          <p:attrName>style.visibility</p:attrName>
                                        </p:attrNameLst>
                                      </p:cBhvr>
                                      <p:to>
                                        <p:strVal val="visible"/>
                                      </p:to>
                                    </p:set>
                                    <p:animEffect filter="fade" transition="in">
                                      <p:cBhvr>
                                        <p:cTn dur="500"/>
                                        <p:tgtEl>
                                          <p:spTgt spid="4076">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077"/>
                                        </p:tgtEl>
                                        <p:attrNameLst>
                                          <p:attrName>style.visibility</p:attrName>
                                        </p:attrNameLst>
                                      </p:cBhvr>
                                      <p:to>
                                        <p:strVal val="visible"/>
                                      </p:to>
                                    </p:set>
                                    <p:animEffect filter="fade" transition="in">
                                      <p:cBhvr>
                                        <p:cTn dur="500"/>
                                        <p:tgtEl>
                                          <p:spTgt spid="407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097"/>
                                        </p:tgtEl>
                                        <p:attrNameLst>
                                          <p:attrName>style.visibility</p:attrName>
                                        </p:attrNameLst>
                                      </p:cBhvr>
                                      <p:to>
                                        <p:strVal val="visible"/>
                                      </p:to>
                                    </p:set>
                                    <p:animEffect filter="fade" transition="in">
                                      <p:cBhvr>
                                        <p:cTn dur="1000"/>
                                        <p:tgtEl>
                                          <p:spTgt spid="4097"/>
                                        </p:tgtEl>
                                      </p:cBhvr>
                                    </p:animEffect>
                                  </p:childTnLst>
                                </p:cTn>
                              </p:par>
                              <p:par>
                                <p:cTn fill="hold" nodeType="withEffect" presetClass="entr" presetID="10" presetSubtype="0">
                                  <p:stCondLst>
                                    <p:cond delay="0"/>
                                  </p:stCondLst>
                                  <p:childTnLst>
                                    <p:set>
                                      <p:cBhvr>
                                        <p:cTn dur="1" fill="hold">
                                          <p:stCondLst>
                                            <p:cond delay="0"/>
                                          </p:stCondLst>
                                        </p:cTn>
                                        <p:tgtEl>
                                          <p:spTgt spid="4107"/>
                                        </p:tgtEl>
                                        <p:attrNameLst>
                                          <p:attrName>style.visibility</p:attrName>
                                        </p:attrNameLst>
                                      </p:cBhvr>
                                      <p:to>
                                        <p:strVal val="visible"/>
                                      </p:to>
                                    </p:set>
                                    <p:animEffect filter="fade" transition="in">
                                      <p:cBhvr>
                                        <p:cTn dur="500"/>
                                        <p:tgtEl>
                                          <p:spTgt spid="4107"/>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4104"/>
                                        </p:tgtEl>
                                        <p:attrNameLst>
                                          <p:attrName>style.visibility</p:attrName>
                                        </p:attrNameLst>
                                      </p:cBhvr>
                                      <p:to>
                                        <p:strVal val="visible"/>
                                      </p:to>
                                    </p:set>
                                    <p:animEffect filter="fade" transition="in">
                                      <p:cBhvr>
                                        <p:cTn dur="500"/>
                                        <p:tgtEl>
                                          <p:spTgt spid="4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1"/>
                                        </p:tgtEl>
                                        <p:attrNameLst>
                                          <p:attrName>style.visibility</p:attrName>
                                        </p:attrNameLst>
                                      </p:cBhvr>
                                      <p:to>
                                        <p:strVal val="visible"/>
                                      </p:to>
                                    </p:set>
                                    <p:animEffect filter="fade" transition="in">
                                      <p:cBhvr>
                                        <p:cTn dur="500"/>
                                        <p:tgtEl>
                                          <p:spTgt spid="4101"/>
                                        </p:tgtEl>
                                      </p:cBhvr>
                                    </p:animEffect>
                                  </p:childTnLst>
                                </p:cTn>
                              </p:par>
                              <p:par>
                                <p:cTn fill="hold" nodeType="withEffect" presetClass="entr" presetID="10" presetSubtype="0">
                                  <p:stCondLst>
                                    <p:cond delay="0"/>
                                  </p:stCondLst>
                                  <p:childTnLst>
                                    <p:set>
                                      <p:cBhvr>
                                        <p:cTn dur="1" fill="hold">
                                          <p:stCondLst>
                                            <p:cond delay="0"/>
                                          </p:stCondLst>
                                        </p:cTn>
                                        <p:tgtEl>
                                          <p:spTgt spid="4111"/>
                                        </p:tgtEl>
                                        <p:attrNameLst>
                                          <p:attrName>style.visibility</p:attrName>
                                        </p:attrNameLst>
                                      </p:cBhvr>
                                      <p:to>
                                        <p:strVal val="visible"/>
                                      </p:to>
                                    </p:set>
                                    <p:animEffect filter="fade" transition="in">
                                      <p:cBhvr>
                                        <p:cTn dur="500"/>
                                        <p:tgtEl>
                                          <p:spTgt spid="41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84">
                                            <p:txEl>
                                              <p:pRg end="0" st="0"/>
                                            </p:txEl>
                                          </p:spTgt>
                                        </p:tgtEl>
                                        <p:attrNameLst>
                                          <p:attrName>style.visibility</p:attrName>
                                        </p:attrNameLst>
                                      </p:cBhvr>
                                      <p:to>
                                        <p:strVal val="visible"/>
                                      </p:to>
                                    </p:set>
                                    <p:animEffect filter="fade" transition="in">
                                      <p:cBhvr>
                                        <p:cTn dur="500"/>
                                        <p:tgtEl>
                                          <p:spTgt spid="408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78"/>
                                        </p:tgtEl>
                                        <p:attrNameLst>
                                          <p:attrName>style.visibility</p:attrName>
                                        </p:attrNameLst>
                                      </p:cBhvr>
                                      <p:to>
                                        <p:strVal val="visible"/>
                                      </p:to>
                                    </p:set>
                                    <p:animEffect filter="fade" transition="in">
                                      <p:cBhvr>
                                        <p:cTn dur="500"/>
                                        <p:tgtEl>
                                          <p:spTgt spid="40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2"/>
                                        </p:tgtEl>
                                        <p:attrNameLst>
                                          <p:attrName>style.visibility</p:attrName>
                                        </p:attrNameLst>
                                      </p:cBhvr>
                                      <p:to>
                                        <p:strVal val="visible"/>
                                      </p:to>
                                    </p:set>
                                    <p:animEffect filter="fade" transition="in">
                                      <p:cBhvr>
                                        <p:cTn dur="500"/>
                                        <p:tgtEl>
                                          <p:spTgt spid="4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7"/>
                                        </p:tgtEl>
                                        <p:attrNameLst>
                                          <p:attrName>style.visibility</p:attrName>
                                        </p:attrNameLst>
                                      </p:cBhvr>
                                      <p:to>
                                        <p:strVal val="visible"/>
                                      </p:to>
                                    </p:set>
                                    <p:animEffect filter="fade" transition="in">
                                      <p:cBhvr>
                                        <p:cTn dur="500"/>
                                        <p:tgtEl>
                                          <p:spTgt spid="4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7"/>
                                        </p:tgtEl>
                                        <p:attrNameLst>
                                          <p:attrName>style.visibility</p:attrName>
                                        </p:attrNameLst>
                                      </p:cBhvr>
                                      <p:to>
                                        <p:strVal val="visible"/>
                                      </p:to>
                                    </p:set>
                                    <p:animEffect filter="fade" transition="in">
                                      <p:cBhvr>
                                        <p:cTn dur="500"/>
                                        <p:tgtEl>
                                          <p:spTgt spid="41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30"/>
                                        </p:tgtEl>
                                        <p:attrNameLst>
                                          <p:attrName>style.visibility</p:attrName>
                                        </p:attrNameLst>
                                      </p:cBhvr>
                                      <p:to>
                                        <p:strVal val="visible"/>
                                      </p:to>
                                    </p:set>
                                    <p:animEffect filter="fade" transition="in">
                                      <p:cBhvr>
                                        <p:cTn dur="500"/>
                                        <p:tgtEl>
                                          <p:spTgt spid="4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3"/>
                                        </p:tgtEl>
                                        <p:attrNameLst>
                                          <p:attrName>style.visibility</p:attrName>
                                        </p:attrNameLst>
                                      </p:cBhvr>
                                      <p:to>
                                        <p:strVal val="visible"/>
                                      </p:to>
                                    </p:set>
                                    <p:animEffect filter="fade" transition="in">
                                      <p:cBhvr>
                                        <p:cTn dur="500"/>
                                        <p:tgtEl>
                                          <p:spTgt spid="4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1" name="Shape 4141"/>
        <p:cNvGrpSpPr/>
        <p:nvPr/>
      </p:nvGrpSpPr>
      <p:grpSpPr>
        <a:xfrm>
          <a:off x="0" y="0"/>
          <a:ext cx="0" cy="0"/>
          <a:chOff x="0" y="0"/>
          <a:chExt cx="0" cy="0"/>
        </a:xfrm>
      </p:grpSpPr>
      <p:sp>
        <p:nvSpPr>
          <p:cNvPr id="4142" name="Google Shape;4142;p6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Performance of rdt3.0 </a:t>
            </a:r>
            <a:r>
              <a:rPr lang="en-US" sz="3200"/>
              <a:t>(stop-and-wait)</a:t>
            </a:r>
            <a:endParaRPr sz="4400"/>
          </a:p>
        </p:txBody>
      </p:sp>
      <p:sp>
        <p:nvSpPr>
          <p:cNvPr id="4143" name="Google Shape;4143;p67"/>
          <p:cNvSpPr txBox="1"/>
          <p:nvPr/>
        </p:nvSpPr>
        <p:spPr>
          <a:xfrm>
            <a:off x="870314" y="2451713"/>
            <a:ext cx="10532792" cy="1044522"/>
          </a:xfrm>
          <a:prstGeom prst="rect">
            <a:avLst/>
          </a:prstGeom>
          <a:noFill/>
          <a:ln>
            <a:noFill/>
          </a:ln>
        </p:spPr>
        <p:txBody>
          <a:bodyPr anchorCtr="0" anchor="t" bIns="45700" lIns="91425" spcFirstLastPara="1" rIns="91425" wrap="square" tIns="45700">
            <a:normAutofit/>
          </a:bodyPr>
          <a:lstStyle/>
          <a:p>
            <a:pPr indent="-279400" lvl="0" marL="4095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example: 1 Gbps link, 15 ms prop. delay, 8000 bit packet</a:t>
            </a:r>
            <a:endParaRPr b="0" i="0" sz="2800" u="none" cap="none" strike="noStrike">
              <a:solidFill>
                <a:srgbClr val="000000"/>
              </a:solidFill>
              <a:latin typeface="Calibri"/>
              <a:ea typeface="Calibri"/>
              <a:cs typeface="Calibri"/>
              <a:sym typeface="Calibri"/>
            </a:endParaRPr>
          </a:p>
        </p:txBody>
      </p:sp>
      <p:sp>
        <p:nvSpPr>
          <p:cNvPr id="4144" name="Google Shape;4144;p67"/>
          <p:cNvSpPr/>
          <p:nvPr/>
        </p:nvSpPr>
        <p:spPr>
          <a:xfrm>
            <a:off x="536827" y="1472895"/>
            <a:ext cx="10752586" cy="476250"/>
          </a:xfrm>
          <a:prstGeom prst="rect">
            <a:avLst/>
          </a:prstGeom>
          <a:noFill/>
          <a:ln>
            <a:noFill/>
          </a:ln>
        </p:spPr>
        <p:txBody>
          <a:bodyPr anchorCtr="0" anchor="t" bIns="45700" lIns="91425" spcFirstLastPara="1" rIns="91425" wrap="square" tIns="45700">
            <a:noAutofit/>
          </a:bodyPr>
          <a:lstStyle/>
          <a:p>
            <a:pPr indent="-231775" lvl="1" marL="688975" marR="0" rtl="0" algn="l">
              <a:lnSpc>
                <a:spcPct val="85000"/>
              </a:lnSpc>
              <a:spcBef>
                <a:spcPts val="0"/>
              </a:spcBef>
              <a:spcAft>
                <a:spcPts val="0"/>
              </a:spcAft>
              <a:buClr>
                <a:srgbClr val="000099"/>
              </a:buClr>
              <a:buSzPts val="3200"/>
              <a:buFont typeface="Noto Sans Symbols"/>
              <a:buChar char="▪"/>
            </a:pPr>
            <a:r>
              <a:rPr b="0" i="1" lang="en-US" sz="3200" u="none" cap="none" strike="noStrike">
                <a:solidFill>
                  <a:srgbClr val="000000"/>
                </a:solidFill>
                <a:latin typeface="Calibri"/>
                <a:ea typeface="Calibri"/>
                <a:cs typeface="Calibri"/>
                <a:sym typeface="Calibri"/>
              </a:rPr>
              <a:t>U </a:t>
            </a:r>
            <a:r>
              <a:rPr b="0" baseline="-25000" i="1" lang="en-US" sz="3200" u="none" cap="none" strike="noStrike">
                <a:solidFill>
                  <a:srgbClr val="000000"/>
                </a:solidFill>
                <a:latin typeface="Calibri"/>
                <a:ea typeface="Calibri"/>
                <a:cs typeface="Calibri"/>
                <a:sym typeface="Calibri"/>
              </a:rPr>
              <a:t>sender</a:t>
            </a:r>
            <a:r>
              <a:rPr b="0" i="0" lang="en-US" sz="3200" u="none" cap="none" strike="noStrike">
                <a:solidFill>
                  <a:srgbClr val="000000"/>
                </a:solidFill>
                <a:latin typeface="Calibri"/>
                <a:ea typeface="Calibri"/>
                <a:cs typeface="Calibri"/>
                <a:sym typeface="Calibri"/>
              </a:rPr>
              <a:t>: </a:t>
            </a:r>
            <a:r>
              <a:rPr b="0" i="1" lang="en-US" sz="3200" u="none" cap="none" strike="noStrike">
                <a:solidFill>
                  <a:srgbClr val="CC0000"/>
                </a:solidFill>
                <a:latin typeface="Calibri"/>
                <a:ea typeface="Calibri"/>
                <a:cs typeface="Calibri"/>
                <a:sym typeface="Calibri"/>
              </a:rPr>
              <a:t>utilization</a:t>
            </a:r>
            <a:r>
              <a:rPr b="0" i="0" lang="en-US" sz="3200" u="none" cap="none" strike="noStrike">
                <a:solidFill>
                  <a:srgbClr val="000000"/>
                </a:solidFill>
                <a:latin typeface="Calibri"/>
                <a:ea typeface="Calibri"/>
                <a:cs typeface="Calibri"/>
                <a:sym typeface="Calibri"/>
              </a:rPr>
              <a:t> – fraction of time sender busy sending</a:t>
            </a:r>
            <a:endParaRPr/>
          </a:p>
        </p:txBody>
      </p:sp>
      <p:grpSp>
        <p:nvGrpSpPr>
          <p:cNvPr id="4145" name="Google Shape;4145;p67"/>
          <p:cNvGrpSpPr/>
          <p:nvPr/>
        </p:nvGrpSpPr>
        <p:grpSpPr>
          <a:xfrm>
            <a:off x="1782678" y="3526869"/>
            <a:ext cx="5724525" cy="812800"/>
            <a:chOff x="137" y="1675"/>
            <a:chExt cx="3606" cy="512"/>
          </a:xfrm>
        </p:grpSpPr>
        <p:sp>
          <p:nvSpPr>
            <p:cNvPr id="4146" name="Google Shape;4146;p67"/>
            <p:cNvSpPr txBox="1"/>
            <p:nvPr/>
          </p:nvSpPr>
          <p:spPr>
            <a:xfrm>
              <a:off x="137" y="1795"/>
              <a:ext cx="647"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D</a:t>
              </a:r>
              <a:r>
                <a:rPr b="0" baseline="-25000" i="1" lang="en-US" sz="2400" u="none" cap="none" strike="noStrike">
                  <a:solidFill>
                    <a:srgbClr val="000000"/>
                  </a:solidFill>
                  <a:latin typeface="Calibri"/>
                  <a:ea typeface="Calibri"/>
                  <a:cs typeface="Calibri"/>
                  <a:sym typeface="Calibri"/>
                </a:rPr>
                <a:t>trans</a:t>
              </a:r>
              <a:r>
                <a:rPr b="0" i="1" lang="en-US" sz="2400" u="none" cap="none" strike="noStrike">
                  <a:solidFill>
                    <a:srgbClr val="000000"/>
                  </a:solidFill>
                  <a:latin typeface="Calibri"/>
                  <a:ea typeface="Calibri"/>
                  <a:cs typeface="Calibri"/>
                  <a:sym typeface="Calibri"/>
                </a:rPr>
                <a:t> =</a:t>
              </a:r>
              <a:endParaRPr/>
            </a:p>
          </p:txBody>
        </p:sp>
        <p:grpSp>
          <p:nvGrpSpPr>
            <p:cNvPr id="4147" name="Google Shape;4147;p67"/>
            <p:cNvGrpSpPr/>
            <p:nvPr/>
          </p:nvGrpSpPr>
          <p:grpSpPr>
            <a:xfrm>
              <a:off x="827" y="1677"/>
              <a:ext cx="235" cy="499"/>
              <a:chOff x="155" y="2937"/>
              <a:chExt cx="235" cy="499"/>
            </a:xfrm>
          </p:grpSpPr>
          <p:sp>
            <p:nvSpPr>
              <p:cNvPr id="4148" name="Google Shape;4148;p67"/>
              <p:cNvSpPr txBox="1"/>
              <p:nvPr/>
            </p:nvSpPr>
            <p:spPr>
              <a:xfrm>
                <a:off x="176" y="2937"/>
                <a:ext cx="19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L</a:t>
                </a:r>
                <a:endParaRPr/>
              </a:p>
            </p:txBody>
          </p:sp>
          <p:sp>
            <p:nvSpPr>
              <p:cNvPr id="4149" name="Google Shape;4149;p67"/>
              <p:cNvSpPr txBox="1"/>
              <p:nvPr/>
            </p:nvSpPr>
            <p:spPr>
              <a:xfrm>
                <a:off x="155" y="3145"/>
                <a:ext cx="221"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R</a:t>
                </a:r>
                <a:endParaRPr/>
              </a:p>
            </p:txBody>
          </p:sp>
          <p:cxnSp>
            <p:nvCxnSpPr>
              <p:cNvPr id="4150" name="Google Shape;4150;p67"/>
              <p:cNvCxnSpPr/>
              <p:nvPr/>
            </p:nvCxnSpPr>
            <p:spPr>
              <a:xfrm>
                <a:off x="204" y="3192"/>
                <a:ext cx="186" cy="0"/>
              </a:xfrm>
              <a:prstGeom prst="straightConnector1">
                <a:avLst/>
              </a:prstGeom>
              <a:noFill/>
              <a:ln cap="flat" cmpd="sng" w="19050">
                <a:solidFill>
                  <a:schemeClr val="dk1"/>
                </a:solidFill>
                <a:prstDash val="solid"/>
                <a:round/>
                <a:headEnd len="med" w="med" type="none"/>
                <a:tailEnd len="med" w="med" type="none"/>
              </a:ln>
            </p:spPr>
          </p:cxnSp>
        </p:grpSp>
        <p:grpSp>
          <p:nvGrpSpPr>
            <p:cNvPr id="4151" name="Google Shape;4151;p67"/>
            <p:cNvGrpSpPr/>
            <p:nvPr/>
          </p:nvGrpSpPr>
          <p:grpSpPr>
            <a:xfrm>
              <a:off x="1233" y="1675"/>
              <a:ext cx="1225" cy="512"/>
              <a:chOff x="1401" y="1693"/>
              <a:chExt cx="1225" cy="512"/>
            </a:xfrm>
          </p:grpSpPr>
          <p:sp>
            <p:nvSpPr>
              <p:cNvPr id="4152" name="Google Shape;4152;p67"/>
              <p:cNvSpPr txBox="1"/>
              <p:nvPr/>
            </p:nvSpPr>
            <p:spPr>
              <a:xfrm>
                <a:off x="2085" y="1748"/>
                <a:ext cx="15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endParaRPr b="0" i="0" sz="2400" u="none" cap="none" strike="noStrike">
                  <a:solidFill>
                    <a:srgbClr val="000000"/>
                  </a:solidFill>
                  <a:latin typeface="Calibri"/>
                  <a:ea typeface="Calibri"/>
                  <a:cs typeface="Calibri"/>
                  <a:sym typeface="Calibri"/>
                </a:endParaRPr>
              </a:p>
            </p:txBody>
          </p:sp>
          <p:sp>
            <p:nvSpPr>
              <p:cNvPr id="4153" name="Google Shape;4153;p67"/>
              <p:cNvSpPr txBox="1"/>
              <p:nvPr/>
            </p:nvSpPr>
            <p:spPr>
              <a:xfrm>
                <a:off x="1563" y="1693"/>
                <a:ext cx="83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8000 bits</a:t>
                </a:r>
                <a:endParaRPr/>
              </a:p>
            </p:txBody>
          </p:sp>
          <p:sp>
            <p:nvSpPr>
              <p:cNvPr id="4154" name="Google Shape;4154;p67"/>
              <p:cNvSpPr txBox="1"/>
              <p:nvPr/>
            </p:nvSpPr>
            <p:spPr>
              <a:xfrm>
                <a:off x="1401" y="1917"/>
                <a:ext cx="122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10</a:t>
                </a:r>
                <a:r>
                  <a:rPr b="0" baseline="30000" i="1" lang="en-US" sz="2400" u="none" cap="none" strike="noStrike">
                    <a:solidFill>
                      <a:srgbClr val="000000"/>
                    </a:solidFill>
                    <a:latin typeface="Calibri"/>
                    <a:ea typeface="Calibri"/>
                    <a:cs typeface="Calibri"/>
                    <a:sym typeface="Calibri"/>
                  </a:rPr>
                  <a:t>9 </a:t>
                </a:r>
                <a:r>
                  <a:rPr b="0" i="1" lang="en-US" sz="2400" u="none" cap="none" strike="noStrike">
                    <a:solidFill>
                      <a:srgbClr val="000000"/>
                    </a:solidFill>
                    <a:latin typeface="Calibri"/>
                    <a:ea typeface="Calibri"/>
                    <a:cs typeface="Calibri"/>
                    <a:sym typeface="Calibri"/>
                  </a:rPr>
                  <a:t>bits/sec</a:t>
                </a:r>
                <a:endParaRPr/>
              </a:p>
            </p:txBody>
          </p:sp>
          <p:cxnSp>
            <p:nvCxnSpPr>
              <p:cNvPr id="4155" name="Google Shape;4155;p67"/>
              <p:cNvCxnSpPr/>
              <p:nvPr/>
            </p:nvCxnSpPr>
            <p:spPr>
              <a:xfrm>
                <a:off x="1604" y="1950"/>
                <a:ext cx="970" cy="0"/>
              </a:xfrm>
              <a:prstGeom prst="straightConnector1">
                <a:avLst/>
              </a:prstGeom>
              <a:noFill/>
              <a:ln cap="flat" cmpd="sng" w="19050">
                <a:solidFill>
                  <a:schemeClr val="dk1"/>
                </a:solidFill>
                <a:prstDash val="solid"/>
                <a:round/>
                <a:headEnd len="med" w="med" type="none"/>
                <a:tailEnd len="med" w="med" type="none"/>
              </a:ln>
            </p:spPr>
          </p:cxnSp>
        </p:grpSp>
        <p:sp>
          <p:nvSpPr>
            <p:cNvPr id="4156" name="Google Shape;4156;p67"/>
            <p:cNvSpPr txBox="1"/>
            <p:nvPr/>
          </p:nvSpPr>
          <p:spPr>
            <a:xfrm>
              <a:off x="1093"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4157" name="Google Shape;4157;p67"/>
            <p:cNvSpPr txBox="1"/>
            <p:nvPr/>
          </p:nvSpPr>
          <p:spPr>
            <a:xfrm>
              <a:off x="2509"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4158" name="Google Shape;4158;p67"/>
            <p:cNvSpPr txBox="1"/>
            <p:nvPr/>
          </p:nvSpPr>
          <p:spPr>
            <a:xfrm>
              <a:off x="2715" y="1777"/>
              <a:ext cx="102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 microsecs</a:t>
              </a:r>
              <a:endParaRPr/>
            </a:p>
          </p:txBody>
        </p:sp>
      </p:grpSp>
      <p:sp>
        <p:nvSpPr>
          <p:cNvPr id="4159" name="Google Shape;4159;p67"/>
          <p:cNvSpPr txBox="1"/>
          <p:nvPr/>
        </p:nvSpPr>
        <p:spPr>
          <a:xfrm>
            <a:off x="829076" y="3163511"/>
            <a:ext cx="9723349" cy="1044522"/>
          </a:xfrm>
          <a:prstGeom prst="rect">
            <a:avLst/>
          </a:prstGeom>
          <a:noFill/>
          <a:ln>
            <a:noFill/>
          </a:ln>
        </p:spPr>
        <p:txBody>
          <a:bodyPr anchorCtr="0" anchor="t" bIns="45700" lIns="91425" spcFirstLastPara="1" rIns="91425" wrap="square" tIns="45700">
            <a:normAutofit/>
          </a:bodyPr>
          <a:lstStyle/>
          <a:p>
            <a:pPr indent="-457200" lvl="1" marL="930275" marR="0" rtl="0" algn="l">
              <a:lnSpc>
                <a:spcPct val="90000"/>
              </a:lnSpc>
              <a:spcBef>
                <a:spcPts val="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time to transmit packet into channel:</a:t>
            </a:r>
            <a:endParaRPr/>
          </a:p>
        </p:txBody>
      </p:sp>
      <p:sp>
        <p:nvSpPr>
          <p:cNvPr id="4160" name="Google Shape;4160;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4"/>
                                        </p:tgtEl>
                                        <p:attrNameLst>
                                          <p:attrName>style.visibility</p:attrName>
                                        </p:attrNameLst>
                                      </p:cBhvr>
                                      <p:to>
                                        <p:strVal val="visible"/>
                                      </p:to>
                                    </p:set>
                                    <p:animEffect filter="fade" transition="in">
                                      <p:cBhvr>
                                        <p:cTn dur="500"/>
                                        <p:tgtEl>
                                          <p:spTgt spid="4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3">
                                            <p:txEl>
                                              <p:pRg end="0" st="0"/>
                                            </p:txEl>
                                          </p:spTgt>
                                        </p:tgtEl>
                                        <p:attrNameLst>
                                          <p:attrName>style.visibility</p:attrName>
                                        </p:attrNameLst>
                                      </p:cBhvr>
                                      <p:to>
                                        <p:strVal val="visible"/>
                                      </p:to>
                                    </p:set>
                                    <p:animEffect filter="fade" transition="in">
                                      <p:cBhvr>
                                        <p:cTn dur="500"/>
                                        <p:tgtEl>
                                          <p:spTgt spid="41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5"/>
                                        </p:tgtEl>
                                        <p:attrNameLst>
                                          <p:attrName>style.visibility</p:attrName>
                                        </p:attrNameLst>
                                      </p:cBhvr>
                                      <p:to>
                                        <p:strVal val="visible"/>
                                      </p:to>
                                    </p:set>
                                    <p:animEffect filter="fade" transition="in">
                                      <p:cBhvr>
                                        <p:cTn dur="500"/>
                                        <p:tgtEl>
                                          <p:spTgt spid="4145"/>
                                        </p:tgtEl>
                                      </p:cBhvr>
                                    </p:animEffect>
                                  </p:childTnLst>
                                </p:cTn>
                              </p:par>
                              <p:par>
                                <p:cTn fill="hold" nodeType="withEffect" presetClass="entr" presetID="10" presetSubtype="0">
                                  <p:stCondLst>
                                    <p:cond delay="0"/>
                                  </p:stCondLst>
                                  <p:childTnLst>
                                    <p:set>
                                      <p:cBhvr>
                                        <p:cTn dur="1" fill="hold">
                                          <p:stCondLst>
                                            <p:cond delay="0"/>
                                          </p:stCondLst>
                                        </p:cTn>
                                        <p:tgtEl>
                                          <p:spTgt spid="4159">
                                            <p:txEl>
                                              <p:pRg end="0" st="0"/>
                                            </p:txEl>
                                          </p:spTgt>
                                        </p:tgtEl>
                                        <p:attrNameLst>
                                          <p:attrName>style.visibility</p:attrName>
                                        </p:attrNameLst>
                                      </p:cBhvr>
                                      <p:to>
                                        <p:strVal val="visible"/>
                                      </p:to>
                                    </p:set>
                                    <p:animEffect filter="fade" transition="in">
                                      <p:cBhvr>
                                        <p:cTn dur="500"/>
                                        <p:tgtEl>
                                          <p:spTgt spid="415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5" name="Shape 4165"/>
        <p:cNvGrpSpPr/>
        <p:nvPr/>
      </p:nvGrpSpPr>
      <p:grpSpPr>
        <a:xfrm>
          <a:off x="0" y="0"/>
          <a:ext cx="0" cy="0"/>
          <a:chOff x="0" y="0"/>
          <a:chExt cx="0" cy="0"/>
        </a:xfrm>
      </p:grpSpPr>
      <p:sp>
        <p:nvSpPr>
          <p:cNvPr id="4166" name="Google Shape;4166;p6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grpSp>
        <p:nvGrpSpPr>
          <p:cNvPr id="4167" name="Google Shape;4167;p68"/>
          <p:cNvGrpSpPr/>
          <p:nvPr/>
        </p:nvGrpSpPr>
        <p:grpSpPr>
          <a:xfrm>
            <a:off x="3188111" y="1436688"/>
            <a:ext cx="8729662" cy="3249612"/>
            <a:chOff x="1660525" y="1638643"/>
            <a:chExt cx="8729662" cy="3249612"/>
          </a:xfrm>
        </p:grpSpPr>
        <p:cxnSp>
          <p:nvCxnSpPr>
            <p:cNvPr id="4168" name="Google Shape;4168;p68"/>
            <p:cNvCxnSpPr/>
            <p:nvPr/>
          </p:nvCxnSpPr>
          <p:spPr>
            <a:xfrm>
              <a:off x="4984750" y="2194268"/>
              <a:ext cx="2227262" cy="922337"/>
            </a:xfrm>
            <a:prstGeom prst="straightConnector1">
              <a:avLst/>
            </a:prstGeom>
            <a:noFill/>
            <a:ln cap="flat" cmpd="sng" w="9525">
              <a:solidFill>
                <a:srgbClr val="000000"/>
              </a:solidFill>
              <a:prstDash val="solid"/>
              <a:round/>
              <a:headEnd len="med" w="med" type="none"/>
              <a:tailEnd len="med" w="med" type="none"/>
            </a:ln>
          </p:spPr>
        </p:cxnSp>
        <p:sp>
          <p:nvSpPr>
            <p:cNvPr id="4169" name="Google Shape;4169;p68"/>
            <p:cNvSpPr txBox="1"/>
            <p:nvPr/>
          </p:nvSpPr>
          <p:spPr>
            <a:xfrm>
              <a:off x="1660525" y="1989480"/>
              <a:ext cx="3232150" cy="3524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a:p>
          </p:txBody>
        </p:sp>
        <p:cxnSp>
          <p:nvCxnSpPr>
            <p:cNvPr id="4170" name="Google Shape;4170;p68"/>
            <p:cNvCxnSpPr/>
            <p:nvPr/>
          </p:nvCxnSpPr>
          <p:spPr>
            <a:xfrm>
              <a:off x="4973637" y="1975193"/>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4171" name="Google Shape;4171;p68"/>
            <p:cNvCxnSpPr/>
            <p:nvPr/>
          </p:nvCxnSpPr>
          <p:spPr>
            <a:xfrm>
              <a:off x="7200900" y="1987893"/>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4172" name="Google Shape;4172;p68"/>
            <p:cNvSpPr txBox="1"/>
            <p:nvPr/>
          </p:nvSpPr>
          <p:spPr>
            <a:xfrm>
              <a:off x="4445000" y="1638643"/>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173" name="Google Shape;4173;p68"/>
            <p:cNvSpPr txBox="1"/>
            <p:nvPr/>
          </p:nvSpPr>
          <p:spPr>
            <a:xfrm>
              <a:off x="6623050" y="1638643"/>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174" name="Google Shape;4174;p68"/>
            <p:cNvCxnSpPr/>
            <p:nvPr/>
          </p:nvCxnSpPr>
          <p:spPr>
            <a:xfrm>
              <a:off x="4997450" y="2189505"/>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4175" name="Google Shape;4175;p68"/>
            <p:cNvCxnSpPr/>
            <p:nvPr/>
          </p:nvCxnSpPr>
          <p:spPr>
            <a:xfrm>
              <a:off x="5002212" y="4300880"/>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4176" name="Google Shape;4176;p68"/>
            <p:cNvCxnSpPr/>
            <p:nvPr/>
          </p:nvCxnSpPr>
          <p:spPr>
            <a:xfrm flipH="1" rot="10800000">
              <a:off x="5002212" y="3357905"/>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4177" name="Google Shape;4177;p68"/>
            <p:cNvSpPr/>
            <p:nvPr/>
          </p:nvSpPr>
          <p:spPr>
            <a:xfrm>
              <a:off x="4979987" y="2187918"/>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178" name="Google Shape;4178;p68"/>
            <p:cNvCxnSpPr/>
            <p:nvPr/>
          </p:nvCxnSpPr>
          <p:spPr>
            <a:xfrm rot="10800000">
              <a:off x="4835525" y="21879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179" name="Google Shape;4179;p68"/>
            <p:cNvCxnSpPr/>
            <p:nvPr/>
          </p:nvCxnSpPr>
          <p:spPr>
            <a:xfrm rot="10800000">
              <a:off x="4835525" y="24292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180" name="Google Shape;4180;p68"/>
            <p:cNvCxnSpPr/>
            <p:nvPr/>
          </p:nvCxnSpPr>
          <p:spPr>
            <a:xfrm rot="10800000">
              <a:off x="4846637" y="4288180"/>
              <a:ext cx="133350" cy="0"/>
            </a:xfrm>
            <a:prstGeom prst="straightConnector1">
              <a:avLst/>
            </a:prstGeom>
            <a:noFill/>
            <a:ln cap="flat" cmpd="sng" w="9525">
              <a:solidFill>
                <a:srgbClr val="000000"/>
              </a:solidFill>
              <a:prstDash val="solid"/>
              <a:round/>
              <a:headEnd len="med" w="med" type="none"/>
              <a:tailEnd len="med" w="med" type="none"/>
            </a:ln>
          </p:spPr>
        </p:cxnSp>
        <p:sp>
          <p:nvSpPr>
            <p:cNvPr id="4181" name="Google Shape;4181;p68"/>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4182" name="Google Shape;4182;p68"/>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4183" name="Google Shape;4183;p68"/>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cxnSp>
          <p:nvCxnSpPr>
            <p:cNvPr id="4184" name="Google Shape;4184;p68"/>
            <p:cNvCxnSpPr/>
            <p:nvPr/>
          </p:nvCxnSpPr>
          <p:spPr>
            <a:xfrm rot="10800000">
              <a:off x="7188200" y="3102318"/>
              <a:ext cx="133350" cy="0"/>
            </a:xfrm>
            <a:prstGeom prst="straightConnector1">
              <a:avLst/>
            </a:prstGeom>
            <a:noFill/>
            <a:ln cap="flat" cmpd="sng" w="9525">
              <a:solidFill>
                <a:srgbClr val="000000"/>
              </a:solidFill>
              <a:prstDash val="solid"/>
              <a:round/>
              <a:headEnd len="med" w="med" type="none"/>
              <a:tailEnd len="med" w="med" type="none"/>
            </a:ln>
          </p:spPr>
        </p:cxnSp>
        <p:sp>
          <p:nvSpPr>
            <p:cNvPr id="4185" name="Google Shape;4185;p68"/>
            <p:cNvSpPr txBox="1"/>
            <p:nvPr/>
          </p:nvSpPr>
          <p:spPr>
            <a:xfrm>
              <a:off x="7269162" y="2926105"/>
              <a:ext cx="24257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4186" name="Google Shape;4186;p68"/>
            <p:cNvCxnSpPr/>
            <p:nvPr/>
          </p:nvCxnSpPr>
          <p:spPr>
            <a:xfrm>
              <a:off x="7212012" y="3351555"/>
              <a:ext cx="127000" cy="0"/>
            </a:xfrm>
            <a:prstGeom prst="straightConnector1">
              <a:avLst/>
            </a:prstGeom>
            <a:noFill/>
            <a:ln cap="flat" cmpd="sng" w="9525">
              <a:solidFill>
                <a:srgbClr val="000000"/>
              </a:solidFill>
              <a:prstDash val="solid"/>
              <a:round/>
              <a:headEnd len="med" w="med" type="none"/>
              <a:tailEnd len="med" w="med" type="none"/>
            </a:ln>
          </p:spPr>
        </p:cxnSp>
        <p:sp>
          <p:nvSpPr>
            <p:cNvPr id="4187" name="Google Shape;4187;p68"/>
            <p:cNvSpPr txBox="1"/>
            <p:nvPr/>
          </p:nvSpPr>
          <p:spPr>
            <a:xfrm>
              <a:off x="7275512" y="3178518"/>
              <a:ext cx="3114675" cy="5699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4188" name="Google Shape;4188;p68"/>
            <p:cNvSpPr txBox="1"/>
            <p:nvPr/>
          </p:nvSpPr>
          <p:spPr>
            <a:xfrm>
              <a:off x="2252662" y="3961155"/>
              <a:ext cx="2686050" cy="63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a:t>
              </a:r>
              <a:r>
                <a:rPr b="0" i="0" lang="en-US" sz="1600" u="none" cap="none" strike="noStrike">
                  <a:solidFill>
                    <a:srgbClr val="CC0000"/>
                  </a:solidFill>
                  <a:latin typeface="Arial"/>
                  <a:ea typeface="Arial"/>
                  <a:cs typeface="Arial"/>
                  <a:sym typeface="Arial"/>
                </a:rPr>
                <a:t>t = RTT + L / R</a:t>
              </a:r>
              <a:endParaRPr b="0" i="0" sz="1600" u="none" cap="none" strike="noStrike">
                <a:solidFill>
                  <a:srgbClr val="CC0000"/>
                </a:solidFill>
                <a:latin typeface="Times New Roman"/>
                <a:ea typeface="Times New Roman"/>
                <a:cs typeface="Times New Roman"/>
                <a:sym typeface="Times New Roman"/>
              </a:endParaRPr>
            </a:p>
          </p:txBody>
        </p:sp>
        <p:sp>
          <p:nvSpPr>
            <p:cNvPr id="4189" name="Google Shape;4189;p68"/>
            <p:cNvSpPr/>
            <p:nvPr/>
          </p:nvSpPr>
          <p:spPr>
            <a:xfrm>
              <a:off x="4997450" y="4296118"/>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190" name="Google Shape;4190;p68"/>
            <p:cNvGrpSpPr/>
            <p:nvPr/>
          </p:nvGrpSpPr>
          <p:grpSpPr>
            <a:xfrm>
              <a:off x="4991100" y="4288180"/>
              <a:ext cx="1281112" cy="534988"/>
              <a:chOff x="12315" y="13225"/>
              <a:chExt cx="2775" cy="913"/>
            </a:xfrm>
          </p:grpSpPr>
          <p:cxnSp>
            <p:nvCxnSpPr>
              <p:cNvPr id="4191" name="Google Shape;4191;p68"/>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192" name="Google Shape;4192;p68"/>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193" name="Google Shape;4193;p68"/>
            <p:cNvCxnSpPr/>
            <p:nvPr/>
          </p:nvCxnSpPr>
          <p:spPr>
            <a:xfrm>
              <a:off x="4991100" y="4529480"/>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4194" name="Google Shape;4194;p68"/>
            <p:cNvCxnSpPr/>
            <p:nvPr/>
          </p:nvCxnSpPr>
          <p:spPr>
            <a:xfrm>
              <a:off x="5314950" y="4653305"/>
              <a:ext cx="541337" cy="234950"/>
            </a:xfrm>
            <a:prstGeom prst="straightConnector1">
              <a:avLst/>
            </a:prstGeom>
            <a:noFill/>
            <a:ln cap="flat" cmpd="sng" w="9525">
              <a:solidFill>
                <a:srgbClr val="000000"/>
              </a:solidFill>
              <a:prstDash val="dot"/>
              <a:round/>
              <a:headEnd len="med" w="med" type="none"/>
              <a:tailEnd len="med" w="med" type="none"/>
            </a:ln>
          </p:spPr>
        </p:cxnSp>
      </p:grpSp>
      <p:sp>
        <p:nvSpPr>
          <p:cNvPr id="4195" name="Google Shape;4195;p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7"/>
                                        </p:tgtEl>
                                        <p:attrNameLst>
                                          <p:attrName>style.visibility</p:attrName>
                                        </p:attrNameLst>
                                      </p:cBhvr>
                                      <p:to>
                                        <p:strVal val="visible"/>
                                      </p:to>
                                    </p:set>
                                    <p:animEffect filter="fade" transition="in">
                                      <p:cBhvr>
                                        <p:cTn dur="2000"/>
                                        <p:tgtEl>
                                          <p:spTgt spid="4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0" name="Shape 4200"/>
        <p:cNvGrpSpPr/>
        <p:nvPr/>
      </p:nvGrpSpPr>
      <p:grpSpPr>
        <a:xfrm>
          <a:off x="0" y="0"/>
          <a:ext cx="0" cy="0"/>
          <a:chOff x="0" y="0"/>
          <a:chExt cx="0" cy="0"/>
        </a:xfrm>
      </p:grpSpPr>
      <p:sp>
        <p:nvSpPr>
          <p:cNvPr id="4201" name="Google Shape;4201;p6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cxnSp>
        <p:nvCxnSpPr>
          <p:cNvPr id="4202" name="Google Shape;4202;p69"/>
          <p:cNvCxnSpPr/>
          <p:nvPr/>
        </p:nvCxnSpPr>
        <p:spPr>
          <a:xfrm>
            <a:off x="6523093" y="1992313"/>
            <a:ext cx="2227262" cy="922337"/>
          </a:xfrm>
          <a:prstGeom prst="straightConnector1">
            <a:avLst/>
          </a:prstGeom>
          <a:noFill/>
          <a:ln cap="flat" cmpd="sng" w="9525">
            <a:solidFill>
              <a:srgbClr val="000000"/>
            </a:solidFill>
            <a:prstDash val="solid"/>
            <a:round/>
            <a:headEnd len="med" w="med" type="none"/>
            <a:tailEnd len="med" w="med" type="none"/>
          </a:ln>
        </p:spPr>
      </p:cxnSp>
      <p:cxnSp>
        <p:nvCxnSpPr>
          <p:cNvPr id="4203" name="Google Shape;4203;p69"/>
          <p:cNvCxnSpPr/>
          <p:nvPr/>
        </p:nvCxnSpPr>
        <p:spPr>
          <a:xfrm>
            <a:off x="6511980" y="1773238"/>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4204" name="Google Shape;4204;p69"/>
          <p:cNvCxnSpPr/>
          <p:nvPr/>
        </p:nvCxnSpPr>
        <p:spPr>
          <a:xfrm>
            <a:off x="8739243" y="1785938"/>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4205" name="Google Shape;4205;p69"/>
          <p:cNvSpPr txBox="1"/>
          <p:nvPr/>
        </p:nvSpPr>
        <p:spPr>
          <a:xfrm>
            <a:off x="5983343" y="1436688"/>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206" name="Google Shape;4206;p69"/>
          <p:cNvSpPr txBox="1"/>
          <p:nvPr/>
        </p:nvSpPr>
        <p:spPr>
          <a:xfrm>
            <a:off x="8161393" y="1436688"/>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207" name="Google Shape;4207;p69"/>
          <p:cNvCxnSpPr/>
          <p:nvPr/>
        </p:nvCxnSpPr>
        <p:spPr>
          <a:xfrm>
            <a:off x="6535793" y="1987550"/>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4208" name="Google Shape;4208;p69"/>
          <p:cNvCxnSpPr/>
          <p:nvPr/>
        </p:nvCxnSpPr>
        <p:spPr>
          <a:xfrm>
            <a:off x="6540555" y="4098925"/>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4209" name="Google Shape;4209;p69"/>
          <p:cNvCxnSpPr/>
          <p:nvPr/>
        </p:nvCxnSpPr>
        <p:spPr>
          <a:xfrm flipH="1" rot="10800000">
            <a:off x="6540555" y="3155950"/>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4210" name="Google Shape;4210;p69"/>
          <p:cNvSpPr/>
          <p:nvPr/>
        </p:nvSpPr>
        <p:spPr>
          <a:xfrm>
            <a:off x="6518330" y="1985963"/>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211" name="Google Shape;4211;p69"/>
          <p:cNvCxnSpPr/>
          <p:nvPr/>
        </p:nvCxnSpPr>
        <p:spPr>
          <a:xfrm rot="10800000">
            <a:off x="6373868" y="19859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212" name="Google Shape;4212;p69"/>
          <p:cNvCxnSpPr/>
          <p:nvPr/>
        </p:nvCxnSpPr>
        <p:spPr>
          <a:xfrm rot="10800000">
            <a:off x="6373868" y="22272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213" name="Google Shape;4213;p69"/>
          <p:cNvCxnSpPr/>
          <p:nvPr/>
        </p:nvCxnSpPr>
        <p:spPr>
          <a:xfrm rot="10800000">
            <a:off x="6384980" y="4086225"/>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4214" name="Google Shape;4214;p69"/>
          <p:cNvCxnSpPr/>
          <p:nvPr/>
        </p:nvCxnSpPr>
        <p:spPr>
          <a:xfrm rot="10800000">
            <a:off x="8726543" y="2900363"/>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4215" name="Google Shape;4215;p69"/>
          <p:cNvCxnSpPr/>
          <p:nvPr/>
        </p:nvCxnSpPr>
        <p:spPr>
          <a:xfrm>
            <a:off x="8750355" y="3149600"/>
            <a:ext cx="127000" cy="0"/>
          </a:xfrm>
          <a:prstGeom prst="straightConnector1">
            <a:avLst/>
          </a:prstGeom>
          <a:noFill/>
          <a:ln cap="flat" cmpd="sng" w="9525">
            <a:solidFill>
              <a:srgbClr val="000000"/>
            </a:solidFill>
            <a:prstDash val="solid"/>
            <a:round/>
            <a:headEnd len="med" w="med" type="none"/>
            <a:tailEnd len="med" w="med" type="none"/>
          </a:ln>
        </p:spPr>
      </p:cxnSp>
      <p:sp>
        <p:nvSpPr>
          <p:cNvPr id="4216" name="Google Shape;4216;p69"/>
          <p:cNvSpPr/>
          <p:nvPr/>
        </p:nvSpPr>
        <p:spPr>
          <a:xfrm>
            <a:off x="6535793" y="4094163"/>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217" name="Google Shape;4217;p69"/>
          <p:cNvGrpSpPr/>
          <p:nvPr/>
        </p:nvGrpSpPr>
        <p:grpSpPr>
          <a:xfrm>
            <a:off x="6529443" y="4086225"/>
            <a:ext cx="1281112" cy="534988"/>
            <a:chOff x="12315" y="13225"/>
            <a:chExt cx="2775" cy="913"/>
          </a:xfrm>
        </p:grpSpPr>
        <p:cxnSp>
          <p:nvCxnSpPr>
            <p:cNvPr id="4218" name="Google Shape;4218;p69"/>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219" name="Google Shape;4219;p69"/>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220" name="Google Shape;4220;p69"/>
          <p:cNvCxnSpPr/>
          <p:nvPr/>
        </p:nvCxnSpPr>
        <p:spPr>
          <a:xfrm>
            <a:off x="6529443" y="4327525"/>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4221" name="Google Shape;4221;p69"/>
          <p:cNvCxnSpPr/>
          <p:nvPr/>
        </p:nvCxnSpPr>
        <p:spPr>
          <a:xfrm>
            <a:off x="6853293" y="4451350"/>
            <a:ext cx="541337" cy="234950"/>
          </a:xfrm>
          <a:prstGeom prst="straightConnector1">
            <a:avLst/>
          </a:prstGeom>
          <a:noFill/>
          <a:ln cap="flat" cmpd="sng" w="9525">
            <a:solidFill>
              <a:srgbClr val="000000"/>
            </a:solidFill>
            <a:prstDash val="dot"/>
            <a:round/>
            <a:headEnd len="med" w="med" type="none"/>
            <a:tailEnd len="med" w="med" type="none"/>
          </a:ln>
        </p:spPr>
      </p:cxnSp>
      <p:grpSp>
        <p:nvGrpSpPr>
          <p:cNvPr id="4222" name="Google Shape;4222;p69"/>
          <p:cNvGrpSpPr/>
          <p:nvPr/>
        </p:nvGrpSpPr>
        <p:grpSpPr>
          <a:xfrm>
            <a:off x="2244612" y="2022637"/>
            <a:ext cx="1278602" cy="597475"/>
            <a:chOff x="749300" y="3009900"/>
            <a:chExt cx="1278602" cy="597475"/>
          </a:xfrm>
        </p:grpSpPr>
        <p:sp>
          <p:nvSpPr>
            <p:cNvPr id="4223" name="Google Shape;4223;p69"/>
            <p:cNvSpPr txBox="1"/>
            <p:nvPr/>
          </p:nvSpPr>
          <p:spPr>
            <a:xfrm>
              <a:off x="749300" y="3022600"/>
              <a:ext cx="111120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U</a:t>
              </a:r>
              <a:r>
                <a:rPr b="0" baseline="-25000" i="0" lang="en-US" sz="2800" u="none" cap="none" strike="noStrike">
                  <a:solidFill>
                    <a:srgbClr val="000000"/>
                  </a:solidFill>
                  <a:latin typeface="Calibri"/>
                  <a:ea typeface="Calibri"/>
                  <a:cs typeface="Calibri"/>
                  <a:sym typeface="Calibri"/>
                </a:rPr>
                <a:t>sender</a:t>
              </a:r>
              <a:endParaRPr b="0" baseline="-25000" i="0" sz="2800" u="none" cap="none" strike="noStrike">
                <a:solidFill>
                  <a:srgbClr val="000000"/>
                </a:solidFill>
                <a:latin typeface="Calibri"/>
                <a:ea typeface="Calibri"/>
                <a:cs typeface="Calibri"/>
                <a:sym typeface="Calibri"/>
              </a:endParaRPr>
            </a:p>
          </p:txBody>
        </p:sp>
        <p:sp>
          <p:nvSpPr>
            <p:cNvPr id="4224" name="Google Shape;4224;p69"/>
            <p:cNvSpPr txBox="1"/>
            <p:nvPr/>
          </p:nvSpPr>
          <p:spPr>
            <a:xfrm>
              <a:off x="1663700" y="300990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sp>
        <p:nvSpPr>
          <p:cNvPr id="4225" name="Google Shape;4225;p69"/>
          <p:cNvSpPr txBox="1"/>
          <p:nvPr/>
        </p:nvSpPr>
        <p:spPr>
          <a:xfrm>
            <a:off x="4022612" y="1768637"/>
            <a:ext cx="83388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L / R</a:t>
            </a:r>
            <a:endParaRPr/>
          </a:p>
        </p:txBody>
      </p:sp>
      <p:sp>
        <p:nvSpPr>
          <p:cNvPr id="4226" name="Google Shape;4226;p69"/>
          <p:cNvSpPr txBox="1"/>
          <p:nvPr/>
        </p:nvSpPr>
        <p:spPr>
          <a:xfrm>
            <a:off x="3565412" y="2314737"/>
            <a:ext cx="73109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endParaRPr/>
          </a:p>
        </p:txBody>
      </p:sp>
      <p:cxnSp>
        <p:nvCxnSpPr>
          <p:cNvPr id="4227" name="Google Shape;4227;p69"/>
          <p:cNvCxnSpPr/>
          <p:nvPr/>
        </p:nvCxnSpPr>
        <p:spPr>
          <a:xfrm>
            <a:off x="3654312" y="2314737"/>
            <a:ext cx="1549400" cy="0"/>
          </a:xfrm>
          <a:prstGeom prst="straightConnector1">
            <a:avLst/>
          </a:prstGeom>
          <a:noFill/>
          <a:ln cap="flat" cmpd="sng" w="22225">
            <a:solidFill>
              <a:schemeClr val="dk1"/>
            </a:solidFill>
            <a:prstDash val="solid"/>
            <a:miter lim="800000"/>
            <a:headEnd len="sm" w="sm" type="none"/>
            <a:tailEnd len="sm" w="sm" type="none"/>
          </a:ln>
        </p:spPr>
      </p:cxnSp>
      <p:grpSp>
        <p:nvGrpSpPr>
          <p:cNvPr id="4228" name="Google Shape;4228;p69"/>
          <p:cNvGrpSpPr/>
          <p:nvPr/>
        </p:nvGrpSpPr>
        <p:grpSpPr>
          <a:xfrm>
            <a:off x="5721405" y="2234921"/>
            <a:ext cx="847725" cy="1860804"/>
            <a:chOff x="4183062" y="2436876"/>
            <a:chExt cx="847725" cy="1860804"/>
          </a:xfrm>
        </p:grpSpPr>
        <p:sp>
          <p:nvSpPr>
            <p:cNvPr id="4229" name="Google Shape;4229;p69"/>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4230" name="Google Shape;4230;p69"/>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4231" name="Google Shape;4231;p69"/>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sp>
          <p:nvSpPr>
            <p:cNvPr id="4232" name="Google Shape;4232;p69"/>
            <p:cNvSpPr/>
            <p:nvPr/>
          </p:nvSpPr>
          <p:spPr>
            <a:xfrm>
              <a:off x="4421124" y="2436876"/>
              <a:ext cx="77724" cy="1860804"/>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233" name="Google Shape;4233;p69"/>
          <p:cNvGrpSpPr/>
          <p:nvPr/>
        </p:nvGrpSpPr>
        <p:grpSpPr>
          <a:xfrm>
            <a:off x="5737741" y="1941782"/>
            <a:ext cx="847725" cy="336550"/>
            <a:chOff x="4199398" y="2143737"/>
            <a:chExt cx="847725" cy="336550"/>
          </a:xfrm>
        </p:grpSpPr>
        <p:sp>
          <p:nvSpPr>
            <p:cNvPr id="4234" name="Google Shape;4234;p69"/>
            <p:cNvSpPr txBox="1"/>
            <p:nvPr/>
          </p:nvSpPr>
          <p:spPr>
            <a:xfrm>
              <a:off x="4199398" y="2143737"/>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L/R</a:t>
              </a:r>
              <a:endParaRPr b="0" i="0" sz="2400" u="none" cap="none" strike="noStrike">
                <a:solidFill>
                  <a:srgbClr val="000000"/>
                </a:solidFill>
                <a:latin typeface="Times New Roman"/>
                <a:ea typeface="Times New Roman"/>
                <a:cs typeface="Times New Roman"/>
                <a:sym typeface="Times New Roman"/>
              </a:endParaRPr>
            </a:p>
          </p:txBody>
        </p:sp>
        <p:sp>
          <p:nvSpPr>
            <p:cNvPr id="4235" name="Google Shape;4235;p69"/>
            <p:cNvSpPr/>
            <p:nvPr/>
          </p:nvSpPr>
          <p:spPr>
            <a:xfrm>
              <a:off x="4418854" y="2180844"/>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4236" name="Google Shape;4236;p69"/>
          <p:cNvSpPr txBox="1"/>
          <p:nvPr/>
        </p:nvSpPr>
        <p:spPr>
          <a:xfrm>
            <a:off x="4175012" y="2314737"/>
            <a:ext cx="109517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L / R</a:t>
            </a:r>
            <a:endParaRPr/>
          </a:p>
        </p:txBody>
      </p:sp>
      <p:grpSp>
        <p:nvGrpSpPr>
          <p:cNvPr id="4237" name="Google Shape;4237;p69"/>
          <p:cNvGrpSpPr/>
          <p:nvPr/>
        </p:nvGrpSpPr>
        <p:grpSpPr>
          <a:xfrm>
            <a:off x="3156251" y="2947504"/>
            <a:ext cx="1781653" cy="1463020"/>
            <a:chOff x="1660939" y="3934767"/>
            <a:chExt cx="1781653" cy="1463020"/>
          </a:xfrm>
        </p:grpSpPr>
        <p:sp>
          <p:nvSpPr>
            <p:cNvPr id="4238" name="Google Shape;4238;p69"/>
            <p:cNvSpPr txBox="1"/>
            <p:nvPr/>
          </p:nvSpPr>
          <p:spPr>
            <a:xfrm>
              <a:off x="1673639" y="485649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sp>
          <p:nvSpPr>
            <p:cNvPr id="4239" name="Google Shape;4239;p69"/>
            <p:cNvSpPr txBox="1"/>
            <p:nvPr/>
          </p:nvSpPr>
          <p:spPr>
            <a:xfrm>
              <a:off x="2070100" y="4874567"/>
              <a:ext cx="137249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0.00027</a:t>
              </a:r>
              <a:endParaRPr/>
            </a:p>
          </p:txBody>
        </p:sp>
        <p:grpSp>
          <p:nvGrpSpPr>
            <p:cNvPr id="4240" name="Google Shape;4240;p69"/>
            <p:cNvGrpSpPr/>
            <p:nvPr/>
          </p:nvGrpSpPr>
          <p:grpSpPr>
            <a:xfrm>
              <a:off x="1660939" y="3934767"/>
              <a:ext cx="1473628" cy="868065"/>
              <a:chOff x="1660939" y="3795067"/>
              <a:chExt cx="1473628" cy="868065"/>
            </a:xfrm>
          </p:grpSpPr>
          <p:sp>
            <p:nvSpPr>
              <p:cNvPr id="4241" name="Google Shape;4241;p69"/>
              <p:cNvSpPr txBox="1"/>
              <p:nvPr/>
            </p:nvSpPr>
            <p:spPr>
              <a:xfrm>
                <a:off x="1660939" y="3952557"/>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nvGrpSpPr>
              <p:cNvPr id="4242" name="Google Shape;4242;p69"/>
              <p:cNvGrpSpPr/>
              <p:nvPr/>
            </p:nvGrpSpPr>
            <p:grpSpPr>
              <a:xfrm>
                <a:off x="2095500" y="3795067"/>
                <a:ext cx="1039067" cy="868065"/>
                <a:chOff x="2032000" y="3795067"/>
                <a:chExt cx="1039067" cy="868065"/>
              </a:xfrm>
            </p:grpSpPr>
            <p:sp>
              <p:nvSpPr>
                <p:cNvPr id="4243" name="Google Shape;4243;p69"/>
                <p:cNvSpPr txBox="1"/>
                <p:nvPr/>
              </p:nvSpPr>
              <p:spPr>
                <a:xfrm>
                  <a:off x="2146300" y="3795067"/>
                  <a:ext cx="72808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.008</a:t>
                  </a:r>
                  <a:endParaRPr/>
                </a:p>
              </p:txBody>
            </p:sp>
            <p:sp>
              <p:nvSpPr>
                <p:cNvPr id="4244" name="Google Shape;4244;p69"/>
                <p:cNvSpPr txBox="1"/>
                <p:nvPr/>
              </p:nvSpPr>
              <p:spPr>
                <a:xfrm>
                  <a:off x="2032000" y="4201467"/>
                  <a:ext cx="1039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30.008</a:t>
                  </a:r>
                  <a:endParaRPr/>
                </a:p>
              </p:txBody>
            </p:sp>
            <p:cxnSp>
              <p:nvCxnSpPr>
                <p:cNvPr id="4245" name="Google Shape;4245;p69"/>
                <p:cNvCxnSpPr/>
                <p:nvPr/>
              </p:nvCxnSpPr>
              <p:spPr>
                <a:xfrm>
                  <a:off x="2120900" y="4239567"/>
                  <a:ext cx="825500" cy="0"/>
                </a:xfrm>
                <a:prstGeom prst="straightConnector1">
                  <a:avLst/>
                </a:prstGeom>
                <a:noFill/>
                <a:ln cap="flat" cmpd="sng" w="19050">
                  <a:solidFill>
                    <a:schemeClr val="dk1"/>
                  </a:solidFill>
                  <a:prstDash val="solid"/>
                  <a:miter lim="800000"/>
                  <a:headEnd len="sm" w="sm" type="none"/>
                  <a:tailEnd len="sm" w="sm" type="none"/>
                </a:ln>
              </p:spPr>
            </p:cxnSp>
          </p:grpSp>
        </p:grpSp>
      </p:grpSp>
      <p:sp>
        <p:nvSpPr>
          <p:cNvPr id="4246" name="Google Shape;4246;p69"/>
          <p:cNvSpPr/>
          <p:nvPr/>
        </p:nvSpPr>
        <p:spPr>
          <a:xfrm>
            <a:off x="5728597" y="1978889"/>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47" name="Google Shape;4247;p69"/>
          <p:cNvSpPr txBox="1"/>
          <p:nvPr/>
        </p:nvSpPr>
        <p:spPr>
          <a:xfrm>
            <a:off x="1219200" y="5055243"/>
            <a:ext cx="10194664" cy="1231106"/>
          </a:xfrm>
          <a:prstGeom prst="rect">
            <a:avLst/>
          </a:prstGeom>
          <a:noFill/>
          <a:ln>
            <a:noFill/>
          </a:ln>
        </p:spPr>
        <p:txBody>
          <a:bodyPr anchorCtr="0" anchor="t" bIns="45700" lIns="91425" spcFirstLastPara="1" rIns="91425" wrap="square" tIns="45700">
            <a:spAutoFit/>
          </a:bodyPr>
          <a:lstStyle/>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rdt 3.0 protocol performance stinks!</a:t>
            </a:r>
            <a:endParaRPr/>
          </a:p>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Protocol limits performance of underlying infrastructure (channel)</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8" name="Google Shape;4248;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2"/>
                                        </p:tgtEl>
                                        <p:attrNameLst>
                                          <p:attrName>style.visibility</p:attrName>
                                        </p:attrNameLst>
                                      </p:cBhvr>
                                      <p:to>
                                        <p:strVal val="visible"/>
                                      </p:to>
                                    </p:set>
                                    <p:animEffect filter="fade" transition="in">
                                      <p:cBhvr>
                                        <p:cTn dur="500"/>
                                        <p:tgtEl>
                                          <p:spTgt spid="4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6"/>
                                        </p:tgtEl>
                                        <p:attrNameLst>
                                          <p:attrName>style.visibility</p:attrName>
                                        </p:attrNameLst>
                                      </p:cBhvr>
                                      <p:to>
                                        <p:strVal val="visible"/>
                                      </p:to>
                                    </p:set>
                                    <p:animEffect filter="fade" transition="in">
                                      <p:cBhvr>
                                        <p:cTn dur="500"/>
                                        <p:tgtEl>
                                          <p:spTgt spid="4226"/>
                                        </p:tgtEl>
                                      </p:cBhvr>
                                    </p:animEffect>
                                  </p:childTnLst>
                                </p:cTn>
                              </p:par>
                              <p:par>
                                <p:cTn fill="hold" nodeType="withEffect" presetClass="entr" presetID="10" presetSubtype="0">
                                  <p:stCondLst>
                                    <p:cond delay="0"/>
                                  </p:stCondLst>
                                  <p:childTnLst>
                                    <p:set>
                                      <p:cBhvr>
                                        <p:cTn dur="1" fill="hold">
                                          <p:stCondLst>
                                            <p:cond delay="0"/>
                                          </p:stCondLst>
                                        </p:cTn>
                                        <p:tgtEl>
                                          <p:spTgt spid="4228"/>
                                        </p:tgtEl>
                                        <p:attrNameLst>
                                          <p:attrName>style.visibility</p:attrName>
                                        </p:attrNameLst>
                                      </p:cBhvr>
                                      <p:to>
                                        <p:strVal val="visible"/>
                                      </p:to>
                                    </p:set>
                                    <p:animEffect filter="fade" transition="in">
                                      <p:cBhvr>
                                        <p:cTn dur="500"/>
                                        <p:tgtEl>
                                          <p:spTgt spid="4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3"/>
                                        </p:tgtEl>
                                        <p:attrNameLst>
                                          <p:attrName>style.visibility</p:attrName>
                                        </p:attrNameLst>
                                      </p:cBhvr>
                                      <p:to>
                                        <p:strVal val="visible"/>
                                      </p:to>
                                    </p:set>
                                    <p:animEffect filter="fade" transition="in">
                                      <p:cBhvr>
                                        <p:cTn dur="500"/>
                                        <p:tgtEl>
                                          <p:spTgt spid="4233"/>
                                        </p:tgtEl>
                                      </p:cBhvr>
                                    </p:animEffect>
                                  </p:childTnLst>
                                </p:cTn>
                              </p:par>
                              <p:par>
                                <p:cTn fill="hold" nodeType="withEffect" presetClass="entr" presetID="10" presetSubtype="0">
                                  <p:stCondLst>
                                    <p:cond delay="0"/>
                                  </p:stCondLst>
                                  <p:childTnLst>
                                    <p:set>
                                      <p:cBhvr>
                                        <p:cTn dur="1" fill="hold">
                                          <p:stCondLst>
                                            <p:cond delay="0"/>
                                          </p:stCondLst>
                                        </p:cTn>
                                        <p:tgtEl>
                                          <p:spTgt spid="4236"/>
                                        </p:tgtEl>
                                        <p:attrNameLst>
                                          <p:attrName>style.visibility</p:attrName>
                                        </p:attrNameLst>
                                      </p:cBhvr>
                                      <p:to>
                                        <p:strVal val="visible"/>
                                      </p:to>
                                    </p:set>
                                    <p:animEffect filter="fade" transition="in">
                                      <p:cBhvr>
                                        <p:cTn dur="500"/>
                                        <p:tgtEl>
                                          <p:spTgt spid="4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5"/>
                                        </p:tgtEl>
                                        <p:attrNameLst>
                                          <p:attrName>style.visibility</p:attrName>
                                        </p:attrNameLst>
                                      </p:cBhvr>
                                      <p:to>
                                        <p:strVal val="visible"/>
                                      </p:to>
                                    </p:set>
                                    <p:animEffect filter="fade" transition="in">
                                      <p:cBhvr>
                                        <p:cTn dur="500"/>
                                        <p:tgtEl>
                                          <p:spTgt spid="4225"/>
                                        </p:tgtEl>
                                      </p:cBhvr>
                                    </p:animEffect>
                                  </p:childTnLst>
                                </p:cTn>
                              </p:par>
                              <p:par>
                                <p:cTn fill="hold" nodeType="withEffect" presetClass="entr" presetID="10" presetSubtype="0">
                                  <p:stCondLst>
                                    <p:cond delay="0"/>
                                  </p:stCondLst>
                                  <p:childTnLst>
                                    <p:set>
                                      <p:cBhvr>
                                        <p:cTn dur="1" fill="hold">
                                          <p:stCondLst>
                                            <p:cond delay="0"/>
                                          </p:stCondLst>
                                        </p:cTn>
                                        <p:tgtEl>
                                          <p:spTgt spid="4246"/>
                                        </p:tgtEl>
                                        <p:attrNameLst>
                                          <p:attrName>style.visibility</p:attrName>
                                        </p:attrNameLst>
                                      </p:cBhvr>
                                      <p:to>
                                        <p:strVal val="visible"/>
                                      </p:to>
                                    </p:set>
                                    <p:animEffect filter="fade" transition="in">
                                      <p:cBhvr>
                                        <p:cTn dur="500"/>
                                        <p:tgtEl>
                                          <p:spTgt spid="424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27"/>
                                        </p:tgtEl>
                                        <p:attrNameLst>
                                          <p:attrName>style.visibility</p:attrName>
                                        </p:attrNameLst>
                                      </p:cBhvr>
                                      <p:to>
                                        <p:strVal val="visible"/>
                                      </p:to>
                                    </p:set>
                                    <p:animEffect filter="fade" transition="in">
                                      <p:cBhvr>
                                        <p:cTn dur="500"/>
                                        <p:tgtEl>
                                          <p:spTgt spid="4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7"/>
                                        </p:tgtEl>
                                        <p:attrNameLst>
                                          <p:attrName>style.visibility</p:attrName>
                                        </p:attrNameLst>
                                      </p:cBhvr>
                                      <p:to>
                                        <p:strVal val="visible"/>
                                      </p:to>
                                    </p:set>
                                    <p:animEffect filter="fade" transition="in">
                                      <p:cBhvr>
                                        <p:cTn dur="500"/>
                                        <p:tgtEl>
                                          <p:spTgt spid="4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7"/>
                                        </p:tgtEl>
                                        <p:attrNameLst>
                                          <p:attrName>style.visibility</p:attrName>
                                        </p:attrNameLst>
                                      </p:cBhvr>
                                      <p:to>
                                        <p:strVal val="visible"/>
                                      </p:to>
                                    </p:set>
                                    <p:animEffect filter="fade" transition="in">
                                      <p:cBhvr>
                                        <p:cTn dur="500"/>
                                        <p:tgtEl>
                                          <p:spTgt spid="4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3" name="Shape 4253"/>
        <p:cNvGrpSpPr/>
        <p:nvPr/>
      </p:nvGrpSpPr>
      <p:grpSpPr>
        <a:xfrm>
          <a:off x="0" y="0"/>
          <a:ext cx="0" cy="0"/>
          <a:chOff x="0" y="0"/>
          <a:chExt cx="0" cy="0"/>
        </a:xfrm>
      </p:grpSpPr>
      <p:sp>
        <p:nvSpPr>
          <p:cNvPr id="4254" name="Google Shape;4254;p7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pipelined protocols operation</a:t>
            </a:r>
            <a:endParaRPr sz="4400"/>
          </a:p>
        </p:txBody>
      </p:sp>
      <p:sp>
        <p:nvSpPr>
          <p:cNvPr id="4255" name="Google Shape;4255;p70"/>
          <p:cNvSpPr txBox="1"/>
          <p:nvPr/>
        </p:nvSpPr>
        <p:spPr>
          <a:xfrm>
            <a:off x="722556" y="1312877"/>
            <a:ext cx="10988826" cy="203318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pipelining:</a:t>
            </a:r>
            <a:r>
              <a:rPr b="0" i="0" lang="en-US" sz="2800" u="none" cap="none" strike="noStrike">
                <a:solidFill>
                  <a:srgbClr val="000000"/>
                </a:solidFill>
                <a:latin typeface="Calibri"/>
                <a:ea typeface="Calibri"/>
                <a:cs typeface="Calibri"/>
                <a:sym typeface="Calibri"/>
              </a:rPr>
              <a:t> sender allows multiple, “in-flight”, yet-to-be-acknowledged packets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range of sequence numbers must be increased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buffering at sender and/or receiver</a:t>
            </a:r>
            <a:endParaRPr/>
          </a:p>
        </p:txBody>
      </p:sp>
      <p:grpSp>
        <p:nvGrpSpPr>
          <p:cNvPr id="4256" name="Google Shape;4256;p70"/>
          <p:cNvGrpSpPr/>
          <p:nvPr/>
        </p:nvGrpSpPr>
        <p:grpSpPr>
          <a:xfrm>
            <a:off x="2916237" y="2993267"/>
            <a:ext cx="6359525" cy="2370138"/>
            <a:chOff x="1673403" y="3019025"/>
            <a:chExt cx="6359525" cy="2370138"/>
          </a:xfrm>
        </p:grpSpPr>
        <p:pic>
          <p:nvPicPr>
            <p:cNvPr descr="rdt_pipelined1" id="4257" name="Google Shape;4257;p70"/>
            <p:cNvPicPr preferRelativeResize="0"/>
            <p:nvPr/>
          </p:nvPicPr>
          <p:blipFill rotWithShape="1">
            <a:blip r:embed="rId3">
              <a:alphaModFix/>
            </a:blip>
            <a:srcRect b="0" l="0" r="0" t="0"/>
            <a:stretch/>
          </p:blipFill>
          <p:spPr>
            <a:xfrm>
              <a:off x="1927403" y="3019025"/>
              <a:ext cx="6105525" cy="2370138"/>
            </a:xfrm>
            <a:prstGeom prst="rect">
              <a:avLst/>
            </a:prstGeom>
            <a:noFill/>
            <a:ln>
              <a:noFill/>
            </a:ln>
          </p:spPr>
        </p:pic>
        <p:grpSp>
          <p:nvGrpSpPr>
            <p:cNvPr id="4258" name="Google Shape;4258;p70"/>
            <p:cNvGrpSpPr/>
            <p:nvPr/>
          </p:nvGrpSpPr>
          <p:grpSpPr>
            <a:xfrm>
              <a:off x="1673403" y="3696888"/>
              <a:ext cx="469900" cy="465137"/>
              <a:chOff x="881" y="2283"/>
              <a:chExt cx="296" cy="293"/>
            </a:xfrm>
          </p:grpSpPr>
          <p:sp>
            <p:nvSpPr>
              <p:cNvPr id="4259" name="Google Shape;4259;p70"/>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60" name="Google Shape;4260;p70"/>
              <p:cNvGrpSpPr/>
              <p:nvPr/>
            </p:nvGrpSpPr>
            <p:grpSpPr>
              <a:xfrm flipH="1">
                <a:off x="881" y="2283"/>
                <a:ext cx="296" cy="293"/>
                <a:chOff x="2839" y="3501"/>
                <a:chExt cx="755" cy="803"/>
              </a:xfrm>
            </p:grpSpPr>
            <p:pic>
              <p:nvPicPr>
                <p:cNvPr descr="desktop_computer_stylized_medium" id="4261" name="Google Shape;4261;p7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4262" name="Google Shape;4262;p7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4263" name="Google Shape;4263;p70"/>
            <p:cNvSpPr/>
            <p:nvPr/>
          </p:nvSpPr>
          <p:spPr>
            <a:xfrm>
              <a:off x="7613828" y="3709588"/>
              <a:ext cx="185737" cy="431800"/>
            </a:xfrm>
            <a:custGeom>
              <a:rect b="b" l="l" r="r" t="t"/>
              <a:pathLst>
                <a:path extrusionOk="0" h="272" w="117">
                  <a:moveTo>
                    <a:pt x="6" y="6"/>
                  </a:moveTo>
                  <a:lnTo>
                    <a:pt x="3" y="77"/>
                  </a:lnTo>
                  <a:lnTo>
                    <a:pt x="59" y="120"/>
                  </a:lnTo>
                  <a:lnTo>
                    <a:pt x="0" y="146"/>
                  </a:lnTo>
                  <a:lnTo>
                    <a:pt x="3" y="270"/>
                  </a:lnTo>
                  <a:lnTo>
                    <a:pt x="117" y="272"/>
                  </a:lnTo>
                  <a:lnTo>
                    <a:pt x="114" y="0"/>
                  </a:lnTo>
                  <a:lnTo>
                    <a:pt x="6" y="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64" name="Google Shape;4264;p70"/>
            <p:cNvGrpSpPr/>
            <p:nvPr/>
          </p:nvGrpSpPr>
          <p:grpSpPr>
            <a:xfrm>
              <a:off x="4784903" y="3714350"/>
              <a:ext cx="469900" cy="465138"/>
              <a:chOff x="881" y="2283"/>
              <a:chExt cx="296" cy="293"/>
            </a:xfrm>
          </p:grpSpPr>
          <p:sp>
            <p:nvSpPr>
              <p:cNvPr id="4265" name="Google Shape;4265;p70"/>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66" name="Google Shape;4266;p70"/>
              <p:cNvGrpSpPr/>
              <p:nvPr/>
            </p:nvGrpSpPr>
            <p:grpSpPr>
              <a:xfrm flipH="1">
                <a:off x="881" y="2283"/>
                <a:ext cx="296" cy="293"/>
                <a:chOff x="2839" y="3501"/>
                <a:chExt cx="755" cy="803"/>
              </a:xfrm>
            </p:grpSpPr>
            <p:pic>
              <p:nvPicPr>
                <p:cNvPr descr="desktop_computer_stylized_medium" id="4267" name="Google Shape;4267;p7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4268" name="Google Shape;4268;p7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4269" name="Google Shape;4269;p70"/>
            <p:cNvGrpSpPr/>
            <p:nvPr/>
          </p:nvGrpSpPr>
          <p:grpSpPr>
            <a:xfrm>
              <a:off x="4493546" y="3633388"/>
              <a:ext cx="223838" cy="501650"/>
              <a:chOff x="4140" y="429"/>
              <a:chExt cx="1425" cy="2396"/>
            </a:xfrm>
          </p:grpSpPr>
          <p:sp>
            <p:nvSpPr>
              <p:cNvPr id="4270" name="Google Shape;4270;p7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1" name="Google Shape;4271;p70"/>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72" name="Google Shape;4272;p7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3" name="Google Shape;4273;p7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4" name="Google Shape;4274;p70"/>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75" name="Google Shape;4275;p70"/>
              <p:cNvGrpSpPr/>
              <p:nvPr/>
            </p:nvGrpSpPr>
            <p:grpSpPr>
              <a:xfrm>
                <a:off x="4747" y="671"/>
                <a:ext cx="586" cy="144"/>
                <a:chOff x="611" y="2571"/>
                <a:chExt cx="731" cy="138"/>
              </a:xfrm>
            </p:grpSpPr>
            <p:sp>
              <p:nvSpPr>
                <p:cNvPr id="4276" name="Google Shape;4276;p70"/>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77" name="Google Shape;4277;p70"/>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78" name="Google Shape;4278;p70"/>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79" name="Google Shape;4279;p70"/>
              <p:cNvGrpSpPr/>
              <p:nvPr/>
            </p:nvGrpSpPr>
            <p:grpSpPr>
              <a:xfrm>
                <a:off x="4746" y="998"/>
                <a:ext cx="586" cy="129"/>
                <a:chOff x="613" y="2572"/>
                <a:chExt cx="731" cy="134"/>
              </a:xfrm>
            </p:grpSpPr>
            <p:sp>
              <p:nvSpPr>
                <p:cNvPr id="4280" name="Google Shape;4280;p70"/>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81" name="Google Shape;4281;p70"/>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82" name="Google Shape;4282;p70"/>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83" name="Google Shape;4283;p70"/>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284" name="Google Shape;4284;p70"/>
              <p:cNvGrpSpPr/>
              <p:nvPr/>
            </p:nvGrpSpPr>
            <p:grpSpPr>
              <a:xfrm>
                <a:off x="4737" y="1627"/>
                <a:ext cx="576" cy="152"/>
                <a:chOff x="616" y="2568"/>
                <a:chExt cx="718" cy="140"/>
              </a:xfrm>
            </p:grpSpPr>
            <p:sp>
              <p:nvSpPr>
                <p:cNvPr id="4285" name="Google Shape;4285;p70"/>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86" name="Google Shape;4286;p70"/>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87" name="Google Shape;4287;p7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88" name="Google Shape;4288;p70"/>
              <p:cNvGrpSpPr/>
              <p:nvPr/>
            </p:nvGrpSpPr>
            <p:grpSpPr>
              <a:xfrm>
                <a:off x="4737" y="1324"/>
                <a:ext cx="586" cy="144"/>
                <a:chOff x="611" y="2565"/>
                <a:chExt cx="730" cy="144"/>
              </a:xfrm>
            </p:grpSpPr>
            <p:sp>
              <p:nvSpPr>
                <p:cNvPr id="4289" name="Google Shape;4289;p70"/>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0" name="Google Shape;4290;p70"/>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291" name="Google Shape;4291;p70"/>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2" name="Google Shape;4292;p7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3" name="Google Shape;4293;p7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4" name="Google Shape;4294;p70"/>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5" name="Google Shape;4295;p7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6" name="Google Shape;4296;p70"/>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7" name="Google Shape;4297;p70"/>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8" name="Google Shape;4298;p70"/>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299" name="Google Shape;4299;p70"/>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300" name="Google Shape;4300;p70"/>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01" name="Google Shape;4301;p70"/>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4302" name="Google Shape;4302;p70"/>
            <p:cNvGrpSpPr/>
            <p:nvPr/>
          </p:nvGrpSpPr>
          <p:grpSpPr>
            <a:xfrm>
              <a:off x="7659865" y="3576238"/>
              <a:ext cx="223838" cy="501650"/>
              <a:chOff x="4140" y="429"/>
              <a:chExt cx="1425" cy="2396"/>
            </a:xfrm>
          </p:grpSpPr>
          <p:sp>
            <p:nvSpPr>
              <p:cNvPr id="4303" name="Google Shape;4303;p7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4" name="Google Shape;4304;p70"/>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05" name="Google Shape;4305;p7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6" name="Google Shape;4306;p7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7" name="Google Shape;4307;p70"/>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308" name="Google Shape;4308;p70"/>
              <p:cNvGrpSpPr/>
              <p:nvPr/>
            </p:nvGrpSpPr>
            <p:grpSpPr>
              <a:xfrm>
                <a:off x="4747" y="671"/>
                <a:ext cx="586" cy="144"/>
                <a:chOff x="611" y="2571"/>
                <a:chExt cx="731" cy="138"/>
              </a:xfrm>
            </p:grpSpPr>
            <p:sp>
              <p:nvSpPr>
                <p:cNvPr id="4309" name="Google Shape;4309;p70"/>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0" name="Google Shape;4310;p70"/>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11" name="Google Shape;4311;p70"/>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312" name="Google Shape;4312;p70"/>
              <p:cNvGrpSpPr/>
              <p:nvPr/>
            </p:nvGrpSpPr>
            <p:grpSpPr>
              <a:xfrm>
                <a:off x="4746" y="998"/>
                <a:ext cx="586" cy="129"/>
                <a:chOff x="613" y="2572"/>
                <a:chExt cx="731" cy="134"/>
              </a:xfrm>
            </p:grpSpPr>
            <p:sp>
              <p:nvSpPr>
                <p:cNvPr id="4313" name="Google Shape;4313;p70"/>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4" name="Google Shape;4314;p70"/>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15" name="Google Shape;4315;p70"/>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6" name="Google Shape;4316;p70"/>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317" name="Google Shape;4317;p70"/>
              <p:cNvGrpSpPr/>
              <p:nvPr/>
            </p:nvGrpSpPr>
            <p:grpSpPr>
              <a:xfrm>
                <a:off x="4737" y="1627"/>
                <a:ext cx="576" cy="152"/>
                <a:chOff x="616" y="2568"/>
                <a:chExt cx="718" cy="140"/>
              </a:xfrm>
            </p:grpSpPr>
            <p:sp>
              <p:nvSpPr>
                <p:cNvPr id="4318" name="Google Shape;4318;p70"/>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19" name="Google Shape;4319;p70"/>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20" name="Google Shape;4320;p7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21" name="Google Shape;4321;p70"/>
              <p:cNvGrpSpPr/>
              <p:nvPr/>
            </p:nvGrpSpPr>
            <p:grpSpPr>
              <a:xfrm>
                <a:off x="4737" y="1324"/>
                <a:ext cx="586" cy="144"/>
                <a:chOff x="611" y="2565"/>
                <a:chExt cx="730" cy="144"/>
              </a:xfrm>
            </p:grpSpPr>
            <p:sp>
              <p:nvSpPr>
                <p:cNvPr id="4322" name="Google Shape;4322;p70"/>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23" name="Google Shape;4323;p70"/>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324" name="Google Shape;4324;p70"/>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25" name="Google Shape;4325;p7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6" name="Google Shape;4326;p7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7" name="Google Shape;4327;p70"/>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28" name="Google Shape;4328;p7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9" name="Google Shape;4329;p70"/>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0" name="Google Shape;4330;p70"/>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1" name="Google Shape;4331;p70"/>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2" name="Google Shape;4332;p70"/>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333" name="Google Shape;4333;p70"/>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334" name="Google Shape;4334;p70"/>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sp>
        <p:nvSpPr>
          <p:cNvPr id="4335" name="Google Shape;4335;p70"/>
          <p:cNvSpPr/>
          <p:nvPr/>
        </p:nvSpPr>
        <p:spPr>
          <a:xfrm>
            <a:off x="6069496" y="2941983"/>
            <a:ext cx="3750365" cy="2491408"/>
          </a:xfrm>
          <a:custGeom>
            <a:rect b="b" l="l" r="r" t="t"/>
            <a:pathLst>
              <a:path extrusionOk="0" h="2491408" w="3750365">
                <a:moveTo>
                  <a:pt x="331304" y="0"/>
                </a:moveTo>
                <a:lnTo>
                  <a:pt x="0" y="861391"/>
                </a:lnTo>
                <a:lnTo>
                  <a:pt x="13252" y="1378226"/>
                </a:lnTo>
                <a:lnTo>
                  <a:pt x="26504" y="2491408"/>
                </a:lnTo>
                <a:lnTo>
                  <a:pt x="3750365" y="2451652"/>
                </a:lnTo>
                <a:lnTo>
                  <a:pt x="3723861" y="79513"/>
                </a:lnTo>
                <a:lnTo>
                  <a:pt x="331304"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36" name="Google Shape;4336;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335"/>
                                        </p:tgtEl>
                                      </p:cBhvr>
                                    </p:animEffect>
                                    <p:set>
                                      <p:cBhvr>
                                        <p:cTn dur="1" fill="hold">
                                          <p:stCondLst>
                                            <p:cond delay="500"/>
                                          </p:stCondLst>
                                        </p:cTn>
                                        <p:tgtEl>
                                          <p:spTgt spid="433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1" name="Shape 4341"/>
        <p:cNvGrpSpPr/>
        <p:nvPr/>
      </p:nvGrpSpPr>
      <p:grpSpPr>
        <a:xfrm>
          <a:off x="0" y="0"/>
          <a:ext cx="0" cy="0"/>
          <a:chOff x="0" y="0"/>
          <a:chExt cx="0" cy="0"/>
        </a:xfrm>
      </p:grpSpPr>
      <p:sp>
        <p:nvSpPr>
          <p:cNvPr id="4342" name="Google Shape;4342;p7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Pipelining: increased utilization</a:t>
            </a:r>
            <a:endParaRPr sz="4400"/>
          </a:p>
        </p:txBody>
      </p:sp>
      <p:grpSp>
        <p:nvGrpSpPr>
          <p:cNvPr id="4343" name="Google Shape;4343;p71"/>
          <p:cNvGrpSpPr/>
          <p:nvPr/>
        </p:nvGrpSpPr>
        <p:grpSpPr>
          <a:xfrm>
            <a:off x="1436915" y="1417186"/>
            <a:ext cx="9144000" cy="3759200"/>
            <a:chOff x="1436915" y="1417186"/>
            <a:chExt cx="9144000" cy="3759200"/>
          </a:xfrm>
        </p:grpSpPr>
        <p:grpSp>
          <p:nvGrpSpPr>
            <p:cNvPr id="4344" name="Google Shape;4344;p71"/>
            <p:cNvGrpSpPr/>
            <p:nvPr/>
          </p:nvGrpSpPr>
          <p:grpSpPr>
            <a:xfrm>
              <a:off x="1436915" y="1744211"/>
              <a:ext cx="5265738" cy="3432175"/>
              <a:chOff x="1436915" y="1744211"/>
              <a:chExt cx="5265738" cy="3432175"/>
            </a:xfrm>
          </p:grpSpPr>
          <p:sp>
            <p:nvSpPr>
              <p:cNvPr id="4345" name="Google Shape;4345;p71"/>
              <p:cNvSpPr txBox="1"/>
              <p:nvPr/>
            </p:nvSpPr>
            <p:spPr>
              <a:xfrm>
                <a:off x="1436915" y="1760086"/>
                <a:ext cx="3086100" cy="3540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b="0" i="0" sz="1600" u="none" cap="none" strike="noStrike">
                  <a:solidFill>
                    <a:srgbClr val="000000"/>
                  </a:solidFill>
                  <a:latin typeface="Times New Roman"/>
                  <a:ea typeface="Times New Roman"/>
                  <a:cs typeface="Times New Roman"/>
                  <a:sym typeface="Times New Roman"/>
                </a:endParaRPr>
              </a:p>
            </p:txBody>
          </p:sp>
          <p:cxnSp>
            <p:nvCxnSpPr>
              <p:cNvPr id="4346" name="Google Shape;4346;p71"/>
              <p:cNvCxnSpPr/>
              <p:nvPr/>
            </p:nvCxnSpPr>
            <p:spPr>
              <a:xfrm>
                <a:off x="4599215" y="1744211"/>
                <a:ext cx="20638" cy="3284538"/>
              </a:xfrm>
              <a:prstGeom prst="straightConnector1">
                <a:avLst/>
              </a:prstGeom>
              <a:noFill/>
              <a:ln cap="flat" cmpd="sng" w="9525">
                <a:solidFill>
                  <a:srgbClr val="000000"/>
                </a:solidFill>
                <a:prstDash val="solid"/>
                <a:round/>
                <a:headEnd len="med" w="med" type="none"/>
                <a:tailEnd len="med" w="med" type="triangle"/>
              </a:ln>
            </p:spPr>
          </p:cxnSp>
          <p:cxnSp>
            <p:nvCxnSpPr>
              <p:cNvPr id="4347" name="Google Shape;4347;p71"/>
              <p:cNvCxnSpPr/>
              <p:nvPr/>
            </p:nvCxnSpPr>
            <p:spPr>
              <a:xfrm>
                <a:off x="6680428" y="1756911"/>
                <a:ext cx="22225" cy="3351213"/>
              </a:xfrm>
              <a:prstGeom prst="straightConnector1">
                <a:avLst/>
              </a:prstGeom>
              <a:noFill/>
              <a:ln cap="flat" cmpd="sng" w="9525">
                <a:solidFill>
                  <a:srgbClr val="000000"/>
                </a:solidFill>
                <a:prstDash val="solid"/>
                <a:round/>
                <a:headEnd len="med" w="med" type="none"/>
                <a:tailEnd len="med" w="med" type="triangle"/>
              </a:ln>
            </p:spPr>
          </p:cxnSp>
          <p:grpSp>
            <p:nvGrpSpPr>
              <p:cNvPr id="4348" name="Google Shape;4348;p71"/>
              <p:cNvGrpSpPr/>
              <p:nvPr/>
            </p:nvGrpSpPr>
            <p:grpSpPr>
              <a:xfrm>
                <a:off x="4480153" y="4081011"/>
                <a:ext cx="1466850" cy="608013"/>
                <a:chOff x="12502" y="21425"/>
                <a:chExt cx="3400" cy="1025"/>
              </a:xfrm>
            </p:grpSpPr>
            <p:cxnSp>
              <p:nvCxnSpPr>
                <p:cNvPr id="4349" name="Google Shape;4349;p71"/>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350" name="Google Shape;4350;p71"/>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351" name="Google Shape;4351;p71"/>
                <p:cNvGrpSpPr/>
                <p:nvPr/>
              </p:nvGrpSpPr>
              <p:grpSpPr>
                <a:xfrm>
                  <a:off x="12815" y="21425"/>
                  <a:ext cx="2776" cy="913"/>
                  <a:chOff x="12315" y="13225"/>
                  <a:chExt cx="2775" cy="913"/>
                </a:xfrm>
              </p:grpSpPr>
              <p:cxnSp>
                <p:nvCxnSpPr>
                  <p:cNvPr id="4352" name="Google Shape;4352;p71"/>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353" name="Google Shape;4353;p71"/>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354" name="Google Shape;4354;p71"/>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355" name="Google Shape;4355;p71"/>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4356" name="Google Shape;4356;p71"/>
              <p:cNvGrpSpPr/>
              <p:nvPr/>
            </p:nvGrpSpPr>
            <p:grpSpPr>
              <a:xfrm>
                <a:off x="4469040" y="4319136"/>
                <a:ext cx="1466850" cy="606425"/>
                <a:chOff x="12502" y="21425"/>
                <a:chExt cx="3400" cy="1025"/>
              </a:xfrm>
            </p:grpSpPr>
            <p:cxnSp>
              <p:nvCxnSpPr>
                <p:cNvPr id="4357" name="Google Shape;4357;p71"/>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358" name="Google Shape;4358;p71"/>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359" name="Google Shape;4359;p71"/>
                <p:cNvGrpSpPr/>
                <p:nvPr/>
              </p:nvGrpSpPr>
              <p:grpSpPr>
                <a:xfrm>
                  <a:off x="12815" y="21425"/>
                  <a:ext cx="2776" cy="913"/>
                  <a:chOff x="12315" y="13225"/>
                  <a:chExt cx="2775" cy="913"/>
                </a:xfrm>
              </p:grpSpPr>
              <p:cxnSp>
                <p:nvCxnSpPr>
                  <p:cNvPr id="4360" name="Google Shape;4360;p71"/>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361" name="Google Shape;4361;p71"/>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362" name="Google Shape;4362;p71"/>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363" name="Google Shape;4363;p71"/>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4364" name="Google Shape;4364;p71"/>
              <p:cNvGrpSpPr/>
              <p:nvPr/>
            </p:nvGrpSpPr>
            <p:grpSpPr>
              <a:xfrm>
                <a:off x="4480153" y="4569961"/>
                <a:ext cx="1466850" cy="606425"/>
                <a:chOff x="12502" y="21425"/>
                <a:chExt cx="3400" cy="1025"/>
              </a:xfrm>
            </p:grpSpPr>
            <p:cxnSp>
              <p:nvCxnSpPr>
                <p:cNvPr id="4365" name="Google Shape;4365;p71"/>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366" name="Google Shape;4366;p71"/>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367" name="Google Shape;4367;p71"/>
                <p:cNvGrpSpPr/>
                <p:nvPr/>
              </p:nvGrpSpPr>
              <p:grpSpPr>
                <a:xfrm>
                  <a:off x="12815" y="21425"/>
                  <a:ext cx="2776" cy="913"/>
                  <a:chOff x="12315" y="13225"/>
                  <a:chExt cx="2775" cy="913"/>
                </a:xfrm>
              </p:grpSpPr>
              <p:cxnSp>
                <p:nvCxnSpPr>
                  <p:cNvPr id="4368" name="Google Shape;4368;p71"/>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369" name="Google Shape;4369;p71"/>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370" name="Google Shape;4370;p71"/>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371" name="Google Shape;4371;p71"/>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cxnSp>
            <p:nvCxnSpPr>
              <p:cNvPr id="4372" name="Google Shape;4372;p71"/>
              <p:cNvCxnSpPr/>
              <p:nvPr/>
            </p:nvCxnSpPr>
            <p:spPr>
              <a:xfrm flipH="1" rot="10800000">
                <a:off x="4630965" y="3646036"/>
                <a:ext cx="2065338" cy="931863"/>
              </a:xfrm>
              <a:prstGeom prst="straightConnector1">
                <a:avLst/>
              </a:prstGeom>
              <a:noFill/>
              <a:ln cap="flat" cmpd="sng" w="9525">
                <a:solidFill>
                  <a:srgbClr val="000000"/>
                </a:solidFill>
                <a:prstDash val="solid"/>
                <a:round/>
                <a:headEnd len="med" w="med" type="none"/>
                <a:tailEnd len="med" w="med" type="none"/>
              </a:ln>
            </p:spPr>
          </p:cxnSp>
        </p:grpSp>
        <p:grpSp>
          <p:nvGrpSpPr>
            <p:cNvPr id="4373" name="Google Shape;4373;p71"/>
            <p:cNvGrpSpPr/>
            <p:nvPr/>
          </p:nvGrpSpPr>
          <p:grpSpPr>
            <a:xfrm>
              <a:off x="1782990" y="1417186"/>
              <a:ext cx="8797925" cy="2974975"/>
              <a:chOff x="1782990" y="1417186"/>
              <a:chExt cx="8797925" cy="2974975"/>
            </a:xfrm>
          </p:grpSpPr>
          <p:cxnSp>
            <p:nvCxnSpPr>
              <p:cNvPr id="4374" name="Google Shape;4374;p71"/>
              <p:cNvCxnSpPr/>
              <p:nvPr/>
            </p:nvCxnSpPr>
            <p:spPr>
              <a:xfrm>
                <a:off x="4608740" y="1966461"/>
                <a:ext cx="2082800" cy="931863"/>
              </a:xfrm>
              <a:prstGeom prst="straightConnector1">
                <a:avLst/>
              </a:prstGeom>
              <a:noFill/>
              <a:ln cap="flat" cmpd="sng" w="9525">
                <a:solidFill>
                  <a:srgbClr val="000000"/>
                </a:solidFill>
                <a:prstDash val="solid"/>
                <a:round/>
                <a:headEnd len="med" w="med" type="none"/>
                <a:tailEnd len="med" w="med" type="none"/>
              </a:ln>
            </p:spPr>
          </p:cxnSp>
          <p:sp>
            <p:nvSpPr>
              <p:cNvPr id="4375" name="Google Shape;4375;p71"/>
              <p:cNvSpPr txBox="1"/>
              <p:nvPr/>
            </p:nvSpPr>
            <p:spPr>
              <a:xfrm>
                <a:off x="4138840" y="1417186"/>
                <a:ext cx="1042988"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376" name="Google Shape;4376;p71"/>
              <p:cNvSpPr txBox="1"/>
              <p:nvPr/>
            </p:nvSpPr>
            <p:spPr>
              <a:xfrm>
                <a:off x="6167665" y="1417186"/>
                <a:ext cx="1108075"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377" name="Google Shape;4377;p71"/>
              <p:cNvCxnSpPr/>
              <p:nvPr/>
            </p:nvCxnSpPr>
            <p:spPr>
              <a:xfrm>
                <a:off x="4619853" y="1961699"/>
                <a:ext cx="2049462" cy="3175"/>
              </a:xfrm>
              <a:prstGeom prst="straightConnector1">
                <a:avLst/>
              </a:prstGeom>
              <a:noFill/>
              <a:ln cap="flat" cmpd="sng" w="9525">
                <a:solidFill>
                  <a:srgbClr val="000000"/>
                </a:solidFill>
                <a:prstDash val="dash"/>
                <a:round/>
                <a:headEnd len="med" w="med" type="none"/>
                <a:tailEnd len="med" w="med" type="none"/>
              </a:ln>
            </p:spPr>
          </p:cxnSp>
          <p:cxnSp>
            <p:nvCxnSpPr>
              <p:cNvPr id="4378" name="Google Shape;4378;p71"/>
              <p:cNvCxnSpPr/>
              <p:nvPr/>
            </p:nvCxnSpPr>
            <p:spPr>
              <a:xfrm>
                <a:off x="4626203" y="4093711"/>
                <a:ext cx="2049462" cy="0"/>
              </a:xfrm>
              <a:prstGeom prst="straightConnector1">
                <a:avLst/>
              </a:prstGeom>
              <a:noFill/>
              <a:ln cap="flat" cmpd="sng" w="9525">
                <a:solidFill>
                  <a:srgbClr val="000000"/>
                </a:solidFill>
                <a:prstDash val="dash"/>
                <a:round/>
                <a:headEnd len="med" w="med" type="none"/>
                <a:tailEnd len="med" w="med" type="none"/>
              </a:ln>
            </p:spPr>
          </p:cxnSp>
          <p:sp>
            <p:nvSpPr>
              <p:cNvPr id="4379" name="Google Shape;4379;p71"/>
              <p:cNvSpPr/>
              <p:nvPr/>
            </p:nvSpPr>
            <p:spPr>
              <a:xfrm>
                <a:off x="4603978" y="1958524"/>
                <a:ext cx="2087562" cy="1169987"/>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380" name="Google Shape;4380;p71"/>
              <p:cNvCxnSpPr/>
              <p:nvPr/>
            </p:nvCxnSpPr>
            <p:spPr>
              <a:xfrm flipH="1">
                <a:off x="4469040" y="1958524"/>
                <a:ext cx="123825" cy="3175"/>
              </a:xfrm>
              <a:prstGeom prst="straightConnector1">
                <a:avLst/>
              </a:prstGeom>
              <a:noFill/>
              <a:ln cap="flat" cmpd="sng" w="9525">
                <a:solidFill>
                  <a:srgbClr val="000000"/>
                </a:solidFill>
                <a:prstDash val="solid"/>
                <a:round/>
                <a:headEnd len="med" w="med" type="none"/>
                <a:tailEnd len="med" w="med" type="none"/>
              </a:ln>
            </p:spPr>
          </p:cxnSp>
          <p:cxnSp>
            <p:nvCxnSpPr>
              <p:cNvPr id="4381" name="Google Shape;4381;p71"/>
              <p:cNvCxnSpPr/>
              <p:nvPr/>
            </p:nvCxnSpPr>
            <p:spPr>
              <a:xfrm rot="10800000">
                <a:off x="4469040" y="2202999"/>
                <a:ext cx="123825" cy="0"/>
              </a:xfrm>
              <a:prstGeom prst="straightConnector1">
                <a:avLst/>
              </a:prstGeom>
              <a:noFill/>
              <a:ln cap="flat" cmpd="sng" w="9525">
                <a:solidFill>
                  <a:srgbClr val="000000"/>
                </a:solidFill>
                <a:prstDash val="solid"/>
                <a:round/>
                <a:headEnd len="med" w="med" type="none"/>
                <a:tailEnd len="med" w="med" type="none"/>
              </a:ln>
            </p:spPr>
          </p:cxnSp>
          <p:sp>
            <p:nvSpPr>
              <p:cNvPr id="4382" name="Google Shape;4382;p71"/>
              <p:cNvSpPr txBox="1"/>
              <p:nvPr/>
            </p:nvSpPr>
            <p:spPr>
              <a:xfrm>
                <a:off x="3687990" y="2942774"/>
                <a:ext cx="965200" cy="3397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RTT </a:t>
                </a:r>
                <a:endParaRPr b="0" i="0" sz="1600" u="none" cap="none" strike="noStrike">
                  <a:solidFill>
                    <a:srgbClr val="000000"/>
                  </a:solidFill>
                  <a:latin typeface="Times New Roman"/>
                  <a:ea typeface="Times New Roman"/>
                  <a:cs typeface="Times New Roman"/>
                  <a:sym typeface="Times New Roman"/>
                </a:endParaRPr>
              </a:p>
            </p:txBody>
          </p:sp>
          <p:cxnSp>
            <p:nvCxnSpPr>
              <p:cNvPr id="4383" name="Google Shape;4383;p71"/>
              <p:cNvCxnSpPr/>
              <p:nvPr/>
            </p:nvCxnSpPr>
            <p:spPr>
              <a:xfrm>
                <a:off x="4502378" y="3253924"/>
                <a:ext cx="9525" cy="820737"/>
              </a:xfrm>
              <a:prstGeom prst="straightConnector1">
                <a:avLst/>
              </a:prstGeom>
              <a:noFill/>
              <a:ln cap="flat" cmpd="sng" w="9525">
                <a:solidFill>
                  <a:srgbClr val="000000"/>
                </a:solidFill>
                <a:prstDash val="solid"/>
                <a:round/>
                <a:headEnd len="med" w="med" type="none"/>
                <a:tailEnd len="med" w="med" type="triangle"/>
              </a:ln>
            </p:spPr>
          </p:cxnSp>
          <p:cxnSp>
            <p:nvCxnSpPr>
              <p:cNvPr id="4384" name="Google Shape;4384;p71"/>
              <p:cNvCxnSpPr/>
              <p:nvPr/>
            </p:nvCxnSpPr>
            <p:spPr>
              <a:xfrm flipH="1" rot="10800000">
                <a:off x="4507140" y="2225224"/>
                <a:ext cx="1588" cy="776287"/>
              </a:xfrm>
              <a:prstGeom prst="straightConnector1">
                <a:avLst/>
              </a:prstGeom>
              <a:noFill/>
              <a:ln cap="flat" cmpd="sng" w="9525">
                <a:solidFill>
                  <a:srgbClr val="000000"/>
                </a:solidFill>
                <a:prstDash val="solid"/>
                <a:round/>
                <a:headEnd len="med" w="med" type="none"/>
                <a:tailEnd len="med" w="med" type="triangle"/>
              </a:ln>
            </p:spPr>
          </p:cxnSp>
          <p:sp>
            <p:nvSpPr>
              <p:cNvPr id="4385" name="Google Shape;4385;p71"/>
              <p:cNvSpPr txBox="1"/>
              <p:nvPr/>
            </p:nvSpPr>
            <p:spPr>
              <a:xfrm>
                <a:off x="1782990" y="2041074"/>
                <a:ext cx="2740025" cy="3540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transmitted, t = L / R</a:t>
                </a:r>
                <a:endParaRPr b="0" i="0" sz="1600" u="none" cap="none" strike="noStrike">
                  <a:solidFill>
                    <a:srgbClr val="000000"/>
                  </a:solidFill>
                  <a:latin typeface="Times New Roman"/>
                  <a:ea typeface="Times New Roman"/>
                  <a:cs typeface="Times New Roman"/>
                  <a:sym typeface="Times New Roman"/>
                </a:endParaRPr>
              </a:p>
            </p:txBody>
          </p:sp>
          <p:cxnSp>
            <p:nvCxnSpPr>
              <p:cNvPr id="4386" name="Google Shape;4386;p71"/>
              <p:cNvCxnSpPr/>
              <p:nvPr/>
            </p:nvCxnSpPr>
            <p:spPr>
              <a:xfrm rot="10800000">
                <a:off x="6669315" y="2884036"/>
                <a:ext cx="125413" cy="0"/>
              </a:xfrm>
              <a:prstGeom prst="straightConnector1">
                <a:avLst/>
              </a:prstGeom>
              <a:noFill/>
              <a:ln cap="flat" cmpd="sng" w="9525">
                <a:solidFill>
                  <a:srgbClr val="000000"/>
                </a:solidFill>
                <a:prstDash val="solid"/>
                <a:round/>
                <a:headEnd len="med" w="med" type="none"/>
                <a:tailEnd len="med" w="med" type="none"/>
              </a:ln>
            </p:spPr>
          </p:cxnSp>
          <p:sp>
            <p:nvSpPr>
              <p:cNvPr id="4387" name="Google Shape;4387;p71"/>
              <p:cNvSpPr txBox="1"/>
              <p:nvPr/>
            </p:nvSpPr>
            <p:spPr>
              <a:xfrm>
                <a:off x="6745515" y="2706236"/>
                <a:ext cx="2641600" cy="35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4388" name="Google Shape;4388;p71"/>
              <p:cNvCxnSpPr/>
              <p:nvPr/>
            </p:nvCxnSpPr>
            <p:spPr>
              <a:xfrm>
                <a:off x="6691540" y="3134861"/>
                <a:ext cx="119063" cy="0"/>
              </a:xfrm>
              <a:prstGeom prst="straightConnector1">
                <a:avLst/>
              </a:prstGeom>
              <a:noFill/>
              <a:ln cap="flat" cmpd="sng" w="9525">
                <a:solidFill>
                  <a:srgbClr val="000000"/>
                </a:solidFill>
                <a:prstDash val="solid"/>
                <a:round/>
                <a:headEnd len="med" w="med" type="none"/>
                <a:tailEnd len="med" w="med" type="none"/>
              </a:ln>
            </p:spPr>
          </p:cxnSp>
          <p:sp>
            <p:nvSpPr>
              <p:cNvPr id="4389" name="Google Shape;4389;p71"/>
              <p:cNvSpPr txBox="1"/>
              <p:nvPr/>
            </p:nvSpPr>
            <p:spPr>
              <a:xfrm>
                <a:off x="6750278" y="2958649"/>
                <a:ext cx="3581400"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4390" name="Google Shape;4390;p71"/>
              <p:cNvSpPr txBox="1"/>
              <p:nvPr/>
            </p:nvSpPr>
            <p:spPr>
              <a:xfrm>
                <a:off x="1930628" y="3750811"/>
                <a:ext cx="2635250" cy="641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t = RTT + L / R</a:t>
                </a:r>
                <a:endParaRPr b="0" i="0" sz="1600" u="none" cap="none" strike="noStrike">
                  <a:solidFill>
                    <a:srgbClr val="000000"/>
                  </a:solidFill>
                  <a:latin typeface="Times New Roman"/>
                  <a:ea typeface="Times New Roman"/>
                  <a:cs typeface="Times New Roman"/>
                  <a:sym typeface="Times New Roman"/>
                </a:endParaRPr>
              </a:p>
            </p:txBody>
          </p:sp>
          <p:sp>
            <p:nvSpPr>
              <p:cNvPr id="4391" name="Google Shape;4391;p71"/>
              <p:cNvSpPr/>
              <p:nvPr/>
            </p:nvSpPr>
            <p:spPr>
              <a:xfrm>
                <a:off x="4608740" y="2210936"/>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392" name="Google Shape;4392;p71"/>
              <p:cNvSpPr/>
              <p:nvPr/>
            </p:nvSpPr>
            <p:spPr>
              <a:xfrm>
                <a:off x="4608740" y="2461761"/>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393" name="Google Shape;4393;p71"/>
              <p:cNvCxnSpPr/>
              <p:nvPr/>
            </p:nvCxnSpPr>
            <p:spPr>
              <a:xfrm flipH="1" rot="10800000">
                <a:off x="4626203" y="3142799"/>
                <a:ext cx="2065337" cy="931862"/>
              </a:xfrm>
              <a:prstGeom prst="straightConnector1">
                <a:avLst/>
              </a:prstGeom>
              <a:noFill/>
              <a:ln cap="flat" cmpd="sng" w="9525">
                <a:solidFill>
                  <a:srgbClr val="000000"/>
                </a:solidFill>
                <a:prstDash val="solid"/>
                <a:round/>
                <a:headEnd len="med" w="med" type="none"/>
                <a:tailEnd len="med" w="med" type="none"/>
              </a:ln>
            </p:spPr>
          </p:cxnSp>
          <p:cxnSp>
            <p:nvCxnSpPr>
              <p:cNvPr id="4394" name="Google Shape;4394;p71"/>
              <p:cNvCxnSpPr/>
              <p:nvPr/>
            </p:nvCxnSpPr>
            <p:spPr>
              <a:xfrm flipH="1" rot="10800000">
                <a:off x="4626203" y="3393624"/>
                <a:ext cx="2065337" cy="931862"/>
              </a:xfrm>
              <a:prstGeom prst="straightConnector1">
                <a:avLst/>
              </a:prstGeom>
              <a:noFill/>
              <a:ln cap="flat" cmpd="sng" w="9525">
                <a:solidFill>
                  <a:srgbClr val="000000"/>
                </a:solidFill>
                <a:prstDash val="solid"/>
                <a:round/>
                <a:headEnd len="med" w="med" type="none"/>
                <a:tailEnd len="med" w="med" type="none"/>
              </a:ln>
            </p:spPr>
          </p:cxnSp>
          <p:sp>
            <p:nvSpPr>
              <p:cNvPr id="4395" name="Google Shape;4395;p71"/>
              <p:cNvSpPr txBox="1"/>
              <p:nvPr/>
            </p:nvSpPr>
            <p:spPr>
              <a:xfrm>
                <a:off x="6747103" y="3212649"/>
                <a:ext cx="3833812"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2</a:t>
                </a:r>
                <a:r>
                  <a:rPr b="0" baseline="30000" i="0" lang="en-US" sz="1600" u="none" cap="none" strike="noStrike">
                    <a:solidFill>
                      <a:srgbClr val="000000"/>
                    </a:solidFill>
                    <a:latin typeface="Arial"/>
                    <a:ea typeface="Arial"/>
                    <a:cs typeface="Arial"/>
                    <a:sym typeface="Arial"/>
                  </a:rPr>
                  <a:t>nd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cxnSp>
            <p:nvCxnSpPr>
              <p:cNvPr id="4396" name="Google Shape;4396;p71"/>
              <p:cNvCxnSpPr/>
              <p:nvPr/>
            </p:nvCxnSpPr>
            <p:spPr>
              <a:xfrm>
                <a:off x="6691540" y="3371399"/>
                <a:ext cx="112713" cy="0"/>
              </a:xfrm>
              <a:prstGeom prst="straightConnector1">
                <a:avLst/>
              </a:prstGeom>
              <a:noFill/>
              <a:ln cap="flat" cmpd="sng" w="9525">
                <a:solidFill>
                  <a:srgbClr val="000000"/>
                </a:solidFill>
                <a:prstDash val="solid"/>
                <a:round/>
                <a:headEnd len="med" w="med" type="none"/>
                <a:tailEnd len="med" w="med" type="none"/>
              </a:ln>
            </p:spPr>
          </p:cxnSp>
          <p:cxnSp>
            <p:nvCxnSpPr>
              <p:cNvPr id="4397" name="Google Shape;4397;p71"/>
              <p:cNvCxnSpPr/>
              <p:nvPr/>
            </p:nvCxnSpPr>
            <p:spPr>
              <a:xfrm>
                <a:off x="6702653" y="3623811"/>
                <a:ext cx="112712" cy="0"/>
              </a:xfrm>
              <a:prstGeom prst="straightConnector1">
                <a:avLst/>
              </a:prstGeom>
              <a:noFill/>
              <a:ln cap="flat" cmpd="sng" w="9525">
                <a:solidFill>
                  <a:srgbClr val="000000"/>
                </a:solidFill>
                <a:prstDash val="solid"/>
                <a:round/>
                <a:headEnd len="med" w="med" type="none"/>
                <a:tailEnd len="med" w="med" type="none"/>
              </a:ln>
            </p:spPr>
          </p:cxnSp>
          <p:sp>
            <p:nvSpPr>
              <p:cNvPr id="4398" name="Google Shape;4398;p71"/>
              <p:cNvSpPr txBox="1"/>
              <p:nvPr/>
            </p:nvSpPr>
            <p:spPr>
              <a:xfrm>
                <a:off x="6742340" y="3446011"/>
                <a:ext cx="3838575"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3</a:t>
                </a:r>
                <a:r>
                  <a:rPr b="0" baseline="30000" i="0" lang="en-US" sz="1600" u="none" cap="none" strike="noStrike">
                    <a:solidFill>
                      <a:srgbClr val="000000"/>
                    </a:solidFill>
                    <a:latin typeface="Arial"/>
                    <a:ea typeface="Arial"/>
                    <a:cs typeface="Arial"/>
                    <a:sym typeface="Arial"/>
                  </a:rPr>
                  <a:t>rd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grpSp>
      </p:grpSp>
      <p:grpSp>
        <p:nvGrpSpPr>
          <p:cNvPr id="4399" name="Google Shape;4399;p71"/>
          <p:cNvGrpSpPr/>
          <p:nvPr/>
        </p:nvGrpSpPr>
        <p:grpSpPr>
          <a:xfrm>
            <a:off x="6955065" y="4341361"/>
            <a:ext cx="3460750" cy="1145039"/>
            <a:chOff x="6955065" y="4341361"/>
            <a:chExt cx="3460750" cy="1145039"/>
          </a:xfrm>
        </p:grpSpPr>
        <p:sp>
          <p:nvSpPr>
            <p:cNvPr id="4400" name="Google Shape;4400;p71"/>
            <p:cNvSpPr txBox="1"/>
            <p:nvPr/>
          </p:nvSpPr>
          <p:spPr>
            <a:xfrm>
              <a:off x="6955065" y="4341361"/>
              <a:ext cx="346075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3-packet pipelining increases</a:t>
              </a:r>
              <a:endParaRPr/>
            </a:p>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 utilization by a factor of 3!</a:t>
              </a:r>
              <a:endParaRPr/>
            </a:p>
          </p:txBody>
        </p:sp>
        <p:cxnSp>
          <p:nvCxnSpPr>
            <p:cNvPr id="4401" name="Google Shape;4401;p71"/>
            <p:cNvCxnSpPr/>
            <p:nvPr/>
          </p:nvCxnSpPr>
          <p:spPr>
            <a:xfrm>
              <a:off x="7948840" y="5009699"/>
              <a:ext cx="1360" cy="476701"/>
            </a:xfrm>
            <a:prstGeom prst="straightConnector1">
              <a:avLst/>
            </a:prstGeom>
            <a:noFill/>
            <a:ln cap="flat" cmpd="sng" w="9525">
              <a:solidFill>
                <a:srgbClr val="CC0000"/>
              </a:solidFill>
              <a:prstDash val="solid"/>
              <a:round/>
              <a:headEnd len="med" w="med" type="none"/>
              <a:tailEnd len="med" w="med" type="triangle"/>
            </a:ln>
          </p:spPr>
        </p:cxnSp>
      </p:grpSp>
      <p:pic>
        <p:nvPicPr>
          <p:cNvPr id="4402" name="Google Shape;4402;p71"/>
          <p:cNvPicPr preferRelativeResize="0"/>
          <p:nvPr/>
        </p:nvPicPr>
        <p:blipFill rotWithShape="1">
          <a:blip r:embed="rId3">
            <a:alphaModFix/>
          </a:blip>
          <a:srcRect b="0" l="0" r="0" t="0"/>
          <a:stretch/>
        </p:blipFill>
        <p:spPr>
          <a:xfrm>
            <a:off x="2992665" y="5276399"/>
            <a:ext cx="6748463" cy="933450"/>
          </a:xfrm>
          <a:prstGeom prst="rect">
            <a:avLst/>
          </a:prstGeom>
          <a:noFill/>
          <a:ln>
            <a:noFill/>
          </a:ln>
        </p:spPr>
      </p:pic>
      <p:sp>
        <p:nvSpPr>
          <p:cNvPr id="4403" name="Google Shape;4403;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3"/>
                                        </p:tgtEl>
                                        <p:attrNameLst>
                                          <p:attrName>style.visibility</p:attrName>
                                        </p:attrNameLst>
                                      </p:cBhvr>
                                      <p:to>
                                        <p:strVal val="visible"/>
                                      </p:to>
                                    </p:set>
                                    <p:animEffect filter="fade" transition="in">
                                      <p:cBhvr>
                                        <p:cTn dur="2000"/>
                                        <p:tgtEl>
                                          <p:spTgt spid="4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9"/>
                                        </p:tgtEl>
                                        <p:attrNameLst>
                                          <p:attrName>style.visibility</p:attrName>
                                        </p:attrNameLst>
                                      </p:cBhvr>
                                      <p:to>
                                        <p:strVal val="visible"/>
                                      </p:to>
                                    </p:set>
                                    <p:animEffect filter="fade" transition="in">
                                      <p:cBhvr>
                                        <p:cTn dur="500"/>
                                        <p:tgtEl>
                                          <p:spTgt spid="4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8" name="Shape 4408"/>
        <p:cNvGrpSpPr/>
        <p:nvPr/>
      </p:nvGrpSpPr>
      <p:grpSpPr>
        <a:xfrm>
          <a:off x="0" y="0"/>
          <a:ext cx="0" cy="0"/>
          <a:chOff x="0" y="0"/>
          <a:chExt cx="0" cy="0"/>
        </a:xfrm>
      </p:grpSpPr>
      <p:sp>
        <p:nvSpPr>
          <p:cNvPr id="4409" name="Google Shape;4409;p72"/>
          <p:cNvSpPr/>
          <p:nvPr/>
        </p:nvSpPr>
        <p:spPr>
          <a:xfrm>
            <a:off x="2766060" y="3200400"/>
            <a:ext cx="2480310" cy="67437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10" name="Google Shape;4410;p7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sender</a:t>
            </a:r>
            <a:endParaRPr sz="4400"/>
          </a:p>
        </p:txBody>
      </p:sp>
      <p:sp>
        <p:nvSpPr>
          <p:cNvPr id="4411" name="Google Shape;4411;p72"/>
          <p:cNvSpPr txBox="1"/>
          <p:nvPr/>
        </p:nvSpPr>
        <p:spPr>
          <a:xfrm>
            <a:off x="938540" y="1295239"/>
            <a:ext cx="11077752" cy="139609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“window” of up to N, consecutive transmitted but unACKed pkts </a:t>
            </a:r>
            <a:endParaRPr/>
          </a:p>
          <a:p>
            <a:pPr indent="-342900" lvl="1" marL="815975" marR="0" rtl="0" algn="l">
              <a:lnSpc>
                <a:spcPct val="90000"/>
              </a:lnSpc>
              <a:spcBef>
                <a:spcPts val="1000"/>
              </a:spcBef>
              <a:spcAft>
                <a:spcPts val="0"/>
              </a:spcAft>
              <a:buClr>
                <a:srgbClr val="0000A3"/>
              </a:buClr>
              <a:buSzPts val="2400"/>
              <a:buFont typeface="Arial"/>
              <a:buChar char="•"/>
            </a:pPr>
            <a:r>
              <a:rPr b="0" i="0" lang="en-US" sz="2400" u="none" cap="none" strike="noStrike">
                <a:solidFill>
                  <a:srgbClr val="000000"/>
                </a:solidFill>
                <a:latin typeface="Calibri"/>
                <a:ea typeface="Calibri"/>
                <a:cs typeface="Calibri"/>
                <a:sym typeface="Calibri"/>
              </a:rPr>
              <a:t>k-bit seq # in pkt header</a:t>
            </a:r>
            <a:endParaRPr/>
          </a:p>
          <a:p>
            <a:pPr indent="-69850" lvl="1" marL="6953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pic>
        <p:nvPicPr>
          <p:cNvPr descr="gbn_seqnum" id="4412" name="Google Shape;4412;p72"/>
          <p:cNvPicPr preferRelativeResize="0"/>
          <p:nvPr/>
        </p:nvPicPr>
        <p:blipFill rotWithShape="1">
          <a:blip r:embed="rId3">
            <a:alphaModFix amt="83000"/>
          </a:blip>
          <a:srcRect b="0" l="0" r="0" t="0"/>
          <a:stretch/>
        </p:blipFill>
        <p:spPr>
          <a:xfrm>
            <a:off x="1743751" y="2576024"/>
            <a:ext cx="9167471" cy="1845354"/>
          </a:xfrm>
          <a:prstGeom prst="rect">
            <a:avLst/>
          </a:prstGeom>
          <a:noFill/>
          <a:ln>
            <a:noFill/>
          </a:ln>
        </p:spPr>
      </p:pic>
      <p:sp>
        <p:nvSpPr>
          <p:cNvPr id="4413" name="Google Shape;4413;p72"/>
          <p:cNvSpPr/>
          <p:nvPr/>
        </p:nvSpPr>
        <p:spPr>
          <a:xfrm>
            <a:off x="1057835" y="4782281"/>
            <a:ext cx="11309804" cy="1985049"/>
          </a:xfrm>
          <a:prstGeom prst="rect">
            <a:avLst/>
          </a:prstGeom>
          <a:noFill/>
          <a:ln>
            <a:noFill/>
          </a:ln>
        </p:spPr>
        <p:txBody>
          <a:bodyPr anchorCtr="0" anchor="t" bIns="45700" lIns="91425" spcFirstLastPara="1" rIns="91425" wrap="square" tIns="45700">
            <a:noAutofit/>
          </a:bodyPr>
          <a:lstStyle/>
          <a:p>
            <a:pPr indent="-339725" lvl="0" marL="350838"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cumulative ACK: </a:t>
            </a:r>
            <a:r>
              <a:rPr b="0" i="0" lang="en-US" sz="2800" u="none" cap="none" strike="noStrike">
                <a:solidFill>
                  <a:srgbClr val="000000"/>
                </a:solidFill>
                <a:latin typeface="Calibri"/>
                <a:ea typeface="Calibri"/>
                <a:cs typeface="Calibri"/>
                <a:sym typeface="Calibri"/>
              </a:rPr>
              <a:t>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ACKs all packets up to, including seq #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t>
            </a:r>
            <a:endParaRPr/>
          </a:p>
          <a:p>
            <a:pPr indent="-457200" lvl="1" marL="86201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on receiving 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move window forward to begin at </a:t>
            </a:r>
            <a:r>
              <a:rPr b="0" i="1" lang="en-US" sz="2800" u="none" cap="none" strike="noStrike">
                <a:solidFill>
                  <a:srgbClr val="000000"/>
                </a:solidFill>
                <a:latin typeface="Calibri"/>
                <a:ea typeface="Calibri"/>
                <a:cs typeface="Calibri"/>
                <a:sym typeface="Calibri"/>
              </a:rPr>
              <a:t>n+1</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timer for oldest in-flight packet</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timeout(n):</a:t>
            </a:r>
            <a:r>
              <a:rPr b="0" i="0" lang="en-US" sz="2800" u="none" cap="none" strike="noStrike">
                <a:solidFill>
                  <a:srgbClr val="000000"/>
                </a:solidFill>
                <a:latin typeface="Calibri"/>
                <a:ea typeface="Calibri"/>
                <a:cs typeface="Calibri"/>
                <a:sym typeface="Calibri"/>
              </a:rPr>
              <a:t> retransmit packet n and all higher seq # packets in window</a:t>
            </a:r>
            <a:endParaRPr b="0" i="0" sz="3200" u="none" cap="none" strike="noStrike">
              <a:solidFill>
                <a:srgbClr val="000000"/>
              </a:solidFill>
              <a:latin typeface="Calibri"/>
              <a:ea typeface="Calibri"/>
              <a:cs typeface="Calibri"/>
              <a:sym typeface="Calibri"/>
            </a:endParaRPr>
          </a:p>
          <a:p>
            <a:pPr indent="-176530" lvl="0" marL="2921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4414" name="Google Shape;4414;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2"/>
                                        </p:tgtEl>
                                        <p:attrNameLst>
                                          <p:attrName>style.visibility</p:attrName>
                                        </p:attrNameLst>
                                      </p:cBhvr>
                                      <p:to>
                                        <p:strVal val="visible"/>
                                      </p:to>
                                    </p:set>
                                    <p:animEffect filter="fade" transition="in">
                                      <p:cBhvr>
                                        <p:cTn dur="500"/>
                                        <p:tgtEl>
                                          <p:spTgt spid="4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9"/>
                                        </p:tgtEl>
                                        <p:attrNameLst>
                                          <p:attrName>style.visibility</p:attrName>
                                        </p:attrNameLst>
                                      </p:cBhvr>
                                      <p:to>
                                        <p:strVal val="visible"/>
                                      </p:to>
                                    </p:set>
                                    <p:animEffect filter="fade" transition="in">
                                      <p:cBhvr>
                                        <p:cTn dur="500"/>
                                        <p:tgtEl>
                                          <p:spTgt spid="4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3"/>
                                        </p:tgtEl>
                                        <p:attrNameLst>
                                          <p:attrName>style.visibility</p:attrName>
                                        </p:attrNameLst>
                                      </p:cBhvr>
                                      <p:to>
                                        <p:strVal val="visible"/>
                                      </p:to>
                                    </p:set>
                                    <p:animEffect filter="fade" transition="in">
                                      <p:cBhvr>
                                        <p:cTn dur="500"/>
                                        <p:tgtEl>
                                          <p:spTgt spid="4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9" name="Shape 4419"/>
        <p:cNvGrpSpPr/>
        <p:nvPr/>
      </p:nvGrpSpPr>
      <p:grpSpPr>
        <a:xfrm>
          <a:off x="0" y="0"/>
          <a:ext cx="0" cy="0"/>
          <a:chOff x="0" y="0"/>
          <a:chExt cx="0" cy="0"/>
        </a:xfrm>
      </p:grpSpPr>
      <p:sp>
        <p:nvSpPr>
          <p:cNvPr id="4420" name="Google Shape;4420;p7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a:t>
            </a:r>
            <a:endParaRPr sz="4400"/>
          </a:p>
        </p:txBody>
      </p:sp>
      <p:sp>
        <p:nvSpPr>
          <p:cNvPr id="4421" name="Google Shape;4421;p73"/>
          <p:cNvSpPr txBox="1"/>
          <p:nvPr/>
        </p:nvSpPr>
        <p:spPr>
          <a:xfrm>
            <a:off x="803389" y="1374775"/>
            <a:ext cx="10318069" cy="2854325"/>
          </a:xfrm>
          <a:prstGeom prst="rect">
            <a:avLst/>
          </a:prstGeom>
          <a:noFill/>
          <a:ln>
            <a:noFill/>
          </a:ln>
        </p:spPr>
        <p:txBody>
          <a:bodyPr anchorCtr="0" anchor="t" bIns="45700" lIns="91425" spcFirstLastPara="1" rIns="91425" wrap="square" tIns="45700">
            <a:normAutofit lnSpcReduction="10000"/>
          </a:bodyPr>
          <a:lstStyle/>
          <a:p>
            <a:pPr indent="-277813" lvl="0" marL="2889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ACK-only: always send ACK for correctly-received packet so far,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0" i="0" lang="en-US" sz="2400" u="none" cap="none" strike="noStrike">
                <a:solidFill>
                  <a:srgbClr val="0013A3"/>
                </a:solidFill>
                <a:latin typeface="Courier New"/>
                <a:ea typeface="Courier New"/>
                <a:cs typeface="Courier New"/>
                <a:sym typeface="Courier New"/>
              </a:rPr>
              <a:t>rcv_base</a:t>
            </a:r>
            <a:endParaRPr b="0" i="0" sz="2400" u="none" cap="none" strike="noStrike">
              <a:solidFill>
                <a:srgbClr val="0013A3"/>
              </a:solidFill>
              <a:latin typeface="Courier New"/>
              <a:ea typeface="Courier New"/>
              <a:cs typeface="Courier New"/>
              <a:sym typeface="Courier New"/>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 receipt of 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can discard (don’t buffer) or buffer: an implementation decision</a:t>
            </a:r>
            <a:endParaRPr b="0" i="1" sz="24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grpSp>
        <p:nvGrpSpPr>
          <p:cNvPr id="4422" name="Google Shape;4422;p73"/>
          <p:cNvGrpSpPr/>
          <p:nvPr/>
        </p:nvGrpSpPr>
        <p:grpSpPr>
          <a:xfrm>
            <a:off x="965200" y="4368800"/>
            <a:ext cx="10131689" cy="2135212"/>
            <a:chOff x="965200" y="4368800"/>
            <a:chExt cx="10131689" cy="2135212"/>
          </a:xfrm>
        </p:grpSpPr>
        <p:sp>
          <p:nvSpPr>
            <p:cNvPr id="4423" name="Google Shape;4423;p73"/>
            <p:cNvSpPr/>
            <p:nvPr/>
          </p:nvSpPr>
          <p:spPr>
            <a:xfrm>
              <a:off x="2412281" y="487799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4" name="Google Shape;4424;p73"/>
            <p:cNvSpPr/>
            <p:nvPr/>
          </p:nvSpPr>
          <p:spPr>
            <a:xfrm>
              <a:off x="2603500" y="487853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5" name="Google Shape;4425;p73"/>
            <p:cNvSpPr/>
            <p:nvPr/>
          </p:nvSpPr>
          <p:spPr>
            <a:xfrm>
              <a:off x="2777467" y="4879975"/>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6" name="Google Shape;4426;p73"/>
            <p:cNvSpPr/>
            <p:nvPr/>
          </p:nvSpPr>
          <p:spPr>
            <a:xfrm>
              <a:off x="2951434" y="487823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7" name="Google Shape;4427;p73"/>
            <p:cNvSpPr/>
            <p:nvPr/>
          </p:nvSpPr>
          <p:spPr>
            <a:xfrm>
              <a:off x="3125401" y="4879676"/>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28" name="Google Shape;4428;p73"/>
            <p:cNvSpPr/>
            <p:nvPr/>
          </p:nvSpPr>
          <p:spPr>
            <a:xfrm>
              <a:off x="3312307" y="4876800"/>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29" name="Google Shape;4429;p73"/>
            <p:cNvSpPr/>
            <p:nvPr/>
          </p:nvSpPr>
          <p:spPr>
            <a:xfrm>
              <a:off x="4042679" y="487709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0" name="Google Shape;4430;p73"/>
            <p:cNvSpPr/>
            <p:nvPr/>
          </p:nvSpPr>
          <p:spPr>
            <a:xfrm>
              <a:off x="4216646" y="48773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1" name="Google Shape;4431;p73"/>
            <p:cNvSpPr/>
            <p:nvPr/>
          </p:nvSpPr>
          <p:spPr>
            <a:xfrm>
              <a:off x="4394926" y="4877695"/>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2" name="Google Shape;4432;p73"/>
            <p:cNvSpPr/>
            <p:nvPr/>
          </p:nvSpPr>
          <p:spPr>
            <a:xfrm>
              <a:off x="4573204" y="48770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3" name="Google Shape;4433;p73"/>
            <p:cNvSpPr/>
            <p:nvPr/>
          </p:nvSpPr>
          <p:spPr>
            <a:xfrm>
              <a:off x="4738544" y="488260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34" name="Google Shape;4434;p73"/>
            <p:cNvSpPr txBox="1"/>
            <p:nvPr/>
          </p:nvSpPr>
          <p:spPr>
            <a:xfrm>
              <a:off x="3200400" y="5878722"/>
              <a:ext cx="12875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1800"/>
                <a:buFont typeface="Courier New"/>
                <a:buNone/>
              </a:pPr>
              <a:r>
                <a:rPr b="0" i="0" lang="en-US" sz="1800" u="none" cap="none" strike="noStrike">
                  <a:solidFill>
                    <a:srgbClr val="0013A3"/>
                  </a:solidFill>
                  <a:latin typeface="Courier New"/>
                  <a:ea typeface="Courier New"/>
                  <a:cs typeface="Courier New"/>
                  <a:sym typeface="Courier New"/>
                </a:rPr>
                <a:t>rcv_base</a:t>
              </a:r>
              <a:endParaRPr b="0" i="0" sz="1800" u="none" cap="none" strike="noStrike">
                <a:solidFill>
                  <a:srgbClr val="0013A3"/>
                </a:solidFill>
                <a:latin typeface="Calibri"/>
                <a:ea typeface="Calibri"/>
                <a:cs typeface="Calibri"/>
                <a:sym typeface="Calibri"/>
              </a:endParaRPr>
            </a:p>
          </p:txBody>
        </p:sp>
        <p:cxnSp>
          <p:nvCxnSpPr>
            <p:cNvPr id="4435" name="Google Shape;4435;p73"/>
            <p:cNvCxnSpPr/>
            <p:nvPr/>
          </p:nvCxnSpPr>
          <p:spPr>
            <a:xfrm rot="10800000">
              <a:off x="3340100" y="5523122"/>
              <a:ext cx="0" cy="469900"/>
            </a:xfrm>
            <a:prstGeom prst="straightConnector1">
              <a:avLst/>
            </a:prstGeom>
            <a:noFill/>
            <a:ln cap="flat" cmpd="sng" w="22225">
              <a:solidFill>
                <a:schemeClr val="accent1"/>
              </a:solidFill>
              <a:prstDash val="solid"/>
              <a:miter lim="800000"/>
              <a:headEnd len="sm" w="sm" type="none"/>
              <a:tailEnd len="med" w="med" type="triangle"/>
            </a:ln>
          </p:spPr>
        </p:cxnSp>
        <p:grpSp>
          <p:nvGrpSpPr>
            <p:cNvPr id="4436" name="Google Shape;4436;p73"/>
            <p:cNvGrpSpPr/>
            <p:nvPr/>
          </p:nvGrpSpPr>
          <p:grpSpPr>
            <a:xfrm>
              <a:off x="7035081" y="4522877"/>
              <a:ext cx="4061808" cy="1981135"/>
              <a:chOff x="7797081" y="4179977"/>
              <a:chExt cx="4061808" cy="1981135"/>
            </a:xfrm>
          </p:grpSpPr>
          <p:sp>
            <p:nvSpPr>
              <p:cNvPr id="4437" name="Google Shape;4437;p73"/>
              <p:cNvSpPr/>
              <p:nvPr/>
            </p:nvSpPr>
            <p:spPr>
              <a:xfrm>
                <a:off x="7797081" y="417997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8" name="Google Shape;4438;p73"/>
              <p:cNvSpPr/>
              <p:nvPr/>
            </p:nvSpPr>
            <p:spPr>
              <a:xfrm>
                <a:off x="7797081" y="5565889"/>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9" name="Google Shape;4439;p73"/>
              <p:cNvSpPr txBox="1"/>
              <p:nvPr/>
            </p:nvSpPr>
            <p:spPr>
              <a:xfrm>
                <a:off x="8089900" y="4279900"/>
                <a:ext cx="20945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received and ACKed</a:t>
                </a:r>
                <a:endParaRPr b="0" i="0" sz="1800" u="none" cap="none" strike="noStrike">
                  <a:solidFill>
                    <a:srgbClr val="000000"/>
                  </a:solidFill>
                  <a:latin typeface="Calibri"/>
                  <a:ea typeface="Calibri"/>
                  <a:cs typeface="Calibri"/>
                  <a:sym typeface="Calibri"/>
                </a:endParaRPr>
              </a:p>
            </p:txBody>
          </p:sp>
          <p:sp>
            <p:nvSpPr>
              <p:cNvPr id="4440" name="Google Shape;4440;p73"/>
              <p:cNvSpPr txBox="1"/>
              <p:nvPr/>
            </p:nvSpPr>
            <p:spPr>
              <a:xfrm>
                <a:off x="8115300" y="4965700"/>
                <a:ext cx="37435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Out-of-order: received but not  ACKed</a:t>
                </a:r>
                <a:endParaRPr b="0" i="0" sz="1800" u="none" cap="none" strike="noStrike">
                  <a:solidFill>
                    <a:srgbClr val="000000"/>
                  </a:solidFill>
                  <a:latin typeface="Calibri"/>
                  <a:ea typeface="Calibri"/>
                  <a:cs typeface="Calibri"/>
                  <a:sym typeface="Calibri"/>
                </a:endParaRPr>
              </a:p>
            </p:txBody>
          </p:sp>
          <p:sp>
            <p:nvSpPr>
              <p:cNvPr id="4441" name="Google Shape;4441;p73"/>
              <p:cNvSpPr txBox="1"/>
              <p:nvPr/>
            </p:nvSpPr>
            <p:spPr>
              <a:xfrm>
                <a:off x="8089900" y="5664200"/>
                <a:ext cx="1383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Not received</a:t>
                </a:r>
                <a:endParaRPr/>
              </a:p>
            </p:txBody>
          </p:sp>
        </p:grpSp>
        <p:sp>
          <p:nvSpPr>
            <p:cNvPr id="4442" name="Google Shape;4442;p73"/>
            <p:cNvSpPr txBox="1"/>
            <p:nvPr/>
          </p:nvSpPr>
          <p:spPr>
            <a:xfrm>
              <a:off x="965200" y="4368800"/>
              <a:ext cx="541981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view of sequence number space:</a:t>
              </a:r>
              <a:endParaRPr/>
            </a:p>
          </p:txBody>
        </p:sp>
        <p:sp>
          <p:nvSpPr>
            <p:cNvPr id="4443" name="Google Shape;4443;p73"/>
            <p:cNvSpPr/>
            <p:nvPr/>
          </p:nvSpPr>
          <p:spPr>
            <a:xfrm>
              <a:off x="7043594" y="5225507"/>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4" name="Google Shape;4444;p73"/>
            <p:cNvSpPr/>
            <p:nvPr/>
          </p:nvSpPr>
          <p:spPr>
            <a:xfrm>
              <a:off x="38558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5" name="Google Shape;4445;p73"/>
            <p:cNvSpPr/>
            <p:nvPr/>
          </p:nvSpPr>
          <p:spPr>
            <a:xfrm>
              <a:off x="35002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6" name="Google Shape;4446;p73"/>
            <p:cNvSpPr/>
            <p:nvPr/>
          </p:nvSpPr>
          <p:spPr>
            <a:xfrm>
              <a:off x="368444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47" name="Google Shape;4447;p73"/>
            <p:cNvSpPr txBox="1"/>
            <p:nvPr/>
          </p:nvSpPr>
          <p:spPr>
            <a:xfrm>
              <a:off x="18923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4448" name="Google Shape;4448;p73"/>
            <p:cNvSpPr txBox="1"/>
            <p:nvPr/>
          </p:nvSpPr>
          <p:spPr>
            <a:xfrm>
              <a:off x="48768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grpSp>
      <p:sp>
        <p:nvSpPr>
          <p:cNvPr id="4449" name="Google Shape;4449;p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2"/>
                                        </p:tgtEl>
                                        <p:attrNameLst>
                                          <p:attrName>style.visibility</p:attrName>
                                        </p:attrNameLst>
                                      </p:cBhvr>
                                      <p:to>
                                        <p:strVal val="visible"/>
                                      </p:to>
                                    </p:set>
                                    <p:animEffect filter="fade" transition="in">
                                      <p:cBhvr>
                                        <p:cTn dur="500"/>
                                        <p:tgtEl>
                                          <p:spTgt spid="4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4" name="Shape 4454"/>
        <p:cNvGrpSpPr/>
        <p:nvPr/>
      </p:nvGrpSpPr>
      <p:grpSpPr>
        <a:xfrm>
          <a:off x="0" y="0"/>
          <a:ext cx="0" cy="0"/>
          <a:chOff x="0" y="0"/>
          <a:chExt cx="0" cy="0"/>
        </a:xfrm>
      </p:grpSpPr>
      <p:sp>
        <p:nvSpPr>
          <p:cNvPr id="4455" name="Google Shape;4455;p7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in action</a:t>
            </a:r>
            <a:endParaRPr sz="4400"/>
          </a:p>
        </p:txBody>
      </p:sp>
      <p:sp>
        <p:nvSpPr>
          <p:cNvPr id="4456" name="Google Shape;4456;p74"/>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4457" name="Google Shape;4457;p74"/>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458" name="Google Shape;4458;p74"/>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4459" name="Google Shape;4459;p74"/>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460" name="Google Shape;4460;p74"/>
          <p:cNvSpPr txBox="1"/>
          <p:nvPr/>
        </p:nvSpPr>
        <p:spPr>
          <a:xfrm>
            <a:off x="8139112" y="1973262"/>
            <a:ext cx="2568575" cy="1465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461" name="Google Shape;4461;p74"/>
          <p:cNvSpPr txBox="1"/>
          <p:nvPr/>
        </p:nvSpPr>
        <p:spPr>
          <a:xfrm>
            <a:off x="4775200" y="4713287"/>
            <a:ext cx="1246187" cy="1082675"/>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pkt4</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pkt5</a:t>
            </a:r>
            <a:endParaRPr/>
          </a:p>
        </p:txBody>
      </p:sp>
      <p:cxnSp>
        <p:nvCxnSpPr>
          <p:cNvPr id="4462" name="Google Shape;4462;p74"/>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4463" name="Google Shape;4463;p74"/>
          <p:cNvGrpSpPr/>
          <p:nvPr/>
        </p:nvGrpSpPr>
        <p:grpSpPr>
          <a:xfrm>
            <a:off x="6059487" y="1725612"/>
            <a:ext cx="2122488" cy="1292225"/>
            <a:chOff x="6059487" y="1725612"/>
            <a:chExt cx="2122488" cy="1292225"/>
          </a:xfrm>
        </p:grpSpPr>
        <p:cxnSp>
          <p:nvCxnSpPr>
            <p:cNvPr id="4464" name="Google Shape;4464;p74"/>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465" name="Google Shape;4465;p74"/>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4466" name="Google Shape;4466;p74"/>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4467" name="Google Shape;4467;p74"/>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4468" name="Google Shape;4468;p74"/>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469" name="Google Shape;4469;p74"/>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4470" name="Google Shape;4470;p74"/>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4471" name="Google Shape;4471;p74"/>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4472" name="Google Shape;4472;p74"/>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473" name="Google Shape;4473;p74"/>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4474" name="Google Shape;4474;p74"/>
          <p:cNvGrpSpPr/>
          <p:nvPr/>
        </p:nvGrpSpPr>
        <p:grpSpPr>
          <a:xfrm>
            <a:off x="4081462" y="2254250"/>
            <a:ext cx="1978025" cy="2543175"/>
            <a:chOff x="4081462" y="2254250"/>
            <a:chExt cx="1978025" cy="2543175"/>
          </a:xfrm>
        </p:grpSpPr>
        <p:pic>
          <p:nvPicPr>
            <p:cNvPr descr="alarm_clock_ringing" id="4475" name="Google Shape;4475;p74"/>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4476" name="Google Shape;4476;p74"/>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4477" name="Google Shape;4477;p74"/>
            <p:cNvGrpSpPr/>
            <p:nvPr/>
          </p:nvGrpSpPr>
          <p:grpSpPr>
            <a:xfrm>
              <a:off x="5956300" y="2254250"/>
              <a:ext cx="103187" cy="2462212"/>
              <a:chOff x="3651" y="1878"/>
              <a:chExt cx="78" cy="963"/>
            </a:xfrm>
          </p:grpSpPr>
          <p:cxnSp>
            <p:nvCxnSpPr>
              <p:cNvPr id="4478" name="Google Shape;4478;p74"/>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479" name="Google Shape;4479;p74"/>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4480" name="Google Shape;4480;p74"/>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4481" name="Google Shape;4481;p74"/>
          <p:cNvGrpSpPr/>
          <p:nvPr/>
        </p:nvGrpSpPr>
        <p:grpSpPr>
          <a:xfrm>
            <a:off x="6061075" y="4884737"/>
            <a:ext cx="2114550" cy="1179513"/>
            <a:chOff x="6061075" y="4884737"/>
            <a:chExt cx="2114550" cy="1179513"/>
          </a:xfrm>
        </p:grpSpPr>
        <p:cxnSp>
          <p:nvCxnSpPr>
            <p:cNvPr id="4482" name="Google Shape;4482;p74"/>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cxnSp>
          <p:nvCxnSpPr>
            <p:cNvPr id="4483" name="Google Shape;4483;p74"/>
            <p:cNvCxnSpPr/>
            <p:nvPr/>
          </p:nvCxnSpPr>
          <p:spPr>
            <a:xfrm>
              <a:off x="6067425" y="51292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484" name="Google Shape;4484;p74"/>
            <p:cNvCxnSpPr/>
            <p:nvPr/>
          </p:nvCxnSpPr>
          <p:spPr>
            <a:xfrm>
              <a:off x="6061075" y="5362575"/>
              <a:ext cx="2101850" cy="468312"/>
            </a:xfrm>
            <a:prstGeom prst="straightConnector1">
              <a:avLst/>
            </a:prstGeom>
            <a:noFill/>
            <a:ln cap="flat" cmpd="sng" w="28575">
              <a:solidFill>
                <a:srgbClr val="000099"/>
              </a:solidFill>
              <a:prstDash val="solid"/>
              <a:round/>
              <a:headEnd len="med" w="med" type="none"/>
              <a:tailEnd len="med" w="med" type="triangle"/>
            </a:ln>
          </p:spPr>
        </p:cxnSp>
        <p:cxnSp>
          <p:nvCxnSpPr>
            <p:cNvPr id="4485" name="Google Shape;4485;p74"/>
            <p:cNvCxnSpPr/>
            <p:nvPr/>
          </p:nvCxnSpPr>
          <p:spPr>
            <a:xfrm>
              <a:off x="6064250" y="5595937"/>
              <a:ext cx="2100262" cy="468313"/>
            </a:xfrm>
            <a:prstGeom prst="straightConnector1">
              <a:avLst/>
            </a:prstGeom>
            <a:noFill/>
            <a:ln cap="flat" cmpd="sng" w="28575">
              <a:solidFill>
                <a:srgbClr val="000099"/>
              </a:solidFill>
              <a:prstDash val="solid"/>
              <a:round/>
              <a:headEnd len="med" w="med" type="none"/>
              <a:tailEnd len="med" w="med" type="triangle"/>
            </a:ln>
          </p:spPr>
        </p:cxnSp>
      </p:grpSp>
      <p:sp>
        <p:nvSpPr>
          <p:cNvPr id="4486" name="Google Shape;4486;p74"/>
          <p:cNvSpPr txBox="1"/>
          <p:nvPr/>
        </p:nvSpPr>
        <p:spPr>
          <a:xfrm>
            <a:off x="8135937" y="34972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487" name="Google Shape;4487;p74"/>
          <p:cNvSpPr txBox="1"/>
          <p:nvPr/>
        </p:nvSpPr>
        <p:spPr>
          <a:xfrm>
            <a:off x="8154987" y="40179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488" name="Google Shape;4488;p74"/>
          <p:cNvSpPr txBox="1"/>
          <p:nvPr/>
        </p:nvSpPr>
        <p:spPr>
          <a:xfrm>
            <a:off x="8166100" y="5172075"/>
            <a:ext cx="2965450" cy="10826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deliver, send ack2</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pkt3, deliver, send ack3</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pkt4, deliver, send ack4</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pkt5, deliver, send ack5</a:t>
            </a:r>
            <a:endParaRPr/>
          </a:p>
        </p:txBody>
      </p:sp>
      <p:sp>
        <p:nvSpPr>
          <p:cNvPr id="4489" name="Google Shape;4489;p74"/>
          <p:cNvSpPr txBox="1"/>
          <p:nvPr/>
        </p:nvSpPr>
        <p:spPr>
          <a:xfrm>
            <a:off x="4217987" y="4000500"/>
            <a:ext cx="181133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 duplicate ACK</a:t>
            </a:r>
            <a:endParaRPr/>
          </a:p>
        </p:txBody>
      </p:sp>
      <p:sp>
        <p:nvSpPr>
          <p:cNvPr id="4490" name="Google Shape;4490;p74"/>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4491" name="Google Shape;4491;p74"/>
          <p:cNvGrpSpPr/>
          <p:nvPr/>
        </p:nvGrpSpPr>
        <p:grpSpPr>
          <a:xfrm>
            <a:off x="2317750" y="1570037"/>
            <a:ext cx="1520825" cy="1150938"/>
            <a:chOff x="2317750" y="1570037"/>
            <a:chExt cx="1520825" cy="1150938"/>
          </a:xfrm>
        </p:grpSpPr>
        <p:grpSp>
          <p:nvGrpSpPr>
            <p:cNvPr id="4492" name="Google Shape;4492;p74"/>
            <p:cNvGrpSpPr/>
            <p:nvPr/>
          </p:nvGrpSpPr>
          <p:grpSpPr>
            <a:xfrm>
              <a:off x="2320925" y="1570037"/>
              <a:ext cx="1512887" cy="304800"/>
              <a:chOff x="115" y="914"/>
              <a:chExt cx="953" cy="192"/>
            </a:xfrm>
          </p:grpSpPr>
          <p:sp>
            <p:nvSpPr>
              <p:cNvPr id="4493" name="Google Shape;4493;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494" name="Google Shape;4494;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495" name="Google Shape;4495;p74"/>
            <p:cNvGrpSpPr/>
            <p:nvPr/>
          </p:nvGrpSpPr>
          <p:grpSpPr>
            <a:xfrm>
              <a:off x="2317750" y="1855787"/>
              <a:ext cx="1512887" cy="304800"/>
              <a:chOff x="115" y="914"/>
              <a:chExt cx="953" cy="192"/>
            </a:xfrm>
          </p:grpSpPr>
          <p:sp>
            <p:nvSpPr>
              <p:cNvPr id="4496" name="Google Shape;4496;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497" name="Google Shape;4497;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498" name="Google Shape;4498;p74"/>
            <p:cNvGrpSpPr/>
            <p:nvPr/>
          </p:nvGrpSpPr>
          <p:grpSpPr>
            <a:xfrm>
              <a:off x="2325687" y="2141537"/>
              <a:ext cx="1512888" cy="304800"/>
              <a:chOff x="115" y="914"/>
              <a:chExt cx="953" cy="192"/>
            </a:xfrm>
          </p:grpSpPr>
          <p:sp>
            <p:nvSpPr>
              <p:cNvPr id="4499" name="Google Shape;4499;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00" name="Google Shape;4500;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501" name="Google Shape;4501;p74"/>
            <p:cNvGrpSpPr/>
            <p:nvPr/>
          </p:nvGrpSpPr>
          <p:grpSpPr>
            <a:xfrm>
              <a:off x="2322512" y="2416175"/>
              <a:ext cx="1512888" cy="304800"/>
              <a:chOff x="115" y="914"/>
              <a:chExt cx="953" cy="192"/>
            </a:xfrm>
          </p:grpSpPr>
          <p:sp>
            <p:nvSpPr>
              <p:cNvPr id="4502" name="Google Shape;4502;p74"/>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03" name="Google Shape;4503;p74"/>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4504" name="Google Shape;4504;p74"/>
          <p:cNvGrpSpPr/>
          <p:nvPr/>
        </p:nvGrpSpPr>
        <p:grpSpPr>
          <a:xfrm>
            <a:off x="2319337" y="3135312"/>
            <a:ext cx="3749675" cy="369332"/>
            <a:chOff x="2319337" y="3135312"/>
            <a:chExt cx="3749675" cy="369332"/>
          </a:xfrm>
        </p:grpSpPr>
        <p:sp>
          <p:nvSpPr>
            <p:cNvPr id="4505" name="Google Shape;4505;p74"/>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506" name="Google Shape;4506;p74"/>
            <p:cNvGrpSpPr/>
            <p:nvPr/>
          </p:nvGrpSpPr>
          <p:grpSpPr>
            <a:xfrm>
              <a:off x="2319337" y="3135312"/>
              <a:ext cx="3749675" cy="369332"/>
              <a:chOff x="2319337" y="3135312"/>
              <a:chExt cx="3749675" cy="369332"/>
            </a:xfrm>
          </p:grpSpPr>
          <p:sp>
            <p:nvSpPr>
              <p:cNvPr id="4507" name="Google Shape;4507;p74"/>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4508" name="Google Shape;4508;p74"/>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4509" name="Google Shape;4509;p74"/>
          <p:cNvGrpSpPr/>
          <p:nvPr/>
        </p:nvGrpSpPr>
        <p:grpSpPr>
          <a:xfrm>
            <a:off x="2305050" y="4754562"/>
            <a:ext cx="1520825" cy="1050925"/>
            <a:chOff x="2305050" y="4754562"/>
            <a:chExt cx="1520825" cy="1050925"/>
          </a:xfrm>
        </p:grpSpPr>
        <p:grpSp>
          <p:nvGrpSpPr>
            <p:cNvPr id="4510" name="Google Shape;4510;p74"/>
            <p:cNvGrpSpPr/>
            <p:nvPr/>
          </p:nvGrpSpPr>
          <p:grpSpPr>
            <a:xfrm>
              <a:off x="2305050" y="4754562"/>
              <a:ext cx="1512887" cy="304800"/>
              <a:chOff x="112" y="2105"/>
              <a:chExt cx="953" cy="192"/>
            </a:xfrm>
          </p:grpSpPr>
          <p:sp>
            <p:nvSpPr>
              <p:cNvPr id="4511" name="Google Shape;4511;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2" name="Google Shape;4512;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513" name="Google Shape;4513;p74"/>
            <p:cNvGrpSpPr/>
            <p:nvPr/>
          </p:nvGrpSpPr>
          <p:grpSpPr>
            <a:xfrm>
              <a:off x="2312987" y="4995862"/>
              <a:ext cx="1512888" cy="304800"/>
              <a:chOff x="112" y="2105"/>
              <a:chExt cx="953" cy="192"/>
            </a:xfrm>
          </p:grpSpPr>
          <p:sp>
            <p:nvSpPr>
              <p:cNvPr id="4514" name="Google Shape;4514;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5" name="Google Shape;4515;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516" name="Google Shape;4516;p74"/>
            <p:cNvGrpSpPr/>
            <p:nvPr/>
          </p:nvGrpSpPr>
          <p:grpSpPr>
            <a:xfrm>
              <a:off x="2309812" y="5259387"/>
              <a:ext cx="1512888" cy="304800"/>
              <a:chOff x="112" y="2105"/>
              <a:chExt cx="953" cy="192"/>
            </a:xfrm>
          </p:grpSpPr>
          <p:sp>
            <p:nvSpPr>
              <p:cNvPr id="4517" name="Google Shape;4517;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18" name="Google Shape;4518;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519" name="Google Shape;4519;p74"/>
            <p:cNvGrpSpPr/>
            <p:nvPr/>
          </p:nvGrpSpPr>
          <p:grpSpPr>
            <a:xfrm>
              <a:off x="2306637" y="5500687"/>
              <a:ext cx="1512888" cy="304800"/>
              <a:chOff x="112" y="2105"/>
              <a:chExt cx="953" cy="192"/>
            </a:xfrm>
          </p:grpSpPr>
          <p:sp>
            <p:nvSpPr>
              <p:cNvPr id="4520" name="Google Shape;4520;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21" name="Google Shape;4521;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4522" name="Google Shape;4522;p74"/>
          <p:cNvGrpSpPr/>
          <p:nvPr/>
        </p:nvGrpSpPr>
        <p:grpSpPr>
          <a:xfrm>
            <a:off x="7129462" y="3876675"/>
            <a:ext cx="1039813" cy="873125"/>
            <a:chOff x="7129462" y="3876675"/>
            <a:chExt cx="1039813" cy="873125"/>
          </a:xfrm>
        </p:grpSpPr>
        <p:cxnSp>
          <p:nvCxnSpPr>
            <p:cNvPr id="4523" name="Google Shape;4523;p74"/>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4524" name="Google Shape;4524;p74"/>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4525" name="Google Shape;4525;p74"/>
          <p:cNvGrpSpPr/>
          <p:nvPr/>
        </p:nvGrpSpPr>
        <p:grpSpPr>
          <a:xfrm>
            <a:off x="7108825" y="5376862"/>
            <a:ext cx="1081087" cy="1303338"/>
            <a:chOff x="7083425" y="5376862"/>
            <a:chExt cx="1081087" cy="1303338"/>
          </a:xfrm>
        </p:grpSpPr>
        <p:cxnSp>
          <p:nvCxnSpPr>
            <p:cNvPr id="4526" name="Google Shape;4526;p74"/>
            <p:cNvCxnSpPr/>
            <p:nvPr/>
          </p:nvCxnSpPr>
          <p:spPr>
            <a:xfrm flipH="1">
              <a:off x="7131050" y="5376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4527" name="Google Shape;4527;p74"/>
            <p:cNvCxnSpPr/>
            <p:nvPr/>
          </p:nvCxnSpPr>
          <p:spPr>
            <a:xfrm flipH="1">
              <a:off x="7115175" y="5630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4528" name="Google Shape;4528;p74"/>
            <p:cNvCxnSpPr/>
            <p:nvPr/>
          </p:nvCxnSpPr>
          <p:spPr>
            <a:xfrm flipH="1">
              <a:off x="7099300" y="5873750"/>
              <a:ext cx="1033462" cy="563562"/>
            </a:xfrm>
            <a:prstGeom prst="straightConnector1">
              <a:avLst/>
            </a:prstGeom>
            <a:noFill/>
            <a:ln cap="flat" cmpd="sng" w="28575">
              <a:solidFill>
                <a:srgbClr val="008000"/>
              </a:solidFill>
              <a:prstDash val="solid"/>
              <a:round/>
              <a:headEnd len="med" w="med" type="none"/>
              <a:tailEnd len="med" w="med" type="triangle"/>
            </a:ln>
          </p:spPr>
        </p:cxnSp>
        <p:cxnSp>
          <p:nvCxnSpPr>
            <p:cNvPr id="4529" name="Google Shape;4529;p74"/>
            <p:cNvCxnSpPr/>
            <p:nvPr/>
          </p:nvCxnSpPr>
          <p:spPr>
            <a:xfrm flipH="1">
              <a:off x="7083425" y="6116637"/>
              <a:ext cx="1033462"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4530" name="Google Shape;4530;p74"/>
          <p:cNvGrpSpPr/>
          <p:nvPr/>
        </p:nvGrpSpPr>
        <p:grpSpPr>
          <a:xfrm>
            <a:off x="2316162" y="3452813"/>
            <a:ext cx="3752850" cy="369332"/>
            <a:chOff x="2316162" y="3452813"/>
            <a:chExt cx="3752850" cy="369332"/>
          </a:xfrm>
        </p:grpSpPr>
        <p:grpSp>
          <p:nvGrpSpPr>
            <p:cNvPr id="4531" name="Google Shape;4531;p74"/>
            <p:cNvGrpSpPr/>
            <p:nvPr/>
          </p:nvGrpSpPr>
          <p:grpSpPr>
            <a:xfrm>
              <a:off x="2316162" y="3460750"/>
              <a:ext cx="1512888" cy="304800"/>
              <a:chOff x="112" y="2105"/>
              <a:chExt cx="953" cy="192"/>
            </a:xfrm>
          </p:grpSpPr>
          <p:sp>
            <p:nvSpPr>
              <p:cNvPr id="4532" name="Google Shape;4532;p74"/>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533" name="Google Shape;4533;p74"/>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4534" name="Google Shape;4534;p74"/>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4535" name="Google Shape;4535;p74"/>
          <p:cNvCxnSpPr/>
          <p:nvPr/>
        </p:nvCxnSpPr>
        <p:spPr>
          <a:xfrm>
            <a:off x="6037262" y="16129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536" name="Google Shape;4536;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1"/>
                                        </p:tgtEl>
                                        <p:attrNameLst>
                                          <p:attrName>style.visibility</p:attrName>
                                        </p:attrNameLst>
                                      </p:cBhvr>
                                      <p:to>
                                        <p:strVal val="visible"/>
                                      </p:to>
                                    </p:set>
                                    <p:animEffect filter="fade" transition="in">
                                      <p:cBhvr>
                                        <p:cTn dur="500"/>
                                        <p:tgtEl>
                                          <p:spTgt spid="449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56"/>
                                        </p:tgtEl>
                                        <p:attrNameLst>
                                          <p:attrName>style.visibility</p:attrName>
                                        </p:attrNameLst>
                                      </p:cBhvr>
                                      <p:to>
                                        <p:strVal val="visible"/>
                                      </p:to>
                                    </p:set>
                                    <p:animEffect filter="fade" transition="in">
                                      <p:cBhvr>
                                        <p:cTn dur="500"/>
                                        <p:tgtEl>
                                          <p:spTgt spid="44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63"/>
                                        </p:tgtEl>
                                        <p:attrNameLst>
                                          <p:attrName>style.visibility</p:attrName>
                                        </p:attrNameLst>
                                      </p:cBhvr>
                                      <p:to>
                                        <p:strVal val="visible"/>
                                      </p:to>
                                    </p:set>
                                    <p:animEffect filter="fade" transition="in">
                                      <p:cBhvr>
                                        <p:cTn dur="500"/>
                                        <p:tgtEl>
                                          <p:spTgt spid="446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460"/>
                                        </p:tgtEl>
                                        <p:attrNameLst>
                                          <p:attrName>style.visibility</p:attrName>
                                        </p:attrNameLst>
                                      </p:cBhvr>
                                      <p:to>
                                        <p:strVal val="visible"/>
                                      </p:to>
                                    </p:set>
                                    <p:animEffect filter="fade" transition="in">
                                      <p:cBhvr>
                                        <p:cTn dur="500"/>
                                        <p:tgtEl>
                                          <p:spTgt spid="4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2"/>
                                        </p:tgtEl>
                                        <p:attrNameLst>
                                          <p:attrName>style.visibility</p:attrName>
                                        </p:attrNameLst>
                                      </p:cBhvr>
                                      <p:to>
                                        <p:strVal val="visible"/>
                                      </p:to>
                                    </p:set>
                                    <p:animEffect filter="fade" transition="in">
                                      <p:cBhvr>
                                        <p:cTn dur="500"/>
                                        <p:tgtEl>
                                          <p:spTgt spid="4462"/>
                                        </p:tgtEl>
                                      </p:cBhvr>
                                    </p:animEffect>
                                  </p:childTnLst>
                                </p:cTn>
                              </p:par>
                              <p:par>
                                <p:cTn fill="hold" nodeType="withEffect" presetClass="entr" presetID="10" presetSubtype="0">
                                  <p:stCondLst>
                                    <p:cond delay="0"/>
                                  </p:stCondLst>
                                  <p:childTnLst>
                                    <p:set>
                                      <p:cBhvr>
                                        <p:cTn dur="1" fill="hold">
                                          <p:stCondLst>
                                            <p:cond delay="0"/>
                                          </p:stCondLst>
                                        </p:cTn>
                                        <p:tgtEl>
                                          <p:spTgt spid="4470"/>
                                        </p:tgtEl>
                                        <p:attrNameLst>
                                          <p:attrName>style.visibility</p:attrName>
                                        </p:attrNameLst>
                                      </p:cBhvr>
                                      <p:to>
                                        <p:strVal val="visible"/>
                                      </p:to>
                                    </p:set>
                                    <p:animEffect filter="fade" transition="in">
                                      <p:cBhvr>
                                        <p:cTn dur="500"/>
                                        <p:tgtEl>
                                          <p:spTgt spid="4470"/>
                                        </p:tgtEl>
                                      </p:cBhvr>
                                    </p:animEffect>
                                  </p:childTnLst>
                                </p:cTn>
                              </p:par>
                              <p:par>
                                <p:cTn fill="hold" nodeType="withEffect" presetClass="entr" presetID="10" presetSubtype="0">
                                  <p:stCondLst>
                                    <p:cond delay="0"/>
                                  </p:stCondLst>
                                  <p:childTnLst>
                                    <p:set>
                                      <p:cBhvr>
                                        <p:cTn dur="1" fill="hold">
                                          <p:stCondLst>
                                            <p:cond delay="0"/>
                                          </p:stCondLst>
                                        </p:cTn>
                                        <p:tgtEl>
                                          <p:spTgt spid="4473"/>
                                        </p:tgtEl>
                                        <p:attrNameLst>
                                          <p:attrName>style.visibility</p:attrName>
                                        </p:attrNameLst>
                                      </p:cBhvr>
                                      <p:to>
                                        <p:strVal val="visible"/>
                                      </p:to>
                                    </p:set>
                                    <p:animEffect filter="fade" transition="in">
                                      <p:cBhvr>
                                        <p:cTn dur="500"/>
                                        <p:tgtEl>
                                          <p:spTgt spid="44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4"/>
                                        </p:tgtEl>
                                        <p:attrNameLst>
                                          <p:attrName>style.visibility</p:attrName>
                                        </p:attrNameLst>
                                      </p:cBhvr>
                                      <p:to>
                                        <p:strVal val="visible"/>
                                      </p:to>
                                    </p:set>
                                    <p:animEffect filter="fade" transition="in">
                                      <p:cBhvr>
                                        <p:cTn dur="500"/>
                                        <p:tgtEl>
                                          <p:spTgt spid="450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71"/>
                                        </p:tgtEl>
                                        <p:attrNameLst>
                                          <p:attrName>style.visibility</p:attrName>
                                        </p:attrNameLst>
                                      </p:cBhvr>
                                      <p:to>
                                        <p:strVal val="visible"/>
                                      </p:to>
                                    </p:set>
                                    <p:animEffect filter="fade" transition="in">
                                      <p:cBhvr>
                                        <p:cTn dur="500"/>
                                        <p:tgtEl>
                                          <p:spTgt spid="447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86"/>
                                        </p:tgtEl>
                                        <p:attrNameLst>
                                          <p:attrName>style.visibility</p:attrName>
                                        </p:attrNameLst>
                                      </p:cBhvr>
                                      <p:to>
                                        <p:strVal val="visible"/>
                                      </p:to>
                                    </p:set>
                                    <p:animEffect filter="fade" transition="in">
                                      <p:cBhvr>
                                        <p:cTn dur="500"/>
                                        <p:tgtEl>
                                          <p:spTgt spid="4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0"/>
                                        </p:tgtEl>
                                        <p:attrNameLst>
                                          <p:attrName>style.visibility</p:attrName>
                                        </p:attrNameLst>
                                      </p:cBhvr>
                                      <p:to>
                                        <p:strVal val="visible"/>
                                      </p:to>
                                    </p:set>
                                    <p:animEffect filter="fade" transition="in">
                                      <p:cBhvr>
                                        <p:cTn dur="500"/>
                                        <p:tgtEl>
                                          <p:spTgt spid="453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72"/>
                                        </p:tgtEl>
                                        <p:attrNameLst>
                                          <p:attrName>style.visibility</p:attrName>
                                        </p:attrNameLst>
                                      </p:cBhvr>
                                      <p:to>
                                        <p:strVal val="visible"/>
                                      </p:to>
                                    </p:set>
                                    <p:animEffect filter="fade" transition="in">
                                      <p:cBhvr>
                                        <p:cTn dur="500"/>
                                        <p:tgtEl>
                                          <p:spTgt spid="44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87"/>
                                        </p:tgtEl>
                                        <p:attrNameLst>
                                          <p:attrName>style.visibility</p:attrName>
                                        </p:attrNameLst>
                                      </p:cBhvr>
                                      <p:to>
                                        <p:strVal val="visible"/>
                                      </p:to>
                                    </p:set>
                                    <p:animEffect filter="fade" transition="in">
                                      <p:cBhvr>
                                        <p:cTn dur="500"/>
                                        <p:tgtEl>
                                          <p:spTgt spid="4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9"/>
                                        </p:tgtEl>
                                        <p:attrNameLst>
                                          <p:attrName>style.visibility</p:attrName>
                                        </p:attrNameLst>
                                      </p:cBhvr>
                                      <p:to>
                                        <p:strVal val="visible"/>
                                      </p:to>
                                    </p:set>
                                    <p:animEffect filter="fade" transition="in">
                                      <p:cBhvr>
                                        <p:cTn dur="500"/>
                                        <p:tgtEl>
                                          <p:spTgt spid="44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2"/>
                                        </p:tgtEl>
                                        <p:attrNameLst>
                                          <p:attrName>style.visibility</p:attrName>
                                        </p:attrNameLst>
                                      </p:cBhvr>
                                      <p:to>
                                        <p:strVal val="visible"/>
                                      </p:to>
                                    </p:set>
                                    <p:animEffect filter="fade" transition="in">
                                      <p:cBhvr>
                                        <p:cTn dur="500"/>
                                        <p:tgtEl>
                                          <p:spTgt spid="4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4"/>
                                        </p:tgtEl>
                                        <p:attrNameLst>
                                          <p:attrName>style.visibility</p:attrName>
                                        </p:attrNameLst>
                                      </p:cBhvr>
                                      <p:to>
                                        <p:strVal val="visible"/>
                                      </p:to>
                                    </p:set>
                                    <p:animEffect filter="fade" transition="in">
                                      <p:cBhvr>
                                        <p:cTn dur="500"/>
                                        <p:tgtEl>
                                          <p:spTgt spid="4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9"/>
                                        </p:tgtEl>
                                        <p:attrNameLst>
                                          <p:attrName>style.visibility</p:attrName>
                                        </p:attrNameLst>
                                      </p:cBhvr>
                                      <p:to>
                                        <p:strVal val="visible"/>
                                      </p:to>
                                    </p:set>
                                    <p:animEffect filter="fade" transition="in">
                                      <p:cBhvr>
                                        <p:cTn dur="500"/>
                                        <p:tgtEl>
                                          <p:spTgt spid="45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61"/>
                                        </p:tgtEl>
                                        <p:attrNameLst>
                                          <p:attrName>style.visibility</p:attrName>
                                        </p:attrNameLst>
                                      </p:cBhvr>
                                      <p:to>
                                        <p:strVal val="visible"/>
                                      </p:to>
                                    </p:set>
                                    <p:animEffect filter="fade" transition="in">
                                      <p:cBhvr>
                                        <p:cTn dur="500"/>
                                        <p:tgtEl>
                                          <p:spTgt spid="44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81"/>
                                        </p:tgtEl>
                                        <p:attrNameLst>
                                          <p:attrName>style.visibility</p:attrName>
                                        </p:attrNameLst>
                                      </p:cBhvr>
                                      <p:to>
                                        <p:strVal val="visible"/>
                                      </p:to>
                                    </p:set>
                                    <p:animEffect filter="fade" transition="in">
                                      <p:cBhvr>
                                        <p:cTn dur="500"/>
                                        <p:tgtEl>
                                          <p:spTgt spid="448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488"/>
                                        </p:tgtEl>
                                        <p:attrNameLst>
                                          <p:attrName>style.visibility</p:attrName>
                                        </p:attrNameLst>
                                      </p:cBhvr>
                                      <p:to>
                                        <p:strVal val="visible"/>
                                      </p:to>
                                    </p:set>
                                    <p:animEffect filter="fade" transition="in">
                                      <p:cBhvr>
                                        <p:cTn dur="500"/>
                                        <p:tgtEl>
                                          <p:spTgt spid="448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525"/>
                                        </p:tgtEl>
                                        <p:attrNameLst>
                                          <p:attrName>style.visibility</p:attrName>
                                        </p:attrNameLst>
                                      </p:cBhvr>
                                      <p:to>
                                        <p:strVal val="visible"/>
                                      </p:to>
                                    </p:set>
                                    <p:animEffect filter="fade" transition="in">
                                      <p:cBhvr>
                                        <p:cTn dur="500"/>
                                        <p:tgtEl>
                                          <p:spTgt spid="4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1" name="Shape 4541"/>
        <p:cNvGrpSpPr/>
        <p:nvPr/>
      </p:nvGrpSpPr>
      <p:grpSpPr>
        <a:xfrm>
          <a:off x="0" y="0"/>
          <a:ext cx="0" cy="0"/>
          <a:chOff x="0" y="0"/>
          <a:chExt cx="0" cy="0"/>
        </a:xfrm>
      </p:grpSpPr>
      <p:sp>
        <p:nvSpPr>
          <p:cNvPr id="4542" name="Google Shape;4542;p7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a:t>
            </a:r>
            <a:endParaRPr sz="4400"/>
          </a:p>
        </p:txBody>
      </p:sp>
      <p:sp>
        <p:nvSpPr>
          <p:cNvPr id="4543" name="Google Shape;4543;p75"/>
          <p:cNvSpPr txBox="1"/>
          <p:nvPr/>
        </p:nvSpPr>
        <p:spPr>
          <a:xfrm>
            <a:off x="733374" y="1489418"/>
            <a:ext cx="1110062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receiver </a:t>
            </a:r>
            <a:r>
              <a:rPr b="0" i="1" lang="en-US" sz="3200" u="none" cap="none" strike="noStrike">
                <a:solidFill>
                  <a:srgbClr val="C00000"/>
                </a:solidFill>
                <a:latin typeface="Calibri"/>
                <a:ea typeface="Calibri"/>
                <a:cs typeface="Calibri"/>
                <a:sym typeface="Calibri"/>
              </a:rPr>
              <a:t>individually</a:t>
            </a:r>
            <a:r>
              <a:rPr b="0" i="0" lang="en-US" sz="3200" u="none" cap="none" strike="noStrike">
                <a:solidFill>
                  <a:srgbClr val="000000"/>
                </a:solidFill>
                <a:latin typeface="Calibri"/>
                <a:ea typeface="Calibri"/>
                <a:cs typeface="Calibri"/>
                <a:sym typeface="Calibri"/>
              </a:rPr>
              <a:t> acknowledges all correctly received packets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buffers packets, as needed, for eventual in-order delivery to upper layer</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times-out/retransmits individually for unACKed packets</a:t>
            </a:r>
            <a:endParaRPr/>
          </a:p>
          <a:p>
            <a:pPr indent="-227012" lvl="1" marL="747713"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sender maintains timer for each unACKed pkt</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window</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consecutive seq #s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limits seq #s of sent, unACKed packets</a:t>
            </a:r>
            <a:endParaRPr/>
          </a:p>
        </p:txBody>
      </p:sp>
      <p:sp>
        <p:nvSpPr>
          <p:cNvPr id="4544" name="Google Shape;4544;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0" st="0"/>
                                            </p:txEl>
                                          </p:spTgt>
                                        </p:tgtEl>
                                        <p:attrNameLst>
                                          <p:attrName>style.visibility</p:attrName>
                                        </p:attrNameLst>
                                      </p:cBhvr>
                                      <p:to>
                                        <p:strVal val="visible"/>
                                      </p:to>
                                    </p:set>
                                    <p:animEffect filter="fade" transition="in">
                                      <p:cBhvr>
                                        <p:cTn dur="500"/>
                                        <p:tgtEl>
                                          <p:spTgt spid="45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1" st="1"/>
                                            </p:txEl>
                                          </p:spTgt>
                                        </p:tgtEl>
                                        <p:attrNameLst>
                                          <p:attrName>style.visibility</p:attrName>
                                        </p:attrNameLst>
                                      </p:cBhvr>
                                      <p:to>
                                        <p:strVal val="visible"/>
                                      </p:to>
                                    </p:set>
                                    <p:animEffect filter="fade" transition="in">
                                      <p:cBhvr>
                                        <p:cTn dur="500"/>
                                        <p:tgtEl>
                                          <p:spTgt spid="45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2" st="2"/>
                                            </p:txEl>
                                          </p:spTgt>
                                        </p:tgtEl>
                                        <p:attrNameLst>
                                          <p:attrName>style.visibility</p:attrName>
                                        </p:attrNameLst>
                                      </p:cBhvr>
                                      <p:to>
                                        <p:strVal val="visible"/>
                                      </p:to>
                                    </p:set>
                                    <p:animEffect filter="fade" transition="in">
                                      <p:cBhvr>
                                        <p:cTn dur="500"/>
                                        <p:tgtEl>
                                          <p:spTgt spid="45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3" st="3"/>
                                            </p:txEl>
                                          </p:spTgt>
                                        </p:tgtEl>
                                        <p:attrNameLst>
                                          <p:attrName>style.visibility</p:attrName>
                                        </p:attrNameLst>
                                      </p:cBhvr>
                                      <p:to>
                                        <p:strVal val="visible"/>
                                      </p:to>
                                    </p:set>
                                    <p:animEffect filter="fade" transition="in">
                                      <p:cBhvr>
                                        <p:cTn dur="500"/>
                                        <p:tgtEl>
                                          <p:spTgt spid="45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4" st="4"/>
                                            </p:txEl>
                                          </p:spTgt>
                                        </p:tgtEl>
                                        <p:attrNameLst>
                                          <p:attrName>style.visibility</p:attrName>
                                        </p:attrNameLst>
                                      </p:cBhvr>
                                      <p:to>
                                        <p:strVal val="visible"/>
                                      </p:to>
                                    </p:set>
                                    <p:animEffect filter="fade" transition="in">
                                      <p:cBhvr>
                                        <p:cTn dur="500"/>
                                        <p:tgtEl>
                                          <p:spTgt spid="45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5" st="5"/>
                                            </p:txEl>
                                          </p:spTgt>
                                        </p:tgtEl>
                                        <p:attrNameLst>
                                          <p:attrName>style.visibility</p:attrName>
                                        </p:attrNameLst>
                                      </p:cBhvr>
                                      <p:to>
                                        <p:strVal val="visible"/>
                                      </p:to>
                                    </p:set>
                                    <p:animEffect filter="fade" transition="in">
                                      <p:cBhvr>
                                        <p:cTn dur="500"/>
                                        <p:tgtEl>
                                          <p:spTgt spid="45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3">
                                            <p:txEl>
                                              <p:pRg end="6" st="6"/>
                                            </p:txEl>
                                          </p:spTgt>
                                        </p:tgtEl>
                                        <p:attrNameLst>
                                          <p:attrName>style.visibility</p:attrName>
                                        </p:attrNameLst>
                                      </p:cBhvr>
                                      <p:to>
                                        <p:strVal val="visible"/>
                                      </p:to>
                                    </p:set>
                                    <p:animEffect filter="fade" transition="in">
                                      <p:cBhvr>
                                        <p:cTn dur="500"/>
                                        <p:tgtEl>
                                          <p:spTgt spid="454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9" name="Shape 4549"/>
        <p:cNvGrpSpPr/>
        <p:nvPr/>
      </p:nvGrpSpPr>
      <p:grpSpPr>
        <a:xfrm>
          <a:off x="0" y="0"/>
          <a:ext cx="0" cy="0"/>
          <a:chOff x="0" y="0"/>
          <a:chExt cx="0" cy="0"/>
        </a:xfrm>
      </p:grpSpPr>
      <p:sp>
        <p:nvSpPr>
          <p:cNvPr id="4550" name="Google Shape;4550;p7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receiver windows</a:t>
            </a:r>
            <a:endParaRPr sz="4400"/>
          </a:p>
        </p:txBody>
      </p:sp>
      <p:pic>
        <p:nvPicPr>
          <p:cNvPr descr="sr_seqnum" id="4551" name="Google Shape;4551;p76"/>
          <p:cNvPicPr preferRelativeResize="0"/>
          <p:nvPr/>
        </p:nvPicPr>
        <p:blipFill rotWithShape="1">
          <a:blip r:embed="rId3">
            <a:alphaModFix/>
          </a:blip>
          <a:srcRect b="0" l="0" r="0" t="0"/>
          <a:stretch/>
        </p:blipFill>
        <p:spPr>
          <a:xfrm>
            <a:off x="1978025" y="1526602"/>
            <a:ext cx="8235950" cy="4916487"/>
          </a:xfrm>
          <a:prstGeom prst="rect">
            <a:avLst/>
          </a:prstGeom>
          <a:noFill/>
          <a:ln>
            <a:noFill/>
          </a:ln>
        </p:spPr>
      </p:pic>
      <p:sp>
        <p:nvSpPr>
          <p:cNvPr id="4552" name="Google Shape;4552;p76"/>
          <p:cNvSpPr/>
          <p:nvPr/>
        </p:nvSpPr>
        <p:spPr>
          <a:xfrm>
            <a:off x="2150592" y="4671612"/>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3" name="Google Shape;4553;p76"/>
          <p:cNvSpPr/>
          <p:nvPr/>
        </p:nvSpPr>
        <p:spPr>
          <a:xfrm>
            <a:off x="2299806" y="4667895"/>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4" name="Google Shape;4554;p76"/>
          <p:cNvSpPr/>
          <p:nvPr/>
        </p:nvSpPr>
        <p:spPr>
          <a:xfrm>
            <a:off x="2452206" y="466736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5" name="Google Shape;4555;p76"/>
          <p:cNvSpPr/>
          <p:nvPr/>
        </p:nvSpPr>
        <p:spPr>
          <a:xfrm>
            <a:off x="2604606" y="466683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6" name="Google Shape;4556;p76"/>
          <p:cNvSpPr/>
          <p:nvPr/>
        </p:nvSpPr>
        <p:spPr>
          <a:xfrm>
            <a:off x="2760192" y="4663116"/>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7" name="Google Shape;4557;p76"/>
          <p:cNvSpPr/>
          <p:nvPr/>
        </p:nvSpPr>
        <p:spPr>
          <a:xfrm>
            <a:off x="2915778" y="4665771"/>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8" name="Google Shape;4558;p76"/>
          <p:cNvSpPr/>
          <p:nvPr/>
        </p:nvSpPr>
        <p:spPr>
          <a:xfrm>
            <a:off x="3064992" y="466205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9" name="Google Shape;4559;p76"/>
          <p:cNvSpPr/>
          <p:nvPr/>
        </p:nvSpPr>
        <p:spPr>
          <a:xfrm>
            <a:off x="3220578" y="466152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0" name="Google Shape;4560;p76"/>
          <p:cNvSpPr/>
          <p:nvPr/>
        </p:nvSpPr>
        <p:spPr>
          <a:xfrm>
            <a:off x="3369792" y="4664178"/>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1" name="Google Shape;4561;p76"/>
          <p:cNvSpPr/>
          <p:nvPr/>
        </p:nvSpPr>
        <p:spPr>
          <a:xfrm>
            <a:off x="914400" y="3897630"/>
            <a:ext cx="10835640" cy="28117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2" name="Google Shape;4562;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561"/>
                                        </p:tgtEl>
                                      </p:cBhvr>
                                    </p:animEffect>
                                    <p:set>
                                      <p:cBhvr>
                                        <p:cTn dur="1" fill="hold">
                                          <p:stCondLst>
                                            <p:cond delay="500"/>
                                          </p:stCondLst>
                                        </p:cTn>
                                        <p:tgtEl>
                                          <p:spTgt spid="456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7" name="Shape 4567"/>
        <p:cNvGrpSpPr/>
        <p:nvPr/>
      </p:nvGrpSpPr>
      <p:grpSpPr>
        <a:xfrm>
          <a:off x="0" y="0"/>
          <a:ext cx="0" cy="0"/>
          <a:chOff x="0" y="0"/>
          <a:chExt cx="0" cy="0"/>
        </a:xfrm>
      </p:grpSpPr>
      <p:sp>
        <p:nvSpPr>
          <p:cNvPr id="4568" name="Google Shape;4568;p7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and receiver</a:t>
            </a:r>
            <a:endParaRPr sz="4400"/>
          </a:p>
        </p:txBody>
      </p:sp>
      <p:sp>
        <p:nvSpPr>
          <p:cNvPr id="4569" name="Google Shape;4569;p77"/>
          <p:cNvSpPr txBox="1"/>
          <p:nvPr/>
        </p:nvSpPr>
        <p:spPr>
          <a:xfrm>
            <a:off x="946165" y="1698978"/>
            <a:ext cx="4651241"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data from above:</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next available seq # in window, send packet</a:t>
            </a:r>
            <a:endParaRPr/>
          </a:p>
          <a:p>
            <a:pPr indent="-222250" lvl="0" marL="352425" marR="0" rtl="0" algn="l">
              <a:lnSpc>
                <a:spcPct val="90000"/>
              </a:lnSpc>
              <a:spcBef>
                <a:spcPts val="100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timeout(</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a:t>
            </a:r>
            <a:endParaRPr/>
          </a:p>
          <a:p>
            <a:pPr indent="-228599" lvl="0" marL="471488"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resend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restart timer</a:t>
            </a:r>
            <a:endParaRPr/>
          </a:p>
          <a:p>
            <a:pPr indent="-222250" lvl="0" marL="352425" marR="0" rtl="0" algn="l">
              <a:lnSpc>
                <a:spcPct val="90000"/>
              </a:lnSpc>
              <a:spcBef>
                <a:spcPts val="1000"/>
              </a:spcBef>
              <a:spcAft>
                <a:spcPts val="0"/>
              </a:spcAft>
              <a:buClr>
                <a:srgbClr val="0000A3"/>
              </a:buClr>
              <a:buSzPts val="2400"/>
              <a:buFont typeface="Noto Sans Symbols"/>
              <a:buNone/>
            </a:pPr>
            <a:r>
              <a:rPr b="0" i="0" lang="en-US" sz="2400" u="none" cap="none" strike="noStrike">
                <a:solidFill>
                  <a:srgbClr val="CC0000"/>
                </a:solidFill>
                <a:latin typeface="Calibri"/>
                <a:ea typeface="Calibri"/>
                <a:cs typeface="Calibri"/>
                <a:sym typeface="Calibri"/>
              </a:rPr>
              <a:t>ACK(</a:t>
            </a:r>
            <a:r>
              <a:rPr b="0" i="1" lang="en-US" sz="2400" u="none" cap="none" strike="noStrike">
                <a:solidFill>
                  <a:srgbClr val="CC0000"/>
                </a:solidFill>
                <a:latin typeface="Calibri"/>
                <a:ea typeface="Calibri"/>
                <a:cs typeface="Calibri"/>
                <a:sym typeface="Calibri"/>
              </a:rPr>
              <a:t>n</a:t>
            </a:r>
            <a:r>
              <a:rPr b="0" i="0" lang="en-US" sz="2400" u="none" cap="none" strike="noStrike">
                <a:solidFill>
                  <a:srgbClr val="CC0000"/>
                </a:solidFill>
                <a:latin typeface="Calibri"/>
                <a:ea typeface="Calibri"/>
                <a:cs typeface="Calibri"/>
                <a:sym typeface="Calibri"/>
              </a:rPr>
              <a:t>)</a:t>
            </a:r>
            <a:r>
              <a:rPr b="0" i="0" lang="en-US" sz="28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in [sendbase,sendbase+N]</a:t>
            </a:r>
            <a:r>
              <a:rPr b="0" i="0" lang="en-US" sz="20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mark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as received</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 smallest unACKed packet, advance window base to next unACKed seq #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570" name="Google Shape;4570;p77"/>
          <p:cNvSpPr/>
          <p:nvPr/>
        </p:nvSpPr>
        <p:spPr>
          <a:xfrm>
            <a:off x="876300" y="1485900"/>
            <a:ext cx="4721106"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71" name="Google Shape;4571;p77"/>
          <p:cNvGrpSpPr/>
          <p:nvPr/>
        </p:nvGrpSpPr>
        <p:grpSpPr>
          <a:xfrm>
            <a:off x="1079500" y="1184280"/>
            <a:ext cx="1327103" cy="584201"/>
            <a:chOff x="1100" y="3896"/>
            <a:chExt cx="752" cy="368"/>
          </a:xfrm>
        </p:grpSpPr>
        <p:sp>
          <p:nvSpPr>
            <p:cNvPr id="4572" name="Google Shape;4572;p77"/>
            <p:cNvSpPr/>
            <p:nvPr/>
          </p:nvSpPr>
          <p:spPr>
            <a:xfrm>
              <a:off x="1146" y="3984"/>
              <a:ext cx="61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73" name="Google Shape;4573;p77"/>
            <p:cNvSpPr txBox="1"/>
            <p:nvPr/>
          </p:nvSpPr>
          <p:spPr>
            <a:xfrm>
              <a:off x="1100" y="3896"/>
              <a:ext cx="7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sender</a:t>
              </a:r>
              <a:endParaRPr b="0" i="0" sz="2800" u="none" cap="none" strike="noStrike">
                <a:solidFill>
                  <a:srgbClr val="000099"/>
                </a:solidFill>
                <a:latin typeface="Calibri"/>
                <a:ea typeface="Calibri"/>
                <a:cs typeface="Calibri"/>
                <a:sym typeface="Calibri"/>
              </a:endParaRPr>
            </a:p>
          </p:txBody>
        </p:sp>
      </p:grpSp>
      <p:grpSp>
        <p:nvGrpSpPr>
          <p:cNvPr id="4574" name="Google Shape;4574;p77"/>
          <p:cNvGrpSpPr/>
          <p:nvPr/>
        </p:nvGrpSpPr>
        <p:grpSpPr>
          <a:xfrm>
            <a:off x="6447754" y="1183947"/>
            <a:ext cx="5269467" cy="5221186"/>
            <a:chOff x="6447754" y="1183947"/>
            <a:chExt cx="5269467" cy="5221186"/>
          </a:xfrm>
        </p:grpSpPr>
        <p:sp>
          <p:nvSpPr>
            <p:cNvPr id="4575" name="Google Shape;4575;p77"/>
            <p:cNvSpPr/>
            <p:nvPr/>
          </p:nvSpPr>
          <p:spPr>
            <a:xfrm>
              <a:off x="6855858" y="1756933"/>
              <a:ext cx="4861363"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 </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 in </a:t>
              </a:r>
              <a:r>
                <a:rPr b="0" i="0" lang="en-US" sz="1800" u="none" cap="none" strike="noStrike">
                  <a:solidFill>
                    <a:srgbClr val="CC0000"/>
                  </a:solidFill>
                  <a:latin typeface="Calibri"/>
                  <a:ea typeface="Calibri"/>
                  <a:cs typeface="Calibri"/>
                  <a:sym typeface="Calibri"/>
                </a:rPr>
                <a:t>[</a:t>
              </a:r>
              <a:r>
                <a:rPr b="0" i="0" lang="en-US" sz="2400" u="none" cap="none" strike="noStrike">
                  <a:solidFill>
                    <a:srgbClr val="CC0000"/>
                  </a:solidFill>
                  <a:latin typeface="Calibri"/>
                  <a:ea typeface="Calibri"/>
                  <a:cs typeface="Calibri"/>
                  <a:sym typeface="Calibri"/>
                </a:rPr>
                <a:t>rcvbase, rcvbase+N-1]</a:t>
              </a:r>
              <a:endParaRPr b="0" i="0" sz="2800" u="none" cap="none" strike="noStrike">
                <a:solidFill>
                  <a:srgbClr val="CC0000"/>
                </a:solidFill>
                <a:latin typeface="Calibri"/>
                <a:ea typeface="Calibri"/>
                <a:cs typeface="Calibri"/>
                <a:sym typeface="Calibri"/>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send 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out-of-order: buffer</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in-order: deliver (also deliver buffered, in-order packets), advance window to next not-yet-received packet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a:t>
              </a:r>
              <a:r>
                <a:rPr b="0" i="1" lang="en-US" sz="2800" u="none" cap="none" strike="noStrike">
                  <a:solidFill>
                    <a:srgbClr val="CC0000"/>
                  </a:solidFill>
                  <a:latin typeface="Calibri"/>
                  <a:ea typeface="Calibri"/>
                  <a:cs typeface="Calibri"/>
                  <a:sym typeface="Calibri"/>
                </a:rPr>
                <a:t> n </a:t>
              </a:r>
              <a:r>
                <a:rPr b="0" i="0" lang="en-US" sz="2800" u="none" cap="none" strike="noStrike">
                  <a:solidFill>
                    <a:srgbClr val="CC0000"/>
                  </a:solidFill>
                  <a:latin typeface="Calibri"/>
                  <a:ea typeface="Calibri"/>
                  <a:cs typeface="Calibri"/>
                  <a:sym typeface="Calibri"/>
                </a:rPr>
                <a:t>in </a:t>
              </a:r>
              <a:r>
                <a:rPr b="0" i="0" lang="en-US" sz="2400" u="none" cap="none" strike="noStrike">
                  <a:solidFill>
                    <a:srgbClr val="CC0000"/>
                  </a:solidFill>
                  <a:latin typeface="Calibri"/>
                  <a:ea typeface="Calibri"/>
                  <a:cs typeface="Calibri"/>
                  <a:sym typeface="Calibri"/>
                </a:rPr>
                <a:t>[rcvbase-N,rcvbase-1]</a:t>
              </a:r>
              <a:endParaRPr b="0" i="0" sz="3600" u="none" cap="none" strike="noStrike">
                <a:solidFill>
                  <a:srgbClr val="CC0000"/>
                </a:solidFill>
                <a:latin typeface="Calibri"/>
                <a:ea typeface="Calibri"/>
                <a:cs typeface="Calibri"/>
                <a:sym typeface="Calibri"/>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otherwise:</a:t>
              </a:r>
              <a:r>
                <a:rPr b="0" i="0" lang="en-US" sz="2400" u="none" cap="none" strike="noStrike">
                  <a:solidFill>
                    <a:srgbClr val="FF0000"/>
                  </a:solidFill>
                  <a:latin typeface="Calibri"/>
                  <a:ea typeface="Calibri"/>
                  <a:cs typeface="Calibri"/>
                  <a:sym typeface="Calibri"/>
                </a:rPr>
                <a:t> </a:t>
              </a:r>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ignore </a:t>
              </a:r>
              <a:endParaRPr b="0" i="0" sz="28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576" name="Google Shape;4576;p77"/>
            <p:cNvSpPr/>
            <p:nvPr/>
          </p:nvSpPr>
          <p:spPr>
            <a:xfrm>
              <a:off x="6447754" y="1495097"/>
              <a:ext cx="5129210"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77" name="Google Shape;4577;p77"/>
            <p:cNvGrpSpPr/>
            <p:nvPr/>
          </p:nvGrpSpPr>
          <p:grpSpPr>
            <a:xfrm>
              <a:off x="6643024" y="1183947"/>
              <a:ext cx="1531938" cy="584201"/>
              <a:chOff x="3339" y="158"/>
              <a:chExt cx="965" cy="368"/>
            </a:xfrm>
          </p:grpSpPr>
          <p:sp>
            <p:nvSpPr>
              <p:cNvPr id="4578" name="Google Shape;4578;p77"/>
              <p:cNvSpPr/>
              <p:nvPr/>
            </p:nvSpPr>
            <p:spPr>
              <a:xfrm>
                <a:off x="3360" y="264"/>
                <a:ext cx="82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79" name="Google Shape;4579;p77"/>
              <p:cNvSpPr txBox="1"/>
              <p:nvPr/>
            </p:nvSpPr>
            <p:spPr>
              <a:xfrm>
                <a:off x="3339" y="158"/>
                <a:ext cx="965" cy="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receiver</a:t>
                </a:r>
                <a:endParaRPr b="0" i="0" sz="2800" u="none" cap="none" strike="noStrike">
                  <a:solidFill>
                    <a:srgbClr val="000099"/>
                  </a:solidFill>
                  <a:latin typeface="Calibri"/>
                  <a:ea typeface="Calibri"/>
                  <a:cs typeface="Calibri"/>
                  <a:sym typeface="Calibri"/>
                </a:endParaRPr>
              </a:p>
            </p:txBody>
          </p:sp>
        </p:grpSp>
      </p:grpSp>
      <p:sp>
        <p:nvSpPr>
          <p:cNvPr id="4580" name="Google Shape;4580;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4"/>
                                        </p:tgtEl>
                                        <p:attrNameLst>
                                          <p:attrName>style.visibility</p:attrName>
                                        </p:attrNameLst>
                                      </p:cBhvr>
                                      <p:to>
                                        <p:strVal val="visible"/>
                                      </p:to>
                                    </p:set>
                                    <p:animEffect filter="fade" transition="in">
                                      <p:cBhvr>
                                        <p:cTn dur="500"/>
                                        <p:tgtEl>
                                          <p:spTgt spid="4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5" name="Shape 4585"/>
        <p:cNvGrpSpPr/>
        <p:nvPr/>
      </p:nvGrpSpPr>
      <p:grpSpPr>
        <a:xfrm>
          <a:off x="0" y="0"/>
          <a:ext cx="0" cy="0"/>
          <a:chOff x="0" y="0"/>
          <a:chExt cx="0" cy="0"/>
        </a:xfrm>
      </p:grpSpPr>
      <p:sp>
        <p:nvSpPr>
          <p:cNvPr id="4586" name="Google Shape;4586;p7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in action</a:t>
            </a:r>
            <a:endParaRPr sz="4400"/>
          </a:p>
        </p:txBody>
      </p:sp>
      <p:sp>
        <p:nvSpPr>
          <p:cNvPr id="4587" name="Google Shape;4587;p78"/>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4588" name="Google Shape;4588;p78"/>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589" name="Google Shape;4589;p78"/>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4590" name="Google Shape;4590;p78"/>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591" name="Google Shape;4591;p78"/>
          <p:cNvSpPr txBox="1"/>
          <p:nvPr/>
        </p:nvSpPr>
        <p:spPr>
          <a:xfrm>
            <a:off x="4498213" y="4713287"/>
            <a:ext cx="1523174" cy="5632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C00000"/>
              </a:buClr>
              <a:buSzPts val="1600"/>
              <a:buFont typeface="Tahoma"/>
              <a:buNone/>
            </a:pPr>
            <a:r>
              <a:rPr b="0" i="0" lang="en-US" sz="1600" u="none" cap="none" strike="noStrike">
                <a:solidFill>
                  <a:srgbClr val="C00000"/>
                </a:solidFill>
                <a:latin typeface="Tahoma"/>
                <a:ea typeface="Tahoma"/>
                <a:cs typeface="Tahoma"/>
                <a:sym typeface="Tahoma"/>
              </a:rPr>
              <a:t>(but not 3,4,5)</a:t>
            </a:r>
            <a:endParaRPr/>
          </a:p>
        </p:txBody>
      </p:sp>
      <p:cxnSp>
        <p:nvCxnSpPr>
          <p:cNvPr id="4592" name="Google Shape;4592;p78"/>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4593" name="Google Shape;4593;p78"/>
          <p:cNvGrpSpPr/>
          <p:nvPr/>
        </p:nvGrpSpPr>
        <p:grpSpPr>
          <a:xfrm>
            <a:off x="6059487" y="1725612"/>
            <a:ext cx="2122488" cy="1292225"/>
            <a:chOff x="6059487" y="1725612"/>
            <a:chExt cx="2122488" cy="1292225"/>
          </a:xfrm>
        </p:grpSpPr>
        <p:cxnSp>
          <p:nvCxnSpPr>
            <p:cNvPr id="4594" name="Google Shape;4594;p78"/>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595" name="Google Shape;4595;p78"/>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4596" name="Google Shape;4596;p78"/>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4597" name="Google Shape;4597;p78"/>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4598" name="Google Shape;4598;p78"/>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599" name="Google Shape;4599;p78"/>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4600" name="Google Shape;4600;p78"/>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4601" name="Google Shape;4601;p78"/>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4602" name="Google Shape;4602;p78"/>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603" name="Google Shape;4603;p78"/>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4604" name="Google Shape;4604;p78"/>
          <p:cNvGrpSpPr/>
          <p:nvPr/>
        </p:nvGrpSpPr>
        <p:grpSpPr>
          <a:xfrm>
            <a:off x="4081462" y="2254250"/>
            <a:ext cx="1978025" cy="2543175"/>
            <a:chOff x="4081462" y="2254250"/>
            <a:chExt cx="1978025" cy="2543175"/>
          </a:xfrm>
        </p:grpSpPr>
        <p:pic>
          <p:nvPicPr>
            <p:cNvPr descr="alarm_clock_ringing" id="4605" name="Google Shape;4605;p78"/>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4606" name="Google Shape;4606;p78"/>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4607" name="Google Shape;4607;p78"/>
            <p:cNvGrpSpPr/>
            <p:nvPr/>
          </p:nvGrpSpPr>
          <p:grpSpPr>
            <a:xfrm>
              <a:off x="5956300" y="2254250"/>
              <a:ext cx="103187" cy="2462212"/>
              <a:chOff x="3651" y="1878"/>
              <a:chExt cx="78" cy="963"/>
            </a:xfrm>
          </p:grpSpPr>
          <p:cxnSp>
            <p:nvCxnSpPr>
              <p:cNvPr id="4608" name="Google Shape;4608;p78"/>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609" name="Google Shape;4609;p78"/>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4610" name="Google Shape;4610;p78"/>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cxnSp>
        <p:nvCxnSpPr>
          <p:cNvPr id="4611" name="Google Shape;4611;p78"/>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sp>
        <p:nvSpPr>
          <p:cNvPr id="4612" name="Google Shape;4612;p78"/>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4613" name="Google Shape;4613;p78"/>
          <p:cNvGrpSpPr/>
          <p:nvPr/>
        </p:nvGrpSpPr>
        <p:grpSpPr>
          <a:xfrm>
            <a:off x="2317750" y="1570037"/>
            <a:ext cx="1520825" cy="1150938"/>
            <a:chOff x="2317750" y="1570037"/>
            <a:chExt cx="1520825" cy="1150938"/>
          </a:xfrm>
        </p:grpSpPr>
        <p:grpSp>
          <p:nvGrpSpPr>
            <p:cNvPr id="4614" name="Google Shape;4614;p78"/>
            <p:cNvGrpSpPr/>
            <p:nvPr/>
          </p:nvGrpSpPr>
          <p:grpSpPr>
            <a:xfrm>
              <a:off x="2320925" y="1570037"/>
              <a:ext cx="1512887" cy="304800"/>
              <a:chOff x="115" y="914"/>
              <a:chExt cx="953" cy="192"/>
            </a:xfrm>
          </p:grpSpPr>
          <p:sp>
            <p:nvSpPr>
              <p:cNvPr id="4615" name="Google Shape;4615;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16" name="Google Shape;4616;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617" name="Google Shape;4617;p78"/>
            <p:cNvGrpSpPr/>
            <p:nvPr/>
          </p:nvGrpSpPr>
          <p:grpSpPr>
            <a:xfrm>
              <a:off x="2317750" y="1855787"/>
              <a:ext cx="1512887" cy="304800"/>
              <a:chOff x="115" y="914"/>
              <a:chExt cx="953" cy="192"/>
            </a:xfrm>
          </p:grpSpPr>
          <p:sp>
            <p:nvSpPr>
              <p:cNvPr id="4618" name="Google Shape;4618;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19" name="Google Shape;4619;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620" name="Google Shape;4620;p78"/>
            <p:cNvGrpSpPr/>
            <p:nvPr/>
          </p:nvGrpSpPr>
          <p:grpSpPr>
            <a:xfrm>
              <a:off x="2325687" y="2141537"/>
              <a:ext cx="1512888" cy="304800"/>
              <a:chOff x="115" y="914"/>
              <a:chExt cx="953" cy="192"/>
            </a:xfrm>
          </p:grpSpPr>
          <p:sp>
            <p:nvSpPr>
              <p:cNvPr id="4621" name="Google Shape;4621;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22" name="Google Shape;4622;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623" name="Google Shape;4623;p78"/>
            <p:cNvGrpSpPr/>
            <p:nvPr/>
          </p:nvGrpSpPr>
          <p:grpSpPr>
            <a:xfrm>
              <a:off x="2322512" y="2416175"/>
              <a:ext cx="1512888" cy="304800"/>
              <a:chOff x="115" y="914"/>
              <a:chExt cx="953" cy="192"/>
            </a:xfrm>
          </p:grpSpPr>
          <p:sp>
            <p:nvSpPr>
              <p:cNvPr id="4624" name="Google Shape;4624;p78"/>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25" name="Google Shape;4625;p78"/>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4626" name="Google Shape;4626;p78"/>
          <p:cNvGrpSpPr/>
          <p:nvPr/>
        </p:nvGrpSpPr>
        <p:grpSpPr>
          <a:xfrm>
            <a:off x="2319337" y="3135312"/>
            <a:ext cx="3749675" cy="369332"/>
            <a:chOff x="2319337" y="3135312"/>
            <a:chExt cx="3749675" cy="369332"/>
          </a:xfrm>
        </p:grpSpPr>
        <p:sp>
          <p:nvSpPr>
            <p:cNvPr id="4627" name="Google Shape;4627;p78"/>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628" name="Google Shape;4628;p78"/>
            <p:cNvGrpSpPr/>
            <p:nvPr/>
          </p:nvGrpSpPr>
          <p:grpSpPr>
            <a:xfrm>
              <a:off x="2319337" y="3135312"/>
              <a:ext cx="3749675" cy="369332"/>
              <a:chOff x="2319337" y="3135312"/>
              <a:chExt cx="3749675" cy="369332"/>
            </a:xfrm>
          </p:grpSpPr>
          <p:sp>
            <p:nvSpPr>
              <p:cNvPr id="4629" name="Google Shape;4629;p78"/>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4630" name="Google Shape;4630;p78"/>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4631" name="Google Shape;4631;p78"/>
          <p:cNvGrpSpPr/>
          <p:nvPr/>
        </p:nvGrpSpPr>
        <p:grpSpPr>
          <a:xfrm>
            <a:off x="2305050" y="4754562"/>
            <a:ext cx="1520825" cy="1050925"/>
            <a:chOff x="2305050" y="4754562"/>
            <a:chExt cx="1520825" cy="1050925"/>
          </a:xfrm>
        </p:grpSpPr>
        <p:grpSp>
          <p:nvGrpSpPr>
            <p:cNvPr id="4632" name="Google Shape;4632;p78"/>
            <p:cNvGrpSpPr/>
            <p:nvPr/>
          </p:nvGrpSpPr>
          <p:grpSpPr>
            <a:xfrm>
              <a:off x="2305050" y="4754562"/>
              <a:ext cx="1512887" cy="304800"/>
              <a:chOff x="112" y="2105"/>
              <a:chExt cx="953" cy="192"/>
            </a:xfrm>
          </p:grpSpPr>
          <p:sp>
            <p:nvSpPr>
              <p:cNvPr id="4633" name="Google Shape;4633;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34" name="Google Shape;4634;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635" name="Google Shape;4635;p78"/>
            <p:cNvGrpSpPr/>
            <p:nvPr/>
          </p:nvGrpSpPr>
          <p:grpSpPr>
            <a:xfrm>
              <a:off x="2312987" y="4995862"/>
              <a:ext cx="1512888" cy="304800"/>
              <a:chOff x="112" y="2105"/>
              <a:chExt cx="953" cy="192"/>
            </a:xfrm>
          </p:grpSpPr>
          <p:sp>
            <p:nvSpPr>
              <p:cNvPr id="4636" name="Google Shape;4636;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37" name="Google Shape;4637;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638" name="Google Shape;4638;p78"/>
            <p:cNvGrpSpPr/>
            <p:nvPr/>
          </p:nvGrpSpPr>
          <p:grpSpPr>
            <a:xfrm>
              <a:off x="2309812" y="5259387"/>
              <a:ext cx="1512888" cy="304800"/>
              <a:chOff x="112" y="2105"/>
              <a:chExt cx="953" cy="192"/>
            </a:xfrm>
          </p:grpSpPr>
          <p:sp>
            <p:nvSpPr>
              <p:cNvPr id="4639" name="Google Shape;4639;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40" name="Google Shape;4640;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641" name="Google Shape;4641;p78"/>
            <p:cNvGrpSpPr/>
            <p:nvPr/>
          </p:nvGrpSpPr>
          <p:grpSpPr>
            <a:xfrm>
              <a:off x="2306637" y="5500687"/>
              <a:ext cx="1512888" cy="304800"/>
              <a:chOff x="112" y="2105"/>
              <a:chExt cx="953" cy="192"/>
            </a:xfrm>
          </p:grpSpPr>
          <p:sp>
            <p:nvSpPr>
              <p:cNvPr id="4642" name="Google Shape;4642;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43" name="Google Shape;4643;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4644" name="Google Shape;4644;p78"/>
          <p:cNvGrpSpPr/>
          <p:nvPr/>
        </p:nvGrpSpPr>
        <p:grpSpPr>
          <a:xfrm>
            <a:off x="7129462" y="3876675"/>
            <a:ext cx="1039813" cy="873125"/>
            <a:chOff x="7129462" y="3876675"/>
            <a:chExt cx="1039813" cy="873125"/>
          </a:xfrm>
        </p:grpSpPr>
        <p:cxnSp>
          <p:nvCxnSpPr>
            <p:cNvPr id="4645" name="Google Shape;4645;p78"/>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4646" name="Google Shape;4646;p78"/>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cxnSp>
        <p:nvCxnSpPr>
          <p:cNvPr id="4647" name="Google Shape;4647;p78"/>
          <p:cNvCxnSpPr/>
          <p:nvPr/>
        </p:nvCxnSpPr>
        <p:spPr>
          <a:xfrm flipH="1">
            <a:off x="7156450" y="5376862"/>
            <a:ext cx="1033462" cy="563563"/>
          </a:xfrm>
          <a:prstGeom prst="straightConnector1">
            <a:avLst/>
          </a:prstGeom>
          <a:noFill/>
          <a:ln cap="flat" cmpd="sng" w="28575">
            <a:solidFill>
              <a:srgbClr val="008000"/>
            </a:solidFill>
            <a:prstDash val="solid"/>
            <a:round/>
            <a:headEnd len="med" w="med" type="none"/>
            <a:tailEnd len="med" w="med" type="triangle"/>
          </a:ln>
        </p:spPr>
      </p:cxnSp>
      <p:grpSp>
        <p:nvGrpSpPr>
          <p:cNvPr id="4648" name="Google Shape;4648;p78"/>
          <p:cNvGrpSpPr/>
          <p:nvPr/>
        </p:nvGrpSpPr>
        <p:grpSpPr>
          <a:xfrm>
            <a:off x="2316162" y="3452813"/>
            <a:ext cx="3752850" cy="369332"/>
            <a:chOff x="2316162" y="3452813"/>
            <a:chExt cx="3752850" cy="369332"/>
          </a:xfrm>
        </p:grpSpPr>
        <p:grpSp>
          <p:nvGrpSpPr>
            <p:cNvPr id="4649" name="Google Shape;4649;p78"/>
            <p:cNvGrpSpPr/>
            <p:nvPr/>
          </p:nvGrpSpPr>
          <p:grpSpPr>
            <a:xfrm>
              <a:off x="2316162" y="3460750"/>
              <a:ext cx="1512888" cy="304800"/>
              <a:chOff x="112" y="2105"/>
              <a:chExt cx="953" cy="192"/>
            </a:xfrm>
          </p:grpSpPr>
          <p:sp>
            <p:nvSpPr>
              <p:cNvPr id="4650" name="Google Shape;4650;p78"/>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51" name="Google Shape;4651;p78"/>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4652" name="Google Shape;4652;p78"/>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4653" name="Google Shape;4653;p78"/>
          <p:cNvCxnSpPr/>
          <p:nvPr/>
        </p:nvCxnSpPr>
        <p:spPr>
          <a:xfrm>
            <a:off x="6037263" y="1612900"/>
            <a:ext cx="7938" cy="4292600"/>
          </a:xfrm>
          <a:prstGeom prst="straightConnector1">
            <a:avLst/>
          </a:prstGeom>
          <a:noFill/>
          <a:ln cap="flat" cmpd="sng" w="9525">
            <a:solidFill>
              <a:srgbClr val="000000"/>
            </a:solidFill>
            <a:prstDash val="solid"/>
            <a:round/>
            <a:headEnd len="med" w="med" type="none"/>
            <a:tailEnd len="med" w="med" type="none"/>
          </a:ln>
        </p:spPr>
      </p:cxnSp>
      <p:sp>
        <p:nvSpPr>
          <p:cNvPr id="4654" name="Google Shape;4654;p78"/>
          <p:cNvSpPr txBox="1"/>
          <p:nvPr/>
        </p:nvSpPr>
        <p:spPr>
          <a:xfrm>
            <a:off x="8122331" y="2003425"/>
            <a:ext cx="2568575"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a:t>
            </a:r>
            <a:r>
              <a:rPr b="0" i="0" lang="en-US" sz="1800" u="none" cap="none" strike="noStrike">
                <a:solidFill>
                  <a:srgbClr val="C00000"/>
                </a:solidFill>
                <a:latin typeface="Tahoma"/>
                <a:ea typeface="Tahoma"/>
                <a:cs typeface="Tahoma"/>
                <a:sym typeface="Tahoma"/>
              </a:rPr>
              <a:t>buffer</a:t>
            </a: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r>
              <a:rPr b="0" i="0" lang="en-US" sz="1800" u="none" cap="none" strike="noStrike">
                <a:solidFill>
                  <a:srgbClr val="C00000"/>
                </a:solidFill>
                <a:latin typeface="Tahoma"/>
                <a:ea typeface="Tahoma"/>
                <a:cs typeface="Tahoma"/>
                <a:sym typeface="Tahoma"/>
              </a:rPr>
              <a:t>send ack3</a:t>
            </a:r>
            <a:endParaRPr/>
          </a:p>
        </p:txBody>
      </p:sp>
      <p:sp>
        <p:nvSpPr>
          <p:cNvPr id="4655" name="Google Shape;4655;p78"/>
          <p:cNvSpPr txBox="1"/>
          <p:nvPr/>
        </p:nvSpPr>
        <p:spPr>
          <a:xfrm>
            <a:off x="4390118" y="3967162"/>
            <a:ext cx="16986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record ack3 arrived</a:t>
            </a:r>
            <a:endParaRPr/>
          </a:p>
        </p:txBody>
      </p:sp>
      <p:sp>
        <p:nvSpPr>
          <p:cNvPr id="4656" name="Google Shape;4656;p78"/>
          <p:cNvSpPr txBox="1"/>
          <p:nvPr/>
        </p:nvSpPr>
        <p:spPr>
          <a:xfrm>
            <a:off x="8169956" y="36036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ack4</a:t>
            </a:r>
            <a:endParaRPr/>
          </a:p>
        </p:txBody>
      </p:sp>
      <p:sp>
        <p:nvSpPr>
          <p:cNvPr id="4657" name="Google Shape;4657;p78"/>
          <p:cNvSpPr txBox="1"/>
          <p:nvPr/>
        </p:nvSpPr>
        <p:spPr>
          <a:xfrm>
            <a:off x="8189006" y="41243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ack5</a:t>
            </a:r>
            <a:endParaRPr/>
          </a:p>
        </p:txBody>
      </p:sp>
      <p:sp>
        <p:nvSpPr>
          <p:cNvPr id="4658" name="Google Shape;4658;p78"/>
          <p:cNvSpPr txBox="1"/>
          <p:nvPr/>
        </p:nvSpPr>
        <p:spPr>
          <a:xfrm>
            <a:off x="8162018" y="5189537"/>
            <a:ext cx="2960688" cy="5873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a:t>
            </a:r>
            <a:r>
              <a:rPr b="0" i="0" lang="en-US" sz="1800" u="none" cap="none" strike="noStrike">
                <a:solidFill>
                  <a:srgbClr val="C00000"/>
                </a:solidFill>
                <a:latin typeface="Tahoma"/>
                <a:ea typeface="Tahoma"/>
                <a:cs typeface="Tahoma"/>
                <a:sym typeface="Tahoma"/>
              </a:rPr>
              <a:t>deliver pkt2,</a:t>
            </a:r>
            <a:endParaRPr/>
          </a:p>
          <a:p>
            <a:pPr indent="0" lvl="0" marL="0" marR="0" rtl="0" algn="l">
              <a:lnSpc>
                <a:spcPct val="9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pkt3, pkt4, pkt5; send ack2</a:t>
            </a:r>
            <a:endParaRPr/>
          </a:p>
        </p:txBody>
      </p:sp>
      <p:sp>
        <p:nvSpPr>
          <p:cNvPr id="4659" name="Google Shape;4659;p78"/>
          <p:cNvSpPr txBox="1"/>
          <p:nvPr/>
        </p:nvSpPr>
        <p:spPr>
          <a:xfrm>
            <a:off x="4472668" y="5919787"/>
            <a:ext cx="3498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1" lang="en-US" sz="1600" u="none" cap="none" strike="noStrike">
                <a:solidFill>
                  <a:srgbClr val="000000"/>
                </a:solidFill>
                <a:latin typeface="Tahoma"/>
                <a:ea typeface="Tahoma"/>
                <a:cs typeface="Tahoma"/>
                <a:sym typeface="Tahoma"/>
              </a:rPr>
              <a:t>Q: what happens when ack2 arrives?</a:t>
            </a:r>
            <a:endParaRPr/>
          </a:p>
        </p:txBody>
      </p:sp>
      <p:sp>
        <p:nvSpPr>
          <p:cNvPr id="4660" name="Google Shape;4660;p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3"/>
                                        </p:tgtEl>
                                        <p:attrNameLst>
                                          <p:attrName>style.visibility</p:attrName>
                                        </p:attrNameLst>
                                      </p:cBhvr>
                                      <p:to>
                                        <p:strVal val="visible"/>
                                      </p:to>
                                    </p:set>
                                    <p:animEffect filter="fade" transition="in">
                                      <p:cBhvr>
                                        <p:cTn dur="500"/>
                                        <p:tgtEl>
                                          <p:spTgt spid="461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587"/>
                                        </p:tgtEl>
                                        <p:attrNameLst>
                                          <p:attrName>style.visibility</p:attrName>
                                        </p:attrNameLst>
                                      </p:cBhvr>
                                      <p:to>
                                        <p:strVal val="visible"/>
                                      </p:to>
                                    </p:set>
                                    <p:animEffect filter="fade" transition="in">
                                      <p:cBhvr>
                                        <p:cTn dur="500"/>
                                        <p:tgtEl>
                                          <p:spTgt spid="45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593"/>
                                        </p:tgtEl>
                                        <p:attrNameLst>
                                          <p:attrName>style.visibility</p:attrName>
                                        </p:attrNameLst>
                                      </p:cBhvr>
                                      <p:to>
                                        <p:strVal val="visible"/>
                                      </p:to>
                                    </p:set>
                                    <p:animEffect filter="fade" transition="in">
                                      <p:cBhvr>
                                        <p:cTn dur="500"/>
                                        <p:tgtEl>
                                          <p:spTgt spid="459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54"/>
                                        </p:tgtEl>
                                        <p:attrNameLst>
                                          <p:attrName>style.visibility</p:attrName>
                                        </p:attrNameLst>
                                      </p:cBhvr>
                                      <p:to>
                                        <p:strVal val="visible"/>
                                      </p:to>
                                    </p:set>
                                    <p:animEffect filter="fade" transition="in">
                                      <p:cBhvr>
                                        <p:cTn dur="500"/>
                                        <p:tgtEl>
                                          <p:spTgt spid="4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2"/>
                                        </p:tgtEl>
                                        <p:attrNameLst>
                                          <p:attrName>style.visibility</p:attrName>
                                        </p:attrNameLst>
                                      </p:cBhvr>
                                      <p:to>
                                        <p:strVal val="visible"/>
                                      </p:to>
                                    </p:set>
                                    <p:animEffect filter="fade" transition="in">
                                      <p:cBhvr>
                                        <p:cTn dur="500"/>
                                        <p:tgtEl>
                                          <p:spTgt spid="4592"/>
                                        </p:tgtEl>
                                      </p:cBhvr>
                                    </p:animEffect>
                                  </p:childTnLst>
                                </p:cTn>
                              </p:par>
                              <p:par>
                                <p:cTn fill="hold" nodeType="withEffect" presetClass="entr" presetID="10" presetSubtype="0">
                                  <p:stCondLst>
                                    <p:cond delay="0"/>
                                  </p:stCondLst>
                                  <p:childTnLst>
                                    <p:set>
                                      <p:cBhvr>
                                        <p:cTn dur="1" fill="hold">
                                          <p:stCondLst>
                                            <p:cond delay="0"/>
                                          </p:stCondLst>
                                        </p:cTn>
                                        <p:tgtEl>
                                          <p:spTgt spid="4600"/>
                                        </p:tgtEl>
                                        <p:attrNameLst>
                                          <p:attrName>style.visibility</p:attrName>
                                        </p:attrNameLst>
                                      </p:cBhvr>
                                      <p:to>
                                        <p:strVal val="visible"/>
                                      </p:to>
                                    </p:set>
                                    <p:animEffect filter="fade" transition="in">
                                      <p:cBhvr>
                                        <p:cTn dur="500"/>
                                        <p:tgtEl>
                                          <p:spTgt spid="4600"/>
                                        </p:tgtEl>
                                      </p:cBhvr>
                                    </p:animEffect>
                                  </p:childTnLst>
                                </p:cTn>
                              </p:par>
                              <p:par>
                                <p:cTn fill="hold" nodeType="withEffect" presetClass="entr" presetID="10" presetSubtype="0">
                                  <p:stCondLst>
                                    <p:cond delay="0"/>
                                  </p:stCondLst>
                                  <p:childTnLst>
                                    <p:set>
                                      <p:cBhvr>
                                        <p:cTn dur="1" fill="hold">
                                          <p:stCondLst>
                                            <p:cond delay="0"/>
                                          </p:stCondLst>
                                        </p:cTn>
                                        <p:tgtEl>
                                          <p:spTgt spid="4603"/>
                                        </p:tgtEl>
                                        <p:attrNameLst>
                                          <p:attrName>style.visibility</p:attrName>
                                        </p:attrNameLst>
                                      </p:cBhvr>
                                      <p:to>
                                        <p:strVal val="visible"/>
                                      </p:to>
                                    </p:set>
                                    <p:animEffect filter="fade" transition="in">
                                      <p:cBhvr>
                                        <p:cTn dur="500"/>
                                        <p:tgtEl>
                                          <p:spTgt spid="4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6"/>
                                        </p:tgtEl>
                                        <p:attrNameLst>
                                          <p:attrName>style.visibility</p:attrName>
                                        </p:attrNameLst>
                                      </p:cBhvr>
                                      <p:to>
                                        <p:strVal val="visible"/>
                                      </p:to>
                                    </p:set>
                                    <p:animEffect filter="fade" transition="in">
                                      <p:cBhvr>
                                        <p:cTn dur="500"/>
                                        <p:tgtEl>
                                          <p:spTgt spid="46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01"/>
                                        </p:tgtEl>
                                        <p:attrNameLst>
                                          <p:attrName>style.visibility</p:attrName>
                                        </p:attrNameLst>
                                      </p:cBhvr>
                                      <p:to>
                                        <p:strVal val="visible"/>
                                      </p:to>
                                    </p:set>
                                    <p:animEffect filter="fade" transition="in">
                                      <p:cBhvr>
                                        <p:cTn dur="500"/>
                                        <p:tgtEl>
                                          <p:spTgt spid="460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56"/>
                                        </p:tgtEl>
                                        <p:attrNameLst>
                                          <p:attrName>style.visibility</p:attrName>
                                        </p:attrNameLst>
                                      </p:cBhvr>
                                      <p:to>
                                        <p:strVal val="visible"/>
                                      </p:to>
                                    </p:set>
                                    <p:animEffect filter="fade" transition="in">
                                      <p:cBhvr>
                                        <p:cTn dur="500"/>
                                        <p:tgtEl>
                                          <p:spTgt spid="4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8"/>
                                        </p:tgtEl>
                                        <p:attrNameLst>
                                          <p:attrName>style.visibility</p:attrName>
                                        </p:attrNameLst>
                                      </p:cBhvr>
                                      <p:to>
                                        <p:strVal val="visible"/>
                                      </p:to>
                                    </p:set>
                                    <p:animEffect filter="fade" transition="in">
                                      <p:cBhvr>
                                        <p:cTn dur="500"/>
                                        <p:tgtEl>
                                          <p:spTgt spid="46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02"/>
                                        </p:tgtEl>
                                        <p:attrNameLst>
                                          <p:attrName>style.visibility</p:attrName>
                                        </p:attrNameLst>
                                      </p:cBhvr>
                                      <p:to>
                                        <p:strVal val="visible"/>
                                      </p:to>
                                    </p:set>
                                    <p:animEffect filter="fade" transition="in">
                                      <p:cBhvr>
                                        <p:cTn dur="500"/>
                                        <p:tgtEl>
                                          <p:spTgt spid="46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57"/>
                                        </p:tgtEl>
                                        <p:attrNameLst>
                                          <p:attrName>style.visibility</p:attrName>
                                        </p:attrNameLst>
                                      </p:cBhvr>
                                      <p:to>
                                        <p:strVal val="visible"/>
                                      </p:to>
                                    </p:set>
                                    <p:animEffect filter="fade" transition="in">
                                      <p:cBhvr>
                                        <p:cTn dur="500"/>
                                        <p:tgtEl>
                                          <p:spTgt spid="4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4"/>
                                        </p:tgtEl>
                                        <p:attrNameLst>
                                          <p:attrName>style.visibility</p:attrName>
                                        </p:attrNameLst>
                                      </p:cBhvr>
                                      <p:to>
                                        <p:strVal val="visible"/>
                                      </p:to>
                                    </p:set>
                                    <p:animEffect filter="fade" transition="in">
                                      <p:cBhvr>
                                        <p:cTn dur="500"/>
                                        <p:tgtEl>
                                          <p:spTgt spid="46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55"/>
                                        </p:tgtEl>
                                        <p:attrNameLst>
                                          <p:attrName>style.visibility</p:attrName>
                                        </p:attrNameLst>
                                      </p:cBhvr>
                                      <p:to>
                                        <p:strVal val="visible"/>
                                      </p:to>
                                    </p:set>
                                    <p:animEffect filter="fade" transition="in">
                                      <p:cBhvr>
                                        <p:cTn dur="500"/>
                                        <p:tgtEl>
                                          <p:spTgt spid="46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4"/>
                                        </p:tgtEl>
                                        <p:attrNameLst>
                                          <p:attrName>style.visibility</p:attrName>
                                        </p:attrNameLst>
                                      </p:cBhvr>
                                      <p:to>
                                        <p:strVal val="visible"/>
                                      </p:to>
                                    </p:set>
                                    <p:animEffect filter="fade" transition="in">
                                      <p:cBhvr>
                                        <p:cTn dur="500"/>
                                        <p:tgtEl>
                                          <p:spTgt spid="4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1"/>
                                        </p:tgtEl>
                                        <p:attrNameLst>
                                          <p:attrName>style.visibility</p:attrName>
                                        </p:attrNameLst>
                                      </p:cBhvr>
                                      <p:to>
                                        <p:strVal val="visible"/>
                                      </p:to>
                                    </p:set>
                                    <p:animEffect filter="fade" transition="in">
                                      <p:cBhvr>
                                        <p:cTn dur="500"/>
                                        <p:tgtEl>
                                          <p:spTgt spid="46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591"/>
                                        </p:tgtEl>
                                        <p:attrNameLst>
                                          <p:attrName>style.visibility</p:attrName>
                                        </p:attrNameLst>
                                      </p:cBhvr>
                                      <p:to>
                                        <p:strVal val="visible"/>
                                      </p:to>
                                    </p:set>
                                    <p:animEffect filter="fade" transition="in">
                                      <p:cBhvr>
                                        <p:cTn dur="500"/>
                                        <p:tgtEl>
                                          <p:spTgt spid="45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11"/>
                                        </p:tgtEl>
                                        <p:attrNameLst>
                                          <p:attrName>style.visibility</p:attrName>
                                        </p:attrNameLst>
                                      </p:cBhvr>
                                      <p:to>
                                        <p:strVal val="visible"/>
                                      </p:to>
                                    </p:set>
                                    <p:animEffect filter="fade" transition="in">
                                      <p:cBhvr>
                                        <p:cTn dur="500"/>
                                        <p:tgtEl>
                                          <p:spTgt spid="461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58"/>
                                        </p:tgtEl>
                                        <p:attrNameLst>
                                          <p:attrName>style.visibility</p:attrName>
                                        </p:attrNameLst>
                                      </p:cBhvr>
                                      <p:to>
                                        <p:strVal val="visible"/>
                                      </p:to>
                                    </p:set>
                                    <p:animEffect filter="fade" transition="in">
                                      <p:cBhvr>
                                        <p:cTn dur="500"/>
                                        <p:tgtEl>
                                          <p:spTgt spid="465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47"/>
                                        </p:tgtEl>
                                        <p:attrNameLst>
                                          <p:attrName>style.visibility</p:attrName>
                                        </p:attrNameLst>
                                      </p:cBhvr>
                                      <p:to>
                                        <p:strVal val="visible"/>
                                      </p:to>
                                    </p:set>
                                    <p:animEffect filter="fade" transition="in">
                                      <p:cBhvr>
                                        <p:cTn dur="500"/>
                                        <p:tgtEl>
                                          <p:spTgt spid="46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9"/>
                                        </p:tgtEl>
                                        <p:attrNameLst>
                                          <p:attrName>style.visibility</p:attrName>
                                        </p:attrNameLst>
                                      </p:cBhvr>
                                      <p:to>
                                        <p:strVal val="visible"/>
                                      </p:to>
                                    </p:set>
                                    <p:animEffect filter="fade" transition="in">
                                      <p:cBhvr>
                                        <p:cTn dur="500"/>
                                        <p:tgtEl>
                                          <p:spTgt spid="46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5" name="Shape 4665"/>
        <p:cNvGrpSpPr/>
        <p:nvPr/>
      </p:nvGrpSpPr>
      <p:grpSpPr>
        <a:xfrm>
          <a:off x="0" y="0"/>
          <a:ext cx="0" cy="0"/>
          <a:chOff x="0" y="0"/>
          <a:chExt cx="0" cy="0"/>
        </a:xfrm>
      </p:grpSpPr>
      <p:sp>
        <p:nvSpPr>
          <p:cNvPr id="4666" name="Google Shape;4666;p79"/>
          <p:cNvSpPr txBox="1"/>
          <p:nvPr>
            <p:ph type="title"/>
          </p:nvPr>
        </p:nvSpPr>
        <p:spPr>
          <a:xfrm>
            <a:off x="794655" y="408214"/>
            <a:ext cx="6222596" cy="133090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grpSp>
        <p:nvGrpSpPr>
          <p:cNvPr id="4667" name="Google Shape;4667;p79"/>
          <p:cNvGrpSpPr/>
          <p:nvPr/>
        </p:nvGrpSpPr>
        <p:grpSpPr>
          <a:xfrm>
            <a:off x="6931293" y="4061030"/>
            <a:ext cx="4257675" cy="2225676"/>
            <a:chOff x="6909757" y="4181931"/>
            <a:chExt cx="4257675" cy="2225676"/>
          </a:xfrm>
        </p:grpSpPr>
        <p:grpSp>
          <p:nvGrpSpPr>
            <p:cNvPr id="4668" name="Google Shape;4668;p79"/>
            <p:cNvGrpSpPr/>
            <p:nvPr/>
          </p:nvGrpSpPr>
          <p:grpSpPr>
            <a:xfrm>
              <a:off x="6909757" y="4258131"/>
              <a:ext cx="1030288" cy="274638"/>
              <a:chOff x="1895" y="3931"/>
              <a:chExt cx="649" cy="173"/>
            </a:xfrm>
          </p:grpSpPr>
          <p:sp>
            <p:nvSpPr>
              <p:cNvPr id="4669" name="Google Shape;4669;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70" name="Google Shape;4670;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671" name="Google Shape;4671;p79"/>
            <p:cNvGrpSpPr/>
            <p:nvPr/>
          </p:nvGrpSpPr>
          <p:grpSpPr>
            <a:xfrm>
              <a:off x="6928807" y="4532769"/>
              <a:ext cx="1030288" cy="274638"/>
              <a:chOff x="1895" y="3931"/>
              <a:chExt cx="649" cy="173"/>
            </a:xfrm>
          </p:grpSpPr>
          <p:sp>
            <p:nvSpPr>
              <p:cNvPr id="4672" name="Google Shape;4672;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73" name="Google Shape;4673;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674" name="Google Shape;4674;p79"/>
            <p:cNvGrpSpPr/>
            <p:nvPr/>
          </p:nvGrpSpPr>
          <p:grpSpPr>
            <a:xfrm>
              <a:off x="6936745" y="4796294"/>
              <a:ext cx="1030288" cy="274638"/>
              <a:chOff x="1895" y="3931"/>
              <a:chExt cx="649" cy="173"/>
            </a:xfrm>
          </p:grpSpPr>
          <p:sp>
            <p:nvSpPr>
              <p:cNvPr id="4675" name="Google Shape;4675;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76" name="Google Shape;4676;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677" name="Google Shape;4677;p79"/>
            <p:cNvCxnSpPr/>
            <p:nvPr/>
          </p:nvCxnSpPr>
          <p:spPr>
            <a:xfrm>
              <a:off x="7927345" y="4396244"/>
              <a:ext cx="1827213" cy="238125"/>
            </a:xfrm>
            <a:prstGeom prst="straightConnector1">
              <a:avLst/>
            </a:prstGeom>
            <a:noFill/>
            <a:ln cap="flat" cmpd="sng" w="19050">
              <a:solidFill>
                <a:srgbClr val="000099"/>
              </a:solidFill>
              <a:prstDash val="solid"/>
              <a:round/>
              <a:headEnd len="med" w="med" type="none"/>
              <a:tailEnd len="med" w="med" type="triangle"/>
            </a:ln>
          </p:spPr>
        </p:cxnSp>
        <p:cxnSp>
          <p:nvCxnSpPr>
            <p:cNvPr id="4678" name="Google Shape;4678;p79"/>
            <p:cNvCxnSpPr/>
            <p:nvPr/>
          </p:nvCxnSpPr>
          <p:spPr>
            <a:xfrm>
              <a:off x="7957507" y="4681994"/>
              <a:ext cx="1808163" cy="228600"/>
            </a:xfrm>
            <a:prstGeom prst="straightConnector1">
              <a:avLst/>
            </a:prstGeom>
            <a:noFill/>
            <a:ln cap="flat" cmpd="sng" w="19050">
              <a:solidFill>
                <a:srgbClr val="000099"/>
              </a:solidFill>
              <a:prstDash val="solid"/>
              <a:round/>
              <a:headEnd len="med" w="med" type="none"/>
              <a:tailEnd len="med" w="med" type="triangle"/>
            </a:ln>
          </p:spPr>
        </p:cxnSp>
        <p:cxnSp>
          <p:nvCxnSpPr>
            <p:cNvPr id="4679" name="Google Shape;4679;p79"/>
            <p:cNvCxnSpPr/>
            <p:nvPr/>
          </p:nvCxnSpPr>
          <p:spPr>
            <a:xfrm>
              <a:off x="7987670" y="4967744"/>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680" name="Google Shape;4680;p79"/>
            <p:cNvSpPr txBox="1"/>
            <p:nvPr/>
          </p:nvSpPr>
          <p:spPr>
            <a:xfrm>
              <a:off x="8040057" y="41819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681" name="Google Shape;4681;p79"/>
            <p:cNvSpPr txBox="1"/>
            <p:nvPr/>
          </p:nvSpPr>
          <p:spPr>
            <a:xfrm>
              <a:off x="8036882" y="446768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682" name="Google Shape;4682;p79"/>
            <p:cNvSpPr txBox="1"/>
            <p:nvPr/>
          </p:nvSpPr>
          <p:spPr>
            <a:xfrm>
              <a:off x="8033707" y="47534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4683" name="Google Shape;4683;p79"/>
            <p:cNvGrpSpPr/>
            <p:nvPr/>
          </p:nvGrpSpPr>
          <p:grpSpPr>
            <a:xfrm>
              <a:off x="6939920" y="5828170"/>
              <a:ext cx="1030288" cy="274638"/>
              <a:chOff x="1895" y="3931"/>
              <a:chExt cx="649" cy="173"/>
            </a:xfrm>
          </p:grpSpPr>
          <p:sp>
            <p:nvSpPr>
              <p:cNvPr id="4684" name="Google Shape;4684;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85" name="Google Shape;4685;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686" name="Google Shape;4686;p79"/>
            <p:cNvCxnSpPr/>
            <p:nvPr/>
          </p:nvCxnSpPr>
          <p:spPr>
            <a:xfrm>
              <a:off x="7990845" y="5961520"/>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687" name="Google Shape;4687;p79"/>
            <p:cNvSpPr txBox="1"/>
            <p:nvPr/>
          </p:nvSpPr>
          <p:spPr>
            <a:xfrm>
              <a:off x="8074982" y="5747207"/>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688" name="Google Shape;4688;p79"/>
            <p:cNvSpPr txBox="1"/>
            <p:nvPr/>
          </p:nvSpPr>
          <p:spPr>
            <a:xfrm>
              <a:off x="6924045" y="5429707"/>
              <a:ext cx="1382713"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4689" name="Google Shape;4689;p79"/>
            <p:cNvSpPr/>
            <p:nvPr/>
          </p:nvSpPr>
          <p:spPr>
            <a:xfrm>
              <a:off x="9959345" y="4559756"/>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90" name="Google Shape;4690;p79"/>
            <p:cNvSpPr txBox="1"/>
            <p:nvPr/>
          </p:nvSpPr>
          <p:spPr>
            <a:xfrm>
              <a:off x="9770432" y="4510544"/>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691" name="Google Shape;4691;p79"/>
            <p:cNvSpPr/>
            <p:nvPr/>
          </p:nvSpPr>
          <p:spPr>
            <a:xfrm>
              <a:off x="10079995" y="4831219"/>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92" name="Google Shape;4692;p79"/>
            <p:cNvSpPr txBox="1"/>
            <p:nvPr/>
          </p:nvSpPr>
          <p:spPr>
            <a:xfrm>
              <a:off x="9767257" y="4785181"/>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693" name="Google Shape;4693;p79"/>
            <p:cNvSpPr/>
            <p:nvPr/>
          </p:nvSpPr>
          <p:spPr>
            <a:xfrm>
              <a:off x="10210170" y="5094744"/>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694" name="Google Shape;4694;p79"/>
            <p:cNvSpPr txBox="1"/>
            <p:nvPr/>
          </p:nvSpPr>
          <p:spPr>
            <a:xfrm>
              <a:off x="9770432" y="5048707"/>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695" name="Google Shape;4695;p79"/>
            <p:cNvCxnSpPr/>
            <p:nvPr/>
          </p:nvCxnSpPr>
          <p:spPr>
            <a:xfrm flipH="1">
              <a:off x="9122732" y="4642306"/>
              <a:ext cx="577850" cy="257175"/>
            </a:xfrm>
            <a:prstGeom prst="straightConnector1">
              <a:avLst/>
            </a:prstGeom>
            <a:noFill/>
            <a:ln cap="flat" cmpd="sng" w="19050">
              <a:solidFill>
                <a:srgbClr val="008000"/>
              </a:solidFill>
              <a:prstDash val="solid"/>
              <a:round/>
              <a:headEnd len="med" w="med" type="none"/>
              <a:tailEnd len="med" w="med" type="triangle"/>
            </a:ln>
          </p:spPr>
        </p:cxnSp>
        <p:cxnSp>
          <p:nvCxnSpPr>
            <p:cNvPr id="4696" name="Google Shape;4696;p79"/>
            <p:cNvCxnSpPr/>
            <p:nvPr/>
          </p:nvCxnSpPr>
          <p:spPr>
            <a:xfrm flipH="1">
              <a:off x="9122732" y="4905831"/>
              <a:ext cx="608013" cy="225425"/>
            </a:xfrm>
            <a:prstGeom prst="straightConnector1">
              <a:avLst/>
            </a:prstGeom>
            <a:noFill/>
            <a:ln cap="flat" cmpd="sng" w="19050">
              <a:solidFill>
                <a:srgbClr val="008000"/>
              </a:solidFill>
              <a:prstDash val="solid"/>
              <a:round/>
              <a:headEnd len="med" w="med" type="none"/>
              <a:tailEnd len="med" w="med" type="triangle"/>
            </a:ln>
          </p:spPr>
        </p:cxnSp>
        <p:cxnSp>
          <p:nvCxnSpPr>
            <p:cNvPr id="4697" name="Google Shape;4697;p79"/>
            <p:cNvCxnSpPr/>
            <p:nvPr/>
          </p:nvCxnSpPr>
          <p:spPr>
            <a:xfrm flipH="1">
              <a:off x="9129082" y="5169357"/>
              <a:ext cx="631825" cy="212725"/>
            </a:xfrm>
            <a:prstGeom prst="straightConnector1">
              <a:avLst/>
            </a:prstGeom>
            <a:noFill/>
            <a:ln cap="flat" cmpd="sng" w="19050">
              <a:solidFill>
                <a:srgbClr val="008000"/>
              </a:solidFill>
              <a:prstDash val="solid"/>
              <a:round/>
              <a:headEnd len="med" w="med" type="none"/>
              <a:tailEnd len="med" w="med" type="triangle"/>
            </a:ln>
          </p:spPr>
        </p:cxnSp>
        <p:sp>
          <p:nvSpPr>
            <p:cNvPr id="4698" name="Google Shape;4698;p79"/>
            <p:cNvSpPr txBox="1"/>
            <p:nvPr/>
          </p:nvSpPr>
          <p:spPr>
            <a:xfrm>
              <a:off x="8913182" y="4759781"/>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699" name="Google Shape;4699;p79"/>
            <p:cNvSpPr txBox="1"/>
            <p:nvPr/>
          </p:nvSpPr>
          <p:spPr>
            <a:xfrm>
              <a:off x="8921120" y="5002669"/>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00" name="Google Shape;4700;p79"/>
            <p:cNvSpPr txBox="1"/>
            <p:nvPr/>
          </p:nvSpPr>
          <p:spPr>
            <a:xfrm>
              <a:off x="8927470" y="5240794"/>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01" name="Google Shape;4701;p79"/>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702" name="Google Shape;4702;p79"/>
            <p:cNvCxnSpPr/>
            <p:nvPr/>
          </p:nvCxnSpPr>
          <p:spPr>
            <a:xfrm rot="10800000">
              <a:off x="10424482" y="5345569"/>
              <a:ext cx="0" cy="635000"/>
            </a:xfrm>
            <a:prstGeom prst="straightConnector1">
              <a:avLst/>
            </a:prstGeom>
            <a:noFill/>
            <a:ln cap="flat" cmpd="sng" w="9525">
              <a:solidFill>
                <a:srgbClr val="CC0000"/>
              </a:solidFill>
              <a:prstDash val="solid"/>
              <a:round/>
              <a:headEnd len="med" w="med" type="none"/>
              <a:tailEnd len="med" w="med" type="triangle"/>
            </a:ln>
          </p:spPr>
        </p:cxnSp>
      </p:grpSp>
      <p:sp>
        <p:nvSpPr>
          <p:cNvPr id="4703" name="Google Shape;4703;p79"/>
          <p:cNvSpPr txBox="1"/>
          <p:nvPr/>
        </p:nvSpPr>
        <p:spPr>
          <a:xfrm>
            <a:off x="6903407" y="6111434"/>
            <a:ext cx="12207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4704" name="Google Shape;4704;p79"/>
          <p:cNvGrpSpPr/>
          <p:nvPr/>
        </p:nvGrpSpPr>
        <p:grpSpPr>
          <a:xfrm>
            <a:off x="6785932" y="351292"/>
            <a:ext cx="4410075" cy="2644775"/>
            <a:chOff x="6785932" y="351292"/>
            <a:chExt cx="4410075" cy="2644775"/>
          </a:xfrm>
        </p:grpSpPr>
        <p:sp>
          <p:nvSpPr>
            <p:cNvPr id="4705" name="Google Shape;4705;p79"/>
            <p:cNvSpPr txBox="1"/>
            <p:nvPr/>
          </p:nvSpPr>
          <p:spPr>
            <a:xfrm>
              <a:off x="9546595" y="351292"/>
              <a:ext cx="14589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4706" name="Google Shape;4706;p79"/>
            <p:cNvSpPr txBox="1"/>
            <p:nvPr/>
          </p:nvSpPr>
          <p:spPr>
            <a:xfrm>
              <a:off x="6785932" y="354467"/>
              <a:ext cx="13652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4707" name="Google Shape;4707;p79"/>
            <p:cNvCxnSpPr/>
            <p:nvPr/>
          </p:nvCxnSpPr>
          <p:spPr>
            <a:xfrm>
              <a:off x="6871657" y="845004"/>
              <a:ext cx="1109663" cy="0"/>
            </a:xfrm>
            <a:prstGeom prst="straightConnector1">
              <a:avLst/>
            </a:prstGeom>
            <a:noFill/>
            <a:ln cap="flat" cmpd="sng" w="19050">
              <a:solidFill>
                <a:srgbClr val="000099"/>
              </a:solidFill>
              <a:prstDash val="solid"/>
              <a:round/>
              <a:headEnd len="med" w="med" type="none"/>
              <a:tailEnd len="med" w="med" type="none"/>
            </a:ln>
          </p:spPr>
        </p:cxnSp>
        <p:cxnSp>
          <p:nvCxnSpPr>
            <p:cNvPr id="4708" name="Google Shape;4708;p79"/>
            <p:cNvCxnSpPr/>
            <p:nvPr/>
          </p:nvCxnSpPr>
          <p:spPr>
            <a:xfrm>
              <a:off x="9652957" y="845004"/>
              <a:ext cx="1109663" cy="0"/>
            </a:xfrm>
            <a:prstGeom prst="straightConnector1">
              <a:avLst/>
            </a:prstGeom>
            <a:noFill/>
            <a:ln cap="flat" cmpd="sng" w="19050">
              <a:solidFill>
                <a:srgbClr val="008000"/>
              </a:solidFill>
              <a:prstDash val="solid"/>
              <a:round/>
              <a:headEnd len="med" w="med" type="none"/>
              <a:tailEnd len="med" w="med" type="none"/>
            </a:ln>
          </p:spPr>
        </p:cxnSp>
        <p:grpSp>
          <p:nvGrpSpPr>
            <p:cNvPr id="4709" name="Google Shape;4709;p79"/>
            <p:cNvGrpSpPr/>
            <p:nvPr/>
          </p:nvGrpSpPr>
          <p:grpSpPr>
            <a:xfrm>
              <a:off x="6927220" y="1057729"/>
              <a:ext cx="1030287" cy="274638"/>
              <a:chOff x="1895" y="3931"/>
              <a:chExt cx="649" cy="173"/>
            </a:xfrm>
          </p:grpSpPr>
          <p:sp>
            <p:nvSpPr>
              <p:cNvPr id="4710" name="Google Shape;4710;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11" name="Google Shape;4711;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12" name="Google Shape;4712;p79"/>
            <p:cNvGrpSpPr/>
            <p:nvPr/>
          </p:nvGrpSpPr>
          <p:grpSpPr>
            <a:xfrm>
              <a:off x="6946270" y="1332367"/>
              <a:ext cx="1030287" cy="274638"/>
              <a:chOff x="1895" y="3931"/>
              <a:chExt cx="649" cy="173"/>
            </a:xfrm>
          </p:grpSpPr>
          <p:sp>
            <p:nvSpPr>
              <p:cNvPr id="4713" name="Google Shape;4713;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14" name="Google Shape;4714;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15" name="Google Shape;4715;p79"/>
            <p:cNvGrpSpPr/>
            <p:nvPr/>
          </p:nvGrpSpPr>
          <p:grpSpPr>
            <a:xfrm>
              <a:off x="6954207" y="1595892"/>
              <a:ext cx="1030287" cy="274638"/>
              <a:chOff x="1895" y="3931"/>
              <a:chExt cx="649" cy="173"/>
            </a:xfrm>
          </p:grpSpPr>
          <p:sp>
            <p:nvSpPr>
              <p:cNvPr id="4716" name="Google Shape;4716;p7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17" name="Google Shape;4717;p7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718" name="Google Shape;4718;p79"/>
            <p:cNvCxnSpPr/>
            <p:nvPr/>
          </p:nvCxnSpPr>
          <p:spPr>
            <a:xfrm>
              <a:off x="7944807" y="1195842"/>
              <a:ext cx="1827212" cy="238125"/>
            </a:xfrm>
            <a:prstGeom prst="straightConnector1">
              <a:avLst/>
            </a:prstGeom>
            <a:noFill/>
            <a:ln cap="flat" cmpd="sng" w="19050">
              <a:solidFill>
                <a:srgbClr val="000099"/>
              </a:solidFill>
              <a:prstDash val="solid"/>
              <a:round/>
              <a:headEnd len="med" w="med" type="none"/>
              <a:tailEnd len="med" w="med" type="triangle"/>
            </a:ln>
          </p:spPr>
        </p:cxnSp>
        <p:cxnSp>
          <p:nvCxnSpPr>
            <p:cNvPr id="4719" name="Google Shape;4719;p79"/>
            <p:cNvCxnSpPr/>
            <p:nvPr/>
          </p:nvCxnSpPr>
          <p:spPr>
            <a:xfrm>
              <a:off x="7974970" y="1481592"/>
              <a:ext cx="1808162" cy="228600"/>
            </a:xfrm>
            <a:prstGeom prst="straightConnector1">
              <a:avLst/>
            </a:prstGeom>
            <a:noFill/>
            <a:ln cap="flat" cmpd="sng" w="19050">
              <a:solidFill>
                <a:srgbClr val="000099"/>
              </a:solidFill>
              <a:prstDash val="solid"/>
              <a:round/>
              <a:headEnd len="med" w="med" type="none"/>
              <a:tailEnd len="med" w="med" type="triangle"/>
            </a:ln>
          </p:spPr>
        </p:cxnSp>
        <p:cxnSp>
          <p:nvCxnSpPr>
            <p:cNvPr id="4720" name="Google Shape;4720;p79"/>
            <p:cNvCxnSpPr/>
            <p:nvPr/>
          </p:nvCxnSpPr>
          <p:spPr>
            <a:xfrm>
              <a:off x="8005132" y="1767342"/>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721" name="Google Shape;4721;p79"/>
            <p:cNvSpPr txBox="1"/>
            <p:nvPr/>
          </p:nvSpPr>
          <p:spPr>
            <a:xfrm>
              <a:off x="7990845" y="9815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22" name="Google Shape;4722;p79"/>
            <p:cNvSpPr txBox="1"/>
            <p:nvPr/>
          </p:nvSpPr>
          <p:spPr>
            <a:xfrm>
              <a:off x="8054345" y="126727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723" name="Google Shape;4723;p79"/>
            <p:cNvSpPr txBox="1"/>
            <p:nvPr/>
          </p:nvSpPr>
          <p:spPr>
            <a:xfrm>
              <a:off x="8051170" y="15530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4724" name="Google Shape;4724;p79"/>
            <p:cNvSpPr/>
            <p:nvPr/>
          </p:nvSpPr>
          <p:spPr>
            <a:xfrm>
              <a:off x="7270120" y="2369004"/>
              <a:ext cx="401637" cy="188913"/>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25" name="Google Shape;4725;p79"/>
            <p:cNvSpPr txBox="1"/>
            <p:nvPr/>
          </p:nvSpPr>
          <p:spPr>
            <a:xfrm>
              <a:off x="6957382" y="2322967"/>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4726" name="Google Shape;4726;p79"/>
            <p:cNvCxnSpPr/>
            <p:nvPr/>
          </p:nvCxnSpPr>
          <p:spPr>
            <a:xfrm>
              <a:off x="7976557" y="2494417"/>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727" name="Google Shape;4727;p79"/>
            <p:cNvSpPr txBox="1"/>
            <p:nvPr/>
          </p:nvSpPr>
          <p:spPr>
            <a:xfrm>
              <a:off x="8079745" y="250235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28" name="Google Shape;4728;p79"/>
            <p:cNvSpPr/>
            <p:nvPr/>
          </p:nvSpPr>
          <p:spPr>
            <a:xfrm>
              <a:off x="9976807" y="1359354"/>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29" name="Google Shape;4729;p79"/>
            <p:cNvSpPr txBox="1"/>
            <p:nvPr/>
          </p:nvSpPr>
          <p:spPr>
            <a:xfrm>
              <a:off x="9787895" y="1310142"/>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730" name="Google Shape;4730;p79"/>
            <p:cNvSpPr/>
            <p:nvPr/>
          </p:nvSpPr>
          <p:spPr>
            <a:xfrm>
              <a:off x="10097457" y="1630817"/>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31" name="Google Shape;4731;p79"/>
            <p:cNvSpPr txBox="1"/>
            <p:nvPr/>
          </p:nvSpPr>
          <p:spPr>
            <a:xfrm>
              <a:off x="9784720" y="1584779"/>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732" name="Google Shape;4732;p79"/>
            <p:cNvSpPr/>
            <p:nvPr/>
          </p:nvSpPr>
          <p:spPr>
            <a:xfrm>
              <a:off x="10227632" y="1894342"/>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33" name="Google Shape;4733;p79"/>
            <p:cNvSpPr txBox="1"/>
            <p:nvPr/>
          </p:nvSpPr>
          <p:spPr>
            <a:xfrm>
              <a:off x="9787895" y="1848304"/>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734" name="Google Shape;4734;p79"/>
            <p:cNvCxnSpPr/>
            <p:nvPr/>
          </p:nvCxnSpPr>
          <p:spPr>
            <a:xfrm flipH="1">
              <a:off x="7933695" y="1441904"/>
              <a:ext cx="1784350" cy="735013"/>
            </a:xfrm>
            <a:prstGeom prst="straightConnector1">
              <a:avLst/>
            </a:prstGeom>
            <a:noFill/>
            <a:ln cap="flat" cmpd="sng" w="19050">
              <a:solidFill>
                <a:srgbClr val="008000"/>
              </a:solidFill>
              <a:prstDash val="solid"/>
              <a:round/>
              <a:headEnd len="med" w="med" type="none"/>
              <a:tailEnd len="med" w="med" type="triangle"/>
            </a:ln>
          </p:spPr>
        </p:cxnSp>
        <p:cxnSp>
          <p:nvCxnSpPr>
            <p:cNvPr id="4735" name="Google Shape;4735;p79"/>
            <p:cNvCxnSpPr/>
            <p:nvPr/>
          </p:nvCxnSpPr>
          <p:spPr>
            <a:xfrm flipH="1">
              <a:off x="7952745" y="1705429"/>
              <a:ext cx="1795462" cy="758825"/>
            </a:xfrm>
            <a:prstGeom prst="straightConnector1">
              <a:avLst/>
            </a:prstGeom>
            <a:noFill/>
            <a:ln cap="flat" cmpd="sng" w="19050">
              <a:solidFill>
                <a:srgbClr val="008000"/>
              </a:solidFill>
              <a:prstDash val="solid"/>
              <a:round/>
              <a:headEnd len="med" w="med" type="none"/>
              <a:tailEnd len="med" w="med" type="triangle"/>
            </a:ln>
          </p:spPr>
        </p:cxnSp>
        <p:sp>
          <p:nvSpPr>
            <p:cNvPr id="4736" name="Google Shape;4736;p79"/>
            <p:cNvSpPr txBox="1"/>
            <p:nvPr/>
          </p:nvSpPr>
          <p:spPr>
            <a:xfrm>
              <a:off x="8452807" y="2132467"/>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37" name="Google Shape;4737;p79"/>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738" name="Google Shape;4738;p79"/>
            <p:cNvCxnSpPr/>
            <p:nvPr/>
          </p:nvCxnSpPr>
          <p:spPr>
            <a:xfrm rot="10800000">
              <a:off x="10441945" y="2145167"/>
              <a:ext cx="0" cy="446088"/>
            </a:xfrm>
            <a:prstGeom prst="straightConnector1">
              <a:avLst/>
            </a:prstGeom>
            <a:noFill/>
            <a:ln cap="flat" cmpd="sng" w="9525">
              <a:solidFill>
                <a:srgbClr val="CC0000"/>
              </a:solidFill>
              <a:prstDash val="solid"/>
              <a:round/>
              <a:headEnd len="med" w="med" type="none"/>
              <a:tailEnd len="med" w="med" type="triangle"/>
            </a:ln>
          </p:spPr>
        </p:cxnSp>
        <p:cxnSp>
          <p:nvCxnSpPr>
            <p:cNvPr id="4739" name="Google Shape;4739;p79"/>
            <p:cNvCxnSpPr/>
            <p:nvPr/>
          </p:nvCxnSpPr>
          <p:spPr>
            <a:xfrm>
              <a:off x="7968620" y="2203904"/>
              <a:ext cx="590550" cy="73025"/>
            </a:xfrm>
            <a:prstGeom prst="straightConnector1">
              <a:avLst/>
            </a:prstGeom>
            <a:noFill/>
            <a:ln cap="flat" cmpd="sng" w="19050">
              <a:solidFill>
                <a:srgbClr val="000099"/>
              </a:solidFill>
              <a:prstDash val="solid"/>
              <a:round/>
              <a:headEnd len="med" w="med" type="none"/>
              <a:tailEnd len="med" w="med" type="triangle"/>
            </a:ln>
          </p:spPr>
        </p:cxnSp>
        <p:grpSp>
          <p:nvGrpSpPr>
            <p:cNvPr id="4740" name="Google Shape;4740;p79"/>
            <p:cNvGrpSpPr/>
            <p:nvPr/>
          </p:nvGrpSpPr>
          <p:grpSpPr>
            <a:xfrm>
              <a:off x="6957382" y="2037217"/>
              <a:ext cx="1030287" cy="274638"/>
              <a:chOff x="2667" y="3750"/>
              <a:chExt cx="649" cy="173"/>
            </a:xfrm>
          </p:grpSpPr>
          <p:sp>
            <p:nvSpPr>
              <p:cNvPr id="4741" name="Google Shape;4741;p79"/>
              <p:cNvSpPr/>
              <p:nvPr/>
            </p:nvSpPr>
            <p:spPr>
              <a:xfrm>
                <a:off x="2786" y="3779"/>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42" name="Google Shape;4742;p79"/>
              <p:cNvSpPr txBox="1"/>
              <p:nvPr/>
            </p:nvSpPr>
            <p:spPr>
              <a:xfrm>
                <a:off x="2667" y="3750"/>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4743" name="Google Shape;4743;p79"/>
            <p:cNvSpPr txBox="1"/>
            <p:nvPr/>
          </p:nvSpPr>
          <p:spPr>
            <a:xfrm>
              <a:off x="8082920" y="198800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4744" name="Google Shape;4744;p79"/>
          <p:cNvSpPr txBox="1"/>
          <p:nvPr/>
        </p:nvSpPr>
        <p:spPr>
          <a:xfrm>
            <a:off x="6800220" y="2834142"/>
            <a:ext cx="18793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4745" name="Google Shape;4745;p79"/>
          <p:cNvSpPr txBox="1"/>
          <p:nvPr/>
        </p:nvSpPr>
        <p:spPr>
          <a:xfrm>
            <a:off x="794654" y="1899557"/>
            <a:ext cx="5517245" cy="1326243"/>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sp>
        <p:nvSpPr>
          <p:cNvPr id="4746" name="Google Shape;4746;p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4"/>
                                        </p:tgtEl>
                                        <p:attrNameLst>
                                          <p:attrName>style.visibility</p:attrName>
                                        </p:attrNameLst>
                                      </p:cBhvr>
                                      <p:to>
                                        <p:strVal val="visible"/>
                                      </p:to>
                                    </p:set>
                                    <p:animEffect filter="fade" transition="in">
                                      <p:cBhvr>
                                        <p:cTn dur="500"/>
                                        <p:tgtEl>
                                          <p:spTgt spid="4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4"/>
                                        </p:tgtEl>
                                        <p:attrNameLst>
                                          <p:attrName>style.visibility</p:attrName>
                                        </p:attrNameLst>
                                      </p:cBhvr>
                                      <p:to>
                                        <p:strVal val="visible"/>
                                      </p:to>
                                    </p:set>
                                    <p:animEffect filter="fade" transition="in">
                                      <p:cBhvr>
                                        <p:cTn dur="500"/>
                                        <p:tgtEl>
                                          <p:spTgt spid="4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7"/>
                                        </p:tgtEl>
                                        <p:attrNameLst>
                                          <p:attrName>style.visibility</p:attrName>
                                        </p:attrNameLst>
                                      </p:cBhvr>
                                      <p:to>
                                        <p:strVal val="visible"/>
                                      </p:to>
                                    </p:set>
                                    <p:animEffect filter="fade" transition="in">
                                      <p:cBhvr>
                                        <p:cTn dur="500"/>
                                        <p:tgtEl>
                                          <p:spTgt spid="4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3"/>
                                        </p:tgtEl>
                                        <p:attrNameLst>
                                          <p:attrName>style.visibility</p:attrName>
                                        </p:attrNameLst>
                                      </p:cBhvr>
                                      <p:to>
                                        <p:strVal val="visible"/>
                                      </p:to>
                                    </p:set>
                                    <p:animEffect filter="fade" transition="in">
                                      <p:cBhvr>
                                        <p:cTn dur="500"/>
                                        <p:tgtEl>
                                          <p:spTgt spid="47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51" name="Shape 4751"/>
        <p:cNvGrpSpPr/>
        <p:nvPr/>
      </p:nvGrpSpPr>
      <p:grpSpPr>
        <a:xfrm>
          <a:off x="0" y="0"/>
          <a:ext cx="0" cy="0"/>
          <a:chOff x="0" y="0"/>
          <a:chExt cx="0" cy="0"/>
        </a:xfrm>
      </p:grpSpPr>
      <p:sp>
        <p:nvSpPr>
          <p:cNvPr id="4752" name="Google Shape;4752;p80"/>
          <p:cNvSpPr txBox="1"/>
          <p:nvPr>
            <p:ph type="title"/>
          </p:nvPr>
        </p:nvSpPr>
        <p:spPr>
          <a:xfrm>
            <a:off x="794655" y="408214"/>
            <a:ext cx="6222596" cy="133090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sp>
        <p:nvSpPr>
          <p:cNvPr id="4753" name="Google Shape;4753;p80"/>
          <p:cNvSpPr/>
          <p:nvPr/>
        </p:nvSpPr>
        <p:spPr>
          <a:xfrm>
            <a:off x="1004797" y="3949577"/>
            <a:ext cx="5038193" cy="235803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000099"/>
              </a:buClr>
              <a:buSzPts val="1820"/>
              <a:buFont typeface="Calibri"/>
              <a:buNone/>
            </a:pPr>
            <a:r>
              <a:rPr b="0" i="0"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what relationship is needed between sequence # size and window size to avoid problem in scenario (b)?</a:t>
            </a:r>
            <a:endParaRPr/>
          </a:p>
        </p:txBody>
      </p:sp>
      <p:grpSp>
        <p:nvGrpSpPr>
          <p:cNvPr id="4754" name="Google Shape;4754;p80"/>
          <p:cNvGrpSpPr/>
          <p:nvPr/>
        </p:nvGrpSpPr>
        <p:grpSpPr>
          <a:xfrm>
            <a:off x="6931293" y="4061030"/>
            <a:ext cx="4257675" cy="2225676"/>
            <a:chOff x="6909757" y="4181931"/>
            <a:chExt cx="4257675" cy="2225676"/>
          </a:xfrm>
        </p:grpSpPr>
        <p:grpSp>
          <p:nvGrpSpPr>
            <p:cNvPr id="4755" name="Google Shape;4755;p80"/>
            <p:cNvGrpSpPr/>
            <p:nvPr/>
          </p:nvGrpSpPr>
          <p:grpSpPr>
            <a:xfrm>
              <a:off x="6909757" y="4258131"/>
              <a:ext cx="1030288" cy="274638"/>
              <a:chOff x="1895" y="3931"/>
              <a:chExt cx="649" cy="173"/>
            </a:xfrm>
          </p:grpSpPr>
          <p:sp>
            <p:nvSpPr>
              <p:cNvPr id="4756" name="Google Shape;4756;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57" name="Google Shape;4757;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58" name="Google Shape;4758;p80"/>
            <p:cNvGrpSpPr/>
            <p:nvPr/>
          </p:nvGrpSpPr>
          <p:grpSpPr>
            <a:xfrm>
              <a:off x="6928807" y="4532769"/>
              <a:ext cx="1030288" cy="274638"/>
              <a:chOff x="1895" y="3931"/>
              <a:chExt cx="649" cy="173"/>
            </a:xfrm>
          </p:grpSpPr>
          <p:sp>
            <p:nvSpPr>
              <p:cNvPr id="4759" name="Google Shape;4759;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60" name="Google Shape;4760;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61" name="Google Shape;4761;p80"/>
            <p:cNvGrpSpPr/>
            <p:nvPr/>
          </p:nvGrpSpPr>
          <p:grpSpPr>
            <a:xfrm>
              <a:off x="6936745" y="4796294"/>
              <a:ext cx="1030288" cy="274638"/>
              <a:chOff x="1895" y="3931"/>
              <a:chExt cx="649" cy="173"/>
            </a:xfrm>
          </p:grpSpPr>
          <p:sp>
            <p:nvSpPr>
              <p:cNvPr id="4762" name="Google Shape;4762;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63" name="Google Shape;4763;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764" name="Google Shape;4764;p80"/>
            <p:cNvCxnSpPr/>
            <p:nvPr/>
          </p:nvCxnSpPr>
          <p:spPr>
            <a:xfrm>
              <a:off x="7927345" y="4396244"/>
              <a:ext cx="1827213" cy="238125"/>
            </a:xfrm>
            <a:prstGeom prst="straightConnector1">
              <a:avLst/>
            </a:prstGeom>
            <a:noFill/>
            <a:ln cap="flat" cmpd="sng" w="19050">
              <a:solidFill>
                <a:srgbClr val="000099"/>
              </a:solidFill>
              <a:prstDash val="solid"/>
              <a:round/>
              <a:headEnd len="med" w="med" type="none"/>
              <a:tailEnd len="med" w="med" type="triangle"/>
            </a:ln>
          </p:spPr>
        </p:cxnSp>
        <p:cxnSp>
          <p:nvCxnSpPr>
            <p:cNvPr id="4765" name="Google Shape;4765;p80"/>
            <p:cNvCxnSpPr/>
            <p:nvPr/>
          </p:nvCxnSpPr>
          <p:spPr>
            <a:xfrm>
              <a:off x="7957507" y="4681994"/>
              <a:ext cx="1808163" cy="228600"/>
            </a:xfrm>
            <a:prstGeom prst="straightConnector1">
              <a:avLst/>
            </a:prstGeom>
            <a:noFill/>
            <a:ln cap="flat" cmpd="sng" w="19050">
              <a:solidFill>
                <a:srgbClr val="000099"/>
              </a:solidFill>
              <a:prstDash val="solid"/>
              <a:round/>
              <a:headEnd len="med" w="med" type="none"/>
              <a:tailEnd len="med" w="med" type="triangle"/>
            </a:ln>
          </p:spPr>
        </p:cxnSp>
        <p:cxnSp>
          <p:nvCxnSpPr>
            <p:cNvPr id="4766" name="Google Shape;4766;p80"/>
            <p:cNvCxnSpPr/>
            <p:nvPr/>
          </p:nvCxnSpPr>
          <p:spPr>
            <a:xfrm>
              <a:off x="7987670" y="4967744"/>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767" name="Google Shape;4767;p80"/>
            <p:cNvSpPr txBox="1"/>
            <p:nvPr/>
          </p:nvSpPr>
          <p:spPr>
            <a:xfrm>
              <a:off x="8040057" y="41819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68" name="Google Shape;4768;p80"/>
            <p:cNvSpPr txBox="1"/>
            <p:nvPr/>
          </p:nvSpPr>
          <p:spPr>
            <a:xfrm>
              <a:off x="8036882" y="446768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769" name="Google Shape;4769;p80"/>
            <p:cNvSpPr txBox="1"/>
            <p:nvPr/>
          </p:nvSpPr>
          <p:spPr>
            <a:xfrm>
              <a:off x="8033707" y="47534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4770" name="Google Shape;4770;p80"/>
            <p:cNvGrpSpPr/>
            <p:nvPr/>
          </p:nvGrpSpPr>
          <p:grpSpPr>
            <a:xfrm>
              <a:off x="6939920" y="5828170"/>
              <a:ext cx="1030288" cy="274638"/>
              <a:chOff x="1895" y="3931"/>
              <a:chExt cx="649" cy="173"/>
            </a:xfrm>
          </p:grpSpPr>
          <p:sp>
            <p:nvSpPr>
              <p:cNvPr id="4771" name="Google Shape;4771;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72" name="Google Shape;4772;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773" name="Google Shape;4773;p80"/>
            <p:cNvCxnSpPr/>
            <p:nvPr/>
          </p:nvCxnSpPr>
          <p:spPr>
            <a:xfrm>
              <a:off x="7990845" y="5961520"/>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774" name="Google Shape;4774;p80"/>
            <p:cNvSpPr txBox="1"/>
            <p:nvPr/>
          </p:nvSpPr>
          <p:spPr>
            <a:xfrm>
              <a:off x="8074982" y="5747207"/>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775" name="Google Shape;4775;p80"/>
            <p:cNvSpPr txBox="1"/>
            <p:nvPr/>
          </p:nvSpPr>
          <p:spPr>
            <a:xfrm>
              <a:off x="6924045" y="5429707"/>
              <a:ext cx="1382713"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4776" name="Google Shape;4776;p80"/>
            <p:cNvSpPr/>
            <p:nvPr/>
          </p:nvSpPr>
          <p:spPr>
            <a:xfrm>
              <a:off x="9959345" y="4559756"/>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77" name="Google Shape;4777;p80"/>
            <p:cNvSpPr txBox="1"/>
            <p:nvPr/>
          </p:nvSpPr>
          <p:spPr>
            <a:xfrm>
              <a:off x="9770432" y="4510544"/>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778" name="Google Shape;4778;p80"/>
            <p:cNvSpPr/>
            <p:nvPr/>
          </p:nvSpPr>
          <p:spPr>
            <a:xfrm>
              <a:off x="10079995" y="4831219"/>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79" name="Google Shape;4779;p80"/>
            <p:cNvSpPr txBox="1"/>
            <p:nvPr/>
          </p:nvSpPr>
          <p:spPr>
            <a:xfrm>
              <a:off x="9767257" y="4785181"/>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780" name="Google Shape;4780;p80"/>
            <p:cNvSpPr/>
            <p:nvPr/>
          </p:nvSpPr>
          <p:spPr>
            <a:xfrm>
              <a:off x="10210170" y="5094744"/>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81" name="Google Shape;4781;p80"/>
            <p:cNvSpPr txBox="1"/>
            <p:nvPr/>
          </p:nvSpPr>
          <p:spPr>
            <a:xfrm>
              <a:off x="9770432" y="5048707"/>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782" name="Google Shape;4782;p80"/>
            <p:cNvCxnSpPr/>
            <p:nvPr/>
          </p:nvCxnSpPr>
          <p:spPr>
            <a:xfrm flipH="1">
              <a:off x="9122732" y="4642306"/>
              <a:ext cx="577850" cy="257175"/>
            </a:xfrm>
            <a:prstGeom prst="straightConnector1">
              <a:avLst/>
            </a:prstGeom>
            <a:noFill/>
            <a:ln cap="flat" cmpd="sng" w="19050">
              <a:solidFill>
                <a:srgbClr val="008000"/>
              </a:solidFill>
              <a:prstDash val="solid"/>
              <a:round/>
              <a:headEnd len="med" w="med" type="none"/>
              <a:tailEnd len="med" w="med" type="triangle"/>
            </a:ln>
          </p:spPr>
        </p:cxnSp>
        <p:cxnSp>
          <p:nvCxnSpPr>
            <p:cNvPr id="4783" name="Google Shape;4783;p80"/>
            <p:cNvCxnSpPr/>
            <p:nvPr/>
          </p:nvCxnSpPr>
          <p:spPr>
            <a:xfrm flipH="1">
              <a:off x="9122732" y="4905831"/>
              <a:ext cx="608013" cy="225425"/>
            </a:xfrm>
            <a:prstGeom prst="straightConnector1">
              <a:avLst/>
            </a:prstGeom>
            <a:noFill/>
            <a:ln cap="flat" cmpd="sng" w="19050">
              <a:solidFill>
                <a:srgbClr val="008000"/>
              </a:solidFill>
              <a:prstDash val="solid"/>
              <a:round/>
              <a:headEnd len="med" w="med" type="none"/>
              <a:tailEnd len="med" w="med" type="triangle"/>
            </a:ln>
          </p:spPr>
        </p:cxnSp>
        <p:cxnSp>
          <p:nvCxnSpPr>
            <p:cNvPr id="4784" name="Google Shape;4784;p80"/>
            <p:cNvCxnSpPr/>
            <p:nvPr/>
          </p:nvCxnSpPr>
          <p:spPr>
            <a:xfrm flipH="1">
              <a:off x="9129082" y="5169357"/>
              <a:ext cx="631825" cy="212725"/>
            </a:xfrm>
            <a:prstGeom prst="straightConnector1">
              <a:avLst/>
            </a:prstGeom>
            <a:noFill/>
            <a:ln cap="flat" cmpd="sng" w="19050">
              <a:solidFill>
                <a:srgbClr val="008000"/>
              </a:solidFill>
              <a:prstDash val="solid"/>
              <a:round/>
              <a:headEnd len="med" w="med" type="none"/>
              <a:tailEnd len="med" w="med" type="triangle"/>
            </a:ln>
          </p:spPr>
        </p:cxnSp>
        <p:sp>
          <p:nvSpPr>
            <p:cNvPr id="4785" name="Google Shape;4785;p80"/>
            <p:cNvSpPr txBox="1"/>
            <p:nvPr/>
          </p:nvSpPr>
          <p:spPr>
            <a:xfrm>
              <a:off x="8913182" y="4759781"/>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86" name="Google Shape;4786;p80"/>
            <p:cNvSpPr txBox="1"/>
            <p:nvPr/>
          </p:nvSpPr>
          <p:spPr>
            <a:xfrm>
              <a:off x="8921120" y="5002669"/>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87" name="Google Shape;4787;p80"/>
            <p:cNvSpPr txBox="1"/>
            <p:nvPr/>
          </p:nvSpPr>
          <p:spPr>
            <a:xfrm>
              <a:off x="8927470" y="5240794"/>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788" name="Google Shape;4788;p80"/>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789" name="Google Shape;4789;p80"/>
            <p:cNvCxnSpPr/>
            <p:nvPr/>
          </p:nvCxnSpPr>
          <p:spPr>
            <a:xfrm rot="10800000">
              <a:off x="10424482" y="5345569"/>
              <a:ext cx="0" cy="635000"/>
            </a:xfrm>
            <a:prstGeom prst="straightConnector1">
              <a:avLst/>
            </a:prstGeom>
            <a:noFill/>
            <a:ln cap="flat" cmpd="sng" w="9525">
              <a:solidFill>
                <a:srgbClr val="CC0000"/>
              </a:solidFill>
              <a:prstDash val="solid"/>
              <a:round/>
              <a:headEnd len="med" w="med" type="none"/>
              <a:tailEnd len="med" w="med" type="triangle"/>
            </a:ln>
          </p:spPr>
        </p:cxnSp>
      </p:grpSp>
      <p:sp>
        <p:nvSpPr>
          <p:cNvPr id="4790" name="Google Shape;4790;p80"/>
          <p:cNvSpPr txBox="1"/>
          <p:nvPr/>
        </p:nvSpPr>
        <p:spPr>
          <a:xfrm>
            <a:off x="6903407" y="6111434"/>
            <a:ext cx="12207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4791" name="Google Shape;4791;p80"/>
          <p:cNvGrpSpPr/>
          <p:nvPr/>
        </p:nvGrpSpPr>
        <p:grpSpPr>
          <a:xfrm>
            <a:off x="6785932" y="351292"/>
            <a:ext cx="4410075" cy="2644775"/>
            <a:chOff x="6785932" y="351292"/>
            <a:chExt cx="4410075" cy="2644775"/>
          </a:xfrm>
        </p:grpSpPr>
        <p:sp>
          <p:nvSpPr>
            <p:cNvPr id="4792" name="Google Shape;4792;p80"/>
            <p:cNvSpPr txBox="1"/>
            <p:nvPr/>
          </p:nvSpPr>
          <p:spPr>
            <a:xfrm>
              <a:off x="9546595" y="351292"/>
              <a:ext cx="14589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4793" name="Google Shape;4793;p80"/>
            <p:cNvSpPr txBox="1"/>
            <p:nvPr/>
          </p:nvSpPr>
          <p:spPr>
            <a:xfrm>
              <a:off x="6785932" y="354467"/>
              <a:ext cx="13652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4794" name="Google Shape;4794;p80"/>
            <p:cNvCxnSpPr/>
            <p:nvPr/>
          </p:nvCxnSpPr>
          <p:spPr>
            <a:xfrm>
              <a:off x="6871657" y="845004"/>
              <a:ext cx="1109663" cy="0"/>
            </a:xfrm>
            <a:prstGeom prst="straightConnector1">
              <a:avLst/>
            </a:prstGeom>
            <a:noFill/>
            <a:ln cap="flat" cmpd="sng" w="19050">
              <a:solidFill>
                <a:srgbClr val="000099"/>
              </a:solidFill>
              <a:prstDash val="solid"/>
              <a:round/>
              <a:headEnd len="med" w="med" type="none"/>
              <a:tailEnd len="med" w="med" type="none"/>
            </a:ln>
          </p:spPr>
        </p:cxnSp>
        <p:cxnSp>
          <p:nvCxnSpPr>
            <p:cNvPr id="4795" name="Google Shape;4795;p80"/>
            <p:cNvCxnSpPr/>
            <p:nvPr/>
          </p:nvCxnSpPr>
          <p:spPr>
            <a:xfrm>
              <a:off x="9652957" y="845004"/>
              <a:ext cx="1109663" cy="0"/>
            </a:xfrm>
            <a:prstGeom prst="straightConnector1">
              <a:avLst/>
            </a:prstGeom>
            <a:noFill/>
            <a:ln cap="flat" cmpd="sng" w="19050">
              <a:solidFill>
                <a:srgbClr val="008000"/>
              </a:solidFill>
              <a:prstDash val="solid"/>
              <a:round/>
              <a:headEnd len="med" w="med" type="none"/>
              <a:tailEnd len="med" w="med" type="none"/>
            </a:ln>
          </p:spPr>
        </p:cxnSp>
        <p:grpSp>
          <p:nvGrpSpPr>
            <p:cNvPr id="4796" name="Google Shape;4796;p80"/>
            <p:cNvGrpSpPr/>
            <p:nvPr/>
          </p:nvGrpSpPr>
          <p:grpSpPr>
            <a:xfrm>
              <a:off x="6927220" y="1057729"/>
              <a:ext cx="1030287" cy="274638"/>
              <a:chOff x="1895" y="3931"/>
              <a:chExt cx="649" cy="173"/>
            </a:xfrm>
          </p:grpSpPr>
          <p:sp>
            <p:nvSpPr>
              <p:cNvPr id="4797" name="Google Shape;4797;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798" name="Google Shape;4798;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799" name="Google Shape;4799;p80"/>
            <p:cNvGrpSpPr/>
            <p:nvPr/>
          </p:nvGrpSpPr>
          <p:grpSpPr>
            <a:xfrm>
              <a:off x="6946270" y="1332367"/>
              <a:ext cx="1030287" cy="274638"/>
              <a:chOff x="1895" y="3931"/>
              <a:chExt cx="649" cy="173"/>
            </a:xfrm>
          </p:grpSpPr>
          <p:sp>
            <p:nvSpPr>
              <p:cNvPr id="4800" name="Google Shape;4800;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01" name="Google Shape;4801;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4802" name="Google Shape;4802;p80"/>
            <p:cNvGrpSpPr/>
            <p:nvPr/>
          </p:nvGrpSpPr>
          <p:grpSpPr>
            <a:xfrm>
              <a:off x="6954207" y="1595892"/>
              <a:ext cx="1030287" cy="274638"/>
              <a:chOff x="1895" y="3931"/>
              <a:chExt cx="649" cy="173"/>
            </a:xfrm>
          </p:grpSpPr>
          <p:sp>
            <p:nvSpPr>
              <p:cNvPr id="4803" name="Google Shape;4803;p80"/>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04" name="Google Shape;4804;p80"/>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4805" name="Google Shape;4805;p80"/>
            <p:cNvCxnSpPr/>
            <p:nvPr/>
          </p:nvCxnSpPr>
          <p:spPr>
            <a:xfrm>
              <a:off x="7944807" y="1195842"/>
              <a:ext cx="1827212" cy="238125"/>
            </a:xfrm>
            <a:prstGeom prst="straightConnector1">
              <a:avLst/>
            </a:prstGeom>
            <a:noFill/>
            <a:ln cap="flat" cmpd="sng" w="19050">
              <a:solidFill>
                <a:srgbClr val="000099"/>
              </a:solidFill>
              <a:prstDash val="solid"/>
              <a:round/>
              <a:headEnd len="med" w="med" type="none"/>
              <a:tailEnd len="med" w="med" type="triangle"/>
            </a:ln>
          </p:spPr>
        </p:cxnSp>
        <p:cxnSp>
          <p:nvCxnSpPr>
            <p:cNvPr id="4806" name="Google Shape;4806;p80"/>
            <p:cNvCxnSpPr/>
            <p:nvPr/>
          </p:nvCxnSpPr>
          <p:spPr>
            <a:xfrm>
              <a:off x="7974970" y="1481592"/>
              <a:ext cx="1808162" cy="228600"/>
            </a:xfrm>
            <a:prstGeom prst="straightConnector1">
              <a:avLst/>
            </a:prstGeom>
            <a:noFill/>
            <a:ln cap="flat" cmpd="sng" w="19050">
              <a:solidFill>
                <a:srgbClr val="000099"/>
              </a:solidFill>
              <a:prstDash val="solid"/>
              <a:round/>
              <a:headEnd len="med" w="med" type="none"/>
              <a:tailEnd len="med" w="med" type="triangle"/>
            </a:ln>
          </p:spPr>
        </p:cxnSp>
        <p:cxnSp>
          <p:nvCxnSpPr>
            <p:cNvPr id="4807" name="Google Shape;4807;p80"/>
            <p:cNvCxnSpPr/>
            <p:nvPr/>
          </p:nvCxnSpPr>
          <p:spPr>
            <a:xfrm>
              <a:off x="8005132" y="1767342"/>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4808" name="Google Shape;4808;p80"/>
            <p:cNvSpPr txBox="1"/>
            <p:nvPr/>
          </p:nvSpPr>
          <p:spPr>
            <a:xfrm>
              <a:off x="7990845" y="9815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809" name="Google Shape;4809;p80"/>
            <p:cNvSpPr txBox="1"/>
            <p:nvPr/>
          </p:nvSpPr>
          <p:spPr>
            <a:xfrm>
              <a:off x="8054345" y="126727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4810" name="Google Shape;4810;p80"/>
            <p:cNvSpPr txBox="1"/>
            <p:nvPr/>
          </p:nvSpPr>
          <p:spPr>
            <a:xfrm>
              <a:off x="8051170" y="15530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4811" name="Google Shape;4811;p80"/>
            <p:cNvSpPr/>
            <p:nvPr/>
          </p:nvSpPr>
          <p:spPr>
            <a:xfrm>
              <a:off x="7270120" y="2369004"/>
              <a:ext cx="401637" cy="188913"/>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12" name="Google Shape;4812;p80"/>
            <p:cNvSpPr txBox="1"/>
            <p:nvPr/>
          </p:nvSpPr>
          <p:spPr>
            <a:xfrm>
              <a:off x="6957382" y="2322967"/>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4813" name="Google Shape;4813;p80"/>
            <p:cNvCxnSpPr/>
            <p:nvPr/>
          </p:nvCxnSpPr>
          <p:spPr>
            <a:xfrm>
              <a:off x="7976557" y="2494417"/>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4814" name="Google Shape;4814;p80"/>
            <p:cNvSpPr txBox="1"/>
            <p:nvPr/>
          </p:nvSpPr>
          <p:spPr>
            <a:xfrm>
              <a:off x="8079745" y="250235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4815" name="Google Shape;4815;p80"/>
            <p:cNvSpPr/>
            <p:nvPr/>
          </p:nvSpPr>
          <p:spPr>
            <a:xfrm>
              <a:off x="9976807" y="1359354"/>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16" name="Google Shape;4816;p80"/>
            <p:cNvSpPr txBox="1"/>
            <p:nvPr/>
          </p:nvSpPr>
          <p:spPr>
            <a:xfrm>
              <a:off x="9787895" y="1310142"/>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4817" name="Google Shape;4817;p80"/>
            <p:cNvSpPr/>
            <p:nvPr/>
          </p:nvSpPr>
          <p:spPr>
            <a:xfrm>
              <a:off x="10097457" y="1630817"/>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18" name="Google Shape;4818;p80"/>
            <p:cNvSpPr txBox="1"/>
            <p:nvPr/>
          </p:nvSpPr>
          <p:spPr>
            <a:xfrm>
              <a:off x="9784720" y="1584779"/>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4819" name="Google Shape;4819;p80"/>
            <p:cNvSpPr/>
            <p:nvPr/>
          </p:nvSpPr>
          <p:spPr>
            <a:xfrm>
              <a:off x="10227632" y="1894342"/>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20" name="Google Shape;4820;p80"/>
            <p:cNvSpPr txBox="1"/>
            <p:nvPr/>
          </p:nvSpPr>
          <p:spPr>
            <a:xfrm>
              <a:off x="9787895" y="1848304"/>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4821" name="Google Shape;4821;p80"/>
            <p:cNvCxnSpPr/>
            <p:nvPr/>
          </p:nvCxnSpPr>
          <p:spPr>
            <a:xfrm flipH="1">
              <a:off x="7933695" y="1441904"/>
              <a:ext cx="1784350" cy="735013"/>
            </a:xfrm>
            <a:prstGeom prst="straightConnector1">
              <a:avLst/>
            </a:prstGeom>
            <a:noFill/>
            <a:ln cap="flat" cmpd="sng" w="19050">
              <a:solidFill>
                <a:srgbClr val="008000"/>
              </a:solidFill>
              <a:prstDash val="solid"/>
              <a:round/>
              <a:headEnd len="med" w="med" type="none"/>
              <a:tailEnd len="med" w="med" type="triangle"/>
            </a:ln>
          </p:spPr>
        </p:cxnSp>
        <p:cxnSp>
          <p:nvCxnSpPr>
            <p:cNvPr id="4822" name="Google Shape;4822;p80"/>
            <p:cNvCxnSpPr/>
            <p:nvPr/>
          </p:nvCxnSpPr>
          <p:spPr>
            <a:xfrm flipH="1">
              <a:off x="7952745" y="1705429"/>
              <a:ext cx="1795462" cy="758825"/>
            </a:xfrm>
            <a:prstGeom prst="straightConnector1">
              <a:avLst/>
            </a:prstGeom>
            <a:noFill/>
            <a:ln cap="flat" cmpd="sng" w="19050">
              <a:solidFill>
                <a:srgbClr val="008000"/>
              </a:solidFill>
              <a:prstDash val="solid"/>
              <a:round/>
              <a:headEnd len="med" w="med" type="none"/>
              <a:tailEnd len="med" w="med" type="triangle"/>
            </a:ln>
          </p:spPr>
        </p:cxnSp>
        <p:sp>
          <p:nvSpPr>
            <p:cNvPr id="4823" name="Google Shape;4823;p80"/>
            <p:cNvSpPr txBox="1"/>
            <p:nvPr/>
          </p:nvSpPr>
          <p:spPr>
            <a:xfrm>
              <a:off x="8452807" y="2132467"/>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4824" name="Google Shape;4824;p80"/>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4825" name="Google Shape;4825;p80"/>
            <p:cNvCxnSpPr/>
            <p:nvPr/>
          </p:nvCxnSpPr>
          <p:spPr>
            <a:xfrm rot="10800000">
              <a:off x="10441945" y="2145167"/>
              <a:ext cx="0" cy="446088"/>
            </a:xfrm>
            <a:prstGeom prst="straightConnector1">
              <a:avLst/>
            </a:prstGeom>
            <a:noFill/>
            <a:ln cap="flat" cmpd="sng" w="9525">
              <a:solidFill>
                <a:srgbClr val="CC0000"/>
              </a:solidFill>
              <a:prstDash val="solid"/>
              <a:round/>
              <a:headEnd len="med" w="med" type="none"/>
              <a:tailEnd len="med" w="med" type="triangle"/>
            </a:ln>
          </p:spPr>
        </p:cxnSp>
        <p:cxnSp>
          <p:nvCxnSpPr>
            <p:cNvPr id="4826" name="Google Shape;4826;p80"/>
            <p:cNvCxnSpPr/>
            <p:nvPr/>
          </p:nvCxnSpPr>
          <p:spPr>
            <a:xfrm>
              <a:off x="7968620" y="2203904"/>
              <a:ext cx="590550" cy="73025"/>
            </a:xfrm>
            <a:prstGeom prst="straightConnector1">
              <a:avLst/>
            </a:prstGeom>
            <a:noFill/>
            <a:ln cap="flat" cmpd="sng" w="19050">
              <a:solidFill>
                <a:srgbClr val="000099"/>
              </a:solidFill>
              <a:prstDash val="solid"/>
              <a:round/>
              <a:headEnd len="med" w="med" type="none"/>
              <a:tailEnd len="med" w="med" type="triangle"/>
            </a:ln>
          </p:spPr>
        </p:cxnSp>
        <p:grpSp>
          <p:nvGrpSpPr>
            <p:cNvPr id="4827" name="Google Shape;4827;p80"/>
            <p:cNvGrpSpPr/>
            <p:nvPr/>
          </p:nvGrpSpPr>
          <p:grpSpPr>
            <a:xfrm>
              <a:off x="6957382" y="2037217"/>
              <a:ext cx="1030287" cy="274638"/>
              <a:chOff x="2667" y="3750"/>
              <a:chExt cx="649" cy="173"/>
            </a:xfrm>
          </p:grpSpPr>
          <p:sp>
            <p:nvSpPr>
              <p:cNvPr id="4828" name="Google Shape;4828;p80"/>
              <p:cNvSpPr/>
              <p:nvPr/>
            </p:nvSpPr>
            <p:spPr>
              <a:xfrm>
                <a:off x="2786" y="3779"/>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29" name="Google Shape;4829;p80"/>
              <p:cNvSpPr txBox="1"/>
              <p:nvPr/>
            </p:nvSpPr>
            <p:spPr>
              <a:xfrm>
                <a:off x="2667" y="3750"/>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4830" name="Google Shape;4830;p80"/>
            <p:cNvSpPr txBox="1"/>
            <p:nvPr/>
          </p:nvSpPr>
          <p:spPr>
            <a:xfrm>
              <a:off x="8082920" y="198800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4831" name="Google Shape;4831;p80"/>
          <p:cNvSpPr txBox="1"/>
          <p:nvPr/>
        </p:nvSpPr>
        <p:spPr>
          <a:xfrm>
            <a:off x="6800220" y="2834142"/>
            <a:ext cx="18793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4832" name="Google Shape;4832;p80"/>
          <p:cNvSpPr txBox="1"/>
          <p:nvPr/>
        </p:nvSpPr>
        <p:spPr>
          <a:xfrm>
            <a:off x="794654" y="1899557"/>
            <a:ext cx="5517245" cy="1326243"/>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grpSp>
        <p:nvGrpSpPr>
          <p:cNvPr id="4833" name="Google Shape;4833;p80"/>
          <p:cNvGrpSpPr/>
          <p:nvPr/>
        </p:nvGrpSpPr>
        <p:grpSpPr>
          <a:xfrm>
            <a:off x="6612895" y="981529"/>
            <a:ext cx="2769497" cy="5564188"/>
            <a:chOff x="6612895" y="981529"/>
            <a:chExt cx="2769497" cy="5564188"/>
          </a:xfrm>
        </p:grpSpPr>
        <p:sp>
          <p:nvSpPr>
            <p:cNvPr id="4834" name="Google Shape;4834;p80"/>
            <p:cNvSpPr/>
            <p:nvPr/>
          </p:nvSpPr>
          <p:spPr>
            <a:xfrm>
              <a:off x="6612895" y="981529"/>
              <a:ext cx="2463800" cy="5564188"/>
            </a:xfrm>
            <a:prstGeom prst="rect">
              <a:avLst/>
            </a:prstGeom>
            <a:solidFill>
              <a:schemeClr val="lt1">
                <a:alpha val="9686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35" name="Google Shape;4835;p80"/>
            <p:cNvGrpSpPr/>
            <p:nvPr/>
          </p:nvGrpSpPr>
          <p:grpSpPr>
            <a:xfrm>
              <a:off x="8864867" y="1005799"/>
              <a:ext cx="517525" cy="5278437"/>
              <a:chOff x="3821" y="550"/>
              <a:chExt cx="326" cy="3325"/>
            </a:xfrm>
          </p:grpSpPr>
          <p:pic>
            <p:nvPicPr>
              <p:cNvPr descr="curtain" id="4836" name="Google Shape;4836;p80"/>
              <p:cNvPicPr preferRelativeResize="0"/>
              <p:nvPr/>
            </p:nvPicPr>
            <p:blipFill rotWithShape="1">
              <a:blip r:embed="rId3">
                <a:alphaModFix/>
              </a:blip>
              <a:srcRect b="0" l="0" r="0" t="0"/>
              <a:stretch/>
            </p:blipFill>
            <p:spPr>
              <a:xfrm>
                <a:off x="3823" y="550"/>
                <a:ext cx="284" cy="1366"/>
              </a:xfrm>
              <a:prstGeom prst="rect">
                <a:avLst/>
              </a:prstGeom>
              <a:noFill/>
              <a:ln>
                <a:noFill/>
              </a:ln>
            </p:spPr>
          </p:pic>
          <p:pic>
            <p:nvPicPr>
              <p:cNvPr descr="curtain" id="4837" name="Google Shape;4837;p80"/>
              <p:cNvPicPr preferRelativeResize="0"/>
              <p:nvPr/>
            </p:nvPicPr>
            <p:blipFill rotWithShape="1">
              <a:blip r:embed="rId3">
                <a:alphaModFix/>
              </a:blip>
              <a:srcRect b="0" l="0" r="0" t="0"/>
              <a:stretch/>
            </p:blipFill>
            <p:spPr>
              <a:xfrm>
                <a:off x="3821" y="2564"/>
                <a:ext cx="326" cy="1311"/>
              </a:xfrm>
              <a:prstGeom prst="rect">
                <a:avLst/>
              </a:prstGeom>
              <a:noFill/>
              <a:ln>
                <a:noFill/>
              </a:ln>
            </p:spPr>
          </p:pic>
        </p:grpSp>
      </p:grpSp>
      <p:sp>
        <p:nvSpPr>
          <p:cNvPr id="4838" name="Google Shape;4838;p80"/>
          <p:cNvSpPr txBox="1"/>
          <p:nvPr/>
        </p:nvSpPr>
        <p:spPr>
          <a:xfrm>
            <a:off x="6811617" y="2358260"/>
            <a:ext cx="2107096" cy="2308324"/>
          </a:xfrm>
          <a:prstGeom prst="rect">
            <a:avLst/>
          </a:prstGeom>
          <a:solidFill>
            <a:schemeClr val="lt1"/>
          </a:solidFill>
          <a:ln>
            <a:noFill/>
          </a:ln>
        </p:spPr>
        <p:txBody>
          <a:bodyPr anchorCtr="0" anchor="t" bIns="45700" lIns="91425" spcFirstLastPara="1" rIns="91425" wrap="square" tIns="45700">
            <a:spAutoFit/>
          </a:bodyPr>
          <a:lstStyle/>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can’t see sender side</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behavior identical in both cases!</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CC0000"/>
                </a:solidFill>
                <a:latin typeface="Calibri"/>
                <a:ea typeface="Calibri"/>
                <a:cs typeface="Calibri"/>
                <a:sym typeface="Calibri"/>
              </a:rPr>
              <a:t>something’s (very) wrong!</a:t>
            </a:r>
            <a:endParaRPr b="0" i="1" sz="2000" u="none" cap="none" strike="noStrike">
              <a:solidFill>
                <a:srgbClr val="CC0000"/>
              </a:solidFill>
              <a:latin typeface="Calibri"/>
              <a:ea typeface="Calibri"/>
              <a:cs typeface="Calibri"/>
              <a:sym typeface="Calibri"/>
            </a:endParaRPr>
          </a:p>
        </p:txBody>
      </p:sp>
      <p:sp>
        <p:nvSpPr>
          <p:cNvPr id="4839" name="Google Shape;4839;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38"/>
                                        </p:tgtEl>
                                        <p:attrNameLst>
                                          <p:attrName>style.visibility</p:attrName>
                                        </p:attrNameLst>
                                      </p:cBhvr>
                                      <p:to>
                                        <p:strVal val="visible"/>
                                      </p:to>
                                    </p:set>
                                    <p:animEffect filter="fade" transition="in">
                                      <p:cBhvr>
                                        <p:cTn dur="500"/>
                                        <p:tgtEl>
                                          <p:spTgt spid="4838"/>
                                        </p:tgtEl>
                                      </p:cBhvr>
                                    </p:animEffect>
                                  </p:childTnLst>
                                </p:cTn>
                              </p:par>
                              <p:par>
                                <p:cTn fill="hold" nodeType="withEffect" presetClass="entr" presetID="10" presetSubtype="0">
                                  <p:stCondLst>
                                    <p:cond delay="0"/>
                                  </p:stCondLst>
                                  <p:childTnLst>
                                    <p:set>
                                      <p:cBhvr>
                                        <p:cTn dur="1" fill="hold">
                                          <p:stCondLst>
                                            <p:cond delay="0"/>
                                          </p:stCondLst>
                                        </p:cTn>
                                        <p:tgtEl>
                                          <p:spTgt spid="4833"/>
                                        </p:tgtEl>
                                        <p:attrNameLst>
                                          <p:attrName>style.visibility</p:attrName>
                                        </p:attrNameLst>
                                      </p:cBhvr>
                                      <p:to>
                                        <p:strVal val="visible"/>
                                      </p:to>
                                    </p:set>
                                    <p:animEffect filter="fade" transition="in">
                                      <p:cBhvr>
                                        <p:cTn dur="500"/>
                                        <p:tgtEl>
                                          <p:spTgt spid="48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3"/>
                                        </p:tgtEl>
                                        <p:attrNameLst>
                                          <p:attrName>style.visibility</p:attrName>
                                        </p:attrNameLst>
                                      </p:cBhvr>
                                      <p:to>
                                        <p:strVal val="visible"/>
                                      </p:to>
                                    </p:set>
                                    <p:animEffect filter="fade" transition="in">
                                      <p:cBhvr>
                                        <p:cTn dur="500"/>
                                        <p:tgtEl>
                                          <p:spTgt spid="4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4" name="Shape 4844"/>
        <p:cNvGrpSpPr/>
        <p:nvPr/>
      </p:nvGrpSpPr>
      <p:grpSpPr>
        <a:xfrm>
          <a:off x="0" y="0"/>
          <a:ext cx="0" cy="0"/>
          <a:chOff x="0" y="0"/>
          <a:chExt cx="0" cy="0"/>
        </a:xfrm>
      </p:grpSpPr>
      <p:sp>
        <p:nvSpPr>
          <p:cNvPr id="4845" name="Google Shape;4845;p8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4846" name="Google Shape;4846;p81"/>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SzPts val="2400"/>
              <a:buFont typeface="Arial"/>
              <a:buChar char="•"/>
            </a:pPr>
            <a:r>
              <a:rPr lang="en-US"/>
              <a:t>segment structure</a:t>
            </a:r>
            <a:endParaRPr/>
          </a:p>
          <a:p>
            <a:pPr indent="-288925" lvl="1" marL="746125" rtl="0" algn="l">
              <a:lnSpc>
                <a:spcPct val="90000"/>
              </a:lnSpc>
              <a:spcBef>
                <a:spcPts val="500"/>
              </a:spcBef>
              <a:spcAft>
                <a:spcPts val="0"/>
              </a:spcAft>
              <a:buSzPts val="2400"/>
              <a:buFont typeface="Arial"/>
              <a:buChar char="•"/>
            </a:pPr>
            <a:r>
              <a:rPr lang="en-US"/>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4847" name="Google Shape;4847;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4848" name="Google Shape;4848;p81"/>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3" name="Shape 4853"/>
        <p:cNvGrpSpPr/>
        <p:nvPr/>
      </p:nvGrpSpPr>
      <p:grpSpPr>
        <a:xfrm>
          <a:off x="0" y="0"/>
          <a:ext cx="0" cy="0"/>
          <a:chOff x="0" y="0"/>
          <a:chExt cx="0" cy="0"/>
        </a:xfrm>
      </p:grpSpPr>
      <p:sp>
        <p:nvSpPr>
          <p:cNvPr id="4854" name="Google Shape;4854;p8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overview  </a:t>
            </a:r>
            <a:r>
              <a:rPr b="0" lang="en-US" sz="3200"/>
              <a:t>RFCs: 793,1122, 2018, 5681, 7323</a:t>
            </a:r>
            <a:endParaRPr b="0" sz="4400"/>
          </a:p>
        </p:txBody>
      </p:sp>
      <p:sp>
        <p:nvSpPr>
          <p:cNvPr id="4855" name="Google Shape;4855;p82"/>
          <p:cNvSpPr txBox="1"/>
          <p:nvPr/>
        </p:nvSpPr>
        <p:spPr>
          <a:xfrm>
            <a:off x="5949863" y="1322613"/>
            <a:ext cx="6012953" cy="5535387"/>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cumulative ACKs</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pipelining:</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TCP congestion and flow control set window size</a:t>
            </a:r>
            <a:endParaRPr b="0" i="1" sz="2800" u="none" cap="none" strike="noStrike">
              <a:solidFill>
                <a:srgbClr val="000000"/>
              </a:solidFill>
              <a:latin typeface="Calibri"/>
              <a:ea typeface="Calibri"/>
              <a:cs typeface="Calibri"/>
              <a:sym typeface="Calibri"/>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connection-oriented: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handshaking (exchange of control messages) initializes sender, receiver state before data exchange</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flow controlled:</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will not overwhelm receiver</a:t>
            </a:r>
            <a:endParaRPr/>
          </a:p>
        </p:txBody>
      </p:sp>
      <p:sp>
        <p:nvSpPr>
          <p:cNvPr id="4856" name="Google Shape;4856;p82"/>
          <p:cNvSpPr txBox="1"/>
          <p:nvPr/>
        </p:nvSpPr>
        <p:spPr>
          <a:xfrm>
            <a:off x="687960" y="1322613"/>
            <a:ext cx="5382987" cy="4648200"/>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point-to-point</a:t>
            </a:r>
            <a:r>
              <a:rPr b="0" i="0" lang="en-US" sz="3200" u="none" cap="none" strike="noStrike">
                <a:solidFill>
                  <a:srgbClr val="CC0000"/>
                </a:solidFill>
                <a:latin typeface="Calibri"/>
                <a:ea typeface="Calibri"/>
                <a:cs typeface="Calibri"/>
                <a:sym typeface="Calibri"/>
              </a:rPr>
              <a:t>:</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one sender, one receiver</a:t>
            </a:r>
            <a:r>
              <a:rPr b="0" i="0" lang="en-US" sz="2800" u="none" cap="none" strike="noStrike">
                <a:solidFill>
                  <a:srgbClr val="FF0000"/>
                </a:solidFill>
                <a:latin typeface="Calibri"/>
                <a:ea typeface="Calibri"/>
                <a:cs typeface="Calibri"/>
                <a:sym typeface="Calibri"/>
              </a:rPr>
              <a:t> </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reliable, in-order </a:t>
            </a:r>
            <a:r>
              <a:rPr b="0" i="1" lang="en-US" sz="3200" u="none" cap="none" strike="noStrike">
                <a:solidFill>
                  <a:srgbClr val="C00000"/>
                </a:solidFill>
                <a:latin typeface="Calibri"/>
                <a:ea typeface="Calibri"/>
                <a:cs typeface="Calibri"/>
                <a:sym typeface="Calibri"/>
              </a:rPr>
              <a:t>byte stream:</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 “message boundaries"</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full duplex data:</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bi-directional data flow in same connection</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MSS: maximum segment size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857" name="Google Shape;4857;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5"/>
                                        </p:tgtEl>
                                        <p:attrNameLst>
                                          <p:attrName>style.visibility</p:attrName>
                                        </p:attrNameLst>
                                      </p:cBhvr>
                                      <p:to>
                                        <p:strVal val="visible"/>
                                      </p:to>
                                    </p:set>
                                    <p:animEffect filter="fade" transition="in">
                                      <p:cBhvr>
                                        <p:cTn dur="500"/>
                                        <p:tgtEl>
                                          <p:spTgt spid="48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2" name="Shape 4862"/>
        <p:cNvGrpSpPr/>
        <p:nvPr/>
      </p:nvGrpSpPr>
      <p:grpSpPr>
        <a:xfrm>
          <a:off x="0" y="0"/>
          <a:ext cx="0" cy="0"/>
          <a:chOff x="0" y="0"/>
          <a:chExt cx="0" cy="0"/>
        </a:xfrm>
      </p:grpSpPr>
      <p:sp>
        <p:nvSpPr>
          <p:cNvPr id="4863" name="Google Shape;4863;p8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segment structure</a:t>
            </a:r>
            <a:endParaRPr b="0" sz="4400"/>
          </a:p>
        </p:txBody>
      </p:sp>
      <p:sp>
        <p:nvSpPr>
          <p:cNvPr id="4864" name="Google Shape;4864;p83"/>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65" name="Google Shape;4865;p83"/>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4866" name="Google Shape;4866;p83"/>
          <p:cNvGrpSpPr/>
          <p:nvPr/>
        </p:nvGrpSpPr>
        <p:grpSpPr>
          <a:xfrm>
            <a:off x="4495573" y="1661303"/>
            <a:ext cx="3450544" cy="401997"/>
            <a:chOff x="4495573" y="1661303"/>
            <a:chExt cx="3450544" cy="401997"/>
          </a:xfrm>
        </p:grpSpPr>
        <p:sp>
          <p:nvSpPr>
            <p:cNvPr id="4867" name="Google Shape;4867;p83"/>
            <p:cNvSpPr txBox="1"/>
            <p:nvPr/>
          </p:nvSpPr>
          <p:spPr>
            <a:xfrm>
              <a:off x="4495573" y="1661303"/>
              <a:ext cx="1663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 #</a:t>
              </a:r>
              <a:endParaRPr b="0" i="0" sz="2400" u="none" cap="none" strike="noStrike">
                <a:solidFill>
                  <a:srgbClr val="000000"/>
                </a:solidFill>
                <a:latin typeface="Arial"/>
                <a:ea typeface="Arial"/>
                <a:cs typeface="Arial"/>
                <a:sym typeface="Arial"/>
              </a:endParaRPr>
            </a:p>
          </p:txBody>
        </p:sp>
        <p:sp>
          <p:nvSpPr>
            <p:cNvPr id="4868" name="Google Shape;4868;p83"/>
            <p:cNvSpPr txBox="1"/>
            <p:nvPr/>
          </p:nvSpPr>
          <p:spPr>
            <a:xfrm>
              <a:off x="6564992" y="1666425"/>
              <a:ext cx="1381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 port #</a:t>
              </a:r>
              <a:endParaRPr b="0" i="0" sz="1800" u="none" cap="none" strike="noStrike">
                <a:solidFill>
                  <a:srgbClr val="000000"/>
                </a:solidFill>
                <a:latin typeface="Arial"/>
                <a:ea typeface="Arial"/>
                <a:cs typeface="Arial"/>
                <a:sym typeface="Arial"/>
              </a:endParaRPr>
            </a:p>
          </p:txBody>
        </p:sp>
      </p:grpSp>
      <p:cxnSp>
        <p:nvCxnSpPr>
          <p:cNvPr id="4869" name="Google Shape;4869;p83"/>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4870" name="Google Shape;4870;p83"/>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grpSp>
        <p:nvGrpSpPr>
          <p:cNvPr id="4871" name="Google Shape;4871;p83"/>
          <p:cNvGrpSpPr/>
          <p:nvPr/>
        </p:nvGrpSpPr>
        <p:grpSpPr>
          <a:xfrm>
            <a:off x="4324123" y="1145724"/>
            <a:ext cx="3935412" cy="366713"/>
            <a:chOff x="4324123" y="1145724"/>
            <a:chExt cx="3935412" cy="366713"/>
          </a:xfrm>
        </p:grpSpPr>
        <p:sp>
          <p:nvSpPr>
            <p:cNvPr id="4872" name="Google Shape;4872;p83"/>
            <p:cNvSpPr txBox="1"/>
            <p:nvPr/>
          </p:nvSpPr>
          <p:spPr>
            <a:xfrm>
              <a:off x="5832248" y="1145724"/>
              <a:ext cx="857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4873" name="Google Shape;4873;p83"/>
            <p:cNvCxnSpPr/>
            <p:nvPr/>
          </p:nvCxnSpPr>
          <p:spPr>
            <a:xfrm>
              <a:off x="6832373" y="1391787"/>
              <a:ext cx="1427162" cy="4762"/>
            </a:xfrm>
            <a:prstGeom prst="straightConnector1">
              <a:avLst/>
            </a:prstGeom>
            <a:noFill/>
            <a:ln cap="flat" cmpd="sng" w="19050">
              <a:solidFill>
                <a:srgbClr val="000000"/>
              </a:solidFill>
              <a:prstDash val="solid"/>
              <a:round/>
              <a:headEnd len="med" w="med" type="none"/>
              <a:tailEnd len="med" w="med" type="triangle"/>
            </a:ln>
          </p:spPr>
        </p:cxnSp>
        <p:cxnSp>
          <p:nvCxnSpPr>
            <p:cNvPr id="4874" name="Google Shape;4874;p83"/>
            <p:cNvCxnSpPr/>
            <p:nvPr/>
          </p:nvCxnSpPr>
          <p:spPr>
            <a:xfrm rot="10800000">
              <a:off x="4324123" y="1402899"/>
              <a:ext cx="1341437" cy="0"/>
            </a:xfrm>
            <a:prstGeom prst="straightConnector1">
              <a:avLst/>
            </a:prstGeom>
            <a:noFill/>
            <a:ln cap="flat" cmpd="sng" w="19050">
              <a:solidFill>
                <a:srgbClr val="000000"/>
              </a:solidFill>
              <a:prstDash val="solid"/>
              <a:round/>
              <a:headEnd len="med" w="med" type="none"/>
              <a:tailEnd len="med" w="med" type="triangle"/>
            </a:ln>
          </p:spPr>
        </p:cxnSp>
      </p:grpSp>
      <p:cxnSp>
        <p:nvCxnSpPr>
          <p:cNvPr id="4875" name="Google Shape;4875;p83"/>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4876" name="Google Shape;4876;p83"/>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4877" name="Google Shape;4877;p83"/>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4878" name="Google Shape;4878;p83"/>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4879" name="Google Shape;4879;p83"/>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cxnSp>
        <p:nvCxnSpPr>
          <p:cNvPr id="4880" name="Google Shape;4880;p83"/>
          <p:cNvCxnSpPr/>
          <p:nvPr/>
        </p:nvCxnSpPr>
        <p:spPr>
          <a:xfrm rot="10800000">
            <a:off x="5668735" y="2814187"/>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4881" name="Google Shape;4881;p83"/>
          <p:cNvCxnSpPr/>
          <p:nvPr/>
        </p:nvCxnSpPr>
        <p:spPr>
          <a:xfrm rot="10800000">
            <a:off x="5514748"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4882" name="Google Shape;4882;p83"/>
          <p:cNvCxnSpPr/>
          <p:nvPr/>
        </p:nvCxnSpPr>
        <p:spPr>
          <a:xfrm rot="10800000">
            <a:off x="5355998" y="2818949"/>
            <a:ext cx="0" cy="392113"/>
          </a:xfrm>
          <a:prstGeom prst="straightConnector1">
            <a:avLst/>
          </a:prstGeom>
          <a:noFill/>
          <a:ln cap="flat" cmpd="sng" w="12700">
            <a:solidFill>
              <a:srgbClr val="000000"/>
            </a:solidFill>
            <a:prstDash val="solid"/>
            <a:round/>
            <a:headEnd len="med" w="med" type="none"/>
            <a:tailEnd len="med" w="med" type="none"/>
          </a:ln>
        </p:spPr>
      </p:cxnSp>
      <p:sp>
        <p:nvSpPr>
          <p:cNvPr id="4883" name="Google Shape;4883;p83"/>
          <p:cNvSpPr txBox="1"/>
          <p:nvPr/>
        </p:nvSpPr>
        <p:spPr>
          <a:xfrm>
            <a:off x="4636966" y="2822952"/>
            <a:ext cx="482824"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not</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used</a:t>
            </a:r>
            <a:endParaRPr b="0" i="0" sz="1600" u="none" cap="none" strike="noStrike">
              <a:solidFill>
                <a:srgbClr val="000000"/>
              </a:solidFill>
              <a:latin typeface="Calibri"/>
              <a:ea typeface="Calibri"/>
              <a:cs typeface="Calibri"/>
              <a:sym typeface="Calibri"/>
            </a:endParaRPr>
          </a:p>
        </p:txBody>
      </p:sp>
      <p:cxnSp>
        <p:nvCxnSpPr>
          <p:cNvPr id="4884" name="Google Shape;4884;p83"/>
          <p:cNvCxnSpPr/>
          <p:nvPr/>
        </p:nvCxnSpPr>
        <p:spPr>
          <a:xfrm rot="10800000">
            <a:off x="4713766"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4885" name="Google Shape;4885;p83"/>
          <p:cNvGrpSpPr/>
          <p:nvPr/>
        </p:nvGrpSpPr>
        <p:grpSpPr>
          <a:xfrm>
            <a:off x="6405335" y="2817362"/>
            <a:ext cx="5252586" cy="731484"/>
            <a:chOff x="6405335" y="2817362"/>
            <a:chExt cx="5252586" cy="731484"/>
          </a:xfrm>
        </p:grpSpPr>
        <p:sp>
          <p:nvSpPr>
            <p:cNvPr id="4886" name="Google Shape;4886;p83"/>
            <p:cNvSpPr txBox="1"/>
            <p:nvPr/>
          </p:nvSpPr>
          <p:spPr>
            <a:xfrm>
              <a:off x="6405335" y="2817362"/>
              <a:ext cx="17462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 window</a:t>
              </a:r>
              <a:endParaRPr/>
            </a:p>
          </p:txBody>
        </p:sp>
        <p:sp>
          <p:nvSpPr>
            <p:cNvPr id="4887" name="Google Shape;4887;p83"/>
            <p:cNvSpPr txBox="1"/>
            <p:nvPr/>
          </p:nvSpPr>
          <p:spPr>
            <a:xfrm>
              <a:off x="8724900" y="2847115"/>
              <a:ext cx="2933021" cy="701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flow control: </a:t>
              </a:r>
              <a:r>
                <a:rPr b="0" i="0" lang="en-US" sz="2000" u="none" cap="none" strike="noStrike">
                  <a:solidFill>
                    <a:srgbClr val="000000"/>
                  </a:solidFill>
                  <a:latin typeface="Calibri"/>
                  <a:ea typeface="Calibri"/>
                  <a:cs typeface="Calibri"/>
                  <a:sym typeface="Calibri"/>
                </a:rPr>
                <a:t># bytes receiver willing to accept</a:t>
              </a:r>
              <a:endParaRPr b="0" i="0" sz="2400" u="none" cap="none" strike="noStrike">
                <a:solidFill>
                  <a:srgbClr val="000000"/>
                </a:solidFill>
                <a:latin typeface="Calibri"/>
                <a:ea typeface="Calibri"/>
                <a:cs typeface="Calibri"/>
                <a:sym typeface="Calibri"/>
              </a:endParaRPr>
            </a:p>
          </p:txBody>
        </p:sp>
        <p:cxnSp>
          <p:nvCxnSpPr>
            <p:cNvPr id="4888" name="Google Shape;4888;p83"/>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grpSp>
        <p:nvGrpSpPr>
          <p:cNvPr id="4889" name="Google Shape;4889;p83"/>
          <p:cNvGrpSpPr/>
          <p:nvPr/>
        </p:nvGrpSpPr>
        <p:grpSpPr>
          <a:xfrm>
            <a:off x="4979760" y="1674436"/>
            <a:ext cx="7040433" cy="1034129"/>
            <a:chOff x="4979760" y="1674436"/>
            <a:chExt cx="7040433" cy="1034129"/>
          </a:xfrm>
        </p:grpSpPr>
        <p:sp>
          <p:nvSpPr>
            <p:cNvPr id="4890" name="Google Shape;4890;p83"/>
            <p:cNvSpPr txBox="1"/>
            <p:nvPr/>
          </p:nvSpPr>
          <p:spPr>
            <a:xfrm>
              <a:off x="4979760" y="2029962"/>
              <a:ext cx="24860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2400" u="none" cap="none" strike="noStrike">
                <a:solidFill>
                  <a:srgbClr val="000000"/>
                </a:solidFill>
                <a:latin typeface="Arial"/>
                <a:ea typeface="Arial"/>
                <a:cs typeface="Arial"/>
                <a:sym typeface="Arial"/>
              </a:endParaRPr>
            </a:p>
          </p:txBody>
        </p:sp>
        <p:sp>
          <p:nvSpPr>
            <p:cNvPr id="4891" name="Google Shape;4891;p83"/>
            <p:cNvSpPr txBox="1"/>
            <p:nvPr/>
          </p:nvSpPr>
          <p:spPr>
            <a:xfrm>
              <a:off x="8724900" y="1674436"/>
              <a:ext cx="3295293" cy="10341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segment seq  #: </a:t>
              </a:r>
              <a:r>
                <a:rPr b="0" i="0" lang="en-US" sz="2000" u="none" cap="none" strike="noStrike">
                  <a:solidFill>
                    <a:srgbClr val="000000"/>
                  </a:solidFill>
                  <a:latin typeface="Calibri"/>
                  <a:ea typeface="Calibri"/>
                  <a:cs typeface="Calibri"/>
                  <a:sym typeface="Calibri"/>
                </a:rPr>
                <a:t>counting bytes of data</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into bytestream</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(not segments!)</a:t>
              </a:r>
              <a:endParaRPr b="0" i="0" sz="2400" u="none" cap="none" strike="noStrike">
                <a:solidFill>
                  <a:srgbClr val="000000"/>
                </a:solidFill>
                <a:latin typeface="Calibri"/>
                <a:ea typeface="Calibri"/>
                <a:cs typeface="Calibri"/>
                <a:sym typeface="Calibri"/>
              </a:endParaRPr>
            </a:p>
          </p:txBody>
        </p:sp>
        <p:cxnSp>
          <p:nvCxnSpPr>
            <p:cNvPr id="4892" name="Google Shape;4892;p83"/>
            <p:cNvCxnSpPr/>
            <p:nvPr/>
          </p:nvCxnSpPr>
          <p:spPr>
            <a:xfrm rot="10800000">
              <a:off x="7924797" y="2244436"/>
              <a:ext cx="800102" cy="0"/>
            </a:xfrm>
            <a:prstGeom prst="straightConnector1">
              <a:avLst/>
            </a:prstGeom>
            <a:noFill/>
            <a:ln cap="flat" cmpd="sng" w="19050">
              <a:solidFill>
                <a:srgbClr val="C00000"/>
              </a:solidFill>
              <a:prstDash val="solid"/>
              <a:round/>
              <a:headEnd len="med" w="med" type="none"/>
              <a:tailEnd len="med" w="med" type="none"/>
            </a:ln>
          </p:spPr>
        </p:cxnSp>
      </p:grpSp>
      <p:grpSp>
        <p:nvGrpSpPr>
          <p:cNvPr id="4893" name="Google Shape;4893;p83"/>
          <p:cNvGrpSpPr/>
          <p:nvPr/>
        </p:nvGrpSpPr>
        <p:grpSpPr>
          <a:xfrm>
            <a:off x="5398860" y="4614412"/>
            <a:ext cx="5770816" cy="1113459"/>
            <a:chOff x="5398860" y="4614412"/>
            <a:chExt cx="5770816" cy="1113459"/>
          </a:xfrm>
        </p:grpSpPr>
        <p:sp>
          <p:nvSpPr>
            <p:cNvPr id="4894" name="Google Shape;4894;p83"/>
            <p:cNvSpPr txBox="1"/>
            <p:nvPr/>
          </p:nvSpPr>
          <p:spPr>
            <a:xfrm>
              <a:off x="5398860" y="4614412"/>
              <a:ext cx="2005013"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b="0" i="0" sz="2400" u="none" cap="none" strike="noStrike">
                <a:solidFill>
                  <a:srgbClr val="000000"/>
                </a:solidFill>
                <a:latin typeface="Arial"/>
                <a:ea typeface="Arial"/>
                <a:cs typeface="Arial"/>
                <a:sym typeface="Arial"/>
              </a:endParaRPr>
            </a:p>
          </p:txBody>
        </p:sp>
        <p:sp>
          <p:nvSpPr>
            <p:cNvPr id="4895" name="Google Shape;4895;p83"/>
            <p:cNvSpPr txBox="1"/>
            <p:nvPr/>
          </p:nvSpPr>
          <p:spPr>
            <a:xfrm>
              <a:off x="8980285" y="4638342"/>
              <a:ext cx="2189391" cy="10895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 sent by application into TCP socket</a:t>
              </a:r>
              <a:endParaRPr/>
            </a:p>
          </p:txBody>
        </p:sp>
        <p:cxnSp>
          <p:nvCxnSpPr>
            <p:cNvPr id="4896" name="Google Shape;4896;p83"/>
            <p:cNvCxnSpPr/>
            <p:nvPr/>
          </p:nvCxnSpPr>
          <p:spPr>
            <a:xfrm>
              <a:off x="6727821" y="5150307"/>
              <a:ext cx="2149479" cy="0"/>
            </a:xfrm>
            <a:prstGeom prst="straightConnector1">
              <a:avLst/>
            </a:prstGeom>
            <a:noFill/>
            <a:ln cap="flat" cmpd="sng" w="25400">
              <a:solidFill>
                <a:srgbClr val="C00000"/>
              </a:solidFill>
              <a:prstDash val="solid"/>
              <a:miter lim="800000"/>
              <a:headEnd len="sm" w="sm" type="none"/>
              <a:tailEnd len="sm" w="sm" type="none"/>
            </a:ln>
          </p:spPr>
        </p:cxnSp>
      </p:grpSp>
      <p:grpSp>
        <p:nvGrpSpPr>
          <p:cNvPr id="4897" name="Google Shape;4897;p83"/>
          <p:cNvGrpSpPr/>
          <p:nvPr/>
        </p:nvGrpSpPr>
        <p:grpSpPr>
          <a:xfrm>
            <a:off x="230393" y="1952743"/>
            <a:ext cx="7771793" cy="1241280"/>
            <a:chOff x="230393" y="1952743"/>
            <a:chExt cx="7771793" cy="1241280"/>
          </a:xfrm>
        </p:grpSpPr>
        <p:sp>
          <p:nvSpPr>
            <p:cNvPr id="4898" name="Google Shape;4898;p83"/>
            <p:cNvSpPr txBox="1"/>
            <p:nvPr/>
          </p:nvSpPr>
          <p:spPr>
            <a:xfrm>
              <a:off x="5447297" y="2855469"/>
              <a:ext cx="303288"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a:t>
              </a:r>
              <a:endParaRPr b="0" i="0" sz="2400" u="none" cap="none" strike="noStrike">
                <a:solidFill>
                  <a:srgbClr val="000000"/>
                </a:solidFill>
                <a:latin typeface="Calibri"/>
                <a:ea typeface="Calibri"/>
                <a:cs typeface="Calibri"/>
                <a:sym typeface="Calibri"/>
              </a:endParaRPr>
            </a:p>
          </p:txBody>
        </p:sp>
        <p:grpSp>
          <p:nvGrpSpPr>
            <p:cNvPr id="4899" name="Google Shape;4899;p83"/>
            <p:cNvGrpSpPr/>
            <p:nvPr/>
          </p:nvGrpSpPr>
          <p:grpSpPr>
            <a:xfrm>
              <a:off x="230393" y="1952743"/>
              <a:ext cx="7771793" cy="971860"/>
              <a:chOff x="217867" y="1965269"/>
              <a:chExt cx="7771793" cy="971860"/>
            </a:xfrm>
          </p:grpSpPr>
          <p:sp>
            <p:nvSpPr>
              <p:cNvPr id="4900" name="Google Shape;4900;p83"/>
              <p:cNvSpPr txBox="1"/>
              <p:nvPr/>
            </p:nvSpPr>
            <p:spPr>
              <a:xfrm>
                <a:off x="4579710" y="2430012"/>
                <a:ext cx="34099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acknowledgement number</a:t>
                </a:r>
                <a:endParaRPr/>
              </a:p>
            </p:txBody>
          </p:sp>
          <p:sp>
            <p:nvSpPr>
              <p:cNvPr id="4901" name="Google Shape;4901;p83"/>
              <p:cNvSpPr txBox="1"/>
              <p:nvPr/>
            </p:nvSpPr>
            <p:spPr>
              <a:xfrm>
                <a:off x="217867" y="1965269"/>
                <a:ext cx="3287333"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ACK: </a:t>
                </a:r>
                <a:r>
                  <a:rPr b="0" i="0" lang="en-US" sz="2000" u="none" cap="none" strike="noStrike">
                    <a:solidFill>
                      <a:srgbClr val="000000"/>
                    </a:solidFill>
                    <a:latin typeface="Calibri"/>
                    <a:ea typeface="Calibri"/>
                    <a:cs typeface="Calibri"/>
                    <a:sym typeface="Calibri"/>
                  </a:rPr>
                  <a:t>seq # of next expected byte; A bit: this is an ACK</a:t>
                </a:r>
                <a:endParaRPr b="0" i="0" sz="1100" u="none" cap="none" strike="noStrike">
                  <a:solidFill>
                    <a:srgbClr val="000000"/>
                  </a:solidFill>
                  <a:latin typeface="Calibri"/>
                  <a:ea typeface="Calibri"/>
                  <a:cs typeface="Calibri"/>
                  <a:sym typeface="Calibri"/>
                </a:endParaRPr>
              </a:p>
            </p:txBody>
          </p:sp>
          <p:sp>
            <p:nvSpPr>
              <p:cNvPr id="4902" name="Google Shape;4902;p83"/>
              <p:cNvSpPr/>
              <p:nvPr/>
            </p:nvSpPr>
            <p:spPr>
              <a:xfrm>
                <a:off x="3505200" y="2417523"/>
                <a:ext cx="2076276" cy="519606"/>
              </a:xfrm>
              <a:custGeom>
                <a:rect b="b" l="l" r="r" t="t"/>
                <a:pathLst>
                  <a:path extrusionOk="0" h="519606" w="2076276">
                    <a:moveTo>
                      <a:pt x="0" y="0"/>
                    </a:moveTo>
                    <a:cubicBezTo>
                      <a:pt x="694209" y="186960"/>
                      <a:pt x="1382067" y="332646"/>
                      <a:pt x="2076276" y="519606"/>
                    </a:cubicBez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903" name="Google Shape;4903;p83"/>
              <p:cNvCxnSpPr/>
              <p:nvPr/>
            </p:nvCxnSpPr>
            <p:spPr>
              <a:xfrm>
                <a:off x="3505200" y="2404996"/>
                <a:ext cx="1263476" cy="215853"/>
              </a:xfrm>
              <a:prstGeom prst="straightConnector1">
                <a:avLst/>
              </a:prstGeom>
              <a:noFill/>
              <a:ln cap="flat" cmpd="sng" w="19050">
                <a:solidFill>
                  <a:srgbClr val="C00000"/>
                </a:solidFill>
                <a:prstDash val="solid"/>
                <a:round/>
                <a:headEnd len="med" w="med" type="none"/>
                <a:tailEnd len="med" w="med" type="none"/>
              </a:ln>
            </p:spPr>
          </p:cxnSp>
        </p:grpSp>
      </p:grpSp>
      <p:grpSp>
        <p:nvGrpSpPr>
          <p:cNvPr id="4904" name="Google Shape;4904;p83"/>
          <p:cNvGrpSpPr/>
          <p:nvPr/>
        </p:nvGrpSpPr>
        <p:grpSpPr>
          <a:xfrm>
            <a:off x="1895418" y="3659802"/>
            <a:ext cx="5828956" cy="1090980"/>
            <a:chOff x="1895418" y="3659802"/>
            <a:chExt cx="5828956" cy="1090980"/>
          </a:xfrm>
        </p:grpSpPr>
        <p:sp>
          <p:nvSpPr>
            <p:cNvPr id="4905" name="Google Shape;4905;p83"/>
            <p:cNvSpPr txBox="1"/>
            <p:nvPr/>
          </p:nvSpPr>
          <p:spPr>
            <a:xfrm>
              <a:off x="4830361" y="3659802"/>
              <a:ext cx="289401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 length)</a:t>
              </a:r>
              <a:endParaRPr b="0" i="0" sz="2400" u="none" cap="none" strike="noStrike">
                <a:solidFill>
                  <a:srgbClr val="000000"/>
                </a:solidFill>
                <a:latin typeface="Arial"/>
                <a:ea typeface="Arial"/>
                <a:cs typeface="Arial"/>
                <a:sym typeface="Arial"/>
              </a:endParaRPr>
            </a:p>
          </p:txBody>
        </p:sp>
        <p:sp>
          <p:nvSpPr>
            <p:cNvPr id="4906" name="Google Shape;4906;p83"/>
            <p:cNvSpPr txBox="1"/>
            <p:nvPr/>
          </p:nvSpPr>
          <p:spPr>
            <a:xfrm>
              <a:off x="1895418" y="4326050"/>
              <a:ext cx="1688926"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a:t>
              </a:r>
              <a:r>
                <a:rPr b="0" i="0" lang="en-US" sz="2400" u="none" cap="none" strike="noStrike">
                  <a:solidFill>
                    <a:srgbClr val="000000"/>
                  </a:solidFill>
                  <a:latin typeface="Calibri"/>
                  <a:ea typeface="Calibri"/>
                  <a:cs typeface="Calibri"/>
                  <a:sym typeface="Calibri"/>
                </a:rPr>
                <a:t> options</a:t>
              </a:r>
              <a:endParaRPr b="0" i="0" sz="2000" u="none" cap="none" strike="noStrike">
                <a:solidFill>
                  <a:srgbClr val="000000"/>
                </a:solidFill>
                <a:latin typeface="Calibri"/>
                <a:ea typeface="Calibri"/>
                <a:cs typeface="Calibri"/>
                <a:sym typeface="Calibri"/>
              </a:endParaRPr>
            </a:p>
          </p:txBody>
        </p:sp>
        <p:cxnSp>
          <p:nvCxnSpPr>
            <p:cNvPr id="4907" name="Google Shape;4907;p83"/>
            <p:cNvCxnSpPr>
              <a:stCxn id="4906" idx="3"/>
              <a:endCxn id="4905" idx="1"/>
            </p:cNvCxnSpPr>
            <p:nvPr/>
          </p:nvCxnSpPr>
          <p:spPr>
            <a:xfrm flipH="1" rot="10800000">
              <a:off x="3584344" y="3859816"/>
              <a:ext cx="1245900" cy="678600"/>
            </a:xfrm>
            <a:prstGeom prst="straightConnector1">
              <a:avLst/>
            </a:prstGeom>
            <a:noFill/>
            <a:ln cap="flat" cmpd="sng" w="19050">
              <a:solidFill>
                <a:srgbClr val="C00000"/>
              </a:solidFill>
              <a:prstDash val="solid"/>
              <a:miter lim="800000"/>
              <a:headEnd len="sm" w="sm" type="none"/>
              <a:tailEnd len="sm" w="sm" type="none"/>
            </a:ln>
          </p:spPr>
        </p:cxnSp>
      </p:grpSp>
      <p:grpSp>
        <p:nvGrpSpPr>
          <p:cNvPr id="4908" name="Google Shape;4908;p83"/>
          <p:cNvGrpSpPr/>
          <p:nvPr/>
        </p:nvGrpSpPr>
        <p:grpSpPr>
          <a:xfrm>
            <a:off x="318075" y="2819126"/>
            <a:ext cx="4456458" cy="424732"/>
            <a:chOff x="318075" y="2819126"/>
            <a:chExt cx="4456458" cy="424732"/>
          </a:xfrm>
        </p:grpSpPr>
        <p:sp>
          <p:nvSpPr>
            <p:cNvPr id="4909" name="Google Shape;4909;p83"/>
            <p:cNvSpPr txBox="1"/>
            <p:nvPr/>
          </p:nvSpPr>
          <p:spPr>
            <a:xfrm>
              <a:off x="4278884" y="2826980"/>
              <a:ext cx="495649"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head</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len</a:t>
              </a:r>
              <a:endParaRPr b="0" i="0" sz="1600" u="none" cap="none" strike="noStrike">
                <a:solidFill>
                  <a:srgbClr val="000000"/>
                </a:solidFill>
                <a:latin typeface="Calibri"/>
                <a:ea typeface="Calibri"/>
                <a:cs typeface="Calibri"/>
                <a:sym typeface="Calibri"/>
              </a:endParaRPr>
            </a:p>
          </p:txBody>
        </p:sp>
        <p:sp>
          <p:nvSpPr>
            <p:cNvPr id="4910" name="Google Shape;4910;p83"/>
            <p:cNvSpPr txBox="1"/>
            <p:nvPr/>
          </p:nvSpPr>
          <p:spPr>
            <a:xfrm>
              <a:off x="318075" y="2819126"/>
              <a:ext cx="3287333"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length </a:t>
              </a:r>
              <a:r>
                <a:rPr b="0" i="0" lang="en-US" sz="2000" u="none" cap="none" strike="noStrike">
                  <a:solidFill>
                    <a:srgbClr val="000000"/>
                  </a:solidFill>
                  <a:latin typeface="Calibri"/>
                  <a:ea typeface="Calibri"/>
                  <a:cs typeface="Calibri"/>
                  <a:sym typeface="Calibri"/>
                </a:rPr>
                <a:t>(of TCP header)</a:t>
              </a:r>
              <a:endParaRPr/>
            </a:p>
          </p:txBody>
        </p:sp>
        <p:cxnSp>
          <p:nvCxnSpPr>
            <p:cNvPr id="4911" name="Google Shape;4911;p83"/>
            <p:cNvCxnSpPr/>
            <p:nvPr/>
          </p:nvCxnSpPr>
          <p:spPr>
            <a:xfrm>
              <a:off x="3544867" y="3031480"/>
              <a:ext cx="783888"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4912" name="Google Shape;4912;p83"/>
          <p:cNvGrpSpPr/>
          <p:nvPr/>
        </p:nvGrpSpPr>
        <p:grpSpPr>
          <a:xfrm>
            <a:off x="-24878" y="3174115"/>
            <a:ext cx="6031751" cy="424732"/>
            <a:chOff x="-24878" y="3174115"/>
            <a:chExt cx="6031751" cy="424732"/>
          </a:xfrm>
        </p:grpSpPr>
        <p:sp>
          <p:nvSpPr>
            <p:cNvPr id="4913" name="Google Shape;4913;p83"/>
            <p:cNvSpPr txBox="1"/>
            <p:nvPr/>
          </p:nvSpPr>
          <p:spPr>
            <a:xfrm>
              <a:off x="4794023" y="3203124"/>
              <a:ext cx="12128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checksum</a:t>
              </a:r>
              <a:endParaRPr/>
            </a:p>
          </p:txBody>
        </p:sp>
        <p:sp>
          <p:nvSpPr>
            <p:cNvPr id="4914" name="Google Shape;4914;p83"/>
            <p:cNvSpPr txBox="1"/>
            <p:nvPr/>
          </p:nvSpPr>
          <p:spPr>
            <a:xfrm>
              <a:off x="-24878" y="3174115"/>
              <a:ext cx="3595495"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Internet</a:t>
              </a:r>
              <a:r>
                <a:rPr b="0" i="0" lang="en-US" sz="2400" u="none" cap="none" strike="noStrike">
                  <a:solidFill>
                    <a:srgbClr val="000000"/>
                  </a:solidFill>
                  <a:latin typeface="Calibri"/>
                  <a:ea typeface="Calibri"/>
                  <a:cs typeface="Calibri"/>
                  <a:sym typeface="Calibri"/>
                </a:rPr>
                <a:t> checksum</a:t>
              </a:r>
              <a:endParaRPr/>
            </a:p>
          </p:txBody>
        </p:sp>
        <p:cxnSp>
          <p:nvCxnSpPr>
            <p:cNvPr id="4915" name="Google Shape;4915;p83"/>
            <p:cNvCxnSpPr>
              <a:stCxn id="4914" idx="3"/>
              <a:endCxn id="4913" idx="1"/>
            </p:cNvCxnSpPr>
            <p:nvPr/>
          </p:nvCxnSpPr>
          <p:spPr>
            <a:xfrm>
              <a:off x="3570617" y="3386481"/>
              <a:ext cx="1223400" cy="0"/>
            </a:xfrm>
            <a:prstGeom prst="straightConnector1">
              <a:avLst/>
            </a:prstGeom>
            <a:noFill/>
            <a:ln cap="flat" cmpd="sng" w="19050">
              <a:solidFill>
                <a:srgbClr val="C00000"/>
              </a:solidFill>
              <a:prstDash val="solid"/>
              <a:miter lim="800000"/>
              <a:headEnd len="sm" w="sm" type="none"/>
              <a:tailEnd len="sm" w="sm" type="none"/>
            </a:ln>
          </p:spPr>
        </p:cxnSp>
      </p:grpSp>
      <p:cxnSp>
        <p:nvCxnSpPr>
          <p:cNvPr id="4916" name="Google Shape;4916;p83"/>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cxnSp>
        <p:nvCxnSpPr>
          <p:cNvPr id="4917" name="Google Shape;4917;p83"/>
          <p:cNvCxnSpPr/>
          <p:nvPr/>
        </p:nvCxnSpPr>
        <p:spPr>
          <a:xfrm rot="10800000">
            <a:off x="6150711" y="2804662"/>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4918" name="Google Shape;4918;p83"/>
          <p:cNvCxnSpPr/>
          <p:nvPr/>
        </p:nvCxnSpPr>
        <p:spPr>
          <a:xfrm rot="10800000">
            <a:off x="5992924"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4919" name="Google Shape;4919;p83"/>
          <p:cNvCxnSpPr/>
          <p:nvPr/>
        </p:nvCxnSpPr>
        <p:spPr>
          <a:xfrm rot="10800000">
            <a:off x="5830374"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4920" name="Google Shape;4920;p83"/>
          <p:cNvGrpSpPr/>
          <p:nvPr/>
        </p:nvGrpSpPr>
        <p:grpSpPr>
          <a:xfrm>
            <a:off x="172543" y="2863949"/>
            <a:ext cx="6190466" cy="2660551"/>
            <a:chOff x="172543" y="2863949"/>
            <a:chExt cx="6190466" cy="2660551"/>
          </a:xfrm>
        </p:grpSpPr>
        <p:sp>
          <p:nvSpPr>
            <p:cNvPr id="4921" name="Google Shape;4921;p83"/>
            <p:cNvSpPr txBox="1"/>
            <p:nvPr/>
          </p:nvSpPr>
          <p:spPr>
            <a:xfrm>
              <a:off x="172543" y="4822769"/>
              <a:ext cx="3419248"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RST, SYN, FIN: </a:t>
              </a:r>
              <a:r>
                <a:rPr b="0" i="0" lang="en-US" sz="2000" u="none" cap="none" strike="noStrike">
                  <a:solidFill>
                    <a:srgbClr val="000000"/>
                  </a:solidFill>
                  <a:latin typeface="Calibri"/>
                  <a:ea typeface="Calibri"/>
                  <a:cs typeface="Calibri"/>
                  <a:sym typeface="Calibri"/>
                </a:rPr>
                <a:t>connection management</a:t>
              </a:r>
              <a:endParaRPr b="0" i="0" sz="2400" u="none" cap="none" strike="noStrike">
                <a:solidFill>
                  <a:srgbClr val="000000"/>
                </a:solidFill>
                <a:latin typeface="Calibri"/>
                <a:ea typeface="Calibri"/>
                <a:cs typeface="Calibri"/>
                <a:sym typeface="Calibri"/>
              </a:endParaRPr>
            </a:p>
          </p:txBody>
        </p:sp>
        <p:sp>
          <p:nvSpPr>
            <p:cNvPr id="4922" name="Google Shape;4922;p83"/>
            <p:cNvSpPr/>
            <p:nvPr/>
          </p:nvSpPr>
          <p:spPr>
            <a:xfrm>
              <a:off x="3558336" y="3152325"/>
              <a:ext cx="2678659" cy="2026938"/>
            </a:xfrm>
            <a:custGeom>
              <a:rect b="b" l="l" r="r" t="t"/>
              <a:pathLst>
                <a:path extrusionOk="0" h="28757" w="11573">
                  <a:moveTo>
                    <a:pt x="0" y="28757"/>
                  </a:moveTo>
                  <a:lnTo>
                    <a:pt x="10147" y="0"/>
                  </a:lnTo>
                  <a:lnTo>
                    <a:pt x="11573"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923" name="Google Shape;4923;p83"/>
            <p:cNvGrpSpPr/>
            <p:nvPr/>
          </p:nvGrpSpPr>
          <p:grpSpPr>
            <a:xfrm>
              <a:off x="5775299" y="2863949"/>
              <a:ext cx="587710" cy="339181"/>
              <a:chOff x="5775299" y="2863949"/>
              <a:chExt cx="587710" cy="339181"/>
            </a:xfrm>
          </p:grpSpPr>
          <p:sp>
            <p:nvSpPr>
              <p:cNvPr id="4924" name="Google Shape;4924;p83"/>
              <p:cNvSpPr txBox="1"/>
              <p:nvPr/>
            </p:nvSpPr>
            <p:spPr>
              <a:xfrm>
                <a:off x="6083766" y="2864576"/>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F</a:t>
                </a:r>
                <a:endParaRPr b="0" i="0" sz="2400" u="none" cap="none" strike="noStrike">
                  <a:solidFill>
                    <a:srgbClr val="000000"/>
                  </a:solidFill>
                  <a:latin typeface="Calibri"/>
                  <a:ea typeface="Calibri"/>
                  <a:cs typeface="Calibri"/>
                  <a:sym typeface="Calibri"/>
                </a:endParaRPr>
              </a:p>
            </p:txBody>
          </p:sp>
          <p:sp>
            <p:nvSpPr>
              <p:cNvPr id="4925" name="Google Shape;4925;p83"/>
              <p:cNvSpPr txBox="1"/>
              <p:nvPr/>
            </p:nvSpPr>
            <p:spPr>
              <a:xfrm>
                <a:off x="5939184" y="2863949"/>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4926" name="Google Shape;4926;p83"/>
              <p:cNvSpPr txBox="1"/>
              <p:nvPr/>
            </p:nvSpPr>
            <p:spPr>
              <a:xfrm>
                <a:off x="57752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a:t>
                </a:r>
                <a:endParaRPr b="0" i="0" sz="2400" u="none" cap="none" strike="noStrike">
                  <a:solidFill>
                    <a:srgbClr val="000000"/>
                  </a:solidFill>
                  <a:latin typeface="Calibri"/>
                  <a:ea typeface="Calibri"/>
                  <a:cs typeface="Calibri"/>
                  <a:sym typeface="Calibri"/>
                </a:endParaRPr>
              </a:p>
            </p:txBody>
          </p:sp>
        </p:grpSp>
      </p:grpSp>
      <p:grpSp>
        <p:nvGrpSpPr>
          <p:cNvPr id="4927" name="Google Shape;4927;p83"/>
          <p:cNvGrpSpPr/>
          <p:nvPr/>
        </p:nvGrpSpPr>
        <p:grpSpPr>
          <a:xfrm>
            <a:off x="5277007" y="2859957"/>
            <a:ext cx="2976178" cy="719405"/>
            <a:chOff x="5277007" y="2859957"/>
            <a:chExt cx="2976178" cy="719405"/>
          </a:xfrm>
        </p:grpSpPr>
        <p:sp>
          <p:nvSpPr>
            <p:cNvPr id="4928" name="Google Shape;4928;p83"/>
            <p:cNvSpPr txBox="1"/>
            <p:nvPr/>
          </p:nvSpPr>
          <p:spPr>
            <a:xfrm>
              <a:off x="6430735" y="3212649"/>
              <a:ext cx="18224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BFBFBF"/>
                </a:buClr>
                <a:buSzPts val="1800"/>
                <a:buFont typeface="Arial"/>
                <a:buNone/>
              </a:pPr>
              <a:r>
                <a:rPr b="0" i="0" lang="en-US" sz="1800" u="none" cap="none" strike="noStrike">
                  <a:solidFill>
                    <a:srgbClr val="BFBFBF"/>
                  </a:solidFill>
                  <a:latin typeface="Arial"/>
                  <a:ea typeface="Arial"/>
                  <a:cs typeface="Arial"/>
                  <a:sym typeface="Arial"/>
                </a:rPr>
                <a:t>Urg data pointer</a:t>
              </a:r>
              <a:endParaRPr/>
            </a:p>
          </p:txBody>
        </p:sp>
        <p:grpSp>
          <p:nvGrpSpPr>
            <p:cNvPr id="4929" name="Google Shape;4929;p83"/>
            <p:cNvGrpSpPr/>
            <p:nvPr/>
          </p:nvGrpSpPr>
          <p:grpSpPr>
            <a:xfrm>
              <a:off x="5277007" y="2859957"/>
              <a:ext cx="627836" cy="345695"/>
              <a:chOff x="5527528" y="3067992"/>
              <a:chExt cx="627836" cy="345695"/>
            </a:xfrm>
          </p:grpSpPr>
          <p:sp>
            <p:nvSpPr>
              <p:cNvPr id="4930" name="Google Shape;4930;p83"/>
              <p:cNvSpPr txBox="1"/>
              <p:nvPr/>
            </p:nvSpPr>
            <p:spPr>
              <a:xfrm>
                <a:off x="5864900" y="3067992"/>
                <a:ext cx="29046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P</a:t>
                </a:r>
                <a:endParaRPr b="0" i="0" sz="2400" u="none" cap="none" strike="noStrike">
                  <a:solidFill>
                    <a:srgbClr val="A5A5A5"/>
                  </a:solidFill>
                  <a:latin typeface="Calibri"/>
                  <a:ea typeface="Calibri"/>
                  <a:cs typeface="Calibri"/>
                  <a:sym typeface="Calibri"/>
                </a:endParaRPr>
              </a:p>
            </p:txBody>
          </p:sp>
          <p:sp>
            <p:nvSpPr>
              <p:cNvPr id="4931" name="Google Shape;4931;p83"/>
              <p:cNvSpPr txBox="1"/>
              <p:nvPr/>
            </p:nvSpPr>
            <p:spPr>
              <a:xfrm>
                <a:off x="5527528" y="3075133"/>
                <a:ext cx="31611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U</a:t>
                </a:r>
                <a:endParaRPr b="0" i="0" sz="2400" u="none" cap="none" strike="noStrike">
                  <a:solidFill>
                    <a:srgbClr val="A5A5A5"/>
                  </a:solidFill>
                  <a:latin typeface="Calibri"/>
                  <a:ea typeface="Calibri"/>
                  <a:cs typeface="Calibri"/>
                  <a:sym typeface="Calibri"/>
                </a:endParaRPr>
              </a:p>
            </p:txBody>
          </p:sp>
        </p:grpSp>
      </p:grpSp>
      <p:cxnSp>
        <p:nvCxnSpPr>
          <p:cNvPr id="4932" name="Google Shape;4932;p83"/>
          <p:cNvCxnSpPr/>
          <p:nvPr/>
        </p:nvCxnSpPr>
        <p:spPr>
          <a:xfrm rot="10800000">
            <a:off x="5038305" y="2821148"/>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4933" name="Google Shape;4933;p83"/>
          <p:cNvCxnSpPr/>
          <p:nvPr/>
        </p:nvCxnSpPr>
        <p:spPr>
          <a:xfrm rot="10800000">
            <a:off x="5198693" y="2812182"/>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4934" name="Google Shape;4934;p83"/>
          <p:cNvGrpSpPr/>
          <p:nvPr/>
        </p:nvGrpSpPr>
        <p:grpSpPr>
          <a:xfrm>
            <a:off x="182880" y="2863950"/>
            <a:ext cx="5235245" cy="1390074"/>
            <a:chOff x="182880" y="2863950"/>
            <a:chExt cx="5235245" cy="1390074"/>
          </a:xfrm>
        </p:grpSpPr>
        <p:grpSp>
          <p:nvGrpSpPr>
            <p:cNvPr id="4935" name="Google Shape;4935;p83"/>
            <p:cNvGrpSpPr/>
            <p:nvPr/>
          </p:nvGrpSpPr>
          <p:grpSpPr>
            <a:xfrm>
              <a:off x="4962499" y="2863950"/>
              <a:ext cx="455626" cy="338554"/>
              <a:chOff x="4962499" y="2863950"/>
              <a:chExt cx="455626" cy="338554"/>
            </a:xfrm>
          </p:grpSpPr>
          <p:sp>
            <p:nvSpPr>
              <p:cNvPr id="4936" name="Google Shape;4936;p83"/>
              <p:cNvSpPr txBox="1"/>
              <p:nvPr/>
            </p:nvSpPr>
            <p:spPr>
              <a:xfrm>
                <a:off x="49624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4937" name="Google Shape;4937;p83"/>
              <p:cNvSpPr txBox="1"/>
              <p:nvPr/>
            </p:nvSpPr>
            <p:spPr>
              <a:xfrm>
                <a:off x="512124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a:t>
                </a:r>
                <a:endParaRPr b="0" i="0" sz="2400" u="none" cap="none" strike="noStrike">
                  <a:solidFill>
                    <a:srgbClr val="000000"/>
                  </a:solidFill>
                  <a:latin typeface="Calibri"/>
                  <a:ea typeface="Calibri"/>
                  <a:cs typeface="Calibri"/>
                  <a:sym typeface="Calibri"/>
                </a:endParaRPr>
              </a:p>
            </p:txBody>
          </p:sp>
        </p:grpSp>
        <p:sp>
          <p:nvSpPr>
            <p:cNvPr id="4938" name="Google Shape;4938;p83"/>
            <p:cNvSpPr txBox="1"/>
            <p:nvPr/>
          </p:nvSpPr>
          <p:spPr>
            <a:xfrm>
              <a:off x="182880" y="3829292"/>
              <a:ext cx="3384479"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 E: </a:t>
              </a:r>
              <a:r>
                <a:rPr b="0" i="0" lang="en-US" sz="2000" u="none" cap="none" strike="noStrike">
                  <a:solidFill>
                    <a:srgbClr val="000000"/>
                  </a:solidFill>
                  <a:latin typeface="Calibri"/>
                  <a:ea typeface="Calibri"/>
                  <a:cs typeface="Calibri"/>
                  <a:sym typeface="Calibri"/>
                </a:rPr>
                <a:t>congestion notification</a:t>
              </a:r>
              <a:endParaRPr b="0" i="0" sz="2400" u="none" cap="none" strike="noStrike">
                <a:solidFill>
                  <a:srgbClr val="000000"/>
                </a:solidFill>
                <a:latin typeface="Calibri"/>
                <a:ea typeface="Calibri"/>
                <a:cs typeface="Calibri"/>
                <a:sym typeface="Calibri"/>
              </a:endParaRPr>
            </a:p>
          </p:txBody>
        </p:sp>
        <p:sp>
          <p:nvSpPr>
            <p:cNvPr id="4939" name="Google Shape;4939;p83"/>
            <p:cNvSpPr/>
            <p:nvPr/>
          </p:nvSpPr>
          <p:spPr>
            <a:xfrm>
              <a:off x="3573195" y="3136684"/>
              <a:ext cx="1749482" cy="914811"/>
            </a:xfrm>
            <a:custGeom>
              <a:rect b="b" l="l" r="r" t="t"/>
              <a:pathLst>
                <a:path extrusionOk="0" h="10017" w="10062">
                  <a:moveTo>
                    <a:pt x="0" y="10017"/>
                  </a:moveTo>
                  <a:lnTo>
                    <a:pt x="8853" y="17"/>
                  </a:lnTo>
                  <a:lnTo>
                    <a:pt x="10062"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4940" name="Google Shape;4940;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6"/>
                                        </p:tgtEl>
                                        <p:attrNameLst>
                                          <p:attrName>style.visibility</p:attrName>
                                        </p:attrNameLst>
                                      </p:cBhvr>
                                      <p:to>
                                        <p:strVal val="visible"/>
                                      </p:to>
                                    </p:set>
                                    <p:animEffect filter="fade" transition="in">
                                      <p:cBhvr>
                                        <p:cTn dur="500"/>
                                        <p:tgtEl>
                                          <p:spTgt spid="48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9"/>
                                        </p:tgtEl>
                                        <p:attrNameLst>
                                          <p:attrName>style.visibility</p:attrName>
                                        </p:attrNameLst>
                                      </p:cBhvr>
                                      <p:to>
                                        <p:strVal val="visible"/>
                                      </p:to>
                                    </p:set>
                                    <p:animEffect filter="fade" transition="in">
                                      <p:cBhvr>
                                        <p:cTn dur="500"/>
                                        <p:tgtEl>
                                          <p:spTgt spid="4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7"/>
                                        </p:tgtEl>
                                        <p:attrNameLst>
                                          <p:attrName>style.visibility</p:attrName>
                                        </p:attrNameLst>
                                      </p:cBhvr>
                                      <p:to>
                                        <p:strVal val="visible"/>
                                      </p:to>
                                    </p:set>
                                    <p:animEffect filter="fade" transition="in">
                                      <p:cBhvr>
                                        <p:cTn dur="500"/>
                                        <p:tgtEl>
                                          <p:spTgt spid="4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3"/>
                                        </p:tgtEl>
                                        <p:attrNameLst>
                                          <p:attrName>style.visibility</p:attrName>
                                        </p:attrNameLst>
                                      </p:cBhvr>
                                      <p:to>
                                        <p:strVal val="visible"/>
                                      </p:to>
                                    </p:set>
                                    <p:animEffect filter="fade" transition="in">
                                      <p:cBhvr>
                                        <p:cTn dur="500"/>
                                        <p:tgtEl>
                                          <p:spTgt spid="4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2"/>
                                        </p:tgtEl>
                                        <p:attrNameLst>
                                          <p:attrName>style.visibility</p:attrName>
                                        </p:attrNameLst>
                                      </p:cBhvr>
                                      <p:to>
                                        <p:strVal val="visible"/>
                                      </p:to>
                                    </p:set>
                                    <p:animEffect filter="fade" transition="in">
                                      <p:cBhvr>
                                        <p:cTn dur="500"/>
                                        <p:tgtEl>
                                          <p:spTgt spid="4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4"/>
                                        </p:tgtEl>
                                        <p:attrNameLst>
                                          <p:attrName>style.visibility</p:attrName>
                                        </p:attrNameLst>
                                      </p:cBhvr>
                                      <p:to>
                                        <p:strVal val="visible"/>
                                      </p:to>
                                    </p:set>
                                    <p:animEffect filter="fade" transition="in">
                                      <p:cBhvr>
                                        <p:cTn dur="500"/>
                                        <p:tgtEl>
                                          <p:spTgt spid="4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8"/>
                                        </p:tgtEl>
                                        <p:attrNameLst>
                                          <p:attrName>style.visibility</p:attrName>
                                        </p:attrNameLst>
                                      </p:cBhvr>
                                      <p:to>
                                        <p:strVal val="visible"/>
                                      </p:to>
                                    </p:set>
                                    <p:animEffect filter="fade" transition="in">
                                      <p:cBhvr>
                                        <p:cTn dur="500"/>
                                        <p:tgtEl>
                                          <p:spTgt spid="4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0"/>
                                        </p:tgtEl>
                                        <p:attrNameLst>
                                          <p:attrName>style.visibility</p:attrName>
                                        </p:attrNameLst>
                                      </p:cBhvr>
                                      <p:to>
                                        <p:strVal val="visible"/>
                                      </p:to>
                                    </p:set>
                                    <p:animEffect filter="fade" transition="in">
                                      <p:cBhvr>
                                        <p:cTn dur="500"/>
                                        <p:tgtEl>
                                          <p:spTgt spid="4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5"/>
                                        </p:tgtEl>
                                        <p:attrNameLst>
                                          <p:attrName>style.visibility</p:attrName>
                                        </p:attrNameLst>
                                      </p:cBhvr>
                                      <p:to>
                                        <p:strVal val="visible"/>
                                      </p:to>
                                    </p:set>
                                    <p:animEffect filter="fade" transition="in">
                                      <p:cBhvr>
                                        <p:cTn dur="500"/>
                                        <p:tgtEl>
                                          <p:spTgt spid="4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4"/>
                                        </p:tgtEl>
                                        <p:attrNameLst>
                                          <p:attrName>style.visibility</p:attrName>
                                        </p:attrNameLst>
                                      </p:cBhvr>
                                      <p:to>
                                        <p:strVal val="visible"/>
                                      </p:to>
                                    </p:set>
                                    <p:animEffect filter="fade" transition="in">
                                      <p:cBhvr>
                                        <p:cTn dur="500"/>
                                        <p:tgtEl>
                                          <p:spTgt spid="49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7"/>
                                        </p:tgtEl>
                                        <p:attrNameLst>
                                          <p:attrName>style.visibility</p:attrName>
                                        </p:attrNameLst>
                                      </p:cBhvr>
                                      <p:to>
                                        <p:strVal val="visible"/>
                                      </p:to>
                                    </p:set>
                                    <p:animEffect filter="fade" transition="in">
                                      <p:cBhvr>
                                        <p:cTn dur="500"/>
                                        <p:tgtEl>
                                          <p:spTgt spid="49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5" name="Shape 4945"/>
        <p:cNvGrpSpPr/>
        <p:nvPr/>
      </p:nvGrpSpPr>
      <p:grpSpPr>
        <a:xfrm>
          <a:off x="0" y="0"/>
          <a:ext cx="0" cy="0"/>
          <a:chOff x="0" y="0"/>
          <a:chExt cx="0" cy="0"/>
        </a:xfrm>
      </p:grpSpPr>
      <p:sp>
        <p:nvSpPr>
          <p:cNvPr id="4946" name="Google Shape;4946;p8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4947" name="Google Shape;4947;p84"/>
          <p:cNvSpPr txBox="1"/>
          <p:nvPr/>
        </p:nvSpPr>
        <p:spPr>
          <a:xfrm>
            <a:off x="715171" y="1355712"/>
            <a:ext cx="5096669" cy="13112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Sequence numbers:</a:t>
            </a:r>
            <a:endParaRPr/>
          </a:p>
          <a:p>
            <a:pPr indent="-277813"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byte stream “number” of first byte in segment’s data</a:t>
            </a:r>
            <a:endParaRPr b="0" i="0" sz="2400" u="none" cap="none" strike="noStrike">
              <a:solidFill>
                <a:srgbClr val="000000"/>
              </a:solidFill>
              <a:latin typeface="Calibri"/>
              <a:ea typeface="Calibri"/>
              <a:cs typeface="Calibri"/>
              <a:sym typeface="Calibri"/>
            </a:endParaRPr>
          </a:p>
        </p:txBody>
      </p:sp>
      <p:grpSp>
        <p:nvGrpSpPr>
          <p:cNvPr id="4948" name="Google Shape;4948;p84"/>
          <p:cNvGrpSpPr/>
          <p:nvPr/>
        </p:nvGrpSpPr>
        <p:grpSpPr>
          <a:xfrm>
            <a:off x="7783528" y="3989281"/>
            <a:ext cx="3086106" cy="2541588"/>
            <a:chOff x="3520" y="2404"/>
            <a:chExt cx="1944" cy="1601"/>
          </a:xfrm>
        </p:grpSpPr>
        <p:sp>
          <p:nvSpPr>
            <p:cNvPr id="4949" name="Google Shape;4949;p84"/>
            <p:cNvSpPr/>
            <p:nvPr/>
          </p:nvSpPr>
          <p:spPr>
            <a:xfrm>
              <a:off x="3755" y="3589"/>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950" name="Google Shape;4950;p84"/>
            <p:cNvGrpSpPr/>
            <p:nvPr/>
          </p:nvGrpSpPr>
          <p:grpSpPr>
            <a:xfrm>
              <a:off x="3731" y="3291"/>
              <a:ext cx="1252" cy="714"/>
              <a:chOff x="1974" y="2984"/>
              <a:chExt cx="1252" cy="714"/>
            </a:xfrm>
          </p:grpSpPr>
          <p:sp>
            <p:nvSpPr>
              <p:cNvPr id="4951" name="Google Shape;4951;p84"/>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52" name="Google Shape;4952;p84"/>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4953" name="Google Shape;4953;p84"/>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4954" name="Google Shape;4954;p84"/>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sequence number</a:t>
                </a:r>
                <a:endParaRPr/>
              </a:p>
            </p:txBody>
          </p:sp>
          <p:sp>
            <p:nvSpPr>
              <p:cNvPr id="4955" name="Google Shape;4955;p84"/>
              <p:cNvSpPr txBox="1"/>
              <p:nvPr/>
            </p:nvSpPr>
            <p:spPr>
              <a:xfrm>
                <a:off x="1974"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acknowledgement number</a:t>
                </a:r>
                <a:endParaRPr/>
              </a:p>
            </p:txBody>
          </p:sp>
          <p:sp>
            <p:nvSpPr>
              <p:cNvPr id="4956" name="Google Shape;4956;p84"/>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4957" name="Google Shape;4957;p84"/>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4958" name="Google Shape;4958;p84"/>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4959" name="Google Shape;4959;p84"/>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4960" name="Google Shape;4960;p84"/>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4961" name="Google Shape;4961;p84"/>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4962" name="Google Shape;4962;p84"/>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4963" name="Google Shape;4963;p84"/>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4964" name="Google Shape;4964;p84"/>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4965" name="Google Shape;4965;p84"/>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4966" name="Google Shape;4966;p84"/>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4967" name="Google Shape;4967;p84"/>
            <p:cNvSpPr txBox="1"/>
            <p:nvPr/>
          </p:nvSpPr>
          <p:spPr>
            <a:xfrm>
              <a:off x="3520" y="3092"/>
              <a:ext cx="1944"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receiver</a:t>
              </a:r>
              <a:endParaRPr/>
            </a:p>
          </p:txBody>
        </p:sp>
        <p:sp>
          <p:nvSpPr>
            <p:cNvPr id="4968" name="Google Shape;4968;p84"/>
            <p:cNvSpPr/>
            <p:nvPr/>
          </p:nvSpPr>
          <p:spPr>
            <a:xfrm rot="10800000">
              <a:off x="3599" y="2404"/>
              <a:ext cx="107" cy="119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969" name="Google Shape;4969;p84"/>
          <p:cNvGrpSpPr/>
          <p:nvPr/>
        </p:nvGrpSpPr>
        <p:grpSpPr>
          <a:xfrm>
            <a:off x="8685214" y="6022869"/>
            <a:ext cx="358775" cy="304800"/>
            <a:chOff x="5144" y="3677"/>
            <a:chExt cx="226" cy="192"/>
          </a:xfrm>
        </p:grpSpPr>
        <p:sp>
          <p:nvSpPr>
            <p:cNvPr id="4970" name="Google Shape;4970;p84"/>
            <p:cNvSpPr/>
            <p:nvPr/>
          </p:nvSpPr>
          <p:spPr>
            <a:xfrm>
              <a:off x="5212" y="3716"/>
              <a:ext cx="88"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1" name="Google Shape;4971;p84"/>
            <p:cNvSpPr txBox="1"/>
            <p:nvPr/>
          </p:nvSpPr>
          <p:spPr>
            <a:xfrm>
              <a:off x="5144" y="3677"/>
              <a:ext cx="22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Narrow"/>
                <a:buNone/>
              </a:pPr>
              <a:r>
                <a:rPr b="0" i="0" lang="en-US" sz="1400" u="none" cap="none" strike="noStrike">
                  <a:solidFill>
                    <a:srgbClr val="FFFFFF"/>
                  </a:solidFill>
                  <a:latin typeface="Arial Narrow"/>
                  <a:ea typeface="Arial Narrow"/>
                  <a:cs typeface="Arial Narrow"/>
                  <a:sym typeface="Arial Narrow"/>
                </a:rPr>
                <a:t>A</a:t>
              </a:r>
              <a:endParaRPr/>
            </a:p>
          </p:txBody>
        </p:sp>
      </p:grpSp>
      <p:sp>
        <p:nvSpPr>
          <p:cNvPr id="4972" name="Google Shape;4972;p84"/>
          <p:cNvSpPr/>
          <p:nvPr/>
        </p:nvSpPr>
        <p:spPr>
          <a:xfrm>
            <a:off x="6835777" y="3123626"/>
            <a:ext cx="65087" cy="622300"/>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3" name="Google Shape;4973;p84"/>
          <p:cNvSpPr/>
          <p:nvPr/>
        </p:nvSpPr>
        <p:spPr>
          <a:xfrm>
            <a:off x="6932614" y="3125214"/>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4" name="Google Shape;4974;p84"/>
          <p:cNvSpPr/>
          <p:nvPr/>
        </p:nvSpPr>
        <p:spPr>
          <a:xfrm>
            <a:off x="7031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5" name="Google Shape;4975;p84"/>
          <p:cNvSpPr/>
          <p:nvPr/>
        </p:nvSpPr>
        <p:spPr>
          <a:xfrm>
            <a:off x="712787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6" name="Google Shape;4976;p84"/>
          <p:cNvSpPr/>
          <p:nvPr/>
        </p:nvSpPr>
        <p:spPr>
          <a:xfrm>
            <a:off x="722312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7" name="Google Shape;4977;p84"/>
          <p:cNvSpPr/>
          <p:nvPr/>
        </p:nvSpPr>
        <p:spPr>
          <a:xfrm>
            <a:off x="7319964"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8" name="Google Shape;4978;p84"/>
          <p:cNvSpPr/>
          <p:nvPr/>
        </p:nvSpPr>
        <p:spPr>
          <a:xfrm>
            <a:off x="7412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79" name="Google Shape;4979;p84"/>
          <p:cNvSpPr/>
          <p:nvPr/>
        </p:nvSpPr>
        <p:spPr>
          <a:xfrm>
            <a:off x="750728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0" name="Google Shape;4980;p84"/>
          <p:cNvSpPr/>
          <p:nvPr/>
        </p:nvSpPr>
        <p:spPr>
          <a:xfrm>
            <a:off x="76025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1" name="Google Shape;4981;p84"/>
          <p:cNvSpPr/>
          <p:nvPr/>
        </p:nvSpPr>
        <p:spPr>
          <a:xfrm>
            <a:off x="7708902"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2" name="Google Shape;4982;p84"/>
          <p:cNvSpPr/>
          <p:nvPr/>
        </p:nvSpPr>
        <p:spPr>
          <a:xfrm>
            <a:off x="7807327" y="3125214"/>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3" name="Google Shape;4983;p84"/>
          <p:cNvSpPr/>
          <p:nvPr/>
        </p:nvSpPr>
        <p:spPr>
          <a:xfrm>
            <a:off x="7904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4" name="Google Shape;4984;p84"/>
          <p:cNvSpPr/>
          <p:nvPr/>
        </p:nvSpPr>
        <p:spPr>
          <a:xfrm>
            <a:off x="80010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5" name="Google Shape;4985;p84"/>
          <p:cNvSpPr/>
          <p:nvPr/>
        </p:nvSpPr>
        <p:spPr>
          <a:xfrm>
            <a:off x="809783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6" name="Google Shape;4986;p84"/>
          <p:cNvSpPr/>
          <p:nvPr/>
        </p:nvSpPr>
        <p:spPr>
          <a:xfrm>
            <a:off x="819308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7" name="Google Shape;4987;p84"/>
          <p:cNvSpPr/>
          <p:nvPr/>
        </p:nvSpPr>
        <p:spPr>
          <a:xfrm>
            <a:off x="8285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8" name="Google Shape;4988;p84"/>
          <p:cNvSpPr/>
          <p:nvPr/>
        </p:nvSpPr>
        <p:spPr>
          <a:xfrm>
            <a:off x="838041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89" name="Google Shape;4989;p84"/>
          <p:cNvSpPr/>
          <p:nvPr/>
        </p:nvSpPr>
        <p:spPr>
          <a:xfrm>
            <a:off x="84772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0" name="Google Shape;4990;p84"/>
          <p:cNvSpPr/>
          <p:nvPr/>
        </p:nvSpPr>
        <p:spPr>
          <a:xfrm>
            <a:off x="85661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1" name="Google Shape;4991;p84"/>
          <p:cNvSpPr/>
          <p:nvPr/>
        </p:nvSpPr>
        <p:spPr>
          <a:xfrm>
            <a:off x="86614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2" name="Google Shape;4992;p84"/>
          <p:cNvSpPr/>
          <p:nvPr/>
        </p:nvSpPr>
        <p:spPr>
          <a:xfrm>
            <a:off x="8755064"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3" name="Google Shape;4993;p84"/>
          <p:cNvSpPr/>
          <p:nvPr/>
        </p:nvSpPr>
        <p:spPr>
          <a:xfrm>
            <a:off x="8847139"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4" name="Google Shape;4994;p84"/>
          <p:cNvSpPr/>
          <p:nvPr/>
        </p:nvSpPr>
        <p:spPr>
          <a:xfrm>
            <a:off x="89439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5" name="Google Shape;4995;p84"/>
          <p:cNvSpPr/>
          <p:nvPr/>
        </p:nvSpPr>
        <p:spPr>
          <a:xfrm>
            <a:off x="90392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6" name="Google Shape;4996;p84"/>
          <p:cNvSpPr/>
          <p:nvPr/>
        </p:nvSpPr>
        <p:spPr>
          <a:xfrm>
            <a:off x="91281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7" name="Google Shape;4997;p84"/>
          <p:cNvSpPr/>
          <p:nvPr/>
        </p:nvSpPr>
        <p:spPr>
          <a:xfrm>
            <a:off x="92233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8" name="Google Shape;4998;p84"/>
          <p:cNvSpPr/>
          <p:nvPr/>
        </p:nvSpPr>
        <p:spPr>
          <a:xfrm>
            <a:off x="93202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99" name="Google Shape;4999;p84"/>
          <p:cNvSpPr/>
          <p:nvPr/>
        </p:nvSpPr>
        <p:spPr>
          <a:xfrm>
            <a:off x="9417052" y="3125214"/>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0" name="Google Shape;5000;p84"/>
          <p:cNvSpPr/>
          <p:nvPr/>
        </p:nvSpPr>
        <p:spPr>
          <a:xfrm>
            <a:off x="9513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1" name="Google Shape;5001;p84"/>
          <p:cNvSpPr/>
          <p:nvPr/>
        </p:nvSpPr>
        <p:spPr>
          <a:xfrm>
            <a:off x="96123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2" name="Google Shape;5002;p84"/>
          <p:cNvSpPr/>
          <p:nvPr/>
        </p:nvSpPr>
        <p:spPr>
          <a:xfrm>
            <a:off x="970756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3" name="Google Shape;5003;p84"/>
          <p:cNvSpPr/>
          <p:nvPr/>
        </p:nvSpPr>
        <p:spPr>
          <a:xfrm>
            <a:off x="98028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4" name="Google Shape;5004;p84"/>
          <p:cNvSpPr/>
          <p:nvPr/>
        </p:nvSpPr>
        <p:spPr>
          <a:xfrm>
            <a:off x="9894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5" name="Google Shape;5005;p84"/>
          <p:cNvSpPr/>
          <p:nvPr/>
        </p:nvSpPr>
        <p:spPr>
          <a:xfrm>
            <a:off x="9991727" y="3123626"/>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6" name="Google Shape;5006;p84"/>
          <p:cNvSpPr/>
          <p:nvPr/>
        </p:nvSpPr>
        <p:spPr>
          <a:xfrm>
            <a:off x="10086977" y="3123626"/>
            <a:ext cx="65087" cy="622300"/>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7" name="Google Shape;5007;p84"/>
          <p:cNvSpPr/>
          <p:nvPr/>
        </p:nvSpPr>
        <p:spPr>
          <a:xfrm>
            <a:off x="6792914" y="3861814"/>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08" name="Google Shape;5008;p84"/>
          <p:cNvSpPr/>
          <p:nvPr/>
        </p:nvSpPr>
        <p:spPr>
          <a:xfrm>
            <a:off x="6878639" y="3014089"/>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009" name="Google Shape;5009;p84"/>
          <p:cNvCxnSpPr/>
          <p:nvPr/>
        </p:nvCxnSpPr>
        <p:spPr>
          <a:xfrm>
            <a:off x="6900864" y="3976114"/>
            <a:ext cx="868363" cy="0"/>
          </a:xfrm>
          <a:prstGeom prst="straightConnector1">
            <a:avLst/>
          </a:prstGeom>
          <a:noFill/>
          <a:ln cap="flat" cmpd="sng" w="28575">
            <a:solidFill>
              <a:srgbClr val="CC0000"/>
            </a:solidFill>
            <a:prstDash val="solid"/>
            <a:round/>
            <a:headEnd len="med" w="med" type="none"/>
            <a:tailEnd len="med" w="med" type="none"/>
          </a:ln>
        </p:spPr>
      </p:cxnSp>
      <p:cxnSp>
        <p:nvCxnSpPr>
          <p:cNvPr id="5010" name="Google Shape;5010;p84"/>
          <p:cNvCxnSpPr/>
          <p:nvPr/>
        </p:nvCxnSpPr>
        <p:spPr>
          <a:xfrm>
            <a:off x="7835902" y="3977701"/>
            <a:ext cx="868362" cy="0"/>
          </a:xfrm>
          <a:prstGeom prst="straightConnector1">
            <a:avLst/>
          </a:prstGeom>
          <a:noFill/>
          <a:ln cap="flat" cmpd="sng" w="28575">
            <a:solidFill>
              <a:srgbClr val="CC0000"/>
            </a:solidFill>
            <a:prstDash val="solid"/>
            <a:round/>
            <a:headEnd len="med" w="med" type="none"/>
            <a:tailEnd len="med" w="med" type="none"/>
          </a:ln>
        </p:spPr>
      </p:cxnSp>
      <p:cxnSp>
        <p:nvCxnSpPr>
          <p:cNvPr id="5011" name="Google Shape;5011;p84"/>
          <p:cNvCxnSpPr/>
          <p:nvPr/>
        </p:nvCxnSpPr>
        <p:spPr>
          <a:xfrm>
            <a:off x="9329739" y="3976114"/>
            <a:ext cx="801688" cy="0"/>
          </a:xfrm>
          <a:prstGeom prst="straightConnector1">
            <a:avLst/>
          </a:prstGeom>
          <a:noFill/>
          <a:ln cap="flat" cmpd="sng" w="28575">
            <a:solidFill>
              <a:srgbClr val="CC0000"/>
            </a:solidFill>
            <a:prstDash val="solid"/>
            <a:round/>
            <a:headEnd len="med" w="med" type="none"/>
            <a:tailEnd len="med" w="med" type="none"/>
          </a:ln>
        </p:spPr>
      </p:cxnSp>
      <p:cxnSp>
        <p:nvCxnSpPr>
          <p:cNvPr id="5012" name="Google Shape;5012;p84"/>
          <p:cNvCxnSpPr/>
          <p:nvPr/>
        </p:nvCxnSpPr>
        <p:spPr>
          <a:xfrm>
            <a:off x="8759827" y="3977701"/>
            <a:ext cx="528637" cy="0"/>
          </a:xfrm>
          <a:prstGeom prst="straightConnector1">
            <a:avLst/>
          </a:prstGeom>
          <a:noFill/>
          <a:ln cap="flat" cmpd="sng" w="28575">
            <a:solidFill>
              <a:srgbClr val="CC0000"/>
            </a:solidFill>
            <a:prstDash val="solid"/>
            <a:round/>
            <a:headEnd len="med" w="med" type="none"/>
            <a:tailEnd len="med" w="med" type="none"/>
          </a:ln>
        </p:spPr>
      </p:cxnSp>
      <p:cxnSp>
        <p:nvCxnSpPr>
          <p:cNvPr id="5013" name="Google Shape;5013;p84"/>
          <p:cNvCxnSpPr/>
          <p:nvPr/>
        </p:nvCxnSpPr>
        <p:spPr>
          <a:xfrm>
            <a:off x="6992939" y="3999926"/>
            <a:ext cx="0" cy="233363"/>
          </a:xfrm>
          <a:prstGeom prst="straightConnector1">
            <a:avLst/>
          </a:prstGeom>
          <a:noFill/>
          <a:ln cap="flat" cmpd="sng" w="9525">
            <a:solidFill>
              <a:srgbClr val="CC0000"/>
            </a:solidFill>
            <a:prstDash val="solid"/>
            <a:round/>
            <a:headEnd len="med" w="med" type="none"/>
            <a:tailEnd len="med" w="med" type="none"/>
          </a:ln>
        </p:spPr>
      </p:cxnSp>
      <p:cxnSp>
        <p:nvCxnSpPr>
          <p:cNvPr id="5014" name="Google Shape;5014;p84"/>
          <p:cNvCxnSpPr/>
          <p:nvPr/>
        </p:nvCxnSpPr>
        <p:spPr>
          <a:xfrm>
            <a:off x="822166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5015" name="Google Shape;5015;p84"/>
          <p:cNvCxnSpPr/>
          <p:nvPr/>
        </p:nvCxnSpPr>
        <p:spPr>
          <a:xfrm>
            <a:off x="904081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5016" name="Google Shape;5016;p84"/>
          <p:cNvCxnSpPr/>
          <p:nvPr/>
        </p:nvCxnSpPr>
        <p:spPr>
          <a:xfrm>
            <a:off x="9698039" y="3995164"/>
            <a:ext cx="0" cy="233362"/>
          </a:xfrm>
          <a:prstGeom prst="straightConnector1">
            <a:avLst/>
          </a:prstGeom>
          <a:noFill/>
          <a:ln cap="flat" cmpd="sng" w="9525">
            <a:solidFill>
              <a:srgbClr val="CC0000"/>
            </a:solidFill>
            <a:prstDash val="solid"/>
            <a:round/>
            <a:headEnd len="med" w="med" type="none"/>
            <a:tailEnd len="med" w="med" type="none"/>
          </a:ln>
        </p:spPr>
      </p:cxnSp>
      <p:sp>
        <p:nvSpPr>
          <p:cNvPr id="5017" name="Google Shape;5017;p84"/>
          <p:cNvSpPr txBox="1"/>
          <p:nvPr/>
        </p:nvSpPr>
        <p:spPr>
          <a:xfrm>
            <a:off x="6869114" y="4223764"/>
            <a:ext cx="693738"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ACKed</a:t>
            </a:r>
            <a:endParaRPr/>
          </a:p>
        </p:txBody>
      </p:sp>
      <p:sp>
        <p:nvSpPr>
          <p:cNvPr id="5018" name="Google Shape;5018;p84"/>
          <p:cNvSpPr txBox="1"/>
          <p:nvPr/>
        </p:nvSpPr>
        <p:spPr>
          <a:xfrm>
            <a:off x="7850188" y="4230114"/>
            <a:ext cx="1139821" cy="68480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not-yet ACKed</a:t>
            </a:r>
            <a:endParaRPr b="0" i="0" sz="1400" u="none" cap="none" strike="noStrike">
              <a:solidFill>
                <a:srgbClr val="000000"/>
              </a:solidFill>
              <a:latin typeface="Tahoma"/>
              <a:ea typeface="Tahoma"/>
              <a:cs typeface="Tahoma"/>
              <a:sym typeface="Tahoma"/>
            </a:endParaRPr>
          </a:p>
          <a:p>
            <a:pPr indent="0" lvl="0" marL="0" marR="0" rtl="0" algn="l">
              <a:lnSpc>
                <a:spcPct val="90000"/>
              </a:lnSpc>
              <a:spcBef>
                <a:spcPts val="30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(“in-flight”)</a:t>
            </a:r>
            <a:endParaRPr b="0" i="0" sz="1200" u="none" cap="none" strike="noStrike">
              <a:solidFill>
                <a:srgbClr val="000000"/>
              </a:solidFill>
              <a:latin typeface="Tahoma"/>
              <a:ea typeface="Tahoma"/>
              <a:cs typeface="Tahoma"/>
              <a:sym typeface="Tahoma"/>
            </a:endParaRPr>
          </a:p>
        </p:txBody>
      </p:sp>
      <p:sp>
        <p:nvSpPr>
          <p:cNvPr id="5019" name="Google Shape;5019;p84"/>
          <p:cNvSpPr txBox="1"/>
          <p:nvPr/>
        </p:nvSpPr>
        <p:spPr>
          <a:xfrm>
            <a:off x="8829677" y="4225351"/>
            <a:ext cx="1066800" cy="66833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but 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yet sent</a:t>
            </a:r>
            <a:endParaRPr/>
          </a:p>
        </p:txBody>
      </p:sp>
      <p:sp>
        <p:nvSpPr>
          <p:cNvPr id="5020" name="Google Shape;5020;p84"/>
          <p:cNvSpPr txBox="1"/>
          <p:nvPr/>
        </p:nvSpPr>
        <p:spPr>
          <a:xfrm>
            <a:off x="9586914" y="4230114"/>
            <a:ext cx="819150"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p:txBody>
      </p:sp>
      <p:sp>
        <p:nvSpPr>
          <p:cNvPr id="5021" name="Google Shape;5021;p84"/>
          <p:cNvSpPr txBox="1"/>
          <p:nvPr/>
        </p:nvSpPr>
        <p:spPr>
          <a:xfrm>
            <a:off x="7929564" y="2658489"/>
            <a:ext cx="1131888" cy="4762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window size</a:t>
            </a:r>
            <a:endParaRPr/>
          </a:p>
          <a:p>
            <a:pPr indent="0" lvl="0" marL="0" marR="0" rtl="0" algn="ctr">
              <a:lnSpc>
                <a:spcPct val="9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 N</a:t>
            </a:r>
            <a:endParaRPr/>
          </a:p>
        </p:txBody>
      </p:sp>
      <p:grpSp>
        <p:nvGrpSpPr>
          <p:cNvPr id="5022" name="Google Shape;5022;p84"/>
          <p:cNvGrpSpPr/>
          <p:nvPr/>
        </p:nvGrpSpPr>
        <p:grpSpPr>
          <a:xfrm>
            <a:off x="8696327" y="2882326"/>
            <a:ext cx="593725" cy="136525"/>
            <a:chOff x="4250" y="1692"/>
            <a:chExt cx="374" cy="86"/>
          </a:xfrm>
        </p:grpSpPr>
        <p:cxnSp>
          <p:nvCxnSpPr>
            <p:cNvPr id="5023" name="Google Shape;5023;p84"/>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5024" name="Google Shape;5024;p84"/>
            <p:cNvCxnSpPr/>
            <p:nvPr/>
          </p:nvCxnSpPr>
          <p:spPr>
            <a:xfrm>
              <a:off x="4622"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5025" name="Google Shape;5025;p84"/>
          <p:cNvGrpSpPr/>
          <p:nvPr/>
        </p:nvGrpSpPr>
        <p:grpSpPr>
          <a:xfrm rot="10800000">
            <a:off x="7793040" y="2896614"/>
            <a:ext cx="593725" cy="136525"/>
            <a:chOff x="4257" y="1699"/>
            <a:chExt cx="374" cy="86"/>
          </a:xfrm>
        </p:grpSpPr>
        <p:cxnSp>
          <p:nvCxnSpPr>
            <p:cNvPr id="5026" name="Google Shape;5026;p84"/>
            <p:cNvCxnSpPr/>
            <p:nvPr/>
          </p:nvCxnSpPr>
          <p:spPr>
            <a:xfrm>
              <a:off x="4257" y="1745"/>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5027" name="Google Shape;5027;p84"/>
            <p:cNvCxnSpPr/>
            <p:nvPr/>
          </p:nvCxnSpPr>
          <p:spPr>
            <a:xfrm>
              <a:off x="4629" y="1699"/>
              <a:ext cx="0" cy="86"/>
            </a:xfrm>
            <a:prstGeom prst="straightConnector1">
              <a:avLst/>
            </a:prstGeom>
            <a:noFill/>
            <a:ln cap="flat" cmpd="sng" w="9525">
              <a:solidFill>
                <a:srgbClr val="CC0000"/>
              </a:solidFill>
              <a:prstDash val="solid"/>
              <a:round/>
              <a:headEnd len="med" w="med" type="none"/>
              <a:tailEnd len="med" w="med" type="none"/>
            </a:ln>
          </p:spPr>
        </p:cxnSp>
      </p:grpSp>
      <p:sp>
        <p:nvSpPr>
          <p:cNvPr id="5028" name="Google Shape;5028;p84"/>
          <p:cNvSpPr txBox="1"/>
          <p:nvPr/>
        </p:nvSpPr>
        <p:spPr>
          <a:xfrm>
            <a:off x="7085014" y="3677664"/>
            <a:ext cx="3178175" cy="304800"/>
          </a:xfrm>
          <a:prstGeom prst="rect">
            <a:avLst/>
          </a:prstGeom>
          <a:noFill/>
          <a:ln>
            <a:noFill/>
          </a:ln>
        </p:spPr>
        <p:txBody>
          <a:bodyPr anchorCtr="0" anchor="t" bIns="45700" lIns="91425" spcFirstLastPara="1" rIns="91425" wrap="square" tIns="45700">
            <a:spAutoFit/>
          </a:bodyPr>
          <a:lstStyle/>
          <a:p>
            <a:pPr indent="0" lvl="1" marL="0" marR="0" rtl="0" algn="ctr">
              <a:lnSpc>
                <a:spcPct val="10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sender sequence number space </a:t>
            </a:r>
            <a:endParaRPr/>
          </a:p>
        </p:txBody>
      </p:sp>
      <p:grpSp>
        <p:nvGrpSpPr>
          <p:cNvPr id="5029" name="Google Shape;5029;p84"/>
          <p:cNvGrpSpPr/>
          <p:nvPr/>
        </p:nvGrpSpPr>
        <p:grpSpPr>
          <a:xfrm>
            <a:off x="6321427" y="1140839"/>
            <a:ext cx="2952750" cy="1966912"/>
            <a:chOff x="2600" y="665"/>
            <a:chExt cx="1860" cy="1239"/>
          </a:xfrm>
        </p:grpSpPr>
        <p:sp>
          <p:nvSpPr>
            <p:cNvPr id="5030" name="Google Shape;5030;p84"/>
            <p:cNvSpPr/>
            <p:nvPr/>
          </p:nvSpPr>
          <p:spPr>
            <a:xfrm>
              <a:off x="2840" y="1028"/>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031" name="Google Shape;5031;p84"/>
            <p:cNvGrpSpPr/>
            <p:nvPr/>
          </p:nvGrpSpPr>
          <p:grpSpPr>
            <a:xfrm>
              <a:off x="2820" y="872"/>
              <a:ext cx="1252" cy="714"/>
              <a:chOff x="1976" y="2984"/>
              <a:chExt cx="1252" cy="714"/>
            </a:xfrm>
          </p:grpSpPr>
          <p:sp>
            <p:nvSpPr>
              <p:cNvPr id="5032" name="Google Shape;5032;p84"/>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033" name="Google Shape;5033;p84"/>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5034" name="Google Shape;5034;p84"/>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5035" name="Google Shape;5035;p84"/>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sequence number</a:t>
                </a:r>
                <a:endParaRPr/>
              </a:p>
            </p:txBody>
          </p:sp>
          <p:sp>
            <p:nvSpPr>
              <p:cNvPr id="5036" name="Google Shape;5036;p84"/>
              <p:cNvSpPr txBox="1"/>
              <p:nvPr/>
            </p:nvSpPr>
            <p:spPr>
              <a:xfrm>
                <a:off x="1976"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acknowledgement number</a:t>
                </a:r>
                <a:endParaRPr/>
              </a:p>
            </p:txBody>
          </p:sp>
          <p:sp>
            <p:nvSpPr>
              <p:cNvPr id="5037" name="Google Shape;5037;p84"/>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5038" name="Google Shape;5038;p84"/>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5039" name="Google Shape;5039;p84"/>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040" name="Google Shape;5040;p84"/>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041" name="Google Shape;5041;p84"/>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5042" name="Google Shape;5042;p84"/>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5043" name="Google Shape;5043;p84"/>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5044" name="Google Shape;5044;p84"/>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5045" name="Google Shape;5045;p84"/>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5046" name="Google Shape;5046;p84"/>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5047" name="Google Shape;5047;p84"/>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5048" name="Google Shape;5048;p84"/>
            <p:cNvSpPr txBox="1"/>
            <p:nvPr/>
          </p:nvSpPr>
          <p:spPr>
            <a:xfrm>
              <a:off x="2600" y="665"/>
              <a:ext cx="186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sender</a:t>
              </a:r>
              <a:endParaRPr/>
            </a:p>
          </p:txBody>
        </p:sp>
        <p:sp>
          <p:nvSpPr>
            <p:cNvPr id="5049" name="Google Shape;5049;p84"/>
            <p:cNvSpPr/>
            <p:nvPr/>
          </p:nvSpPr>
          <p:spPr>
            <a:xfrm>
              <a:off x="4050" y="1080"/>
              <a:ext cx="107" cy="82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050" name="Google Shape;5050;p84"/>
          <p:cNvSpPr txBox="1"/>
          <p:nvPr/>
        </p:nvSpPr>
        <p:spPr>
          <a:xfrm>
            <a:off x="740571" y="2803512"/>
            <a:ext cx="5096669" cy="17684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Acknowledgements</a:t>
            </a:r>
            <a:r>
              <a:rPr b="0" i="0" lang="en-US" sz="2800" u="sng" cap="none" strike="noStrike">
                <a:solidFill>
                  <a:srgbClr val="CC0000"/>
                </a:solidFill>
                <a:latin typeface="Calibri"/>
                <a:ea typeface="Calibri"/>
                <a:cs typeface="Calibri"/>
                <a:sym typeface="Calibri"/>
              </a:rPr>
              <a:t>:</a:t>
            </a:r>
            <a:endParaRPr b="0" i="0" sz="2800" u="none" cap="none" strike="noStrike">
              <a:solidFill>
                <a:srgbClr val="CC0000"/>
              </a:solidFill>
              <a:latin typeface="Calibri"/>
              <a:ea typeface="Calibri"/>
              <a:cs typeface="Calibri"/>
              <a:sym typeface="Calibri"/>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seq # of next byte expected from other side</a:t>
            </a:r>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cumulative ACK</a:t>
            </a:r>
            <a:endParaRPr/>
          </a:p>
        </p:txBody>
      </p:sp>
      <p:sp>
        <p:nvSpPr>
          <p:cNvPr id="5051" name="Google Shape;5051;p84"/>
          <p:cNvSpPr txBox="1"/>
          <p:nvPr/>
        </p:nvSpPr>
        <p:spPr>
          <a:xfrm>
            <a:off x="651671" y="4633906"/>
            <a:ext cx="5096669" cy="17303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sng" cap="none" strike="noStrike">
                <a:solidFill>
                  <a:srgbClr val="CC0000"/>
                </a:solidFill>
                <a:latin typeface="Calibri"/>
                <a:ea typeface="Calibri"/>
                <a:cs typeface="Calibri"/>
                <a:sym typeface="Calibri"/>
              </a:rPr>
              <a:t>Q</a:t>
            </a:r>
            <a:r>
              <a:rPr b="0" i="0" lang="en-US" sz="2800" u="none" cap="none" strike="noStrike">
                <a:solidFill>
                  <a:srgbClr val="CC0000"/>
                </a:solidFill>
                <a:latin typeface="Calibri"/>
                <a:ea typeface="Calibri"/>
                <a:cs typeface="Calibri"/>
                <a:sym typeface="Calibri"/>
              </a:rPr>
              <a:t>:</a:t>
            </a:r>
            <a:r>
              <a:rPr b="0" i="0" lang="en-US" sz="2800" u="none" cap="none" strike="noStrike">
                <a:solidFill>
                  <a:srgbClr val="000000"/>
                </a:solidFill>
                <a:latin typeface="Calibri"/>
                <a:ea typeface="Calibri"/>
                <a:cs typeface="Calibri"/>
                <a:sym typeface="Calibri"/>
              </a:rPr>
              <a:t> how receiver handles out-of-order segments</a:t>
            </a:r>
            <a:endParaRPr/>
          </a:p>
          <a:p>
            <a:pPr indent="-285750" lvl="1" marL="635000" marR="0" rtl="0" algn="l">
              <a:lnSpc>
                <a:spcPct val="85000"/>
              </a:lnSpc>
              <a:spcBef>
                <a:spcPts val="560"/>
              </a:spcBef>
              <a:spcAft>
                <a:spcPts val="0"/>
              </a:spcAft>
              <a:buClr>
                <a:srgbClr val="000099"/>
              </a:buClr>
              <a:buSzPts val="2800"/>
              <a:buFont typeface="Arial"/>
              <a:buChar char="•"/>
            </a:pPr>
            <a:r>
              <a:rPr b="0" i="1" lang="en-US" sz="2800" u="sng"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TCP spec doesn’t say, - up to implementor</a:t>
            </a:r>
            <a:endParaRPr b="0" i="0" sz="2800" u="none" cap="none" strike="noStrike">
              <a:solidFill>
                <a:srgbClr val="000000"/>
              </a:solidFill>
              <a:latin typeface="Calibri"/>
              <a:ea typeface="Calibri"/>
              <a:cs typeface="Calibri"/>
              <a:sym typeface="Calibri"/>
            </a:endParaRPr>
          </a:p>
        </p:txBody>
      </p:sp>
      <p:sp>
        <p:nvSpPr>
          <p:cNvPr id="5052" name="Google Shape;5052;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9"/>
                                        </p:tgtEl>
                                        <p:attrNameLst>
                                          <p:attrName>style.visibility</p:attrName>
                                        </p:attrNameLst>
                                      </p:cBhvr>
                                      <p:to>
                                        <p:strVal val="visible"/>
                                      </p:to>
                                    </p:set>
                                    <p:animEffect filter="fade" transition="in">
                                      <p:cBhvr>
                                        <p:cTn dur="500"/>
                                        <p:tgtEl>
                                          <p:spTgt spid="50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8"/>
                                        </p:tgtEl>
                                        <p:attrNameLst>
                                          <p:attrName>style.visibility</p:attrName>
                                        </p:attrNameLst>
                                      </p:cBhvr>
                                      <p:to>
                                        <p:strVal val="visible"/>
                                      </p:to>
                                    </p:set>
                                    <p:animEffect filter="fade" transition="in">
                                      <p:cBhvr>
                                        <p:cTn dur="500"/>
                                        <p:tgtEl>
                                          <p:spTgt spid="4948"/>
                                        </p:tgtEl>
                                      </p:cBhvr>
                                    </p:animEffect>
                                  </p:childTnLst>
                                </p:cTn>
                              </p:par>
                              <p:par>
                                <p:cTn fill="hold" nodeType="withEffect" presetClass="entr" presetID="10" presetSubtype="0">
                                  <p:stCondLst>
                                    <p:cond delay="0"/>
                                  </p:stCondLst>
                                  <p:childTnLst>
                                    <p:set>
                                      <p:cBhvr>
                                        <p:cTn dur="1" fill="hold">
                                          <p:stCondLst>
                                            <p:cond delay="0"/>
                                          </p:stCondLst>
                                        </p:cTn>
                                        <p:tgtEl>
                                          <p:spTgt spid="4969"/>
                                        </p:tgtEl>
                                        <p:attrNameLst>
                                          <p:attrName>style.visibility</p:attrName>
                                        </p:attrNameLst>
                                      </p:cBhvr>
                                      <p:to>
                                        <p:strVal val="visible"/>
                                      </p:to>
                                    </p:set>
                                    <p:animEffect filter="fade" transition="in">
                                      <p:cBhvr>
                                        <p:cTn dur="500"/>
                                        <p:tgtEl>
                                          <p:spTgt spid="4969"/>
                                        </p:tgtEl>
                                      </p:cBhvr>
                                    </p:animEffect>
                                  </p:childTnLst>
                                </p:cTn>
                              </p:par>
                              <p:par>
                                <p:cTn fill="hold" nodeType="withEffect" presetClass="entr" presetID="10" presetSubtype="0">
                                  <p:stCondLst>
                                    <p:cond delay="0"/>
                                  </p:stCondLst>
                                  <p:childTnLst>
                                    <p:set>
                                      <p:cBhvr>
                                        <p:cTn dur="1" fill="hold">
                                          <p:stCondLst>
                                            <p:cond delay="0"/>
                                          </p:stCondLst>
                                        </p:cTn>
                                        <p:tgtEl>
                                          <p:spTgt spid="5050"/>
                                        </p:tgtEl>
                                        <p:attrNameLst>
                                          <p:attrName>style.visibility</p:attrName>
                                        </p:attrNameLst>
                                      </p:cBhvr>
                                      <p:to>
                                        <p:strVal val="visible"/>
                                      </p:to>
                                    </p:set>
                                    <p:animEffect filter="fade" transition="in">
                                      <p:cBhvr>
                                        <p:cTn dur="500"/>
                                        <p:tgtEl>
                                          <p:spTgt spid="50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1"/>
                                        </p:tgtEl>
                                        <p:attrNameLst>
                                          <p:attrName>style.visibility</p:attrName>
                                        </p:attrNameLst>
                                      </p:cBhvr>
                                      <p:to>
                                        <p:strVal val="visible"/>
                                      </p:to>
                                    </p:set>
                                    <p:animEffect filter="fade" transition="in">
                                      <p:cBhvr>
                                        <p:cTn dur="500"/>
                                        <p:tgtEl>
                                          <p:spTgt spid="50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7" name="Shape 5057"/>
        <p:cNvGrpSpPr/>
        <p:nvPr/>
      </p:nvGrpSpPr>
      <p:grpSpPr>
        <a:xfrm>
          <a:off x="0" y="0"/>
          <a:ext cx="0" cy="0"/>
          <a:chOff x="0" y="0"/>
          <a:chExt cx="0" cy="0"/>
        </a:xfrm>
      </p:grpSpPr>
      <p:sp>
        <p:nvSpPr>
          <p:cNvPr id="5058" name="Google Shape;5058;p8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5059" name="Google Shape;5059;p85"/>
          <p:cNvSpPr txBox="1"/>
          <p:nvPr/>
        </p:nvSpPr>
        <p:spPr>
          <a:xfrm>
            <a:off x="1661117" y="4011734"/>
            <a:ext cx="2519185" cy="7571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 echoed ‘C’</a:t>
            </a:r>
            <a:endParaRPr b="0" i="0" sz="1200" u="none" cap="none" strike="noStrike">
              <a:solidFill>
                <a:srgbClr val="000000"/>
              </a:solidFill>
              <a:latin typeface="Calibri"/>
              <a:ea typeface="Calibri"/>
              <a:cs typeface="Calibri"/>
              <a:sym typeface="Calibri"/>
            </a:endParaRPr>
          </a:p>
        </p:txBody>
      </p:sp>
      <p:sp>
        <p:nvSpPr>
          <p:cNvPr id="5060" name="Google Shape;5060;p85"/>
          <p:cNvSpPr txBox="1"/>
          <p:nvPr/>
        </p:nvSpPr>
        <p:spPr>
          <a:xfrm>
            <a:off x="7229477" y="3001865"/>
            <a:ext cx="318721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of‘C’, echoes back ‘C’</a:t>
            </a:r>
            <a:endParaRPr b="0" i="0" sz="2400" u="none" cap="none" strike="noStrike">
              <a:solidFill>
                <a:srgbClr val="000000"/>
              </a:solidFill>
              <a:latin typeface="Calibri"/>
              <a:ea typeface="Calibri"/>
              <a:cs typeface="Calibri"/>
              <a:sym typeface="Calibri"/>
            </a:endParaRPr>
          </a:p>
        </p:txBody>
      </p:sp>
      <p:sp>
        <p:nvSpPr>
          <p:cNvPr id="5061" name="Google Shape;5061;p85"/>
          <p:cNvSpPr txBox="1"/>
          <p:nvPr/>
        </p:nvSpPr>
        <p:spPr>
          <a:xfrm>
            <a:off x="3961011" y="5644479"/>
            <a:ext cx="340189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simple telnet scenario</a:t>
            </a:r>
            <a:endParaRPr b="0" i="0" sz="1200" u="none" cap="none" strike="noStrike">
              <a:solidFill>
                <a:srgbClr val="000099"/>
              </a:solidFill>
              <a:latin typeface="Calibri"/>
              <a:ea typeface="Calibri"/>
              <a:cs typeface="Calibri"/>
              <a:sym typeface="Calibri"/>
            </a:endParaRPr>
          </a:p>
        </p:txBody>
      </p:sp>
      <p:sp>
        <p:nvSpPr>
          <p:cNvPr id="5062" name="Google Shape;5062;p85"/>
          <p:cNvSpPr txBox="1"/>
          <p:nvPr/>
        </p:nvSpPr>
        <p:spPr>
          <a:xfrm>
            <a:off x="7129672" y="1492971"/>
            <a:ext cx="9973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B</a:t>
            </a:r>
            <a:endParaRPr/>
          </a:p>
        </p:txBody>
      </p:sp>
      <p:sp>
        <p:nvSpPr>
          <p:cNvPr id="5063" name="Google Shape;5063;p85"/>
          <p:cNvSpPr txBox="1"/>
          <p:nvPr/>
        </p:nvSpPr>
        <p:spPr>
          <a:xfrm>
            <a:off x="3204390" y="1459336"/>
            <a:ext cx="100861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a:t>
            </a:r>
            <a:endParaRPr/>
          </a:p>
        </p:txBody>
      </p:sp>
      <p:grpSp>
        <p:nvGrpSpPr>
          <p:cNvPr id="5064" name="Google Shape;5064;p85"/>
          <p:cNvGrpSpPr/>
          <p:nvPr/>
        </p:nvGrpSpPr>
        <p:grpSpPr>
          <a:xfrm>
            <a:off x="1499000" y="2541021"/>
            <a:ext cx="5581275" cy="780392"/>
            <a:chOff x="1499000" y="2541021"/>
            <a:chExt cx="5581275" cy="780392"/>
          </a:xfrm>
        </p:grpSpPr>
        <p:cxnSp>
          <p:nvCxnSpPr>
            <p:cNvPr id="5065" name="Google Shape;5065;p85"/>
            <p:cNvCxnSpPr/>
            <p:nvPr/>
          </p:nvCxnSpPr>
          <p:spPr>
            <a:xfrm>
              <a:off x="4354237" y="2749913"/>
              <a:ext cx="2586037" cy="571500"/>
            </a:xfrm>
            <a:prstGeom prst="straightConnector1">
              <a:avLst/>
            </a:prstGeom>
            <a:noFill/>
            <a:ln cap="flat" cmpd="sng" w="28575">
              <a:solidFill>
                <a:srgbClr val="3333CC"/>
              </a:solidFill>
              <a:prstDash val="solid"/>
              <a:round/>
              <a:headEnd len="med" w="med" type="none"/>
              <a:tailEnd len="med" w="med" type="triangle"/>
            </a:ln>
          </p:spPr>
        </p:cxnSp>
        <p:sp>
          <p:nvSpPr>
            <p:cNvPr id="5066" name="Google Shape;5066;p85"/>
            <p:cNvSpPr txBox="1"/>
            <p:nvPr/>
          </p:nvSpPr>
          <p:spPr>
            <a:xfrm>
              <a:off x="1499000" y="2541021"/>
              <a:ext cx="2725007"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User types‘C’</a:t>
              </a:r>
              <a:endParaRPr b="0" i="0" sz="1200" u="none" cap="none" strike="noStrike">
                <a:solidFill>
                  <a:srgbClr val="000000"/>
                </a:solidFill>
                <a:latin typeface="Calibri"/>
                <a:ea typeface="Calibri"/>
                <a:cs typeface="Calibri"/>
                <a:sym typeface="Calibri"/>
              </a:endParaRPr>
            </a:p>
          </p:txBody>
        </p:sp>
        <p:sp>
          <p:nvSpPr>
            <p:cNvPr id="5067" name="Google Shape;5067;p85"/>
            <p:cNvSpPr/>
            <p:nvPr/>
          </p:nvSpPr>
          <p:spPr>
            <a:xfrm>
              <a:off x="5167037" y="2841988"/>
              <a:ext cx="814387" cy="3794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068" name="Google Shape;5068;p85"/>
            <p:cNvSpPr txBox="1"/>
            <p:nvPr/>
          </p:nvSpPr>
          <p:spPr>
            <a:xfrm>
              <a:off x="4260272" y="2854620"/>
              <a:ext cx="282000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Seq=42, ACK=79, data = ‘C’</a:t>
              </a:r>
              <a:endParaRPr b="0" i="0" sz="1800" u="none" cap="none" strike="noStrike">
                <a:solidFill>
                  <a:srgbClr val="000000"/>
                </a:solidFill>
                <a:latin typeface="Calibri"/>
                <a:ea typeface="Calibri"/>
                <a:cs typeface="Calibri"/>
                <a:sym typeface="Calibri"/>
              </a:endParaRPr>
            </a:p>
          </p:txBody>
        </p:sp>
      </p:grpSp>
      <p:grpSp>
        <p:nvGrpSpPr>
          <p:cNvPr id="5069" name="Google Shape;5069;p85"/>
          <p:cNvGrpSpPr/>
          <p:nvPr/>
        </p:nvGrpSpPr>
        <p:grpSpPr>
          <a:xfrm>
            <a:off x="4264368" y="3523026"/>
            <a:ext cx="2813399" cy="800100"/>
            <a:chOff x="4264368" y="3523026"/>
            <a:chExt cx="2813399" cy="800100"/>
          </a:xfrm>
        </p:grpSpPr>
        <p:cxnSp>
          <p:nvCxnSpPr>
            <p:cNvPr id="5070" name="Google Shape;5070;p85"/>
            <p:cNvCxnSpPr/>
            <p:nvPr/>
          </p:nvCxnSpPr>
          <p:spPr>
            <a:xfrm flipH="1">
              <a:off x="4344712" y="3523026"/>
              <a:ext cx="2554287" cy="800100"/>
            </a:xfrm>
            <a:prstGeom prst="straightConnector1">
              <a:avLst/>
            </a:prstGeom>
            <a:noFill/>
            <a:ln cap="flat" cmpd="sng" w="28575">
              <a:solidFill>
                <a:srgbClr val="3333CC"/>
              </a:solidFill>
              <a:prstDash val="solid"/>
              <a:round/>
              <a:headEnd len="med" w="med" type="none"/>
              <a:tailEnd len="med" w="med" type="triangle"/>
            </a:ln>
          </p:spPr>
        </p:cxnSp>
        <p:sp>
          <p:nvSpPr>
            <p:cNvPr id="5071" name="Google Shape;5071;p85"/>
            <p:cNvSpPr/>
            <p:nvPr/>
          </p:nvSpPr>
          <p:spPr>
            <a:xfrm>
              <a:off x="5201962" y="3800838"/>
              <a:ext cx="823912" cy="2460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072" name="Google Shape;5072;p85"/>
            <p:cNvSpPr txBox="1"/>
            <p:nvPr/>
          </p:nvSpPr>
          <p:spPr>
            <a:xfrm>
              <a:off x="4264368" y="3736718"/>
              <a:ext cx="281339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Seq=79, ACK=43, data = ‘C’</a:t>
              </a:r>
              <a:endParaRPr b="0" i="0" sz="1100" u="none" cap="none" strike="noStrike">
                <a:solidFill>
                  <a:srgbClr val="000000"/>
                </a:solidFill>
                <a:latin typeface="Calibri"/>
                <a:ea typeface="Calibri"/>
                <a:cs typeface="Calibri"/>
                <a:sym typeface="Calibri"/>
              </a:endParaRPr>
            </a:p>
          </p:txBody>
        </p:sp>
      </p:grpSp>
      <p:grpSp>
        <p:nvGrpSpPr>
          <p:cNvPr id="5073" name="Google Shape;5073;p85"/>
          <p:cNvGrpSpPr/>
          <p:nvPr/>
        </p:nvGrpSpPr>
        <p:grpSpPr>
          <a:xfrm>
            <a:off x="4339949" y="4518388"/>
            <a:ext cx="2590800" cy="506413"/>
            <a:chOff x="4339949" y="4518388"/>
            <a:chExt cx="2590800" cy="506413"/>
          </a:xfrm>
        </p:grpSpPr>
        <p:cxnSp>
          <p:nvCxnSpPr>
            <p:cNvPr id="5074" name="Google Shape;5074;p85"/>
            <p:cNvCxnSpPr/>
            <p:nvPr/>
          </p:nvCxnSpPr>
          <p:spPr>
            <a:xfrm>
              <a:off x="4339949" y="4518388"/>
              <a:ext cx="2590800" cy="506413"/>
            </a:xfrm>
            <a:prstGeom prst="straightConnector1">
              <a:avLst/>
            </a:prstGeom>
            <a:noFill/>
            <a:ln cap="flat" cmpd="sng" w="28575">
              <a:solidFill>
                <a:srgbClr val="3333CC"/>
              </a:solidFill>
              <a:prstDash val="solid"/>
              <a:round/>
              <a:headEnd len="med" w="med" type="none"/>
              <a:tailEnd len="med" w="med" type="triangle"/>
            </a:ln>
          </p:spPr>
        </p:cxnSp>
        <p:sp>
          <p:nvSpPr>
            <p:cNvPr id="5075" name="Google Shape;5075;p85"/>
            <p:cNvSpPr/>
            <p:nvPr/>
          </p:nvSpPr>
          <p:spPr>
            <a:xfrm>
              <a:off x="5268637" y="4648563"/>
              <a:ext cx="958850" cy="3571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076" name="Google Shape;5076;p85"/>
            <p:cNvSpPr txBox="1"/>
            <p:nvPr/>
          </p:nvSpPr>
          <p:spPr>
            <a:xfrm>
              <a:off x="4934710" y="4609843"/>
              <a:ext cx="1712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Seq=43, ACK=80</a:t>
              </a:r>
              <a:endParaRPr b="0" i="0" sz="1100" u="none" cap="none" strike="noStrike">
                <a:solidFill>
                  <a:srgbClr val="000000"/>
                </a:solidFill>
                <a:latin typeface="Calibri"/>
                <a:ea typeface="Calibri"/>
                <a:cs typeface="Calibri"/>
                <a:sym typeface="Calibri"/>
              </a:endParaRPr>
            </a:p>
          </p:txBody>
        </p:sp>
      </p:grpSp>
      <p:cxnSp>
        <p:nvCxnSpPr>
          <p:cNvPr id="5077" name="Google Shape;5077;p85"/>
          <p:cNvCxnSpPr/>
          <p:nvPr/>
        </p:nvCxnSpPr>
        <p:spPr>
          <a:xfrm>
            <a:off x="4332012" y="2508613"/>
            <a:ext cx="0" cy="2587625"/>
          </a:xfrm>
          <a:prstGeom prst="straightConnector1">
            <a:avLst/>
          </a:prstGeom>
          <a:noFill/>
          <a:ln cap="flat" cmpd="sng" w="9525">
            <a:solidFill>
              <a:srgbClr val="808080"/>
            </a:solidFill>
            <a:prstDash val="solid"/>
            <a:round/>
            <a:headEnd len="med" w="med" type="none"/>
            <a:tailEnd len="med" w="med" type="none"/>
          </a:ln>
        </p:spPr>
      </p:cxnSp>
      <p:cxnSp>
        <p:nvCxnSpPr>
          <p:cNvPr id="5078" name="Google Shape;5078;p85"/>
          <p:cNvCxnSpPr/>
          <p:nvPr/>
        </p:nvCxnSpPr>
        <p:spPr>
          <a:xfrm>
            <a:off x="6994249" y="2561001"/>
            <a:ext cx="0" cy="2587625"/>
          </a:xfrm>
          <a:prstGeom prst="straightConnector1">
            <a:avLst/>
          </a:prstGeom>
          <a:noFill/>
          <a:ln cap="flat" cmpd="sng" w="9525">
            <a:solidFill>
              <a:srgbClr val="808080"/>
            </a:solidFill>
            <a:prstDash val="solid"/>
            <a:round/>
            <a:headEnd len="med" w="med" type="none"/>
            <a:tailEnd len="med" w="med" type="none"/>
          </a:ln>
        </p:spPr>
      </p:cxnSp>
      <p:grpSp>
        <p:nvGrpSpPr>
          <p:cNvPr id="5079" name="Google Shape;5079;p85"/>
          <p:cNvGrpSpPr/>
          <p:nvPr/>
        </p:nvGrpSpPr>
        <p:grpSpPr>
          <a:xfrm>
            <a:off x="3824012" y="1687876"/>
            <a:ext cx="755650" cy="782637"/>
            <a:chOff x="-44" y="1473"/>
            <a:chExt cx="981" cy="1105"/>
          </a:xfrm>
        </p:grpSpPr>
        <p:pic>
          <p:nvPicPr>
            <p:cNvPr descr="desktop_computer_stylized_medium" id="5080" name="Google Shape;5080;p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81" name="Google Shape;5081;p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082" name="Google Shape;5082;p85"/>
          <p:cNvGrpSpPr/>
          <p:nvPr/>
        </p:nvGrpSpPr>
        <p:grpSpPr>
          <a:xfrm flipH="1">
            <a:off x="6686274" y="1727563"/>
            <a:ext cx="788988" cy="862013"/>
            <a:chOff x="-44" y="1473"/>
            <a:chExt cx="981" cy="1105"/>
          </a:xfrm>
        </p:grpSpPr>
        <p:pic>
          <p:nvPicPr>
            <p:cNvPr descr="desktop_computer_stylized_medium" id="5083" name="Google Shape;5083;p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84" name="Google Shape;5084;p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085" name="Google Shape;5085;p85"/>
          <p:cNvGrpSpPr/>
          <p:nvPr/>
        </p:nvGrpSpPr>
        <p:grpSpPr>
          <a:xfrm>
            <a:off x="4692316" y="2815389"/>
            <a:ext cx="1388485" cy="1371600"/>
            <a:chOff x="4692316" y="2815389"/>
            <a:chExt cx="1388485" cy="1371600"/>
          </a:xfrm>
        </p:grpSpPr>
        <p:sp>
          <p:nvSpPr>
            <p:cNvPr id="5086" name="Google Shape;5086;p85"/>
            <p:cNvSpPr/>
            <p:nvPr/>
          </p:nvSpPr>
          <p:spPr>
            <a:xfrm>
              <a:off x="5566610" y="3721768"/>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87" name="Google Shape;5087;p85"/>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88" name="Google Shape;5088;p85"/>
            <p:cNvCxnSpPr/>
            <p:nvPr/>
          </p:nvCxnSpPr>
          <p:spPr>
            <a:xfrm rot="10800000">
              <a:off x="5117431" y="3224463"/>
              <a:ext cx="513348" cy="513348"/>
            </a:xfrm>
            <a:prstGeom prst="straightConnector1">
              <a:avLst/>
            </a:prstGeom>
            <a:noFill/>
            <a:ln cap="flat" cmpd="sng" w="22225">
              <a:solidFill>
                <a:srgbClr val="C00000"/>
              </a:solidFill>
              <a:prstDash val="solid"/>
              <a:miter lim="800000"/>
              <a:headEnd len="sm" w="sm" type="none"/>
              <a:tailEnd len="med" w="med" type="triangle"/>
            </a:ln>
          </p:spPr>
        </p:cxnSp>
      </p:grpSp>
      <p:grpSp>
        <p:nvGrpSpPr>
          <p:cNvPr id="5089" name="Google Shape;5089;p85"/>
          <p:cNvGrpSpPr/>
          <p:nvPr/>
        </p:nvGrpSpPr>
        <p:grpSpPr>
          <a:xfrm>
            <a:off x="4684295" y="3737810"/>
            <a:ext cx="1982043" cy="1307432"/>
            <a:chOff x="4692316" y="2815389"/>
            <a:chExt cx="1982043" cy="1307432"/>
          </a:xfrm>
        </p:grpSpPr>
        <p:sp>
          <p:nvSpPr>
            <p:cNvPr id="5090" name="Google Shape;5090;p85"/>
            <p:cNvSpPr/>
            <p:nvPr/>
          </p:nvSpPr>
          <p:spPr>
            <a:xfrm>
              <a:off x="6160168" y="3657600"/>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91" name="Google Shape;5091;p85"/>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92" name="Google Shape;5092;p85"/>
            <p:cNvCxnSpPr/>
            <p:nvPr/>
          </p:nvCxnSpPr>
          <p:spPr>
            <a:xfrm rot="10800000">
              <a:off x="5165557" y="3224463"/>
              <a:ext cx="970548" cy="521369"/>
            </a:xfrm>
            <a:prstGeom prst="straightConnector1">
              <a:avLst/>
            </a:prstGeom>
            <a:noFill/>
            <a:ln cap="flat" cmpd="sng" w="22225">
              <a:solidFill>
                <a:srgbClr val="C00000"/>
              </a:solidFill>
              <a:prstDash val="solid"/>
              <a:miter lim="800000"/>
              <a:headEnd len="sm" w="sm" type="none"/>
              <a:tailEnd len="med" w="med" type="triangle"/>
            </a:ln>
          </p:spPr>
        </p:cxnSp>
      </p:grpSp>
      <p:sp>
        <p:nvSpPr>
          <p:cNvPr id="5093" name="Google Shape;5093;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4"/>
                                        </p:tgtEl>
                                        <p:attrNameLst>
                                          <p:attrName>style.visibility</p:attrName>
                                        </p:attrNameLst>
                                      </p:cBhvr>
                                      <p:to>
                                        <p:strVal val="visible"/>
                                      </p:to>
                                    </p:set>
                                    <p:animEffect filter="fade" transition="in">
                                      <p:cBhvr>
                                        <p:cTn dur="500"/>
                                        <p:tgtEl>
                                          <p:spTgt spid="50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060"/>
                                        </p:tgtEl>
                                        <p:attrNameLst>
                                          <p:attrName>style.visibility</p:attrName>
                                        </p:attrNameLst>
                                      </p:cBhvr>
                                      <p:to>
                                        <p:strVal val="visible"/>
                                      </p:to>
                                    </p:set>
                                    <p:animEffect filter="fade" transition="in">
                                      <p:cBhvr>
                                        <p:cTn dur="500"/>
                                        <p:tgtEl>
                                          <p:spTgt spid="50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69"/>
                                        </p:tgtEl>
                                        <p:attrNameLst>
                                          <p:attrName>style.visibility</p:attrName>
                                        </p:attrNameLst>
                                      </p:cBhvr>
                                      <p:to>
                                        <p:strVal val="visible"/>
                                      </p:to>
                                    </p:set>
                                    <p:animEffect filter="fade" transition="in">
                                      <p:cBhvr>
                                        <p:cTn dur="500"/>
                                        <p:tgtEl>
                                          <p:spTgt spid="506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059"/>
                                        </p:tgtEl>
                                        <p:attrNameLst>
                                          <p:attrName>style.visibility</p:attrName>
                                        </p:attrNameLst>
                                      </p:cBhvr>
                                      <p:to>
                                        <p:strVal val="visible"/>
                                      </p:to>
                                    </p:set>
                                    <p:animEffect filter="fade" transition="in">
                                      <p:cBhvr>
                                        <p:cTn dur="500"/>
                                        <p:tgtEl>
                                          <p:spTgt spid="505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073"/>
                                        </p:tgtEl>
                                        <p:attrNameLst>
                                          <p:attrName>style.visibility</p:attrName>
                                        </p:attrNameLst>
                                      </p:cBhvr>
                                      <p:to>
                                        <p:strVal val="visible"/>
                                      </p:to>
                                    </p:set>
                                    <p:animEffect filter="fade" transition="in">
                                      <p:cBhvr>
                                        <p:cTn dur="500"/>
                                        <p:tgtEl>
                                          <p:spTgt spid="5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5"/>
                                        </p:tgtEl>
                                        <p:attrNameLst>
                                          <p:attrName>style.visibility</p:attrName>
                                        </p:attrNameLst>
                                      </p:cBhvr>
                                      <p:to>
                                        <p:strVal val="visible"/>
                                      </p:to>
                                    </p:set>
                                    <p:animEffect filter="fade" transition="in">
                                      <p:cBhvr>
                                        <p:cTn dur="500"/>
                                        <p:tgtEl>
                                          <p:spTgt spid="50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085"/>
                                        </p:tgtEl>
                                      </p:cBhvr>
                                    </p:animEffect>
                                    <p:set>
                                      <p:cBhvr>
                                        <p:cTn dur="1" fill="hold">
                                          <p:stCondLst>
                                            <p:cond delay="500"/>
                                          </p:stCondLst>
                                        </p:cTn>
                                        <p:tgtEl>
                                          <p:spTgt spid="508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089"/>
                                        </p:tgtEl>
                                        <p:attrNameLst>
                                          <p:attrName>style.visibility</p:attrName>
                                        </p:attrNameLst>
                                      </p:cBhvr>
                                      <p:to>
                                        <p:strVal val="visible"/>
                                      </p:to>
                                    </p:set>
                                    <p:animEffect filter="fade" transition="in">
                                      <p:cBhvr>
                                        <p:cTn dur="500"/>
                                        <p:tgtEl>
                                          <p:spTgt spid="50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8" name="Shape 5098"/>
        <p:cNvGrpSpPr/>
        <p:nvPr/>
      </p:nvGrpSpPr>
      <p:grpSpPr>
        <a:xfrm>
          <a:off x="0" y="0"/>
          <a:ext cx="0" cy="0"/>
          <a:chOff x="0" y="0"/>
          <a:chExt cx="0" cy="0"/>
        </a:xfrm>
      </p:grpSpPr>
      <p:sp>
        <p:nvSpPr>
          <p:cNvPr id="5099" name="Google Shape;5099;p8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100" name="Google Shape;5100;p86"/>
          <p:cNvSpPr txBox="1"/>
          <p:nvPr/>
        </p:nvSpPr>
        <p:spPr>
          <a:xfrm>
            <a:off x="673789" y="1393136"/>
            <a:ext cx="521344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1"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set TCP timeout value?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longer than RTT, but RTT varies!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short:</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premature timeout, unnecessary retransmissions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long:</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slow reaction to segment loss</a:t>
            </a:r>
            <a:endParaRPr/>
          </a:p>
        </p:txBody>
      </p:sp>
      <p:sp>
        <p:nvSpPr>
          <p:cNvPr id="5101" name="Google Shape;5101;p86"/>
          <p:cNvSpPr txBox="1"/>
          <p:nvPr/>
        </p:nvSpPr>
        <p:spPr>
          <a:xfrm>
            <a:off x="6258838" y="1393136"/>
            <a:ext cx="5565913"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0" lang="en-US" sz="3200" u="sng" cap="none" strike="noStrike">
                <a:solidFill>
                  <a:srgbClr val="C00000"/>
                </a:solidFill>
                <a:latin typeface="Calibri"/>
                <a:ea typeface="Calibri"/>
                <a:cs typeface="Calibri"/>
                <a:sym typeface="Calibri"/>
              </a:rPr>
              <a:t>:</a:t>
            </a:r>
            <a:r>
              <a:rPr b="0" i="0"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estimate RTT?</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99"/>
                </a:solidFill>
                <a:latin typeface="Courier New"/>
                <a:ea typeface="Courier New"/>
                <a:cs typeface="Courier New"/>
                <a:sym typeface="Courier New"/>
              </a:rPr>
              <a:t>SampleRTT:</a:t>
            </a:r>
            <a:r>
              <a:rPr b="0" i="0" lang="en-US" sz="2800" u="none" cap="none" strike="noStrike">
                <a:solidFill>
                  <a:srgbClr val="000000"/>
                </a:solidFill>
                <a:latin typeface="Calibri"/>
                <a:ea typeface="Calibri"/>
                <a:cs typeface="Calibri"/>
                <a:sym typeface="Calibri"/>
              </a:rPr>
              <a:t>measured time from segment transmission until ACK receipt</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retransmissions</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A3"/>
                </a:solidFill>
                <a:latin typeface="Courier New"/>
                <a:ea typeface="Courier New"/>
                <a:cs typeface="Courier New"/>
                <a:sym typeface="Courier New"/>
              </a:rPr>
              <a:t>SampleRTT</a:t>
            </a:r>
            <a:r>
              <a:rPr b="0" i="0" lang="en-US" sz="2800" u="none" cap="none" strike="noStrike">
                <a:solidFill>
                  <a:srgbClr val="0000A8"/>
                </a:solidFill>
                <a:latin typeface="Courier New"/>
                <a:ea typeface="Courier New"/>
                <a:cs typeface="Courier New"/>
                <a:sym typeface="Courier New"/>
              </a:rPr>
              <a:t> </a:t>
            </a:r>
            <a:r>
              <a:rPr b="0" i="0" lang="en-US" sz="2800" u="none" cap="none" strike="noStrike">
                <a:solidFill>
                  <a:srgbClr val="000000"/>
                </a:solidFill>
                <a:latin typeface="Calibri"/>
                <a:ea typeface="Calibri"/>
                <a:cs typeface="Calibri"/>
                <a:sym typeface="Calibri"/>
              </a:rPr>
              <a:t>will vary, want estimated RTT “smoother</a:t>
            </a:r>
            <a:r>
              <a:rPr b="0" i="0" lang="en-US" sz="24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average several </a:t>
            </a:r>
            <a:r>
              <a:rPr b="0" i="1" lang="en-US" sz="2400" u="none" cap="none" strike="noStrike">
                <a:solidFill>
                  <a:srgbClr val="000000"/>
                </a:solidFill>
                <a:latin typeface="Calibri"/>
                <a:ea typeface="Calibri"/>
                <a:cs typeface="Calibri"/>
                <a:sym typeface="Calibri"/>
              </a:rPr>
              <a:t>recent</a:t>
            </a:r>
            <a:r>
              <a:rPr b="0" i="0" lang="en-US" sz="2400" u="none" cap="none" strike="noStrike">
                <a:solidFill>
                  <a:srgbClr val="000000"/>
                </a:solidFill>
                <a:latin typeface="Calibri"/>
                <a:ea typeface="Calibri"/>
                <a:cs typeface="Calibri"/>
                <a:sym typeface="Calibri"/>
              </a:rPr>
              <a:t> measurements, not just current </a:t>
            </a:r>
            <a:r>
              <a:rPr b="0" i="0" lang="en-US" sz="2400" u="none" cap="none" strike="noStrike">
                <a:solidFill>
                  <a:srgbClr val="0000A3"/>
                </a:solidFill>
                <a:latin typeface="Courier New"/>
                <a:ea typeface="Courier New"/>
                <a:cs typeface="Courier New"/>
                <a:sym typeface="Courier New"/>
              </a:rPr>
              <a:t>SampleRTT</a:t>
            </a:r>
            <a:endParaRPr b="0" i="0" sz="2400" u="none" cap="none" strike="noStrike">
              <a:solidFill>
                <a:srgbClr val="0000A3"/>
              </a:solidFill>
              <a:latin typeface="Courier New"/>
              <a:ea typeface="Courier New"/>
              <a:cs typeface="Courier New"/>
              <a:sym typeface="Courier New"/>
            </a:endParaRPr>
          </a:p>
        </p:txBody>
      </p:sp>
      <p:sp>
        <p:nvSpPr>
          <p:cNvPr id="5102" name="Google Shape;5102;p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1"/>
                                        </p:tgtEl>
                                        <p:attrNameLst>
                                          <p:attrName>style.visibility</p:attrName>
                                        </p:attrNameLst>
                                      </p:cBhvr>
                                      <p:to>
                                        <p:strVal val="visible"/>
                                      </p:to>
                                    </p:set>
                                    <p:animEffect filter="fade" transition="in">
                                      <p:cBhvr>
                                        <p:cTn dur="500"/>
                                        <p:tgtEl>
                                          <p:spTgt spid="5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7" name="Shape 5107"/>
        <p:cNvGrpSpPr/>
        <p:nvPr/>
      </p:nvGrpSpPr>
      <p:grpSpPr>
        <a:xfrm>
          <a:off x="0" y="0"/>
          <a:ext cx="0" cy="0"/>
          <a:chOff x="0" y="0"/>
          <a:chExt cx="0" cy="0"/>
        </a:xfrm>
      </p:grpSpPr>
      <p:sp>
        <p:nvSpPr>
          <p:cNvPr id="5108" name="Google Shape;5108;p87"/>
          <p:cNvSpPr/>
          <p:nvPr/>
        </p:nvSpPr>
        <p:spPr>
          <a:xfrm>
            <a:off x="876300" y="1261543"/>
            <a:ext cx="8974869"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09" name="Google Shape;5109;p8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110" name="Google Shape;5110;p87"/>
          <p:cNvSpPr txBox="1"/>
          <p:nvPr/>
        </p:nvSpPr>
        <p:spPr>
          <a:xfrm>
            <a:off x="876300" y="1246817"/>
            <a:ext cx="905247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EstimatedRTT = (1- α)*EstimatedRTT + α*SampleRTT</a:t>
            </a:r>
            <a:endParaRPr b="1" i="0" sz="2400" u="none" cap="none" strike="noStrike">
              <a:solidFill>
                <a:srgbClr val="000000"/>
              </a:solidFill>
              <a:latin typeface="Courier New"/>
              <a:ea typeface="Courier New"/>
              <a:cs typeface="Courier New"/>
              <a:sym typeface="Courier New"/>
            </a:endParaRPr>
          </a:p>
        </p:txBody>
      </p:sp>
      <p:sp>
        <p:nvSpPr>
          <p:cNvPr id="5111" name="Google Shape;5111;p87"/>
          <p:cNvSpPr/>
          <p:nvPr/>
        </p:nvSpPr>
        <p:spPr>
          <a:xfrm>
            <a:off x="951602" y="1857328"/>
            <a:ext cx="7067550" cy="1424491"/>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400"/>
              <a:buFont typeface="Noto Sans Symbols"/>
              <a:buChar char="▪"/>
            </a:pPr>
            <a:r>
              <a:rPr b="0" i="0" lang="en-US" sz="2400" u="sng" cap="none" strike="noStrike">
                <a:solidFill>
                  <a:srgbClr val="000000"/>
                </a:solidFill>
                <a:latin typeface="Calibri"/>
                <a:ea typeface="Calibri"/>
                <a:cs typeface="Calibri"/>
                <a:sym typeface="Calibri"/>
              </a:rPr>
              <a:t>e</a:t>
            </a:r>
            <a:r>
              <a:rPr b="0" i="0" lang="en-US" sz="2400" u="none" cap="none" strike="noStrike">
                <a:solidFill>
                  <a:srgbClr val="000000"/>
                </a:solidFill>
                <a:latin typeface="Calibri"/>
                <a:ea typeface="Calibri"/>
                <a:cs typeface="Calibri"/>
                <a:sym typeface="Calibri"/>
              </a:rPr>
              <a:t>xponential </a:t>
            </a:r>
            <a:r>
              <a:rPr b="0" i="0" lang="en-US" sz="2400" u="sng" cap="none" strike="noStrike">
                <a:solidFill>
                  <a:srgbClr val="000000"/>
                </a:solidFill>
                <a:latin typeface="Calibri"/>
                <a:ea typeface="Calibri"/>
                <a:cs typeface="Calibri"/>
                <a:sym typeface="Calibri"/>
              </a:rPr>
              <a:t>w</a:t>
            </a:r>
            <a:r>
              <a:rPr b="0" i="0" lang="en-US" sz="2400" u="none" cap="none" strike="noStrike">
                <a:solidFill>
                  <a:srgbClr val="000000"/>
                </a:solidFill>
                <a:latin typeface="Calibri"/>
                <a:ea typeface="Calibri"/>
                <a:cs typeface="Calibri"/>
                <a:sym typeface="Calibri"/>
              </a:rPr>
              <a:t>eighted </a:t>
            </a:r>
            <a:r>
              <a:rPr b="0" i="0" lang="en-US" sz="2400" u="sng" cap="none" strike="noStrike">
                <a:solidFill>
                  <a:srgbClr val="000000"/>
                </a:solidFill>
                <a:latin typeface="Calibri"/>
                <a:ea typeface="Calibri"/>
                <a:cs typeface="Calibri"/>
                <a:sym typeface="Calibri"/>
              </a:rPr>
              <a:t>m</a:t>
            </a:r>
            <a:r>
              <a:rPr b="0" i="0" lang="en-US" sz="2400" u="none" cap="none" strike="noStrike">
                <a:solidFill>
                  <a:srgbClr val="000000"/>
                </a:solidFill>
                <a:latin typeface="Calibri"/>
                <a:ea typeface="Calibri"/>
                <a:cs typeface="Calibri"/>
                <a:sym typeface="Calibri"/>
              </a:rPr>
              <a:t>oving </a:t>
            </a:r>
            <a:r>
              <a:rPr b="0" i="0" lang="en-US" sz="2400" u="sng" cap="none" strike="noStrike">
                <a:solidFill>
                  <a:srgbClr val="000000"/>
                </a:solidFill>
                <a:latin typeface="Calibri"/>
                <a:ea typeface="Calibri"/>
                <a:cs typeface="Calibri"/>
                <a:sym typeface="Calibri"/>
              </a:rPr>
              <a:t>a</a:t>
            </a:r>
            <a:r>
              <a:rPr b="0" i="0" lang="en-US" sz="2400" u="none" cap="none" strike="noStrike">
                <a:solidFill>
                  <a:srgbClr val="000000"/>
                </a:solidFill>
                <a:latin typeface="Calibri"/>
                <a:ea typeface="Calibri"/>
                <a:cs typeface="Calibri"/>
                <a:sym typeface="Calibri"/>
              </a:rPr>
              <a:t>verage (EWMA)</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influence of past sample decreases exponentially fast</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typical value: α </a:t>
            </a:r>
            <a:r>
              <a:rPr b="1"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0.125</a:t>
            </a:r>
            <a:endParaRPr/>
          </a:p>
        </p:txBody>
      </p:sp>
      <p:grpSp>
        <p:nvGrpSpPr>
          <p:cNvPr id="5112" name="Google Shape;5112;p87"/>
          <p:cNvGrpSpPr/>
          <p:nvPr/>
        </p:nvGrpSpPr>
        <p:grpSpPr>
          <a:xfrm>
            <a:off x="4673229" y="2443135"/>
            <a:ext cx="6448425" cy="4292600"/>
            <a:chOff x="1531938" y="2565400"/>
            <a:chExt cx="6448425" cy="4292600"/>
          </a:xfrm>
        </p:grpSpPr>
        <p:grpSp>
          <p:nvGrpSpPr>
            <p:cNvPr id="5113" name="Google Shape;5113;p87"/>
            <p:cNvGrpSpPr/>
            <p:nvPr/>
          </p:nvGrpSpPr>
          <p:grpSpPr>
            <a:xfrm>
              <a:off x="1708150" y="2565400"/>
              <a:ext cx="6272213" cy="4292600"/>
              <a:chOff x="782" y="1865"/>
              <a:chExt cx="3951" cy="2704"/>
            </a:xfrm>
          </p:grpSpPr>
          <p:pic>
            <p:nvPicPr>
              <p:cNvPr id="5114" name="Google Shape;5114;p87"/>
              <p:cNvPicPr preferRelativeResize="0"/>
              <p:nvPr/>
            </p:nvPicPr>
            <p:blipFill rotWithShape="1">
              <a:blip r:embed="rId3">
                <a:alphaModFix/>
              </a:blip>
              <a:srcRect b="0" l="0" r="0" t="0"/>
              <a:stretch/>
            </p:blipFill>
            <p:spPr>
              <a:xfrm>
                <a:off x="782" y="1865"/>
                <a:ext cx="3951" cy="2704"/>
              </a:xfrm>
              <a:prstGeom prst="rect">
                <a:avLst/>
              </a:prstGeom>
              <a:noFill/>
              <a:ln>
                <a:noFill/>
              </a:ln>
            </p:spPr>
          </p:pic>
          <p:sp>
            <p:nvSpPr>
              <p:cNvPr id="5115" name="Google Shape;5115;p87"/>
              <p:cNvSpPr/>
              <p:nvPr/>
            </p:nvSpPr>
            <p:spPr>
              <a:xfrm>
                <a:off x="2070" y="1926"/>
                <a:ext cx="1404" cy="1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116" name="Google Shape;5116;p87"/>
            <p:cNvSpPr txBox="1"/>
            <p:nvPr/>
          </p:nvSpPr>
          <p:spPr>
            <a:xfrm rot="-5400000">
              <a:off x="872332" y="4194969"/>
              <a:ext cx="1747837" cy="428625"/>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RTT (milliseconds)</a:t>
              </a:r>
              <a:endParaRPr/>
            </a:p>
          </p:txBody>
        </p:sp>
        <p:sp>
          <p:nvSpPr>
            <p:cNvPr id="5117" name="Google Shape;5117;p87"/>
            <p:cNvSpPr txBox="1"/>
            <p:nvPr/>
          </p:nvSpPr>
          <p:spPr>
            <a:xfrm>
              <a:off x="2265363" y="3168650"/>
              <a:ext cx="38671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gaia.cs.umass.edu</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to</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fantasia.eurecom.fr</a:t>
              </a:r>
              <a:endParaRPr/>
            </a:p>
          </p:txBody>
        </p:sp>
        <p:sp>
          <p:nvSpPr>
            <p:cNvPr id="5118" name="Google Shape;5118;p87"/>
            <p:cNvSpPr txBox="1"/>
            <p:nvPr/>
          </p:nvSpPr>
          <p:spPr>
            <a:xfrm>
              <a:off x="6221413" y="5230813"/>
              <a:ext cx="1181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sampleRTT</a:t>
              </a:r>
              <a:endParaRPr/>
            </a:p>
          </p:txBody>
        </p:sp>
        <p:sp>
          <p:nvSpPr>
            <p:cNvPr id="5119" name="Google Shape;5119;p87"/>
            <p:cNvSpPr txBox="1"/>
            <p:nvPr/>
          </p:nvSpPr>
          <p:spPr>
            <a:xfrm>
              <a:off x="6215063" y="5548313"/>
              <a:ext cx="14319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EstimatedRTT</a:t>
              </a:r>
              <a:endParaRPr/>
            </a:p>
          </p:txBody>
        </p:sp>
        <p:sp>
          <p:nvSpPr>
            <p:cNvPr id="5120" name="Google Shape;5120;p87"/>
            <p:cNvSpPr/>
            <p:nvPr/>
          </p:nvSpPr>
          <p:spPr>
            <a:xfrm>
              <a:off x="6005513" y="5343525"/>
              <a:ext cx="147637" cy="142875"/>
            </a:xfrm>
            <a:prstGeom prst="diamond">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21" name="Google Shape;5121;p87"/>
            <p:cNvSpPr/>
            <p:nvPr/>
          </p:nvSpPr>
          <p:spPr>
            <a:xfrm rot="2776382">
              <a:off x="6011069" y="5633244"/>
              <a:ext cx="147637" cy="142875"/>
            </a:xfrm>
            <a:prstGeom prst="diamond">
              <a:avLst/>
            </a:prstGeom>
            <a:solidFill>
              <a:srgbClr val="FF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22" name="Google Shape;5122;p87"/>
            <p:cNvSpPr/>
            <p:nvPr/>
          </p:nvSpPr>
          <p:spPr>
            <a:xfrm>
              <a:off x="4108450" y="6389688"/>
              <a:ext cx="1863725" cy="4683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123" name="Google Shape;5123;p87"/>
            <p:cNvGrpSpPr/>
            <p:nvPr/>
          </p:nvGrpSpPr>
          <p:grpSpPr>
            <a:xfrm>
              <a:off x="4041775" y="6386513"/>
              <a:ext cx="1512888" cy="336550"/>
              <a:chOff x="2343" y="3645"/>
              <a:chExt cx="953" cy="212"/>
            </a:xfrm>
          </p:grpSpPr>
          <p:sp>
            <p:nvSpPr>
              <p:cNvPr id="5124" name="Google Shape;5124;p87"/>
              <p:cNvSpPr/>
              <p:nvPr/>
            </p:nvSpPr>
            <p:spPr>
              <a:xfrm>
                <a:off x="2592" y="3695"/>
                <a:ext cx="527" cy="9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25" name="Google Shape;5125;p87"/>
              <p:cNvSpPr txBox="1"/>
              <p:nvPr/>
            </p:nvSpPr>
            <p:spPr>
              <a:xfrm>
                <a:off x="2343" y="3645"/>
                <a:ext cx="95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 (seconds)</a:t>
                </a:r>
                <a:endParaRPr/>
              </a:p>
            </p:txBody>
          </p:sp>
        </p:grpSp>
      </p:grpSp>
      <p:sp>
        <p:nvSpPr>
          <p:cNvPr id="5126" name="Google Shape;5126;p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2"/>
                                        </p:tgtEl>
                                        <p:attrNameLst>
                                          <p:attrName>style.visibility</p:attrName>
                                        </p:attrNameLst>
                                      </p:cBhvr>
                                      <p:to>
                                        <p:strVal val="visible"/>
                                      </p:to>
                                    </p:set>
                                    <p:animEffect filter="fade" transition="in">
                                      <p:cBhvr>
                                        <p:cTn dur="500"/>
                                        <p:tgtEl>
                                          <p:spTgt spid="5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1" name="Shape 5131"/>
        <p:cNvGrpSpPr/>
        <p:nvPr/>
      </p:nvGrpSpPr>
      <p:grpSpPr>
        <a:xfrm>
          <a:off x="0" y="0"/>
          <a:ext cx="0" cy="0"/>
          <a:chOff x="0" y="0"/>
          <a:chExt cx="0" cy="0"/>
        </a:xfrm>
      </p:grpSpPr>
      <p:sp>
        <p:nvSpPr>
          <p:cNvPr id="5132" name="Google Shape;5132;p8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133" name="Google Shape;5133;p88"/>
          <p:cNvSpPr txBox="1"/>
          <p:nvPr/>
        </p:nvSpPr>
        <p:spPr>
          <a:xfrm>
            <a:off x="635138" y="1537841"/>
            <a:ext cx="11327678" cy="11291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timeout interval:</a:t>
            </a:r>
            <a:r>
              <a:rPr b="1" i="0" lang="en-US" sz="2800" u="none" cap="none" strike="noStrike">
                <a:solidFill>
                  <a:srgbClr val="000000"/>
                </a:solidFill>
                <a:latin typeface="Calibri"/>
                <a:ea typeface="Calibri"/>
                <a:cs typeface="Calibri"/>
                <a:sym typeface="Calibri"/>
              </a:rPr>
              <a:t>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plus “safety margin”</a:t>
            </a:r>
            <a:endParaRPr/>
          </a:p>
          <a:p>
            <a:pPr indent="-231775" lvl="1" marL="695325" marR="0" rtl="0" algn="l">
              <a:lnSpc>
                <a:spcPct val="90000"/>
              </a:lnSpc>
              <a:spcBef>
                <a:spcPts val="10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large variation in  </a:t>
            </a:r>
            <a:r>
              <a:rPr b="1" i="0" lang="en-US" sz="2800" u="none" cap="none" strike="noStrike">
                <a:solidFill>
                  <a:srgbClr val="000000"/>
                </a:solidFill>
                <a:latin typeface="Courier"/>
                <a:ea typeface="Courier"/>
                <a:cs typeface="Courier"/>
                <a:sym typeface="Courier"/>
              </a:rPr>
              <a:t>EstimatedRTT: </a:t>
            </a:r>
            <a:r>
              <a:rPr b="0" i="0" lang="en-US" sz="2800" u="none" cap="none" strike="noStrike">
                <a:solidFill>
                  <a:srgbClr val="000000"/>
                </a:solidFill>
                <a:latin typeface="Calibri"/>
                <a:ea typeface="Calibri"/>
                <a:cs typeface="Calibri"/>
                <a:sym typeface="Calibri"/>
              </a:rPr>
              <a:t>want a larger safety margin</a:t>
            </a:r>
            <a:endParaRPr/>
          </a:p>
        </p:txBody>
      </p:sp>
      <p:grpSp>
        <p:nvGrpSpPr>
          <p:cNvPr id="5134" name="Google Shape;5134;p88"/>
          <p:cNvGrpSpPr/>
          <p:nvPr/>
        </p:nvGrpSpPr>
        <p:grpSpPr>
          <a:xfrm>
            <a:off x="1061454" y="2679700"/>
            <a:ext cx="9532485" cy="1193800"/>
            <a:chOff x="858254" y="2667000"/>
            <a:chExt cx="9532485" cy="1193800"/>
          </a:xfrm>
        </p:grpSpPr>
        <p:sp>
          <p:nvSpPr>
            <p:cNvPr id="5135" name="Google Shape;5135;p88"/>
            <p:cNvSpPr/>
            <p:nvPr/>
          </p:nvSpPr>
          <p:spPr>
            <a:xfrm>
              <a:off x="858254" y="2667000"/>
              <a:ext cx="9532485"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36" name="Google Shape;5136;p88"/>
            <p:cNvSpPr/>
            <p:nvPr/>
          </p:nvSpPr>
          <p:spPr>
            <a:xfrm>
              <a:off x="859979" y="2701243"/>
              <a:ext cx="7918450" cy="692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TimeoutInterval = EstimatedRTT + 4*DevRTT</a:t>
              </a:r>
              <a:endParaRPr b="1" i="0" sz="2400" u="none" cap="none" strike="noStrike">
                <a:solidFill>
                  <a:srgbClr val="000000"/>
                </a:solidFill>
                <a:latin typeface="Courier New"/>
                <a:ea typeface="Courier New"/>
                <a:cs typeface="Courier New"/>
                <a:sym typeface="Courier New"/>
              </a:endParaRPr>
            </a:p>
          </p:txBody>
        </p:sp>
        <p:sp>
          <p:nvSpPr>
            <p:cNvPr id="5137" name="Google Shape;5137;p88"/>
            <p:cNvSpPr txBox="1"/>
            <p:nvPr/>
          </p:nvSpPr>
          <p:spPr>
            <a:xfrm>
              <a:off x="4304854" y="3442606"/>
              <a:ext cx="1811338"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estimated RTT</a:t>
              </a:r>
              <a:endParaRPr/>
            </a:p>
          </p:txBody>
        </p:sp>
        <p:sp>
          <p:nvSpPr>
            <p:cNvPr id="5138" name="Google Shape;5138;p88"/>
            <p:cNvSpPr txBox="1"/>
            <p:nvPr/>
          </p:nvSpPr>
          <p:spPr>
            <a:xfrm>
              <a:off x="6736904" y="3461656"/>
              <a:ext cx="19177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“safety margin”</a:t>
              </a:r>
              <a:endParaRPr b="0" i="0" sz="2000" u="none" cap="none" strike="noStrike">
                <a:solidFill>
                  <a:srgbClr val="000099"/>
                </a:solidFill>
                <a:latin typeface="Tahoma"/>
                <a:ea typeface="Tahoma"/>
                <a:cs typeface="Tahoma"/>
                <a:sym typeface="Tahoma"/>
              </a:endParaRPr>
            </a:p>
          </p:txBody>
        </p:sp>
        <p:cxnSp>
          <p:nvCxnSpPr>
            <p:cNvPr id="5139" name="Google Shape;5139;p88"/>
            <p:cNvCxnSpPr/>
            <p:nvPr/>
          </p:nvCxnSpPr>
          <p:spPr>
            <a:xfrm rot="10800000">
              <a:off x="5101779" y="3082243"/>
              <a:ext cx="0" cy="446088"/>
            </a:xfrm>
            <a:prstGeom prst="straightConnector1">
              <a:avLst/>
            </a:prstGeom>
            <a:noFill/>
            <a:ln cap="flat" cmpd="sng" w="19050">
              <a:solidFill>
                <a:srgbClr val="000099"/>
              </a:solidFill>
              <a:prstDash val="solid"/>
              <a:round/>
              <a:headEnd len="med" w="med" type="none"/>
              <a:tailEnd len="med" w="med" type="triangle"/>
            </a:ln>
          </p:spPr>
        </p:cxnSp>
        <p:cxnSp>
          <p:nvCxnSpPr>
            <p:cNvPr id="5140" name="Google Shape;5140;p88"/>
            <p:cNvCxnSpPr/>
            <p:nvPr/>
          </p:nvCxnSpPr>
          <p:spPr>
            <a:xfrm rot="10800000">
              <a:off x="7673529" y="3088593"/>
              <a:ext cx="0" cy="446088"/>
            </a:xfrm>
            <a:prstGeom prst="straightConnector1">
              <a:avLst/>
            </a:prstGeom>
            <a:noFill/>
            <a:ln cap="flat" cmpd="sng" w="19050">
              <a:solidFill>
                <a:srgbClr val="000099"/>
              </a:solidFill>
              <a:prstDash val="solid"/>
              <a:round/>
              <a:headEnd len="med" w="med" type="none"/>
              <a:tailEnd len="med" w="med" type="triangle"/>
            </a:ln>
          </p:spPr>
        </p:cxnSp>
        <p:pic>
          <p:nvPicPr>
            <p:cNvPr descr="alarm_clock_ringing" id="5141" name="Google Shape;5141;p88"/>
            <p:cNvPicPr preferRelativeResize="0"/>
            <p:nvPr/>
          </p:nvPicPr>
          <p:blipFill rotWithShape="1">
            <a:blip r:embed="rId3">
              <a:alphaModFix/>
            </a:blip>
            <a:srcRect b="0" l="0" r="0" t="0"/>
            <a:stretch/>
          </p:blipFill>
          <p:spPr>
            <a:xfrm>
              <a:off x="1995043" y="3238052"/>
              <a:ext cx="646558" cy="622748"/>
            </a:xfrm>
            <a:prstGeom prst="rect">
              <a:avLst/>
            </a:prstGeom>
            <a:noFill/>
            <a:ln>
              <a:noFill/>
            </a:ln>
          </p:spPr>
        </p:pic>
      </p:grpSp>
      <p:sp>
        <p:nvSpPr>
          <p:cNvPr id="5142" name="Google Shape;5142;p88"/>
          <p:cNvSpPr txBox="1"/>
          <p:nvPr/>
        </p:nvSpPr>
        <p:spPr>
          <a:xfrm>
            <a:off x="876300" y="6343507"/>
            <a:ext cx="100186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grpSp>
        <p:nvGrpSpPr>
          <p:cNvPr id="5143" name="Google Shape;5143;p88"/>
          <p:cNvGrpSpPr/>
          <p:nvPr/>
        </p:nvGrpSpPr>
        <p:grpSpPr>
          <a:xfrm>
            <a:off x="1304479" y="4827690"/>
            <a:ext cx="10446405" cy="940044"/>
            <a:chOff x="1837879" y="3151290"/>
            <a:chExt cx="10446405" cy="940044"/>
          </a:xfrm>
        </p:grpSpPr>
        <p:sp>
          <p:nvSpPr>
            <p:cNvPr id="5144" name="Google Shape;5144;p88"/>
            <p:cNvSpPr/>
            <p:nvPr/>
          </p:nvSpPr>
          <p:spPr>
            <a:xfrm>
              <a:off x="1837879" y="3151290"/>
              <a:ext cx="9532486" cy="52228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45" name="Google Shape;5145;p88"/>
            <p:cNvSpPr txBox="1"/>
            <p:nvPr/>
          </p:nvSpPr>
          <p:spPr>
            <a:xfrm>
              <a:off x="1837879" y="3151831"/>
              <a:ext cx="100186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DevRTT = </a:t>
              </a:r>
              <a:r>
                <a:rPr b="1" i="0" lang="en-US" sz="2400" u="none" cap="none" strike="noStrike">
                  <a:solidFill>
                    <a:srgbClr val="000000"/>
                  </a:solidFill>
                  <a:latin typeface="Courier New"/>
                  <a:ea typeface="Courier New"/>
                  <a:cs typeface="Courier New"/>
                  <a:sym typeface="Courier New"/>
                </a:rPr>
                <a:t>(1-β)*DevRTT + β*|SampleRTT-EstimatedRTT|</a:t>
              </a:r>
              <a:endParaRPr/>
            </a:p>
          </p:txBody>
        </p:sp>
        <p:sp>
          <p:nvSpPr>
            <p:cNvPr id="5146" name="Google Shape;5146;p88"/>
            <p:cNvSpPr txBox="1"/>
            <p:nvPr/>
          </p:nvSpPr>
          <p:spPr>
            <a:xfrm>
              <a:off x="8898147" y="3694459"/>
              <a:ext cx="33861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(typically, </a:t>
              </a:r>
              <a:r>
                <a:rPr b="0" i="0" lang="en-US" sz="2000" u="none" cap="none" strike="noStrike">
                  <a:solidFill>
                    <a:srgbClr val="000000"/>
                  </a:solidFill>
                  <a:latin typeface="Courier New"/>
                  <a:ea typeface="Courier New"/>
                  <a:cs typeface="Courier New"/>
                  <a:sym typeface="Courier New"/>
                </a:rPr>
                <a:t>β</a:t>
              </a:r>
              <a:r>
                <a:rPr b="1" i="0" lang="en-US" sz="2000" u="none" cap="none" strike="noStrike">
                  <a:solidFill>
                    <a:srgbClr val="000000"/>
                  </a:solidFill>
                  <a:latin typeface="Courier New"/>
                  <a:ea typeface="Courier New"/>
                  <a:cs typeface="Courier New"/>
                  <a:sym typeface="Courier New"/>
                </a:rPr>
                <a:t> </a:t>
              </a:r>
              <a:r>
                <a:rPr b="0" i="0" lang="en-US" sz="2000" u="none" cap="none" strike="noStrike">
                  <a:solidFill>
                    <a:srgbClr val="000000"/>
                  </a:solidFill>
                  <a:latin typeface="Calibri"/>
                  <a:ea typeface="Calibri"/>
                  <a:cs typeface="Calibri"/>
                  <a:sym typeface="Calibri"/>
                </a:rPr>
                <a:t>= 0.25)</a:t>
              </a:r>
              <a:endParaRPr/>
            </a:p>
          </p:txBody>
        </p:sp>
      </p:grpSp>
      <p:sp>
        <p:nvSpPr>
          <p:cNvPr id="5147" name="Google Shape;5147;p88"/>
          <p:cNvSpPr txBox="1"/>
          <p:nvPr/>
        </p:nvSpPr>
        <p:spPr>
          <a:xfrm>
            <a:off x="660538" y="4192141"/>
            <a:ext cx="11327678" cy="5449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1" i="0" lang="en-US" sz="2800" u="none" cap="none" strike="noStrike">
                <a:solidFill>
                  <a:srgbClr val="000000"/>
                </a:solidFill>
                <a:latin typeface="Courier New"/>
                <a:ea typeface="Courier New"/>
                <a:cs typeface="Courier New"/>
                <a:sym typeface="Courier New"/>
              </a:rPr>
              <a:t>DevRTT</a:t>
            </a:r>
            <a:r>
              <a:rPr b="0" i="0" lang="en-US" sz="2800" u="none" cap="none" strike="noStrike">
                <a:solidFill>
                  <a:srgbClr val="000000"/>
                </a:solidFill>
                <a:latin typeface="Calibri"/>
                <a:ea typeface="Calibri"/>
                <a:cs typeface="Calibri"/>
                <a:sym typeface="Calibri"/>
              </a:rPr>
              <a:t>: EWMA of </a:t>
            </a:r>
            <a:r>
              <a:rPr b="1" i="0" lang="en-US" sz="2800" u="none" cap="none" strike="noStrike">
                <a:solidFill>
                  <a:srgbClr val="000000"/>
                </a:solidFill>
                <a:latin typeface="Courier"/>
                <a:ea typeface="Courier"/>
                <a:cs typeface="Courier"/>
                <a:sym typeface="Courier"/>
              </a:rPr>
              <a:t>SampleRTT </a:t>
            </a:r>
            <a:r>
              <a:rPr b="0" i="0" lang="en-US" sz="2800" u="none" cap="none" strike="noStrike">
                <a:solidFill>
                  <a:srgbClr val="000000"/>
                </a:solidFill>
                <a:latin typeface="Calibri"/>
                <a:ea typeface="Calibri"/>
                <a:cs typeface="Calibri"/>
                <a:sym typeface="Calibri"/>
              </a:rPr>
              <a:t>deviation from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a:t>
            </a:r>
            <a:endParaRPr/>
          </a:p>
        </p:txBody>
      </p:sp>
      <p:sp>
        <p:nvSpPr>
          <p:cNvPr id="5148" name="Google Shape;5148;p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4"/>
                                        </p:tgtEl>
                                        <p:attrNameLst>
                                          <p:attrName>style.visibility</p:attrName>
                                        </p:attrNameLst>
                                      </p:cBhvr>
                                      <p:to>
                                        <p:strVal val="visible"/>
                                      </p:to>
                                    </p:set>
                                    <p:animEffect filter="fade" transition="in">
                                      <p:cBhvr>
                                        <p:cTn dur="500"/>
                                        <p:tgtEl>
                                          <p:spTgt spid="5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7"/>
                                        </p:tgtEl>
                                        <p:attrNameLst>
                                          <p:attrName>style.visibility</p:attrName>
                                        </p:attrNameLst>
                                      </p:cBhvr>
                                      <p:to>
                                        <p:strVal val="visible"/>
                                      </p:to>
                                    </p:set>
                                    <p:animEffect filter="fade" transition="in">
                                      <p:cBhvr>
                                        <p:cTn dur="500"/>
                                        <p:tgtEl>
                                          <p:spTgt spid="5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3"/>
                                        </p:tgtEl>
                                        <p:attrNameLst>
                                          <p:attrName>style.visibility</p:attrName>
                                        </p:attrNameLst>
                                      </p:cBhvr>
                                      <p:to>
                                        <p:strVal val="visible"/>
                                      </p:to>
                                    </p:set>
                                    <p:animEffect filter="fade" transition="in">
                                      <p:cBhvr>
                                        <p:cTn dur="500"/>
                                        <p:tgtEl>
                                          <p:spTgt spid="5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3" name="Shape 5153"/>
        <p:cNvGrpSpPr/>
        <p:nvPr/>
      </p:nvGrpSpPr>
      <p:grpSpPr>
        <a:xfrm>
          <a:off x="0" y="0"/>
          <a:ext cx="0" cy="0"/>
          <a:chOff x="0" y="0"/>
          <a:chExt cx="0" cy="0"/>
        </a:xfrm>
      </p:grpSpPr>
      <p:sp>
        <p:nvSpPr>
          <p:cNvPr id="5154" name="Google Shape;5154;p8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Sender </a:t>
            </a:r>
            <a:r>
              <a:rPr lang="en-US" sz="3600"/>
              <a:t>(simplified)</a:t>
            </a:r>
            <a:endParaRPr b="0" sz="4400"/>
          </a:p>
        </p:txBody>
      </p:sp>
      <p:sp>
        <p:nvSpPr>
          <p:cNvPr id="5155" name="Google Shape;5155;p89"/>
          <p:cNvSpPr txBox="1"/>
          <p:nvPr/>
        </p:nvSpPr>
        <p:spPr>
          <a:xfrm>
            <a:off x="798690" y="1384386"/>
            <a:ext cx="495300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event: data received from application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create segment with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is byte-stream number of first data byte in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start timer if not already running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think of timer as for oldest unACKed segment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expiration interval: </a:t>
            </a:r>
            <a:r>
              <a:rPr b="1" i="0" lang="en-US" sz="2400" u="none" cap="none" strike="noStrike">
                <a:solidFill>
                  <a:srgbClr val="000000"/>
                </a:solidFill>
                <a:latin typeface="Courier New"/>
                <a:ea typeface="Courier New"/>
                <a:cs typeface="Courier New"/>
                <a:sym typeface="Courier New"/>
              </a:rPr>
              <a:t>TimeOutInterval</a:t>
            </a:r>
            <a:r>
              <a:rPr b="0" i="0" lang="en-US" sz="2400" u="none" cap="none" strike="noStrike">
                <a:solidFill>
                  <a:srgbClr val="000000"/>
                </a:solidFill>
                <a:latin typeface="Courier New"/>
                <a:ea typeface="Courier New"/>
                <a:cs typeface="Courier New"/>
                <a:sym typeface="Courier New"/>
              </a:rPr>
              <a:t> </a:t>
            </a:r>
            <a:endParaRPr b="0" i="0" sz="2400" u="none" cap="none" strike="noStrike">
              <a:solidFill>
                <a:srgbClr val="000000"/>
              </a:solidFill>
              <a:latin typeface="Calibri"/>
              <a:ea typeface="Calibri"/>
              <a:cs typeface="Calibri"/>
              <a:sym typeface="Calibri"/>
            </a:endParaRPr>
          </a:p>
        </p:txBody>
      </p:sp>
      <p:sp>
        <p:nvSpPr>
          <p:cNvPr id="5156" name="Google Shape;5156;p89"/>
          <p:cNvSpPr txBox="1"/>
          <p:nvPr/>
        </p:nvSpPr>
        <p:spPr>
          <a:xfrm>
            <a:off x="6728208" y="1446144"/>
            <a:ext cx="3810000" cy="1943100"/>
          </a:xfrm>
          <a:prstGeom prst="rect">
            <a:avLst/>
          </a:prstGeom>
          <a:noFill/>
          <a:ln>
            <a:noFill/>
          </a:ln>
        </p:spPr>
        <p:txBody>
          <a:bodyPr anchorCtr="0" anchor="t" bIns="45700" lIns="91425" spcFirstLastPara="1" rIns="91425" wrap="square" tIns="45700">
            <a:normAutofit fontScale="92500" lnSpcReduction="20000"/>
          </a:bodyPr>
          <a:lstStyle/>
          <a:p>
            <a:pPr indent="0" lvl="0" marL="12700" marR="0" rtl="0" algn="l">
              <a:lnSpc>
                <a:spcPct val="90000"/>
              </a:lnSpc>
              <a:spcBef>
                <a:spcPts val="0"/>
              </a:spcBef>
              <a:spcAft>
                <a:spcPts val="0"/>
              </a:spcAft>
              <a:buClr>
                <a:srgbClr val="0000A3"/>
              </a:buClr>
              <a:buSzPct val="100000"/>
              <a:buFont typeface="Noto Sans Symbols"/>
              <a:buNone/>
            </a:pPr>
            <a:r>
              <a:rPr b="0" i="1" lang="en-US" sz="3000" u="none" cap="none" strike="noStrike">
                <a:solidFill>
                  <a:srgbClr val="CC0000"/>
                </a:solidFill>
                <a:latin typeface="Calibri"/>
                <a:ea typeface="Calibri"/>
                <a:cs typeface="Calibri"/>
                <a:sym typeface="Calibri"/>
              </a:rPr>
              <a:t>event: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retransmit segment that caused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restart timer</a:t>
            </a:r>
            <a:endParaRPr/>
          </a:p>
          <a:p>
            <a:pPr indent="-222250" lvl="0" marL="352425" marR="0" rtl="0" algn="l">
              <a:lnSpc>
                <a:spcPct val="90000"/>
              </a:lnSpc>
              <a:spcBef>
                <a:spcPts val="1000"/>
              </a:spcBef>
              <a:spcAft>
                <a:spcPts val="0"/>
              </a:spcAft>
              <a:buClr>
                <a:srgbClr val="0000A3"/>
              </a:buClr>
              <a:buSzPct val="100000"/>
              <a:buFont typeface="Noto Sans Symbols"/>
              <a:buNone/>
            </a:pPr>
            <a:r>
              <a:rPr b="0" i="0" lang="en-US" sz="2800" u="none" cap="none" strike="noStrike">
                <a:solidFill>
                  <a:srgbClr val="000000"/>
                </a:solidFill>
                <a:latin typeface="Calibri"/>
                <a:ea typeface="Calibri"/>
                <a:cs typeface="Calibri"/>
                <a:sym typeface="Calibri"/>
              </a:rPr>
              <a:t> </a:t>
            </a:r>
            <a:endParaRPr/>
          </a:p>
        </p:txBody>
      </p:sp>
      <p:sp>
        <p:nvSpPr>
          <p:cNvPr id="5157" name="Google Shape;5157;p89"/>
          <p:cNvSpPr txBox="1"/>
          <p:nvPr/>
        </p:nvSpPr>
        <p:spPr>
          <a:xfrm>
            <a:off x="6728208" y="3392552"/>
            <a:ext cx="4920453" cy="3193774"/>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event: ACK received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if ACK acknowledges previously unACKed segments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update what is known to be ACKed</a:t>
            </a:r>
            <a:endParaRPr b="0" i="0" sz="24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start timer if there are  still unACKed segments</a:t>
            </a:r>
            <a:endParaRPr/>
          </a:p>
          <a:p>
            <a:pPr indent="-231775" lvl="1" marL="695325" marR="0" rtl="0" algn="l">
              <a:lnSpc>
                <a:spcPct val="90000"/>
              </a:lnSpc>
              <a:spcBef>
                <a:spcPts val="500"/>
              </a:spcBef>
              <a:spcAft>
                <a:spcPts val="0"/>
              </a:spcAft>
              <a:buClr>
                <a:srgbClr val="0000A8"/>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5158" name="Google Shape;5158;p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6"/>
                                        </p:tgtEl>
                                        <p:attrNameLst>
                                          <p:attrName>style.visibility</p:attrName>
                                        </p:attrNameLst>
                                      </p:cBhvr>
                                      <p:to>
                                        <p:strVal val="visible"/>
                                      </p:to>
                                    </p:set>
                                    <p:animEffect filter="fade" transition="in">
                                      <p:cBhvr>
                                        <p:cTn dur="500"/>
                                        <p:tgtEl>
                                          <p:spTgt spid="5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7"/>
                                        </p:tgtEl>
                                        <p:attrNameLst>
                                          <p:attrName>style.visibility</p:attrName>
                                        </p:attrNameLst>
                                      </p:cBhvr>
                                      <p:to>
                                        <p:strVal val="visible"/>
                                      </p:to>
                                    </p:set>
                                    <p:animEffect filter="fade" transition="in">
                                      <p:cBhvr>
                                        <p:cTn dur="500"/>
                                        <p:tgtEl>
                                          <p:spTgt spid="5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3" name="Shape 5163"/>
        <p:cNvGrpSpPr/>
        <p:nvPr/>
      </p:nvGrpSpPr>
      <p:grpSpPr>
        <a:xfrm>
          <a:off x="0" y="0"/>
          <a:ext cx="0" cy="0"/>
          <a:chOff x="0" y="0"/>
          <a:chExt cx="0" cy="0"/>
        </a:xfrm>
      </p:grpSpPr>
      <p:sp>
        <p:nvSpPr>
          <p:cNvPr id="5164" name="Google Shape;5164;p9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Receiver: ACK generation </a:t>
            </a:r>
            <a:r>
              <a:rPr b="0" lang="en-US" sz="2400"/>
              <a:t>[RFC 5681]</a:t>
            </a:r>
            <a:endParaRPr b="0" sz="4400"/>
          </a:p>
        </p:txBody>
      </p:sp>
      <p:sp>
        <p:nvSpPr>
          <p:cNvPr id="5165" name="Google Shape;5165;p90"/>
          <p:cNvSpPr txBox="1"/>
          <p:nvPr/>
        </p:nvSpPr>
        <p:spPr>
          <a:xfrm>
            <a:off x="2143953" y="1439289"/>
            <a:ext cx="3496406"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Event at receiver</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All data up to</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already ACKed</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One other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has ACK pending</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out-of-order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higher-than-expect seq. #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Gap detected</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segment that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partially or completely fills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sp>
        <p:nvSpPr>
          <p:cNvPr id="5166" name="Google Shape;5166;p90"/>
          <p:cNvSpPr txBox="1"/>
          <p:nvPr/>
        </p:nvSpPr>
        <p:spPr>
          <a:xfrm>
            <a:off x="5906328" y="1429764"/>
            <a:ext cx="4189545"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TCP receiver action</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delayed ACK. Wait up to 500ms</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 next segment. If no next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 ACK</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single cumulative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ACK, ACKing both in-order segments </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a:t>
            </a:r>
            <a:r>
              <a:rPr b="0" i="1" lang="en-US" sz="2000" u="none" cap="none" strike="noStrike">
                <a:solidFill>
                  <a:srgbClr val="CC0000"/>
                </a:solidFill>
                <a:latin typeface="Calibri"/>
                <a:ea typeface="Calibri"/>
                <a:cs typeface="Calibri"/>
                <a:sym typeface="Calibri"/>
              </a:rPr>
              <a:t>duplicate ACK</a:t>
            </a:r>
            <a:r>
              <a:rPr b="0" i="0" lang="en-US" sz="2000" u="none" cap="none" strike="noStrike">
                <a:solidFill>
                  <a:srgbClr val="CC0000"/>
                </a:solidFill>
                <a:latin typeface="Calibri"/>
                <a:ea typeface="Calibri"/>
                <a:cs typeface="Calibri"/>
                <a:sym typeface="Calibri"/>
              </a:rPr>
              <a:t>,</a:t>
            </a:r>
            <a:r>
              <a:rPr b="0" i="0" lang="en-US" sz="2000" u="none" cap="none" strike="noStrike">
                <a:solidFill>
                  <a:srgbClr val="000000"/>
                </a:solidFill>
                <a:latin typeface="Calibri"/>
                <a:ea typeface="Calibri"/>
                <a:cs typeface="Calibri"/>
                <a:sym typeface="Calibri"/>
              </a:rPr>
              <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indicating seq. # of next expected byte</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 send ACK, provided that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starts at lower end of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cxnSp>
        <p:nvCxnSpPr>
          <p:cNvPr id="5167" name="Google Shape;5167;p90"/>
          <p:cNvCxnSpPr/>
          <p:nvPr/>
        </p:nvCxnSpPr>
        <p:spPr>
          <a:xfrm>
            <a:off x="5715828" y="1590101"/>
            <a:ext cx="0" cy="4352925"/>
          </a:xfrm>
          <a:prstGeom prst="straightConnector1">
            <a:avLst/>
          </a:prstGeom>
          <a:noFill/>
          <a:ln cap="flat" cmpd="sng" w="28575">
            <a:solidFill>
              <a:srgbClr val="000099"/>
            </a:solidFill>
            <a:prstDash val="solid"/>
            <a:round/>
            <a:headEnd len="med" w="med" type="none"/>
            <a:tailEnd len="med" w="med" type="none"/>
          </a:ln>
        </p:spPr>
      </p:cxnSp>
      <p:cxnSp>
        <p:nvCxnSpPr>
          <p:cNvPr id="5168" name="Google Shape;5168;p90"/>
          <p:cNvCxnSpPr/>
          <p:nvPr/>
        </p:nvCxnSpPr>
        <p:spPr>
          <a:xfrm>
            <a:off x="2159828" y="20298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5169" name="Google Shape;5169;p90"/>
          <p:cNvCxnSpPr/>
          <p:nvPr/>
        </p:nvCxnSpPr>
        <p:spPr>
          <a:xfrm>
            <a:off x="2143953" y="30839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5170" name="Google Shape;5170;p90"/>
          <p:cNvCxnSpPr/>
          <p:nvPr/>
        </p:nvCxnSpPr>
        <p:spPr>
          <a:xfrm>
            <a:off x="2161416" y="4182489"/>
            <a:ext cx="7494587" cy="0"/>
          </a:xfrm>
          <a:prstGeom prst="straightConnector1">
            <a:avLst/>
          </a:prstGeom>
          <a:noFill/>
          <a:ln cap="flat" cmpd="sng" w="28575">
            <a:solidFill>
              <a:srgbClr val="000099"/>
            </a:solidFill>
            <a:prstDash val="solid"/>
            <a:round/>
            <a:headEnd len="med" w="med" type="none"/>
            <a:tailEnd len="med" w="med" type="none"/>
          </a:ln>
        </p:spPr>
      </p:cxnSp>
      <p:cxnSp>
        <p:nvCxnSpPr>
          <p:cNvPr id="5171" name="Google Shape;5171;p90"/>
          <p:cNvCxnSpPr/>
          <p:nvPr/>
        </p:nvCxnSpPr>
        <p:spPr>
          <a:xfrm>
            <a:off x="2155066" y="5271514"/>
            <a:ext cx="7494587" cy="0"/>
          </a:xfrm>
          <a:prstGeom prst="straightConnector1">
            <a:avLst/>
          </a:prstGeom>
          <a:noFill/>
          <a:ln cap="flat" cmpd="sng" w="28575">
            <a:solidFill>
              <a:srgbClr val="000099"/>
            </a:solidFill>
            <a:prstDash val="solid"/>
            <a:round/>
            <a:headEnd len="med" w="med" type="none"/>
            <a:tailEnd len="med" w="med" type="none"/>
          </a:ln>
        </p:spPr>
      </p:cxnSp>
      <p:sp>
        <p:nvSpPr>
          <p:cNvPr id="5172" name="Google Shape;5172;p90"/>
          <p:cNvSpPr/>
          <p:nvPr/>
        </p:nvSpPr>
        <p:spPr>
          <a:xfrm>
            <a:off x="2141951" y="2079321"/>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3" name="Google Shape;5173;p90"/>
          <p:cNvSpPr/>
          <p:nvPr/>
        </p:nvSpPr>
        <p:spPr>
          <a:xfrm>
            <a:off x="2006253" y="3158647"/>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4" name="Google Shape;5174;p90"/>
          <p:cNvSpPr/>
          <p:nvPr/>
        </p:nvSpPr>
        <p:spPr>
          <a:xfrm>
            <a:off x="2196231" y="4237973"/>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5" name="Google Shape;5175;p90"/>
          <p:cNvSpPr/>
          <p:nvPr/>
        </p:nvSpPr>
        <p:spPr>
          <a:xfrm>
            <a:off x="2246335" y="5340264"/>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6" name="Google Shape;5176;p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2"/>
                                        </p:tgtEl>
                                      </p:cBhvr>
                                    </p:animEffect>
                                    <p:set>
                                      <p:cBhvr>
                                        <p:cTn dur="1" fill="hold">
                                          <p:stCondLst>
                                            <p:cond delay="500"/>
                                          </p:stCondLst>
                                        </p:cTn>
                                        <p:tgtEl>
                                          <p:spTgt spid="51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3"/>
                                        </p:tgtEl>
                                      </p:cBhvr>
                                    </p:animEffect>
                                    <p:set>
                                      <p:cBhvr>
                                        <p:cTn dur="1" fill="hold">
                                          <p:stCondLst>
                                            <p:cond delay="500"/>
                                          </p:stCondLst>
                                        </p:cTn>
                                        <p:tgtEl>
                                          <p:spTgt spid="51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4"/>
                                        </p:tgtEl>
                                      </p:cBhvr>
                                    </p:animEffect>
                                    <p:set>
                                      <p:cBhvr>
                                        <p:cTn dur="1" fill="hold">
                                          <p:stCondLst>
                                            <p:cond delay="500"/>
                                          </p:stCondLst>
                                        </p:cTn>
                                        <p:tgtEl>
                                          <p:spTgt spid="51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75"/>
                                        </p:tgtEl>
                                      </p:cBhvr>
                                    </p:animEffect>
                                    <p:set>
                                      <p:cBhvr>
                                        <p:cTn dur="1" fill="hold">
                                          <p:stCondLst>
                                            <p:cond delay="500"/>
                                          </p:stCondLst>
                                        </p:cTn>
                                        <p:tgtEl>
                                          <p:spTgt spid="517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1" name="Shape 5181"/>
        <p:cNvGrpSpPr/>
        <p:nvPr/>
      </p:nvGrpSpPr>
      <p:grpSpPr>
        <a:xfrm>
          <a:off x="0" y="0"/>
          <a:ext cx="0" cy="0"/>
          <a:chOff x="0" y="0"/>
          <a:chExt cx="0" cy="0"/>
        </a:xfrm>
      </p:grpSpPr>
      <p:sp>
        <p:nvSpPr>
          <p:cNvPr id="5182" name="Google Shape;5182;p9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5183" name="Google Shape;5183;p91"/>
          <p:cNvSpPr txBox="1"/>
          <p:nvPr/>
        </p:nvSpPr>
        <p:spPr>
          <a:xfrm>
            <a:off x="2236856" y="5873422"/>
            <a:ext cx="1922463"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lost ACK scenario</a:t>
            </a:r>
            <a:endParaRPr b="0" i="0" sz="1000" u="none" cap="none" strike="noStrike">
              <a:solidFill>
                <a:srgbClr val="000000"/>
              </a:solidFill>
              <a:latin typeface="Tahoma"/>
              <a:ea typeface="Tahoma"/>
              <a:cs typeface="Tahoma"/>
              <a:sym typeface="Tahoma"/>
            </a:endParaRPr>
          </a:p>
        </p:txBody>
      </p:sp>
      <p:sp>
        <p:nvSpPr>
          <p:cNvPr id="5184" name="Google Shape;5184;p91"/>
          <p:cNvSpPr txBox="1"/>
          <p:nvPr/>
        </p:nvSpPr>
        <p:spPr>
          <a:xfrm>
            <a:off x="3970406"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185" name="Google Shape;5185;p91"/>
          <p:cNvSpPr txBox="1"/>
          <p:nvPr/>
        </p:nvSpPr>
        <p:spPr>
          <a:xfrm>
            <a:off x="1636781"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5186" name="Google Shape;5186;p91"/>
          <p:cNvGrpSpPr/>
          <p:nvPr/>
        </p:nvGrpSpPr>
        <p:grpSpPr>
          <a:xfrm>
            <a:off x="2032069" y="2342822"/>
            <a:ext cx="2346325" cy="571500"/>
            <a:chOff x="2032069" y="2342822"/>
            <a:chExt cx="2346325" cy="571500"/>
          </a:xfrm>
        </p:grpSpPr>
        <p:cxnSp>
          <p:nvCxnSpPr>
            <p:cNvPr id="5187" name="Google Shape;5187;p91"/>
            <p:cNvCxnSpPr/>
            <p:nvPr/>
          </p:nvCxnSpPr>
          <p:spPr>
            <a:xfrm>
              <a:off x="2032069"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5188" name="Google Shape;5188;p91"/>
            <p:cNvSpPr/>
            <p:nvPr/>
          </p:nvSpPr>
          <p:spPr>
            <a:xfrm>
              <a:off x="2735331"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89" name="Google Shape;5189;p91"/>
            <p:cNvSpPr txBox="1"/>
            <p:nvPr/>
          </p:nvSpPr>
          <p:spPr>
            <a:xfrm>
              <a:off x="2176531"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cxnSp>
        <p:nvCxnSpPr>
          <p:cNvPr id="5190" name="Google Shape;5190;p91"/>
          <p:cNvCxnSpPr/>
          <p:nvPr/>
        </p:nvCxnSpPr>
        <p:spPr>
          <a:xfrm>
            <a:off x="2011431"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5191" name="Google Shape;5191;p91"/>
          <p:cNvCxnSpPr/>
          <p:nvPr/>
        </p:nvCxnSpPr>
        <p:spPr>
          <a:xfrm>
            <a:off x="4438719" y="2096760"/>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5192" name="Google Shape;5192;p91"/>
          <p:cNvGrpSpPr/>
          <p:nvPr/>
        </p:nvGrpSpPr>
        <p:grpSpPr>
          <a:xfrm>
            <a:off x="2019369" y="4104947"/>
            <a:ext cx="2351087" cy="512763"/>
            <a:chOff x="2019369" y="4104947"/>
            <a:chExt cx="2351087" cy="512763"/>
          </a:xfrm>
        </p:grpSpPr>
        <p:cxnSp>
          <p:nvCxnSpPr>
            <p:cNvPr id="5193" name="Google Shape;5193;p91"/>
            <p:cNvCxnSpPr/>
            <p:nvPr/>
          </p:nvCxnSpPr>
          <p:spPr>
            <a:xfrm>
              <a:off x="2019369" y="4111297"/>
              <a:ext cx="2351087" cy="506413"/>
            </a:xfrm>
            <a:prstGeom prst="straightConnector1">
              <a:avLst/>
            </a:prstGeom>
            <a:noFill/>
            <a:ln cap="flat" cmpd="sng" w="28575">
              <a:solidFill>
                <a:srgbClr val="3333CC"/>
              </a:solidFill>
              <a:prstDash val="solid"/>
              <a:round/>
              <a:headEnd len="med" w="med" type="none"/>
              <a:tailEnd len="med" w="med" type="triangle"/>
            </a:ln>
          </p:spPr>
        </p:cxnSp>
        <p:sp>
          <p:nvSpPr>
            <p:cNvPr id="5194" name="Google Shape;5194;p91"/>
            <p:cNvSpPr/>
            <p:nvPr/>
          </p:nvSpPr>
          <p:spPr>
            <a:xfrm>
              <a:off x="2628969" y="4104947"/>
              <a:ext cx="989012" cy="4302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95" name="Google Shape;5195;p91"/>
            <p:cNvSpPr txBox="1"/>
            <p:nvPr/>
          </p:nvSpPr>
          <p:spPr>
            <a:xfrm>
              <a:off x="2165419" y="4185910"/>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grpSp>
        <p:nvGrpSpPr>
          <p:cNvPr id="5196" name="Google Shape;5196;p91"/>
          <p:cNvGrpSpPr/>
          <p:nvPr/>
        </p:nvGrpSpPr>
        <p:grpSpPr>
          <a:xfrm>
            <a:off x="2857569" y="3004810"/>
            <a:ext cx="1484312" cy="628650"/>
            <a:chOff x="2857569" y="3004810"/>
            <a:chExt cx="1484312" cy="628650"/>
          </a:xfrm>
        </p:grpSpPr>
        <p:cxnSp>
          <p:nvCxnSpPr>
            <p:cNvPr id="5197" name="Google Shape;5197;p91"/>
            <p:cNvCxnSpPr/>
            <p:nvPr/>
          </p:nvCxnSpPr>
          <p:spPr>
            <a:xfrm flipH="1">
              <a:off x="3068706" y="3004810"/>
              <a:ext cx="1273175" cy="427037"/>
            </a:xfrm>
            <a:prstGeom prst="straightConnector1">
              <a:avLst/>
            </a:prstGeom>
            <a:noFill/>
            <a:ln cap="flat" cmpd="sng" w="28575">
              <a:solidFill>
                <a:srgbClr val="3333CC"/>
              </a:solidFill>
              <a:prstDash val="solid"/>
              <a:round/>
              <a:headEnd len="med" w="med" type="none"/>
              <a:tailEnd len="med" w="med" type="triangle"/>
            </a:ln>
          </p:spPr>
        </p:cxnSp>
        <p:sp>
          <p:nvSpPr>
            <p:cNvPr id="5198" name="Google Shape;5198;p91"/>
            <p:cNvSpPr/>
            <p:nvPr/>
          </p:nvSpPr>
          <p:spPr>
            <a:xfrm>
              <a:off x="3303656" y="3090535"/>
              <a:ext cx="747713"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99" name="Google Shape;5199;p91"/>
            <p:cNvSpPr txBox="1"/>
            <p:nvPr/>
          </p:nvSpPr>
          <p:spPr>
            <a:xfrm>
              <a:off x="3224281" y="30460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200" name="Google Shape;5200;p91"/>
            <p:cNvSpPr txBox="1"/>
            <p:nvPr/>
          </p:nvSpPr>
          <p:spPr>
            <a:xfrm>
              <a:off x="2857569" y="3236585"/>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grpSp>
      <p:grpSp>
        <p:nvGrpSpPr>
          <p:cNvPr id="5201" name="Google Shape;5201;p91"/>
          <p:cNvGrpSpPr/>
          <p:nvPr/>
        </p:nvGrpSpPr>
        <p:grpSpPr>
          <a:xfrm>
            <a:off x="2008256" y="4703435"/>
            <a:ext cx="2338388" cy="782637"/>
            <a:chOff x="2008256" y="4703435"/>
            <a:chExt cx="2338388" cy="782637"/>
          </a:xfrm>
        </p:grpSpPr>
        <p:cxnSp>
          <p:nvCxnSpPr>
            <p:cNvPr id="5202" name="Google Shape;5202;p91"/>
            <p:cNvCxnSpPr/>
            <p:nvPr/>
          </p:nvCxnSpPr>
          <p:spPr>
            <a:xfrm flipH="1">
              <a:off x="2008256" y="4703435"/>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5203" name="Google Shape;5203;p91"/>
            <p:cNvSpPr/>
            <p:nvPr/>
          </p:nvSpPr>
          <p:spPr>
            <a:xfrm>
              <a:off x="2841694" y="4960610"/>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04" name="Google Shape;5204;p91"/>
            <p:cNvSpPr txBox="1"/>
            <p:nvPr/>
          </p:nvSpPr>
          <p:spPr>
            <a:xfrm>
              <a:off x="2762319" y="4916160"/>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grpSp>
        <p:nvGrpSpPr>
          <p:cNvPr id="5205" name="Google Shape;5205;p91"/>
          <p:cNvGrpSpPr/>
          <p:nvPr/>
        </p:nvGrpSpPr>
        <p:grpSpPr>
          <a:xfrm>
            <a:off x="1638369" y="2347585"/>
            <a:ext cx="396875" cy="1739900"/>
            <a:chOff x="1638369" y="2347585"/>
            <a:chExt cx="396875" cy="1739900"/>
          </a:xfrm>
        </p:grpSpPr>
        <p:sp>
          <p:nvSpPr>
            <p:cNvPr id="5206" name="Google Shape;5206;p91"/>
            <p:cNvSpPr txBox="1"/>
            <p:nvPr/>
          </p:nvSpPr>
          <p:spPr>
            <a:xfrm rot="-5400000">
              <a:off x="1492319" y="3036560"/>
              <a:ext cx="6889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207" name="Google Shape;5207;p91"/>
            <p:cNvGrpSpPr/>
            <p:nvPr/>
          </p:nvGrpSpPr>
          <p:grpSpPr>
            <a:xfrm>
              <a:off x="1779656" y="2347585"/>
              <a:ext cx="104775" cy="508000"/>
              <a:chOff x="3099" y="1749"/>
              <a:chExt cx="66" cy="320"/>
            </a:xfrm>
          </p:grpSpPr>
          <p:cxnSp>
            <p:nvCxnSpPr>
              <p:cNvPr id="5208" name="Google Shape;5208;p91"/>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09" name="Google Shape;5209;p91"/>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210" name="Google Shape;5210;p91"/>
            <p:cNvGrpSpPr/>
            <p:nvPr/>
          </p:nvGrpSpPr>
          <p:grpSpPr>
            <a:xfrm rot="10800000">
              <a:off x="1763782" y="3579485"/>
              <a:ext cx="104775" cy="508000"/>
              <a:chOff x="3106" y="1756"/>
              <a:chExt cx="66" cy="320"/>
            </a:xfrm>
          </p:grpSpPr>
          <p:cxnSp>
            <p:nvCxnSpPr>
              <p:cNvPr id="5211" name="Google Shape;5211;p91"/>
              <p:cNvCxnSpPr/>
              <p:nvPr/>
            </p:nvCxnSpPr>
            <p:spPr>
              <a:xfrm rot="10800000">
                <a:off x="3136"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12" name="Google Shape;5212;p91"/>
              <p:cNvCxnSpPr/>
              <p:nvPr/>
            </p:nvCxnSpPr>
            <p:spPr>
              <a:xfrm>
                <a:off x="3106" y="1759"/>
                <a:ext cx="66" cy="0"/>
              </a:xfrm>
              <a:prstGeom prst="straightConnector1">
                <a:avLst/>
              </a:prstGeom>
              <a:noFill/>
              <a:ln cap="flat" cmpd="sng" w="9525">
                <a:solidFill>
                  <a:srgbClr val="000000"/>
                </a:solidFill>
                <a:prstDash val="solid"/>
                <a:round/>
                <a:headEnd len="med" w="med" type="none"/>
                <a:tailEnd len="med" w="med" type="none"/>
              </a:ln>
            </p:spPr>
          </p:cxnSp>
        </p:grpSp>
      </p:grpSp>
      <p:sp>
        <p:nvSpPr>
          <p:cNvPr id="5213" name="Google Shape;5213;p91"/>
          <p:cNvSpPr txBox="1"/>
          <p:nvPr/>
        </p:nvSpPr>
        <p:spPr>
          <a:xfrm>
            <a:off x="7759116" y="5873422"/>
            <a:ext cx="20732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premature timeout</a:t>
            </a:r>
            <a:endParaRPr b="0" i="0" sz="1000" u="none" cap="none" strike="noStrike">
              <a:solidFill>
                <a:srgbClr val="000000"/>
              </a:solidFill>
              <a:latin typeface="Tahoma"/>
              <a:ea typeface="Tahoma"/>
              <a:cs typeface="Tahoma"/>
              <a:sym typeface="Tahoma"/>
            </a:endParaRPr>
          </a:p>
        </p:txBody>
      </p:sp>
      <p:sp>
        <p:nvSpPr>
          <p:cNvPr id="5214" name="Google Shape;5214;p91"/>
          <p:cNvSpPr txBox="1"/>
          <p:nvPr/>
        </p:nvSpPr>
        <p:spPr>
          <a:xfrm>
            <a:off x="9567278"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215" name="Google Shape;5215;p91"/>
          <p:cNvSpPr txBox="1"/>
          <p:nvPr/>
        </p:nvSpPr>
        <p:spPr>
          <a:xfrm>
            <a:off x="7233653"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cxnSp>
        <p:nvCxnSpPr>
          <p:cNvPr id="5216" name="Google Shape;5216;p91"/>
          <p:cNvCxnSpPr/>
          <p:nvPr/>
        </p:nvCxnSpPr>
        <p:spPr>
          <a:xfrm>
            <a:off x="7608303"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5217" name="Google Shape;5217;p91"/>
          <p:cNvCxnSpPr/>
          <p:nvPr/>
        </p:nvCxnSpPr>
        <p:spPr>
          <a:xfrm>
            <a:off x="10013366" y="2096760"/>
            <a:ext cx="0" cy="3538537"/>
          </a:xfrm>
          <a:prstGeom prst="straightConnector1">
            <a:avLst/>
          </a:prstGeom>
          <a:noFill/>
          <a:ln cap="flat" cmpd="sng" w="9525">
            <a:solidFill>
              <a:srgbClr val="808080"/>
            </a:solidFill>
            <a:prstDash val="solid"/>
            <a:round/>
            <a:headEnd len="med" w="med" type="none"/>
            <a:tailEnd len="med" w="med" type="none"/>
          </a:ln>
        </p:spPr>
      </p:cxnSp>
      <p:sp>
        <p:nvSpPr>
          <p:cNvPr id="5218" name="Google Shape;5218;p91"/>
          <p:cNvSpPr/>
          <p:nvPr/>
        </p:nvSpPr>
        <p:spPr>
          <a:xfrm>
            <a:off x="8621128" y="4228772"/>
            <a:ext cx="1057275"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219" name="Google Shape;5219;p91"/>
          <p:cNvGrpSpPr/>
          <p:nvPr/>
        </p:nvGrpSpPr>
        <p:grpSpPr>
          <a:xfrm>
            <a:off x="7595603" y="4111297"/>
            <a:ext cx="2441575" cy="668338"/>
            <a:chOff x="7595603" y="4111297"/>
            <a:chExt cx="2441575" cy="668338"/>
          </a:xfrm>
        </p:grpSpPr>
        <p:cxnSp>
          <p:nvCxnSpPr>
            <p:cNvPr id="5220" name="Google Shape;5220;p91"/>
            <p:cNvCxnSpPr/>
            <p:nvPr/>
          </p:nvCxnSpPr>
          <p:spPr>
            <a:xfrm>
              <a:off x="7595603" y="4111297"/>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5221" name="Google Shape;5221;p91"/>
            <p:cNvSpPr txBox="1"/>
            <p:nvPr/>
          </p:nvSpPr>
          <p:spPr>
            <a:xfrm>
              <a:off x="8541753" y="4262110"/>
              <a:ext cx="12128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bytes of data</a:t>
              </a:r>
              <a:endParaRPr/>
            </a:p>
          </p:txBody>
        </p:sp>
      </p:grpSp>
      <p:sp>
        <p:nvSpPr>
          <p:cNvPr id="5222" name="Google Shape;5222;p91"/>
          <p:cNvSpPr/>
          <p:nvPr/>
        </p:nvSpPr>
        <p:spPr>
          <a:xfrm>
            <a:off x="8460791" y="5071735"/>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223" name="Google Shape;5223;p91"/>
          <p:cNvGrpSpPr/>
          <p:nvPr/>
        </p:nvGrpSpPr>
        <p:grpSpPr>
          <a:xfrm>
            <a:off x="7627353" y="4814560"/>
            <a:ext cx="2338388" cy="782637"/>
            <a:chOff x="7627353" y="4814560"/>
            <a:chExt cx="2338388" cy="782637"/>
          </a:xfrm>
        </p:grpSpPr>
        <p:cxnSp>
          <p:nvCxnSpPr>
            <p:cNvPr id="5224" name="Google Shape;5224;p91"/>
            <p:cNvCxnSpPr/>
            <p:nvPr/>
          </p:nvCxnSpPr>
          <p:spPr>
            <a:xfrm flipH="1">
              <a:off x="7627353" y="4814560"/>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5225" name="Google Shape;5225;p91"/>
            <p:cNvSpPr txBox="1"/>
            <p:nvPr/>
          </p:nvSpPr>
          <p:spPr>
            <a:xfrm>
              <a:off x="8381416" y="50272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nvGrpSpPr>
          <p:cNvPr id="5226" name="Google Shape;5226;p91"/>
          <p:cNvGrpSpPr/>
          <p:nvPr/>
        </p:nvGrpSpPr>
        <p:grpSpPr>
          <a:xfrm>
            <a:off x="7235241" y="2347585"/>
            <a:ext cx="396875" cy="1739900"/>
            <a:chOff x="7235241" y="2347585"/>
            <a:chExt cx="396875" cy="1739900"/>
          </a:xfrm>
        </p:grpSpPr>
        <p:sp>
          <p:nvSpPr>
            <p:cNvPr id="5227" name="Google Shape;5227;p91"/>
            <p:cNvSpPr txBox="1"/>
            <p:nvPr/>
          </p:nvSpPr>
          <p:spPr>
            <a:xfrm rot="-5400000">
              <a:off x="7089191" y="3036560"/>
              <a:ext cx="6889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228" name="Google Shape;5228;p91"/>
            <p:cNvGrpSpPr/>
            <p:nvPr/>
          </p:nvGrpSpPr>
          <p:grpSpPr>
            <a:xfrm>
              <a:off x="7376528" y="2347585"/>
              <a:ext cx="104775" cy="508000"/>
              <a:chOff x="3099" y="1749"/>
              <a:chExt cx="66" cy="320"/>
            </a:xfrm>
          </p:grpSpPr>
          <p:cxnSp>
            <p:nvCxnSpPr>
              <p:cNvPr id="5229" name="Google Shape;5229;p91"/>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30" name="Google Shape;5230;p91"/>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231" name="Google Shape;5231;p91"/>
            <p:cNvGrpSpPr/>
            <p:nvPr/>
          </p:nvGrpSpPr>
          <p:grpSpPr>
            <a:xfrm rot="10800000">
              <a:off x="7359066" y="3579485"/>
              <a:ext cx="104775" cy="508000"/>
              <a:chOff x="3107" y="1756"/>
              <a:chExt cx="66" cy="320"/>
            </a:xfrm>
          </p:grpSpPr>
          <p:cxnSp>
            <p:nvCxnSpPr>
              <p:cNvPr id="5232" name="Google Shape;5232;p91"/>
              <p:cNvCxnSpPr/>
              <p:nvPr/>
            </p:nvCxnSpPr>
            <p:spPr>
              <a:xfrm rot="10800000">
                <a:off x="3137"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233" name="Google Shape;5233;p91"/>
              <p:cNvCxnSpPr/>
              <p:nvPr/>
            </p:nvCxnSpPr>
            <p:spPr>
              <a:xfrm>
                <a:off x="3107" y="1759"/>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5234" name="Google Shape;5234;p91"/>
          <p:cNvGrpSpPr/>
          <p:nvPr/>
        </p:nvGrpSpPr>
        <p:grpSpPr>
          <a:xfrm>
            <a:off x="7603541" y="3004810"/>
            <a:ext cx="2339975" cy="1944687"/>
            <a:chOff x="7603541" y="3004810"/>
            <a:chExt cx="2339975" cy="1944687"/>
          </a:xfrm>
        </p:grpSpPr>
        <p:cxnSp>
          <p:nvCxnSpPr>
            <p:cNvPr id="5235" name="Google Shape;5235;p91"/>
            <p:cNvCxnSpPr/>
            <p:nvPr/>
          </p:nvCxnSpPr>
          <p:spPr>
            <a:xfrm flipH="1">
              <a:off x="7603541" y="3004810"/>
              <a:ext cx="2335212" cy="1589087"/>
            </a:xfrm>
            <a:prstGeom prst="straightConnector1">
              <a:avLst/>
            </a:prstGeom>
            <a:noFill/>
            <a:ln cap="flat" cmpd="sng" w="28575">
              <a:solidFill>
                <a:srgbClr val="3333CC"/>
              </a:solidFill>
              <a:prstDash val="solid"/>
              <a:round/>
              <a:headEnd len="med" w="med" type="none"/>
              <a:tailEnd len="med" w="med" type="triangle"/>
            </a:ln>
          </p:spPr>
        </p:cxnSp>
        <p:grpSp>
          <p:nvGrpSpPr>
            <p:cNvPr id="5236" name="Google Shape;5236;p91"/>
            <p:cNvGrpSpPr/>
            <p:nvPr/>
          </p:nvGrpSpPr>
          <p:grpSpPr>
            <a:xfrm>
              <a:off x="8505241" y="3496935"/>
              <a:ext cx="949325" cy="304800"/>
              <a:chOff x="4215" y="2253"/>
              <a:chExt cx="598" cy="192"/>
            </a:xfrm>
          </p:grpSpPr>
          <p:sp>
            <p:nvSpPr>
              <p:cNvPr id="5237" name="Google Shape;5237;p91"/>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38" name="Google Shape;5238;p91"/>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5239" name="Google Shape;5239;p91"/>
            <p:cNvCxnSpPr/>
            <p:nvPr/>
          </p:nvCxnSpPr>
          <p:spPr>
            <a:xfrm flipH="1">
              <a:off x="7608303" y="3360410"/>
              <a:ext cx="2335213" cy="1589087"/>
            </a:xfrm>
            <a:prstGeom prst="straightConnector1">
              <a:avLst/>
            </a:prstGeom>
            <a:noFill/>
            <a:ln cap="flat" cmpd="sng" w="28575">
              <a:solidFill>
                <a:srgbClr val="3333CC"/>
              </a:solidFill>
              <a:prstDash val="solid"/>
              <a:round/>
              <a:headEnd len="med" w="med" type="none"/>
              <a:tailEnd len="med" w="med" type="triangle"/>
            </a:ln>
          </p:spPr>
        </p:cxnSp>
        <p:grpSp>
          <p:nvGrpSpPr>
            <p:cNvPr id="5240" name="Google Shape;5240;p91"/>
            <p:cNvGrpSpPr/>
            <p:nvPr/>
          </p:nvGrpSpPr>
          <p:grpSpPr>
            <a:xfrm>
              <a:off x="8744953" y="3773160"/>
              <a:ext cx="949325" cy="304800"/>
              <a:chOff x="4215" y="2253"/>
              <a:chExt cx="598" cy="192"/>
            </a:xfrm>
          </p:grpSpPr>
          <p:sp>
            <p:nvSpPr>
              <p:cNvPr id="5241" name="Google Shape;5241;p91"/>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42" name="Google Shape;5242;p91"/>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5243" name="Google Shape;5243;p91"/>
          <p:cNvGrpSpPr/>
          <p:nvPr/>
        </p:nvGrpSpPr>
        <p:grpSpPr>
          <a:xfrm>
            <a:off x="6241466" y="4416097"/>
            <a:ext cx="1382712" cy="646113"/>
            <a:chOff x="6241466" y="4416097"/>
            <a:chExt cx="1382712" cy="646113"/>
          </a:xfrm>
        </p:grpSpPr>
        <p:sp>
          <p:nvSpPr>
            <p:cNvPr id="5244" name="Google Shape;5244;p91"/>
            <p:cNvSpPr txBox="1"/>
            <p:nvPr/>
          </p:nvSpPr>
          <p:spPr>
            <a:xfrm>
              <a:off x="6241466" y="4416097"/>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SendBase=100</a:t>
              </a:r>
              <a:endParaRPr/>
            </a:p>
          </p:txBody>
        </p:sp>
        <p:sp>
          <p:nvSpPr>
            <p:cNvPr id="5245" name="Google Shape;5245;p91"/>
            <p:cNvSpPr txBox="1"/>
            <p:nvPr/>
          </p:nvSpPr>
          <p:spPr>
            <a:xfrm>
              <a:off x="6260516" y="4757410"/>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sp>
        <p:nvSpPr>
          <p:cNvPr id="5246" name="Google Shape;5246;p91"/>
          <p:cNvSpPr txBox="1"/>
          <p:nvPr/>
        </p:nvSpPr>
        <p:spPr>
          <a:xfrm>
            <a:off x="6279566" y="5432097"/>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nvGrpSpPr>
          <p:cNvPr id="5247" name="Google Shape;5247;p91"/>
          <p:cNvGrpSpPr/>
          <p:nvPr/>
        </p:nvGrpSpPr>
        <p:grpSpPr>
          <a:xfrm>
            <a:off x="6306553" y="2187247"/>
            <a:ext cx="3668713" cy="1112838"/>
            <a:chOff x="6306553" y="2187247"/>
            <a:chExt cx="3668713" cy="1112838"/>
          </a:xfrm>
        </p:grpSpPr>
        <p:cxnSp>
          <p:nvCxnSpPr>
            <p:cNvPr id="5248" name="Google Shape;5248;p91"/>
            <p:cNvCxnSpPr/>
            <p:nvPr/>
          </p:nvCxnSpPr>
          <p:spPr>
            <a:xfrm>
              <a:off x="7628941"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5249" name="Google Shape;5249;p91"/>
            <p:cNvSpPr/>
            <p:nvPr/>
          </p:nvSpPr>
          <p:spPr>
            <a:xfrm>
              <a:off x="8332203"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50" name="Google Shape;5250;p91"/>
            <p:cNvSpPr txBox="1"/>
            <p:nvPr/>
          </p:nvSpPr>
          <p:spPr>
            <a:xfrm>
              <a:off x="7773403"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nvGrpSpPr>
            <p:cNvPr id="5251" name="Google Shape;5251;p91"/>
            <p:cNvGrpSpPr/>
            <p:nvPr/>
          </p:nvGrpSpPr>
          <p:grpSpPr>
            <a:xfrm>
              <a:off x="7614653" y="2728585"/>
              <a:ext cx="2346325" cy="571500"/>
              <a:chOff x="3759" y="1622"/>
              <a:chExt cx="1478" cy="360"/>
            </a:xfrm>
          </p:grpSpPr>
          <p:cxnSp>
            <p:nvCxnSpPr>
              <p:cNvPr id="5252" name="Google Shape;5252;p91"/>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5253" name="Google Shape;5253;p91"/>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54" name="Google Shape;5254;p91"/>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sp>
          <p:nvSpPr>
            <p:cNvPr id="5255" name="Google Shape;5255;p91"/>
            <p:cNvSpPr txBox="1"/>
            <p:nvPr/>
          </p:nvSpPr>
          <p:spPr>
            <a:xfrm>
              <a:off x="6306553" y="2187247"/>
              <a:ext cx="1266825" cy="3048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SendBase=92</a:t>
              </a:r>
              <a:endParaRPr/>
            </a:p>
          </p:txBody>
        </p:sp>
      </p:grpSp>
      <p:grpSp>
        <p:nvGrpSpPr>
          <p:cNvPr id="5256" name="Google Shape;5256;p91"/>
          <p:cNvGrpSpPr/>
          <p:nvPr/>
        </p:nvGrpSpPr>
        <p:grpSpPr>
          <a:xfrm>
            <a:off x="7186028" y="1463347"/>
            <a:ext cx="630238" cy="533400"/>
            <a:chOff x="-44" y="1473"/>
            <a:chExt cx="981" cy="1105"/>
          </a:xfrm>
        </p:grpSpPr>
        <p:pic>
          <p:nvPicPr>
            <p:cNvPr descr="desktop_computer_stylized_medium" id="5257" name="Google Shape;5257;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58" name="Google Shape;5258;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59" name="Google Shape;5259;p91"/>
          <p:cNvGrpSpPr/>
          <p:nvPr/>
        </p:nvGrpSpPr>
        <p:grpSpPr>
          <a:xfrm flipH="1">
            <a:off x="9753016" y="1469697"/>
            <a:ext cx="631825" cy="622300"/>
            <a:chOff x="-44" y="1473"/>
            <a:chExt cx="981" cy="1105"/>
          </a:xfrm>
        </p:grpSpPr>
        <p:pic>
          <p:nvPicPr>
            <p:cNvPr descr="desktop_computer_stylized_medium" id="5260" name="Google Shape;5260;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1" name="Google Shape;5261;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62" name="Google Shape;5262;p91"/>
          <p:cNvGrpSpPr/>
          <p:nvPr/>
        </p:nvGrpSpPr>
        <p:grpSpPr>
          <a:xfrm>
            <a:off x="1601856" y="1474460"/>
            <a:ext cx="630238" cy="533400"/>
            <a:chOff x="-44" y="1473"/>
            <a:chExt cx="981" cy="1105"/>
          </a:xfrm>
        </p:grpSpPr>
        <p:pic>
          <p:nvPicPr>
            <p:cNvPr descr="desktop_computer_stylized_medium" id="5263" name="Google Shape;5263;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4" name="Google Shape;5264;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65" name="Google Shape;5265;p91"/>
          <p:cNvGrpSpPr/>
          <p:nvPr/>
        </p:nvGrpSpPr>
        <p:grpSpPr>
          <a:xfrm flipH="1">
            <a:off x="4179956" y="1458585"/>
            <a:ext cx="709613" cy="600075"/>
            <a:chOff x="-44" y="1473"/>
            <a:chExt cx="981" cy="1105"/>
          </a:xfrm>
        </p:grpSpPr>
        <p:pic>
          <p:nvPicPr>
            <p:cNvPr descr="desktop_computer_stylized_medium" id="5266" name="Google Shape;5266;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7" name="Google Shape;5267;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268" name="Google Shape;5268;p91"/>
          <p:cNvSpPr txBox="1"/>
          <p:nvPr/>
        </p:nvSpPr>
        <p:spPr>
          <a:xfrm>
            <a:off x="9973410" y="4508500"/>
            <a:ext cx="1591398" cy="5355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send cumulative </a:t>
            </a:r>
            <a:endParaRPr/>
          </a:p>
          <a:p>
            <a:pPr indent="0" lvl="0" marL="0" marR="0" rtl="0" algn="l">
              <a:lnSpc>
                <a:spcPct val="9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ACK for 120</a:t>
            </a:r>
            <a:endParaRPr/>
          </a:p>
        </p:txBody>
      </p:sp>
      <p:sp>
        <p:nvSpPr>
          <p:cNvPr id="5269" name="Google Shape;5269;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6"/>
                                        </p:tgtEl>
                                        <p:attrNameLst>
                                          <p:attrName>style.visibility</p:attrName>
                                        </p:attrNameLst>
                                      </p:cBhvr>
                                      <p:to>
                                        <p:strVal val="visible"/>
                                      </p:to>
                                    </p:set>
                                    <p:animEffect filter="fade" transition="in">
                                      <p:cBhvr>
                                        <p:cTn dur="500"/>
                                        <p:tgtEl>
                                          <p:spTgt spid="51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96"/>
                                        </p:tgtEl>
                                        <p:attrNameLst>
                                          <p:attrName>style.visibility</p:attrName>
                                        </p:attrNameLst>
                                      </p:cBhvr>
                                      <p:to>
                                        <p:strVal val="visible"/>
                                      </p:to>
                                    </p:set>
                                    <p:animEffect filter="fade" transition="in">
                                      <p:cBhvr>
                                        <p:cTn dur="500"/>
                                        <p:tgtEl>
                                          <p:spTgt spid="5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5"/>
                                        </p:tgtEl>
                                        <p:attrNameLst>
                                          <p:attrName>style.visibility</p:attrName>
                                        </p:attrNameLst>
                                      </p:cBhvr>
                                      <p:to>
                                        <p:strVal val="visible"/>
                                      </p:to>
                                    </p:set>
                                    <p:animEffect filter="fade" transition="in">
                                      <p:cBhvr>
                                        <p:cTn dur="500"/>
                                        <p:tgtEl>
                                          <p:spTgt spid="52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92"/>
                                        </p:tgtEl>
                                        <p:attrNameLst>
                                          <p:attrName>style.visibility</p:attrName>
                                        </p:attrNameLst>
                                      </p:cBhvr>
                                      <p:to>
                                        <p:strVal val="visible"/>
                                      </p:to>
                                    </p:set>
                                    <p:animEffect filter="fade" transition="in">
                                      <p:cBhvr>
                                        <p:cTn dur="500"/>
                                        <p:tgtEl>
                                          <p:spTgt spid="51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01"/>
                                        </p:tgtEl>
                                        <p:attrNameLst>
                                          <p:attrName>style.visibility</p:attrName>
                                        </p:attrNameLst>
                                      </p:cBhvr>
                                      <p:to>
                                        <p:strVal val="visible"/>
                                      </p:to>
                                    </p:set>
                                    <p:animEffect filter="fade" transition="in">
                                      <p:cBhvr>
                                        <p:cTn dur="500"/>
                                        <p:tgtEl>
                                          <p:spTgt spid="5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7"/>
                                        </p:tgtEl>
                                        <p:attrNameLst>
                                          <p:attrName>style.visibility</p:attrName>
                                        </p:attrNameLst>
                                      </p:cBhvr>
                                      <p:to>
                                        <p:strVal val="visible"/>
                                      </p:to>
                                    </p:set>
                                    <p:animEffect filter="fade" transition="in">
                                      <p:cBhvr>
                                        <p:cTn dur="500"/>
                                        <p:tgtEl>
                                          <p:spTgt spid="52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34"/>
                                        </p:tgtEl>
                                        <p:attrNameLst>
                                          <p:attrName>style.visibility</p:attrName>
                                        </p:attrNameLst>
                                      </p:cBhvr>
                                      <p:to>
                                        <p:strVal val="visible"/>
                                      </p:to>
                                    </p:set>
                                    <p:animEffect filter="fade" transition="in">
                                      <p:cBhvr>
                                        <p:cTn dur="500"/>
                                        <p:tgtEl>
                                          <p:spTgt spid="52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43"/>
                                        </p:tgtEl>
                                        <p:attrNameLst>
                                          <p:attrName>style.visibility</p:attrName>
                                        </p:attrNameLst>
                                      </p:cBhvr>
                                      <p:to>
                                        <p:strVal val="visible"/>
                                      </p:to>
                                    </p:set>
                                    <p:animEffect filter="fade" transition="in">
                                      <p:cBhvr>
                                        <p:cTn dur="500"/>
                                        <p:tgtEl>
                                          <p:spTgt spid="5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6"/>
                                        </p:tgtEl>
                                        <p:attrNameLst>
                                          <p:attrName>style.visibility</p:attrName>
                                        </p:attrNameLst>
                                      </p:cBhvr>
                                      <p:to>
                                        <p:strVal val="visible"/>
                                      </p:to>
                                    </p:set>
                                    <p:animEffect filter="fade" transition="in">
                                      <p:cBhvr>
                                        <p:cTn dur="500"/>
                                        <p:tgtEl>
                                          <p:spTgt spid="52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19"/>
                                        </p:tgtEl>
                                        <p:attrNameLst>
                                          <p:attrName>style.visibility</p:attrName>
                                        </p:attrNameLst>
                                      </p:cBhvr>
                                      <p:to>
                                        <p:strVal val="visible"/>
                                      </p:to>
                                    </p:set>
                                    <p:animEffect filter="fade" transition="in">
                                      <p:cBhvr>
                                        <p:cTn dur="500"/>
                                        <p:tgtEl>
                                          <p:spTgt spid="52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68"/>
                                        </p:tgtEl>
                                        <p:attrNameLst>
                                          <p:attrName>style.visibility</p:attrName>
                                        </p:attrNameLst>
                                      </p:cBhvr>
                                      <p:to>
                                        <p:strVal val="visible"/>
                                      </p:to>
                                    </p:set>
                                    <p:animEffect filter="fade" transition="in">
                                      <p:cBhvr>
                                        <p:cTn dur="500"/>
                                        <p:tgtEl>
                                          <p:spTgt spid="526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223"/>
                                        </p:tgtEl>
                                        <p:attrNameLst>
                                          <p:attrName>style.visibility</p:attrName>
                                        </p:attrNameLst>
                                      </p:cBhvr>
                                      <p:to>
                                        <p:strVal val="visible"/>
                                      </p:to>
                                    </p:set>
                                    <p:animEffect filter="fade" transition="in">
                                      <p:cBhvr>
                                        <p:cTn dur="500"/>
                                        <p:tgtEl>
                                          <p:spTgt spid="522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246"/>
                                        </p:tgtEl>
                                        <p:attrNameLst>
                                          <p:attrName>style.visibility</p:attrName>
                                        </p:attrNameLst>
                                      </p:cBhvr>
                                      <p:to>
                                        <p:strVal val="visible"/>
                                      </p:to>
                                    </p:set>
                                    <p:animEffect filter="fade" transition="in">
                                      <p:cBhvr>
                                        <p:cTn dur="500"/>
                                        <p:tgtEl>
                                          <p:spTgt spid="5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4" name="Shape 5274"/>
        <p:cNvGrpSpPr/>
        <p:nvPr/>
      </p:nvGrpSpPr>
      <p:grpSpPr>
        <a:xfrm>
          <a:off x="0" y="0"/>
          <a:ext cx="0" cy="0"/>
          <a:chOff x="0" y="0"/>
          <a:chExt cx="0" cy="0"/>
        </a:xfrm>
      </p:grpSpPr>
      <p:sp>
        <p:nvSpPr>
          <p:cNvPr id="5275" name="Google Shape;5275;p9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5276" name="Google Shape;5276;p92"/>
          <p:cNvSpPr txBox="1"/>
          <p:nvPr/>
        </p:nvSpPr>
        <p:spPr>
          <a:xfrm>
            <a:off x="1902139" y="5486400"/>
            <a:ext cx="254286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cumulative ACK covers for earlier lost ACK</a:t>
            </a:r>
            <a:endParaRPr b="0" i="0" sz="1000" u="none" cap="none" strike="noStrike">
              <a:solidFill>
                <a:srgbClr val="000000"/>
              </a:solidFill>
              <a:latin typeface="Tahoma"/>
              <a:ea typeface="Tahoma"/>
              <a:cs typeface="Tahoma"/>
              <a:sym typeface="Tahoma"/>
            </a:endParaRPr>
          </a:p>
        </p:txBody>
      </p:sp>
      <p:cxnSp>
        <p:nvCxnSpPr>
          <p:cNvPr id="5277" name="Google Shape;5277;p92"/>
          <p:cNvCxnSpPr/>
          <p:nvPr/>
        </p:nvCxnSpPr>
        <p:spPr>
          <a:xfrm>
            <a:off x="2039800" y="2349049"/>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5278" name="Google Shape;5278;p92"/>
          <p:cNvSpPr txBox="1"/>
          <p:nvPr/>
        </p:nvSpPr>
        <p:spPr>
          <a:xfrm>
            <a:off x="3965437" y="1177474"/>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279" name="Google Shape;5279;p92"/>
          <p:cNvSpPr txBox="1"/>
          <p:nvPr/>
        </p:nvSpPr>
        <p:spPr>
          <a:xfrm>
            <a:off x="1644512" y="1207637"/>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sp>
        <p:nvSpPr>
          <p:cNvPr id="5280" name="Google Shape;5280;p92"/>
          <p:cNvSpPr/>
          <p:nvPr/>
        </p:nvSpPr>
        <p:spPr>
          <a:xfrm>
            <a:off x="2743062" y="2430012"/>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81" name="Google Shape;5281;p92"/>
          <p:cNvSpPr txBox="1"/>
          <p:nvPr/>
        </p:nvSpPr>
        <p:spPr>
          <a:xfrm>
            <a:off x="2184262" y="2482399"/>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cxnSp>
        <p:nvCxnSpPr>
          <p:cNvPr id="5282" name="Google Shape;5282;p92"/>
          <p:cNvCxnSpPr/>
          <p:nvPr/>
        </p:nvCxnSpPr>
        <p:spPr>
          <a:xfrm>
            <a:off x="2019162" y="2107749"/>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5283" name="Google Shape;5283;p92"/>
          <p:cNvCxnSpPr/>
          <p:nvPr/>
        </p:nvCxnSpPr>
        <p:spPr>
          <a:xfrm>
            <a:off x="4424225" y="2102987"/>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5284" name="Google Shape;5284;p92"/>
          <p:cNvGrpSpPr/>
          <p:nvPr/>
        </p:nvGrpSpPr>
        <p:grpSpPr>
          <a:xfrm>
            <a:off x="2009637" y="4431849"/>
            <a:ext cx="2652713" cy="879475"/>
            <a:chOff x="2035037" y="4444549"/>
            <a:chExt cx="2652713" cy="879475"/>
          </a:xfrm>
        </p:grpSpPr>
        <p:cxnSp>
          <p:nvCxnSpPr>
            <p:cNvPr id="5285" name="Google Shape;5285;p92"/>
            <p:cNvCxnSpPr/>
            <p:nvPr/>
          </p:nvCxnSpPr>
          <p:spPr>
            <a:xfrm>
              <a:off x="2063612" y="4444549"/>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5286" name="Google Shape;5286;p92"/>
            <p:cNvSpPr/>
            <p:nvPr/>
          </p:nvSpPr>
          <p:spPr>
            <a:xfrm>
              <a:off x="2760525" y="4517574"/>
              <a:ext cx="933450"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87" name="Google Shape;5287;p92"/>
            <p:cNvSpPr txBox="1"/>
            <p:nvPr/>
          </p:nvSpPr>
          <p:spPr>
            <a:xfrm>
              <a:off x="2035037" y="4604887"/>
              <a:ext cx="26527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Seq=120,  15 bytes of data</a:t>
              </a:r>
              <a:endParaRPr/>
            </a:p>
          </p:txBody>
        </p:sp>
        <p:sp>
          <p:nvSpPr>
            <p:cNvPr id="5288" name="Google Shape;5288;p92"/>
            <p:cNvSpPr/>
            <p:nvPr/>
          </p:nvSpPr>
          <p:spPr>
            <a:xfrm>
              <a:off x="2871650" y="5077962"/>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289" name="Google Shape;5289;p92"/>
          <p:cNvGrpSpPr/>
          <p:nvPr/>
        </p:nvGrpSpPr>
        <p:grpSpPr>
          <a:xfrm>
            <a:off x="2025512" y="2734812"/>
            <a:ext cx="2346325" cy="571500"/>
            <a:chOff x="3759" y="1622"/>
            <a:chExt cx="1478" cy="360"/>
          </a:xfrm>
        </p:grpSpPr>
        <p:cxnSp>
          <p:nvCxnSpPr>
            <p:cNvPr id="5290" name="Google Shape;5290;p92"/>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5291" name="Google Shape;5291;p92"/>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92" name="Google Shape;5292;p92"/>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293" name="Google Shape;5293;p92"/>
          <p:cNvGrpSpPr/>
          <p:nvPr/>
        </p:nvGrpSpPr>
        <p:grpSpPr>
          <a:xfrm>
            <a:off x="2030275" y="3011037"/>
            <a:ext cx="2324100" cy="1381125"/>
            <a:chOff x="2030275" y="3011037"/>
            <a:chExt cx="2324100" cy="1381125"/>
          </a:xfrm>
        </p:grpSpPr>
        <p:sp>
          <p:nvSpPr>
            <p:cNvPr id="5294" name="Google Shape;5294;p92"/>
            <p:cNvSpPr txBox="1"/>
            <p:nvPr/>
          </p:nvSpPr>
          <p:spPr>
            <a:xfrm>
              <a:off x="2654162" y="3372987"/>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cxnSp>
          <p:nvCxnSpPr>
            <p:cNvPr id="5295" name="Google Shape;5295;p92"/>
            <p:cNvCxnSpPr/>
            <p:nvPr/>
          </p:nvCxnSpPr>
          <p:spPr>
            <a:xfrm flipH="1">
              <a:off x="2917687" y="3011037"/>
              <a:ext cx="1431925" cy="573087"/>
            </a:xfrm>
            <a:prstGeom prst="straightConnector1">
              <a:avLst/>
            </a:prstGeom>
            <a:noFill/>
            <a:ln cap="flat" cmpd="sng" w="28575">
              <a:solidFill>
                <a:srgbClr val="3333CC"/>
              </a:solidFill>
              <a:prstDash val="solid"/>
              <a:round/>
              <a:headEnd len="med" w="med" type="none"/>
              <a:tailEnd len="med" w="med" type="triangle"/>
            </a:ln>
          </p:spPr>
        </p:cxnSp>
        <p:grpSp>
          <p:nvGrpSpPr>
            <p:cNvPr id="5296" name="Google Shape;5296;p92"/>
            <p:cNvGrpSpPr/>
            <p:nvPr/>
          </p:nvGrpSpPr>
          <p:grpSpPr>
            <a:xfrm>
              <a:off x="2939912" y="3211062"/>
              <a:ext cx="949325" cy="304800"/>
              <a:chOff x="4215" y="2253"/>
              <a:chExt cx="598" cy="192"/>
            </a:xfrm>
          </p:grpSpPr>
          <p:sp>
            <p:nvSpPr>
              <p:cNvPr id="5297" name="Google Shape;5297;p92"/>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298" name="Google Shape;5298;p92"/>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5299" name="Google Shape;5299;p92"/>
            <p:cNvCxnSpPr/>
            <p:nvPr/>
          </p:nvCxnSpPr>
          <p:spPr>
            <a:xfrm flipH="1">
              <a:off x="2030275" y="3366637"/>
              <a:ext cx="2324100" cy="1025525"/>
            </a:xfrm>
            <a:prstGeom prst="straightConnector1">
              <a:avLst/>
            </a:prstGeom>
            <a:noFill/>
            <a:ln cap="flat" cmpd="sng" w="28575">
              <a:solidFill>
                <a:srgbClr val="3333CC"/>
              </a:solidFill>
              <a:prstDash val="solid"/>
              <a:round/>
              <a:headEnd len="med" w="med" type="none"/>
              <a:tailEnd len="med" w="med" type="triangle"/>
            </a:ln>
          </p:spPr>
        </p:cxnSp>
        <p:grpSp>
          <p:nvGrpSpPr>
            <p:cNvPr id="5300" name="Google Shape;5300;p92"/>
            <p:cNvGrpSpPr/>
            <p:nvPr/>
          </p:nvGrpSpPr>
          <p:grpSpPr>
            <a:xfrm>
              <a:off x="2673212" y="3768274"/>
              <a:ext cx="949325" cy="304800"/>
              <a:chOff x="4215" y="2253"/>
              <a:chExt cx="598" cy="192"/>
            </a:xfrm>
          </p:grpSpPr>
          <p:sp>
            <p:nvSpPr>
              <p:cNvPr id="5301" name="Google Shape;5301;p92"/>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02" name="Google Shape;5302;p92"/>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5303" name="Google Shape;5303;p92"/>
          <p:cNvGrpSpPr/>
          <p:nvPr/>
        </p:nvGrpSpPr>
        <p:grpSpPr>
          <a:xfrm>
            <a:off x="1598475" y="1469574"/>
            <a:ext cx="630237" cy="533400"/>
            <a:chOff x="-44" y="1473"/>
            <a:chExt cx="981" cy="1105"/>
          </a:xfrm>
        </p:grpSpPr>
        <p:pic>
          <p:nvPicPr>
            <p:cNvPr descr="desktop_computer_stylized_medium" id="5304" name="Google Shape;5304;p9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05" name="Google Shape;5305;p9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06" name="Google Shape;5306;p92"/>
          <p:cNvGrpSpPr/>
          <p:nvPr/>
        </p:nvGrpSpPr>
        <p:grpSpPr>
          <a:xfrm flipH="1">
            <a:off x="4176575" y="1464812"/>
            <a:ext cx="674687" cy="590550"/>
            <a:chOff x="-44" y="1473"/>
            <a:chExt cx="981" cy="1105"/>
          </a:xfrm>
        </p:grpSpPr>
        <p:pic>
          <p:nvPicPr>
            <p:cNvPr descr="desktop_computer_stylized_medium" id="5307" name="Google Shape;5307;p9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08" name="Google Shape;5308;p9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309" name="Google Shape;5309;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7"/>
                                        </p:tgtEl>
                                        <p:attrNameLst>
                                          <p:attrName>style.visibility</p:attrName>
                                        </p:attrNameLst>
                                      </p:cBhvr>
                                      <p:to>
                                        <p:strVal val="visible"/>
                                      </p:to>
                                    </p:set>
                                    <p:animEffect filter="fade" transition="in">
                                      <p:cBhvr>
                                        <p:cTn dur="500"/>
                                        <p:tgtEl>
                                          <p:spTgt spid="5277"/>
                                        </p:tgtEl>
                                      </p:cBhvr>
                                    </p:animEffect>
                                  </p:childTnLst>
                                </p:cTn>
                              </p:par>
                              <p:par>
                                <p:cTn fill="hold" nodeType="withEffect" presetClass="entr" presetID="10" presetSubtype="0">
                                  <p:stCondLst>
                                    <p:cond delay="0"/>
                                  </p:stCondLst>
                                  <p:childTnLst>
                                    <p:set>
                                      <p:cBhvr>
                                        <p:cTn dur="1" fill="hold">
                                          <p:stCondLst>
                                            <p:cond delay="0"/>
                                          </p:stCondLst>
                                        </p:cTn>
                                        <p:tgtEl>
                                          <p:spTgt spid="5280"/>
                                        </p:tgtEl>
                                        <p:attrNameLst>
                                          <p:attrName>style.visibility</p:attrName>
                                        </p:attrNameLst>
                                      </p:cBhvr>
                                      <p:to>
                                        <p:strVal val="visible"/>
                                      </p:to>
                                    </p:set>
                                    <p:animEffect filter="fade" transition="in">
                                      <p:cBhvr>
                                        <p:cTn dur="500"/>
                                        <p:tgtEl>
                                          <p:spTgt spid="5280"/>
                                        </p:tgtEl>
                                      </p:cBhvr>
                                    </p:animEffect>
                                  </p:childTnLst>
                                </p:cTn>
                              </p:par>
                              <p:par>
                                <p:cTn fill="hold" nodeType="withEffect" presetClass="entr" presetID="10" presetSubtype="0">
                                  <p:stCondLst>
                                    <p:cond delay="0"/>
                                  </p:stCondLst>
                                  <p:childTnLst>
                                    <p:set>
                                      <p:cBhvr>
                                        <p:cTn dur="1" fill="hold">
                                          <p:stCondLst>
                                            <p:cond delay="0"/>
                                          </p:stCondLst>
                                        </p:cTn>
                                        <p:tgtEl>
                                          <p:spTgt spid="5281"/>
                                        </p:tgtEl>
                                        <p:attrNameLst>
                                          <p:attrName>style.visibility</p:attrName>
                                        </p:attrNameLst>
                                      </p:cBhvr>
                                      <p:to>
                                        <p:strVal val="visible"/>
                                      </p:to>
                                    </p:set>
                                    <p:animEffect filter="fade" transition="in">
                                      <p:cBhvr>
                                        <p:cTn dur="500"/>
                                        <p:tgtEl>
                                          <p:spTgt spid="5281"/>
                                        </p:tgtEl>
                                      </p:cBhvr>
                                    </p:animEffect>
                                  </p:childTnLst>
                                </p:cTn>
                              </p:par>
                              <p:par>
                                <p:cTn fill="hold" nodeType="withEffect" presetClass="entr" presetID="10" presetSubtype="0">
                                  <p:stCondLst>
                                    <p:cond delay="0"/>
                                  </p:stCondLst>
                                  <p:childTnLst>
                                    <p:set>
                                      <p:cBhvr>
                                        <p:cTn dur="1" fill="hold">
                                          <p:stCondLst>
                                            <p:cond delay="0"/>
                                          </p:stCondLst>
                                        </p:cTn>
                                        <p:tgtEl>
                                          <p:spTgt spid="5289"/>
                                        </p:tgtEl>
                                        <p:attrNameLst>
                                          <p:attrName>style.visibility</p:attrName>
                                        </p:attrNameLst>
                                      </p:cBhvr>
                                      <p:to>
                                        <p:strVal val="visible"/>
                                      </p:to>
                                    </p:set>
                                    <p:animEffect filter="fade" transition="in">
                                      <p:cBhvr>
                                        <p:cTn dur="500"/>
                                        <p:tgtEl>
                                          <p:spTgt spid="528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93"/>
                                        </p:tgtEl>
                                        <p:attrNameLst>
                                          <p:attrName>style.visibility</p:attrName>
                                        </p:attrNameLst>
                                      </p:cBhvr>
                                      <p:to>
                                        <p:strVal val="visible"/>
                                      </p:to>
                                    </p:set>
                                    <p:animEffect filter="fade" transition="in">
                                      <p:cBhvr>
                                        <p:cTn dur="500"/>
                                        <p:tgtEl>
                                          <p:spTgt spid="5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84"/>
                                        </p:tgtEl>
                                        <p:attrNameLst>
                                          <p:attrName>style.visibility</p:attrName>
                                        </p:attrNameLst>
                                      </p:cBhvr>
                                      <p:to>
                                        <p:strVal val="visible"/>
                                      </p:to>
                                    </p:set>
                                    <p:animEffect filter="fade" transition="in">
                                      <p:cBhvr>
                                        <p:cTn dur="500"/>
                                        <p:tgtEl>
                                          <p:spTgt spid="5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4" name="Shape 5314"/>
        <p:cNvGrpSpPr/>
        <p:nvPr/>
      </p:nvGrpSpPr>
      <p:grpSpPr>
        <a:xfrm>
          <a:off x="0" y="0"/>
          <a:ext cx="0" cy="0"/>
          <a:chOff x="0" y="0"/>
          <a:chExt cx="0" cy="0"/>
        </a:xfrm>
      </p:grpSpPr>
      <p:sp>
        <p:nvSpPr>
          <p:cNvPr id="5315" name="Google Shape;5315;p9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fast retransmit</a:t>
            </a:r>
            <a:endParaRPr b="0" sz="4400"/>
          </a:p>
        </p:txBody>
      </p:sp>
      <p:cxnSp>
        <p:nvCxnSpPr>
          <p:cNvPr id="5316" name="Google Shape;5316;p93"/>
          <p:cNvCxnSpPr/>
          <p:nvPr/>
        </p:nvCxnSpPr>
        <p:spPr>
          <a:xfrm>
            <a:off x="7137251" y="1928015"/>
            <a:ext cx="0" cy="4413474"/>
          </a:xfrm>
          <a:prstGeom prst="straightConnector1">
            <a:avLst/>
          </a:prstGeom>
          <a:noFill/>
          <a:ln cap="flat" cmpd="sng" w="9525">
            <a:solidFill>
              <a:srgbClr val="000000"/>
            </a:solidFill>
            <a:prstDash val="solid"/>
            <a:round/>
            <a:headEnd len="med" w="med" type="none"/>
            <a:tailEnd len="med" w="med" type="triangle"/>
          </a:ln>
        </p:spPr>
      </p:cxnSp>
      <p:cxnSp>
        <p:nvCxnSpPr>
          <p:cNvPr id="5317" name="Google Shape;5317;p93"/>
          <p:cNvCxnSpPr/>
          <p:nvPr/>
        </p:nvCxnSpPr>
        <p:spPr>
          <a:xfrm>
            <a:off x="10614518" y="2016469"/>
            <a:ext cx="14666" cy="4325020"/>
          </a:xfrm>
          <a:prstGeom prst="straightConnector1">
            <a:avLst/>
          </a:prstGeom>
          <a:noFill/>
          <a:ln cap="flat" cmpd="sng" w="9525">
            <a:solidFill>
              <a:srgbClr val="000000"/>
            </a:solidFill>
            <a:prstDash val="solid"/>
            <a:round/>
            <a:headEnd len="med" w="med" type="none"/>
            <a:tailEnd len="med" w="med" type="triangle"/>
          </a:ln>
        </p:spPr>
      </p:cxnSp>
      <p:sp>
        <p:nvSpPr>
          <p:cNvPr id="5318" name="Google Shape;5318;p93"/>
          <p:cNvSpPr txBox="1"/>
          <p:nvPr/>
        </p:nvSpPr>
        <p:spPr>
          <a:xfrm>
            <a:off x="9960336" y="1045159"/>
            <a:ext cx="1069083"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319" name="Google Shape;5319;p93"/>
          <p:cNvSpPr txBox="1"/>
          <p:nvPr/>
        </p:nvSpPr>
        <p:spPr>
          <a:xfrm>
            <a:off x="6733327" y="1065430"/>
            <a:ext cx="1073474"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5320" name="Google Shape;5320;p93"/>
          <p:cNvGrpSpPr/>
          <p:nvPr/>
        </p:nvGrpSpPr>
        <p:grpSpPr>
          <a:xfrm>
            <a:off x="6606003" y="2250502"/>
            <a:ext cx="548811" cy="4090987"/>
            <a:chOff x="397" y="868"/>
            <a:chExt cx="250" cy="2220"/>
          </a:xfrm>
        </p:grpSpPr>
        <p:sp>
          <p:nvSpPr>
            <p:cNvPr id="5321" name="Google Shape;5321;p93"/>
            <p:cNvSpPr txBox="1"/>
            <p:nvPr/>
          </p:nvSpPr>
          <p:spPr>
            <a:xfrm rot="-5400000">
              <a:off x="305" y="1870"/>
              <a:ext cx="434"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322" name="Google Shape;5322;p93"/>
            <p:cNvGrpSpPr/>
            <p:nvPr/>
          </p:nvGrpSpPr>
          <p:grpSpPr>
            <a:xfrm>
              <a:off x="488" y="868"/>
              <a:ext cx="66" cy="893"/>
              <a:chOff x="3099" y="1749"/>
              <a:chExt cx="66" cy="320"/>
            </a:xfrm>
          </p:grpSpPr>
          <p:cxnSp>
            <p:nvCxnSpPr>
              <p:cNvPr id="5323" name="Google Shape;5323;p93"/>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324" name="Google Shape;5324;p93"/>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325" name="Google Shape;5325;p93"/>
            <p:cNvGrpSpPr/>
            <p:nvPr/>
          </p:nvGrpSpPr>
          <p:grpSpPr>
            <a:xfrm rot="10800000">
              <a:off x="478" y="2224"/>
              <a:ext cx="66" cy="864"/>
              <a:chOff x="3106" y="1749"/>
              <a:chExt cx="66" cy="320"/>
            </a:xfrm>
          </p:grpSpPr>
          <p:cxnSp>
            <p:nvCxnSpPr>
              <p:cNvPr id="5326" name="Google Shape;5326;p93"/>
              <p:cNvCxnSpPr/>
              <p:nvPr/>
            </p:nvCxnSpPr>
            <p:spPr>
              <a:xfrm rot="10800000">
                <a:off x="3132"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327" name="Google Shape;5327;p93"/>
              <p:cNvCxnSpPr/>
              <p:nvPr/>
            </p:nvCxnSpPr>
            <p:spPr>
              <a:xfrm>
                <a:off x="3106" y="1752"/>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5328" name="Google Shape;5328;p93"/>
          <p:cNvGrpSpPr/>
          <p:nvPr/>
        </p:nvGrpSpPr>
        <p:grpSpPr>
          <a:xfrm>
            <a:off x="6989928" y="3003106"/>
            <a:ext cx="3635826" cy="2213976"/>
            <a:chOff x="6989928" y="3003106"/>
            <a:chExt cx="3635826" cy="2213976"/>
          </a:xfrm>
        </p:grpSpPr>
        <p:cxnSp>
          <p:nvCxnSpPr>
            <p:cNvPr id="5329" name="Google Shape;5329;p93"/>
            <p:cNvCxnSpPr/>
            <p:nvPr/>
          </p:nvCxnSpPr>
          <p:spPr>
            <a:xfrm flipH="1">
              <a:off x="7124339" y="3003106"/>
              <a:ext cx="3483853" cy="939821"/>
            </a:xfrm>
            <a:prstGeom prst="straightConnector1">
              <a:avLst/>
            </a:prstGeom>
            <a:noFill/>
            <a:ln cap="flat" cmpd="sng" w="28575">
              <a:solidFill>
                <a:srgbClr val="3333CC"/>
              </a:solidFill>
              <a:prstDash val="solid"/>
              <a:round/>
              <a:headEnd len="med" w="med" type="none"/>
              <a:tailEnd len="med" w="med" type="triangle"/>
            </a:ln>
          </p:spPr>
        </p:cxnSp>
        <p:cxnSp>
          <p:nvCxnSpPr>
            <p:cNvPr id="5330" name="Google Shape;5330;p93"/>
            <p:cNvCxnSpPr/>
            <p:nvPr/>
          </p:nvCxnSpPr>
          <p:spPr>
            <a:xfrm flipH="1">
              <a:off x="7126535" y="3495131"/>
              <a:ext cx="3499219" cy="963777"/>
            </a:xfrm>
            <a:prstGeom prst="straightConnector1">
              <a:avLst/>
            </a:prstGeom>
            <a:noFill/>
            <a:ln cap="flat" cmpd="sng" w="28575">
              <a:solidFill>
                <a:srgbClr val="3333CC"/>
              </a:solidFill>
              <a:prstDash val="solid"/>
              <a:round/>
              <a:headEnd len="med" w="med" type="none"/>
              <a:tailEnd len="med" w="med" type="triangle"/>
            </a:ln>
          </p:spPr>
        </p:cxnSp>
        <p:cxnSp>
          <p:nvCxnSpPr>
            <p:cNvPr id="5331" name="Google Shape;5331;p93"/>
            <p:cNvCxnSpPr/>
            <p:nvPr/>
          </p:nvCxnSpPr>
          <p:spPr>
            <a:xfrm flipH="1">
              <a:off x="7137252" y="3785544"/>
              <a:ext cx="3466289" cy="1030117"/>
            </a:xfrm>
            <a:prstGeom prst="straightConnector1">
              <a:avLst/>
            </a:prstGeom>
            <a:noFill/>
            <a:ln cap="flat" cmpd="sng" w="28575">
              <a:solidFill>
                <a:srgbClr val="3333CC"/>
              </a:solidFill>
              <a:prstDash val="solid"/>
              <a:round/>
              <a:headEnd len="med" w="med" type="none"/>
              <a:tailEnd len="med" w="med" type="triangle"/>
            </a:ln>
          </p:spPr>
        </p:cxnSp>
        <p:cxnSp>
          <p:nvCxnSpPr>
            <p:cNvPr id="5332" name="Google Shape;5332;p93"/>
            <p:cNvCxnSpPr/>
            <p:nvPr/>
          </p:nvCxnSpPr>
          <p:spPr>
            <a:xfrm flipH="1">
              <a:off x="7137252" y="4050906"/>
              <a:ext cx="3450923" cy="1044860"/>
            </a:xfrm>
            <a:prstGeom prst="straightConnector1">
              <a:avLst/>
            </a:prstGeom>
            <a:noFill/>
            <a:ln cap="flat" cmpd="sng" w="28575">
              <a:solidFill>
                <a:srgbClr val="3333CC"/>
              </a:solidFill>
              <a:prstDash val="solid"/>
              <a:round/>
              <a:headEnd len="med" w="med" type="none"/>
              <a:tailEnd len="med" w="med" type="triangle"/>
            </a:ln>
          </p:spPr>
        </p:cxnSp>
        <p:sp>
          <p:nvSpPr>
            <p:cNvPr id="5333" name="Google Shape;5333;p93"/>
            <p:cNvSpPr txBox="1"/>
            <p:nvPr/>
          </p:nvSpPr>
          <p:spPr>
            <a:xfrm rot="-863019">
              <a:off x="7013299" y="3540991"/>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334" name="Google Shape;5334;p93"/>
            <p:cNvSpPr txBox="1"/>
            <p:nvPr/>
          </p:nvSpPr>
          <p:spPr>
            <a:xfrm rot="-964894">
              <a:off x="7025762" y="4030047"/>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335" name="Google Shape;5335;p93"/>
            <p:cNvSpPr txBox="1"/>
            <p:nvPr/>
          </p:nvSpPr>
          <p:spPr>
            <a:xfrm rot="-942892">
              <a:off x="7017491" y="4400415"/>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336" name="Google Shape;5336;p93"/>
            <p:cNvSpPr txBox="1"/>
            <p:nvPr/>
          </p:nvSpPr>
          <p:spPr>
            <a:xfrm rot="-971646">
              <a:off x="7020313" y="4687228"/>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sp>
        <p:nvSpPr>
          <p:cNvPr id="5337" name="Google Shape;5337;p93"/>
          <p:cNvSpPr/>
          <p:nvPr/>
        </p:nvSpPr>
        <p:spPr>
          <a:xfrm>
            <a:off x="7435805" y="2563776"/>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338" name="Google Shape;5338;p93"/>
          <p:cNvGrpSpPr/>
          <p:nvPr/>
        </p:nvGrpSpPr>
        <p:grpSpPr>
          <a:xfrm>
            <a:off x="7137252" y="2041682"/>
            <a:ext cx="3503609" cy="1987110"/>
            <a:chOff x="7137252" y="2041682"/>
            <a:chExt cx="3503609" cy="1987110"/>
          </a:xfrm>
        </p:grpSpPr>
        <p:cxnSp>
          <p:nvCxnSpPr>
            <p:cNvPr id="5339" name="Google Shape;5339;p93"/>
            <p:cNvCxnSpPr/>
            <p:nvPr/>
          </p:nvCxnSpPr>
          <p:spPr>
            <a:xfrm>
              <a:off x="7137252" y="2281830"/>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340" name="Google Shape;5340;p93"/>
            <p:cNvCxnSpPr/>
            <p:nvPr/>
          </p:nvCxnSpPr>
          <p:spPr>
            <a:xfrm>
              <a:off x="7137252" y="2547191"/>
              <a:ext cx="2430134" cy="480967"/>
            </a:xfrm>
            <a:prstGeom prst="straightConnector1">
              <a:avLst/>
            </a:prstGeom>
            <a:noFill/>
            <a:ln cap="flat" cmpd="sng" w="28575">
              <a:solidFill>
                <a:srgbClr val="3333CC"/>
              </a:solidFill>
              <a:prstDash val="solid"/>
              <a:round/>
              <a:headEnd len="med" w="med" type="none"/>
              <a:tailEnd len="med" w="med" type="triangle"/>
            </a:ln>
          </p:spPr>
        </p:cxnSp>
        <p:cxnSp>
          <p:nvCxnSpPr>
            <p:cNvPr id="5341" name="Google Shape;5341;p93"/>
            <p:cNvCxnSpPr/>
            <p:nvPr/>
          </p:nvCxnSpPr>
          <p:spPr>
            <a:xfrm>
              <a:off x="7137252" y="2812553"/>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342" name="Google Shape;5342;p93"/>
            <p:cNvCxnSpPr/>
            <p:nvPr/>
          </p:nvCxnSpPr>
          <p:spPr>
            <a:xfrm>
              <a:off x="7137252" y="3343275"/>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343" name="Google Shape;5343;p93"/>
            <p:cNvCxnSpPr/>
            <p:nvPr/>
          </p:nvCxnSpPr>
          <p:spPr>
            <a:xfrm>
              <a:off x="7137252" y="3077914"/>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344" name="Google Shape;5344;p93"/>
            <p:cNvSpPr txBox="1"/>
            <p:nvPr/>
          </p:nvSpPr>
          <p:spPr>
            <a:xfrm>
              <a:off x="9451039" y="2740684"/>
              <a:ext cx="390753" cy="5307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X</a:t>
              </a:r>
              <a:endParaRPr b="0" i="0" sz="1000" u="none" cap="none" strike="noStrike">
                <a:solidFill>
                  <a:srgbClr val="000000"/>
                </a:solidFill>
                <a:latin typeface="Times New Roman"/>
                <a:ea typeface="Times New Roman"/>
                <a:cs typeface="Times New Roman"/>
                <a:sym typeface="Times New Roman"/>
              </a:endParaRPr>
            </a:p>
          </p:txBody>
        </p:sp>
        <p:sp>
          <p:nvSpPr>
            <p:cNvPr id="5345" name="Google Shape;5345;p93"/>
            <p:cNvSpPr txBox="1"/>
            <p:nvPr/>
          </p:nvSpPr>
          <p:spPr>
            <a:xfrm rot="584648">
              <a:off x="7273253" y="2219051"/>
              <a:ext cx="212219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sp>
          <p:nvSpPr>
            <p:cNvPr id="5346" name="Google Shape;5346;p93"/>
            <p:cNvSpPr txBox="1"/>
            <p:nvPr/>
          </p:nvSpPr>
          <p:spPr>
            <a:xfrm rot="665764">
              <a:off x="7287508" y="2545419"/>
              <a:ext cx="231369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347" name="Google Shape;5347;p93"/>
          <p:cNvGrpSpPr/>
          <p:nvPr/>
        </p:nvGrpSpPr>
        <p:grpSpPr>
          <a:xfrm>
            <a:off x="6842436" y="5132585"/>
            <a:ext cx="3833549" cy="696610"/>
            <a:chOff x="6842436" y="5132585"/>
            <a:chExt cx="3833549" cy="696610"/>
          </a:xfrm>
        </p:grpSpPr>
        <p:cxnSp>
          <p:nvCxnSpPr>
            <p:cNvPr id="5348" name="Google Shape;5348;p93"/>
            <p:cNvCxnSpPr/>
            <p:nvPr/>
          </p:nvCxnSpPr>
          <p:spPr>
            <a:xfrm>
              <a:off x="7172376" y="5143678"/>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349" name="Google Shape;5349;p93"/>
            <p:cNvSpPr/>
            <p:nvPr/>
          </p:nvSpPr>
          <p:spPr>
            <a:xfrm>
              <a:off x="7408171" y="5224724"/>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0" name="Google Shape;5350;p93"/>
            <p:cNvSpPr txBox="1"/>
            <p:nvPr/>
          </p:nvSpPr>
          <p:spPr>
            <a:xfrm>
              <a:off x="6842436" y="5132585"/>
              <a:ext cx="3154565"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351" name="Google Shape;5351;p93"/>
          <p:cNvGrpSpPr/>
          <p:nvPr/>
        </p:nvGrpSpPr>
        <p:grpSpPr>
          <a:xfrm>
            <a:off x="6608198" y="1343690"/>
            <a:ext cx="810044" cy="619176"/>
            <a:chOff x="-44" y="1473"/>
            <a:chExt cx="981" cy="1105"/>
          </a:xfrm>
        </p:grpSpPr>
        <p:pic>
          <p:nvPicPr>
            <p:cNvPr descr="desktop_computer_stylized_medium" id="5352" name="Google Shape;5352;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53" name="Google Shape;5353;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54" name="Google Shape;5354;p93"/>
          <p:cNvGrpSpPr/>
          <p:nvPr/>
        </p:nvGrpSpPr>
        <p:grpSpPr>
          <a:xfrm flipH="1">
            <a:off x="10328620" y="1375018"/>
            <a:ext cx="749093" cy="672617"/>
            <a:chOff x="-44" y="1473"/>
            <a:chExt cx="981" cy="1105"/>
          </a:xfrm>
        </p:grpSpPr>
        <p:pic>
          <p:nvPicPr>
            <p:cNvPr descr="desktop_computer_stylized_medium" id="5355" name="Google Shape;5355;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56" name="Google Shape;5356;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57" name="Google Shape;5357;p93"/>
          <p:cNvGrpSpPr/>
          <p:nvPr/>
        </p:nvGrpSpPr>
        <p:grpSpPr>
          <a:xfrm>
            <a:off x="1803400" y="4591050"/>
            <a:ext cx="5319534" cy="1606314"/>
            <a:chOff x="1803400" y="4591050"/>
            <a:chExt cx="5319534" cy="1606314"/>
          </a:xfrm>
        </p:grpSpPr>
        <p:pic>
          <p:nvPicPr>
            <p:cNvPr descr="Image result for light bulb icon" id="5358" name="Google Shape;5358;p93"/>
            <p:cNvPicPr preferRelativeResize="0"/>
            <p:nvPr/>
          </p:nvPicPr>
          <p:blipFill rotWithShape="1">
            <a:blip r:embed="rId4">
              <a:alphaModFix/>
            </a:blip>
            <a:srcRect b="0" l="0" r="0" t="0"/>
            <a:stretch/>
          </p:blipFill>
          <p:spPr>
            <a:xfrm>
              <a:off x="1803400" y="4591050"/>
              <a:ext cx="819150" cy="819150"/>
            </a:xfrm>
            <a:prstGeom prst="rect">
              <a:avLst/>
            </a:prstGeom>
            <a:noFill/>
            <a:ln>
              <a:noFill/>
            </a:ln>
          </p:spPr>
        </p:pic>
        <p:sp>
          <p:nvSpPr>
            <p:cNvPr id="5359" name="Google Shape;5359;p93"/>
            <p:cNvSpPr txBox="1"/>
            <p:nvPr/>
          </p:nvSpPr>
          <p:spPr>
            <a:xfrm>
              <a:off x="2235200" y="4775436"/>
              <a:ext cx="4145527" cy="1421928"/>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Receipt of three duplicate ACKs indicates 3 segments received after a missing segment – lost segment is likely. So retransmit!</a:t>
              </a:r>
              <a:endParaRPr b="0" i="0" sz="1100" u="none" cap="none" strike="noStrike">
                <a:solidFill>
                  <a:srgbClr val="000000"/>
                </a:solidFill>
                <a:latin typeface="Calibri"/>
                <a:ea typeface="Calibri"/>
                <a:cs typeface="Calibri"/>
                <a:sym typeface="Calibri"/>
              </a:endParaRPr>
            </a:p>
          </p:txBody>
        </p:sp>
        <p:cxnSp>
          <p:nvCxnSpPr>
            <p:cNvPr id="5360" name="Google Shape;5360;p93"/>
            <p:cNvCxnSpPr/>
            <p:nvPr/>
          </p:nvCxnSpPr>
          <p:spPr>
            <a:xfrm>
              <a:off x="6359939" y="5143678"/>
              <a:ext cx="762995" cy="0"/>
            </a:xfrm>
            <a:prstGeom prst="straightConnector1">
              <a:avLst/>
            </a:prstGeom>
            <a:noFill/>
            <a:ln cap="flat" cmpd="sng" w="22225">
              <a:solidFill>
                <a:srgbClr val="C00000"/>
              </a:solidFill>
              <a:prstDash val="solid"/>
              <a:miter lim="800000"/>
              <a:headEnd len="sm" w="sm" type="none"/>
              <a:tailEnd len="sm" w="sm" type="none"/>
            </a:ln>
          </p:spPr>
        </p:cxnSp>
      </p:grpSp>
      <p:grpSp>
        <p:nvGrpSpPr>
          <p:cNvPr id="5361" name="Google Shape;5361;p93"/>
          <p:cNvGrpSpPr/>
          <p:nvPr/>
        </p:nvGrpSpPr>
        <p:grpSpPr>
          <a:xfrm>
            <a:off x="790711" y="1227535"/>
            <a:ext cx="5214977" cy="2878929"/>
            <a:chOff x="7089911" y="1681505"/>
            <a:chExt cx="5214977" cy="2878929"/>
          </a:xfrm>
        </p:grpSpPr>
        <p:sp>
          <p:nvSpPr>
            <p:cNvPr id="5362" name="Google Shape;5362;p93"/>
            <p:cNvSpPr/>
            <p:nvPr/>
          </p:nvSpPr>
          <p:spPr>
            <a:xfrm>
              <a:off x="7360355" y="2207758"/>
              <a:ext cx="4809067" cy="22637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if sender receives 3 additional ACKs for same data </a:t>
              </a:r>
              <a:r>
                <a:rPr b="0" i="0" lang="en-US" sz="2400" u="none" cap="none" strike="noStrike">
                  <a:solidFill>
                    <a:srgbClr val="000000"/>
                  </a:solidFill>
                  <a:latin typeface="Calibri"/>
                  <a:ea typeface="Calibri"/>
                  <a:cs typeface="Calibri"/>
                  <a:sym typeface="Calibri"/>
                </a:rPr>
                <a:t>(“triple duplicate ACKs”),</a:t>
              </a:r>
              <a:r>
                <a:rPr b="0" i="0" lang="en-US" sz="2800" u="none" cap="none" strike="noStrike">
                  <a:solidFill>
                    <a:srgbClr val="000000"/>
                  </a:solidFill>
                  <a:latin typeface="Calibri"/>
                  <a:ea typeface="Calibri"/>
                  <a:cs typeface="Calibri"/>
                  <a:sym typeface="Calibri"/>
                </a:rPr>
                <a:t> resend unACKed segment with smallest seq #</a:t>
              </a:r>
              <a:endParaRPr/>
            </a:p>
            <a:p>
              <a:pPr indent="-238125" lvl="1" marL="4635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likely that unACKed segment lost, so don’t wait for timeout</a:t>
              </a:r>
              <a:endParaRPr b="0" i="0" sz="2400" u="none" cap="none" strike="noStrike">
                <a:solidFill>
                  <a:srgbClr val="000000"/>
                </a:solidFill>
                <a:latin typeface="Calibri"/>
                <a:ea typeface="Calibri"/>
                <a:cs typeface="Calibri"/>
                <a:sym typeface="Calibri"/>
              </a:endParaRPr>
            </a:p>
          </p:txBody>
        </p:sp>
        <p:sp>
          <p:nvSpPr>
            <p:cNvPr id="5363" name="Google Shape;5363;p93"/>
            <p:cNvSpPr/>
            <p:nvPr/>
          </p:nvSpPr>
          <p:spPr>
            <a:xfrm>
              <a:off x="7089911" y="1910106"/>
              <a:ext cx="5214977" cy="2650328"/>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5364" name="Google Shape;5364;p93"/>
            <p:cNvSpPr txBox="1"/>
            <p:nvPr/>
          </p:nvSpPr>
          <p:spPr>
            <a:xfrm>
              <a:off x="7348953" y="1681505"/>
              <a:ext cx="2773363"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Tahoma"/>
                <a:buNone/>
              </a:pPr>
              <a:r>
                <a:rPr b="0" i="1" lang="en-US" sz="2400" u="none" cap="none" strike="noStrike">
                  <a:solidFill>
                    <a:srgbClr val="CC0000"/>
                  </a:solidFill>
                  <a:latin typeface="Tahoma"/>
                  <a:ea typeface="Tahoma"/>
                  <a:cs typeface="Tahoma"/>
                  <a:sym typeface="Tahoma"/>
                </a:rPr>
                <a:t>TCP fast retransmit</a:t>
              </a:r>
              <a:endParaRPr/>
            </a:p>
          </p:txBody>
        </p:sp>
      </p:grpSp>
      <p:sp>
        <p:nvSpPr>
          <p:cNvPr id="5365" name="Google Shape;5365;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8"/>
                                        </p:tgtEl>
                                        <p:attrNameLst>
                                          <p:attrName>style.visibility</p:attrName>
                                        </p:attrNameLst>
                                      </p:cBhvr>
                                      <p:to>
                                        <p:strVal val="visible"/>
                                      </p:to>
                                    </p:set>
                                    <p:animEffect filter="fade" transition="in">
                                      <p:cBhvr>
                                        <p:cTn dur="500"/>
                                        <p:tgtEl>
                                          <p:spTgt spid="5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8"/>
                                        </p:tgtEl>
                                        <p:attrNameLst>
                                          <p:attrName>style.visibility</p:attrName>
                                        </p:attrNameLst>
                                      </p:cBhvr>
                                      <p:to>
                                        <p:strVal val="visible"/>
                                      </p:to>
                                    </p:set>
                                    <p:animEffect filter="fade" transition="in">
                                      <p:cBhvr>
                                        <p:cTn dur="500"/>
                                        <p:tgtEl>
                                          <p:spTgt spid="5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7"/>
                                        </p:tgtEl>
                                        <p:attrNameLst>
                                          <p:attrName>style.visibility</p:attrName>
                                        </p:attrNameLst>
                                      </p:cBhvr>
                                      <p:to>
                                        <p:strVal val="visible"/>
                                      </p:to>
                                    </p:set>
                                    <p:animEffect filter="fade" transition="in">
                                      <p:cBhvr>
                                        <p:cTn dur="500"/>
                                        <p:tgtEl>
                                          <p:spTgt spid="5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7"/>
                                        </p:tgtEl>
                                        <p:attrNameLst>
                                          <p:attrName>style.visibility</p:attrName>
                                        </p:attrNameLst>
                                      </p:cBhvr>
                                      <p:to>
                                        <p:strVal val="visible"/>
                                      </p:to>
                                    </p:set>
                                    <p:animEffect filter="fade" transition="in">
                                      <p:cBhvr>
                                        <p:cTn dur="500"/>
                                        <p:tgtEl>
                                          <p:spTgt spid="5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1"/>
                                        </p:tgtEl>
                                        <p:attrNameLst>
                                          <p:attrName>style.visibility</p:attrName>
                                        </p:attrNameLst>
                                      </p:cBhvr>
                                      <p:to>
                                        <p:strVal val="visible"/>
                                      </p:to>
                                    </p:set>
                                    <p:animEffect filter="fade" transition="in">
                                      <p:cBhvr>
                                        <p:cTn dur="500"/>
                                        <p:tgtEl>
                                          <p:spTgt spid="5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0" name="Shape 5370"/>
        <p:cNvGrpSpPr/>
        <p:nvPr/>
      </p:nvGrpSpPr>
      <p:grpSpPr>
        <a:xfrm>
          <a:off x="0" y="0"/>
          <a:ext cx="0" cy="0"/>
          <a:chOff x="0" y="0"/>
          <a:chExt cx="0" cy="0"/>
        </a:xfrm>
      </p:grpSpPr>
      <p:sp>
        <p:nvSpPr>
          <p:cNvPr id="5371" name="Google Shape;5371;p9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5372" name="Google Shape;5372;p94"/>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segment structure</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373" name="Google Shape;5373;p9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5374" name="Google Shape;5374;p94"/>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9" name="Shape 5379"/>
        <p:cNvGrpSpPr/>
        <p:nvPr/>
      </p:nvGrpSpPr>
      <p:grpSpPr>
        <a:xfrm>
          <a:off x="0" y="0"/>
          <a:ext cx="0" cy="0"/>
          <a:chOff x="0" y="0"/>
          <a:chExt cx="0" cy="0"/>
        </a:xfrm>
      </p:grpSpPr>
      <p:sp>
        <p:nvSpPr>
          <p:cNvPr id="5380" name="Google Shape;5380;p9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381" name="Google Shape;5381;p95"/>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2" name="Google Shape;5382;p95"/>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3" name="Google Shape;5383;p95"/>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4" name="Google Shape;5384;p95"/>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385" name="Google Shape;5385;p95"/>
          <p:cNvGrpSpPr/>
          <p:nvPr/>
        </p:nvGrpSpPr>
        <p:grpSpPr>
          <a:xfrm>
            <a:off x="8070672" y="2312058"/>
            <a:ext cx="1795463" cy="688975"/>
            <a:chOff x="1173" y="2345"/>
            <a:chExt cx="1131" cy="434"/>
          </a:xfrm>
        </p:grpSpPr>
        <p:sp>
          <p:nvSpPr>
            <p:cNvPr id="5386" name="Google Shape;5386;p95"/>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7" name="Google Shape;5387;p95"/>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388" name="Google Shape;5388;p95"/>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389" name="Google Shape;5389;p95"/>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390" name="Google Shape;5390;p95"/>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391" name="Google Shape;5391;p95"/>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392" name="Google Shape;5392;p95"/>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393" name="Google Shape;5393;p95"/>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394" name="Google Shape;5394;p95"/>
          <p:cNvGrpSpPr/>
          <p:nvPr/>
        </p:nvGrpSpPr>
        <p:grpSpPr>
          <a:xfrm>
            <a:off x="8745360" y="2104096"/>
            <a:ext cx="533400" cy="206375"/>
            <a:chOff x="2003" y="1816"/>
            <a:chExt cx="336" cy="130"/>
          </a:xfrm>
        </p:grpSpPr>
        <p:sp>
          <p:nvSpPr>
            <p:cNvPr id="5395" name="Google Shape;5395;p95"/>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6" name="Google Shape;5396;p95"/>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7" name="Google Shape;5397;p95"/>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8" name="Google Shape;5398;p95"/>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399" name="Google Shape;5399;p95"/>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400" name="Google Shape;5400;p95"/>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401" name="Google Shape;5401;p95"/>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402" name="Google Shape;5402;p95"/>
          <p:cNvGrpSpPr/>
          <p:nvPr/>
        </p:nvGrpSpPr>
        <p:grpSpPr>
          <a:xfrm flipH="1">
            <a:off x="10523360" y="4590121"/>
            <a:ext cx="869950" cy="906462"/>
            <a:chOff x="-44" y="1473"/>
            <a:chExt cx="981" cy="1105"/>
          </a:xfrm>
        </p:grpSpPr>
        <p:pic>
          <p:nvPicPr>
            <p:cNvPr descr="desktop_computer_stylized_medium" id="5403" name="Google Shape;5403;p9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04" name="Google Shape;5404;p9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05" name="Google Shape;5405;p95"/>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406" name="Google Shape;5406;p95"/>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407" name="Google Shape;5407;p95"/>
          <p:cNvGrpSpPr/>
          <p:nvPr/>
        </p:nvGrpSpPr>
        <p:grpSpPr>
          <a:xfrm>
            <a:off x="5189688" y="2806352"/>
            <a:ext cx="4533734" cy="2971623"/>
            <a:chOff x="5189688" y="2806352"/>
            <a:chExt cx="4533734" cy="2971623"/>
          </a:xfrm>
        </p:grpSpPr>
        <p:grpSp>
          <p:nvGrpSpPr>
            <p:cNvPr id="5408" name="Google Shape;5408;p95"/>
            <p:cNvGrpSpPr/>
            <p:nvPr/>
          </p:nvGrpSpPr>
          <p:grpSpPr>
            <a:xfrm>
              <a:off x="5189688" y="3080408"/>
              <a:ext cx="3750934" cy="2697567"/>
              <a:chOff x="4633274" y="3577949"/>
              <a:chExt cx="3750934" cy="2697567"/>
            </a:xfrm>
          </p:grpSpPr>
          <p:sp>
            <p:nvSpPr>
              <p:cNvPr id="5409" name="Google Shape;5409;p95"/>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410" name="Google Shape;5410;p95"/>
              <p:cNvGrpSpPr/>
              <p:nvPr/>
            </p:nvGrpSpPr>
            <p:grpSpPr>
              <a:xfrm>
                <a:off x="7344839" y="5551212"/>
                <a:ext cx="1039369" cy="214398"/>
                <a:chOff x="7344839" y="5551212"/>
                <a:chExt cx="1039369" cy="214398"/>
              </a:xfrm>
            </p:grpSpPr>
            <p:sp>
              <p:nvSpPr>
                <p:cNvPr id="5411" name="Google Shape;5411;p95"/>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12" name="Google Shape;5412;p95"/>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413" name="Google Shape;5413;p95"/>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414" name="Google Shape;5414;p95"/>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415" name="Google Shape;5415;p95"/>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16" name="Google Shape;5416;p95"/>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417" name="Google Shape;5417;p95"/>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418" name="Google Shape;5418;p95"/>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419" name="Google Shape;5419;p95"/>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20" name="Google Shape;5420;p95"/>
          <p:cNvGrpSpPr/>
          <p:nvPr/>
        </p:nvGrpSpPr>
        <p:grpSpPr>
          <a:xfrm>
            <a:off x="4989152" y="1607125"/>
            <a:ext cx="4984933" cy="885919"/>
            <a:chOff x="4989152" y="1607125"/>
            <a:chExt cx="4984933" cy="885919"/>
          </a:xfrm>
        </p:grpSpPr>
        <p:grpSp>
          <p:nvGrpSpPr>
            <p:cNvPr id="5421" name="Google Shape;5421;p95"/>
            <p:cNvGrpSpPr/>
            <p:nvPr/>
          </p:nvGrpSpPr>
          <p:grpSpPr>
            <a:xfrm>
              <a:off x="4989152" y="1652814"/>
              <a:ext cx="4984933" cy="840230"/>
              <a:chOff x="4432738" y="2150355"/>
              <a:chExt cx="4984933" cy="840230"/>
            </a:xfrm>
          </p:grpSpPr>
          <p:cxnSp>
            <p:nvCxnSpPr>
              <p:cNvPr id="5422" name="Google Shape;5422;p95"/>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423" name="Google Shape;5423;p95"/>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424" name="Google Shape;5424;p95"/>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25" name="Google Shape;5425;p95"/>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426" name="Google Shape;5426;p9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7"/>
                                        </p:tgtEl>
                                        <p:attrNameLst>
                                          <p:attrName>style.visibility</p:attrName>
                                        </p:attrNameLst>
                                      </p:cBhvr>
                                      <p:to>
                                        <p:strVal val="visible"/>
                                      </p:to>
                                    </p:set>
                                    <p:animEffect filter="fade" transition="in">
                                      <p:cBhvr>
                                        <p:cTn dur="500"/>
                                        <p:tgtEl>
                                          <p:spTgt spid="5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0"/>
                                        </p:tgtEl>
                                        <p:attrNameLst>
                                          <p:attrName>style.visibility</p:attrName>
                                        </p:attrNameLst>
                                      </p:cBhvr>
                                      <p:to>
                                        <p:strVal val="visible"/>
                                      </p:to>
                                    </p:set>
                                    <p:animEffect filter="fade" transition="in">
                                      <p:cBhvr>
                                        <p:cTn dur="500"/>
                                        <p:tgtEl>
                                          <p:spTgt spid="5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5"/>
                                        </p:tgtEl>
                                        <p:attrNameLst>
                                          <p:attrName>style.visibility</p:attrName>
                                        </p:attrNameLst>
                                      </p:cBhvr>
                                      <p:to>
                                        <p:strVal val="visible"/>
                                      </p:to>
                                    </p:set>
                                    <p:animEffect filter="fade" transition="in">
                                      <p:cBhvr>
                                        <p:cTn dur="500"/>
                                        <p:tgtEl>
                                          <p:spTgt spid="5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1" name="Shape 5431"/>
        <p:cNvGrpSpPr/>
        <p:nvPr/>
      </p:nvGrpSpPr>
      <p:grpSpPr>
        <a:xfrm>
          <a:off x="0" y="0"/>
          <a:ext cx="0" cy="0"/>
          <a:chOff x="0" y="0"/>
          <a:chExt cx="0" cy="0"/>
        </a:xfrm>
      </p:grpSpPr>
      <p:sp>
        <p:nvSpPr>
          <p:cNvPr id="5432" name="Google Shape;5432;p9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433" name="Google Shape;5433;p96"/>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4" name="Google Shape;5434;p96"/>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5" name="Google Shape;5435;p96"/>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6" name="Google Shape;5436;p96"/>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437" name="Google Shape;5437;p96"/>
          <p:cNvGrpSpPr/>
          <p:nvPr/>
        </p:nvGrpSpPr>
        <p:grpSpPr>
          <a:xfrm>
            <a:off x="8070672" y="2312058"/>
            <a:ext cx="1795463" cy="688975"/>
            <a:chOff x="1173" y="2345"/>
            <a:chExt cx="1131" cy="434"/>
          </a:xfrm>
        </p:grpSpPr>
        <p:sp>
          <p:nvSpPr>
            <p:cNvPr id="5438" name="Google Shape;5438;p96"/>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39" name="Google Shape;5439;p96"/>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440" name="Google Shape;5440;p96"/>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41" name="Google Shape;5441;p96"/>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442" name="Google Shape;5442;p96"/>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43" name="Google Shape;5443;p96"/>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444" name="Google Shape;5444;p96"/>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445" name="Google Shape;5445;p96"/>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446" name="Google Shape;5446;p96"/>
          <p:cNvGrpSpPr/>
          <p:nvPr/>
        </p:nvGrpSpPr>
        <p:grpSpPr>
          <a:xfrm>
            <a:off x="8745360" y="2104096"/>
            <a:ext cx="533400" cy="206375"/>
            <a:chOff x="2003" y="1816"/>
            <a:chExt cx="336" cy="130"/>
          </a:xfrm>
        </p:grpSpPr>
        <p:sp>
          <p:nvSpPr>
            <p:cNvPr id="5447" name="Google Shape;5447;p96"/>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48" name="Google Shape;5448;p96"/>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49" name="Google Shape;5449;p96"/>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50" name="Google Shape;5450;p96"/>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51" name="Google Shape;5451;p96"/>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452" name="Google Shape;5452;p96"/>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453" name="Google Shape;5453;p96"/>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454" name="Google Shape;5454;p96"/>
          <p:cNvGrpSpPr/>
          <p:nvPr/>
        </p:nvGrpSpPr>
        <p:grpSpPr>
          <a:xfrm flipH="1">
            <a:off x="10523360" y="4590121"/>
            <a:ext cx="869950" cy="906462"/>
            <a:chOff x="-44" y="1473"/>
            <a:chExt cx="981" cy="1105"/>
          </a:xfrm>
        </p:grpSpPr>
        <p:pic>
          <p:nvPicPr>
            <p:cNvPr descr="desktop_computer_stylized_medium" id="5455" name="Google Shape;5455;p9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56" name="Google Shape;5456;p9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57" name="Google Shape;5457;p96"/>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458" name="Google Shape;5458;p96"/>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459" name="Google Shape;5459;p96"/>
          <p:cNvGrpSpPr/>
          <p:nvPr/>
        </p:nvGrpSpPr>
        <p:grpSpPr>
          <a:xfrm>
            <a:off x="5189688" y="2806352"/>
            <a:ext cx="4533734" cy="2971623"/>
            <a:chOff x="5189688" y="2806352"/>
            <a:chExt cx="4533734" cy="2971623"/>
          </a:xfrm>
        </p:grpSpPr>
        <p:grpSp>
          <p:nvGrpSpPr>
            <p:cNvPr id="5460" name="Google Shape;5460;p96"/>
            <p:cNvGrpSpPr/>
            <p:nvPr/>
          </p:nvGrpSpPr>
          <p:grpSpPr>
            <a:xfrm>
              <a:off x="5189688" y="3080408"/>
              <a:ext cx="3750934" cy="2697567"/>
              <a:chOff x="4633274" y="3577949"/>
              <a:chExt cx="3750934" cy="2697567"/>
            </a:xfrm>
          </p:grpSpPr>
          <p:sp>
            <p:nvSpPr>
              <p:cNvPr id="5461" name="Google Shape;5461;p96"/>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462" name="Google Shape;5462;p96"/>
              <p:cNvGrpSpPr/>
              <p:nvPr/>
            </p:nvGrpSpPr>
            <p:grpSpPr>
              <a:xfrm>
                <a:off x="7344839" y="5551212"/>
                <a:ext cx="1039369" cy="214398"/>
                <a:chOff x="7344839" y="5551212"/>
                <a:chExt cx="1039369" cy="214398"/>
              </a:xfrm>
            </p:grpSpPr>
            <p:sp>
              <p:nvSpPr>
                <p:cNvPr id="5463" name="Google Shape;5463;p96"/>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64" name="Google Shape;5464;p96"/>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465" name="Google Shape;5465;p96"/>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466" name="Google Shape;5466;p96"/>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467" name="Google Shape;5467;p96"/>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68" name="Google Shape;5468;p96"/>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469" name="Google Shape;5469;p96"/>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470" name="Google Shape;5470;p96"/>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471" name="Google Shape;5471;p96"/>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72" name="Google Shape;5472;p96"/>
          <p:cNvGrpSpPr/>
          <p:nvPr/>
        </p:nvGrpSpPr>
        <p:grpSpPr>
          <a:xfrm>
            <a:off x="4989152" y="1607125"/>
            <a:ext cx="4984933" cy="885919"/>
            <a:chOff x="4989152" y="1607125"/>
            <a:chExt cx="4984933" cy="885919"/>
          </a:xfrm>
        </p:grpSpPr>
        <p:grpSp>
          <p:nvGrpSpPr>
            <p:cNvPr id="5473" name="Google Shape;5473;p96"/>
            <p:cNvGrpSpPr/>
            <p:nvPr/>
          </p:nvGrpSpPr>
          <p:grpSpPr>
            <a:xfrm>
              <a:off x="4989152" y="1652814"/>
              <a:ext cx="4984933" cy="840230"/>
              <a:chOff x="4432738" y="2150355"/>
              <a:chExt cx="4984933" cy="840230"/>
            </a:xfrm>
          </p:grpSpPr>
          <p:cxnSp>
            <p:nvCxnSpPr>
              <p:cNvPr id="5474" name="Google Shape;5474;p96"/>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475" name="Google Shape;5475;p96"/>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476" name="Google Shape;5476;p96"/>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77" name="Google Shape;5477;p96"/>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rinking from the Firehose: How VividCortex Compresses its Metrics" id="5478" name="Google Shape;5478;p96"/>
          <p:cNvPicPr preferRelativeResize="0"/>
          <p:nvPr/>
        </p:nvPicPr>
        <p:blipFill rotWithShape="1">
          <a:blip r:embed="rId4">
            <a:alphaModFix/>
          </a:blip>
          <a:srcRect b="0" l="0" r="0" t="0"/>
          <a:stretch/>
        </p:blipFill>
        <p:spPr>
          <a:xfrm>
            <a:off x="1957754" y="4484079"/>
            <a:ext cx="3018692" cy="1811215"/>
          </a:xfrm>
          <a:prstGeom prst="rect">
            <a:avLst/>
          </a:prstGeom>
          <a:noFill/>
          <a:ln>
            <a:noFill/>
          </a:ln>
        </p:spPr>
      </p:pic>
      <p:pic>
        <p:nvPicPr>
          <p:cNvPr descr="Drinking From the Information Firehose" id="5479" name="Google Shape;5479;p96"/>
          <p:cNvPicPr preferRelativeResize="0"/>
          <p:nvPr/>
        </p:nvPicPr>
        <p:blipFill rotWithShape="1">
          <a:blip r:embed="rId5">
            <a:alphaModFix/>
          </a:blip>
          <a:srcRect b="0" l="0" r="0" t="0"/>
          <a:stretch/>
        </p:blipFill>
        <p:spPr>
          <a:xfrm>
            <a:off x="583223" y="3300222"/>
            <a:ext cx="2699594" cy="1781732"/>
          </a:xfrm>
          <a:prstGeom prst="rect">
            <a:avLst/>
          </a:prstGeom>
          <a:noFill/>
          <a:ln>
            <a:noFill/>
          </a:ln>
        </p:spPr>
      </p:pic>
      <p:sp>
        <p:nvSpPr>
          <p:cNvPr id="5480" name="Google Shape;5480;p9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5" name="Shape 5485"/>
        <p:cNvGrpSpPr/>
        <p:nvPr/>
      </p:nvGrpSpPr>
      <p:grpSpPr>
        <a:xfrm>
          <a:off x="0" y="0"/>
          <a:ext cx="0" cy="0"/>
          <a:chOff x="0" y="0"/>
          <a:chExt cx="0" cy="0"/>
        </a:xfrm>
      </p:grpSpPr>
      <p:sp>
        <p:nvSpPr>
          <p:cNvPr id="5486" name="Google Shape;5486;p9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487" name="Google Shape;5487;p97"/>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88" name="Google Shape;5488;p97"/>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89" name="Google Shape;5489;p97"/>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90" name="Google Shape;5490;p97"/>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491" name="Google Shape;5491;p97"/>
          <p:cNvGrpSpPr/>
          <p:nvPr/>
        </p:nvGrpSpPr>
        <p:grpSpPr>
          <a:xfrm>
            <a:off x="8070672" y="2312058"/>
            <a:ext cx="1795463" cy="688975"/>
            <a:chOff x="1173" y="2345"/>
            <a:chExt cx="1131" cy="434"/>
          </a:xfrm>
        </p:grpSpPr>
        <p:sp>
          <p:nvSpPr>
            <p:cNvPr id="5492" name="Google Shape;5492;p97"/>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93" name="Google Shape;5493;p97"/>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494" name="Google Shape;5494;p97"/>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95" name="Google Shape;5495;p97"/>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496" name="Google Shape;5496;p97"/>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497" name="Google Shape;5497;p97"/>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498" name="Google Shape;5498;p97"/>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499" name="Google Shape;5499;p97"/>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500" name="Google Shape;5500;p97"/>
          <p:cNvGrpSpPr/>
          <p:nvPr/>
        </p:nvGrpSpPr>
        <p:grpSpPr>
          <a:xfrm>
            <a:off x="8745360" y="2104096"/>
            <a:ext cx="533400" cy="206375"/>
            <a:chOff x="2003" y="1816"/>
            <a:chExt cx="336" cy="130"/>
          </a:xfrm>
        </p:grpSpPr>
        <p:sp>
          <p:nvSpPr>
            <p:cNvPr id="5501" name="Google Shape;5501;p97"/>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02" name="Google Shape;5502;p97"/>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03" name="Google Shape;5503;p97"/>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04" name="Google Shape;5504;p97"/>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05" name="Google Shape;5505;p97"/>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506" name="Google Shape;5506;p97"/>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507" name="Google Shape;5507;p97"/>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508" name="Google Shape;5508;p97"/>
          <p:cNvGrpSpPr/>
          <p:nvPr/>
        </p:nvGrpSpPr>
        <p:grpSpPr>
          <a:xfrm flipH="1">
            <a:off x="10523360" y="4590121"/>
            <a:ext cx="869950" cy="906462"/>
            <a:chOff x="-44" y="1473"/>
            <a:chExt cx="981" cy="1105"/>
          </a:xfrm>
        </p:grpSpPr>
        <p:pic>
          <p:nvPicPr>
            <p:cNvPr descr="desktop_computer_stylized_medium" id="5509" name="Google Shape;5509;p9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10" name="Google Shape;5510;p9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11" name="Google Shape;5511;p97"/>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512" name="Google Shape;5512;p97"/>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sp>
        <p:nvSpPr>
          <p:cNvPr id="5513" name="Google Shape;5513;p97"/>
          <p:cNvSpPr/>
          <p:nvPr/>
        </p:nvSpPr>
        <p:spPr>
          <a:xfrm>
            <a:off x="8211960" y="41218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514" name="Google Shape;5514;p97"/>
          <p:cNvGrpSpPr/>
          <p:nvPr/>
        </p:nvGrpSpPr>
        <p:grpSpPr>
          <a:xfrm>
            <a:off x="7901253" y="5053671"/>
            <a:ext cx="1039369" cy="214398"/>
            <a:chOff x="7344839" y="5551212"/>
            <a:chExt cx="1039369" cy="214398"/>
          </a:xfrm>
        </p:grpSpPr>
        <p:sp>
          <p:nvSpPr>
            <p:cNvPr id="5515" name="Google Shape;5515;p97"/>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16" name="Google Shape;5516;p97"/>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517" name="Google Shape;5517;p97"/>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518" name="Google Shape;5518;p97"/>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519" name="Google Shape;5519;p97"/>
          <p:cNvSpPr/>
          <p:nvPr/>
        </p:nvSpPr>
        <p:spPr>
          <a:xfrm>
            <a:off x="8204022" y="30804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20" name="Google Shape;5520;p97"/>
          <p:cNvSpPr txBox="1"/>
          <p:nvPr/>
        </p:nvSpPr>
        <p:spPr>
          <a:xfrm>
            <a:off x="7630935" y="5473175"/>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sp>
        <p:nvSpPr>
          <p:cNvPr id="5521" name="Google Shape;5521;p97"/>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22" name="Google Shape;5522;p97"/>
          <p:cNvGrpSpPr/>
          <p:nvPr/>
        </p:nvGrpSpPr>
        <p:grpSpPr>
          <a:xfrm>
            <a:off x="4989152" y="1607125"/>
            <a:ext cx="4984933" cy="885919"/>
            <a:chOff x="4989152" y="1607125"/>
            <a:chExt cx="4984933" cy="885919"/>
          </a:xfrm>
        </p:grpSpPr>
        <p:grpSp>
          <p:nvGrpSpPr>
            <p:cNvPr id="5523" name="Google Shape;5523;p97"/>
            <p:cNvGrpSpPr/>
            <p:nvPr/>
          </p:nvGrpSpPr>
          <p:grpSpPr>
            <a:xfrm>
              <a:off x="4989152" y="1652814"/>
              <a:ext cx="4984933" cy="840230"/>
              <a:chOff x="4432738" y="2150355"/>
              <a:chExt cx="4984933" cy="840230"/>
            </a:xfrm>
          </p:grpSpPr>
          <p:cxnSp>
            <p:nvCxnSpPr>
              <p:cNvPr id="5524" name="Google Shape;5524;p97"/>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525" name="Google Shape;5525;p97"/>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526" name="Google Shape;5526;p97"/>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27" name="Google Shape;5527;p97"/>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28" name="Google Shape;5528;p97"/>
          <p:cNvGrpSpPr/>
          <p:nvPr/>
        </p:nvGrpSpPr>
        <p:grpSpPr>
          <a:xfrm>
            <a:off x="1111171" y="3426107"/>
            <a:ext cx="5034986" cy="2800562"/>
            <a:chOff x="4343173" y="1560062"/>
            <a:chExt cx="9034622" cy="4921250"/>
          </a:xfrm>
        </p:grpSpPr>
        <p:sp>
          <p:nvSpPr>
            <p:cNvPr id="5529" name="Google Shape;5529;p97"/>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5530" name="Google Shape;5530;p97"/>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5531" name="Google Shape;5531;p97"/>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5532" name="Google Shape;5532;p97"/>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3" name="Google Shape;5533;p97"/>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4" name="Google Shape;5534;p97"/>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5535" name="Google Shape;5535;p97"/>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6" name="Google Shape;5536;p97"/>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537" name="Google Shape;5537;p97"/>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grpSp>
          <p:nvGrpSpPr>
            <p:cNvPr id="5538" name="Google Shape;5538;p97"/>
            <p:cNvGrpSpPr/>
            <p:nvPr/>
          </p:nvGrpSpPr>
          <p:grpSpPr>
            <a:xfrm>
              <a:off x="6113100" y="2788385"/>
              <a:ext cx="7264695" cy="1048460"/>
              <a:chOff x="6113100" y="2788385"/>
              <a:chExt cx="7264695" cy="1048460"/>
            </a:xfrm>
          </p:grpSpPr>
          <p:sp>
            <p:nvSpPr>
              <p:cNvPr id="5539" name="Google Shape;5539;p97"/>
              <p:cNvSpPr txBox="1"/>
              <p:nvPr/>
            </p:nvSpPr>
            <p:spPr>
              <a:xfrm>
                <a:off x="6113100" y="2788385"/>
                <a:ext cx="2293763" cy="52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receive window</a:t>
                </a:r>
                <a:endParaRPr/>
              </a:p>
            </p:txBody>
          </p:sp>
          <p:sp>
            <p:nvSpPr>
              <p:cNvPr id="5540" name="Google Shape;5540;p97"/>
              <p:cNvSpPr txBox="1"/>
              <p:nvPr/>
            </p:nvSpPr>
            <p:spPr>
              <a:xfrm>
                <a:off x="8724899" y="2847114"/>
                <a:ext cx="4652896" cy="989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cxnSp>
            <p:nvCxnSpPr>
              <p:cNvPr id="5541" name="Google Shape;5541;p97"/>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cxnSp>
          <p:nvCxnSpPr>
            <p:cNvPr id="5542" name="Google Shape;5542;p97"/>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grpSp>
      <p:sp>
        <p:nvSpPr>
          <p:cNvPr id="5543" name="Google Shape;5543;p9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8" name="Shape 5548"/>
        <p:cNvGrpSpPr/>
        <p:nvPr/>
      </p:nvGrpSpPr>
      <p:grpSpPr>
        <a:xfrm>
          <a:off x="0" y="0"/>
          <a:ext cx="0" cy="0"/>
          <a:chOff x="0" y="0"/>
          <a:chExt cx="0" cy="0"/>
        </a:xfrm>
      </p:grpSpPr>
      <p:sp>
        <p:nvSpPr>
          <p:cNvPr id="5549" name="Google Shape;5549;p9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550" name="Google Shape;5550;p98"/>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1" name="Google Shape;5551;p98"/>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2" name="Google Shape;5552;p98"/>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3" name="Google Shape;5553;p98"/>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554" name="Google Shape;5554;p98"/>
          <p:cNvGrpSpPr/>
          <p:nvPr/>
        </p:nvGrpSpPr>
        <p:grpSpPr>
          <a:xfrm>
            <a:off x="8070672" y="2312058"/>
            <a:ext cx="1795463" cy="688975"/>
            <a:chOff x="1173" y="2345"/>
            <a:chExt cx="1131" cy="434"/>
          </a:xfrm>
        </p:grpSpPr>
        <p:sp>
          <p:nvSpPr>
            <p:cNvPr id="5555" name="Google Shape;5555;p98"/>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6" name="Google Shape;5556;p98"/>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557" name="Google Shape;5557;p98"/>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558" name="Google Shape;5558;p98"/>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559" name="Google Shape;5559;p98"/>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560" name="Google Shape;5560;p98"/>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561" name="Google Shape;5561;p98"/>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562" name="Google Shape;5562;p98"/>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563" name="Google Shape;5563;p98"/>
          <p:cNvGrpSpPr/>
          <p:nvPr/>
        </p:nvGrpSpPr>
        <p:grpSpPr>
          <a:xfrm>
            <a:off x="8745360" y="2104096"/>
            <a:ext cx="533400" cy="206375"/>
            <a:chOff x="2003" y="1816"/>
            <a:chExt cx="336" cy="130"/>
          </a:xfrm>
        </p:grpSpPr>
        <p:sp>
          <p:nvSpPr>
            <p:cNvPr id="5564" name="Google Shape;5564;p98"/>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65" name="Google Shape;5565;p98"/>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66" name="Google Shape;5566;p98"/>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67" name="Google Shape;5567;p98"/>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68" name="Google Shape;5568;p98"/>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569" name="Google Shape;5569;p98"/>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570" name="Google Shape;5570;p98"/>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571" name="Google Shape;5571;p98"/>
          <p:cNvGrpSpPr/>
          <p:nvPr/>
        </p:nvGrpSpPr>
        <p:grpSpPr>
          <a:xfrm flipH="1">
            <a:off x="10523360" y="4590121"/>
            <a:ext cx="869950" cy="906462"/>
            <a:chOff x="-44" y="1473"/>
            <a:chExt cx="981" cy="1105"/>
          </a:xfrm>
        </p:grpSpPr>
        <p:pic>
          <p:nvPicPr>
            <p:cNvPr descr="desktop_computer_stylized_medium" id="5572" name="Google Shape;5572;p9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73" name="Google Shape;5573;p9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74" name="Google Shape;5574;p98"/>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grpSp>
        <p:nvGrpSpPr>
          <p:cNvPr id="5575" name="Google Shape;5575;p98"/>
          <p:cNvGrpSpPr/>
          <p:nvPr/>
        </p:nvGrpSpPr>
        <p:grpSpPr>
          <a:xfrm>
            <a:off x="756989" y="3535828"/>
            <a:ext cx="4164772" cy="1950572"/>
            <a:chOff x="363537" y="4127499"/>
            <a:chExt cx="4164772" cy="1950572"/>
          </a:xfrm>
        </p:grpSpPr>
        <p:sp>
          <p:nvSpPr>
            <p:cNvPr id="5576" name="Google Shape;5576;p98"/>
            <p:cNvSpPr/>
            <p:nvPr/>
          </p:nvSpPr>
          <p:spPr>
            <a:xfrm>
              <a:off x="363537" y="4397375"/>
              <a:ext cx="4134671" cy="1680696"/>
            </a:xfrm>
            <a:prstGeom prst="rect">
              <a:avLst/>
            </a:prstGeom>
            <a:solidFill>
              <a:srgbClr val="FFFFFF"/>
            </a:solid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77" name="Google Shape;5577;p98"/>
            <p:cNvSpPr txBox="1"/>
            <p:nvPr/>
          </p:nvSpPr>
          <p:spPr>
            <a:xfrm>
              <a:off x="455613" y="4549775"/>
              <a:ext cx="4072696" cy="14219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controls sender, so sender won’t overflow receiver’s buffer by transmitting too much, too fast</a:t>
              </a:r>
              <a:endParaRPr b="0" i="0" sz="1050" u="none" cap="none" strike="noStrike">
                <a:solidFill>
                  <a:srgbClr val="000000"/>
                </a:solidFill>
                <a:latin typeface="Calibri"/>
                <a:ea typeface="Calibri"/>
                <a:cs typeface="Calibri"/>
                <a:sym typeface="Calibri"/>
              </a:endParaRPr>
            </a:p>
          </p:txBody>
        </p:sp>
        <p:grpSp>
          <p:nvGrpSpPr>
            <p:cNvPr id="5578" name="Google Shape;5578;p98"/>
            <p:cNvGrpSpPr/>
            <p:nvPr/>
          </p:nvGrpSpPr>
          <p:grpSpPr>
            <a:xfrm>
              <a:off x="551438" y="4127499"/>
              <a:ext cx="2003542" cy="523875"/>
              <a:chOff x="3327" y="230"/>
              <a:chExt cx="1176" cy="330"/>
            </a:xfrm>
          </p:grpSpPr>
          <p:sp>
            <p:nvSpPr>
              <p:cNvPr id="5579" name="Google Shape;5579;p98"/>
              <p:cNvSpPr/>
              <p:nvPr/>
            </p:nvSpPr>
            <p:spPr>
              <a:xfrm>
                <a:off x="3369" y="323"/>
                <a:ext cx="1134" cy="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80" name="Google Shape;5580;p98"/>
              <p:cNvSpPr txBox="1"/>
              <p:nvPr/>
            </p:nvSpPr>
            <p:spPr>
              <a:xfrm>
                <a:off x="3327" y="230"/>
                <a:ext cx="1136"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flow control</a:t>
                </a:r>
                <a:endParaRPr/>
              </a:p>
            </p:txBody>
          </p:sp>
        </p:grpSp>
      </p:grpSp>
      <p:cxnSp>
        <p:nvCxnSpPr>
          <p:cNvPr id="5581" name="Google Shape;5581;p98"/>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582" name="Google Shape;5582;p98"/>
          <p:cNvGrpSpPr/>
          <p:nvPr/>
        </p:nvGrpSpPr>
        <p:grpSpPr>
          <a:xfrm>
            <a:off x="7630935" y="2806352"/>
            <a:ext cx="2092487" cy="2971623"/>
            <a:chOff x="7630935" y="2806352"/>
            <a:chExt cx="2092487" cy="2971623"/>
          </a:xfrm>
        </p:grpSpPr>
        <p:grpSp>
          <p:nvGrpSpPr>
            <p:cNvPr id="5583" name="Google Shape;5583;p98"/>
            <p:cNvGrpSpPr/>
            <p:nvPr/>
          </p:nvGrpSpPr>
          <p:grpSpPr>
            <a:xfrm>
              <a:off x="7630935" y="3080408"/>
              <a:ext cx="1309687" cy="2697567"/>
              <a:chOff x="7074521" y="3577949"/>
              <a:chExt cx="1309687" cy="2697567"/>
            </a:xfrm>
          </p:grpSpPr>
          <p:sp>
            <p:nvSpPr>
              <p:cNvPr id="5584" name="Google Shape;5584;p98"/>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585" name="Google Shape;5585;p98"/>
              <p:cNvGrpSpPr/>
              <p:nvPr/>
            </p:nvGrpSpPr>
            <p:grpSpPr>
              <a:xfrm>
                <a:off x="7344839" y="5551212"/>
                <a:ext cx="1039369" cy="214398"/>
                <a:chOff x="7344839" y="5551212"/>
                <a:chExt cx="1039369" cy="214398"/>
              </a:xfrm>
            </p:grpSpPr>
            <p:sp>
              <p:nvSpPr>
                <p:cNvPr id="5586" name="Google Shape;5586;p98"/>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87" name="Google Shape;5587;p98"/>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588" name="Google Shape;5588;p98"/>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589" name="Google Shape;5589;p98"/>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590" name="Google Shape;5590;p98"/>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91" name="Google Shape;5591;p98"/>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592" name="Google Shape;5592;p98"/>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93" name="Google Shape;5593;p98"/>
          <p:cNvGrpSpPr/>
          <p:nvPr/>
        </p:nvGrpSpPr>
        <p:grpSpPr>
          <a:xfrm>
            <a:off x="4989152" y="1607125"/>
            <a:ext cx="4984933" cy="885919"/>
            <a:chOff x="4989152" y="1607125"/>
            <a:chExt cx="4984933" cy="885919"/>
          </a:xfrm>
        </p:grpSpPr>
        <p:grpSp>
          <p:nvGrpSpPr>
            <p:cNvPr id="5594" name="Google Shape;5594;p98"/>
            <p:cNvGrpSpPr/>
            <p:nvPr/>
          </p:nvGrpSpPr>
          <p:grpSpPr>
            <a:xfrm>
              <a:off x="4989152" y="1652814"/>
              <a:ext cx="4984933" cy="840230"/>
              <a:chOff x="4432738" y="2150355"/>
              <a:chExt cx="4984933" cy="840230"/>
            </a:xfrm>
          </p:grpSpPr>
          <p:cxnSp>
            <p:nvCxnSpPr>
              <p:cNvPr id="5595" name="Google Shape;5595;p98"/>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596" name="Google Shape;5596;p98"/>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597" name="Google Shape;5597;p98"/>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98" name="Google Shape;5598;p98"/>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599" name="Google Shape;5599;p9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4" name="Shape 5604"/>
        <p:cNvGrpSpPr/>
        <p:nvPr/>
      </p:nvGrpSpPr>
      <p:grpSpPr>
        <a:xfrm>
          <a:off x="0" y="0"/>
          <a:ext cx="0" cy="0"/>
          <a:chOff x="0" y="0"/>
          <a:chExt cx="0" cy="0"/>
        </a:xfrm>
      </p:grpSpPr>
      <p:sp>
        <p:nvSpPr>
          <p:cNvPr id="5605" name="Google Shape;5605;p9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606" name="Google Shape;5606;p99"/>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5607" name="Google Shape;5607;p99"/>
          <p:cNvGrpSpPr/>
          <p:nvPr/>
        </p:nvGrpSpPr>
        <p:grpSpPr>
          <a:xfrm>
            <a:off x="8147517" y="2351087"/>
            <a:ext cx="2578100" cy="2155825"/>
            <a:chOff x="512" y="1294"/>
            <a:chExt cx="1888" cy="1358"/>
          </a:xfrm>
        </p:grpSpPr>
        <p:grpSp>
          <p:nvGrpSpPr>
            <p:cNvPr id="5608" name="Google Shape;5608;p99"/>
            <p:cNvGrpSpPr/>
            <p:nvPr/>
          </p:nvGrpSpPr>
          <p:grpSpPr>
            <a:xfrm>
              <a:off x="1232" y="1410"/>
              <a:ext cx="336" cy="130"/>
              <a:chOff x="2003" y="1816"/>
              <a:chExt cx="336" cy="130"/>
            </a:xfrm>
          </p:grpSpPr>
          <p:sp>
            <p:nvSpPr>
              <p:cNvPr id="5609" name="Google Shape;5609;p99"/>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0" name="Google Shape;5610;p99"/>
              <p:cNvSpPr/>
              <p:nvPr/>
            </p:nvSpPr>
            <p:spPr>
              <a:xfrm>
                <a:off x="2105" y="1833"/>
                <a:ext cx="108"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1" name="Google Shape;5611;p99"/>
              <p:cNvSpPr/>
              <p:nvPr/>
            </p:nvSpPr>
            <p:spPr>
              <a:xfrm>
                <a:off x="2228" y="1891"/>
                <a:ext cx="28"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2" name="Google Shape;5612;p99"/>
              <p:cNvSpPr/>
              <p:nvPr/>
            </p:nvSpPr>
            <p:spPr>
              <a:xfrm>
                <a:off x="2056"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613" name="Google Shape;5613;p99"/>
            <p:cNvSpPr/>
            <p:nvPr/>
          </p:nvSpPr>
          <p:spPr>
            <a:xfrm>
              <a:off x="526" y="1522"/>
              <a:ext cx="1871" cy="896"/>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14" name="Google Shape;5614;p99"/>
            <p:cNvCxnSpPr/>
            <p:nvPr/>
          </p:nvCxnSpPr>
          <p:spPr>
            <a:xfrm>
              <a:off x="512" y="1863"/>
              <a:ext cx="1885" cy="0"/>
            </a:xfrm>
            <a:prstGeom prst="straightConnector1">
              <a:avLst/>
            </a:prstGeom>
            <a:noFill/>
            <a:ln cap="flat" cmpd="sng" w="9525">
              <a:solidFill>
                <a:srgbClr val="000000"/>
              </a:solidFill>
              <a:prstDash val="solid"/>
              <a:round/>
              <a:headEnd len="med" w="med" type="none"/>
              <a:tailEnd len="med" w="med" type="none"/>
            </a:ln>
          </p:spPr>
        </p:cxnSp>
        <p:sp>
          <p:nvSpPr>
            <p:cNvPr id="5615" name="Google Shape;5615;p99"/>
            <p:cNvSpPr/>
            <p:nvPr/>
          </p:nvSpPr>
          <p:spPr>
            <a:xfrm>
              <a:off x="1310" y="129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descr="Dark upward diagonal" id="5616" name="Google Shape;5616;p99"/>
            <p:cNvSpPr/>
            <p:nvPr/>
          </p:nvSpPr>
          <p:spPr>
            <a:xfrm>
              <a:off x="534" y="1856"/>
              <a:ext cx="1848" cy="55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7" name="Google Shape;5617;p99"/>
            <p:cNvSpPr/>
            <p:nvPr/>
          </p:nvSpPr>
          <p:spPr>
            <a:xfrm>
              <a:off x="1312" y="236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18" name="Google Shape;5618;p99"/>
            <p:cNvSpPr txBox="1"/>
            <p:nvPr/>
          </p:nvSpPr>
          <p:spPr>
            <a:xfrm>
              <a:off x="814" y="1568"/>
              <a:ext cx="1243"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000"/>
                <a:buFont typeface="Tahoma"/>
                <a:buNone/>
              </a:pPr>
              <a:r>
                <a:rPr b="0" i="0" lang="en-US" sz="2000" u="none" cap="none" strike="noStrike">
                  <a:solidFill>
                    <a:srgbClr val="FFFFFF"/>
                  </a:solidFill>
                  <a:latin typeface="Tahoma"/>
                  <a:ea typeface="Tahoma"/>
                  <a:cs typeface="Tahoma"/>
                  <a:sym typeface="Tahoma"/>
                </a:rPr>
                <a:t>buffered data</a:t>
              </a:r>
              <a:endParaRPr/>
            </a:p>
          </p:txBody>
        </p:sp>
        <p:cxnSp>
          <p:nvCxnSpPr>
            <p:cNvPr id="5619" name="Google Shape;5619;p99"/>
            <p:cNvCxnSpPr/>
            <p:nvPr/>
          </p:nvCxnSpPr>
          <p:spPr>
            <a:xfrm>
              <a:off x="522" y="1857"/>
              <a:ext cx="1878" cy="7"/>
            </a:xfrm>
            <a:prstGeom prst="straightConnector1">
              <a:avLst/>
            </a:prstGeom>
            <a:noFill/>
            <a:ln cap="flat" cmpd="sng" w="28575">
              <a:solidFill>
                <a:srgbClr val="000000"/>
              </a:solidFill>
              <a:prstDash val="solid"/>
              <a:round/>
              <a:headEnd len="med" w="med" type="none"/>
              <a:tailEnd len="med" w="med" type="none"/>
            </a:ln>
          </p:spPr>
        </p:cxnSp>
        <p:sp>
          <p:nvSpPr>
            <p:cNvPr id="5620" name="Google Shape;5620;p99"/>
            <p:cNvSpPr txBox="1"/>
            <p:nvPr/>
          </p:nvSpPr>
          <p:spPr>
            <a:xfrm>
              <a:off x="653" y="2020"/>
              <a:ext cx="15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free buffer space</a:t>
              </a:r>
              <a:endParaRPr/>
            </a:p>
          </p:txBody>
        </p:sp>
      </p:grpSp>
      <p:sp>
        <p:nvSpPr>
          <p:cNvPr id="5621" name="Google Shape;5621;p99"/>
          <p:cNvSpPr txBox="1"/>
          <p:nvPr/>
        </p:nvSpPr>
        <p:spPr>
          <a:xfrm>
            <a:off x="7260104" y="3495674"/>
            <a:ext cx="673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rwnd</a:t>
            </a:r>
            <a:endParaRPr/>
          </a:p>
        </p:txBody>
      </p:sp>
      <p:cxnSp>
        <p:nvCxnSpPr>
          <p:cNvPr id="5622" name="Google Shape;5622;p99"/>
          <p:cNvCxnSpPr/>
          <p:nvPr/>
        </p:nvCxnSpPr>
        <p:spPr>
          <a:xfrm>
            <a:off x="7771279" y="3228974"/>
            <a:ext cx="0" cy="322263"/>
          </a:xfrm>
          <a:prstGeom prst="straightConnector1">
            <a:avLst/>
          </a:prstGeom>
          <a:noFill/>
          <a:ln cap="flat" cmpd="sng" w="9525">
            <a:solidFill>
              <a:srgbClr val="000000"/>
            </a:solidFill>
            <a:prstDash val="solid"/>
            <a:round/>
            <a:headEnd len="med" w="med" type="triangle"/>
            <a:tailEnd len="med" w="med" type="none"/>
          </a:ln>
        </p:spPr>
      </p:cxnSp>
      <p:cxnSp>
        <p:nvCxnSpPr>
          <p:cNvPr id="5623" name="Google Shape;5623;p99"/>
          <p:cNvCxnSpPr/>
          <p:nvPr/>
        </p:nvCxnSpPr>
        <p:spPr>
          <a:xfrm rot="10800000">
            <a:off x="7771279" y="3754437"/>
            <a:ext cx="0" cy="322262"/>
          </a:xfrm>
          <a:prstGeom prst="straightConnector1">
            <a:avLst/>
          </a:prstGeom>
          <a:noFill/>
          <a:ln cap="flat" cmpd="sng" w="9525">
            <a:solidFill>
              <a:srgbClr val="000000"/>
            </a:solidFill>
            <a:prstDash val="solid"/>
            <a:round/>
            <a:headEnd len="med" w="med" type="triangle"/>
            <a:tailEnd len="med" w="med" type="none"/>
          </a:ln>
        </p:spPr>
      </p:cxnSp>
      <p:cxnSp>
        <p:nvCxnSpPr>
          <p:cNvPr id="5624" name="Google Shape;5624;p99"/>
          <p:cNvCxnSpPr/>
          <p:nvPr/>
        </p:nvCxnSpPr>
        <p:spPr>
          <a:xfrm>
            <a:off x="7617292" y="4086224"/>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5625" name="Google Shape;5625;p99"/>
          <p:cNvCxnSpPr/>
          <p:nvPr/>
        </p:nvCxnSpPr>
        <p:spPr>
          <a:xfrm>
            <a:off x="7666504" y="3217862"/>
            <a:ext cx="196850" cy="0"/>
          </a:xfrm>
          <a:prstGeom prst="straightConnector1">
            <a:avLst/>
          </a:prstGeom>
          <a:noFill/>
          <a:ln cap="flat" cmpd="sng" w="19050">
            <a:solidFill>
              <a:srgbClr val="000000"/>
            </a:solidFill>
            <a:prstDash val="solid"/>
            <a:round/>
            <a:headEnd len="med" w="med" type="none"/>
            <a:tailEnd len="med" w="med" type="none"/>
          </a:ln>
        </p:spPr>
      </p:cxnSp>
      <p:cxnSp>
        <p:nvCxnSpPr>
          <p:cNvPr id="5626" name="Google Shape;5626;p99"/>
          <p:cNvCxnSpPr/>
          <p:nvPr/>
        </p:nvCxnSpPr>
        <p:spPr>
          <a:xfrm>
            <a:off x="7639517" y="2692399"/>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5627" name="Google Shape;5627;p99"/>
          <p:cNvCxnSpPr/>
          <p:nvPr/>
        </p:nvCxnSpPr>
        <p:spPr>
          <a:xfrm>
            <a:off x="8028454" y="2697162"/>
            <a:ext cx="0" cy="177800"/>
          </a:xfrm>
          <a:prstGeom prst="straightConnector1">
            <a:avLst/>
          </a:prstGeom>
          <a:noFill/>
          <a:ln cap="flat" cmpd="sng" w="9525">
            <a:solidFill>
              <a:srgbClr val="000000"/>
            </a:solidFill>
            <a:prstDash val="solid"/>
            <a:round/>
            <a:headEnd len="med" w="med" type="triangle"/>
            <a:tailEnd len="med" w="med" type="none"/>
          </a:ln>
        </p:spPr>
      </p:cxnSp>
      <p:cxnSp>
        <p:nvCxnSpPr>
          <p:cNvPr id="5628" name="Google Shape;5628;p99"/>
          <p:cNvCxnSpPr/>
          <p:nvPr/>
        </p:nvCxnSpPr>
        <p:spPr>
          <a:xfrm>
            <a:off x="8026867" y="3121024"/>
            <a:ext cx="0" cy="954088"/>
          </a:xfrm>
          <a:prstGeom prst="straightConnector1">
            <a:avLst/>
          </a:prstGeom>
          <a:noFill/>
          <a:ln cap="flat" cmpd="sng" w="9525">
            <a:solidFill>
              <a:srgbClr val="000000"/>
            </a:solidFill>
            <a:prstDash val="solid"/>
            <a:round/>
            <a:headEnd len="med" w="med" type="none"/>
            <a:tailEnd len="med" w="med" type="triangle"/>
          </a:ln>
        </p:spPr>
      </p:cxnSp>
      <p:sp>
        <p:nvSpPr>
          <p:cNvPr id="5629" name="Google Shape;5629;p99"/>
          <p:cNvSpPr txBox="1"/>
          <p:nvPr/>
        </p:nvSpPr>
        <p:spPr>
          <a:xfrm>
            <a:off x="6874342" y="2857499"/>
            <a:ext cx="1284287" cy="3365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RcvBuffer</a:t>
            </a:r>
            <a:endParaRPr/>
          </a:p>
        </p:txBody>
      </p:sp>
      <p:sp>
        <p:nvSpPr>
          <p:cNvPr id="5630" name="Google Shape;5630;p99"/>
          <p:cNvSpPr txBox="1"/>
          <p:nvPr/>
        </p:nvSpPr>
        <p:spPr>
          <a:xfrm>
            <a:off x="8152610" y="4486274"/>
            <a:ext cx="252505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 segment payloads</a:t>
            </a:r>
            <a:endParaRPr/>
          </a:p>
        </p:txBody>
      </p:sp>
      <p:sp>
        <p:nvSpPr>
          <p:cNvPr id="5631" name="Google Shape;5631;p99"/>
          <p:cNvSpPr txBox="1"/>
          <p:nvPr/>
        </p:nvSpPr>
        <p:spPr>
          <a:xfrm>
            <a:off x="8203635" y="1985962"/>
            <a:ext cx="247856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to application process</a:t>
            </a:r>
            <a:endParaRPr/>
          </a:p>
        </p:txBody>
      </p:sp>
      <p:sp>
        <p:nvSpPr>
          <p:cNvPr id="5632" name="Google Shape;5632;p99"/>
          <p:cNvSpPr txBox="1"/>
          <p:nvPr/>
        </p:nvSpPr>
        <p:spPr>
          <a:xfrm>
            <a:off x="7554658" y="5138737"/>
            <a:ext cx="356379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receiver-side buffering</a:t>
            </a:r>
            <a:endParaRPr/>
          </a:p>
        </p:txBody>
      </p:sp>
      <p:sp>
        <p:nvSpPr>
          <p:cNvPr id="5633" name="Google Shape;5633;p9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8" name="Shape 5638"/>
        <p:cNvGrpSpPr/>
        <p:nvPr/>
      </p:nvGrpSpPr>
      <p:grpSpPr>
        <a:xfrm>
          <a:off x="0" y="0"/>
          <a:ext cx="0" cy="0"/>
          <a:chOff x="0" y="0"/>
          <a:chExt cx="0" cy="0"/>
        </a:xfrm>
      </p:grpSpPr>
      <p:sp>
        <p:nvSpPr>
          <p:cNvPr id="5639" name="Google Shape;5639;p10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640" name="Google Shape;5640;p100"/>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5641" name="Google Shape;5641;p100"/>
          <p:cNvGrpSpPr/>
          <p:nvPr/>
        </p:nvGrpSpPr>
        <p:grpSpPr>
          <a:xfrm>
            <a:off x="7363745" y="1068614"/>
            <a:ext cx="4349284" cy="5165818"/>
            <a:chOff x="7334716" y="821871"/>
            <a:chExt cx="4349284" cy="5165818"/>
          </a:xfrm>
        </p:grpSpPr>
        <p:sp>
          <p:nvSpPr>
            <p:cNvPr id="5642" name="Google Shape;5642;p100"/>
            <p:cNvSpPr txBox="1"/>
            <p:nvPr/>
          </p:nvSpPr>
          <p:spPr>
            <a:xfrm>
              <a:off x="7334716" y="821871"/>
              <a:ext cx="4349284"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grpSp>
          <p:nvGrpSpPr>
            <p:cNvPr id="5643" name="Google Shape;5643;p100"/>
            <p:cNvGrpSpPr/>
            <p:nvPr/>
          </p:nvGrpSpPr>
          <p:grpSpPr>
            <a:xfrm>
              <a:off x="7490842" y="1445945"/>
              <a:ext cx="3173211" cy="4078555"/>
              <a:chOff x="7157014" y="1873079"/>
              <a:chExt cx="2251592" cy="2800562"/>
            </a:xfrm>
          </p:grpSpPr>
          <p:sp>
            <p:nvSpPr>
              <p:cNvPr id="5644" name="Google Shape;5644;p100"/>
              <p:cNvSpPr/>
              <p:nvPr/>
            </p:nvSpPr>
            <p:spPr>
              <a:xfrm>
                <a:off x="7206558" y="1873079"/>
                <a:ext cx="2202048" cy="274545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5645" name="Google Shape;5645;p100"/>
              <p:cNvSpPr/>
              <p:nvPr/>
            </p:nvSpPr>
            <p:spPr>
              <a:xfrm>
                <a:off x="7158783" y="1939027"/>
                <a:ext cx="2202048" cy="2734614"/>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5646" name="Google Shape;5646;p100"/>
              <p:cNvCxnSpPr/>
              <p:nvPr/>
            </p:nvCxnSpPr>
            <p:spPr>
              <a:xfrm>
                <a:off x="7160553" y="2152232"/>
                <a:ext cx="2199395" cy="2711"/>
              </a:xfrm>
              <a:prstGeom prst="straightConnector1">
                <a:avLst/>
              </a:prstGeom>
              <a:noFill/>
              <a:ln cap="flat" cmpd="sng" w="19050">
                <a:solidFill>
                  <a:srgbClr val="000000"/>
                </a:solidFill>
                <a:prstDash val="solid"/>
                <a:round/>
                <a:headEnd len="med" w="med" type="none"/>
                <a:tailEnd len="med" w="med" type="none"/>
              </a:ln>
            </p:spPr>
          </p:cxnSp>
          <p:cxnSp>
            <p:nvCxnSpPr>
              <p:cNvPr id="5647" name="Google Shape;5647;p100"/>
              <p:cNvCxnSpPr/>
              <p:nvPr/>
            </p:nvCxnSpPr>
            <p:spPr>
              <a:xfrm>
                <a:off x="7157014" y="236814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48" name="Google Shape;5648;p100"/>
              <p:cNvCxnSpPr/>
              <p:nvPr/>
            </p:nvCxnSpPr>
            <p:spPr>
              <a:xfrm>
                <a:off x="7162322" y="2584964"/>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49" name="Google Shape;5649;p100"/>
              <p:cNvCxnSpPr/>
              <p:nvPr/>
            </p:nvCxnSpPr>
            <p:spPr>
              <a:xfrm>
                <a:off x="7159668" y="2809912"/>
                <a:ext cx="2202049" cy="0"/>
              </a:xfrm>
              <a:prstGeom prst="straightConnector1">
                <a:avLst/>
              </a:prstGeom>
              <a:noFill/>
              <a:ln cap="flat" cmpd="sng" w="19050">
                <a:solidFill>
                  <a:srgbClr val="000000"/>
                </a:solidFill>
                <a:prstDash val="solid"/>
                <a:round/>
                <a:headEnd len="med" w="med" type="none"/>
                <a:tailEnd len="med" w="med" type="none"/>
              </a:ln>
            </p:spPr>
          </p:cxnSp>
          <p:cxnSp>
            <p:nvCxnSpPr>
              <p:cNvPr id="5650" name="Google Shape;5650;p100"/>
              <p:cNvCxnSpPr/>
              <p:nvPr/>
            </p:nvCxnSpPr>
            <p:spPr>
              <a:xfrm>
                <a:off x="7157014" y="3032150"/>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51" name="Google Shape;5651;p100"/>
              <p:cNvCxnSpPr/>
              <p:nvPr/>
            </p:nvCxnSpPr>
            <p:spPr>
              <a:xfrm>
                <a:off x="7157014" y="335195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5652" name="Google Shape;5652;p100"/>
              <p:cNvCxnSpPr/>
              <p:nvPr/>
            </p:nvCxnSpPr>
            <p:spPr>
              <a:xfrm rot="10800000">
                <a:off x="8249633" y="2586771"/>
                <a:ext cx="2654" cy="442669"/>
              </a:xfrm>
              <a:prstGeom prst="straightConnector1">
                <a:avLst/>
              </a:prstGeom>
              <a:noFill/>
              <a:ln cap="flat" cmpd="sng" w="19050">
                <a:solidFill>
                  <a:srgbClr val="000000"/>
                </a:solidFill>
                <a:prstDash val="solid"/>
                <a:round/>
                <a:headEnd len="med" w="med" type="none"/>
                <a:tailEnd len="med" w="med" type="none"/>
              </a:ln>
            </p:spPr>
          </p:cxnSp>
          <p:sp>
            <p:nvSpPr>
              <p:cNvPr id="5653" name="Google Shape;5653;p100"/>
              <p:cNvSpPr txBox="1"/>
              <p:nvPr/>
            </p:nvSpPr>
            <p:spPr>
              <a:xfrm>
                <a:off x="8220544" y="2572087"/>
                <a:ext cx="1124010" cy="2324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 window</a:t>
                </a:r>
                <a:endParaRPr/>
              </a:p>
            </p:txBody>
          </p:sp>
          <p:cxnSp>
            <p:nvCxnSpPr>
              <p:cNvPr id="5654" name="Google Shape;5654;p100"/>
              <p:cNvCxnSpPr/>
              <p:nvPr/>
            </p:nvCxnSpPr>
            <p:spPr>
              <a:xfrm rot="10800000">
                <a:off x="8241671" y="1940977"/>
                <a:ext cx="981" cy="207817"/>
              </a:xfrm>
              <a:prstGeom prst="straightConnector1">
                <a:avLst/>
              </a:prstGeom>
              <a:noFill/>
              <a:ln cap="flat" cmpd="sng" w="19050">
                <a:solidFill>
                  <a:srgbClr val="000000"/>
                </a:solidFill>
                <a:prstDash val="solid"/>
                <a:round/>
                <a:headEnd len="med" w="med" type="none"/>
                <a:tailEnd len="med" w="med" type="none"/>
              </a:ln>
            </p:spPr>
          </p:cxnSp>
        </p:grpSp>
        <p:cxnSp>
          <p:nvCxnSpPr>
            <p:cNvPr id="5655" name="Google Shape;5655;p100"/>
            <p:cNvCxnSpPr/>
            <p:nvPr/>
          </p:nvCxnSpPr>
          <p:spPr>
            <a:xfrm rot="10800000">
              <a:off x="7968285" y="1150408"/>
              <a:ext cx="1233771" cy="1404106"/>
            </a:xfrm>
            <a:prstGeom prst="straightConnector1">
              <a:avLst/>
            </a:prstGeom>
            <a:noFill/>
            <a:ln cap="flat" cmpd="sng" w="19050">
              <a:solidFill>
                <a:srgbClr val="C00000"/>
              </a:solidFill>
              <a:prstDash val="solid"/>
              <a:round/>
              <a:headEnd len="med" w="med" type="none"/>
              <a:tailEnd len="med" w="med" type="none"/>
            </a:ln>
          </p:spPr>
        </p:cxnSp>
        <p:sp>
          <p:nvSpPr>
            <p:cNvPr id="5656" name="Google Shape;5656;p100"/>
            <p:cNvSpPr txBox="1"/>
            <p:nvPr/>
          </p:nvSpPr>
          <p:spPr>
            <a:xfrm>
              <a:off x="8125744" y="5646057"/>
              <a:ext cx="2310027"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segment format</a:t>
              </a:r>
              <a:endParaRPr/>
            </a:p>
          </p:txBody>
        </p:sp>
      </p:grpSp>
      <p:sp>
        <p:nvSpPr>
          <p:cNvPr id="5657" name="Google Shape;5657;p10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2" name="Shape 5662"/>
        <p:cNvGrpSpPr/>
        <p:nvPr/>
      </p:nvGrpSpPr>
      <p:grpSpPr>
        <a:xfrm>
          <a:off x="0" y="0"/>
          <a:ext cx="0" cy="0"/>
          <a:chOff x="0" y="0"/>
          <a:chExt cx="0" cy="0"/>
        </a:xfrm>
      </p:grpSpPr>
      <p:sp>
        <p:nvSpPr>
          <p:cNvPr id="5663" name="Google Shape;5663;p10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connection management</a:t>
            </a:r>
            <a:endParaRPr b="0" sz="4400"/>
          </a:p>
        </p:txBody>
      </p:sp>
      <p:sp>
        <p:nvSpPr>
          <p:cNvPr id="5664" name="Google Shape;5664;p101"/>
          <p:cNvSpPr txBox="1"/>
          <p:nvPr/>
        </p:nvSpPr>
        <p:spPr>
          <a:xfrm>
            <a:off x="785243" y="1329399"/>
            <a:ext cx="11329310" cy="2187575"/>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before exchanging data, sender/receiver “handshake”:</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to establish connection (each knowing the other willing to establish connection)</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on connection parameters (e.g., starting seq #s)</a:t>
            </a:r>
            <a:endParaRPr/>
          </a:p>
        </p:txBody>
      </p:sp>
      <p:sp>
        <p:nvSpPr>
          <p:cNvPr id="5665" name="Google Shape;5665;p101"/>
          <p:cNvSpPr/>
          <p:nvPr/>
        </p:nvSpPr>
        <p:spPr>
          <a:xfrm>
            <a:off x="3138677" y="293529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66" name="Google Shape;5666;p101"/>
          <p:cNvSpPr/>
          <p:nvPr/>
        </p:nvSpPr>
        <p:spPr>
          <a:xfrm>
            <a:off x="3098989" y="298926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67" name="Google Shape;5667;p101"/>
          <p:cNvCxnSpPr/>
          <p:nvPr/>
        </p:nvCxnSpPr>
        <p:spPr>
          <a:xfrm>
            <a:off x="3098989" y="3430590"/>
            <a:ext cx="2270125" cy="0"/>
          </a:xfrm>
          <a:prstGeom prst="straightConnector1">
            <a:avLst/>
          </a:prstGeom>
          <a:noFill/>
          <a:ln cap="flat" cmpd="sng" w="9525">
            <a:solidFill>
              <a:srgbClr val="000000"/>
            </a:solidFill>
            <a:prstDash val="solid"/>
            <a:round/>
            <a:headEnd len="med" w="med" type="none"/>
            <a:tailEnd len="med" w="med" type="none"/>
          </a:ln>
        </p:spPr>
      </p:cxnSp>
      <p:sp>
        <p:nvSpPr>
          <p:cNvPr id="5668" name="Google Shape;5668;p101"/>
          <p:cNvSpPr txBox="1"/>
          <p:nvPr/>
        </p:nvSpPr>
        <p:spPr>
          <a:xfrm>
            <a:off x="3113277" y="354330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5669" name="Google Shape;5669;p101"/>
          <p:cNvGrpSpPr/>
          <p:nvPr/>
        </p:nvGrpSpPr>
        <p:grpSpPr>
          <a:xfrm>
            <a:off x="3979492" y="3344865"/>
            <a:ext cx="438150" cy="206375"/>
            <a:chOff x="344" y="1846"/>
            <a:chExt cx="336" cy="130"/>
          </a:xfrm>
        </p:grpSpPr>
        <p:sp>
          <p:nvSpPr>
            <p:cNvPr id="5670" name="Google Shape;5670;p101"/>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71" name="Google Shape;5671;p101"/>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72" name="Google Shape;5672;p101"/>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73" name="Google Shape;5673;p101"/>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674" name="Google Shape;5674;p101"/>
          <p:cNvSpPr txBox="1"/>
          <p:nvPr/>
        </p:nvSpPr>
        <p:spPr>
          <a:xfrm>
            <a:off x="3617081" y="3006443"/>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5675" name="Google Shape;5675;p101"/>
          <p:cNvCxnSpPr/>
          <p:nvPr/>
        </p:nvCxnSpPr>
        <p:spPr>
          <a:xfrm>
            <a:off x="3105339" y="4926015"/>
            <a:ext cx="2268538" cy="0"/>
          </a:xfrm>
          <a:prstGeom prst="straightConnector1">
            <a:avLst/>
          </a:prstGeom>
          <a:noFill/>
          <a:ln cap="flat" cmpd="sng" w="9525">
            <a:solidFill>
              <a:srgbClr val="000000"/>
            </a:solidFill>
            <a:prstDash val="solid"/>
            <a:round/>
            <a:headEnd len="med" w="med" type="none"/>
            <a:tailEnd len="med" w="med" type="none"/>
          </a:ln>
        </p:spPr>
      </p:cxnSp>
      <p:sp>
        <p:nvSpPr>
          <p:cNvPr id="5676" name="Google Shape;5676;p101"/>
          <p:cNvSpPr txBox="1"/>
          <p:nvPr/>
        </p:nvSpPr>
        <p:spPr>
          <a:xfrm>
            <a:off x="3623658" y="5021176"/>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5677" name="Google Shape;5677;p101"/>
          <p:cNvSpPr/>
          <p:nvPr/>
        </p:nvSpPr>
        <p:spPr>
          <a:xfrm>
            <a:off x="3070414" y="534829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78" name="Google Shape;5678;p101"/>
          <p:cNvCxnSpPr/>
          <p:nvPr/>
        </p:nvCxnSpPr>
        <p:spPr>
          <a:xfrm>
            <a:off x="3098989" y="533717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5679" name="Google Shape;5679;p101"/>
          <p:cNvCxnSpPr/>
          <p:nvPr/>
        </p:nvCxnSpPr>
        <p:spPr>
          <a:xfrm>
            <a:off x="5362764" y="5308603"/>
            <a:ext cx="0" cy="236537"/>
          </a:xfrm>
          <a:prstGeom prst="straightConnector1">
            <a:avLst/>
          </a:prstGeom>
          <a:noFill/>
          <a:ln cap="flat" cmpd="sng" w="9525">
            <a:solidFill>
              <a:srgbClr val="000000"/>
            </a:solidFill>
            <a:prstDash val="dash"/>
            <a:round/>
            <a:headEnd len="med" w="med" type="none"/>
            <a:tailEnd len="med" w="med" type="none"/>
          </a:ln>
        </p:spPr>
      </p:cxnSp>
      <p:sp>
        <p:nvSpPr>
          <p:cNvPr id="5680" name="Google Shape;5680;p101"/>
          <p:cNvSpPr/>
          <p:nvPr/>
        </p:nvSpPr>
        <p:spPr>
          <a:xfrm flipH="1">
            <a:off x="2625914" y="2992440"/>
            <a:ext cx="468313"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1" name="Google Shape;5681;p101"/>
          <p:cNvSpPr/>
          <p:nvPr/>
        </p:nvSpPr>
        <p:spPr>
          <a:xfrm>
            <a:off x="7440802" y="294164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2" name="Google Shape;5682;p101"/>
          <p:cNvSpPr/>
          <p:nvPr/>
        </p:nvSpPr>
        <p:spPr>
          <a:xfrm>
            <a:off x="7401114" y="299561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83" name="Google Shape;5683;p101"/>
          <p:cNvCxnSpPr/>
          <p:nvPr/>
        </p:nvCxnSpPr>
        <p:spPr>
          <a:xfrm>
            <a:off x="7401114" y="3436940"/>
            <a:ext cx="2270125" cy="0"/>
          </a:xfrm>
          <a:prstGeom prst="straightConnector1">
            <a:avLst/>
          </a:prstGeom>
          <a:noFill/>
          <a:ln cap="flat" cmpd="sng" w="9525">
            <a:solidFill>
              <a:srgbClr val="000000"/>
            </a:solidFill>
            <a:prstDash val="solid"/>
            <a:round/>
            <a:headEnd len="med" w="med" type="none"/>
            <a:tailEnd len="med" w="med" type="none"/>
          </a:ln>
        </p:spPr>
      </p:cxnSp>
      <p:sp>
        <p:nvSpPr>
          <p:cNvPr id="5684" name="Google Shape;5684;p101"/>
          <p:cNvSpPr txBox="1"/>
          <p:nvPr/>
        </p:nvSpPr>
        <p:spPr>
          <a:xfrm>
            <a:off x="7415402" y="354965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5685" name="Google Shape;5685;p101"/>
          <p:cNvGrpSpPr/>
          <p:nvPr/>
        </p:nvGrpSpPr>
        <p:grpSpPr>
          <a:xfrm>
            <a:off x="8308511" y="3351215"/>
            <a:ext cx="438150" cy="206375"/>
            <a:chOff x="344" y="1846"/>
            <a:chExt cx="336" cy="130"/>
          </a:xfrm>
        </p:grpSpPr>
        <p:sp>
          <p:nvSpPr>
            <p:cNvPr id="5686" name="Google Shape;5686;p101"/>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7" name="Google Shape;5687;p101"/>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8" name="Google Shape;5688;p101"/>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9" name="Google Shape;5689;p101"/>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690" name="Google Shape;5690;p101"/>
          <p:cNvSpPr txBox="1"/>
          <p:nvPr/>
        </p:nvSpPr>
        <p:spPr>
          <a:xfrm>
            <a:off x="7943246" y="3024051"/>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5691" name="Google Shape;5691;p101"/>
          <p:cNvCxnSpPr/>
          <p:nvPr/>
        </p:nvCxnSpPr>
        <p:spPr>
          <a:xfrm>
            <a:off x="7407464" y="4932365"/>
            <a:ext cx="2268538" cy="0"/>
          </a:xfrm>
          <a:prstGeom prst="straightConnector1">
            <a:avLst/>
          </a:prstGeom>
          <a:noFill/>
          <a:ln cap="flat" cmpd="sng" w="9525">
            <a:solidFill>
              <a:srgbClr val="000000"/>
            </a:solidFill>
            <a:prstDash val="solid"/>
            <a:round/>
            <a:headEnd len="med" w="med" type="none"/>
            <a:tailEnd len="med" w="med" type="none"/>
          </a:ln>
        </p:spPr>
      </p:cxnSp>
      <p:sp>
        <p:nvSpPr>
          <p:cNvPr id="5692" name="Google Shape;5692;p101"/>
          <p:cNvSpPr txBox="1"/>
          <p:nvPr/>
        </p:nvSpPr>
        <p:spPr>
          <a:xfrm>
            <a:off x="8070953" y="5013813"/>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5693" name="Google Shape;5693;p101"/>
          <p:cNvSpPr/>
          <p:nvPr/>
        </p:nvSpPr>
        <p:spPr>
          <a:xfrm>
            <a:off x="7372539" y="535464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694" name="Google Shape;5694;p101"/>
          <p:cNvCxnSpPr/>
          <p:nvPr/>
        </p:nvCxnSpPr>
        <p:spPr>
          <a:xfrm>
            <a:off x="7401114" y="534352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5695" name="Google Shape;5695;p101"/>
          <p:cNvCxnSpPr/>
          <p:nvPr/>
        </p:nvCxnSpPr>
        <p:spPr>
          <a:xfrm>
            <a:off x="9664889" y="5314953"/>
            <a:ext cx="0" cy="236537"/>
          </a:xfrm>
          <a:prstGeom prst="straightConnector1">
            <a:avLst/>
          </a:prstGeom>
          <a:noFill/>
          <a:ln cap="flat" cmpd="sng" w="9525">
            <a:solidFill>
              <a:srgbClr val="000000"/>
            </a:solidFill>
            <a:prstDash val="dash"/>
            <a:round/>
            <a:headEnd len="med" w="med" type="none"/>
            <a:tailEnd len="med" w="med" type="none"/>
          </a:ln>
        </p:spPr>
      </p:cxnSp>
      <p:sp>
        <p:nvSpPr>
          <p:cNvPr id="5696" name="Google Shape;5696;p101"/>
          <p:cNvSpPr/>
          <p:nvPr/>
        </p:nvSpPr>
        <p:spPr>
          <a:xfrm>
            <a:off x="9682352" y="2932115"/>
            <a:ext cx="468312"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97" name="Google Shape;5697;p101"/>
          <p:cNvSpPr txBox="1"/>
          <p:nvPr/>
        </p:nvSpPr>
        <p:spPr>
          <a:xfrm>
            <a:off x="1033504" y="5796758"/>
            <a:ext cx="5633357"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clientSocket =   </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  new Socket("hostname”,portnumber);</a:t>
            </a:r>
            <a:endParaRPr/>
          </a:p>
        </p:txBody>
      </p:sp>
      <p:sp>
        <p:nvSpPr>
          <p:cNvPr id="5698" name="Google Shape;5698;p101"/>
          <p:cNvSpPr txBox="1"/>
          <p:nvPr/>
        </p:nvSpPr>
        <p:spPr>
          <a:xfrm>
            <a:off x="6571668" y="5667424"/>
            <a:ext cx="4995020" cy="1200329"/>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ServerSocket welcomeSocket= new ServerSocket(portnumber);</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connectionSocket = welcomeSocket.accept();</a:t>
            </a:r>
            <a:endParaRPr/>
          </a:p>
        </p:txBody>
      </p:sp>
      <p:grpSp>
        <p:nvGrpSpPr>
          <p:cNvPr id="5699" name="Google Shape;5699;p101"/>
          <p:cNvGrpSpPr/>
          <p:nvPr/>
        </p:nvGrpSpPr>
        <p:grpSpPr>
          <a:xfrm>
            <a:off x="2149664" y="5024440"/>
            <a:ext cx="698500" cy="612775"/>
            <a:chOff x="-44" y="1473"/>
            <a:chExt cx="981" cy="1105"/>
          </a:xfrm>
        </p:grpSpPr>
        <p:pic>
          <p:nvPicPr>
            <p:cNvPr descr="desktop_computer_stylized_medium" id="5700" name="Google Shape;5700;p10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01" name="Google Shape;5701;p10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702" name="Google Shape;5702;p101"/>
          <p:cNvGrpSpPr/>
          <p:nvPr/>
        </p:nvGrpSpPr>
        <p:grpSpPr>
          <a:xfrm>
            <a:off x="9964927" y="4922840"/>
            <a:ext cx="415925" cy="627063"/>
            <a:chOff x="4140" y="429"/>
            <a:chExt cx="1425" cy="2396"/>
          </a:xfrm>
        </p:grpSpPr>
        <p:sp>
          <p:nvSpPr>
            <p:cNvPr id="5703" name="Google Shape;5703;p10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4" name="Google Shape;5704;p101"/>
            <p:cNvSpPr/>
            <p:nvPr/>
          </p:nvSpPr>
          <p:spPr>
            <a:xfrm>
              <a:off x="4205" y="429"/>
              <a:ext cx="1050"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5" name="Google Shape;5705;p10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6" name="Google Shape;5706;p10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7" name="Google Shape;5707;p101"/>
            <p:cNvSpPr/>
            <p:nvPr/>
          </p:nvSpPr>
          <p:spPr>
            <a:xfrm>
              <a:off x="4211" y="696"/>
              <a:ext cx="598"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08" name="Google Shape;5708;p101"/>
            <p:cNvGrpSpPr/>
            <p:nvPr/>
          </p:nvGrpSpPr>
          <p:grpSpPr>
            <a:xfrm>
              <a:off x="4749" y="666"/>
              <a:ext cx="582" cy="146"/>
              <a:chOff x="614" y="2566"/>
              <a:chExt cx="726" cy="140"/>
            </a:xfrm>
          </p:grpSpPr>
          <p:sp>
            <p:nvSpPr>
              <p:cNvPr id="5709" name="Google Shape;5709;p101"/>
              <p:cNvSpPr/>
              <p:nvPr/>
            </p:nvSpPr>
            <p:spPr>
              <a:xfrm>
                <a:off x="614" y="2566"/>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0" name="Google Shape;5710;p101"/>
              <p:cNvSpPr/>
              <p:nvPr/>
            </p:nvSpPr>
            <p:spPr>
              <a:xfrm>
                <a:off x="628" y="2583"/>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11" name="Google Shape;5711;p101"/>
            <p:cNvSpPr/>
            <p:nvPr/>
          </p:nvSpPr>
          <p:spPr>
            <a:xfrm>
              <a:off x="4222" y="101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12" name="Google Shape;5712;p101"/>
            <p:cNvGrpSpPr/>
            <p:nvPr/>
          </p:nvGrpSpPr>
          <p:grpSpPr>
            <a:xfrm>
              <a:off x="4749" y="993"/>
              <a:ext cx="576" cy="133"/>
              <a:chOff x="617" y="2567"/>
              <a:chExt cx="719" cy="138"/>
            </a:xfrm>
          </p:grpSpPr>
          <p:sp>
            <p:nvSpPr>
              <p:cNvPr id="5713" name="Google Shape;5713;p101"/>
              <p:cNvSpPr/>
              <p:nvPr/>
            </p:nvSpPr>
            <p:spPr>
              <a:xfrm>
                <a:off x="617" y="2567"/>
                <a:ext cx="719"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4" name="Google Shape;5714;p101"/>
              <p:cNvSpPr/>
              <p:nvPr/>
            </p:nvSpPr>
            <p:spPr>
              <a:xfrm>
                <a:off x="630" y="2586"/>
                <a:ext cx="67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15" name="Google Shape;5715;p101"/>
            <p:cNvSpPr/>
            <p:nvPr/>
          </p:nvSpPr>
          <p:spPr>
            <a:xfrm>
              <a:off x="4216" y="135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6" name="Google Shape;5716;p101"/>
            <p:cNvSpPr/>
            <p:nvPr/>
          </p:nvSpPr>
          <p:spPr>
            <a:xfrm>
              <a:off x="4227" y="1654"/>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17" name="Google Shape;5717;p101"/>
            <p:cNvGrpSpPr/>
            <p:nvPr/>
          </p:nvGrpSpPr>
          <p:grpSpPr>
            <a:xfrm>
              <a:off x="4733" y="1636"/>
              <a:ext cx="582" cy="134"/>
              <a:chOff x="611" y="2576"/>
              <a:chExt cx="725" cy="123"/>
            </a:xfrm>
          </p:grpSpPr>
          <p:sp>
            <p:nvSpPr>
              <p:cNvPr id="5718" name="Google Shape;5718;p101"/>
              <p:cNvSpPr/>
              <p:nvPr/>
            </p:nvSpPr>
            <p:spPr>
              <a:xfrm>
                <a:off x="611" y="2576"/>
                <a:ext cx="725" cy="12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19" name="Google Shape;5719;p101"/>
              <p:cNvSpPr/>
              <p:nvPr/>
            </p:nvSpPr>
            <p:spPr>
              <a:xfrm>
                <a:off x="625" y="2588"/>
                <a:ext cx="691"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20" name="Google Shape;5720;p10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21" name="Google Shape;5721;p101"/>
            <p:cNvGrpSpPr/>
            <p:nvPr/>
          </p:nvGrpSpPr>
          <p:grpSpPr>
            <a:xfrm>
              <a:off x="4738" y="1327"/>
              <a:ext cx="582" cy="140"/>
              <a:chOff x="613" y="2568"/>
              <a:chExt cx="725" cy="140"/>
            </a:xfrm>
          </p:grpSpPr>
          <p:sp>
            <p:nvSpPr>
              <p:cNvPr id="5722" name="Google Shape;5722;p101"/>
              <p:cNvSpPr/>
              <p:nvPr/>
            </p:nvSpPr>
            <p:spPr>
              <a:xfrm>
                <a:off x="613" y="2568"/>
                <a:ext cx="725"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3" name="Google Shape;5723;p101"/>
              <p:cNvSpPr/>
              <p:nvPr/>
            </p:nvSpPr>
            <p:spPr>
              <a:xfrm>
                <a:off x="627" y="2586"/>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24" name="Google Shape;5724;p101"/>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5" name="Google Shape;5725;p10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6" name="Google Shape;5726;p10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7" name="Google Shape;5727;p101"/>
            <p:cNvSpPr/>
            <p:nvPr/>
          </p:nvSpPr>
          <p:spPr>
            <a:xfrm>
              <a:off x="5516" y="2613"/>
              <a:ext cx="49"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8" name="Google Shape;5728;p10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29" name="Google Shape;5729;p101"/>
            <p:cNvSpPr/>
            <p:nvPr/>
          </p:nvSpPr>
          <p:spPr>
            <a:xfrm>
              <a:off x="4140" y="2679"/>
              <a:ext cx="1197"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0" name="Google Shape;5730;p101"/>
            <p:cNvSpPr/>
            <p:nvPr/>
          </p:nvSpPr>
          <p:spPr>
            <a:xfrm>
              <a:off x="4205" y="2710"/>
              <a:ext cx="1071"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1" name="Google Shape;5731;p101"/>
            <p:cNvSpPr/>
            <p:nvPr/>
          </p:nvSpPr>
          <p:spPr>
            <a:xfrm>
              <a:off x="4309"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2" name="Google Shape;5732;p101"/>
            <p:cNvSpPr/>
            <p:nvPr/>
          </p:nvSpPr>
          <p:spPr>
            <a:xfrm>
              <a:off x="4488"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733" name="Google Shape;5733;p101"/>
            <p:cNvSpPr/>
            <p:nvPr/>
          </p:nvSpPr>
          <p:spPr>
            <a:xfrm>
              <a:off x="4662"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34" name="Google Shape;5734;p101"/>
            <p:cNvSpPr/>
            <p:nvPr/>
          </p:nvSpPr>
          <p:spPr>
            <a:xfrm>
              <a:off x="5065" y="1836"/>
              <a:ext cx="82"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35" name="Google Shape;5735;p10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0" name="Shape 5740"/>
        <p:cNvGrpSpPr/>
        <p:nvPr/>
      </p:nvGrpSpPr>
      <p:grpSpPr>
        <a:xfrm>
          <a:off x="0" y="0"/>
          <a:ext cx="0" cy="0"/>
          <a:chOff x="0" y="0"/>
          <a:chExt cx="0" cy="0"/>
        </a:xfrm>
      </p:grpSpPr>
      <p:sp>
        <p:nvSpPr>
          <p:cNvPr id="5741" name="Google Shape;5741;p10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Agreeing to establish a connection</a:t>
            </a:r>
            <a:endParaRPr b="0" sz="4400"/>
          </a:p>
        </p:txBody>
      </p:sp>
      <p:sp>
        <p:nvSpPr>
          <p:cNvPr id="5742" name="Google Shape;5742;p102"/>
          <p:cNvSpPr txBox="1"/>
          <p:nvPr/>
        </p:nvSpPr>
        <p:spPr>
          <a:xfrm>
            <a:off x="5960737" y="2295084"/>
            <a:ext cx="5523920" cy="357686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1" lang="en-US" sz="3200" u="sng"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will 2-way handshake always work in network?</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variable delays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retransmitted messages (e.g. req_conn(x)) due to message loss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message reordering</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can’t “see” other side</a:t>
            </a:r>
            <a:endParaRPr b="0" i="0" sz="2800" u="none" cap="none" strike="noStrike">
              <a:solidFill>
                <a:srgbClr val="000000"/>
              </a:solidFill>
              <a:latin typeface="Calibri"/>
              <a:ea typeface="Calibri"/>
              <a:cs typeface="Calibri"/>
              <a:sym typeface="Calibri"/>
            </a:endParaRPr>
          </a:p>
        </p:txBody>
      </p:sp>
      <p:pic>
        <p:nvPicPr>
          <p:cNvPr descr="Alice" id="5743" name="Google Shape;5743;p102"/>
          <p:cNvPicPr preferRelativeResize="0"/>
          <p:nvPr/>
        </p:nvPicPr>
        <p:blipFill rotWithShape="1">
          <a:blip r:embed="rId3">
            <a:alphaModFix/>
          </a:blip>
          <a:srcRect b="0" l="0" r="0" t="0"/>
          <a:stretch/>
        </p:blipFill>
        <p:spPr>
          <a:xfrm>
            <a:off x="1792408" y="2031271"/>
            <a:ext cx="685440" cy="681828"/>
          </a:xfrm>
          <a:prstGeom prst="rect">
            <a:avLst/>
          </a:prstGeom>
          <a:noFill/>
          <a:ln>
            <a:noFill/>
          </a:ln>
        </p:spPr>
      </p:pic>
      <p:pic>
        <p:nvPicPr>
          <p:cNvPr descr="Bob" id="5744" name="Google Shape;5744;p102"/>
          <p:cNvPicPr preferRelativeResize="0"/>
          <p:nvPr/>
        </p:nvPicPr>
        <p:blipFill rotWithShape="1">
          <a:blip r:embed="rId4">
            <a:alphaModFix/>
          </a:blip>
          <a:srcRect b="0" l="0" r="0" t="0"/>
          <a:stretch/>
        </p:blipFill>
        <p:spPr>
          <a:xfrm>
            <a:off x="3842300" y="2069246"/>
            <a:ext cx="839663" cy="690459"/>
          </a:xfrm>
          <a:prstGeom prst="rect">
            <a:avLst/>
          </a:prstGeom>
          <a:noFill/>
          <a:ln>
            <a:noFill/>
          </a:ln>
        </p:spPr>
      </p:pic>
      <p:sp>
        <p:nvSpPr>
          <p:cNvPr id="5745" name="Google Shape;5745;p102"/>
          <p:cNvSpPr txBox="1"/>
          <p:nvPr/>
        </p:nvSpPr>
        <p:spPr>
          <a:xfrm>
            <a:off x="979913" y="1354621"/>
            <a:ext cx="320792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2-way handshake:</a:t>
            </a:r>
            <a:endParaRPr/>
          </a:p>
        </p:txBody>
      </p:sp>
      <p:cxnSp>
        <p:nvCxnSpPr>
          <p:cNvPr id="5746" name="Google Shape;5746;p102"/>
          <p:cNvCxnSpPr/>
          <p:nvPr/>
        </p:nvCxnSpPr>
        <p:spPr>
          <a:xfrm>
            <a:off x="2210097" y="2827024"/>
            <a:ext cx="1996343" cy="343504"/>
          </a:xfrm>
          <a:prstGeom prst="straightConnector1">
            <a:avLst/>
          </a:prstGeom>
          <a:noFill/>
          <a:ln cap="flat" cmpd="sng" w="28575">
            <a:solidFill>
              <a:srgbClr val="000099"/>
            </a:solidFill>
            <a:prstDash val="solid"/>
            <a:round/>
            <a:headEnd len="med" w="med" type="none"/>
            <a:tailEnd len="med" w="med" type="triangle"/>
          </a:ln>
        </p:spPr>
      </p:cxnSp>
      <p:cxnSp>
        <p:nvCxnSpPr>
          <p:cNvPr id="5747" name="Google Shape;5747;p102"/>
          <p:cNvCxnSpPr/>
          <p:nvPr/>
        </p:nvCxnSpPr>
        <p:spPr>
          <a:xfrm>
            <a:off x="2150121" y="2737265"/>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48" name="Google Shape;5748;p102"/>
          <p:cNvCxnSpPr/>
          <p:nvPr/>
        </p:nvCxnSpPr>
        <p:spPr>
          <a:xfrm>
            <a:off x="4215008" y="2766610"/>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49" name="Google Shape;5749;p102"/>
          <p:cNvCxnSpPr/>
          <p:nvPr/>
        </p:nvCxnSpPr>
        <p:spPr>
          <a:xfrm flipH="1">
            <a:off x="2145837" y="3258561"/>
            <a:ext cx="1996343" cy="343504"/>
          </a:xfrm>
          <a:prstGeom prst="straightConnector1">
            <a:avLst/>
          </a:prstGeom>
          <a:noFill/>
          <a:ln cap="flat" cmpd="sng" w="28575">
            <a:solidFill>
              <a:srgbClr val="000099"/>
            </a:solidFill>
            <a:prstDash val="solid"/>
            <a:round/>
            <a:headEnd len="med" w="med" type="none"/>
            <a:tailEnd len="med" w="med" type="triangle"/>
          </a:ln>
        </p:spPr>
      </p:cxnSp>
      <p:sp>
        <p:nvSpPr>
          <p:cNvPr id="5750" name="Google Shape;5750;p102"/>
          <p:cNvSpPr/>
          <p:nvPr/>
        </p:nvSpPr>
        <p:spPr>
          <a:xfrm>
            <a:off x="2531397" y="2811490"/>
            <a:ext cx="1201662"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51" name="Google Shape;5751;p102"/>
          <p:cNvSpPr txBox="1"/>
          <p:nvPr/>
        </p:nvSpPr>
        <p:spPr>
          <a:xfrm>
            <a:off x="2589217" y="2787324"/>
            <a:ext cx="1116010"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Let’s talk</a:t>
            </a:r>
            <a:endParaRPr b="0" i="0" sz="2000" u="none" cap="none" strike="noStrike">
              <a:solidFill>
                <a:srgbClr val="000000"/>
              </a:solidFill>
              <a:latin typeface="Calibri"/>
              <a:ea typeface="Calibri"/>
              <a:cs typeface="Calibri"/>
              <a:sym typeface="Calibri"/>
            </a:endParaRPr>
          </a:p>
        </p:txBody>
      </p:sp>
      <p:sp>
        <p:nvSpPr>
          <p:cNvPr id="5752" name="Google Shape;5752;p102"/>
          <p:cNvSpPr/>
          <p:nvPr/>
        </p:nvSpPr>
        <p:spPr>
          <a:xfrm>
            <a:off x="2878401" y="3272370"/>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53" name="Google Shape;5753;p102"/>
          <p:cNvSpPr txBox="1"/>
          <p:nvPr/>
        </p:nvSpPr>
        <p:spPr>
          <a:xfrm>
            <a:off x="2915186" y="3248204"/>
            <a:ext cx="487634"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OK</a:t>
            </a:r>
            <a:endParaRPr/>
          </a:p>
        </p:txBody>
      </p:sp>
      <p:sp>
        <p:nvSpPr>
          <p:cNvPr id="5754" name="Google Shape;5754;p102"/>
          <p:cNvSpPr txBox="1"/>
          <p:nvPr/>
        </p:nvSpPr>
        <p:spPr>
          <a:xfrm>
            <a:off x="4320992" y="3066959"/>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55" name="Google Shape;5755;p102"/>
          <p:cNvSpPr txBox="1"/>
          <p:nvPr/>
        </p:nvSpPr>
        <p:spPr>
          <a:xfrm>
            <a:off x="1092998" y="3429450"/>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56" name="Google Shape;5756;p102"/>
          <p:cNvSpPr/>
          <p:nvPr/>
        </p:nvSpPr>
        <p:spPr>
          <a:xfrm>
            <a:off x="2088004" y="3557185"/>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57" name="Google Shape;5757;p102"/>
          <p:cNvSpPr/>
          <p:nvPr/>
        </p:nvSpPr>
        <p:spPr>
          <a:xfrm>
            <a:off x="4150748" y="3184337"/>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58" name="Google Shape;5758;p102"/>
          <p:cNvSpPr txBox="1"/>
          <p:nvPr/>
        </p:nvSpPr>
        <p:spPr>
          <a:xfrm>
            <a:off x="973490" y="4953638"/>
            <a:ext cx="1095235"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choose x</a:t>
            </a:r>
            <a:endParaRPr/>
          </a:p>
          <a:p>
            <a:pPr indent="0" lvl="0" marL="0" marR="0" rtl="0" algn="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p:txBody>
      </p:sp>
      <p:cxnSp>
        <p:nvCxnSpPr>
          <p:cNvPr id="5759" name="Google Shape;5759;p102"/>
          <p:cNvCxnSpPr/>
          <p:nvPr/>
        </p:nvCxnSpPr>
        <p:spPr>
          <a:xfrm>
            <a:off x="2248653" y="5141789"/>
            <a:ext cx="1996343" cy="343503"/>
          </a:xfrm>
          <a:prstGeom prst="straightConnector1">
            <a:avLst/>
          </a:prstGeom>
          <a:noFill/>
          <a:ln cap="flat" cmpd="sng" w="28575">
            <a:solidFill>
              <a:srgbClr val="000099"/>
            </a:solidFill>
            <a:prstDash val="solid"/>
            <a:round/>
            <a:headEnd len="med" w="med" type="none"/>
            <a:tailEnd len="med" w="med" type="triangle"/>
          </a:ln>
        </p:spPr>
      </p:cxnSp>
      <p:cxnSp>
        <p:nvCxnSpPr>
          <p:cNvPr id="5760" name="Google Shape;5760;p102"/>
          <p:cNvCxnSpPr/>
          <p:nvPr/>
        </p:nvCxnSpPr>
        <p:spPr>
          <a:xfrm>
            <a:off x="2188677" y="5052029"/>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61" name="Google Shape;5761;p102"/>
          <p:cNvCxnSpPr/>
          <p:nvPr/>
        </p:nvCxnSpPr>
        <p:spPr>
          <a:xfrm>
            <a:off x="4253564" y="5081373"/>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5762" name="Google Shape;5762;p102"/>
          <p:cNvCxnSpPr/>
          <p:nvPr/>
        </p:nvCxnSpPr>
        <p:spPr>
          <a:xfrm flipH="1">
            <a:off x="2184393" y="5573326"/>
            <a:ext cx="1996343" cy="343503"/>
          </a:xfrm>
          <a:prstGeom prst="straightConnector1">
            <a:avLst/>
          </a:prstGeom>
          <a:noFill/>
          <a:ln cap="flat" cmpd="sng" w="28575">
            <a:solidFill>
              <a:srgbClr val="000099"/>
            </a:solidFill>
            <a:prstDash val="solid"/>
            <a:round/>
            <a:headEnd len="med" w="med" type="none"/>
            <a:tailEnd len="med" w="med" type="triangle"/>
          </a:ln>
        </p:spPr>
      </p:cxnSp>
      <p:sp>
        <p:nvSpPr>
          <p:cNvPr id="5763" name="Google Shape;5763;p102"/>
          <p:cNvSpPr/>
          <p:nvPr/>
        </p:nvSpPr>
        <p:spPr>
          <a:xfrm>
            <a:off x="2677053" y="5126253"/>
            <a:ext cx="1049579"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64" name="Google Shape;5764;p102"/>
          <p:cNvSpPr txBox="1"/>
          <p:nvPr/>
        </p:nvSpPr>
        <p:spPr>
          <a:xfrm>
            <a:off x="2502290" y="5090004"/>
            <a:ext cx="144623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req_conn(x)</a:t>
            </a:r>
            <a:endParaRPr/>
          </a:p>
        </p:txBody>
      </p:sp>
      <p:sp>
        <p:nvSpPr>
          <p:cNvPr id="5765" name="Google Shape;5765;p102"/>
          <p:cNvSpPr/>
          <p:nvPr/>
        </p:nvSpPr>
        <p:spPr>
          <a:xfrm>
            <a:off x="2916957" y="5587135"/>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66" name="Google Shape;5766;p102"/>
          <p:cNvSpPr txBox="1"/>
          <p:nvPr/>
        </p:nvSpPr>
        <p:spPr>
          <a:xfrm>
            <a:off x="4359546" y="5381723"/>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67" name="Google Shape;5767;p102"/>
          <p:cNvSpPr txBox="1"/>
          <p:nvPr/>
        </p:nvSpPr>
        <p:spPr>
          <a:xfrm>
            <a:off x="1131555" y="5744214"/>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5768" name="Google Shape;5768;p102"/>
          <p:cNvSpPr/>
          <p:nvPr/>
        </p:nvSpPr>
        <p:spPr>
          <a:xfrm>
            <a:off x="2126560" y="5871949"/>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69" name="Google Shape;5769;p102"/>
          <p:cNvSpPr/>
          <p:nvPr/>
        </p:nvSpPr>
        <p:spPr>
          <a:xfrm>
            <a:off x="4189304" y="5499101"/>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5770" name="Google Shape;5770;p102"/>
          <p:cNvSpPr/>
          <p:nvPr/>
        </p:nvSpPr>
        <p:spPr>
          <a:xfrm>
            <a:off x="2514261" y="5594040"/>
            <a:ext cx="1445850" cy="2830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1" name="Google Shape;5771;p102"/>
          <p:cNvSpPr txBox="1"/>
          <p:nvPr/>
        </p:nvSpPr>
        <p:spPr>
          <a:xfrm>
            <a:off x="2500404" y="5552612"/>
            <a:ext cx="143500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acc_conn(x)</a:t>
            </a:r>
            <a:endParaRPr/>
          </a:p>
        </p:txBody>
      </p:sp>
      <p:grpSp>
        <p:nvGrpSpPr>
          <p:cNvPr id="5772" name="Google Shape;5772;p102"/>
          <p:cNvGrpSpPr/>
          <p:nvPr/>
        </p:nvGrpSpPr>
        <p:grpSpPr>
          <a:xfrm>
            <a:off x="1696017" y="4472044"/>
            <a:ext cx="775403" cy="566176"/>
            <a:chOff x="-44" y="1473"/>
            <a:chExt cx="981" cy="1105"/>
          </a:xfrm>
        </p:grpSpPr>
        <p:pic>
          <p:nvPicPr>
            <p:cNvPr descr="desktop_computer_stylized_medium" id="5773" name="Google Shape;5773;p102"/>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5774" name="Google Shape;5774;p10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5775" name="Google Shape;5775;p102"/>
          <p:cNvGrpSpPr/>
          <p:nvPr/>
        </p:nvGrpSpPr>
        <p:grpSpPr>
          <a:xfrm>
            <a:off x="4073636" y="4451330"/>
            <a:ext cx="318750" cy="557545"/>
            <a:chOff x="4140" y="429"/>
            <a:chExt cx="1425" cy="2396"/>
          </a:xfrm>
        </p:grpSpPr>
        <p:sp>
          <p:nvSpPr>
            <p:cNvPr id="5776" name="Google Shape;5776;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7" name="Google Shape;5777;p10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8" name="Google Shape;5778;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79" name="Google Shape;5779;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0" name="Google Shape;5780;p10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81" name="Google Shape;5781;p102"/>
            <p:cNvGrpSpPr/>
            <p:nvPr/>
          </p:nvGrpSpPr>
          <p:grpSpPr>
            <a:xfrm>
              <a:off x="4751" y="666"/>
              <a:ext cx="578" cy="148"/>
              <a:chOff x="617" y="2566"/>
              <a:chExt cx="721" cy="142"/>
            </a:xfrm>
          </p:grpSpPr>
          <p:sp>
            <p:nvSpPr>
              <p:cNvPr id="5782" name="Google Shape;5782;p10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3" name="Google Shape;5783;p10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84" name="Google Shape;5784;p10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85" name="Google Shape;5785;p102"/>
            <p:cNvGrpSpPr/>
            <p:nvPr/>
          </p:nvGrpSpPr>
          <p:grpSpPr>
            <a:xfrm>
              <a:off x="4745" y="993"/>
              <a:ext cx="585" cy="134"/>
              <a:chOff x="611" y="2567"/>
              <a:chExt cx="730" cy="139"/>
            </a:xfrm>
          </p:grpSpPr>
          <p:sp>
            <p:nvSpPr>
              <p:cNvPr id="5786" name="Google Shape;5786;p10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7" name="Google Shape;5787;p10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88" name="Google Shape;5788;p10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89" name="Google Shape;5789;p10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90" name="Google Shape;5790;p102"/>
            <p:cNvGrpSpPr/>
            <p:nvPr/>
          </p:nvGrpSpPr>
          <p:grpSpPr>
            <a:xfrm>
              <a:off x="4738" y="1630"/>
              <a:ext cx="578" cy="149"/>
              <a:chOff x="618" y="2571"/>
              <a:chExt cx="720" cy="137"/>
            </a:xfrm>
          </p:grpSpPr>
          <p:sp>
            <p:nvSpPr>
              <p:cNvPr id="5791" name="Google Shape;5791;p10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2" name="Google Shape;5792;p10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93" name="Google Shape;5793;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5794" name="Google Shape;5794;p102"/>
            <p:cNvGrpSpPr/>
            <p:nvPr/>
          </p:nvGrpSpPr>
          <p:grpSpPr>
            <a:xfrm>
              <a:off x="4738" y="1327"/>
              <a:ext cx="584" cy="141"/>
              <a:chOff x="613" y="2568"/>
              <a:chExt cx="728" cy="141"/>
            </a:xfrm>
          </p:grpSpPr>
          <p:sp>
            <p:nvSpPr>
              <p:cNvPr id="5795" name="Google Shape;5795;p10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6" name="Google Shape;5796;p10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797" name="Google Shape;5797;p10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8" name="Google Shape;5798;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799" name="Google Shape;5799;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0" name="Google Shape;5800;p10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1" name="Google Shape;5801;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2" name="Google Shape;5802;p10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3" name="Google Shape;5803;p10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4" name="Google Shape;5804;p10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5" name="Google Shape;5805;p10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p:txBody>
        </p:sp>
        <p:sp>
          <p:nvSpPr>
            <p:cNvPr id="5806" name="Google Shape;5806;p10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807" name="Google Shape;5807;p10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5808" name="Google Shape;5808;p10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2"/>
                                        </p:tgtEl>
                                        <p:attrNameLst>
                                          <p:attrName>style.visibility</p:attrName>
                                        </p:attrNameLst>
                                      </p:cBhvr>
                                      <p:to>
                                        <p:strVal val="visible"/>
                                      </p:to>
                                    </p:set>
                                    <p:animEffect filter="fade" transition="in">
                                      <p:cBhvr>
                                        <p:cTn dur="500"/>
                                        <p:tgtEl>
                                          <p:spTgt spid="5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3" name="Shape 5813"/>
        <p:cNvGrpSpPr/>
        <p:nvPr/>
      </p:nvGrpSpPr>
      <p:grpSpPr>
        <a:xfrm>
          <a:off x="0" y="0"/>
          <a:ext cx="0" cy="0"/>
          <a:chOff x="0" y="0"/>
          <a:chExt cx="0" cy="0"/>
        </a:xfrm>
      </p:grpSpPr>
      <p:sp>
        <p:nvSpPr>
          <p:cNvPr id="5814" name="Google Shape;5814;p10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815" name="Google Shape;5815;p103"/>
          <p:cNvGrpSpPr/>
          <p:nvPr/>
        </p:nvGrpSpPr>
        <p:grpSpPr>
          <a:xfrm>
            <a:off x="435655" y="1435139"/>
            <a:ext cx="3855401" cy="3186116"/>
            <a:chOff x="435655" y="1990325"/>
            <a:chExt cx="3855401" cy="3186116"/>
          </a:xfrm>
        </p:grpSpPr>
        <p:cxnSp>
          <p:nvCxnSpPr>
            <p:cNvPr id="5816" name="Google Shape;5816;p103"/>
            <p:cNvCxnSpPr/>
            <p:nvPr/>
          </p:nvCxnSpPr>
          <p:spPr>
            <a:xfrm flipH="1">
              <a:off x="1461180" y="2545950"/>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5817" name="Google Shape;5817;p103"/>
            <p:cNvCxnSpPr/>
            <p:nvPr/>
          </p:nvCxnSpPr>
          <p:spPr>
            <a:xfrm>
              <a:off x="2991529" y="2618975"/>
              <a:ext cx="0" cy="2524525"/>
            </a:xfrm>
            <a:prstGeom prst="straightConnector1">
              <a:avLst/>
            </a:prstGeom>
            <a:noFill/>
            <a:ln cap="flat" cmpd="sng" w="9525">
              <a:solidFill>
                <a:srgbClr val="777777"/>
              </a:solidFill>
              <a:prstDash val="solid"/>
              <a:round/>
              <a:headEnd len="med" w="med" type="none"/>
              <a:tailEnd len="med" w="med" type="none"/>
            </a:ln>
          </p:spPr>
        </p:cxnSp>
        <p:grpSp>
          <p:nvGrpSpPr>
            <p:cNvPr id="5818" name="Google Shape;5818;p103"/>
            <p:cNvGrpSpPr/>
            <p:nvPr/>
          </p:nvGrpSpPr>
          <p:grpSpPr>
            <a:xfrm>
              <a:off x="1386567" y="4700191"/>
              <a:ext cx="2405063" cy="476250"/>
              <a:chOff x="1097" y="2807"/>
              <a:chExt cx="1515" cy="300"/>
            </a:xfrm>
          </p:grpSpPr>
          <p:cxnSp>
            <p:nvCxnSpPr>
              <p:cNvPr id="5819" name="Google Shape;5819;p103"/>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5820" name="Google Shape;5820;p103"/>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5821" name="Google Shape;5821;p103"/>
            <p:cNvGrpSpPr/>
            <p:nvPr/>
          </p:nvGrpSpPr>
          <p:grpSpPr>
            <a:xfrm>
              <a:off x="435655" y="1990325"/>
              <a:ext cx="3389313" cy="2136775"/>
              <a:chOff x="484" y="1100"/>
              <a:chExt cx="2135" cy="1346"/>
            </a:xfrm>
          </p:grpSpPr>
          <p:sp>
            <p:nvSpPr>
              <p:cNvPr id="5822" name="Google Shape;5822;p103"/>
              <p:cNvSpPr txBox="1"/>
              <p:nvPr/>
            </p:nvSpPr>
            <p:spPr>
              <a:xfrm>
                <a:off x="484" y="1393"/>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823" name="Google Shape;5823;p103"/>
              <p:cNvCxnSpPr/>
              <p:nvPr/>
            </p:nvCxnSpPr>
            <p:spPr>
              <a:xfrm>
                <a:off x="1159" y="1516"/>
                <a:ext cx="932" cy="199"/>
              </a:xfrm>
              <a:prstGeom prst="straightConnector1">
                <a:avLst/>
              </a:prstGeom>
              <a:noFill/>
              <a:ln cap="flat" cmpd="sng" w="28575">
                <a:solidFill>
                  <a:srgbClr val="000099"/>
                </a:solidFill>
                <a:prstDash val="solid"/>
                <a:round/>
                <a:headEnd len="med" w="med" type="none"/>
                <a:tailEnd len="med" w="med" type="triangle"/>
              </a:ln>
            </p:spPr>
          </p:cxnSp>
          <p:cxnSp>
            <p:nvCxnSpPr>
              <p:cNvPr id="5824" name="Google Shape;5824;p103"/>
              <p:cNvCxnSpPr/>
              <p:nvPr/>
            </p:nvCxnSpPr>
            <p:spPr>
              <a:xfrm flipH="1">
                <a:off x="1121" y="1739"/>
                <a:ext cx="990" cy="602"/>
              </a:xfrm>
              <a:prstGeom prst="straightConnector1">
                <a:avLst/>
              </a:prstGeom>
              <a:noFill/>
              <a:ln cap="flat" cmpd="sng" w="28575">
                <a:solidFill>
                  <a:srgbClr val="000099"/>
                </a:solidFill>
                <a:prstDash val="solid"/>
                <a:round/>
                <a:headEnd len="med" w="med" type="none"/>
                <a:tailEnd len="med" w="med" type="triangle"/>
              </a:ln>
            </p:spPr>
          </p:cxnSp>
          <p:sp>
            <p:nvSpPr>
              <p:cNvPr id="5825" name="Google Shape;5825;p103"/>
              <p:cNvSpPr/>
              <p:nvPr/>
            </p:nvSpPr>
            <p:spPr>
              <a:xfrm>
                <a:off x="1359" y="1507"/>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26" name="Google Shape;5826;p103"/>
              <p:cNvSpPr txBox="1"/>
              <p:nvPr/>
            </p:nvSpPr>
            <p:spPr>
              <a:xfrm>
                <a:off x="1214" y="1486"/>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5827" name="Google Shape;5827;p103"/>
              <p:cNvSpPr/>
              <p:nvPr/>
            </p:nvSpPr>
            <p:spPr>
              <a:xfrm>
                <a:off x="1471" y="1774"/>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28" name="Google Shape;5828;p103"/>
              <p:cNvSpPr txBox="1"/>
              <p:nvPr/>
            </p:nvSpPr>
            <p:spPr>
              <a:xfrm>
                <a:off x="2133" y="1649"/>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829" name="Google Shape;5829;p103"/>
              <p:cNvSpPr txBox="1"/>
              <p:nvPr/>
            </p:nvSpPr>
            <p:spPr>
              <a:xfrm>
                <a:off x="583" y="2234"/>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830" name="Google Shape;5830;p103"/>
              <p:cNvSpPr/>
              <p:nvPr/>
            </p:nvSpPr>
            <p:spPr>
              <a:xfrm>
                <a:off x="1095" y="2298"/>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831" name="Google Shape;5831;p103"/>
              <p:cNvSpPr/>
              <p:nvPr/>
            </p:nvSpPr>
            <p:spPr>
              <a:xfrm>
                <a:off x="2065" y="1723"/>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5832" name="Google Shape;5832;p103"/>
              <p:cNvGrpSpPr/>
              <p:nvPr/>
            </p:nvGrpSpPr>
            <p:grpSpPr>
              <a:xfrm>
                <a:off x="1277" y="1861"/>
                <a:ext cx="803" cy="212"/>
                <a:chOff x="1065" y="2085"/>
                <a:chExt cx="803" cy="212"/>
              </a:xfrm>
            </p:grpSpPr>
            <p:sp>
              <p:nvSpPr>
                <p:cNvPr id="5833" name="Google Shape;5833;p103"/>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34" name="Google Shape;5834;p103"/>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nvGrpSpPr>
              <p:cNvPr id="5835" name="Google Shape;5835;p103"/>
              <p:cNvGrpSpPr/>
              <p:nvPr/>
            </p:nvGrpSpPr>
            <p:grpSpPr>
              <a:xfrm>
                <a:off x="834" y="1112"/>
                <a:ext cx="391" cy="307"/>
                <a:chOff x="-44" y="1473"/>
                <a:chExt cx="981" cy="1105"/>
              </a:xfrm>
            </p:grpSpPr>
            <p:pic>
              <p:nvPicPr>
                <p:cNvPr descr="desktop_computer_stylized_medium" id="5836" name="Google Shape;5836;p10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37" name="Google Shape;5837;p10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838" name="Google Shape;5838;p103"/>
              <p:cNvGrpSpPr/>
              <p:nvPr/>
            </p:nvGrpSpPr>
            <p:grpSpPr>
              <a:xfrm>
                <a:off x="1973" y="1100"/>
                <a:ext cx="212" cy="323"/>
                <a:chOff x="4140" y="429"/>
                <a:chExt cx="1425" cy="2396"/>
              </a:xfrm>
            </p:grpSpPr>
            <p:sp>
              <p:nvSpPr>
                <p:cNvPr id="5839" name="Google Shape;5839;p10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0" name="Google Shape;5840;p103"/>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1" name="Google Shape;5841;p10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2" name="Google Shape;5842;p10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3" name="Google Shape;5843;p103"/>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44" name="Google Shape;5844;p103"/>
                <p:cNvGrpSpPr/>
                <p:nvPr/>
              </p:nvGrpSpPr>
              <p:grpSpPr>
                <a:xfrm>
                  <a:off x="4751" y="666"/>
                  <a:ext cx="578" cy="148"/>
                  <a:chOff x="617" y="2566"/>
                  <a:chExt cx="721" cy="142"/>
                </a:xfrm>
              </p:grpSpPr>
              <p:sp>
                <p:nvSpPr>
                  <p:cNvPr id="5845" name="Google Shape;5845;p103"/>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6" name="Google Shape;5846;p103"/>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47" name="Google Shape;5847;p103"/>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48" name="Google Shape;5848;p103"/>
                <p:cNvGrpSpPr/>
                <p:nvPr/>
              </p:nvGrpSpPr>
              <p:grpSpPr>
                <a:xfrm>
                  <a:off x="4745" y="993"/>
                  <a:ext cx="585" cy="134"/>
                  <a:chOff x="611" y="2567"/>
                  <a:chExt cx="730" cy="139"/>
                </a:xfrm>
              </p:grpSpPr>
              <p:sp>
                <p:nvSpPr>
                  <p:cNvPr id="5849" name="Google Shape;5849;p103"/>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0" name="Google Shape;5850;p103"/>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51" name="Google Shape;5851;p103"/>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2" name="Google Shape;5852;p103"/>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53" name="Google Shape;5853;p103"/>
                <p:cNvGrpSpPr/>
                <p:nvPr/>
              </p:nvGrpSpPr>
              <p:grpSpPr>
                <a:xfrm>
                  <a:off x="4738" y="1630"/>
                  <a:ext cx="578" cy="149"/>
                  <a:chOff x="618" y="2571"/>
                  <a:chExt cx="720" cy="137"/>
                </a:xfrm>
              </p:grpSpPr>
              <p:sp>
                <p:nvSpPr>
                  <p:cNvPr id="5854" name="Google Shape;5854;p103"/>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5" name="Google Shape;5855;p103"/>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56" name="Google Shape;5856;p10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57" name="Google Shape;5857;p103"/>
                <p:cNvGrpSpPr/>
                <p:nvPr/>
              </p:nvGrpSpPr>
              <p:grpSpPr>
                <a:xfrm>
                  <a:off x="4738" y="1327"/>
                  <a:ext cx="584" cy="141"/>
                  <a:chOff x="613" y="2568"/>
                  <a:chExt cx="728" cy="141"/>
                </a:xfrm>
              </p:grpSpPr>
              <p:sp>
                <p:nvSpPr>
                  <p:cNvPr id="5858" name="Google Shape;5858;p103"/>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59" name="Google Shape;5859;p103"/>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860" name="Google Shape;5860;p103"/>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1" name="Google Shape;5861;p10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2" name="Google Shape;5862;p10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3" name="Google Shape;5863;p103"/>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4" name="Google Shape;5864;p10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5" name="Google Shape;5865;p103"/>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6" name="Google Shape;5866;p103"/>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7" name="Google Shape;5867;p103"/>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68" name="Google Shape;5868;p103"/>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869" name="Google Shape;5869;p103"/>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70" name="Google Shape;5870;p103"/>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sp>
          <p:nvSpPr>
            <p:cNvPr id="5871" name="Google Shape;5871;p103"/>
            <p:cNvSpPr/>
            <p:nvPr/>
          </p:nvSpPr>
          <p:spPr>
            <a:xfrm>
              <a:off x="1416094" y="3893738"/>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cxnSp>
          <p:nvCxnSpPr>
            <p:cNvPr id="5872" name="Google Shape;5872;p103"/>
            <p:cNvCxnSpPr/>
            <p:nvPr/>
          </p:nvCxnSpPr>
          <p:spPr>
            <a:xfrm>
              <a:off x="1511344" y="396676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5873" name="Google Shape;5873;p103"/>
            <p:cNvSpPr/>
            <p:nvPr/>
          </p:nvSpPr>
          <p:spPr>
            <a:xfrm>
              <a:off x="1828844" y="3952476"/>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74" name="Google Shape;5874;p103"/>
            <p:cNvSpPr txBox="1"/>
            <p:nvPr/>
          </p:nvSpPr>
          <p:spPr>
            <a:xfrm>
              <a:off x="1689144" y="3919138"/>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5875" name="Google Shape;5875;p103"/>
            <p:cNvSpPr/>
            <p:nvPr/>
          </p:nvSpPr>
          <p:spPr>
            <a:xfrm>
              <a:off x="2960731" y="4250926"/>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876" name="Google Shape;5876;p103"/>
            <p:cNvSpPr txBox="1"/>
            <p:nvPr/>
          </p:nvSpPr>
          <p:spPr>
            <a:xfrm>
              <a:off x="3119481" y="4011213"/>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5877" name="Google Shape;5877;p103"/>
            <p:cNvGrpSpPr/>
            <p:nvPr/>
          </p:nvGrpSpPr>
          <p:grpSpPr>
            <a:xfrm flipH="1">
              <a:off x="1449388" y="4279047"/>
              <a:ext cx="1539875" cy="390924"/>
              <a:chOff x="796245" y="5993547"/>
              <a:chExt cx="1539875" cy="390924"/>
            </a:xfrm>
          </p:grpSpPr>
          <p:cxnSp>
            <p:nvCxnSpPr>
              <p:cNvPr id="5878" name="Google Shape;5878;p103"/>
              <p:cNvCxnSpPr/>
              <p:nvPr/>
            </p:nvCxnSpPr>
            <p:spPr>
              <a:xfrm>
                <a:off x="796245" y="6007834"/>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5879" name="Google Shape;5879;p103"/>
              <p:cNvSpPr/>
              <p:nvPr/>
            </p:nvSpPr>
            <p:spPr>
              <a:xfrm>
                <a:off x="1113745" y="5993547"/>
                <a:ext cx="859292" cy="3909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80" name="Google Shape;5880;p103"/>
              <p:cNvSpPr/>
              <p:nvPr/>
            </p:nvSpPr>
            <p:spPr>
              <a:xfrm>
                <a:off x="2245632" y="6291997"/>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5881" name="Google Shape;5881;p103"/>
            <p:cNvSpPr txBox="1"/>
            <p:nvPr/>
          </p:nvSpPr>
          <p:spPr>
            <a:xfrm>
              <a:off x="1735694" y="4283529"/>
              <a:ext cx="107112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ACK(x+1)</a:t>
              </a:r>
              <a:endParaRPr/>
            </a:p>
          </p:txBody>
        </p:sp>
      </p:grpSp>
      <p:grpSp>
        <p:nvGrpSpPr>
          <p:cNvPr id="5882" name="Google Shape;5882;p103"/>
          <p:cNvGrpSpPr/>
          <p:nvPr/>
        </p:nvGrpSpPr>
        <p:grpSpPr>
          <a:xfrm>
            <a:off x="1273629" y="5146706"/>
            <a:ext cx="1773114" cy="1003723"/>
            <a:chOff x="1273629" y="5146706"/>
            <a:chExt cx="1773114" cy="1003723"/>
          </a:xfrm>
        </p:grpSpPr>
        <p:sp>
          <p:nvSpPr>
            <p:cNvPr id="5883" name="Google Shape;5883;p103"/>
            <p:cNvSpPr txBox="1"/>
            <p:nvPr/>
          </p:nvSpPr>
          <p:spPr>
            <a:xfrm>
              <a:off x="1273629" y="5146706"/>
              <a:ext cx="17731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No problem!</a:t>
              </a:r>
              <a:endParaRPr/>
            </a:p>
          </p:txBody>
        </p:sp>
        <p:pic>
          <p:nvPicPr>
            <p:cNvPr descr="A picture containing drawing&#10;&#10;Description automatically generated" id="5884" name="Google Shape;5884;p103"/>
            <p:cNvPicPr preferRelativeResize="0"/>
            <p:nvPr/>
          </p:nvPicPr>
          <p:blipFill rotWithShape="1">
            <a:blip r:embed="rId4">
              <a:alphaModFix/>
            </a:blip>
            <a:srcRect b="0" l="0" r="0" t="0"/>
            <a:stretch/>
          </p:blipFill>
          <p:spPr>
            <a:xfrm>
              <a:off x="1812470" y="5524500"/>
              <a:ext cx="625929" cy="625929"/>
            </a:xfrm>
            <a:prstGeom prst="rect">
              <a:avLst/>
            </a:prstGeom>
            <a:noFill/>
            <a:ln>
              <a:noFill/>
            </a:ln>
          </p:spPr>
        </p:pic>
      </p:grpSp>
      <p:sp>
        <p:nvSpPr>
          <p:cNvPr id="5885" name="Google Shape;5885;p10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2"/>
                                        </p:tgtEl>
                                        <p:attrNameLst>
                                          <p:attrName>style.visibility</p:attrName>
                                        </p:attrNameLst>
                                      </p:cBhvr>
                                      <p:to>
                                        <p:strVal val="visible"/>
                                      </p:to>
                                    </p:set>
                                    <p:animEffect filter="fade" transition="in">
                                      <p:cBhvr>
                                        <p:cTn dur="500"/>
                                        <p:tgtEl>
                                          <p:spTgt spid="5882"/>
                                        </p:tgtEl>
                                      </p:cBhvr>
                                    </p:animEffect>
                                  </p:childTnLst>
                                </p:cTn>
                              </p:par>
                              <p:par>
                                <p:cTn fill="hold" nodeType="withEffect" presetClass="exit" presetID="10" presetSubtype="0">
                                  <p:stCondLst>
                                    <p:cond delay="0"/>
                                  </p:stCondLst>
                                  <p:childTnLst>
                                    <p:animEffect filter="fade" transition="out">
                                      <p:cBhvr>
                                        <p:cTn dur="500"/>
                                        <p:tgtEl>
                                          <p:spTgt spid="5815"/>
                                        </p:tgtEl>
                                      </p:cBhvr>
                                    </p:animEffect>
                                    <p:set>
                                      <p:cBhvr>
                                        <p:cTn dur="1" fill="hold">
                                          <p:stCondLst>
                                            <p:cond delay="500"/>
                                          </p:stCondLst>
                                        </p:cTn>
                                        <p:tgtEl>
                                          <p:spTgt spid="58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882"/>
                                        </p:tgtEl>
                                      </p:cBhvr>
                                    </p:animEffect>
                                    <p:set>
                                      <p:cBhvr>
                                        <p:cTn dur="1" fill="hold">
                                          <p:stCondLst>
                                            <p:cond delay="500"/>
                                          </p:stCondLst>
                                        </p:cTn>
                                        <p:tgtEl>
                                          <p:spTgt spid="588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0" name="Shape 5890"/>
        <p:cNvGrpSpPr/>
        <p:nvPr/>
      </p:nvGrpSpPr>
      <p:grpSpPr>
        <a:xfrm>
          <a:off x="0" y="0"/>
          <a:ext cx="0" cy="0"/>
          <a:chOff x="0" y="0"/>
          <a:chExt cx="0" cy="0"/>
        </a:xfrm>
      </p:grpSpPr>
      <p:sp>
        <p:nvSpPr>
          <p:cNvPr id="5891" name="Google Shape;5891;p10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892" name="Google Shape;5892;p104"/>
          <p:cNvGrpSpPr/>
          <p:nvPr/>
        </p:nvGrpSpPr>
        <p:grpSpPr>
          <a:xfrm>
            <a:off x="5262108" y="1983508"/>
            <a:ext cx="1530350" cy="4033838"/>
            <a:chOff x="5276623" y="2475192"/>
            <a:chExt cx="1530350" cy="4033838"/>
          </a:xfrm>
        </p:grpSpPr>
        <p:cxnSp>
          <p:nvCxnSpPr>
            <p:cNvPr id="5893" name="Google Shape;5893;p104"/>
            <p:cNvCxnSpPr/>
            <p:nvPr/>
          </p:nvCxnSpPr>
          <p:spPr>
            <a:xfrm flipH="1">
              <a:off x="5276623" y="2475192"/>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5894" name="Google Shape;5894;p104"/>
            <p:cNvCxnSpPr/>
            <p:nvPr/>
          </p:nvCxnSpPr>
          <p:spPr>
            <a:xfrm flipH="1">
              <a:off x="6805386" y="2548217"/>
              <a:ext cx="1587" cy="3960813"/>
            </a:xfrm>
            <a:prstGeom prst="straightConnector1">
              <a:avLst/>
            </a:prstGeom>
            <a:noFill/>
            <a:ln cap="flat" cmpd="sng" w="9525">
              <a:solidFill>
                <a:srgbClr val="777777"/>
              </a:solidFill>
              <a:prstDash val="solid"/>
              <a:round/>
              <a:headEnd len="med" w="med" type="none"/>
              <a:tailEnd len="med" w="med" type="none"/>
            </a:ln>
          </p:spPr>
        </p:cxnSp>
      </p:grpSp>
      <p:grpSp>
        <p:nvGrpSpPr>
          <p:cNvPr id="5895" name="Google Shape;5895;p104"/>
          <p:cNvGrpSpPr/>
          <p:nvPr/>
        </p:nvGrpSpPr>
        <p:grpSpPr>
          <a:xfrm>
            <a:off x="6768421" y="5356225"/>
            <a:ext cx="847724" cy="336550"/>
            <a:chOff x="11151735" y="5148718"/>
            <a:chExt cx="847724" cy="336550"/>
          </a:xfrm>
        </p:grpSpPr>
        <p:sp>
          <p:nvSpPr>
            <p:cNvPr id="5896" name="Google Shape;5896;p104"/>
            <p:cNvSpPr txBox="1"/>
            <p:nvPr/>
          </p:nvSpPr>
          <p:spPr>
            <a:xfrm>
              <a:off x="11227935" y="5148718"/>
              <a:ext cx="771524"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897" name="Google Shape;5897;p104"/>
            <p:cNvSpPr/>
            <p:nvPr/>
          </p:nvSpPr>
          <p:spPr>
            <a:xfrm>
              <a:off x="11151735" y="5275718"/>
              <a:ext cx="90487"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grpSp>
        <p:nvGrpSpPr>
          <p:cNvPr id="5898" name="Google Shape;5898;p104"/>
          <p:cNvGrpSpPr/>
          <p:nvPr/>
        </p:nvGrpSpPr>
        <p:grpSpPr>
          <a:xfrm>
            <a:off x="3998688" y="2674935"/>
            <a:ext cx="2841623" cy="2849565"/>
            <a:chOff x="8352974" y="2492829"/>
            <a:chExt cx="2841623" cy="2849565"/>
          </a:xfrm>
        </p:grpSpPr>
        <p:sp>
          <p:nvSpPr>
            <p:cNvPr id="5899" name="Google Shape;5899;p104"/>
            <p:cNvSpPr txBox="1"/>
            <p:nvPr/>
          </p:nvSpPr>
          <p:spPr>
            <a:xfrm>
              <a:off x="8352974" y="2492829"/>
              <a:ext cx="1273174"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5900" name="Google Shape;5900;p104"/>
            <p:cNvSpPr/>
            <p:nvPr/>
          </p:nvSpPr>
          <p:spPr>
            <a:xfrm>
              <a:off x="9667423" y="2783342"/>
              <a:ext cx="1527174" cy="2559052"/>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01" name="Google Shape;5901;p104"/>
            <p:cNvGrpSpPr/>
            <p:nvPr/>
          </p:nvGrpSpPr>
          <p:grpSpPr>
            <a:xfrm>
              <a:off x="9764261" y="3386592"/>
              <a:ext cx="1273174" cy="336550"/>
              <a:chOff x="1065" y="2085"/>
              <a:chExt cx="802" cy="212"/>
            </a:xfrm>
          </p:grpSpPr>
          <p:sp>
            <p:nvSpPr>
              <p:cNvPr id="5902" name="Google Shape;5902;p104"/>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03" name="Google Shape;5903;p104"/>
              <p:cNvSpPr txBox="1"/>
              <p:nvPr/>
            </p:nvSpPr>
            <p:spPr>
              <a:xfrm>
                <a:off x="1065" y="2085"/>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grpSp>
      <p:grpSp>
        <p:nvGrpSpPr>
          <p:cNvPr id="5904" name="Google Shape;5904;p104"/>
          <p:cNvGrpSpPr/>
          <p:nvPr/>
        </p:nvGrpSpPr>
        <p:grpSpPr>
          <a:xfrm>
            <a:off x="4105048" y="4123231"/>
            <a:ext cx="3830638" cy="715962"/>
            <a:chOff x="406" y="2807"/>
            <a:chExt cx="2413" cy="451"/>
          </a:xfrm>
        </p:grpSpPr>
        <p:cxnSp>
          <p:nvCxnSpPr>
            <p:cNvPr id="5905" name="Google Shape;5905;p104"/>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5906" name="Google Shape;5906;p104"/>
            <p:cNvSpPr txBox="1"/>
            <p:nvPr/>
          </p:nvSpPr>
          <p:spPr>
            <a:xfrm>
              <a:off x="406" y="2937"/>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sp>
          <p:nvSpPr>
            <p:cNvPr id="5907" name="Google Shape;5907;p104"/>
            <p:cNvSpPr txBox="1"/>
            <p:nvPr/>
          </p:nvSpPr>
          <p:spPr>
            <a:xfrm>
              <a:off x="2081" y="2938"/>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sp>
          <p:nvSpPr>
            <p:cNvPr id="5908" name="Google Shape;5908;p104"/>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5909" name="Google Shape;5909;p104"/>
          <p:cNvGrpSpPr/>
          <p:nvPr/>
        </p:nvGrpSpPr>
        <p:grpSpPr>
          <a:xfrm>
            <a:off x="4222070" y="1980106"/>
            <a:ext cx="3389313" cy="1671637"/>
            <a:chOff x="7865155" y="1602735"/>
            <a:chExt cx="3389313" cy="1671637"/>
          </a:xfrm>
        </p:grpSpPr>
        <p:sp>
          <p:nvSpPr>
            <p:cNvPr id="5910" name="Google Shape;5910;p104"/>
            <p:cNvSpPr txBox="1"/>
            <p:nvPr/>
          </p:nvSpPr>
          <p:spPr>
            <a:xfrm>
              <a:off x="7865155" y="1602735"/>
              <a:ext cx="973138"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911" name="Google Shape;5911;p104"/>
            <p:cNvCxnSpPr/>
            <p:nvPr/>
          </p:nvCxnSpPr>
          <p:spPr>
            <a:xfrm>
              <a:off x="8936718" y="179799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5912" name="Google Shape;5912;p104"/>
            <p:cNvCxnSpPr/>
            <p:nvPr/>
          </p:nvCxnSpPr>
          <p:spPr>
            <a:xfrm flipH="1">
              <a:off x="8876393" y="2152010"/>
              <a:ext cx="1571625" cy="955675"/>
            </a:xfrm>
            <a:prstGeom prst="straightConnector1">
              <a:avLst/>
            </a:prstGeom>
            <a:noFill/>
            <a:ln cap="flat" cmpd="sng" w="28575">
              <a:solidFill>
                <a:srgbClr val="000099"/>
              </a:solidFill>
              <a:prstDash val="solid"/>
              <a:round/>
              <a:headEnd len="med" w="med" type="none"/>
              <a:tailEnd len="med" w="med" type="triangle"/>
            </a:ln>
          </p:spPr>
        </p:cxnSp>
        <p:sp>
          <p:nvSpPr>
            <p:cNvPr id="5913" name="Google Shape;5913;p104"/>
            <p:cNvSpPr/>
            <p:nvPr/>
          </p:nvSpPr>
          <p:spPr>
            <a:xfrm>
              <a:off x="9254218" y="1783710"/>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4" name="Google Shape;5914;p104"/>
            <p:cNvSpPr txBox="1"/>
            <p:nvPr/>
          </p:nvSpPr>
          <p:spPr>
            <a:xfrm>
              <a:off x="9024030" y="1750372"/>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5915" name="Google Shape;5915;p104"/>
            <p:cNvSpPr/>
            <p:nvPr/>
          </p:nvSpPr>
          <p:spPr>
            <a:xfrm>
              <a:off x="9432018" y="2207572"/>
              <a:ext cx="439738"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6" name="Google Shape;5916;p104"/>
            <p:cNvSpPr txBox="1"/>
            <p:nvPr/>
          </p:nvSpPr>
          <p:spPr>
            <a:xfrm>
              <a:off x="10482943" y="200913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17" name="Google Shape;5917;p104"/>
            <p:cNvSpPr txBox="1"/>
            <p:nvPr/>
          </p:nvSpPr>
          <p:spPr>
            <a:xfrm>
              <a:off x="8022318" y="2937822"/>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18" name="Google Shape;5918;p104"/>
            <p:cNvSpPr/>
            <p:nvPr/>
          </p:nvSpPr>
          <p:spPr>
            <a:xfrm>
              <a:off x="8835118" y="3039422"/>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919" name="Google Shape;5919;p104"/>
            <p:cNvSpPr/>
            <p:nvPr/>
          </p:nvSpPr>
          <p:spPr>
            <a:xfrm>
              <a:off x="10374993" y="2126610"/>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5920" name="Google Shape;5920;p104"/>
            <p:cNvGrpSpPr/>
            <p:nvPr/>
          </p:nvGrpSpPr>
          <p:grpSpPr>
            <a:xfrm>
              <a:off x="9124043" y="2345685"/>
              <a:ext cx="1274763" cy="336550"/>
              <a:chOff x="1065" y="2085"/>
              <a:chExt cx="803" cy="212"/>
            </a:xfrm>
          </p:grpSpPr>
          <p:sp>
            <p:nvSpPr>
              <p:cNvPr id="5921" name="Google Shape;5921;p104"/>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2" name="Google Shape;5922;p104"/>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5923" name="Google Shape;5923;p104"/>
          <p:cNvGrpSpPr/>
          <p:nvPr/>
        </p:nvGrpSpPr>
        <p:grpSpPr>
          <a:xfrm>
            <a:off x="4879295" y="1432418"/>
            <a:ext cx="620713" cy="487363"/>
            <a:chOff x="-44" y="1473"/>
            <a:chExt cx="981" cy="1105"/>
          </a:xfrm>
        </p:grpSpPr>
        <p:pic>
          <p:nvPicPr>
            <p:cNvPr descr="desktop_computer_stylized_medium" id="5924" name="Google Shape;5924;p10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25" name="Google Shape;5925;p10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926" name="Google Shape;5926;p104"/>
          <p:cNvGrpSpPr/>
          <p:nvPr/>
        </p:nvGrpSpPr>
        <p:grpSpPr>
          <a:xfrm>
            <a:off x="6687458" y="1413368"/>
            <a:ext cx="336550" cy="512763"/>
            <a:chOff x="4140" y="429"/>
            <a:chExt cx="1425" cy="2396"/>
          </a:xfrm>
        </p:grpSpPr>
        <p:sp>
          <p:nvSpPr>
            <p:cNvPr id="5927" name="Google Shape;5927;p10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8" name="Google Shape;5928;p10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9" name="Google Shape;5929;p10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0" name="Google Shape;5930;p10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1" name="Google Shape;5931;p10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32" name="Google Shape;5932;p104"/>
            <p:cNvGrpSpPr/>
            <p:nvPr/>
          </p:nvGrpSpPr>
          <p:grpSpPr>
            <a:xfrm>
              <a:off x="4751" y="666"/>
              <a:ext cx="578" cy="148"/>
              <a:chOff x="617" y="2566"/>
              <a:chExt cx="721" cy="142"/>
            </a:xfrm>
          </p:grpSpPr>
          <p:sp>
            <p:nvSpPr>
              <p:cNvPr id="5933" name="Google Shape;5933;p10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4" name="Google Shape;5934;p10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35" name="Google Shape;5935;p10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36" name="Google Shape;5936;p104"/>
            <p:cNvGrpSpPr/>
            <p:nvPr/>
          </p:nvGrpSpPr>
          <p:grpSpPr>
            <a:xfrm>
              <a:off x="4745" y="993"/>
              <a:ext cx="585" cy="134"/>
              <a:chOff x="611" y="2567"/>
              <a:chExt cx="730" cy="139"/>
            </a:xfrm>
          </p:grpSpPr>
          <p:sp>
            <p:nvSpPr>
              <p:cNvPr id="5937" name="Google Shape;5937;p10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8" name="Google Shape;5938;p10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39" name="Google Shape;5939;p10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0" name="Google Shape;5940;p10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41" name="Google Shape;5941;p104"/>
            <p:cNvGrpSpPr/>
            <p:nvPr/>
          </p:nvGrpSpPr>
          <p:grpSpPr>
            <a:xfrm>
              <a:off x="4738" y="1630"/>
              <a:ext cx="578" cy="149"/>
              <a:chOff x="618" y="2571"/>
              <a:chExt cx="720" cy="137"/>
            </a:xfrm>
          </p:grpSpPr>
          <p:sp>
            <p:nvSpPr>
              <p:cNvPr id="5942" name="Google Shape;5942;p10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3" name="Google Shape;5943;p10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44" name="Google Shape;5944;p10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45" name="Google Shape;5945;p104"/>
            <p:cNvGrpSpPr/>
            <p:nvPr/>
          </p:nvGrpSpPr>
          <p:grpSpPr>
            <a:xfrm>
              <a:off x="4738" y="1327"/>
              <a:ext cx="584" cy="141"/>
              <a:chOff x="613" y="2568"/>
              <a:chExt cx="728" cy="141"/>
            </a:xfrm>
          </p:grpSpPr>
          <p:sp>
            <p:nvSpPr>
              <p:cNvPr id="5946" name="Google Shape;5946;p10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7" name="Google Shape;5947;p10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48" name="Google Shape;5948;p10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49" name="Google Shape;5949;p10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0" name="Google Shape;5950;p10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1" name="Google Shape;5951;p10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2" name="Google Shape;5952;p10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3" name="Google Shape;5953;p10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4" name="Google Shape;5954;p10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5" name="Google Shape;5955;p10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6" name="Google Shape;5956;p10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957" name="Google Shape;5957;p10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8" name="Google Shape;5958;p10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959" name="Google Shape;5959;p104"/>
          <p:cNvGrpSpPr/>
          <p:nvPr/>
        </p:nvGrpSpPr>
        <p:grpSpPr>
          <a:xfrm>
            <a:off x="4917394" y="5539014"/>
            <a:ext cx="1889805" cy="662028"/>
            <a:chOff x="9620023" y="2667000"/>
            <a:chExt cx="1889805" cy="662028"/>
          </a:xfrm>
        </p:grpSpPr>
        <p:cxnSp>
          <p:nvCxnSpPr>
            <p:cNvPr id="5960" name="Google Shape;5960;p104"/>
            <p:cNvCxnSpPr/>
            <p:nvPr/>
          </p:nvCxnSpPr>
          <p:spPr>
            <a:xfrm flipH="1">
              <a:off x="9620023" y="2667000"/>
              <a:ext cx="1889805" cy="662028"/>
            </a:xfrm>
            <a:prstGeom prst="straightConnector1">
              <a:avLst/>
            </a:prstGeom>
            <a:noFill/>
            <a:ln cap="flat" cmpd="sng" w="28575">
              <a:solidFill>
                <a:srgbClr val="000099"/>
              </a:solidFill>
              <a:prstDash val="solid"/>
              <a:round/>
              <a:headEnd len="med" w="med" type="none"/>
              <a:tailEnd len="med" w="med" type="triangle"/>
            </a:ln>
          </p:spPr>
        </p:cxnSp>
        <p:sp>
          <p:nvSpPr>
            <p:cNvPr id="5961" name="Google Shape;5961;p104"/>
            <p:cNvSpPr/>
            <p:nvPr/>
          </p:nvSpPr>
          <p:spPr>
            <a:xfrm>
              <a:off x="10132106" y="2824428"/>
              <a:ext cx="855208" cy="39774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62" name="Google Shape;5962;p104"/>
            <p:cNvGrpSpPr/>
            <p:nvPr/>
          </p:nvGrpSpPr>
          <p:grpSpPr>
            <a:xfrm>
              <a:off x="9998301" y="2802885"/>
              <a:ext cx="1274763" cy="336550"/>
              <a:chOff x="1065" y="2085"/>
              <a:chExt cx="803" cy="212"/>
            </a:xfrm>
          </p:grpSpPr>
          <p:sp>
            <p:nvSpPr>
              <p:cNvPr id="5963" name="Google Shape;5963;p104"/>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64" name="Google Shape;5964;p104"/>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5965" name="Google Shape;5965;p104"/>
          <p:cNvGrpSpPr/>
          <p:nvPr/>
        </p:nvGrpSpPr>
        <p:grpSpPr>
          <a:xfrm>
            <a:off x="4080329" y="5732236"/>
            <a:ext cx="4134756" cy="1082222"/>
            <a:chOff x="3673928" y="5775778"/>
            <a:chExt cx="4134756" cy="1082222"/>
          </a:xfrm>
        </p:grpSpPr>
        <p:sp>
          <p:nvSpPr>
            <p:cNvPr id="5966" name="Google Shape;5966;p104"/>
            <p:cNvSpPr/>
            <p:nvPr/>
          </p:nvSpPr>
          <p:spPr>
            <a:xfrm>
              <a:off x="4020455" y="5775778"/>
              <a:ext cx="3788229" cy="1082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967" name="Google Shape;5967;p104"/>
            <p:cNvGrpSpPr/>
            <p:nvPr/>
          </p:nvGrpSpPr>
          <p:grpSpPr>
            <a:xfrm>
              <a:off x="3673928" y="5804239"/>
              <a:ext cx="3829958" cy="830263"/>
              <a:chOff x="4588327" y="5819777"/>
              <a:chExt cx="3829958" cy="830263"/>
            </a:xfrm>
          </p:grpSpPr>
          <p:sp>
            <p:nvSpPr>
              <p:cNvPr id="5968" name="Google Shape;5968;p104"/>
              <p:cNvSpPr txBox="1"/>
              <p:nvPr/>
            </p:nvSpPr>
            <p:spPr>
              <a:xfrm>
                <a:off x="5202012" y="5819777"/>
                <a:ext cx="3216273"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half open connection! (no client)</a:t>
                </a:r>
                <a:endParaRPr/>
              </a:p>
            </p:txBody>
          </p:sp>
          <p:pic>
            <p:nvPicPr>
              <p:cNvPr descr="A picture containing drawing&#10;&#10;Description automatically generated" id="5969" name="Google Shape;5969;p104"/>
              <p:cNvPicPr preferRelativeResize="0"/>
              <p:nvPr/>
            </p:nvPicPr>
            <p:blipFill rotWithShape="1">
              <a:blip r:embed="rId4">
                <a:alphaModFix/>
              </a:blip>
              <a:srcRect b="0" l="0" r="0" t="0"/>
              <a:stretch/>
            </p:blipFill>
            <p:spPr>
              <a:xfrm>
                <a:off x="4588327" y="5916386"/>
                <a:ext cx="636815" cy="636815"/>
              </a:xfrm>
              <a:prstGeom prst="rect">
                <a:avLst/>
              </a:prstGeom>
              <a:noFill/>
              <a:ln>
                <a:noFill/>
              </a:ln>
            </p:spPr>
          </p:pic>
        </p:grpSp>
      </p:grpSp>
      <p:sp>
        <p:nvSpPr>
          <p:cNvPr id="5970" name="Google Shape;5970;p10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9"/>
                                        </p:tgtEl>
                                        <p:attrNameLst>
                                          <p:attrName>style.visibility</p:attrName>
                                        </p:attrNameLst>
                                      </p:cBhvr>
                                      <p:to>
                                        <p:strVal val="visible"/>
                                      </p:to>
                                    </p:set>
                                    <p:animEffect filter="fade" transition="in">
                                      <p:cBhvr>
                                        <p:cTn dur="2000"/>
                                        <p:tgtEl>
                                          <p:spTgt spid="59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4"/>
                                        </p:tgtEl>
                                        <p:attrNameLst>
                                          <p:attrName>style.visibility</p:attrName>
                                        </p:attrNameLst>
                                      </p:cBhvr>
                                      <p:to>
                                        <p:strVal val="visible"/>
                                      </p:to>
                                    </p:set>
                                    <p:animEffect filter="fade" transition="in">
                                      <p:cBhvr>
                                        <p:cTn dur="500"/>
                                        <p:tgtEl>
                                          <p:spTgt spid="5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8"/>
                                        </p:tgtEl>
                                        <p:attrNameLst>
                                          <p:attrName>style.visibility</p:attrName>
                                        </p:attrNameLst>
                                      </p:cBhvr>
                                      <p:to>
                                        <p:strVal val="visible"/>
                                      </p:to>
                                    </p:set>
                                    <p:animEffect filter="fade" transition="in">
                                      <p:cBhvr>
                                        <p:cTn dur="500"/>
                                        <p:tgtEl>
                                          <p:spTgt spid="58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5"/>
                                        </p:tgtEl>
                                        <p:attrNameLst>
                                          <p:attrName>style.visibility</p:attrName>
                                        </p:attrNameLst>
                                      </p:cBhvr>
                                      <p:to>
                                        <p:strVal val="visible"/>
                                      </p:to>
                                    </p:set>
                                    <p:animEffect filter="fade" transition="in">
                                      <p:cBhvr>
                                        <p:cTn dur="500"/>
                                        <p:tgtEl>
                                          <p:spTgt spid="5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9"/>
                                        </p:tgtEl>
                                        <p:attrNameLst>
                                          <p:attrName>style.visibility</p:attrName>
                                        </p:attrNameLst>
                                      </p:cBhvr>
                                      <p:to>
                                        <p:strVal val="visible"/>
                                      </p:to>
                                    </p:set>
                                    <p:animEffect filter="fade" transition="in">
                                      <p:cBhvr>
                                        <p:cTn dur="500"/>
                                        <p:tgtEl>
                                          <p:spTgt spid="5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5"/>
                                        </p:tgtEl>
                                        <p:attrNameLst>
                                          <p:attrName>style.visibility</p:attrName>
                                        </p:attrNameLst>
                                      </p:cBhvr>
                                      <p:to>
                                        <p:strVal val="visible"/>
                                      </p:to>
                                    </p:set>
                                    <p:animEffect filter="fade" transition="in">
                                      <p:cBhvr>
                                        <p:cTn dur="500"/>
                                        <p:tgtEl>
                                          <p:spTgt spid="59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5" name="Shape 5975"/>
        <p:cNvGrpSpPr/>
        <p:nvPr/>
      </p:nvGrpSpPr>
      <p:grpSpPr>
        <a:xfrm>
          <a:off x="0" y="0"/>
          <a:ext cx="0" cy="0"/>
          <a:chOff x="0" y="0"/>
          <a:chExt cx="0" cy="0"/>
        </a:xfrm>
      </p:grpSpPr>
      <p:sp>
        <p:nvSpPr>
          <p:cNvPr id="5976" name="Google Shape;5976;p10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5977" name="Google Shape;5977;p105"/>
          <p:cNvGrpSpPr/>
          <p:nvPr/>
        </p:nvGrpSpPr>
        <p:grpSpPr>
          <a:xfrm>
            <a:off x="8173174" y="1342839"/>
            <a:ext cx="3933825" cy="4568825"/>
            <a:chOff x="3150" y="1107"/>
            <a:chExt cx="2478" cy="2878"/>
          </a:xfrm>
        </p:grpSpPr>
        <p:cxnSp>
          <p:nvCxnSpPr>
            <p:cNvPr id="5978" name="Google Shape;5978;p105"/>
            <p:cNvCxnSpPr/>
            <p:nvPr/>
          </p:nvCxnSpPr>
          <p:spPr>
            <a:xfrm flipH="1">
              <a:off x="4822" y="1490"/>
              <a:ext cx="1" cy="2495"/>
            </a:xfrm>
            <a:prstGeom prst="straightConnector1">
              <a:avLst/>
            </a:prstGeom>
            <a:noFill/>
            <a:ln cap="flat" cmpd="sng" w="9525">
              <a:solidFill>
                <a:srgbClr val="777777"/>
              </a:solidFill>
              <a:prstDash val="solid"/>
              <a:round/>
              <a:headEnd len="med" w="med" type="none"/>
              <a:tailEnd len="med" w="med" type="none"/>
            </a:ln>
          </p:spPr>
        </p:cxnSp>
        <p:sp>
          <p:nvSpPr>
            <p:cNvPr id="5979" name="Google Shape;5979;p105"/>
            <p:cNvSpPr txBox="1"/>
            <p:nvPr/>
          </p:nvSpPr>
          <p:spPr>
            <a:xfrm>
              <a:off x="3150" y="2983"/>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cxnSp>
          <p:nvCxnSpPr>
            <p:cNvPr id="5980" name="Google Shape;5980;p105"/>
            <p:cNvCxnSpPr/>
            <p:nvPr/>
          </p:nvCxnSpPr>
          <p:spPr>
            <a:xfrm flipH="1">
              <a:off x="3845" y="1451"/>
              <a:ext cx="15" cy="1549"/>
            </a:xfrm>
            <a:prstGeom prst="straightConnector1">
              <a:avLst/>
            </a:prstGeom>
            <a:noFill/>
            <a:ln cap="flat" cmpd="sng" w="9525">
              <a:solidFill>
                <a:srgbClr val="777777"/>
              </a:solidFill>
              <a:prstDash val="solid"/>
              <a:round/>
              <a:headEnd len="med" w="med" type="none"/>
              <a:tailEnd len="med" w="med" type="none"/>
            </a:ln>
          </p:spPr>
        </p:cxnSp>
        <p:cxnSp>
          <p:nvCxnSpPr>
            <p:cNvPr id="5981" name="Google Shape;5981;p105"/>
            <p:cNvCxnSpPr/>
            <p:nvPr/>
          </p:nvCxnSpPr>
          <p:spPr>
            <a:xfrm flipH="1">
              <a:off x="3850" y="1726"/>
              <a:ext cx="990" cy="602"/>
            </a:xfrm>
            <a:prstGeom prst="straightConnector1">
              <a:avLst/>
            </a:prstGeom>
            <a:noFill/>
            <a:ln cap="flat" cmpd="sng" w="28575">
              <a:solidFill>
                <a:srgbClr val="000099"/>
              </a:solidFill>
              <a:prstDash val="solid"/>
              <a:round/>
              <a:headEnd len="med" w="med" type="none"/>
              <a:tailEnd len="med" w="med" type="triangle"/>
            </a:ln>
          </p:spPr>
        </p:cxnSp>
        <p:sp>
          <p:nvSpPr>
            <p:cNvPr id="5982" name="Google Shape;5982;p105"/>
            <p:cNvSpPr/>
            <p:nvPr/>
          </p:nvSpPr>
          <p:spPr>
            <a:xfrm>
              <a:off x="4200" y="1761"/>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83" name="Google Shape;5983;p105"/>
            <p:cNvSpPr txBox="1"/>
            <p:nvPr/>
          </p:nvSpPr>
          <p:spPr>
            <a:xfrm>
              <a:off x="3312" y="2221"/>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84" name="Google Shape;5984;p105"/>
            <p:cNvSpPr/>
            <p:nvPr/>
          </p:nvSpPr>
          <p:spPr>
            <a:xfrm>
              <a:off x="3817" y="2299"/>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985" name="Google Shape;5985;p105"/>
            <p:cNvSpPr txBox="1"/>
            <p:nvPr/>
          </p:nvSpPr>
          <p:spPr>
            <a:xfrm>
              <a:off x="3213" y="1380"/>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5986" name="Google Shape;5986;p105"/>
            <p:cNvCxnSpPr/>
            <p:nvPr/>
          </p:nvCxnSpPr>
          <p:spPr>
            <a:xfrm>
              <a:off x="3888" y="1503"/>
              <a:ext cx="932" cy="199"/>
            </a:xfrm>
            <a:prstGeom prst="straightConnector1">
              <a:avLst/>
            </a:prstGeom>
            <a:noFill/>
            <a:ln cap="flat" cmpd="sng" w="28575">
              <a:solidFill>
                <a:srgbClr val="000099"/>
              </a:solidFill>
              <a:prstDash val="solid"/>
              <a:round/>
              <a:headEnd len="med" w="med" type="none"/>
              <a:tailEnd len="med" w="med" type="triangle"/>
            </a:ln>
          </p:spPr>
        </p:cxnSp>
        <p:sp>
          <p:nvSpPr>
            <p:cNvPr id="5987" name="Google Shape;5987;p105"/>
            <p:cNvSpPr/>
            <p:nvPr/>
          </p:nvSpPr>
          <p:spPr>
            <a:xfrm>
              <a:off x="4088" y="1494"/>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88" name="Google Shape;5988;p105"/>
            <p:cNvSpPr txBox="1"/>
            <p:nvPr/>
          </p:nvSpPr>
          <p:spPr>
            <a:xfrm>
              <a:off x="3943" y="1473"/>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5989" name="Google Shape;5989;p105"/>
            <p:cNvSpPr txBox="1"/>
            <p:nvPr/>
          </p:nvSpPr>
          <p:spPr>
            <a:xfrm>
              <a:off x="4862" y="1636"/>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5990" name="Google Shape;5990;p105"/>
            <p:cNvSpPr/>
            <p:nvPr/>
          </p:nvSpPr>
          <p:spPr>
            <a:xfrm>
              <a:off x="4794" y="1710"/>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5991" name="Google Shape;5991;p105"/>
            <p:cNvGrpSpPr/>
            <p:nvPr/>
          </p:nvGrpSpPr>
          <p:grpSpPr>
            <a:xfrm>
              <a:off x="4006" y="1848"/>
              <a:ext cx="803" cy="212"/>
              <a:chOff x="1065" y="2085"/>
              <a:chExt cx="803" cy="212"/>
            </a:xfrm>
          </p:grpSpPr>
          <p:sp>
            <p:nvSpPr>
              <p:cNvPr id="5992" name="Google Shape;5992;p105"/>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93" name="Google Shape;5993;p105"/>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cxnSp>
          <p:nvCxnSpPr>
            <p:cNvPr id="5994" name="Google Shape;5994;p105"/>
            <p:cNvCxnSpPr/>
            <p:nvPr/>
          </p:nvCxnSpPr>
          <p:spPr>
            <a:xfrm>
              <a:off x="3877" y="2345"/>
              <a:ext cx="932" cy="199"/>
            </a:xfrm>
            <a:prstGeom prst="straightConnector1">
              <a:avLst/>
            </a:prstGeom>
            <a:noFill/>
            <a:ln cap="flat" cmpd="sng" w="28575">
              <a:solidFill>
                <a:srgbClr val="000099"/>
              </a:solidFill>
              <a:prstDash val="solid"/>
              <a:round/>
              <a:headEnd len="med" w="med" type="none"/>
              <a:tailEnd len="med" w="med" type="triangle"/>
            </a:ln>
          </p:spPr>
        </p:cxnSp>
        <p:sp>
          <p:nvSpPr>
            <p:cNvPr id="5995" name="Google Shape;5995;p105"/>
            <p:cNvSpPr/>
            <p:nvPr/>
          </p:nvSpPr>
          <p:spPr>
            <a:xfrm>
              <a:off x="4077" y="2336"/>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96" name="Google Shape;5996;p105"/>
            <p:cNvSpPr txBox="1"/>
            <p:nvPr/>
          </p:nvSpPr>
          <p:spPr>
            <a:xfrm>
              <a:off x="3989" y="2315"/>
              <a:ext cx="68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5997" name="Google Shape;5997;p105"/>
            <p:cNvSpPr/>
            <p:nvPr/>
          </p:nvSpPr>
          <p:spPr>
            <a:xfrm>
              <a:off x="4790" y="2524"/>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5998" name="Google Shape;5998;p105"/>
            <p:cNvSpPr txBox="1"/>
            <p:nvPr/>
          </p:nvSpPr>
          <p:spPr>
            <a:xfrm>
              <a:off x="4890" y="2373"/>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5999" name="Google Shape;5999;p105"/>
            <p:cNvGrpSpPr/>
            <p:nvPr/>
          </p:nvGrpSpPr>
          <p:grpSpPr>
            <a:xfrm>
              <a:off x="3826" y="2803"/>
              <a:ext cx="1515" cy="300"/>
              <a:chOff x="3818" y="2796"/>
              <a:chExt cx="1515" cy="300"/>
            </a:xfrm>
          </p:grpSpPr>
          <p:cxnSp>
            <p:nvCxnSpPr>
              <p:cNvPr id="6000" name="Google Shape;6000;p105"/>
              <p:cNvCxnSpPr/>
              <p:nvPr/>
            </p:nvCxnSpPr>
            <p:spPr>
              <a:xfrm>
                <a:off x="3818" y="2951"/>
                <a:ext cx="1515" cy="0"/>
              </a:xfrm>
              <a:prstGeom prst="straightConnector1">
                <a:avLst/>
              </a:prstGeom>
              <a:noFill/>
              <a:ln cap="flat" cmpd="sng" w="28575">
                <a:solidFill>
                  <a:srgbClr val="CC0000"/>
                </a:solidFill>
                <a:prstDash val="dash"/>
                <a:round/>
                <a:headEnd len="med" w="med" type="none"/>
                <a:tailEnd len="med" w="med" type="none"/>
              </a:ln>
            </p:spPr>
          </p:cxnSp>
          <p:sp>
            <p:nvSpPr>
              <p:cNvPr id="6001" name="Google Shape;6001;p105"/>
              <p:cNvSpPr txBox="1"/>
              <p:nvPr/>
            </p:nvSpPr>
            <p:spPr>
              <a:xfrm>
                <a:off x="3989" y="2796"/>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sp>
          <p:nvSpPr>
            <p:cNvPr id="6002" name="Google Shape;6002;p105"/>
            <p:cNvSpPr txBox="1"/>
            <p:nvPr/>
          </p:nvSpPr>
          <p:spPr>
            <a:xfrm>
              <a:off x="4830" y="2962"/>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grpSp>
          <p:nvGrpSpPr>
            <p:cNvPr id="6003" name="Google Shape;6003;p105"/>
            <p:cNvGrpSpPr/>
            <p:nvPr/>
          </p:nvGrpSpPr>
          <p:grpSpPr>
            <a:xfrm>
              <a:off x="3570" y="1119"/>
              <a:ext cx="391" cy="307"/>
              <a:chOff x="-44" y="1473"/>
              <a:chExt cx="981" cy="1105"/>
            </a:xfrm>
          </p:grpSpPr>
          <p:pic>
            <p:nvPicPr>
              <p:cNvPr descr="desktop_computer_stylized_medium" id="6004" name="Google Shape;6004;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05" name="Google Shape;6005;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006" name="Google Shape;6006;p105"/>
            <p:cNvGrpSpPr/>
            <p:nvPr/>
          </p:nvGrpSpPr>
          <p:grpSpPr>
            <a:xfrm>
              <a:off x="4709" y="1107"/>
              <a:ext cx="212" cy="323"/>
              <a:chOff x="4140" y="429"/>
              <a:chExt cx="1425" cy="2396"/>
            </a:xfrm>
          </p:grpSpPr>
          <p:sp>
            <p:nvSpPr>
              <p:cNvPr id="6007" name="Google Shape;6007;p10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8" name="Google Shape;6008;p105"/>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9" name="Google Shape;6009;p10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0" name="Google Shape;6010;p10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1" name="Google Shape;6011;p105"/>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12" name="Google Shape;6012;p105"/>
              <p:cNvGrpSpPr/>
              <p:nvPr/>
            </p:nvGrpSpPr>
            <p:grpSpPr>
              <a:xfrm>
                <a:off x="4751" y="666"/>
                <a:ext cx="578" cy="148"/>
                <a:chOff x="617" y="2566"/>
                <a:chExt cx="721" cy="142"/>
              </a:xfrm>
            </p:grpSpPr>
            <p:sp>
              <p:nvSpPr>
                <p:cNvPr id="6013" name="Google Shape;6013;p105"/>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4" name="Google Shape;6014;p105"/>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15" name="Google Shape;6015;p105"/>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16" name="Google Shape;6016;p105"/>
              <p:cNvGrpSpPr/>
              <p:nvPr/>
            </p:nvGrpSpPr>
            <p:grpSpPr>
              <a:xfrm>
                <a:off x="4745" y="993"/>
                <a:ext cx="585" cy="134"/>
                <a:chOff x="611" y="2567"/>
                <a:chExt cx="730" cy="139"/>
              </a:xfrm>
            </p:grpSpPr>
            <p:sp>
              <p:nvSpPr>
                <p:cNvPr id="6017" name="Google Shape;6017;p105"/>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8" name="Google Shape;6018;p105"/>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19" name="Google Shape;6019;p105"/>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0" name="Google Shape;6020;p105"/>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21" name="Google Shape;6021;p105"/>
              <p:cNvGrpSpPr/>
              <p:nvPr/>
            </p:nvGrpSpPr>
            <p:grpSpPr>
              <a:xfrm>
                <a:off x="4738" y="1630"/>
                <a:ext cx="578" cy="149"/>
                <a:chOff x="618" y="2571"/>
                <a:chExt cx="720" cy="137"/>
              </a:xfrm>
            </p:grpSpPr>
            <p:sp>
              <p:nvSpPr>
                <p:cNvPr id="6022" name="Google Shape;6022;p105"/>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3" name="Google Shape;6023;p105"/>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24" name="Google Shape;6024;p10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25" name="Google Shape;6025;p105"/>
              <p:cNvGrpSpPr/>
              <p:nvPr/>
            </p:nvGrpSpPr>
            <p:grpSpPr>
              <a:xfrm>
                <a:off x="4738" y="1327"/>
                <a:ext cx="584" cy="141"/>
                <a:chOff x="613" y="2568"/>
                <a:chExt cx="728" cy="141"/>
              </a:xfrm>
            </p:grpSpPr>
            <p:sp>
              <p:nvSpPr>
                <p:cNvPr id="6026" name="Google Shape;6026;p105"/>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7" name="Google Shape;6027;p105"/>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28" name="Google Shape;6028;p105"/>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9" name="Google Shape;6029;p10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0" name="Google Shape;6030;p10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1" name="Google Shape;6031;p105"/>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2" name="Google Shape;6032;p10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3" name="Google Shape;6033;p105"/>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4" name="Google Shape;6034;p105"/>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5" name="Google Shape;6035;p105"/>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6" name="Google Shape;6036;p105"/>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037" name="Google Shape;6037;p105"/>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8" name="Google Shape;6038;p105"/>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6039" name="Google Shape;6039;p105"/>
          <p:cNvGrpSpPr/>
          <p:nvPr/>
        </p:nvGrpSpPr>
        <p:grpSpPr>
          <a:xfrm>
            <a:off x="9120415" y="5983461"/>
            <a:ext cx="3548742" cy="830997"/>
            <a:chOff x="8757558" y="5903267"/>
            <a:chExt cx="3548742" cy="830997"/>
          </a:xfrm>
        </p:grpSpPr>
        <p:sp>
          <p:nvSpPr>
            <p:cNvPr id="6040" name="Google Shape;6040;p105"/>
            <p:cNvSpPr txBox="1"/>
            <p:nvPr/>
          </p:nvSpPr>
          <p:spPr>
            <a:xfrm>
              <a:off x="9372601" y="5903267"/>
              <a:ext cx="293369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dup data</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accepted!</a:t>
              </a:r>
              <a:endParaRPr/>
            </a:p>
          </p:txBody>
        </p:sp>
        <p:pic>
          <p:nvPicPr>
            <p:cNvPr descr="A picture containing drawing&#10;&#10;Description automatically generated" id="6041" name="Google Shape;6041;p105"/>
            <p:cNvPicPr preferRelativeResize="0"/>
            <p:nvPr/>
          </p:nvPicPr>
          <p:blipFill rotWithShape="1">
            <a:blip r:embed="rId4">
              <a:alphaModFix/>
            </a:blip>
            <a:srcRect b="0" l="0" r="0" t="0"/>
            <a:stretch/>
          </p:blipFill>
          <p:spPr>
            <a:xfrm>
              <a:off x="8757558" y="6003472"/>
              <a:ext cx="636815" cy="636815"/>
            </a:xfrm>
            <a:prstGeom prst="rect">
              <a:avLst/>
            </a:prstGeom>
            <a:noFill/>
            <a:ln>
              <a:noFill/>
            </a:ln>
          </p:spPr>
        </p:pic>
      </p:grpSp>
      <p:grpSp>
        <p:nvGrpSpPr>
          <p:cNvPr id="6042" name="Google Shape;6042;p105"/>
          <p:cNvGrpSpPr/>
          <p:nvPr/>
        </p:nvGrpSpPr>
        <p:grpSpPr>
          <a:xfrm>
            <a:off x="8091532" y="3683267"/>
            <a:ext cx="3997325" cy="2365375"/>
            <a:chOff x="3185703" y="3422010"/>
            <a:chExt cx="3997325" cy="2365375"/>
          </a:xfrm>
        </p:grpSpPr>
        <p:sp>
          <p:nvSpPr>
            <p:cNvPr id="6043" name="Google Shape;6043;p105"/>
            <p:cNvSpPr/>
            <p:nvPr/>
          </p:nvSpPr>
          <p:spPr>
            <a:xfrm>
              <a:off x="4431891" y="3661722"/>
              <a:ext cx="1501775" cy="1897063"/>
            </a:xfrm>
            <a:custGeom>
              <a:rect b="b" l="l" r="r" t="t"/>
              <a:pathLst>
                <a:path extrusionOk="0" h="1195" w="946">
                  <a:moveTo>
                    <a:pt x="0" y="15"/>
                  </a:moveTo>
                  <a:cubicBezTo>
                    <a:pt x="32" y="40"/>
                    <a:pt x="114" y="0"/>
                    <a:pt x="199" y="164"/>
                  </a:cubicBezTo>
                  <a:cubicBezTo>
                    <a:pt x="284" y="328"/>
                    <a:pt x="195" y="798"/>
                    <a:pt x="320" y="960"/>
                  </a:cubicBezTo>
                  <a:cubicBezTo>
                    <a:pt x="477" y="1195"/>
                    <a:pt x="816" y="1101"/>
                    <a:pt x="946" y="1138"/>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44" name="Google Shape;6044;p105"/>
            <p:cNvSpPr/>
            <p:nvPr/>
          </p:nvSpPr>
          <p:spPr>
            <a:xfrm>
              <a:off x="4782728" y="5196835"/>
              <a:ext cx="711200" cy="282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45" name="Google Shape;6045;p105"/>
            <p:cNvSpPr txBox="1"/>
            <p:nvPr/>
          </p:nvSpPr>
          <p:spPr>
            <a:xfrm>
              <a:off x="4468403" y="5152385"/>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046" name="Google Shape;6046;p105"/>
            <p:cNvSpPr txBox="1"/>
            <p:nvPr/>
          </p:nvSpPr>
          <p:spPr>
            <a:xfrm>
              <a:off x="3185703" y="3422010"/>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047" name="Google Shape;6047;p105"/>
            <p:cNvSpPr txBox="1"/>
            <p:nvPr/>
          </p:nvSpPr>
          <p:spPr>
            <a:xfrm>
              <a:off x="6011453" y="5279385"/>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grpSp>
        <p:nvGrpSpPr>
          <p:cNvPr id="6048" name="Google Shape;6048;p105"/>
          <p:cNvGrpSpPr/>
          <p:nvPr/>
        </p:nvGrpSpPr>
        <p:grpSpPr>
          <a:xfrm>
            <a:off x="7997186" y="2493962"/>
            <a:ext cx="3646488" cy="2992438"/>
            <a:chOff x="3134903" y="2369497"/>
            <a:chExt cx="3646488" cy="2992438"/>
          </a:xfrm>
        </p:grpSpPr>
        <p:grpSp>
          <p:nvGrpSpPr>
            <p:cNvPr id="6049" name="Google Shape;6049;p105"/>
            <p:cNvGrpSpPr/>
            <p:nvPr/>
          </p:nvGrpSpPr>
          <p:grpSpPr>
            <a:xfrm>
              <a:off x="3134903" y="2369497"/>
              <a:ext cx="3646488" cy="2992438"/>
              <a:chOff x="3134903" y="2369497"/>
              <a:chExt cx="3646488" cy="2992438"/>
            </a:xfrm>
          </p:grpSpPr>
          <p:grpSp>
            <p:nvGrpSpPr>
              <p:cNvPr id="6050" name="Google Shape;6050;p105"/>
              <p:cNvGrpSpPr/>
              <p:nvPr/>
            </p:nvGrpSpPr>
            <p:grpSpPr>
              <a:xfrm>
                <a:off x="3134903" y="2369497"/>
                <a:ext cx="3646488" cy="2992438"/>
                <a:chOff x="3134903" y="2369497"/>
                <a:chExt cx="3646488" cy="2992438"/>
              </a:xfrm>
            </p:grpSpPr>
            <p:sp>
              <p:nvSpPr>
                <p:cNvPr id="6051" name="Google Shape;6051;p105"/>
                <p:cNvSpPr txBox="1"/>
                <p:nvPr/>
              </p:nvSpPr>
              <p:spPr>
                <a:xfrm>
                  <a:off x="3134903" y="2369497"/>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052" name="Google Shape;6052;p105"/>
                <p:cNvSpPr/>
                <p:nvPr/>
              </p:nvSpPr>
              <p:spPr>
                <a:xfrm>
                  <a:off x="4449353" y="2671122"/>
                  <a:ext cx="1527175" cy="2559050"/>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53" name="Google Shape;6053;p105"/>
                <p:cNvSpPr txBox="1"/>
                <p:nvPr/>
              </p:nvSpPr>
              <p:spPr>
                <a:xfrm>
                  <a:off x="6009866" y="502538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sp>
            <p:nvSpPr>
              <p:cNvPr id="6054" name="Google Shape;6054;p105"/>
              <p:cNvSpPr/>
              <p:nvPr/>
            </p:nvSpPr>
            <p:spPr>
              <a:xfrm>
                <a:off x="5933666" y="5152385"/>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6055" name="Google Shape;6055;p105"/>
            <p:cNvSpPr/>
            <p:nvPr/>
          </p:nvSpPr>
          <p:spPr>
            <a:xfrm>
              <a:off x="4660491" y="4725570"/>
              <a:ext cx="1071563" cy="260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56" name="Google Shape;6056;p105"/>
            <p:cNvSpPr txBox="1"/>
            <p:nvPr/>
          </p:nvSpPr>
          <p:spPr>
            <a:xfrm>
              <a:off x="4768441" y="4650731"/>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sp>
        <p:nvSpPr>
          <p:cNvPr id="6057" name="Google Shape;6057;p105"/>
          <p:cNvSpPr/>
          <p:nvPr/>
        </p:nvSpPr>
        <p:spPr>
          <a:xfrm>
            <a:off x="7997371" y="1857830"/>
            <a:ext cx="4194629" cy="3062514"/>
          </a:xfrm>
          <a:custGeom>
            <a:rect b="b" l="l" r="r" t="t"/>
            <a:pathLst>
              <a:path extrusionOk="0" h="3062514" w="4194629">
                <a:moveTo>
                  <a:pt x="0" y="29028"/>
                </a:moveTo>
                <a:lnTo>
                  <a:pt x="1320800" y="0"/>
                </a:lnTo>
                <a:lnTo>
                  <a:pt x="1915886" y="29028"/>
                </a:lnTo>
                <a:lnTo>
                  <a:pt x="3294743" y="72571"/>
                </a:lnTo>
                <a:lnTo>
                  <a:pt x="4194629" y="58057"/>
                </a:lnTo>
                <a:lnTo>
                  <a:pt x="4165600" y="3062514"/>
                </a:lnTo>
                <a:lnTo>
                  <a:pt x="3773715" y="2510971"/>
                </a:lnTo>
                <a:lnTo>
                  <a:pt x="3570515" y="2481942"/>
                </a:lnTo>
                <a:lnTo>
                  <a:pt x="2902857" y="2496457"/>
                </a:lnTo>
                <a:lnTo>
                  <a:pt x="2540001" y="2772228"/>
                </a:lnTo>
                <a:lnTo>
                  <a:pt x="1393372" y="3004456"/>
                </a:lnTo>
                <a:lnTo>
                  <a:pt x="29028" y="3033485"/>
                </a:lnTo>
                <a:lnTo>
                  <a:pt x="0" y="29028"/>
                </a:lnTo>
                <a:close/>
              </a:path>
            </a:pathLst>
          </a:custGeom>
          <a:solidFill>
            <a:schemeClr val="lt1">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8"/>
                                        </p:tgtEl>
                                        <p:attrNameLst>
                                          <p:attrName>style.visibility</p:attrName>
                                        </p:attrNameLst>
                                      </p:cBhvr>
                                      <p:to>
                                        <p:strVal val="visible"/>
                                      </p:to>
                                    </p:set>
                                    <p:animEffect filter="fade" transition="in">
                                      <p:cBhvr>
                                        <p:cTn dur="500"/>
                                        <p:tgtEl>
                                          <p:spTgt spid="6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2"/>
                                        </p:tgtEl>
                                        <p:attrNameLst>
                                          <p:attrName>style.visibility</p:attrName>
                                        </p:attrNameLst>
                                      </p:cBhvr>
                                      <p:to>
                                        <p:strVal val="visible"/>
                                      </p:to>
                                    </p:set>
                                    <p:animEffect filter="fade" transition="in">
                                      <p:cBhvr>
                                        <p:cTn dur="500"/>
                                        <p:tgtEl>
                                          <p:spTgt spid="60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7"/>
                                        </p:tgtEl>
                                        <p:attrNameLst>
                                          <p:attrName>style.visibility</p:attrName>
                                        </p:attrNameLst>
                                      </p:cBhvr>
                                      <p:to>
                                        <p:strVal val="visible"/>
                                      </p:to>
                                    </p:set>
                                    <p:animEffect filter="fade" transition="in">
                                      <p:cBhvr>
                                        <p:cTn dur="500"/>
                                        <p:tgtEl>
                                          <p:spTgt spid="60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9"/>
                                        </p:tgtEl>
                                        <p:attrNameLst>
                                          <p:attrName>style.visibility</p:attrName>
                                        </p:attrNameLst>
                                      </p:cBhvr>
                                      <p:to>
                                        <p:strVal val="visible"/>
                                      </p:to>
                                    </p:set>
                                    <p:animEffect filter="fade" transition="in">
                                      <p:cBhvr>
                                        <p:cTn dur="500"/>
                                        <p:tgtEl>
                                          <p:spTgt spid="60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2" name="Shape 6062"/>
        <p:cNvGrpSpPr/>
        <p:nvPr/>
      </p:nvGrpSpPr>
      <p:grpSpPr>
        <a:xfrm>
          <a:off x="0" y="0"/>
          <a:ext cx="0" cy="0"/>
          <a:chOff x="0" y="0"/>
          <a:chExt cx="0" cy="0"/>
        </a:xfrm>
      </p:grpSpPr>
      <p:sp>
        <p:nvSpPr>
          <p:cNvPr id="6063" name="Google Shape;6063;p10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a:t>
            </a:r>
            <a:endParaRPr b="0" sz="4400"/>
          </a:p>
        </p:txBody>
      </p:sp>
      <p:cxnSp>
        <p:nvCxnSpPr>
          <p:cNvPr id="6064" name="Google Shape;6064;p106"/>
          <p:cNvCxnSpPr/>
          <p:nvPr/>
        </p:nvCxnSpPr>
        <p:spPr>
          <a:xfrm flipH="1">
            <a:off x="4796631" y="3078661"/>
            <a:ext cx="1588" cy="2470150"/>
          </a:xfrm>
          <a:prstGeom prst="straightConnector1">
            <a:avLst/>
          </a:prstGeom>
          <a:noFill/>
          <a:ln cap="flat" cmpd="sng" w="9525">
            <a:solidFill>
              <a:srgbClr val="777777"/>
            </a:solidFill>
            <a:prstDash val="solid"/>
            <a:round/>
            <a:headEnd len="med" w="med" type="none"/>
            <a:tailEnd len="med" w="med" type="none"/>
          </a:ln>
        </p:spPr>
      </p:cxnSp>
      <p:grpSp>
        <p:nvGrpSpPr>
          <p:cNvPr id="6065" name="Google Shape;6065;p106"/>
          <p:cNvGrpSpPr/>
          <p:nvPr/>
        </p:nvGrpSpPr>
        <p:grpSpPr>
          <a:xfrm>
            <a:off x="2810669" y="3005636"/>
            <a:ext cx="4494212" cy="955675"/>
            <a:chOff x="810" y="1363"/>
            <a:chExt cx="2831" cy="602"/>
          </a:xfrm>
        </p:grpSpPr>
        <p:cxnSp>
          <p:nvCxnSpPr>
            <p:cNvPr id="6066" name="Google Shape;6066;p106"/>
            <p:cNvCxnSpPr/>
            <p:nvPr/>
          </p:nvCxnSpPr>
          <p:spPr>
            <a:xfrm>
              <a:off x="2062" y="1502"/>
              <a:ext cx="1579" cy="463"/>
            </a:xfrm>
            <a:prstGeom prst="straightConnector1">
              <a:avLst/>
            </a:prstGeom>
            <a:noFill/>
            <a:ln cap="flat" cmpd="sng" w="28575">
              <a:solidFill>
                <a:srgbClr val="000099"/>
              </a:solidFill>
              <a:prstDash val="solid"/>
              <a:round/>
              <a:headEnd len="med" w="med" type="none"/>
              <a:tailEnd len="med" w="med" type="triangle"/>
            </a:ln>
          </p:spPr>
        </p:cxnSp>
        <p:sp>
          <p:nvSpPr>
            <p:cNvPr id="6067" name="Google Shape;6067;p106"/>
            <p:cNvSpPr/>
            <p:nvPr/>
          </p:nvSpPr>
          <p:spPr>
            <a:xfrm>
              <a:off x="2518" y="1565"/>
              <a:ext cx="590"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68" name="Google Shape;6068;p106"/>
            <p:cNvSpPr txBox="1"/>
            <p:nvPr/>
          </p:nvSpPr>
          <p:spPr>
            <a:xfrm>
              <a:off x="2310" y="1624"/>
              <a:ext cx="109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Seq=x</a:t>
              </a:r>
              <a:endParaRPr/>
            </a:p>
          </p:txBody>
        </p:sp>
        <p:sp>
          <p:nvSpPr>
            <p:cNvPr id="6069" name="Google Shape;6069;p106"/>
            <p:cNvSpPr txBox="1"/>
            <p:nvPr/>
          </p:nvSpPr>
          <p:spPr>
            <a:xfrm>
              <a:off x="810" y="1363"/>
              <a:ext cx="1230"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x</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 msg</a:t>
              </a:r>
              <a:endParaRPr/>
            </a:p>
          </p:txBody>
        </p:sp>
      </p:grpSp>
      <p:cxnSp>
        <p:nvCxnSpPr>
          <p:cNvPr id="6070" name="Google Shape;6070;p106"/>
          <p:cNvCxnSpPr/>
          <p:nvPr/>
        </p:nvCxnSpPr>
        <p:spPr>
          <a:xfrm flipH="1">
            <a:off x="7385844" y="3148511"/>
            <a:ext cx="1587" cy="3417888"/>
          </a:xfrm>
          <a:prstGeom prst="straightConnector1">
            <a:avLst/>
          </a:prstGeom>
          <a:noFill/>
          <a:ln cap="flat" cmpd="sng" w="9525">
            <a:solidFill>
              <a:srgbClr val="777777"/>
            </a:solidFill>
            <a:prstDash val="solid"/>
            <a:round/>
            <a:headEnd len="med" w="med" type="none"/>
            <a:tailEnd len="med" w="med" type="none"/>
          </a:ln>
        </p:spPr>
      </p:cxnSp>
      <p:sp>
        <p:nvSpPr>
          <p:cNvPr id="6071" name="Google Shape;6071;p106"/>
          <p:cNvSpPr txBox="1"/>
          <p:nvPr/>
        </p:nvSpPr>
        <p:spPr>
          <a:xfrm>
            <a:off x="9571831" y="598696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nvGrpSpPr>
          <p:cNvPr id="6072" name="Google Shape;6072;p106"/>
          <p:cNvGrpSpPr/>
          <p:nvPr/>
        </p:nvGrpSpPr>
        <p:grpSpPr>
          <a:xfrm>
            <a:off x="4795044" y="3675561"/>
            <a:ext cx="4519612" cy="1425575"/>
            <a:chOff x="2060" y="1785"/>
            <a:chExt cx="2847" cy="898"/>
          </a:xfrm>
        </p:grpSpPr>
        <p:cxnSp>
          <p:nvCxnSpPr>
            <p:cNvPr id="6073" name="Google Shape;6073;p106"/>
            <p:cNvCxnSpPr/>
            <p:nvPr/>
          </p:nvCxnSpPr>
          <p:spPr>
            <a:xfrm flipH="1">
              <a:off x="2060" y="2031"/>
              <a:ext cx="1580" cy="652"/>
            </a:xfrm>
            <a:prstGeom prst="straightConnector1">
              <a:avLst/>
            </a:prstGeom>
            <a:noFill/>
            <a:ln cap="flat" cmpd="sng" w="28575">
              <a:solidFill>
                <a:srgbClr val="000099"/>
              </a:solidFill>
              <a:prstDash val="solid"/>
              <a:round/>
              <a:headEnd len="med" w="med" type="none"/>
              <a:tailEnd len="med" w="med" type="triangle"/>
            </a:ln>
          </p:spPr>
        </p:cxnSp>
        <p:sp>
          <p:nvSpPr>
            <p:cNvPr id="6074" name="Google Shape;6074;p106"/>
            <p:cNvSpPr/>
            <p:nvPr/>
          </p:nvSpPr>
          <p:spPr>
            <a:xfrm>
              <a:off x="2381" y="2206"/>
              <a:ext cx="896" cy="32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5" name="Google Shape;6075;p106"/>
            <p:cNvSpPr txBox="1"/>
            <p:nvPr/>
          </p:nvSpPr>
          <p:spPr>
            <a:xfrm>
              <a:off x="2159" y="2169"/>
              <a:ext cx="1534"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Seq=y</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6076" name="Google Shape;6076;p106"/>
            <p:cNvSpPr txBox="1"/>
            <p:nvPr/>
          </p:nvSpPr>
          <p:spPr>
            <a:xfrm>
              <a:off x="3676" y="1785"/>
              <a:ext cx="1231" cy="42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y</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SYNACK</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msg, acking SYN</a:t>
              </a:r>
              <a:endParaRPr/>
            </a:p>
          </p:txBody>
        </p:sp>
      </p:grpSp>
      <p:grpSp>
        <p:nvGrpSpPr>
          <p:cNvPr id="6077" name="Google Shape;6077;p106"/>
          <p:cNvGrpSpPr/>
          <p:nvPr/>
        </p:nvGrpSpPr>
        <p:grpSpPr>
          <a:xfrm>
            <a:off x="2512219" y="4774111"/>
            <a:ext cx="6630987" cy="1373188"/>
            <a:chOff x="622" y="2477"/>
            <a:chExt cx="4177" cy="865"/>
          </a:xfrm>
        </p:grpSpPr>
        <p:cxnSp>
          <p:nvCxnSpPr>
            <p:cNvPr id="6078" name="Google Shape;6078;p106"/>
            <p:cNvCxnSpPr/>
            <p:nvPr/>
          </p:nvCxnSpPr>
          <p:spPr>
            <a:xfrm>
              <a:off x="2073" y="2728"/>
              <a:ext cx="1579" cy="463"/>
            </a:xfrm>
            <a:prstGeom prst="straightConnector1">
              <a:avLst/>
            </a:prstGeom>
            <a:noFill/>
            <a:ln cap="flat" cmpd="sng" w="28575">
              <a:solidFill>
                <a:srgbClr val="000099"/>
              </a:solidFill>
              <a:prstDash val="solid"/>
              <a:round/>
              <a:headEnd len="med" w="med" type="none"/>
              <a:tailEnd len="med" w="med" type="triangle"/>
            </a:ln>
          </p:spPr>
        </p:cxnSp>
        <p:sp>
          <p:nvSpPr>
            <p:cNvPr id="6079" name="Google Shape;6079;p106"/>
            <p:cNvSpPr/>
            <p:nvPr/>
          </p:nvSpPr>
          <p:spPr>
            <a:xfrm>
              <a:off x="2486" y="2806"/>
              <a:ext cx="775"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80" name="Google Shape;6080;p106"/>
            <p:cNvSpPr txBox="1"/>
            <p:nvPr/>
          </p:nvSpPr>
          <p:spPr>
            <a:xfrm>
              <a:off x="2092" y="2852"/>
              <a:ext cx="15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sp>
          <p:nvSpPr>
            <p:cNvPr id="6081" name="Google Shape;6081;p106"/>
            <p:cNvSpPr txBox="1"/>
            <p:nvPr/>
          </p:nvSpPr>
          <p:spPr>
            <a:xfrm>
              <a:off x="622" y="2477"/>
              <a:ext cx="1422" cy="663"/>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SYNACK(x)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server is live;</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ACK for SYNACK;</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this segment may contain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client-to-server data</a:t>
              </a:r>
              <a:endParaRPr/>
            </a:p>
          </p:txBody>
        </p:sp>
        <p:sp>
          <p:nvSpPr>
            <p:cNvPr id="6082" name="Google Shape;6082;p106"/>
            <p:cNvSpPr txBox="1"/>
            <p:nvPr/>
          </p:nvSpPr>
          <p:spPr>
            <a:xfrm>
              <a:off x="3640" y="3042"/>
              <a:ext cx="1159"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ACK(y)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client is live</a:t>
              </a:r>
              <a:endParaRPr/>
            </a:p>
          </p:txBody>
        </p:sp>
      </p:grpSp>
      <p:grpSp>
        <p:nvGrpSpPr>
          <p:cNvPr id="6083" name="Google Shape;6083;p106"/>
          <p:cNvGrpSpPr/>
          <p:nvPr/>
        </p:nvGrpSpPr>
        <p:grpSpPr>
          <a:xfrm>
            <a:off x="1813719" y="3043736"/>
            <a:ext cx="1030287" cy="700088"/>
            <a:chOff x="182" y="1387"/>
            <a:chExt cx="649" cy="441"/>
          </a:xfrm>
        </p:grpSpPr>
        <p:sp>
          <p:nvSpPr>
            <p:cNvPr id="6084" name="Google Shape;6084;p106"/>
            <p:cNvSpPr txBox="1"/>
            <p:nvPr/>
          </p:nvSpPr>
          <p:spPr>
            <a:xfrm>
              <a:off x="182" y="1616"/>
              <a:ext cx="64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SYNSENT</a:t>
              </a:r>
              <a:endParaRPr/>
            </a:p>
          </p:txBody>
        </p:sp>
        <p:cxnSp>
          <p:nvCxnSpPr>
            <p:cNvPr id="6085" name="Google Shape;6085;p106"/>
            <p:cNvCxnSpPr/>
            <p:nvPr/>
          </p:nvCxnSpPr>
          <p:spPr>
            <a:xfrm>
              <a:off x="462" y="1387"/>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6086" name="Google Shape;6086;p106"/>
          <p:cNvGrpSpPr/>
          <p:nvPr/>
        </p:nvGrpSpPr>
        <p:grpSpPr>
          <a:xfrm>
            <a:off x="1815306" y="3704136"/>
            <a:ext cx="771525" cy="1622425"/>
            <a:chOff x="183" y="1803"/>
            <a:chExt cx="486" cy="1022"/>
          </a:xfrm>
        </p:grpSpPr>
        <p:sp>
          <p:nvSpPr>
            <p:cNvPr id="6087" name="Google Shape;6087;p106"/>
            <p:cNvSpPr txBox="1"/>
            <p:nvPr/>
          </p:nvSpPr>
          <p:spPr>
            <a:xfrm>
              <a:off x="183" y="2613"/>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cxnSp>
          <p:nvCxnSpPr>
            <p:cNvPr id="6088" name="Google Shape;6088;p106"/>
            <p:cNvCxnSpPr/>
            <p:nvPr/>
          </p:nvCxnSpPr>
          <p:spPr>
            <a:xfrm>
              <a:off x="465" y="1803"/>
              <a:ext cx="0" cy="797"/>
            </a:xfrm>
            <a:prstGeom prst="straightConnector1">
              <a:avLst/>
            </a:prstGeom>
            <a:noFill/>
            <a:ln cap="flat" cmpd="sng" w="9525">
              <a:solidFill>
                <a:srgbClr val="000000"/>
              </a:solidFill>
              <a:prstDash val="solid"/>
              <a:round/>
              <a:headEnd len="med" w="med" type="none"/>
              <a:tailEnd len="med" w="med" type="triangle"/>
            </a:ln>
          </p:spPr>
        </p:cxnSp>
      </p:grpSp>
      <p:grpSp>
        <p:nvGrpSpPr>
          <p:cNvPr id="6089" name="Google Shape;6089;p106"/>
          <p:cNvGrpSpPr/>
          <p:nvPr/>
        </p:nvGrpSpPr>
        <p:grpSpPr>
          <a:xfrm>
            <a:off x="9268619" y="3099299"/>
            <a:ext cx="1119187" cy="1192212"/>
            <a:chOff x="4878" y="1422"/>
            <a:chExt cx="705" cy="751"/>
          </a:xfrm>
        </p:grpSpPr>
        <p:sp>
          <p:nvSpPr>
            <p:cNvPr id="6090" name="Google Shape;6090;p106"/>
            <p:cNvSpPr txBox="1"/>
            <p:nvPr/>
          </p:nvSpPr>
          <p:spPr>
            <a:xfrm>
              <a:off x="4878" y="1961"/>
              <a:ext cx="70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 RCVD</a:t>
              </a:r>
              <a:endParaRPr/>
            </a:p>
          </p:txBody>
        </p:sp>
        <p:cxnSp>
          <p:nvCxnSpPr>
            <p:cNvPr id="6091" name="Google Shape;6091;p106"/>
            <p:cNvCxnSpPr/>
            <p:nvPr/>
          </p:nvCxnSpPr>
          <p:spPr>
            <a:xfrm>
              <a:off x="5339" y="1422"/>
              <a:ext cx="0" cy="569"/>
            </a:xfrm>
            <a:prstGeom prst="straightConnector1">
              <a:avLst/>
            </a:prstGeom>
            <a:noFill/>
            <a:ln cap="flat" cmpd="sng" w="9525">
              <a:solidFill>
                <a:srgbClr val="000000"/>
              </a:solidFill>
              <a:prstDash val="solid"/>
              <a:round/>
              <a:headEnd len="med" w="med" type="none"/>
              <a:tailEnd len="med" w="med" type="triangle"/>
            </a:ln>
          </p:spPr>
        </p:cxnSp>
      </p:grpSp>
      <p:cxnSp>
        <p:nvCxnSpPr>
          <p:cNvPr id="6092" name="Google Shape;6092;p106"/>
          <p:cNvCxnSpPr/>
          <p:nvPr/>
        </p:nvCxnSpPr>
        <p:spPr>
          <a:xfrm>
            <a:off x="9982994" y="4301036"/>
            <a:ext cx="0" cy="1704975"/>
          </a:xfrm>
          <a:prstGeom prst="straightConnector1">
            <a:avLst/>
          </a:prstGeom>
          <a:noFill/>
          <a:ln cap="flat" cmpd="sng" w="9525">
            <a:solidFill>
              <a:srgbClr val="000000"/>
            </a:solidFill>
            <a:prstDash val="solid"/>
            <a:round/>
            <a:headEnd len="med" w="med" type="none"/>
            <a:tailEnd len="med" w="med" type="triangle"/>
          </a:ln>
        </p:spPr>
      </p:cxnSp>
      <p:sp>
        <p:nvSpPr>
          <p:cNvPr id="6093" name="Google Shape;6093;p106"/>
          <p:cNvSpPr txBox="1"/>
          <p:nvPr/>
        </p:nvSpPr>
        <p:spPr>
          <a:xfrm>
            <a:off x="1395197" y="1675748"/>
            <a:ext cx="183903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6094" name="Google Shape;6094;p106"/>
          <p:cNvSpPr txBox="1"/>
          <p:nvPr/>
        </p:nvSpPr>
        <p:spPr>
          <a:xfrm>
            <a:off x="1807368" y="2389622"/>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sp>
        <p:nvSpPr>
          <p:cNvPr id="6095" name="Google Shape;6095;p106"/>
          <p:cNvSpPr txBox="1"/>
          <p:nvPr/>
        </p:nvSpPr>
        <p:spPr>
          <a:xfrm>
            <a:off x="8905645" y="1081958"/>
            <a:ext cx="193040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6096" name="Google Shape;6096;p106"/>
          <p:cNvSpPr txBox="1"/>
          <p:nvPr/>
        </p:nvSpPr>
        <p:spPr>
          <a:xfrm>
            <a:off x="9511504" y="2632510"/>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grpSp>
        <p:nvGrpSpPr>
          <p:cNvPr id="6097" name="Google Shape;6097;p106"/>
          <p:cNvGrpSpPr/>
          <p:nvPr/>
        </p:nvGrpSpPr>
        <p:grpSpPr>
          <a:xfrm>
            <a:off x="4464473" y="2492809"/>
            <a:ext cx="642937" cy="600075"/>
            <a:chOff x="-44" y="1473"/>
            <a:chExt cx="981" cy="1105"/>
          </a:xfrm>
        </p:grpSpPr>
        <p:pic>
          <p:nvPicPr>
            <p:cNvPr descr="desktop_computer_stylized_medium" id="6098" name="Google Shape;6098;p10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99" name="Google Shape;6099;p10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100" name="Google Shape;6100;p106"/>
          <p:cNvGrpSpPr/>
          <p:nvPr/>
        </p:nvGrpSpPr>
        <p:grpSpPr>
          <a:xfrm>
            <a:off x="7221809" y="2580121"/>
            <a:ext cx="336550" cy="512763"/>
            <a:chOff x="4140" y="429"/>
            <a:chExt cx="1425" cy="2396"/>
          </a:xfrm>
        </p:grpSpPr>
        <p:sp>
          <p:nvSpPr>
            <p:cNvPr id="6101" name="Google Shape;6101;p10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2" name="Google Shape;6102;p106"/>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3" name="Google Shape;6103;p10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4" name="Google Shape;6104;p10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5" name="Google Shape;6105;p106"/>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06" name="Google Shape;6106;p106"/>
            <p:cNvGrpSpPr/>
            <p:nvPr/>
          </p:nvGrpSpPr>
          <p:grpSpPr>
            <a:xfrm>
              <a:off x="4751" y="666"/>
              <a:ext cx="578" cy="148"/>
              <a:chOff x="617" y="2566"/>
              <a:chExt cx="721" cy="142"/>
            </a:xfrm>
          </p:grpSpPr>
          <p:sp>
            <p:nvSpPr>
              <p:cNvPr id="6107" name="Google Shape;6107;p106"/>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8" name="Google Shape;6108;p106"/>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09" name="Google Shape;6109;p106"/>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10" name="Google Shape;6110;p106"/>
            <p:cNvGrpSpPr/>
            <p:nvPr/>
          </p:nvGrpSpPr>
          <p:grpSpPr>
            <a:xfrm>
              <a:off x="4745" y="993"/>
              <a:ext cx="585" cy="134"/>
              <a:chOff x="611" y="2567"/>
              <a:chExt cx="730" cy="139"/>
            </a:xfrm>
          </p:grpSpPr>
          <p:sp>
            <p:nvSpPr>
              <p:cNvPr id="6111" name="Google Shape;6111;p106"/>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2" name="Google Shape;6112;p106"/>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13" name="Google Shape;6113;p106"/>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4" name="Google Shape;6114;p106"/>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15" name="Google Shape;6115;p106"/>
            <p:cNvGrpSpPr/>
            <p:nvPr/>
          </p:nvGrpSpPr>
          <p:grpSpPr>
            <a:xfrm>
              <a:off x="4738" y="1630"/>
              <a:ext cx="578" cy="149"/>
              <a:chOff x="618" y="2571"/>
              <a:chExt cx="720" cy="137"/>
            </a:xfrm>
          </p:grpSpPr>
          <p:sp>
            <p:nvSpPr>
              <p:cNvPr id="6116" name="Google Shape;6116;p106"/>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7" name="Google Shape;6117;p106"/>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18" name="Google Shape;6118;p10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19" name="Google Shape;6119;p106"/>
            <p:cNvGrpSpPr/>
            <p:nvPr/>
          </p:nvGrpSpPr>
          <p:grpSpPr>
            <a:xfrm>
              <a:off x="4738" y="1327"/>
              <a:ext cx="584" cy="141"/>
              <a:chOff x="613" y="2568"/>
              <a:chExt cx="728" cy="141"/>
            </a:xfrm>
          </p:grpSpPr>
          <p:sp>
            <p:nvSpPr>
              <p:cNvPr id="6120" name="Google Shape;6120;p106"/>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1" name="Google Shape;6121;p106"/>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22" name="Google Shape;6122;p106"/>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3" name="Google Shape;6123;p10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4" name="Google Shape;6124;p10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5" name="Google Shape;6125;p106"/>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6" name="Google Shape;6126;p10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7" name="Google Shape;6127;p106"/>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8" name="Google Shape;6128;p106"/>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9" name="Google Shape;6129;p106"/>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0" name="Google Shape;6130;p106"/>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131" name="Google Shape;6131;p106"/>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2" name="Google Shape;6132;p106"/>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33" name="Google Shape;6133;p106"/>
          <p:cNvSpPr txBox="1"/>
          <p:nvPr/>
        </p:nvSpPr>
        <p:spPr>
          <a:xfrm>
            <a:off x="374662" y="2181018"/>
            <a:ext cx="4209864" cy="26155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 = socket(AF_INET, SOCK_STREAM)</a:t>
            </a:r>
            <a:endParaRPr/>
          </a:p>
        </p:txBody>
      </p:sp>
      <p:sp>
        <p:nvSpPr>
          <p:cNvPr id="6134" name="Google Shape;6134;p106"/>
          <p:cNvSpPr txBox="1"/>
          <p:nvPr/>
        </p:nvSpPr>
        <p:spPr>
          <a:xfrm>
            <a:off x="7821898" y="1651172"/>
            <a:ext cx="4461478" cy="10464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 = socket(AF_INET,SOCK_STREAM)</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serverSocket.bind((‘’,serverPort))</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serverSocket.listen(1)</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connectionSocket, addr = serverSocket.accept()</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5" name="Google Shape;6135;p106"/>
          <p:cNvSpPr txBox="1"/>
          <p:nvPr/>
        </p:nvSpPr>
        <p:spPr>
          <a:xfrm>
            <a:off x="276543" y="2694832"/>
            <a:ext cx="4433244" cy="263149"/>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clientSocket.connect((serverName,serverPort))</a:t>
            </a:r>
            <a:endParaRPr/>
          </a:p>
        </p:txBody>
      </p:sp>
      <p:sp>
        <p:nvSpPr>
          <p:cNvPr id="6136" name="Google Shape;6136;p10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5"/>
                                        </p:tgtEl>
                                        <p:attrNameLst>
                                          <p:attrName>style.visibility</p:attrName>
                                        </p:attrNameLst>
                                      </p:cBhvr>
                                      <p:to>
                                        <p:strVal val="visible"/>
                                      </p:to>
                                    </p:set>
                                    <p:animEffect filter="fade" transition="in">
                                      <p:cBhvr>
                                        <p:cTn dur="500"/>
                                        <p:tgtEl>
                                          <p:spTgt spid="6065"/>
                                        </p:tgtEl>
                                      </p:cBhvr>
                                    </p:animEffect>
                                  </p:childTnLst>
                                </p:cTn>
                              </p:par>
                              <p:par>
                                <p:cTn fill="hold" nodeType="withEffect" presetClass="entr" presetID="10" presetSubtype="0">
                                  <p:stCondLst>
                                    <p:cond delay="0"/>
                                  </p:stCondLst>
                                  <p:childTnLst>
                                    <p:set>
                                      <p:cBhvr>
                                        <p:cTn dur="1" fill="hold">
                                          <p:stCondLst>
                                            <p:cond delay="0"/>
                                          </p:stCondLst>
                                        </p:cTn>
                                        <p:tgtEl>
                                          <p:spTgt spid="6083"/>
                                        </p:tgtEl>
                                        <p:attrNameLst>
                                          <p:attrName>style.visibility</p:attrName>
                                        </p:attrNameLst>
                                      </p:cBhvr>
                                      <p:to>
                                        <p:strVal val="visible"/>
                                      </p:to>
                                    </p:set>
                                    <p:animEffect filter="fade" transition="in">
                                      <p:cBhvr>
                                        <p:cTn dur="500"/>
                                        <p:tgtEl>
                                          <p:spTgt spid="6083"/>
                                        </p:tgtEl>
                                      </p:cBhvr>
                                    </p:animEffect>
                                  </p:childTnLst>
                                </p:cTn>
                              </p:par>
                              <p:par>
                                <p:cTn fill="hold" nodeType="withEffect" presetClass="entr" presetID="10" presetSubtype="0">
                                  <p:stCondLst>
                                    <p:cond delay="0"/>
                                  </p:stCondLst>
                                  <p:childTnLst>
                                    <p:set>
                                      <p:cBhvr>
                                        <p:cTn dur="1" fill="hold">
                                          <p:stCondLst>
                                            <p:cond delay="0"/>
                                          </p:stCondLst>
                                        </p:cTn>
                                        <p:tgtEl>
                                          <p:spTgt spid="6135"/>
                                        </p:tgtEl>
                                        <p:attrNameLst>
                                          <p:attrName>style.visibility</p:attrName>
                                        </p:attrNameLst>
                                      </p:cBhvr>
                                      <p:to>
                                        <p:strVal val="visible"/>
                                      </p:to>
                                    </p:set>
                                    <p:animEffect filter="fade" transition="in">
                                      <p:cBhvr>
                                        <p:cTn dur="500"/>
                                        <p:tgtEl>
                                          <p:spTgt spid="6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9"/>
                                        </p:tgtEl>
                                        <p:attrNameLst>
                                          <p:attrName>style.visibility</p:attrName>
                                        </p:attrNameLst>
                                      </p:cBhvr>
                                      <p:to>
                                        <p:strVal val="visible"/>
                                      </p:to>
                                    </p:set>
                                    <p:animEffect filter="fade" transition="in">
                                      <p:cBhvr>
                                        <p:cTn dur="500"/>
                                        <p:tgtEl>
                                          <p:spTgt spid="6089"/>
                                        </p:tgtEl>
                                      </p:cBhvr>
                                    </p:animEffect>
                                  </p:childTnLst>
                                </p:cTn>
                              </p:par>
                              <p:par>
                                <p:cTn fill="hold" nodeType="withEffect" presetClass="entr" presetID="10" presetSubtype="0">
                                  <p:stCondLst>
                                    <p:cond delay="0"/>
                                  </p:stCondLst>
                                  <p:childTnLst>
                                    <p:set>
                                      <p:cBhvr>
                                        <p:cTn dur="1" fill="hold">
                                          <p:stCondLst>
                                            <p:cond delay="0"/>
                                          </p:stCondLst>
                                        </p:cTn>
                                        <p:tgtEl>
                                          <p:spTgt spid="6072"/>
                                        </p:tgtEl>
                                        <p:attrNameLst>
                                          <p:attrName>style.visibility</p:attrName>
                                        </p:attrNameLst>
                                      </p:cBhvr>
                                      <p:to>
                                        <p:strVal val="visible"/>
                                      </p:to>
                                    </p:set>
                                    <p:animEffect filter="fade" transition="in">
                                      <p:cBhvr>
                                        <p:cTn dur="500"/>
                                        <p:tgtEl>
                                          <p:spTgt spid="60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7"/>
                                        </p:tgtEl>
                                        <p:attrNameLst>
                                          <p:attrName>style.visibility</p:attrName>
                                        </p:attrNameLst>
                                      </p:cBhvr>
                                      <p:to>
                                        <p:strVal val="visible"/>
                                      </p:to>
                                    </p:set>
                                    <p:animEffect filter="fade" transition="in">
                                      <p:cBhvr>
                                        <p:cTn dur="500"/>
                                        <p:tgtEl>
                                          <p:spTgt spid="6077"/>
                                        </p:tgtEl>
                                      </p:cBhvr>
                                    </p:animEffect>
                                  </p:childTnLst>
                                </p:cTn>
                              </p:par>
                              <p:par>
                                <p:cTn fill="hold" nodeType="withEffect" presetClass="entr" presetID="10" presetSubtype="0">
                                  <p:stCondLst>
                                    <p:cond delay="0"/>
                                  </p:stCondLst>
                                  <p:childTnLst>
                                    <p:set>
                                      <p:cBhvr>
                                        <p:cTn dur="1" fill="hold">
                                          <p:stCondLst>
                                            <p:cond delay="0"/>
                                          </p:stCondLst>
                                        </p:cTn>
                                        <p:tgtEl>
                                          <p:spTgt spid="6086"/>
                                        </p:tgtEl>
                                        <p:attrNameLst>
                                          <p:attrName>style.visibility</p:attrName>
                                        </p:attrNameLst>
                                      </p:cBhvr>
                                      <p:to>
                                        <p:strVal val="visible"/>
                                      </p:to>
                                    </p:set>
                                    <p:animEffect filter="fade" transition="in">
                                      <p:cBhvr>
                                        <p:cTn dur="500"/>
                                        <p:tgtEl>
                                          <p:spTgt spid="60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071"/>
                                        </p:tgtEl>
                                        <p:attrNameLst>
                                          <p:attrName>style.visibility</p:attrName>
                                        </p:attrNameLst>
                                      </p:cBhvr>
                                      <p:to>
                                        <p:strVal val="visible"/>
                                      </p:to>
                                    </p:set>
                                    <p:animEffect filter="fade" transition="in">
                                      <p:cBhvr>
                                        <p:cTn dur="500"/>
                                        <p:tgtEl>
                                          <p:spTgt spid="6071"/>
                                        </p:tgtEl>
                                      </p:cBhvr>
                                    </p:animEffect>
                                  </p:childTnLst>
                                </p:cTn>
                              </p:par>
                              <p:par>
                                <p:cTn fill="hold" nodeType="withEffect" presetClass="entr" presetID="10" presetSubtype="0">
                                  <p:stCondLst>
                                    <p:cond delay="0"/>
                                  </p:stCondLst>
                                  <p:childTnLst>
                                    <p:set>
                                      <p:cBhvr>
                                        <p:cTn dur="1" fill="hold">
                                          <p:stCondLst>
                                            <p:cond delay="0"/>
                                          </p:stCondLst>
                                        </p:cTn>
                                        <p:tgtEl>
                                          <p:spTgt spid="6092"/>
                                        </p:tgtEl>
                                        <p:attrNameLst>
                                          <p:attrName>style.visibility</p:attrName>
                                        </p:attrNameLst>
                                      </p:cBhvr>
                                      <p:to>
                                        <p:strVal val="visible"/>
                                      </p:to>
                                    </p:set>
                                    <p:animEffect filter="fade" transition="in">
                                      <p:cBhvr>
                                        <p:cTn dur="500"/>
                                        <p:tgtEl>
                                          <p:spTgt spid="60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1" name="Shape 6141"/>
        <p:cNvGrpSpPr/>
        <p:nvPr/>
      </p:nvGrpSpPr>
      <p:grpSpPr>
        <a:xfrm>
          <a:off x="0" y="0"/>
          <a:ext cx="0" cy="0"/>
          <a:chOff x="0" y="0"/>
          <a:chExt cx="0" cy="0"/>
        </a:xfrm>
      </p:grpSpPr>
      <p:sp>
        <p:nvSpPr>
          <p:cNvPr id="6142" name="Google Shape;6142;p10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 human 3-way handshake protocol</a:t>
            </a:r>
            <a:endParaRPr b="0" sz="4400"/>
          </a:p>
        </p:txBody>
      </p:sp>
      <p:pic>
        <p:nvPicPr>
          <p:cNvPr descr="A pile of snow&#10;&#10;Description automatically generated" id="6143" name="Google Shape;6143;p107"/>
          <p:cNvPicPr preferRelativeResize="0"/>
          <p:nvPr/>
        </p:nvPicPr>
        <p:blipFill rotWithShape="1">
          <a:blip r:embed="rId3">
            <a:alphaModFix/>
          </a:blip>
          <a:srcRect b="0" l="0" r="0" t="0"/>
          <a:stretch/>
        </p:blipFill>
        <p:spPr>
          <a:xfrm>
            <a:off x="1750251" y="1530219"/>
            <a:ext cx="8358252" cy="5472528"/>
          </a:xfrm>
          <a:prstGeom prst="rect">
            <a:avLst/>
          </a:prstGeom>
          <a:noFill/>
          <a:ln>
            <a:noFill/>
          </a:ln>
        </p:spPr>
      </p:pic>
      <p:grpSp>
        <p:nvGrpSpPr>
          <p:cNvPr id="6144" name="Google Shape;6144;p107"/>
          <p:cNvGrpSpPr/>
          <p:nvPr/>
        </p:nvGrpSpPr>
        <p:grpSpPr>
          <a:xfrm>
            <a:off x="6538586" y="2065751"/>
            <a:ext cx="1730667" cy="612648"/>
            <a:chOff x="6538586" y="2065751"/>
            <a:chExt cx="1730667" cy="612648"/>
          </a:xfrm>
        </p:grpSpPr>
        <p:sp>
          <p:nvSpPr>
            <p:cNvPr id="6145" name="Google Shape;6145;p107"/>
            <p:cNvSpPr/>
            <p:nvPr/>
          </p:nvSpPr>
          <p:spPr>
            <a:xfrm>
              <a:off x="6551111" y="2065751"/>
              <a:ext cx="1672748" cy="612648"/>
            </a:xfrm>
            <a:prstGeom prst="wedgeRoundRectCallout">
              <a:avLst>
                <a:gd fmla="val 54830" name="adj1"/>
                <a:gd fmla="val 429311"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46" name="Google Shape;6146;p107"/>
            <p:cNvSpPr txBox="1"/>
            <p:nvPr/>
          </p:nvSpPr>
          <p:spPr>
            <a:xfrm>
              <a:off x="6538586" y="2153433"/>
              <a:ext cx="17306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On belay?</a:t>
              </a:r>
              <a:endParaRPr/>
            </a:p>
          </p:txBody>
        </p:sp>
      </p:grpSp>
      <p:sp>
        <p:nvSpPr>
          <p:cNvPr id="6147" name="Google Shape;6147;p107"/>
          <p:cNvSpPr/>
          <p:nvPr/>
        </p:nvSpPr>
        <p:spPr>
          <a:xfrm>
            <a:off x="1640908" y="5812076"/>
            <a:ext cx="10459233" cy="12776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148" name="Google Shape;6148;p107"/>
          <p:cNvGrpSpPr/>
          <p:nvPr/>
        </p:nvGrpSpPr>
        <p:grpSpPr>
          <a:xfrm>
            <a:off x="5814165" y="3280776"/>
            <a:ext cx="1672748" cy="612648"/>
            <a:chOff x="5814165" y="3280776"/>
            <a:chExt cx="1672748" cy="612648"/>
          </a:xfrm>
        </p:grpSpPr>
        <p:sp>
          <p:nvSpPr>
            <p:cNvPr id="6149" name="Google Shape;6149;p107"/>
            <p:cNvSpPr/>
            <p:nvPr/>
          </p:nvSpPr>
          <p:spPr>
            <a:xfrm>
              <a:off x="5814165" y="3280776"/>
              <a:ext cx="1672748" cy="612648"/>
            </a:xfrm>
            <a:prstGeom prst="wedgeRoundRectCallout">
              <a:avLst>
                <a:gd fmla="val -120395" name="adj1"/>
                <a:gd fmla="val -120679"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50" name="Google Shape;6150;p107"/>
            <p:cNvSpPr txBox="1"/>
            <p:nvPr/>
          </p:nvSpPr>
          <p:spPr>
            <a:xfrm>
              <a:off x="5826690" y="3332968"/>
              <a:ext cx="162807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2. Belay on.</a:t>
              </a:r>
              <a:endParaRPr/>
            </a:p>
          </p:txBody>
        </p:sp>
      </p:grpSp>
      <p:grpSp>
        <p:nvGrpSpPr>
          <p:cNvPr id="6151" name="Google Shape;6151;p107"/>
          <p:cNvGrpSpPr/>
          <p:nvPr/>
        </p:nvGrpSpPr>
        <p:grpSpPr>
          <a:xfrm>
            <a:off x="8321457" y="3646119"/>
            <a:ext cx="1695712" cy="612648"/>
            <a:chOff x="8321457" y="3646119"/>
            <a:chExt cx="1695712" cy="612648"/>
          </a:xfrm>
        </p:grpSpPr>
        <p:sp>
          <p:nvSpPr>
            <p:cNvPr id="6152" name="Google Shape;6152;p107"/>
            <p:cNvSpPr/>
            <p:nvPr/>
          </p:nvSpPr>
          <p:spPr>
            <a:xfrm>
              <a:off x="8344421" y="3646119"/>
              <a:ext cx="1672748" cy="612648"/>
            </a:xfrm>
            <a:prstGeom prst="wedgeRoundRectCallout">
              <a:avLst>
                <a:gd fmla="val -44764" name="adj1"/>
                <a:gd fmla="val 169650"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53" name="Google Shape;6153;p107"/>
            <p:cNvSpPr txBox="1"/>
            <p:nvPr/>
          </p:nvSpPr>
          <p:spPr>
            <a:xfrm>
              <a:off x="8321457" y="3710836"/>
              <a:ext cx="16514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 Climbing.</a:t>
              </a:r>
              <a:endParaRPr/>
            </a:p>
          </p:txBody>
        </p:sp>
      </p:grpSp>
      <p:sp>
        <p:nvSpPr>
          <p:cNvPr id="6154" name="Google Shape;6154;p10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6155" name="Google Shape;6155;p107"/>
          <p:cNvSpPr/>
          <p:nvPr/>
        </p:nvSpPr>
        <p:spPr>
          <a:xfrm>
            <a:off x="6505718" y="1708879"/>
            <a:ext cx="1730667" cy="444554"/>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Are you Ready?</a:t>
            </a:r>
            <a:endParaRPr/>
          </a:p>
        </p:txBody>
      </p:sp>
      <p:sp>
        <p:nvSpPr>
          <p:cNvPr id="6156" name="Google Shape;6156;p107"/>
          <p:cNvSpPr/>
          <p:nvPr/>
        </p:nvSpPr>
        <p:spPr>
          <a:xfrm>
            <a:off x="5818069" y="3849808"/>
            <a:ext cx="1730667" cy="444554"/>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Ready</a:t>
            </a:r>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4"/>
                                        </p:tgtEl>
                                        <p:attrNameLst>
                                          <p:attrName>style.visibility</p:attrName>
                                        </p:attrNameLst>
                                      </p:cBhvr>
                                      <p:to>
                                        <p:strVal val="visible"/>
                                      </p:to>
                                    </p:set>
                                    <p:animEffect filter="fade" transition="in">
                                      <p:cBhvr>
                                        <p:cTn dur="500"/>
                                        <p:tgtEl>
                                          <p:spTgt spid="6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8"/>
                                        </p:tgtEl>
                                        <p:attrNameLst>
                                          <p:attrName>style.visibility</p:attrName>
                                        </p:attrNameLst>
                                      </p:cBhvr>
                                      <p:to>
                                        <p:strVal val="visible"/>
                                      </p:to>
                                    </p:set>
                                    <p:animEffect filter="fade" transition="in">
                                      <p:cBhvr>
                                        <p:cTn dur="500"/>
                                        <p:tgtEl>
                                          <p:spTgt spid="6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1"/>
                                        </p:tgtEl>
                                        <p:attrNameLst>
                                          <p:attrName>style.visibility</p:attrName>
                                        </p:attrNameLst>
                                      </p:cBhvr>
                                      <p:to>
                                        <p:strVal val="visible"/>
                                      </p:to>
                                    </p:set>
                                    <p:animEffect filter="fade" transition="in">
                                      <p:cBhvr>
                                        <p:cTn dur="500"/>
                                        <p:tgtEl>
                                          <p:spTgt spid="6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1" name="Shape 6161"/>
        <p:cNvGrpSpPr/>
        <p:nvPr/>
      </p:nvGrpSpPr>
      <p:grpSpPr>
        <a:xfrm>
          <a:off x="0" y="0"/>
          <a:ext cx="0" cy="0"/>
          <a:chOff x="0" y="0"/>
          <a:chExt cx="0" cy="0"/>
        </a:xfrm>
      </p:grpSpPr>
      <p:sp>
        <p:nvSpPr>
          <p:cNvPr id="6162" name="Google Shape;6162;p10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Closing a TCP connection</a:t>
            </a:r>
            <a:endParaRPr b="0" sz="4400"/>
          </a:p>
        </p:txBody>
      </p:sp>
      <p:sp>
        <p:nvSpPr>
          <p:cNvPr id="6163" name="Google Shape;6163;p108"/>
          <p:cNvSpPr txBox="1"/>
          <p:nvPr/>
        </p:nvSpPr>
        <p:spPr>
          <a:xfrm>
            <a:off x="798690" y="1441263"/>
            <a:ext cx="9698318" cy="41862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client, server each close their side of connection</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TCP segment with FIN bit = 1</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respond to received FIN with ACK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on receiving FIN, ACK can be combined with own FIN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simultaneous FIN exchanges can be handled</a:t>
            </a:r>
            <a:endParaRPr/>
          </a:p>
        </p:txBody>
      </p:sp>
      <p:sp>
        <p:nvSpPr>
          <p:cNvPr id="6164" name="Google Shape;6164;p10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9" name="Shape 6169"/>
        <p:cNvGrpSpPr/>
        <p:nvPr/>
      </p:nvGrpSpPr>
      <p:grpSpPr>
        <a:xfrm>
          <a:off x="0" y="0"/>
          <a:ext cx="0" cy="0"/>
          <a:chOff x="0" y="0"/>
          <a:chExt cx="0" cy="0"/>
        </a:xfrm>
      </p:grpSpPr>
      <p:sp>
        <p:nvSpPr>
          <p:cNvPr id="6170" name="Google Shape;6170;p10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6171" name="Google Shape;6171;p109"/>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SzPts val="3200"/>
              <a:buChar char="▪"/>
            </a:pPr>
            <a:r>
              <a:rPr lang="en-US" sz="3200"/>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6172" name="Google Shape;6172;p10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6173" name="Google Shape;6173;p109"/>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8" name="Shape 6178"/>
        <p:cNvGrpSpPr/>
        <p:nvPr/>
      </p:nvGrpSpPr>
      <p:grpSpPr>
        <a:xfrm>
          <a:off x="0" y="0"/>
          <a:ext cx="0" cy="0"/>
          <a:chOff x="0" y="0"/>
          <a:chExt cx="0" cy="0"/>
        </a:xfrm>
      </p:grpSpPr>
      <p:sp>
        <p:nvSpPr>
          <p:cNvPr id="6179" name="Google Shape;6179;p110"/>
          <p:cNvSpPr txBox="1"/>
          <p:nvPr/>
        </p:nvSpPr>
        <p:spPr>
          <a:xfrm>
            <a:off x="721660" y="1411941"/>
            <a:ext cx="10977282"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Congestion:</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informally: “too many sources sending too much data too fast for </a:t>
            </a:r>
            <a:r>
              <a:rPr b="0" i="1" lang="en-US" sz="2800" u="none" cap="none" strike="noStrike">
                <a:solidFill>
                  <a:srgbClr val="C00000"/>
                </a:solidFill>
                <a:latin typeface="Calibri"/>
                <a:ea typeface="Calibri"/>
                <a:cs typeface="Calibri"/>
                <a:sym typeface="Calibri"/>
              </a:rPr>
              <a:t>network</a:t>
            </a:r>
            <a:r>
              <a:rPr b="0" i="0" lang="en-US" sz="2800" u="none" cap="none" strike="noStrike">
                <a:solidFill>
                  <a:srgbClr val="000000"/>
                </a:solidFill>
                <a:latin typeface="Calibri"/>
                <a:ea typeface="Calibri"/>
                <a:cs typeface="Calibri"/>
                <a:sym typeface="Calibri"/>
              </a:rPr>
              <a:t> to handle”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manifestations: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long delays (queueing in router buffers)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packet loss (buffer overflow at routers)</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6180" name="Google Shape;6180;p110"/>
          <p:cNvSpPr txBox="1"/>
          <p:nvPr/>
        </p:nvSpPr>
        <p:spPr>
          <a:xfrm>
            <a:off x="722672" y="3776599"/>
            <a:ext cx="10977282" cy="1016627"/>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different from flow control!</a:t>
            </a:r>
            <a:endParaRPr/>
          </a:p>
        </p:txBody>
      </p:sp>
      <p:sp>
        <p:nvSpPr>
          <p:cNvPr id="6181" name="Google Shape;6181;p110"/>
          <p:cNvSpPr txBox="1"/>
          <p:nvPr>
            <p:ph type="title"/>
          </p:nvPr>
        </p:nvSpPr>
        <p:spPr>
          <a:xfrm>
            <a:off x="7732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Principles of congestion control</a:t>
            </a:r>
            <a:endParaRPr b="0" sz="4400"/>
          </a:p>
        </p:txBody>
      </p:sp>
      <p:grpSp>
        <p:nvGrpSpPr>
          <p:cNvPr id="6182" name="Google Shape;6182;p110"/>
          <p:cNvGrpSpPr/>
          <p:nvPr/>
        </p:nvGrpSpPr>
        <p:grpSpPr>
          <a:xfrm>
            <a:off x="8686805" y="2737463"/>
            <a:ext cx="2772697" cy="2732213"/>
            <a:chOff x="8878529" y="2737463"/>
            <a:chExt cx="2772697" cy="2732213"/>
          </a:xfrm>
        </p:grpSpPr>
        <p:pic>
          <p:nvPicPr>
            <p:cNvPr descr="Why traffic apps make congestion worse | Berkeley News" id="6183" name="Google Shape;6183;p110"/>
            <p:cNvPicPr preferRelativeResize="0"/>
            <p:nvPr/>
          </p:nvPicPr>
          <p:blipFill rotWithShape="1">
            <a:blip r:embed="rId3">
              <a:alphaModFix/>
            </a:blip>
            <a:srcRect b="0" l="0" r="0" t="0"/>
            <a:stretch/>
          </p:blipFill>
          <p:spPr>
            <a:xfrm>
              <a:off x="8878529" y="2737463"/>
              <a:ext cx="2595716" cy="1730478"/>
            </a:xfrm>
            <a:prstGeom prst="rect">
              <a:avLst/>
            </a:prstGeom>
            <a:noFill/>
            <a:ln>
              <a:noFill/>
            </a:ln>
          </p:spPr>
        </p:pic>
        <p:sp>
          <p:nvSpPr>
            <p:cNvPr id="6184" name="Google Shape;6184;p110"/>
            <p:cNvSpPr txBox="1"/>
            <p:nvPr/>
          </p:nvSpPr>
          <p:spPr>
            <a:xfrm>
              <a:off x="9085007" y="4454013"/>
              <a:ext cx="2566219" cy="10156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congestion control: </a:t>
              </a:r>
              <a:r>
                <a:rPr b="0" i="0" lang="en-US" sz="1800" u="none" cap="none" strike="noStrike">
                  <a:solidFill>
                    <a:srgbClr val="000000"/>
                  </a:solidFill>
                  <a:latin typeface="Calibri"/>
                  <a:ea typeface="Calibri"/>
                  <a:cs typeface="Calibri"/>
                  <a:sym typeface="Calibri"/>
                </a:rPr>
                <a:t>too many senders, sending too fast</a:t>
              </a:r>
              <a:endParaRPr/>
            </a:p>
          </p:txBody>
        </p:sp>
      </p:grpSp>
      <p:grpSp>
        <p:nvGrpSpPr>
          <p:cNvPr id="6185" name="Google Shape;6185;p110"/>
          <p:cNvGrpSpPr/>
          <p:nvPr/>
        </p:nvGrpSpPr>
        <p:grpSpPr>
          <a:xfrm>
            <a:off x="5737126" y="4424520"/>
            <a:ext cx="5860024" cy="1952948"/>
            <a:chOff x="5869858" y="4586748"/>
            <a:chExt cx="5860024" cy="1952948"/>
          </a:xfrm>
        </p:grpSpPr>
        <p:grpSp>
          <p:nvGrpSpPr>
            <p:cNvPr id="6186" name="Google Shape;6186;p110"/>
            <p:cNvGrpSpPr/>
            <p:nvPr/>
          </p:nvGrpSpPr>
          <p:grpSpPr>
            <a:xfrm>
              <a:off x="5869858" y="4586748"/>
              <a:ext cx="2882176" cy="1915023"/>
              <a:chOff x="6998772" y="3064248"/>
              <a:chExt cx="4393223" cy="2995072"/>
            </a:xfrm>
          </p:grpSpPr>
          <p:pic>
            <p:nvPicPr>
              <p:cNvPr descr="Drinking from the Firehose: How VividCortex Compresses its Metrics" id="6187" name="Google Shape;6187;p110"/>
              <p:cNvPicPr preferRelativeResize="0"/>
              <p:nvPr/>
            </p:nvPicPr>
            <p:blipFill rotWithShape="1">
              <a:blip r:embed="rId4">
                <a:alphaModFix/>
              </a:blip>
              <a:srcRect b="0" l="0" r="0" t="0"/>
              <a:stretch/>
            </p:blipFill>
            <p:spPr>
              <a:xfrm>
                <a:off x="8373303" y="4248105"/>
                <a:ext cx="3018692" cy="1811215"/>
              </a:xfrm>
              <a:prstGeom prst="rect">
                <a:avLst/>
              </a:prstGeom>
              <a:noFill/>
              <a:ln>
                <a:noFill/>
              </a:ln>
            </p:spPr>
          </p:pic>
          <p:pic>
            <p:nvPicPr>
              <p:cNvPr descr="Drinking From the Information Firehose" id="6188" name="Google Shape;6188;p110"/>
              <p:cNvPicPr preferRelativeResize="0"/>
              <p:nvPr/>
            </p:nvPicPr>
            <p:blipFill rotWithShape="1">
              <a:blip r:embed="rId5">
                <a:alphaModFix/>
              </a:blip>
              <a:srcRect b="0" l="0" r="0" t="0"/>
              <a:stretch/>
            </p:blipFill>
            <p:spPr>
              <a:xfrm>
                <a:off x="6998772" y="3064248"/>
                <a:ext cx="2699594" cy="1781732"/>
              </a:xfrm>
              <a:prstGeom prst="rect">
                <a:avLst/>
              </a:prstGeom>
              <a:noFill/>
              <a:ln>
                <a:noFill/>
              </a:ln>
            </p:spPr>
          </p:pic>
        </p:grpSp>
        <p:sp>
          <p:nvSpPr>
            <p:cNvPr id="6189" name="Google Shape;6189;p110"/>
            <p:cNvSpPr txBox="1"/>
            <p:nvPr/>
          </p:nvSpPr>
          <p:spPr>
            <a:xfrm>
              <a:off x="8794953" y="5801032"/>
              <a:ext cx="293492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flow control: </a:t>
              </a:r>
              <a:r>
                <a:rPr b="0" i="0" lang="en-US" sz="1800" u="none" cap="none" strike="noStrike">
                  <a:solidFill>
                    <a:srgbClr val="000000"/>
                  </a:solidFill>
                  <a:latin typeface="Calibri"/>
                  <a:ea typeface="Calibri"/>
                  <a:cs typeface="Calibri"/>
                  <a:sym typeface="Calibri"/>
                </a:rPr>
                <a:t>one sender too fast for one receiver</a:t>
              </a:r>
              <a:endParaRPr/>
            </a:p>
          </p:txBody>
        </p:sp>
      </p:grpSp>
      <p:sp>
        <p:nvSpPr>
          <p:cNvPr id="6190" name="Google Shape;6190;p110"/>
          <p:cNvSpPr txBox="1"/>
          <p:nvPr/>
        </p:nvSpPr>
        <p:spPr>
          <a:xfrm>
            <a:off x="727588" y="4852219"/>
            <a:ext cx="4758812" cy="580102"/>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a top-10 problem!</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6191" name="Google Shape;6191;p1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0"/>
                                        </p:tgtEl>
                                        <p:attrNameLst>
                                          <p:attrName>style.visibility</p:attrName>
                                        </p:attrNameLst>
                                      </p:cBhvr>
                                      <p:to>
                                        <p:strVal val="visible"/>
                                      </p:to>
                                    </p:set>
                                    <p:animEffect filter="fade" transition="in">
                                      <p:cBhvr>
                                        <p:cTn dur="500"/>
                                        <p:tgtEl>
                                          <p:spTgt spid="6180"/>
                                        </p:tgtEl>
                                      </p:cBhvr>
                                    </p:animEffect>
                                  </p:childTnLst>
                                </p:cTn>
                              </p:par>
                              <p:par>
                                <p:cTn fill="hold" nodeType="withEffect" presetClass="entr" presetID="10" presetSubtype="0">
                                  <p:stCondLst>
                                    <p:cond delay="0"/>
                                  </p:stCondLst>
                                  <p:childTnLst>
                                    <p:set>
                                      <p:cBhvr>
                                        <p:cTn dur="1" fill="hold">
                                          <p:stCondLst>
                                            <p:cond delay="0"/>
                                          </p:stCondLst>
                                        </p:cTn>
                                        <p:tgtEl>
                                          <p:spTgt spid="6185"/>
                                        </p:tgtEl>
                                        <p:attrNameLst>
                                          <p:attrName>style.visibility</p:attrName>
                                        </p:attrNameLst>
                                      </p:cBhvr>
                                      <p:to>
                                        <p:strVal val="visible"/>
                                      </p:to>
                                    </p:set>
                                    <p:animEffect filter="fade" transition="in">
                                      <p:cBhvr>
                                        <p:cTn dur="500"/>
                                        <p:tgtEl>
                                          <p:spTgt spid="6185"/>
                                        </p:tgtEl>
                                      </p:cBhvr>
                                    </p:animEffect>
                                  </p:childTnLst>
                                </p:cTn>
                              </p:par>
                              <p:par>
                                <p:cTn fill="hold" nodeType="withEffect" presetClass="entr" presetID="10" presetSubtype="0">
                                  <p:stCondLst>
                                    <p:cond delay="0"/>
                                  </p:stCondLst>
                                  <p:childTnLst>
                                    <p:set>
                                      <p:cBhvr>
                                        <p:cTn dur="1" fill="hold">
                                          <p:stCondLst>
                                            <p:cond delay="0"/>
                                          </p:stCondLst>
                                        </p:cTn>
                                        <p:tgtEl>
                                          <p:spTgt spid="6190"/>
                                        </p:tgtEl>
                                        <p:attrNameLst>
                                          <p:attrName>style.visibility</p:attrName>
                                        </p:attrNameLst>
                                      </p:cBhvr>
                                      <p:to>
                                        <p:strVal val="visible"/>
                                      </p:to>
                                    </p:set>
                                    <p:animEffect filter="fade" transition="in">
                                      <p:cBhvr>
                                        <p:cTn dur="500"/>
                                        <p:tgtEl>
                                          <p:spTgt spid="6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6" name="Shape 6196"/>
        <p:cNvGrpSpPr/>
        <p:nvPr/>
      </p:nvGrpSpPr>
      <p:grpSpPr>
        <a:xfrm>
          <a:off x="0" y="0"/>
          <a:ext cx="0" cy="0"/>
          <a:chOff x="0" y="0"/>
          <a:chExt cx="0" cy="0"/>
        </a:xfrm>
      </p:grpSpPr>
      <p:sp>
        <p:nvSpPr>
          <p:cNvPr id="6197" name="Google Shape;6197;p111"/>
          <p:cNvSpPr/>
          <p:nvPr/>
        </p:nvSpPr>
        <p:spPr>
          <a:xfrm>
            <a:off x="10005476" y="2888415"/>
            <a:ext cx="250825" cy="9302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98" name="Google Shape;6198;p111"/>
          <p:cNvGrpSpPr/>
          <p:nvPr/>
        </p:nvGrpSpPr>
        <p:grpSpPr>
          <a:xfrm>
            <a:off x="9424984" y="2862877"/>
            <a:ext cx="586768" cy="904023"/>
            <a:chOff x="10910965" y="2513124"/>
            <a:chExt cx="586768" cy="904023"/>
          </a:xfrm>
        </p:grpSpPr>
        <p:sp>
          <p:nvSpPr>
            <p:cNvPr id="6199" name="Google Shape;6199;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00" name="Google Shape;6200;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1" name="Google Shape;6201;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2" name="Google Shape;6202;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3" name="Google Shape;6203;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204" name="Google Shape;6204;p111"/>
          <p:cNvSpPr/>
          <p:nvPr/>
        </p:nvSpPr>
        <p:spPr>
          <a:xfrm flipH="1">
            <a:off x="5851590" y="1746530"/>
            <a:ext cx="430143" cy="90046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05" name="Google Shape;6205;p111"/>
          <p:cNvGrpSpPr/>
          <p:nvPr/>
        </p:nvGrpSpPr>
        <p:grpSpPr>
          <a:xfrm>
            <a:off x="5390758" y="2639189"/>
            <a:ext cx="586768" cy="904023"/>
            <a:chOff x="10910965" y="2513124"/>
            <a:chExt cx="586768" cy="904023"/>
          </a:xfrm>
        </p:grpSpPr>
        <p:sp>
          <p:nvSpPr>
            <p:cNvPr id="6206" name="Google Shape;6206;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07" name="Google Shape;6207;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8" name="Google Shape;6208;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09" name="Google Shape;6209;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0" name="Google Shape;6210;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211" name="Google Shape;6211;p111"/>
          <p:cNvGrpSpPr/>
          <p:nvPr/>
        </p:nvGrpSpPr>
        <p:grpSpPr>
          <a:xfrm>
            <a:off x="6267058" y="1750697"/>
            <a:ext cx="586768" cy="904023"/>
            <a:chOff x="10910965" y="2513124"/>
            <a:chExt cx="586768" cy="904023"/>
          </a:xfrm>
        </p:grpSpPr>
        <p:sp>
          <p:nvSpPr>
            <p:cNvPr id="6212" name="Google Shape;6212;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13" name="Google Shape;6213;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4" name="Google Shape;6214;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5" name="Google Shape;6215;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16" name="Google Shape;6216;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217" name="Google Shape;6217;p111"/>
          <p:cNvSpPr/>
          <p:nvPr/>
        </p:nvSpPr>
        <p:spPr>
          <a:xfrm>
            <a:off x="10381714" y="1887018"/>
            <a:ext cx="250825" cy="9302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18" name="Google Shape;6218;p111"/>
          <p:cNvGrpSpPr/>
          <p:nvPr/>
        </p:nvGrpSpPr>
        <p:grpSpPr>
          <a:xfrm>
            <a:off x="9803525" y="1862884"/>
            <a:ext cx="586768" cy="904023"/>
            <a:chOff x="10910965" y="2513124"/>
            <a:chExt cx="586768" cy="904023"/>
          </a:xfrm>
        </p:grpSpPr>
        <p:sp>
          <p:nvSpPr>
            <p:cNvPr id="6219" name="Google Shape;6219;p111"/>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20" name="Google Shape;6220;p111"/>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21" name="Google Shape;6221;p111"/>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22" name="Google Shape;6222;p111"/>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223" name="Google Shape;6223;p111"/>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224" name="Google Shape;6224;p111"/>
          <p:cNvGrpSpPr/>
          <p:nvPr/>
        </p:nvGrpSpPr>
        <p:grpSpPr>
          <a:xfrm>
            <a:off x="7419579" y="2906627"/>
            <a:ext cx="1047677" cy="561649"/>
            <a:chOff x="7493876" y="2774731"/>
            <a:chExt cx="1481958" cy="894622"/>
          </a:xfrm>
        </p:grpSpPr>
        <p:sp>
          <p:nvSpPr>
            <p:cNvPr id="6225" name="Google Shape;6225;p1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226" name="Google Shape;6226;p1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227" name="Google Shape;6227;p111"/>
            <p:cNvGrpSpPr/>
            <p:nvPr/>
          </p:nvGrpSpPr>
          <p:grpSpPr>
            <a:xfrm>
              <a:off x="7713663" y="2848339"/>
              <a:ext cx="1042107" cy="425543"/>
              <a:chOff x="7786941" y="2884917"/>
              <a:chExt cx="897649" cy="353919"/>
            </a:xfrm>
          </p:grpSpPr>
          <p:sp>
            <p:nvSpPr>
              <p:cNvPr id="6228" name="Google Shape;6228;p1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29" name="Google Shape;6229;p1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30" name="Google Shape;6230;p1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31" name="Google Shape;6231;p1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232" name="Google Shape;6232;p111"/>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1 </a:t>
            </a:r>
            <a:endParaRPr b="0" sz="4400"/>
          </a:p>
        </p:txBody>
      </p:sp>
      <p:grpSp>
        <p:nvGrpSpPr>
          <p:cNvPr id="6233" name="Google Shape;6233;p111"/>
          <p:cNvGrpSpPr/>
          <p:nvPr/>
        </p:nvGrpSpPr>
        <p:grpSpPr>
          <a:xfrm>
            <a:off x="5422300" y="2022783"/>
            <a:ext cx="525463" cy="434975"/>
            <a:chOff x="-44" y="1473"/>
            <a:chExt cx="981" cy="1105"/>
          </a:xfrm>
        </p:grpSpPr>
        <p:pic>
          <p:nvPicPr>
            <p:cNvPr descr="desktop_computer_stylized_medium" id="6234" name="Google Shape;6234;p1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35" name="Google Shape;6235;p1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36" name="Google Shape;6236;p111"/>
          <p:cNvSpPr/>
          <p:nvPr/>
        </p:nvSpPr>
        <p:spPr>
          <a:xfrm flipH="1">
            <a:off x="5146139" y="2637590"/>
            <a:ext cx="250825" cy="9302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37" name="Google Shape;6237;p111"/>
          <p:cNvSpPr txBox="1"/>
          <p:nvPr/>
        </p:nvSpPr>
        <p:spPr>
          <a:xfrm>
            <a:off x="774261" y="1490147"/>
            <a:ext cx="3792183" cy="36815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000000"/>
                </a:solidFill>
                <a:latin typeface="Calibri"/>
                <a:ea typeface="Calibri"/>
                <a:cs typeface="Calibri"/>
                <a:sym typeface="Calibri"/>
              </a:rPr>
              <a:t>Simplest scenario:</a:t>
            </a:r>
            <a:endParaRPr/>
          </a:p>
          <a:p>
            <a:pPr indent="0" lvl="0" marL="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6238" name="Google Shape;6238;p111"/>
          <p:cNvSpPr txBox="1"/>
          <p:nvPr/>
        </p:nvSpPr>
        <p:spPr>
          <a:xfrm>
            <a:off x="4868327" y="5950805"/>
            <a:ext cx="3297237" cy="7842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00"/>
              <a:buFont typeface="Noto Sans Symbols"/>
              <a:buNone/>
            </a:pPr>
            <a:r>
              <a:rPr b="0" i="0" lang="en-US" sz="1800" u="none" cap="none" strike="noStrike">
                <a:solidFill>
                  <a:srgbClr val="000000"/>
                </a:solidFill>
                <a:latin typeface="Calibri"/>
                <a:ea typeface="Calibri"/>
                <a:cs typeface="Calibri"/>
                <a:sym typeface="Calibri"/>
              </a:rPr>
              <a:t>maximum per-connection throughput: R/2</a:t>
            </a:r>
            <a:endParaRPr/>
          </a:p>
        </p:txBody>
      </p:sp>
      <p:cxnSp>
        <p:nvCxnSpPr>
          <p:cNvPr id="6239" name="Google Shape;6239;p111"/>
          <p:cNvCxnSpPr/>
          <p:nvPr/>
        </p:nvCxnSpPr>
        <p:spPr>
          <a:xfrm flipH="1">
            <a:off x="6308189" y="2770940"/>
            <a:ext cx="923925" cy="866775"/>
          </a:xfrm>
          <a:prstGeom prst="straightConnector1">
            <a:avLst/>
          </a:prstGeom>
          <a:noFill/>
          <a:ln cap="flat" cmpd="sng" w="9525">
            <a:solidFill>
              <a:srgbClr val="000000"/>
            </a:solidFill>
            <a:prstDash val="solid"/>
            <a:round/>
            <a:headEnd len="med" w="med" type="none"/>
            <a:tailEnd len="med" w="med" type="none"/>
          </a:ln>
        </p:spPr>
      </p:cxnSp>
      <p:sp>
        <p:nvSpPr>
          <p:cNvPr id="6240" name="Google Shape;6240;p111"/>
          <p:cNvSpPr txBox="1"/>
          <p:nvPr/>
        </p:nvSpPr>
        <p:spPr>
          <a:xfrm>
            <a:off x="5236024" y="1757366"/>
            <a:ext cx="913861" cy="2428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241" name="Google Shape;6241;p111"/>
          <p:cNvSpPr txBox="1"/>
          <p:nvPr/>
        </p:nvSpPr>
        <p:spPr>
          <a:xfrm>
            <a:off x="5231806" y="3686015"/>
            <a:ext cx="799129" cy="2428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242" name="Google Shape;6242;p111"/>
          <p:cNvCxnSpPr/>
          <p:nvPr/>
        </p:nvCxnSpPr>
        <p:spPr>
          <a:xfrm rot="10800000">
            <a:off x="6793964" y="3170990"/>
            <a:ext cx="609600" cy="0"/>
          </a:xfrm>
          <a:prstGeom prst="straightConnector1">
            <a:avLst/>
          </a:prstGeom>
          <a:noFill/>
          <a:ln cap="flat" cmpd="sng" w="9525">
            <a:solidFill>
              <a:srgbClr val="000000"/>
            </a:solidFill>
            <a:prstDash val="solid"/>
            <a:round/>
            <a:headEnd len="med" w="med" type="none"/>
            <a:tailEnd len="med" w="med" type="none"/>
          </a:ln>
        </p:spPr>
      </p:cxnSp>
      <p:cxnSp>
        <p:nvCxnSpPr>
          <p:cNvPr id="6243" name="Google Shape;6243;p111"/>
          <p:cNvCxnSpPr/>
          <p:nvPr/>
        </p:nvCxnSpPr>
        <p:spPr>
          <a:xfrm rot="10800000">
            <a:off x="8413214" y="3170990"/>
            <a:ext cx="609600" cy="0"/>
          </a:xfrm>
          <a:prstGeom prst="straightConnector1">
            <a:avLst/>
          </a:prstGeom>
          <a:noFill/>
          <a:ln cap="flat" cmpd="sng" w="9525">
            <a:solidFill>
              <a:srgbClr val="000000"/>
            </a:solidFill>
            <a:prstDash val="solid"/>
            <a:round/>
            <a:headEnd len="med" w="med" type="none"/>
            <a:tailEnd len="med" w="med" type="none"/>
          </a:ln>
        </p:spPr>
      </p:cxnSp>
      <p:cxnSp>
        <p:nvCxnSpPr>
          <p:cNvPr id="6244" name="Google Shape;6244;p111"/>
          <p:cNvCxnSpPr/>
          <p:nvPr/>
        </p:nvCxnSpPr>
        <p:spPr>
          <a:xfrm flipH="1">
            <a:off x="8537039" y="2770940"/>
            <a:ext cx="923925" cy="866775"/>
          </a:xfrm>
          <a:prstGeom prst="straightConnector1">
            <a:avLst/>
          </a:prstGeom>
          <a:noFill/>
          <a:ln cap="flat" cmpd="sng" w="9525">
            <a:solidFill>
              <a:srgbClr val="000000"/>
            </a:solidFill>
            <a:prstDash val="solid"/>
            <a:round/>
            <a:headEnd len="med" w="med" type="none"/>
            <a:tailEnd len="med" w="med" type="none"/>
          </a:ln>
        </p:spPr>
      </p:cxnSp>
      <p:cxnSp>
        <p:nvCxnSpPr>
          <p:cNvPr id="6245" name="Google Shape;6245;p111"/>
          <p:cNvCxnSpPr/>
          <p:nvPr/>
        </p:nvCxnSpPr>
        <p:spPr>
          <a:xfrm rot="10800000">
            <a:off x="9458935" y="2771087"/>
            <a:ext cx="439738" cy="0"/>
          </a:xfrm>
          <a:prstGeom prst="straightConnector1">
            <a:avLst/>
          </a:prstGeom>
          <a:noFill/>
          <a:ln cap="flat" cmpd="sng" w="9525">
            <a:solidFill>
              <a:srgbClr val="000000"/>
            </a:solidFill>
            <a:prstDash val="solid"/>
            <a:round/>
            <a:headEnd len="med" w="med" type="none"/>
            <a:tailEnd len="med" w="med" type="none"/>
          </a:ln>
        </p:spPr>
      </p:cxnSp>
      <p:grpSp>
        <p:nvGrpSpPr>
          <p:cNvPr id="6246" name="Google Shape;6246;p111"/>
          <p:cNvGrpSpPr/>
          <p:nvPr/>
        </p:nvGrpSpPr>
        <p:grpSpPr>
          <a:xfrm>
            <a:off x="8616414" y="1265990"/>
            <a:ext cx="1790700" cy="707189"/>
            <a:chOff x="8616414" y="1265990"/>
            <a:chExt cx="1790700" cy="707189"/>
          </a:xfrm>
        </p:grpSpPr>
        <p:sp>
          <p:nvSpPr>
            <p:cNvPr id="6247" name="Google Shape;6247;p111"/>
            <p:cNvSpPr txBox="1"/>
            <p:nvPr/>
          </p:nvSpPr>
          <p:spPr>
            <a:xfrm>
              <a:off x="8616414" y="1265990"/>
              <a:ext cx="1790700"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throughput:</a:t>
              </a:r>
              <a:r>
                <a:rPr b="0" i="0" lang="en-US" sz="2400" u="none" cap="none" strike="noStrike">
                  <a:solidFill>
                    <a:srgbClr val="FF0000"/>
                  </a:solidFill>
                  <a:latin typeface="Noto Sans Symbols"/>
                  <a:ea typeface="Noto Sans Symbols"/>
                  <a:cs typeface="Noto Sans Symbols"/>
                  <a:sym typeface="Noto Sans Symbols"/>
                </a:rPr>
                <a:t>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Arial"/>
                  <a:ea typeface="Arial"/>
                  <a:cs typeface="Arial"/>
                  <a:sym typeface="Arial"/>
                </a:rPr>
                <a:t>out</a:t>
              </a:r>
              <a:endParaRPr b="0" i="0" sz="2400" u="none" cap="none" strike="noStrike">
                <a:solidFill>
                  <a:srgbClr val="CC0000"/>
                </a:solidFill>
                <a:latin typeface="Comic Sans MS"/>
                <a:ea typeface="Comic Sans MS"/>
                <a:cs typeface="Comic Sans MS"/>
                <a:sym typeface="Comic Sans MS"/>
              </a:endParaRPr>
            </a:p>
          </p:txBody>
        </p:sp>
        <p:cxnSp>
          <p:nvCxnSpPr>
            <p:cNvPr id="6248" name="Google Shape;6248;p111"/>
            <p:cNvCxnSpPr/>
            <p:nvPr/>
          </p:nvCxnSpPr>
          <p:spPr>
            <a:xfrm>
              <a:off x="9460964" y="1675565"/>
              <a:ext cx="549310" cy="297614"/>
            </a:xfrm>
            <a:prstGeom prst="straightConnector1">
              <a:avLst/>
            </a:prstGeom>
            <a:noFill/>
            <a:ln cap="flat" cmpd="sng" w="9525">
              <a:solidFill>
                <a:srgbClr val="000000"/>
              </a:solidFill>
              <a:prstDash val="solid"/>
              <a:round/>
              <a:headEnd len="med" w="med" type="none"/>
              <a:tailEnd len="med" w="med" type="triangle"/>
            </a:ln>
          </p:spPr>
        </p:cxnSp>
      </p:grpSp>
      <p:sp>
        <p:nvSpPr>
          <p:cNvPr id="6249" name="Google Shape;6249;p111"/>
          <p:cNvSpPr/>
          <p:nvPr/>
        </p:nvSpPr>
        <p:spPr>
          <a:xfrm>
            <a:off x="8102651" y="5953953"/>
            <a:ext cx="2605247" cy="7842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170"/>
              <a:buFont typeface="Calibri"/>
              <a:buNone/>
            </a:pPr>
            <a:r>
              <a:rPr b="0" i="0" lang="en-US" sz="1800" u="none" cap="none" strike="noStrike">
                <a:solidFill>
                  <a:srgbClr val="000000"/>
                </a:solidFill>
                <a:latin typeface="Calibri"/>
                <a:ea typeface="Calibri"/>
                <a:cs typeface="Calibri"/>
                <a:sym typeface="Calibri"/>
              </a:rPr>
              <a:t>large delays as arrival rate </a:t>
            </a:r>
            <a:r>
              <a:rPr b="0" i="0" lang="en-US" sz="1800" u="none" cap="none" strike="noStrike">
                <a:solidFill>
                  <a:srgbClr val="000000"/>
                </a:solidFill>
                <a:latin typeface="Noto Sans Symbols"/>
                <a:ea typeface="Noto Sans Symbols"/>
                <a:cs typeface="Noto Sans Symbols"/>
                <a:sym typeface="Noto Sans Symbols"/>
              </a:rPr>
              <a:t>λ</a:t>
            </a:r>
            <a:r>
              <a:rPr b="0" baseline="-25000" i="0" lang="en-US" sz="1800" u="none" cap="none" strike="noStrike">
                <a:solidFill>
                  <a:srgbClr val="000000"/>
                </a:solidFill>
                <a:latin typeface="Gill Sans"/>
                <a:ea typeface="Gill Sans"/>
                <a:cs typeface="Gill Sans"/>
                <a:sym typeface="Gill Sans"/>
              </a:rPr>
              <a:t>in</a:t>
            </a:r>
            <a:r>
              <a:rPr b="0" i="0" lang="en-US" sz="1800" u="none" cap="none" strike="noStrike">
                <a:solidFill>
                  <a:srgbClr val="000000"/>
                </a:solidFill>
                <a:latin typeface="Gill Sans"/>
                <a:ea typeface="Gill Sans"/>
                <a:cs typeface="Gill Sans"/>
                <a:sym typeface="Gill Sans"/>
              </a:rPr>
              <a:t> </a:t>
            </a:r>
            <a:r>
              <a:rPr b="0" i="0" lang="en-US" sz="1800" u="none" cap="none" strike="noStrike">
                <a:solidFill>
                  <a:srgbClr val="000000"/>
                </a:solidFill>
                <a:latin typeface="Calibri"/>
                <a:ea typeface="Calibri"/>
                <a:cs typeface="Calibri"/>
                <a:sym typeface="Calibri"/>
              </a:rPr>
              <a:t>approaches capacity</a:t>
            </a:r>
            <a:endParaRPr/>
          </a:p>
        </p:txBody>
      </p:sp>
      <p:grpSp>
        <p:nvGrpSpPr>
          <p:cNvPr id="6250" name="Google Shape;6250;p111"/>
          <p:cNvGrpSpPr/>
          <p:nvPr/>
        </p:nvGrpSpPr>
        <p:grpSpPr>
          <a:xfrm>
            <a:off x="10481726" y="2478840"/>
            <a:ext cx="231775" cy="441325"/>
            <a:chOff x="4140" y="429"/>
            <a:chExt cx="1425" cy="2396"/>
          </a:xfrm>
        </p:grpSpPr>
        <p:sp>
          <p:nvSpPr>
            <p:cNvPr id="6251" name="Google Shape;6251;p1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2" name="Google Shape;6252;p111"/>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3" name="Google Shape;6253;p1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4" name="Google Shape;6254;p1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5" name="Google Shape;6255;p111"/>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56" name="Google Shape;6256;p111"/>
            <p:cNvGrpSpPr/>
            <p:nvPr/>
          </p:nvGrpSpPr>
          <p:grpSpPr>
            <a:xfrm>
              <a:off x="4745" y="670"/>
              <a:ext cx="586" cy="146"/>
              <a:chOff x="609" y="2570"/>
              <a:chExt cx="731" cy="140"/>
            </a:xfrm>
          </p:grpSpPr>
          <p:sp>
            <p:nvSpPr>
              <p:cNvPr id="6257" name="Google Shape;6257;p111"/>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8" name="Google Shape;6258;p111"/>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59" name="Google Shape;6259;p111"/>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60" name="Google Shape;6260;p111"/>
            <p:cNvGrpSpPr/>
            <p:nvPr/>
          </p:nvGrpSpPr>
          <p:grpSpPr>
            <a:xfrm>
              <a:off x="4745" y="998"/>
              <a:ext cx="586" cy="129"/>
              <a:chOff x="612" y="2572"/>
              <a:chExt cx="731" cy="134"/>
            </a:xfrm>
          </p:grpSpPr>
          <p:sp>
            <p:nvSpPr>
              <p:cNvPr id="6261" name="Google Shape;6261;p111"/>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2" name="Google Shape;6262;p111"/>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63" name="Google Shape;6263;p111"/>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4" name="Google Shape;6264;p111"/>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65" name="Google Shape;6265;p111"/>
            <p:cNvGrpSpPr/>
            <p:nvPr/>
          </p:nvGrpSpPr>
          <p:grpSpPr>
            <a:xfrm>
              <a:off x="4735" y="1627"/>
              <a:ext cx="586" cy="215"/>
              <a:chOff x="614" y="2568"/>
              <a:chExt cx="730" cy="198"/>
            </a:xfrm>
          </p:grpSpPr>
          <p:sp>
            <p:nvSpPr>
              <p:cNvPr id="6266" name="Google Shape;6266;p111"/>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7" name="Google Shape;6267;p111"/>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68" name="Google Shape;6268;p1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69" name="Google Shape;6269;p111"/>
            <p:cNvGrpSpPr/>
            <p:nvPr/>
          </p:nvGrpSpPr>
          <p:grpSpPr>
            <a:xfrm>
              <a:off x="4735" y="1325"/>
              <a:ext cx="586" cy="138"/>
              <a:chOff x="609" y="2566"/>
              <a:chExt cx="730" cy="138"/>
            </a:xfrm>
          </p:grpSpPr>
          <p:sp>
            <p:nvSpPr>
              <p:cNvPr id="6270" name="Google Shape;6270;p111"/>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1" name="Google Shape;6271;p111"/>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72" name="Google Shape;6272;p111"/>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3" name="Google Shape;6273;p1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4" name="Google Shape;6274;p1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5" name="Google Shape;6275;p111"/>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6" name="Google Shape;6276;p1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7" name="Google Shape;6277;p11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8" name="Google Shape;6278;p111"/>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9" name="Google Shape;6279;p111"/>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0" name="Google Shape;6280;p111"/>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281" name="Google Shape;6281;p111"/>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2" name="Google Shape;6282;p111"/>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283" name="Google Shape;6283;p111"/>
          <p:cNvGrpSpPr/>
          <p:nvPr/>
        </p:nvGrpSpPr>
        <p:grpSpPr>
          <a:xfrm>
            <a:off x="4826257" y="3381692"/>
            <a:ext cx="525463" cy="434975"/>
            <a:chOff x="-44" y="1473"/>
            <a:chExt cx="981" cy="1105"/>
          </a:xfrm>
        </p:grpSpPr>
        <p:pic>
          <p:nvPicPr>
            <p:cNvPr descr="desktop_computer_stylized_medium" id="6284" name="Google Shape;6284;p1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85" name="Google Shape;6285;p1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286" name="Google Shape;6286;p111"/>
          <p:cNvGrpSpPr/>
          <p:nvPr/>
        </p:nvGrpSpPr>
        <p:grpSpPr>
          <a:xfrm>
            <a:off x="10164226" y="3444040"/>
            <a:ext cx="231775" cy="441325"/>
            <a:chOff x="4140" y="429"/>
            <a:chExt cx="1425" cy="2396"/>
          </a:xfrm>
        </p:grpSpPr>
        <p:sp>
          <p:nvSpPr>
            <p:cNvPr id="6287" name="Google Shape;6287;p1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8" name="Google Shape;6288;p111"/>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9" name="Google Shape;6289;p1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0" name="Google Shape;6290;p1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1" name="Google Shape;6291;p111"/>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92" name="Google Shape;6292;p111"/>
            <p:cNvGrpSpPr/>
            <p:nvPr/>
          </p:nvGrpSpPr>
          <p:grpSpPr>
            <a:xfrm>
              <a:off x="4745" y="670"/>
              <a:ext cx="586" cy="146"/>
              <a:chOff x="609" y="2570"/>
              <a:chExt cx="731" cy="140"/>
            </a:xfrm>
          </p:grpSpPr>
          <p:sp>
            <p:nvSpPr>
              <p:cNvPr id="6293" name="Google Shape;6293;p111"/>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4" name="Google Shape;6294;p111"/>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95" name="Google Shape;6295;p111"/>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96" name="Google Shape;6296;p111"/>
            <p:cNvGrpSpPr/>
            <p:nvPr/>
          </p:nvGrpSpPr>
          <p:grpSpPr>
            <a:xfrm>
              <a:off x="4745" y="998"/>
              <a:ext cx="586" cy="129"/>
              <a:chOff x="612" y="2572"/>
              <a:chExt cx="731" cy="134"/>
            </a:xfrm>
          </p:grpSpPr>
          <p:sp>
            <p:nvSpPr>
              <p:cNvPr id="6297" name="Google Shape;6297;p111"/>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8" name="Google Shape;6298;p111"/>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99" name="Google Shape;6299;p111"/>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0" name="Google Shape;6300;p111"/>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01" name="Google Shape;6301;p111"/>
            <p:cNvGrpSpPr/>
            <p:nvPr/>
          </p:nvGrpSpPr>
          <p:grpSpPr>
            <a:xfrm>
              <a:off x="4735" y="1627"/>
              <a:ext cx="586" cy="215"/>
              <a:chOff x="614" y="2568"/>
              <a:chExt cx="730" cy="198"/>
            </a:xfrm>
          </p:grpSpPr>
          <p:sp>
            <p:nvSpPr>
              <p:cNvPr id="6302" name="Google Shape;6302;p111"/>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3" name="Google Shape;6303;p111"/>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04" name="Google Shape;6304;p1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05" name="Google Shape;6305;p111"/>
            <p:cNvGrpSpPr/>
            <p:nvPr/>
          </p:nvGrpSpPr>
          <p:grpSpPr>
            <a:xfrm>
              <a:off x="4735" y="1325"/>
              <a:ext cx="586" cy="138"/>
              <a:chOff x="609" y="2566"/>
              <a:chExt cx="730" cy="138"/>
            </a:xfrm>
          </p:grpSpPr>
          <p:sp>
            <p:nvSpPr>
              <p:cNvPr id="6306" name="Google Shape;6306;p111"/>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7" name="Google Shape;6307;p111"/>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08" name="Google Shape;6308;p111"/>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9" name="Google Shape;6309;p1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0" name="Google Shape;6310;p1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1" name="Google Shape;6311;p111"/>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2" name="Google Shape;6312;p1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3" name="Google Shape;6313;p11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4" name="Google Shape;6314;p111"/>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5" name="Google Shape;6315;p111"/>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6" name="Google Shape;6316;p111"/>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317" name="Google Shape;6317;p111"/>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8" name="Google Shape;6318;p111"/>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19" name="Google Shape;6319;p111"/>
          <p:cNvSpPr txBox="1"/>
          <p:nvPr/>
        </p:nvSpPr>
        <p:spPr>
          <a:xfrm>
            <a:off x="774261" y="4402394"/>
            <a:ext cx="3172735" cy="1255728"/>
          </a:xfrm>
          <a:prstGeom prst="rect">
            <a:avLst/>
          </a:prstGeom>
          <a:noFill/>
          <a:ln>
            <a:noFill/>
          </a:ln>
        </p:spPr>
        <p:txBody>
          <a:bodyPr anchorCtr="0" anchor="t" bIns="45700" lIns="91425" spcFirstLastPara="1" rIns="91425" wrap="square" tIns="45700">
            <a:spAutoFit/>
          </a:bodyPr>
          <a:lstStyle/>
          <a:p>
            <a:pPr indent="-400050" lvl="0" marL="400050" marR="0" rtl="0" algn="l">
              <a:lnSpc>
                <a:spcPct val="9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Q: </a:t>
            </a:r>
            <a:r>
              <a:rPr b="0" i="0" lang="en-US" sz="2800" u="none" cap="none" strike="noStrike">
                <a:solidFill>
                  <a:srgbClr val="000000"/>
                </a:solidFill>
                <a:latin typeface="Calibri"/>
                <a:ea typeface="Calibri"/>
                <a:cs typeface="Calibri"/>
                <a:sym typeface="Calibri"/>
              </a:rPr>
              <a:t>What happens as arrival rate </a:t>
            </a:r>
            <a:r>
              <a:rPr b="0" i="1" lang="en-US" sz="2800" u="none" cap="none" strike="noStrike">
                <a:solidFill>
                  <a:srgbClr val="C00000"/>
                </a:solidFill>
                <a:latin typeface="Noto Sans Symbols"/>
                <a:ea typeface="Noto Sans Symbols"/>
                <a:cs typeface="Noto Sans Symbols"/>
                <a:sym typeface="Noto Sans Symbols"/>
              </a:rPr>
              <a:t>λ</a:t>
            </a:r>
            <a:r>
              <a:rPr b="0" baseline="-25000" i="0" lang="en-US" sz="2800" u="none" cap="none" strike="noStrike">
                <a:solidFill>
                  <a:srgbClr val="C00000"/>
                </a:solidFill>
                <a:latin typeface="Calibri"/>
                <a:ea typeface="Calibri"/>
                <a:cs typeface="Calibri"/>
                <a:sym typeface="Calibri"/>
              </a:rPr>
              <a:t>in</a:t>
            </a:r>
            <a:r>
              <a:rPr b="0" i="1" lang="en-US" sz="2800" u="none" cap="none" strike="noStrike">
                <a:solidFill>
                  <a:srgbClr val="C00000"/>
                </a:solidFill>
                <a:latin typeface="Gill Sans"/>
                <a:ea typeface="Gill Sans"/>
                <a:cs typeface="Gill Sans"/>
                <a:sym typeface="Gill Sans"/>
              </a:rPr>
              <a:t> </a:t>
            </a:r>
            <a:r>
              <a:rPr b="0" i="0" lang="en-US" sz="2800" u="none" cap="none" strike="noStrike">
                <a:solidFill>
                  <a:srgbClr val="000000"/>
                </a:solidFill>
                <a:latin typeface="Calibri"/>
                <a:ea typeface="Calibri"/>
                <a:cs typeface="Calibri"/>
                <a:sym typeface="Calibri"/>
              </a:rPr>
              <a:t>approaches R/2? </a:t>
            </a:r>
            <a:endParaRPr/>
          </a:p>
        </p:txBody>
      </p:sp>
      <p:grpSp>
        <p:nvGrpSpPr>
          <p:cNvPr id="6320" name="Google Shape;6320;p111"/>
          <p:cNvGrpSpPr/>
          <p:nvPr/>
        </p:nvGrpSpPr>
        <p:grpSpPr>
          <a:xfrm>
            <a:off x="4818031" y="1175178"/>
            <a:ext cx="2132013" cy="724224"/>
            <a:chOff x="4818031" y="1175178"/>
            <a:chExt cx="2132013" cy="724224"/>
          </a:xfrm>
        </p:grpSpPr>
        <p:sp>
          <p:nvSpPr>
            <p:cNvPr id="6321" name="Google Shape;6321;p111"/>
            <p:cNvSpPr/>
            <p:nvPr/>
          </p:nvSpPr>
          <p:spPr>
            <a:xfrm>
              <a:off x="6584414" y="1808915"/>
              <a:ext cx="92075" cy="904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322" name="Google Shape;6322;p111"/>
            <p:cNvCxnSpPr/>
            <p:nvPr/>
          </p:nvCxnSpPr>
          <p:spPr>
            <a:xfrm>
              <a:off x="6158964" y="1588252"/>
              <a:ext cx="369887" cy="252413"/>
            </a:xfrm>
            <a:prstGeom prst="straightConnector1">
              <a:avLst/>
            </a:prstGeom>
            <a:noFill/>
            <a:ln cap="flat" cmpd="sng" w="9525">
              <a:solidFill>
                <a:srgbClr val="000000"/>
              </a:solidFill>
              <a:prstDash val="solid"/>
              <a:round/>
              <a:headEnd len="med" w="med" type="none"/>
              <a:tailEnd len="med" w="med" type="triangle"/>
            </a:ln>
          </p:spPr>
        </p:cxnSp>
        <p:sp>
          <p:nvSpPr>
            <p:cNvPr id="6323" name="Google Shape;6323;p111"/>
            <p:cNvSpPr txBox="1"/>
            <p:nvPr/>
          </p:nvSpPr>
          <p:spPr>
            <a:xfrm>
              <a:off x="4818031" y="1175178"/>
              <a:ext cx="2132013" cy="3667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original data: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Arial"/>
                  <a:ea typeface="Arial"/>
                  <a:cs typeface="Arial"/>
                  <a:sym typeface="Arial"/>
                </a:rPr>
                <a:t>in</a:t>
              </a:r>
              <a:r>
                <a:rPr b="0" baseline="-25000" i="0" lang="en-US" sz="1600" u="none" cap="none" strike="noStrike">
                  <a:solidFill>
                    <a:srgbClr val="CC0000"/>
                  </a:solidFill>
                  <a:latin typeface="Arial"/>
                  <a:ea typeface="Arial"/>
                  <a:cs typeface="Arial"/>
                  <a:sym typeface="Arial"/>
                </a:rPr>
                <a:t> </a:t>
              </a:r>
              <a:endParaRPr b="0" i="0" sz="1600" u="none" cap="none" strike="noStrike">
                <a:solidFill>
                  <a:srgbClr val="CC0000"/>
                </a:solidFill>
                <a:latin typeface="Arial"/>
                <a:ea typeface="Arial"/>
                <a:cs typeface="Arial"/>
                <a:sym typeface="Arial"/>
              </a:endParaRPr>
            </a:p>
          </p:txBody>
        </p:sp>
      </p:grpSp>
      <p:cxnSp>
        <p:nvCxnSpPr>
          <p:cNvPr id="6324" name="Google Shape;6324;p111"/>
          <p:cNvCxnSpPr/>
          <p:nvPr/>
        </p:nvCxnSpPr>
        <p:spPr>
          <a:xfrm rot="10800000">
            <a:off x="8546879" y="3636250"/>
            <a:ext cx="822203" cy="0"/>
          </a:xfrm>
          <a:prstGeom prst="straightConnector1">
            <a:avLst/>
          </a:prstGeom>
          <a:noFill/>
          <a:ln cap="flat" cmpd="sng" w="9525">
            <a:solidFill>
              <a:srgbClr val="000000"/>
            </a:solidFill>
            <a:prstDash val="solid"/>
            <a:round/>
            <a:headEnd len="med" w="med" type="none"/>
            <a:tailEnd len="med" w="med" type="none"/>
          </a:ln>
        </p:spPr>
      </p:cxnSp>
      <p:cxnSp>
        <p:nvCxnSpPr>
          <p:cNvPr id="6325" name="Google Shape;6325;p111"/>
          <p:cNvCxnSpPr/>
          <p:nvPr/>
        </p:nvCxnSpPr>
        <p:spPr>
          <a:xfrm rot="10800000">
            <a:off x="6793108" y="2768743"/>
            <a:ext cx="439738" cy="0"/>
          </a:xfrm>
          <a:prstGeom prst="straightConnector1">
            <a:avLst/>
          </a:prstGeom>
          <a:noFill/>
          <a:ln cap="flat" cmpd="sng" w="9525">
            <a:solidFill>
              <a:srgbClr val="000000"/>
            </a:solidFill>
            <a:prstDash val="solid"/>
            <a:round/>
            <a:headEnd len="med" w="med" type="none"/>
            <a:tailEnd len="med" w="med" type="none"/>
          </a:ln>
        </p:spPr>
      </p:cxnSp>
      <p:cxnSp>
        <p:nvCxnSpPr>
          <p:cNvPr id="6326" name="Google Shape;6326;p111"/>
          <p:cNvCxnSpPr/>
          <p:nvPr/>
        </p:nvCxnSpPr>
        <p:spPr>
          <a:xfrm rot="10800000">
            <a:off x="5871674" y="3638595"/>
            <a:ext cx="439738" cy="0"/>
          </a:xfrm>
          <a:prstGeom prst="straightConnector1">
            <a:avLst/>
          </a:prstGeom>
          <a:noFill/>
          <a:ln cap="flat" cmpd="sng" w="9525">
            <a:solidFill>
              <a:srgbClr val="000000"/>
            </a:solidFill>
            <a:prstDash val="solid"/>
            <a:round/>
            <a:headEnd len="med" w="med" type="none"/>
            <a:tailEnd len="med" w="med" type="none"/>
          </a:ln>
        </p:spPr>
      </p:cxnSp>
      <p:sp>
        <p:nvSpPr>
          <p:cNvPr id="6327" name="Google Shape;6327;p111"/>
          <p:cNvSpPr txBox="1"/>
          <p:nvPr/>
        </p:nvSpPr>
        <p:spPr>
          <a:xfrm>
            <a:off x="8597524" y="2808849"/>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328" name="Google Shape;6328;p111"/>
          <p:cNvSpPr txBox="1"/>
          <p:nvPr/>
        </p:nvSpPr>
        <p:spPr>
          <a:xfrm>
            <a:off x="779177" y="2686311"/>
            <a:ext cx="3792183" cy="410850"/>
          </a:xfrm>
          <a:prstGeom prst="rect">
            <a:avLst/>
          </a:prstGeom>
          <a:noFill/>
          <a:ln>
            <a:noFill/>
          </a:ln>
        </p:spPr>
        <p:txBody>
          <a:bodyPr anchorCtr="0" anchor="t" bIns="45700" lIns="91425" spcFirstLastPara="1" rIns="91425" wrap="square" tIns="45700">
            <a:noAutofit/>
          </a:bodyPr>
          <a:lstStyle/>
          <a:p>
            <a:pPr indent="-223838" lvl="0" marL="223838"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two flows</a:t>
            </a:r>
            <a:endParaRPr/>
          </a:p>
        </p:txBody>
      </p:sp>
      <p:sp>
        <p:nvSpPr>
          <p:cNvPr id="6329" name="Google Shape;6329;p111"/>
          <p:cNvSpPr txBox="1"/>
          <p:nvPr/>
        </p:nvSpPr>
        <p:spPr>
          <a:xfrm>
            <a:off x="773366" y="1908019"/>
            <a:ext cx="4138268" cy="805685"/>
          </a:xfrm>
          <a:prstGeom prst="rect">
            <a:avLst/>
          </a:prstGeom>
          <a:noFill/>
          <a:ln>
            <a:noFill/>
          </a:ln>
        </p:spPr>
        <p:txBody>
          <a:bodyPr anchorCtr="0" anchor="t" bIns="45700" lIns="91425" spcFirstLastPara="1" rIns="91425" wrap="square" tIns="45700">
            <a:noAutofit/>
          </a:bodyPr>
          <a:lstStyle/>
          <a:p>
            <a:pPr indent="-223838" lvl="0" marL="223838"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one router, infinite buffers </a:t>
            </a:r>
            <a:endParaRPr/>
          </a:p>
          <a:p>
            <a:pPr indent="-223838" lvl="0" marL="22383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input, output link capacity: R</a:t>
            </a:r>
            <a:endParaRPr/>
          </a:p>
          <a:p>
            <a:pPr indent="0" lvl="0" marL="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6330" name="Google Shape;6330;p111"/>
          <p:cNvGrpSpPr/>
          <p:nvPr/>
        </p:nvGrpSpPr>
        <p:grpSpPr>
          <a:xfrm>
            <a:off x="7530790" y="2226427"/>
            <a:ext cx="1563461" cy="1084649"/>
            <a:chOff x="7530790" y="2226427"/>
            <a:chExt cx="1563461" cy="1084649"/>
          </a:xfrm>
        </p:grpSpPr>
        <p:sp>
          <p:nvSpPr>
            <p:cNvPr id="6331" name="Google Shape;6331;p111"/>
            <p:cNvSpPr txBox="1"/>
            <p:nvPr/>
          </p:nvSpPr>
          <p:spPr>
            <a:xfrm>
              <a:off x="7670264" y="2226427"/>
              <a:ext cx="1423987" cy="39528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1" lang="en-US" sz="1400" u="none" cap="none" strike="noStrike">
                  <a:solidFill>
                    <a:srgbClr val="000000"/>
                  </a:solidFill>
                  <a:latin typeface="Arial"/>
                  <a:ea typeface="Arial"/>
                  <a:cs typeface="Arial"/>
                  <a:sym typeface="Arial"/>
                </a:rPr>
                <a:t>infinite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332" name="Google Shape;6332;p111"/>
            <p:cNvCxnSpPr/>
            <p:nvPr/>
          </p:nvCxnSpPr>
          <p:spPr>
            <a:xfrm flipH="1">
              <a:off x="8308075" y="2647114"/>
              <a:ext cx="238488" cy="375865"/>
            </a:xfrm>
            <a:prstGeom prst="straightConnector1">
              <a:avLst/>
            </a:prstGeom>
            <a:noFill/>
            <a:ln cap="flat" cmpd="sng" w="9525">
              <a:solidFill>
                <a:srgbClr val="000000"/>
              </a:solidFill>
              <a:prstDash val="solid"/>
              <a:round/>
              <a:headEnd len="med" w="med" type="none"/>
              <a:tailEnd len="sm" w="sm" type="none"/>
            </a:ln>
          </p:spPr>
        </p:cxnSp>
        <p:grpSp>
          <p:nvGrpSpPr>
            <p:cNvPr id="6333" name="Google Shape;6333;p111"/>
            <p:cNvGrpSpPr/>
            <p:nvPr/>
          </p:nvGrpSpPr>
          <p:grpSpPr>
            <a:xfrm>
              <a:off x="7530790" y="3050726"/>
              <a:ext cx="899401" cy="260350"/>
              <a:chOff x="10436222" y="4555062"/>
              <a:chExt cx="899401" cy="260350"/>
            </a:xfrm>
          </p:grpSpPr>
          <p:sp>
            <p:nvSpPr>
              <p:cNvPr id="6334" name="Google Shape;6334;p111"/>
              <p:cNvSpPr/>
              <p:nvPr/>
            </p:nvSpPr>
            <p:spPr>
              <a:xfrm>
                <a:off x="10442522" y="4559486"/>
                <a:ext cx="891015" cy="254197"/>
              </a:xfrm>
              <a:prstGeom prst="rect">
                <a:avLst/>
              </a:prstGeom>
              <a:gradFill>
                <a:gsLst>
                  <a:gs pos="0">
                    <a:srgbClr val="757070"/>
                  </a:gs>
                  <a:gs pos="100000">
                    <a:srgbClr val="D8D8D8"/>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335" name="Google Shape;6335;p111"/>
              <p:cNvGrpSpPr/>
              <p:nvPr/>
            </p:nvGrpSpPr>
            <p:grpSpPr>
              <a:xfrm>
                <a:off x="10436222" y="4555062"/>
                <a:ext cx="899401" cy="260350"/>
                <a:chOff x="7488023" y="3444875"/>
                <a:chExt cx="947952" cy="260350"/>
              </a:xfrm>
            </p:grpSpPr>
            <p:grpSp>
              <p:nvGrpSpPr>
                <p:cNvPr id="6336" name="Google Shape;6336;p111"/>
                <p:cNvGrpSpPr/>
                <p:nvPr/>
              </p:nvGrpSpPr>
              <p:grpSpPr>
                <a:xfrm>
                  <a:off x="8025557" y="3487646"/>
                  <a:ext cx="327298" cy="173730"/>
                  <a:chOff x="8094529" y="3437940"/>
                  <a:chExt cx="307888" cy="155752"/>
                </a:xfrm>
              </p:grpSpPr>
              <p:cxnSp>
                <p:nvCxnSpPr>
                  <p:cNvPr id="6337" name="Google Shape;6337;p111"/>
                  <p:cNvCxnSpPr/>
                  <p:nvPr/>
                </p:nvCxnSpPr>
                <p:spPr>
                  <a:xfrm rot="10800000">
                    <a:off x="8402417"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38" name="Google Shape;6338;p111"/>
                  <p:cNvCxnSpPr/>
                  <p:nvPr/>
                </p:nvCxnSpPr>
                <p:spPr>
                  <a:xfrm rot="10800000">
                    <a:off x="8351102"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39" name="Google Shape;6339;p111"/>
                  <p:cNvCxnSpPr/>
                  <p:nvPr/>
                </p:nvCxnSpPr>
                <p:spPr>
                  <a:xfrm rot="10800000">
                    <a:off x="8299787"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0" name="Google Shape;6340;p111"/>
                  <p:cNvCxnSpPr/>
                  <p:nvPr/>
                </p:nvCxnSpPr>
                <p:spPr>
                  <a:xfrm rot="10800000">
                    <a:off x="8248473"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1" name="Google Shape;6341;p111"/>
                  <p:cNvCxnSpPr/>
                  <p:nvPr/>
                </p:nvCxnSpPr>
                <p:spPr>
                  <a:xfrm rot="10800000">
                    <a:off x="8197158"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2" name="Google Shape;6342;p111"/>
                  <p:cNvCxnSpPr/>
                  <p:nvPr/>
                </p:nvCxnSpPr>
                <p:spPr>
                  <a:xfrm rot="10800000">
                    <a:off x="8145843" y="3437940"/>
                    <a:ext cx="0" cy="155752"/>
                  </a:xfrm>
                  <a:prstGeom prst="straightConnector1">
                    <a:avLst/>
                  </a:prstGeom>
                  <a:noFill/>
                  <a:ln cap="flat" cmpd="sng" w="12700">
                    <a:solidFill>
                      <a:schemeClr val="dk1"/>
                    </a:solidFill>
                    <a:prstDash val="solid"/>
                    <a:miter lim="800000"/>
                    <a:headEnd len="sm" w="sm" type="none"/>
                    <a:tailEnd len="sm" w="sm" type="none"/>
                  </a:ln>
                </p:spPr>
              </p:cxnSp>
              <p:cxnSp>
                <p:nvCxnSpPr>
                  <p:cNvPr id="6343" name="Google Shape;6343;p111"/>
                  <p:cNvCxnSpPr/>
                  <p:nvPr/>
                </p:nvCxnSpPr>
                <p:spPr>
                  <a:xfrm rot="10800000">
                    <a:off x="8094529" y="3437940"/>
                    <a:ext cx="0" cy="155752"/>
                  </a:xfrm>
                  <a:prstGeom prst="straightConnector1">
                    <a:avLst/>
                  </a:prstGeom>
                  <a:noFill/>
                  <a:ln cap="flat" cmpd="sng" w="12700">
                    <a:solidFill>
                      <a:schemeClr val="dk1"/>
                    </a:solidFill>
                    <a:prstDash val="solid"/>
                    <a:miter lim="800000"/>
                    <a:headEnd len="sm" w="sm" type="none"/>
                    <a:tailEnd len="sm" w="sm" type="none"/>
                  </a:ln>
                </p:spPr>
              </p:cxnSp>
            </p:grpSp>
            <p:grpSp>
              <p:nvGrpSpPr>
                <p:cNvPr id="6344" name="Google Shape;6344;p111"/>
                <p:cNvGrpSpPr/>
                <p:nvPr/>
              </p:nvGrpSpPr>
              <p:grpSpPr>
                <a:xfrm>
                  <a:off x="7488023" y="3444875"/>
                  <a:ext cx="947952" cy="260350"/>
                  <a:chOff x="8103973" y="3803650"/>
                  <a:chExt cx="947952" cy="260350"/>
                </a:xfrm>
              </p:grpSpPr>
              <p:cxnSp>
                <p:nvCxnSpPr>
                  <p:cNvPr id="6345" name="Google Shape;6345;p111"/>
                  <p:cNvCxnSpPr/>
                  <p:nvPr/>
                </p:nvCxnSpPr>
                <p:spPr>
                  <a:xfrm>
                    <a:off x="8110664" y="3810000"/>
                    <a:ext cx="941261" cy="0"/>
                  </a:xfrm>
                  <a:prstGeom prst="straightConnector1">
                    <a:avLst/>
                  </a:prstGeom>
                  <a:noFill/>
                  <a:ln cap="flat" cmpd="sng" w="19050">
                    <a:solidFill>
                      <a:schemeClr val="dk1"/>
                    </a:solidFill>
                    <a:prstDash val="solid"/>
                    <a:miter lim="800000"/>
                    <a:headEnd len="sm" w="sm" type="none"/>
                    <a:tailEnd len="sm" w="sm" type="none"/>
                  </a:ln>
                </p:spPr>
              </p:cxnSp>
              <p:cxnSp>
                <p:nvCxnSpPr>
                  <p:cNvPr id="6346" name="Google Shape;6346;p111"/>
                  <p:cNvCxnSpPr/>
                  <p:nvPr/>
                </p:nvCxnSpPr>
                <p:spPr>
                  <a:xfrm>
                    <a:off x="8103973" y="4060825"/>
                    <a:ext cx="947952" cy="0"/>
                  </a:xfrm>
                  <a:prstGeom prst="straightConnector1">
                    <a:avLst/>
                  </a:prstGeom>
                  <a:noFill/>
                  <a:ln cap="flat" cmpd="sng" w="19050">
                    <a:solidFill>
                      <a:schemeClr val="dk1"/>
                    </a:solidFill>
                    <a:prstDash val="solid"/>
                    <a:miter lim="800000"/>
                    <a:headEnd len="sm" w="sm" type="none"/>
                    <a:tailEnd len="sm" w="sm" type="none"/>
                  </a:ln>
                </p:spPr>
              </p:cxnSp>
              <p:cxnSp>
                <p:nvCxnSpPr>
                  <p:cNvPr id="6347" name="Google Shape;6347;p111"/>
                  <p:cNvCxnSpPr/>
                  <p:nvPr/>
                </p:nvCxnSpPr>
                <p:spPr>
                  <a:xfrm>
                    <a:off x="9048750" y="3803650"/>
                    <a:ext cx="0" cy="260350"/>
                  </a:xfrm>
                  <a:prstGeom prst="straightConnector1">
                    <a:avLst/>
                  </a:prstGeom>
                  <a:noFill/>
                  <a:ln cap="flat" cmpd="sng" w="19050">
                    <a:solidFill>
                      <a:schemeClr val="dk1"/>
                    </a:solidFill>
                    <a:prstDash val="solid"/>
                    <a:miter lim="800000"/>
                    <a:headEnd len="sm" w="sm" type="none"/>
                    <a:tailEnd len="sm" w="sm" type="none"/>
                  </a:ln>
                </p:spPr>
              </p:cxnSp>
            </p:grpSp>
            <p:sp>
              <p:nvSpPr>
                <p:cNvPr id="6348" name="Google Shape;6348;p111"/>
                <p:cNvSpPr/>
                <p:nvPr/>
              </p:nvSpPr>
              <p:spPr>
                <a:xfrm>
                  <a:off x="7924800" y="3546475"/>
                  <a:ext cx="57150" cy="5715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49" name="Google Shape;6349;p111"/>
                <p:cNvSpPr/>
                <p:nvPr/>
              </p:nvSpPr>
              <p:spPr>
                <a:xfrm>
                  <a:off x="7842250" y="3546475"/>
                  <a:ext cx="57150" cy="57150"/>
                </a:xfrm>
                <a:prstGeom prst="ellipse">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0" name="Google Shape;6350;p111"/>
                <p:cNvSpPr/>
                <p:nvPr/>
              </p:nvSpPr>
              <p:spPr>
                <a:xfrm>
                  <a:off x="7759700" y="3546475"/>
                  <a:ext cx="57150" cy="5715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1" name="Google Shape;6351;p111"/>
                <p:cNvSpPr/>
                <p:nvPr/>
              </p:nvSpPr>
              <p:spPr>
                <a:xfrm>
                  <a:off x="7677150" y="3546475"/>
                  <a:ext cx="57150" cy="5715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6352" name="Google Shape;6352;p111"/>
          <p:cNvSpPr/>
          <p:nvPr/>
        </p:nvSpPr>
        <p:spPr>
          <a:xfrm>
            <a:off x="6632039" y="1856540"/>
            <a:ext cx="3429000" cy="1276350"/>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53" name="Google Shape;6353;p111"/>
          <p:cNvGrpSpPr/>
          <p:nvPr/>
        </p:nvGrpSpPr>
        <p:grpSpPr>
          <a:xfrm>
            <a:off x="5641439" y="2685215"/>
            <a:ext cx="4000500" cy="1028700"/>
            <a:chOff x="5641439" y="2685215"/>
            <a:chExt cx="4000500" cy="1028700"/>
          </a:xfrm>
        </p:grpSpPr>
        <p:sp>
          <p:nvSpPr>
            <p:cNvPr id="6354" name="Google Shape;6354;p111"/>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355" name="Google Shape;6355;p111"/>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56" name="Google Shape;6356;p111"/>
          <p:cNvSpPr txBox="1"/>
          <p:nvPr/>
        </p:nvSpPr>
        <p:spPr>
          <a:xfrm>
            <a:off x="7077879" y="2843683"/>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357" name="Google Shape;6357;p111"/>
          <p:cNvSpPr txBox="1"/>
          <p:nvPr/>
        </p:nvSpPr>
        <p:spPr>
          <a:xfrm>
            <a:off x="769346" y="3074685"/>
            <a:ext cx="3792183" cy="420682"/>
          </a:xfrm>
          <a:prstGeom prst="rect">
            <a:avLst/>
          </a:prstGeom>
          <a:noFill/>
          <a:ln>
            <a:noFill/>
          </a:ln>
        </p:spPr>
        <p:txBody>
          <a:bodyPr anchorCtr="0" anchor="t" bIns="45700" lIns="91425" spcFirstLastPara="1" rIns="91425" wrap="square" tIns="45700">
            <a:noAutofit/>
          </a:bodyPr>
          <a:lstStyle/>
          <a:p>
            <a:pPr indent="-223838" lvl="0" marL="223838"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no retransmissions needed</a:t>
            </a:r>
            <a:endParaRPr/>
          </a:p>
          <a:p>
            <a:pPr indent="-106363" lvl="0" marL="284163"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6358" name="Google Shape;6358;p111"/>
          <p:cNvGrpSpPr/>
          <p:nvPr/>
        </p:nvGrpSpPr>
        <p:grpSpPr>
          <a:xfrm>
            <a:off x="7949626" y="4325522"/>
            <a:ext cx="1778902" cy="1635125"/>
            <a:chOff x="7949627" y="4325522"/>
            <a:chExt cx="1778902" cy="1635125"/>
          </a:xfrm>
        </p:grpSpPr>
        <p:cxnSp>
          <p:nvCxnSpPr>
            <p:cNvPr id="6359" name="Google Shape;6359;p111"/>
            <p:cNvCxnSpPr/>
            <p:nvPr/>
          </p:nvCxnSpPr>
          <p:spPr>
            <a:xfrm>
              <a:off x="8321896" y="4325522"/>
              <a:ext cx="0" cy="1276350"/>
            </a:xfrm>
            <a:prstGeom prst="straightConnector1">
              <a:avLst/>
            </a:prstGeom>
            <a:noFill/>
            <a:ln cap="flat" cmpd="sng" w="19050">
              <a:solidFill>
                <a:srgbClr val="000000"/>
              </a:solidFill>
              <a:prstDash val="solid"/>
              <a:round/>
              <a:headEnd len="med" w="med" type="none"/>
              <a:tailEnd len="med" w="med" type="none"/>
            </a:ln>
          </p:spPr>
        </p:cxnSp>
        <p:cxnSp>
          <p:nvCxnSpPr>
            <p:cNvPr id="6360" name="Google Shape;6360;p111"/>
            <p:cNvCxnSpPr/>
            <p:nvPr/>
          </p:nvCxnSpPr>
          <p:spPr>
            <a:xfrm>
              <a:off x="9455371" y="4465222"/>
              <a:ext cx="0" cy="1104900"/>
            </a:xfrm>
            <a:prstGeom prst="straightConnector1">
              <a:avLst/>
            </a:prstGeom>
            <a:noFill/>
            <a:ln cap="flat" cmpd="sng" w="12700">
              <a:solidFill>
                <a:srgbClr val="000000"/>
              </a:solidFill>
              <a:prstDash val="dash"/>
              <a:round/>
              <a:headEnd len="med" w="med" type="none"/>
              <a:tailEnd len="med" w="med" type="none"/>
            </a:ln>
          </p:spPr>
        </p:cxnSp>
        <p:sp>
          <p:nvSpPr>
            <p:cNvPr id="6361" name="Google Shape;6361;p111"/>
            <p:cNvSpPr/>
            <p:nvPr/>
          </p:nvSpPr>
          <p:spPr>
            <a:xfrm>
              <a:off x="8315546" y="4439822"/>
              <a:ext cx="1106488" cy="1152525"/>
            </a:xfrm>
            <a:custGeom>
              <a:rect b="b" l="l" r="r" t="t"/>
              <a:pathLst>
                <a:path extrusionOk="0" h="10000" w="10000">
                  <a:moveTo>
                    <a:pt x="0" y="10000"/>
                  </a:moveTo>
                  <a:cubicBezTo>
                    <a:pt x="1363" y="9601"/>
                    <a:pt x="6598" y="9697"/>
                    <a:pt x="8219" y="7617"/>
                  </a:cubicBezTo>
                  <a:cubicBezTo>
                    <a:pt x="9562" y="6715"/>
                    <a:pt x="9861" y="4761"/>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362" name="Google Shape;6362;p111"/>
            <p:cNvCxnSpPr/>
            <p:nvPr/>
          </p:nvCxnSpPr>
          <p:spPr>
            <a:xfrm>
              <a:off x="9452196" y="5601872"/>
              <a:ext cx="0" cy="92075"/>
            </a:xfrm>
            <a:prstGeom prst="straightConnector1">
              <a:avLst/>
            </a:prstGeom>
            <a:noFill/>
            <a:ln cap="flat" cmpd="sng" w="19050">
              <a:solidFill>
                <a:srgbClr val="000000"/>
              </a:solidFill>
              <a:prstDash val="solid"/>
              <a:round/>
              <a:headEnd len="med" w="med" type="none"/>
              <a:tailEnd len="med" w="med" type="none"/>
            </a:ln>
          </p:spPr>
        </p:cxnSp>
        <p:sp>
          <p:nvSpPr>
            <p:cNvPr id="6363" name="Google Shape;6363;p111"/>
            <p:cNvSpPr txBox="1"/>
            <p:nvPr/>
          </p:nvSpPr>
          <p:spPr>
            <a:xfrm>
              <a:off x="9242646" y="5636797"/>
              <a:ext cx="4603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364" name="Google Shape;6364;p111"/>
            <p:cNvSpPr txBox="1"/>
            <p:nvPr/>
          </p:nvSpPr>
          <p:spPr>
            <a:xfrm rot="-5400000">
              <a:off x="7790083" y="4868447"/>
              <a:ext cx="688975" cy="3698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delay</a:t>
              </a:r>
              <a:endParaRPr b="0" baseline="-25000" i="0" sz="1800" u="none" cap="none" strike="noStrike">
                <a:solidFill>
                  <a:srgbClr val="000000"/>
                </a:solidFill>
                <a:latin typeface="Calibri"/>
                <a:ea typeface="Calibri"/>
                <a:cs typeface="Calibri"/>
                <a:sym typeface="Calibri"/>
              </a:endParaRPr>
            </a:p>
          </p:txBody>
        </p:sp>
        <p:sp>
          <p:nvSpPr>
            <p:cNvPr id="6365" name="Google Shape;6365;p111"/>
            <p:cNvSpPr txBox="1"/>
            <p:nvPr/>
          </p:nvSpPr>
          <p:spPr>
            <a:xfrm>
              <a:off x="8720358" y="5563772"/>
              <a:ext cx="45243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a:p>
          </p:txBody>
        </p:sp>
        <p:cxnSp>
          <p:nvCxnSpPr>
            <p:cNvPr id="6366" name="Google Shape;6366;p111"/>
            <p:cNvCxnSpPr/>
            <p:nvPr/>
          </p:nvCxnSpPr>
          <p:spPr>
            <a:xfrm>
              <a:off x="8312683" y="5594801"/>
              <a:ext cx="1415845" cy="0"/>
            </a:xfrm>
            <a:prstGeom prst="straightConnector1">
              <a:avLst/>
            </a:prstGeom>
            <a:noFill/>
            <a:ln cap="flat" cmpd="sng" w="19050">
              <a:solidFill>
                <a:schemeClr val="dk1"/>
              </a:solidFill>
              <a:prstDash val="solid"/>
              <a:miter lim="800000"/>
              <a:headEnd len="sm" w="sm" type="none"/>
              <a:tailEnd len="sm" w="sm" type="none"/>
            </a:ln>
          </p:spPr>
        </p:cxnSp>
      </p:grpSp>
      <p:sp>
        <p:nvSpPr>
          <p:cNvPr id="6367" name="Google Shape;6367;p111"/>
          <p:cNvSpPr/>
          <p:nvPr/>
        </p:nvSpPr>
        <p:spPr>
          <a:xfrm>
            <a:off x="4764506" y="1106906"/>
            <a:ext cx="1925052" cy="693019"/>
          </a:xfrm>
          <a:prstGeom prst="ellipse">
            <a:avLst/>
          </a:prstGeom>
          <a:noFill/>
          <a:ln cap="flat" cmpd="sng" w="317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8" name="Google Shape;6368;p111"/>
          <p:cNvSpPr/>
          <p:nvPr/>
        </p:nvSpPr>
        <p:spPr>
          <a:xfrm>
            <a:off x="8507129" y="1182304"/>
            <a:ext cx="1925052" cy="693019"/>
          </a:xfrm>
          <a:prstGeom prst="ellipse">
            <a:avLst/>
          </a:prstGeom>
          <a:noFill/>
          <a:ln cap="flat" cmpd="sng" w="317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9" name="Google Shape;6369;p111"/>
          <p:cNvSpPr txBox="1"/>
          <p:nvPr/>
        </p:nvSpPr>
        <p:spPr>
          <a:xfrm>
            <a:off x="12534826" y="6135036"/>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cxnSp>
        <p:nvCxnSpPr>
          <p:cNvPr id="6370" name="Google Shape;6370;p111"/>
          <p:cNvCxnSpPr/>
          <p:nvPr/>
        </p:nvCxnSpPr>
        <p:spPr>
          <a:xfrm>
            <a:off x="12776717" y="4095473"/>
            <a:ext cx="0" cy="1869027"/>
          </a:xfrm>
          <a:prstGeom prst="straightConnector1">
            <a:avLst/>
          </a:prstGeom>
          <a:noFill/>
          <a:ln cap="flat" cmpd="sng" w="12700">
            <a:solidFill>
              <a:schemeClr val="dk1"/>
            </a:solidFill>
            <a:prstDash val="dash"/>
            <a:round/>
            <a:headEnd len="med" w="med" type="none"/>
            <a:tailEnd len="med" w="med" type="none"/>
          </a:ln>
        </p:spPr>
      </p:cxnSp>
      <p:cxnSp>
        <p:nvCxnSpPr>
          <p:cNvPr id="6371" name="Google Shape;6371;p111"/>
          <p:cNvCxnSpPr/>
          <p:nvPr/>
        </p:nvCxnSpPr>
        <p:spPr>
          <a:xfrm>
            <a:off x="12771096" y="6018207"/>
            <a:ext cx="0" cy="155752"/>
          </a:xfrm>
          <a:prstGeom prst="straightConnector1">
            <a:avLst/>
          </a:prstGeom>
          <a:noFill/>
          <a:ln cap="flat" cmpd="sng" w="19050">
            <a:solidFill>
              <a:schemeClr val="dk1"/>
            </a:solidFill>
            <a:prstDash val="solid"/>
            <a:round/>
            <a:headEnd len="med" w="med" type="none"/>
            <a:tailEnd len="med" w="med" type="none"/>
          </a:ln>
        </p:spPr>
      </p:cxnSp>
      <p:grpSp>
        <p:nvGrpSpPr>
          <p:cNvPr id="6372" name="Google Shape;6372;p111"/>
          <p:cNvGrpSpPr/>
          <p:nvPr/>
        </p:nvGrpSpPr>
        <p:grpSpPr>
          <a:xfrm>
            <a:off x="4643558" y="4257261"/>
            <a:ext cx="2333625" cy="1701800"/>
            <a:chOff x="4643558" y="4257261"/>
            <a:chExt cx="2333625" cy="1701800"/>
          </a:xfrm>
        </p:grpSpPr>
        <p:grpSp>
          <p:nvGrpSpPr>
            <p:cNvPr id="6373" name="Google Shape;6373;p111"/>
            <p:cNvGrpSpPr/>
            <p:nvPr/>
          </p:nvGrpSpPr>
          <p:grpSpPr>
            <a:xfrm>
              <a:off x="4643558" y="4257261"/>
              <a:ext cx="2333625" cy="1701800"/>
              <a:chOff x="4643558" y="4257261"/>
              <a:chExt cx="2333625" cy="1701800"/>
            </a:xfrm>
          </p:grpSpPr>
          <p:cxnSp>
            <p:nvCxnSpPr>
              <p:cNvPr id="6374" name="Google Shape;6374;p111"/>
              <p:cNvCxnSpPr/>
              <p:nvPr/>
            </p:nvCxnSpPr>
            <p:spPr>
              <a:xfrm>
                <a:off x="5126158" y="4323936"/>
                <a:ext cx="0" cy="1276350"/>
              </a:xfrm>
              <a:prstGeom prst="straightConnector1">
                <a:avLst/>
              </a:prstGeom>
              <a:noFill/>
              <a:ln cap="flat" cmpd="sng" w="19050">
                <a:solidFill>
                  <a:srgbClr val="000000"/>
                </a:solidFill>
                <a:prstDash val="solid"/>
                <a:round/>
                <a:headEnd len="med" w="med" type="none"/>
                <a:tailEnd len="med" w="med" type="none"/>
              </a:ln>
            </p:spPr>
          </p:cxnSp>
          <p:cxnSp>
            <p:nvCxnSpPr>
              <p:cNvPr id="6375" name="Google Shape;6375;p111"/>
              <p:cNvCxnSpPr/>
              <p:nvPr/>
            </p:nvCxnSpPr>
            <p:spPr>
              <a:xfrm>
                <a:off x="6259633" y="4463636"/>
                <a:ext cx="0" cy="1104900"/>
              </a:xfrm>
              <a:prstGeom prst="straightConnector1">
                <a:avLst/>
              </a:prstGeom>
              <a:noFill/>
              <a:ln cap="flat" cmpd="sng" w="12700">
                <a:solidFill>
                  <a:srgbClr val="000000"/>
                </a:solidFill>
                <a:prstDash val="dash"/>
                <a:round/>
                <a:headEnd len="med" w="med" type="none"/>
                <a:tailEnd len="med" w="med" type="none"/>
              </a:ln>
            </p:spPr>
          </p:cxnSp>
          <p:sp>
            <p:nvSpPr>
              <p:cNvPr id="6376" name="Google Shape;6376;p111"/>
              <p:cNvSpPr/>
              <p:nvPr/>
            </p:nvSpPr>
            <p:spPr>
              <a:xfrm>
                <a:off x="5119808" y="4428711"/>
                <a:ext cx="1857375" cy="1162050"/>
              </a:xfrm>
              <a:custGeom>
                <a:rect b="b" l="l" r="r" t="t"/>
                <a:pathLst>
                  <a:path extrusionOk="0" h="732" w="1170">
                    <a:moveTo>
                      <a:pt x="0" y="732"/>
                    </a:moveTo>
                    <a:lnTo>
                      <a:pt x="720" y="0"/>
                    </a:lnTo>
                    <a:lnTo>
                      <a:pt x="1170"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377" name="Google Shape;6377;p111"/>
              <p:cNvCxnSpPr/>
              <p:nvPr/>
            </p:nvCxnSpPr>
            <p:spPr>
              <a:xfrm>
                <a:off x="5043608" y="4428711"/>
                <a:ext cx="79375" cy="0"/>
              </a:xfrm>
              <a:prstGeom prst="straightConnector1">
                <a:avLst/>
              </a:prstGeom>
              <a:noFill/>
              <a:ln cap="flat" cmpd="sng" w="19050">
                <a:solidFill>
                  <a:srgbClr val="000000"/>
                </a:solidFill>
                <a:prstDash val="solid"/>
                <a:round/>
                <a:headEnd len="med" w="med" type="none"/>
                <a:tailEnd len="med" w="med" type="none"/>
              </a:ln>
            </p:spPr>
          </p:cxnSp>
          <p:cxnSp>
            <p:nvCxnSpPr>
              <p:cNvPr id="6378" name="Google Shape;6378;p111"/>
              <p:cNvCxnSpPr/>
              <p:nvPr/>
            </p:nvCxnSpPr>
            <p:spPr>
              <a:xfrm>
                <a:off x="6256458" y="5600286"/>
                <a:ext cx="0" cy="92075"/>
              </a:xfrm>
              <a:prstGeom prst="straightConnector1">
                <a:avLst/>
              </a:prstGeom>
              <a:noFill/>
              <a:ln cap="flat" cmpd="sng" w="19050">
                <a:solidFill>
                  <a:srgbClr val="000000"/>
                </a:solidFill>
                <a:prstDash val="solid"/>
                <a:round/>
                <a:headEnd len="med" w="med" type="none"/>
                <a:tailEnd len="med" w="med" type="none"/>
              </a:ln>
            </p:spPr>
          </p:cxnSp>
          <p:sp>
            <p:nvSpPr>
              <p:cNvPr id="6379" name="Google Shape;6379;p111"/>
              <p:cNvSpPr txBox="1"/>
              <p:nvPr/>
            </p:nvSpPr>
            <p:spPr>
              <a:xfrm>
                <a:off x="4643558" y="4257261"/>
                <a:ext cx="4603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380" name="Google Shape;6380;p111"/>
              <p:cNvSpPr txBox="1"/>
              <p:nvPr/>
            </p:nvSpPr>
            <p:spPr>
              <a:xfrm>
                <a:off x="6046908" y="5635211"/>
                <a:ext cx="4603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381" name="Google Shape;6381;p111"/>
              <p:cNvSpPr txBox="1"/>
              <p:nvPr/>
            </p:nvSpPr>
            <p:spPr>
              <a:xfrm rot="-5400000">
                <a:off x="4638796" y="4563816"/>
                <a:ext cx="55403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sp>
            <p:nvSpPr>
              <p:cNvPr id="6382" name="Google Shape;6382;p111"/>
              <p:cNvSpPr txBox="1"/>
              <p:nvPr/>
            </p:nvSpPr>
            <p:spPr>
              <a:xfrm>
                <a:off x="5524621" y="5562186"/>
                <a:ext cx="452438"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a:p>
            </p:txBody>
          </p:sp>
          <p:cxnSp>
            <p:nvCxnSpPr>
              <p:cNvPr id="6383" name="Google Shape;6383;p111"/>
              <p:cNvCxnSpPr/>
              <p:nvPr/>
            </p:nvCxnSpPr>
            <p:spPr>
              <a:xfrm>
                <a:off x="5145208" y="4430299"/>
                <a:ext cx="1039813" cy="0"/>
              </a:xfrm>
              <a:prstGeom prst="straightConnector1">
                <a:avLst/>
              </a:prstGeom>
              <a:noFill/>
              <a:ln cap="flat" cmpd="sng" w="12700">
                <a:solidFill>
                  <a:srgbClr val="000000"/>
                </a:solidFill>
                <a:prstDash val="dash"/>
                <a:round/>
                <a:headEnd len="med" w="med" type="none"/>
                <a:tailEnd len="med" w="med" type="none"/>
              </a:ln>
            </p:spPr>
          </p:cxnSp>
          <p:cxnSp>
            <p:nvCxnSpPr>
              <p:cNvPr id="6384" name="Google Shape;6384;p111"/>
              <p:cNvCxnSpPr/>
              <p:nvPr/>
            </p:nvCxnSpPr>
            <p:spPr>
              <a:xfrm>
                <a:off x="5119903" y="5598611"/>
                <a:ext cx="1415845" cy="0"/>
              </a:xfrm>
              <a:prstGeom prst="straightConnector1">
                <a:avLst/>
              </a:prstGeom>
              <a:noFill/>
              <a:ln cap="flat" cmpd="sng" w="19050">
                <a:solidFill>
                  <a:schemeClr val="dk1"/>
                </a:solidFill>
                <a:prstDash val="solid"/>
                <a:miter lim="800000"/>
                <a:headEnd len="sm" w="sm" type="none"/>
                <a:tailEnd len="sm" w="sm" type="none"/>
              </a:ln>
            </p:spPr>
          </p:cxnSp>
        </p:grpSp>
        <p:sp>
          <p:nvSpPr>
            <p:cNvPr id="6385" name="Google Shape;6385;p111"/>
            <p:cNvSpPr txBox="1"/>
            <p:nvPr/>
          </p:nvSpPr>
          <p:spPr>
            <a:xfrm rot="-5400000">
              <a:off x="4435687" y="5176433"/>
              <a:ext cx="96924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throughput: </a:t>
              </a:r>
              <a:endParaRPr/>
            </a:p>
          </p:txBody>
        </p:sp>
      </p:grpSp>
      <p:sp>
        <p:nvSpPr>
          <p:cNvPr id="6386" name="Google Shape;6386;p111"/>
          <p:cNvSpPr/>
          <p:nvPr/>
        </p:nvSpPr>
        <p:spPr>
          <a:xfrm>
            <a:off x="12697995" y="3995821"/>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7" name="Google Shape;6387;p1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0"/>
                                        </p:tgtEl>
                                        <p:attrNameLst>
                                          <p:attrName>style.visibility</p:attrName>
                                        </p:attrNameLst>
                                      </p:cBhvr>
                                      <p:to>
                                        <p:strVal val="visible"/>
                                      </p:to>
                                    </p:set>
                                    <p:animEffect filter="fade" transition="in">
                                      <p:cBhvr>
                                        <p:cTn dur="500"/>
                                        <p:tgtEl>
                                          <p:spTgt spid="6330"/>
                                        </p:tgtEl>
                                      </p:cBhvr>
                                    </p:animEffect>
                                  </p:childTnLst>
                                </p:cTn>
                              </p:par>
                              <p:par>
                                <p:cTn fill="hold" nodeType="withEffect" presetClass="entr" presetID="10" presetSubtype="0">
                                  <p:stCondLst>
                                    <p:cond delay="0"/>
                                  </p:stCondLst>
                                  <p:childTnLst>
                                    <p:set>
                                      <p:cBhvr>
                                        <p:cTn dur="1" fill="hold">
                                          <p:stCondLst>
                                            <p:cond delay="0"/>
                                          </p:stCondLst>
                                        </p:cTn>
                                        <p:tgtEl>
                                          <p:spTgt spid="6327"/>
                                        </p:tgtEl>
                                        <p:attrNameLst>
                                          <p:attrName>style.visibility</p:attrName>
                                        </p:attrNameLst>
                                      </p:cBhvr>
                                      <p:to>
                                        <p:strVal val="visible"/>
                                      </p:to>
                                    </p:set>
                                    <p:animEffect filter="fade" transition="in">
                                      <p:cBhvr>
                                        <p:cTn dur="500"/>
                                        <p:tgtEl>
                                          <p:spTgt spid="6327"/>
                                        </p:tgtEl>
                                      </p:cBhvr>
                                    </p:animEffect>
                                  </p:childTnLst>
                                </p:cTn>
                              </p:par>
                              <p:par>
                                <p:cTn fill="hold" nodeType="withEffect" presetClass="entr" presetID="10" presetSubtype="0">
                                  <p:stCondLst>
                                    <p:cond delay="0"/>
                                  </p:stCondLst>
                                  <p:childTnLst>
                                    <p:set>
                                      <p:cBhvr>
                                        <p:cTn dur="1" fill="hold">
                                          <p:stCondLst>
                                            <p:cond delay="0"/>
                                          </p:stCondLst>
                                        </p:cTn>
                                        <p:tgtEl>
                                          <p:spTgt spid="6356"/>
                                        </p:tgtEl>
                                        <p:attrNameLst>
                                          <p:attrName>style.visibility</p:attrName>
                                        </p:attrNameLst>
                                      </p:cBhvr>
                                      <p:to>
                                        <p:strVal val="visible"/>
                                      </p:to>
                                    </p:set>
                                    <p:animEffect filter="fade" transition="in">
                                      <p:cBhvr>
                                        <p:cTn dur="500"/>
                                        <p:tgtEl>
                                          <p:spTgt spid="6356"/>
                                        </p:tgtEl>
                                      </p:cBhvr>
                                    </p:animEffect>
                                  </p:childTnLst>
                                </p:cTn>
                              </p:par>
                              <p:par>
                                <p:cTn fill="hold" nodeType="withEffect" presetClass="entr" presetID="10" presetSubtype="0">
                                  <p:stCondLst>
                                    <p:cond delay="0"/>
                                  </p:stCondLst>
                                  <p:childTnLst>
                                    <p:set>
                                      <p:cBhvr>
                                        <p:cTn dur="1" fill="hold">
                                          <p:stCondLst>
                                            <p:cond delay="0"/>
                                          </p:stCondLst>
                                        </p:cTn>
                                        <p:tgtEl>
                                          <p:spTgt spid="6329"/>
                                        </p:tgtEl>
                                        <p:attrNameLst>
                                          <p:attrName>style.visibility</p:attrName>
                                        </p:attrNameLst>
                                      </p:cBhvr>
                                      <p:to>
                                        <p:strVal val="visible"/>
                                      </p:to>
                                    </p:set>
                                    <p:animEffect filter="fade" transition="in">
                                      <p:cBhvr>
                                        <p:cTn dur="500"/>
                                        <p:tgtEl>
                                          <p:spTgt spid="6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8"/>
                                        </p:tgtEl>
                                        <p:attrNameLst>
                                          <p:attrName>style.visibility</p:attrName>
                                        </p:attrNameLst>
                                      </p:cBhvr>
                                      <p:to>
                                        <p:strVal val="visible"/>
                                      </p:to>
                                    </p:set>
                                    <p:animEffect filter="fade" transition="in">
                                      <p:cBhvr>
                                        <p:cTn dur="500"/>
                                        <p:tgtEl>
                                          <p:spTgt spid="6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2"/>
                                        </p:tgtEl>
                                        <p:attrNameLst>
                                          <p:attrName>style.visibility</p:attrName>
                                        </p:attrNameLst>
                                      </p:cBhvr>
                                      <p:to>
                                        <p:strVal val="visible"/>
                                      </p:to>
                                    </p:set>
                                    <p:animEffect filter="fade" transition="in">
                                      <p:cBhvr>
                                        <p:cTn dur="500"/>
                                        <p:tgtEl>
                                          <p:spTgt spid="6352"/>
                                        </p:tgtEl>
                                      </p:cBhvr>
                                    </p:animEffect>
                                  </p:childTnLst>
                                </p:cTn>
                              </p:par>
                              <p:par>
                                <p:cTn fill="hold" nodeType="withEffect" presetClass="entr" presetID="10" presetSubtype="0">
                                  <p:stCondLst>
                                    <p:cond delay="0"/>
                                  </p:stCondLst>
                                  <p:childTnLst>
                                    <p:set>
                                      <p:cBhvr>
                                        <p:cTn dur="1" fill="hold">
                                          <p:stCondLst>
                                            <p:cond delay="0"/>
                                          </p:stCondLst>
                                        </p:cTn>
                                        <p:tgtEl>
                                          <p:spTgt spid="6320"/>
                                        </p:tgtEl>
                                        <p:attrNameLst>
                                          <p:attrName>style.visibility</p:attrName>
                                        </p:attrNameLst>
                                      </p:cBhvr>
                                      <p:to>
                                        <p:strVal val="visible"/>
                                      </p:to>
                                    </p:set>
                                    <p:animEffect filter="fade" transition="in">
                                      <p:cBhvr>
                                        <p:cTn dur="500"/>
                                        <p:tgtEl>
                                          <p:spTgt spid="63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246"/>
                                        </p:tgtEl>
                                        <p:attrNameLst>
                                          <p:attrName>style.visibility</p:attrName>
                                        </p:attrNameLst>
                                      </p:cBhvr>
                                      <p:to>
                                        <p:strVal val="visible"/>
                                      </p:to>
                                    </p:set>
                                    <p:animEffect filter="fade" transition="in">
                                      <p:cBhvr>
                                        <p:cTn dur="500"/>
                                        <p:tgtEl>
                                          <p:spTgt spid="6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3"/>
                                        </p:tgtEl>
                                        <p:attrNameLst>
                                          <p:attrName>style.visibility</p:attrName>
                                        </p:attrNameLst>
                                      </p:cBhvr>
                                      <p:to>
                                        <p:strVal val="visible"/>
                                      </p:to>
                                    </p:set>
                                    <p:animEffect filter="fade" transition="in">
                                      <p:cBhvr>
                                        <p:cTn dur="500"/>
                                        <p:tgtEl>
                                          <p:spTgt spid="6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7"/>
                                        </p:tgtEl>
                                        <p:attrNameLst>
                                          <p:attrName>style.visibility</p:attrName>
                                        </p:attrNameLst>
                                      </p:cBhvr>
                                      <p:to>
                                        <p:strVal val="visible"/>
                                      </p:to>
                                    </p:set>
                                    <p:animEffect filter="fade" transition="in">
                                      <p:cBhvr>
                                        <p:cTn dur="500"/>
                                        <p:tgtEl>
                                          <p:spTgt spid="6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67"/>
                                        </p:tgtEl>
                                      </p:cBhvr>
                                    </p:animEffect>
                                    <p:set>
                                      <p:cBhvr>
                                        <p:cTn dur="1" fill="hold">
                                          <p:stCondLst>
                                            <p:cond delay="500"/>
                                          </p:stCondLst>
                                        </p:cTn>
                                        <p:tgtEl>
                                          <p:spTgt spid="636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368"/>
                                        </p:tgtEl>
                                        <p:attrNameLst>
                                          <p:attrName>style.visibility</p:attrName>
                                        </p:attrNameLst>
                                      </p:cBhvr>
                                      <p:to>
                                        <p:strVal val="visible"/>
                                      </p:to>
                                    </p:set>
                                    <p:animEffect filter="fade" transition="in">
                                      <p:cBhvr>
                                        <p:cTn dur="500"/>
                                        <p:tgtEl>
                                          <p:spTgt spid="6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368"/>
                                        </p:tgtEl>
                                      </p:cBhvr>
                                    </p:animEffect>
                                    <p:set>
                                      <p:cBhvr>
                                        <p:cTn dur="1" fill="hold">
                                          <p:stCondLst>
                                            <p:cond delay="500"/>
                                          </p:stCondLst>
                                        </p:cTn>
                                        <p:tgtEl>
                                          <p:spTgt spid="636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357"/>
                                        </p:tgtEl>
                                        <p:attrNameLst>
                                          <p:attrName>style.visibility</p:attrName>
                                        </p:attrNameLst>
                                      </p:cBhvr>
                                      <p:to>
                                        <p:strVal val="visible"/>
                                      </p:to>
                                    </p:set>
                                    <p:animEffect filter="fade" transition="in">
                                      <p:cBhvr>
                                        <p:cTn dur="500"/>
                                        <p:tgtEl>
                                          <p:spTgt spid="6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9"/>
                                        </p:tgtEl>
                                        <p:attrNameLst>
                                          <p:attrName>style.visibility</p:attrName>
                                        </p:attrNameLst>
                                      </p:cBhvr>
                                      <p:to>
                                        <p:strVal val="visible"/>
                                      </p:to>
                                    </p:set>
                                    <p:animEffect filter="fade" transition="in">
                                      <p:cBhvr>
                                        <p:cTn dur="500"/>
                                        <p:tgtEl>
                                          <p:spTgt spid="6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2"/>
                                        </p:tgtEl>
                                        <p:attrNameLst>
                                          <p:attrName>style.visibility</p:attrName>
                                        </p:attrNameLst>
                                      </p:cBhvr>
                                      <p:to>
                                        <p:strVal val="visible"/>
                                      </p:to>
                                    </p:set>
                                    <p:animEffect filter="fade" transition="in">
                                      <p:cBhvr>
                                        <p:cTn dur="500"/>
                                        <p:tgtEl>
                                          <p:spTgt spid="6372"/>
                                        </p:tgtEl>
                                      </p:cBhvr>
                                    </p:animEffect>
                                  </p:childTnLst>
                                </p:cTn>
                              </p:par>
                              <p:par>
                                <p:cTn fill="hold" nodeType="withEffect" presetClass="entr" presetID="10" presetSubtype="0">
                                  <p:stCondLst>
                                    <p:cond delay="0"/>
                                  </p:stCondLst>
                                  <p:childTnLst>
                                    <p:set>
                                      <p:cBhvr>
                                        <p:cTn dur="1" fill="hold">
                                          <p:stCondLst>
                                            <p:cond delay="0"/>
                                          </p:stCondLst>
                                        </p:cTn>
                                        <p:tgtEl>
                                          <p:spTgt spid="6238"/>
                                        </p:tgtEl>
                                        <p:attrNameLst>
                                          <p:attrName>style.visibility</p:attrName>
                                        </p:attrNameLst>
                                      </p:cBhvr>
                                      <p:to>
                                        <p:strVal val="visible"/>
                                      </p:to>
                                    </p:set>
                                    <p:animEffect filter="fade" transition="in">
                                      <p:cBhvr>
                                        <p:cTn dur="500"/>
                                        <p:tgtEl>
                                          <p:spTgt spid="6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8"/>
                                        </p:tgtEl>
                                        <p:attrNameLst>
                                          <p:attrName>style.visibility</p:attrName>
                                        </p:attrNameLst>
                                      </p:cBhvr>
                                      <p:to>
                                        <p:strVal val="visible"/>
                                      </p:to>
                                    </p:set>
                                    <p:animEffect filter="fade" transition="in">
                                      <p:cBhvr>
                                        <p:cTn dur="500"/>
                                        <p:tgtEl>
                                          <p:spTgt spid="6358"/>
                                        </p:tgtEl>
                                      </p:cBhvr>
                                    </p:animEffect>
                                  </p:childTnLst>
                                </p:cTn>
                              </p:par>
                              <p:par>
                                <p:cTn fill="hold" nodeType="withEffect" presetClass="entr" presetID="10" presetSubtype="0">
                                  <p:stCondLst>
                                    <p:cond delay="0"/>
                                  </p:stCondLst>
                                  <p:childTnLst>
                                    <p:set>
                                      <p:cBhvr>
                                        <p:cTn dur="1" fill="hold">
                                          <p:stCondLst>
                                            <p:cond delay="0"/>
                                          </p:stCondLst>
                                        </p:cTn>
                                        <p:tgtEl>
                                          <p:spTgt spid="6249"/>
                                        </p:tgtEl>
                                        <p:attrNameLst>
                                          <p:attrName>style.visibility</p:attrName>
                                        </p:attrNameLst>
                                      </p:cBhvr>
                                      <p:to>
                                        <p:strVal val="visible"/>
                                      </p:to>
                                    </p:set>
                                    <p:animEffect filter="fade" transition="in">
                                      <p:cBhvr>
                                        <p:cTn dur="500"/>
                                        <p:tgtEl>
                                          <p:spTgt spid="6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2" name="Shape 6392"/>
        <p:cNvGrpSpPr/>
        <p:nvPr/>
      </p:nvGrpSpPr>
      <p:grpSpPr>
        <a:xfrm>
          <a:off x="0" y="0"/>
          <a:ext cx="0" cy="0"/>
          <a:chOff x="0" y="0"/>
          <a:chExt cx="0" cy="0"/>
        </a:xfrm>
      </p:grpSpPr>
      <p:sp>
        <p:nvSpPr>
          <p:cNvPr id="6393" name="Google Shape;6393;p112"/>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94" name="Google Shape;6394;p112"/>
          <p:cNvGrpSpPr/>
          <p:nvPr/>
        </p:nvGrpSpPr>
        <p:grpSpPr>
          <a:xfrm>
            <a:off x="6240513" y="5016599"/>
            <a:ext cx="720732" cy="1182930"/>
            <a:chOff x="10910965" y="2513124"/>
            <a:chExt cx="586768" cy="904023"/>
          </a:xfrm>
        </p:grpSpPr>
        <p:sp>
          <p:nvSpPr>
            <p:cNvPr id="6395" name="Google Shape;6395;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396" name="Google Shape;6396;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397" name="Google Shape;6397;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398" name="Google Shape;6398;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399" name="Google Shape;6399;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400" name="Google Shape;6400;p112"/>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6401" name="Google Shape;6401;p112"/>
          <p:cNvSpPr txBox="1"/>
          <p:nvPr/>
        </p:nvSpPr>
        <p:spPr>
          <a:xfrm>
            <a:off x="634964" y="1182473"/>
            <a:ext cx="9710831" cy="50263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one router, </a:t>
            </a:r>
            <a:r>
              <a:rPr b="0" i="1" lang="en-US" sz="2800" u="none" cap="none" strike="noStrike">
                <a:solidFill>
                  <a:srgbClr val="000099"/>
                </a:solidFill>
                <a:latin typeface="Calibri"/>
                <a:ea typeface="Calibri"/>
                <a:cs typeface="Calibri"/>
                <a:sym typeface="Calibri"/>
              </a:rPr>
              <a:t>finite</a:t>
            </a:r>
            <a:r>
              <a:rPr b="0" i="0" lang="en-US" sz="2800" u="none" cap="none" strike="noStrike">
                <a:solidFill>
                  <a:srgbClr val="000000"/>
                </a:solidFill>
                <a:latin typeface="Calibri"/>
                <a:ea typeface="Calibri"/>
                <a:cs typeface="Calibri"/>
                <a:sym typeface="Calibri"/>
              </a:rPr>
              <a:t> buffers </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402" name="Google Shape;6402;p112"/>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03" name="Google Shape;6403;p112"/>
          <p:cNvGrpSpPr/>
          <p:nvPr/>
        </p:nvGrpSpPr>
        <p:grpSpPr>
          <a:xfrm>
            <a:off x="1278678" y="4683698"/>
            <a:ext cx="720732" cy="1182930"/>
            <a:chOff x="10910965" y="2513124"/>
            <a:chExt cx="586768" cy="904023"/>
          </a:xfrm>
        </p:grpSpPr>
        <p:sp>
          <p:nvSpPr>
            <p:cNvPr id="6404" name="Google Shape;6404;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405" name="Google Shape;6405;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06" name="Google Shape;6406;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07" name="Google Shape;6407;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08" name="Google Shape;6408;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409" name="Google Shape;6409;p112"/>
          <p:cNvGrpSpPr/>
          <p:nvPr/>
        </p:nvGrpSpPr>
        <p:grpSpPr>
          <a:xfrm>
            <a:off x="2355044" y="3521091"/>
            <a:ext cx="720732" cy="1182930"/>
            <a:chOff x="10910965" y="2513124"/>
            <a:chExt cx="586768" cy="904023"/>
          </a:xfrm>
        </p:grpSpPr>
        <p:sp>
          <p:nvSpPr>
            <p:cNvPr id="6410" name="Google Shape;6410;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411" name="Google Shape;6411;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2" name="Google Shape;6412;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3" name="Google Shape;6413;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4" name="Google Shape;6414;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415" name="Google Shape;6415;p112"/>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16" name="Google Shape;6416;p112"/>
          <p:cNvGrpSpPr/>
          <p:nvPr/>
        </p:nvGrpSpPr>
        <p:grpSpPr>
          <a:xfrm>
            <a:off x="6698918" y="3667889"/>
            <a:ext cx="720732" cy="1182930"/>
            <a:chOff x="10910965" y="2513124"/>
            <a:chExt cx="586768" cy="904023"/>
          </a:xfrm>
        </p:grpSpPr>
        <p:sp>
          <p:nvSpPr>
            <p:cNvPr id="6417" name="Google Shape;6417;p112"/>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418" name="Google Shape;6418;p112"/>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19" name="Google Shape;6419;p112"/>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20" name="Google Shape;6420;p112"/>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421" name="Google Shape;6421;p112"/>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422" name="Google Shape;6422;p112"/>
          <p:cNvGrpSpPr/>
          <p:nvPr/>
        </p:nvGrpSpPr>
        <p:grpSpPr>
          <a:xfrm>
            <a:off x="3770696" y="5033645"/>
            <a:ext cx="1286871" cy="734927"/>
            <a:chOff x="7493876" y="2774731"/>
            <a:chExt cx="1481958" cy="894622"/>
          </a:xfrm>
        </p:grpSpPr>
        <p:sp>
          <p:nvSpPr>
            <p:cNvPr id="6423" name="Google Shape;6423;p1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424" name="Google Shape;6424;p1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425" name="Google Shape;6425;p112"/>
            <p:cNvGrpSpPr/>
            <p:nvPr/>
          </p:nvGrpSpPr>
          <p:grpSpPr>
            <a:xfrm>
              <a:off x="7713663" y="2848339"/>
              <a:ext cx="1042107" cy="425543"/>
              <a:chOff x="7786941" y="2884917"/>
              <a:chExt cx="897649" cy="353919"/>
            </a:xfrm>
          </p:grpSpPr>
          <p:sp>
            <p:nvSpPr>
              <p:cNvPr id="6426" name="Google Shape;6426;p1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27" name="Google Shape;6427;p1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28" name="Google Shape;6428;p1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29" name="Google Shape;6429;p1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430" name="Google Shape;6430;p112"/>
          <p:cNvGrpSpPr/>
          <p:nvPr/>
        </p:nvGrpSpPr>
        <p:grpSpPr>
          <a:xfrm>
            <a:off x="1317421" y="3877120"/>
            <a:ext cx="645431" cy="569172"/>
            <a:chOff x="-44" y="1473"/>
            <a:chExt cx="981" cy="1105"/>
          </a:xfrm>
        </p:grpSpPr>
        <p:pic>
          <p:nvPicPr>
            <p:cNvPr descr="desktop_computer_stylized_medium" id="6431" name="Google Shape;6431;p1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432" name="Google Shape;6432;p1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33" name="Google Shape;6433;p112"/>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434" name="Google Shape;6434;p112"/>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435" name="Google Shape;6435;p112"/>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436" name="Google Shape;6436;p112"/>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437" name="Google Shape;6437;p112"/>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438" name="Google Shape;6438;p112"/>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439" name="Google Shape;6439;p112"/>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440" name="Google Shape;6440;p112"/>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441" name="Google Shape;6441;p112"/>
          <p:cNvGrpSpPr/>
          <p:nvPr/>
        </p:nvGrpSpPr>
        <p:grpSpPr>
          <a:xfrm>
            <a:off x="7531958" y="4473878"/>
            <a:ext cx="284691" cy="577481"/>
            <a:chOff x="4140" y="429"/>
            <a:chExt cx="1425" cy="2396"/>
          </a:xfrm>
        </p:grpSpPr>
        <p:sp>
          <p:nvSpPr>
            <p:cNvPr id="6442" name="Google Shape;6442;p1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3" name="Google Shape;6443;p11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4" name="Google Shape;6444;p1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5" name="Google Shape;6445;p1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6" name="Google Shape;6446;p112"/>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47" name="Google Shape;6447;p112"/>
            <p:cNvGrpSpPr/>
            <p:nvPr/>
          </p:nvGrpSpPr>
          <p:grpSpPr>
            <a:xfrm>
              <a:off x="4745" y="670"/>
              <a:ext cx="586" cy="146"/>
              <a:chOff x="609" y="2570"/>
              <a:chExt cx="731" cy="140"/>
            </a:xfrm>
          </p:grpSpPr>
          <p:sp>
            <p:nvSpPr>
              <p:cNvPr id="6448" name="Google Shape;6448;p112"/>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9" name="Google Shape;6449;p112"/>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0" name="Google Shape;6450;p112"/>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51" name="Google Shape;6451;p112"/>
            <p:cNvGrpSpPr/>
            <p:nvPr/>
          </p:nvGrpSpPr>
          <p:grpSpPr>
            <a:xfrm>
              <a:off x="4745" y="998"/>
              <a:ext cx="586" cy="129"/>
              <a:chOff x="612" y="2572"/>
              <a:chExt cx="731" cy="134"/>
            </a:xfrm>
          </p:grpSpPr>
          <p:sp>
            <p:nvSpPr>
              <p:cNvPr id="6452" name="Google Shape;6452;p112"/>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3" name="Google Shape;6453;p112"/>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4" name="Google Shape;6454;p112"/>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5" name="Google Shape;6455;p112"/>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56" name="Google Shape;6456;p112"/>
            <p:cNvGrpSpPr/>
            <p:nvPr/>
          </p:nvGrpSpPr>
          <p:grpSpPr>
            <a:xfrm>
              <a:off x="4735" y="1627"/>
              <a:ext cx="586" cy="215"/>
              <a:chOff x="614" y="2568"/>
              <a:chExt cx="730" cy="198"/>
            </a:xfrm>
          </p:grpSpPr>
          <p:sp>
            <p:nvSpPr>
              <p:cNvPr id="6457" name="Google Shape;6457;p112"/>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8" name="Google Shape;6458;p112"/>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9" name="Google Shape;6459;p1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60" name="Google Shape;6460;p112"/>
            <p:cNvGrpSpPr/>
            <p:nvPr/>
          </p:nvGrpSpPr>
          <p:grpSpPr>
            <a:xfrm>
              <a:off x="4735" y="1325"/>
              <a:ext cx="586" cy="138"/>
              <a:chOff x="609" y="2566"/>
              <a:chExt cx="730" cy="138"/>
            </a:xfrm>
          </p:grpSpPr>
          <p:sp>
            <p:nvSpPr>
              <p:cNvPr id="6461" name="Google Shape;6461;p112"/>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2" name="Google Shape;6462;p112"/>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63" name="Google Shape;6463;p112"/>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4" name="Google Shape;6464;p1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5" name="Google Shape;6465;p1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6" name="Google Shape;6466;p112"/>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7" name="Google Shape;6467;p1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8" name="Google Shape;6468;p11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9" name="Google Shape;6469;p112"/>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0" name="Google Shape;6470;p112"/>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1" name="Google Shape;6471;p112"/>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472" name="Google Shape;6472;p112"/>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3" name="Google Shape;6473;p112"/>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474" name="Google Shape;6474;p112"/>
          <p:cNvGrpSpPr/>
          <p:nvPr/>
        </p:nvGrpSpPr>
        <p:grpSpPr>
          <a:xfrm>
            <a:off x="585296" y="5655276"/>
            <a:ext cx="645431" cy="569172"/>
            <a:chOff x="-44" y="1473"/>
            <a:chExt cx="981" cy="1105"/>
          </a:xfrm>
        </p:grpSpPr>
        <p:pic>
          <p:nvPicPr>
            <p:cNvPr descr="desktop_computer_stylized_medium" id="6475" name="Google Shape;6475;p1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476" name="Google Shape;6476;p1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477" name="Google Shape;6477;p112"/>
          <p:cNvGrpSpPr/>
          <p:nvPr/>
        </p:nvGrpSpPr>
        <p:grpSpPr>
          <a:xfrm>
            <a:off x="7141970" y="5736859"/>
            <a:ext cx="284691" cy="577481"/>
            <a:chOff x="4140" y="429"/>
            <a:chExt cx="1425" cy="2396"/>
          </a:xfrm>
        </p:grpSpPr>
        <p:sp>
          <p:nvSpPr>
            <p:cNvPr id="6478" name="Google Shape;6478;p1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9" name="Google Shape;6479;p11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0" name="Google Shape;6480;p1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1" name="Google Shape;6481;p1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2" name="Google Shape;6482;p112"/>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83" name="Google Shape;6483;p112"/>
            <p:cNvGrpSpPr/>
            <p:nvPr/>
          </p:nvGrpSpPr>
          <p:grpSpPr>
            <a:xfrm>
              <a:off x="4745" y="670"/>
              <a:ext cx="586" cy="146"/>
              <a:chOff x="609" y="2570"/>
              <a:chExt cx="731" cy="140"/>
            </a:xfrm>
          </p:grpSpPr>
          <p:sp>
            <p:nvSpPr>
              <p:cNvPr id="6484" name="Google Shape;6484;p112"/>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5" name="Google Shape;6485;p112"/>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86" name="Google Shape;6486;p112"/>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87" name="Google Shape;6487;p112"/>
            <p:cNvGrpSpPr/>
            <p:nvPr/>
          </p:nvGrpSpPr>
          <p:grpSpPr>
            <a:xfrm>
              <a:off x="4745" y="998"/>
              <a:ext cx="586" cy="129"/>
              <a:chOff x="612" y="2572"/>
              <a:chExt cx="731" cy="134"/>
            </a:xfrm>
          </p:grpSpPr>
          <p:sp>
            <p:nvSpPr>
              <p:cNvPr id="6488" name="Google Shape;6488;p112"/>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89" name="Google Shape;6489;p112"/>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90" name="Google Shape;6490;p112"/>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1" name="Google Shape;6491;p112"/>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92" name="Google Shape;6492;p112"/>
            <p:cNvGrpSpPr/>
            <p:nvPr/>
          </p:nvGrpSpPr>
          <p:grpSpPr>
            <a:xfrm>
              <a:off x="4735" y="1627"/>
              <a:ext cx="586" cy="215"/>
              <a:chOff x="614" y="2568"/>
              <a:chExt cx="730" cy="198"/>
            </a:xfrm>
          </p:grpSpPr>
          <p:sp>
            <p:nvSpPr>
              <p:cNvPr id="6493" name="Google Shape;6493;p112"/>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4" name="Google Shape;6494;p112"/>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95" name="Google Shape;6495;p1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96" name="Google Shape;6496;p112"/>
            <p:cNvGrpSpPr/>
            <p:nvPr/>
          </p:nvGrpSpPr>
          <p:grpSpPr>
            <a:xfrm>
              <a:off x="4735" y="1325"/>
              <a:ext cx="586" cy="138"/>
              <a:chOff x="609" y="2566"/>
              <a:chExt cx="730" cy="138"/>
            </a:xfrm>
          </p:grpSpPr>
          <p:sp>
            <p:nvSpPr>
              <p:cNvPr id="6497" name="Google Shape;6497;p112"/>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8" name="Google Shape;6498;p112"/>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99" name="Google Shape;6499;p112"/>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0" name="Google Shape;6500;p1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1" name="Google Shape;6501;p1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2" name="Google Shape;6502;p112"/>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3" name="Google Shape;6503;p1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4" name="Google Shape;6504;p11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5" name="Google Shape;6505;p112"/>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6" name="Google Shape;6506;p112"/>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7" name="Google Shape;6507;p112"/>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508" name="Google Shape;6508;p112"/>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9" name="Google Shape;6509;p112"/>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6510" name="Google Shape;6510;p112"/>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6511" name="Google Shape;6511;p112"/>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6512" name="Google Shape;6512;p112"/>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513" name="Google Shape;6513;p112"/>
          <p:cNvGrpSpPr/>
          <p:nvPr/>
        </p:nvGrpSpPr>
        <p:grpSpPr>
          <a:xfrm>
            <a:off x="2749090" y="3427413"/>
            <a:ext cx="2851610" cy="946150"/>
            <a:chOff x="2749090" y="3427413"/>
            <a:chExt cx="2851610" cy="946150"/>
          </a:xfrm>
        </p:grpSpPr>
        <p:sp>
          <p:nvSpPr>
            <p:cNvPr id="6514" name="Google Shape;6514;p112"/>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6515" name="Google Shape;6515;p112"/>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516" name="Google Shape;6516;p112"/>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6517" name="Google Shape;6517;p112"/>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518" name="Google Shape;6518;p112"/>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6519" name="Google Shape;6519;p112"/>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6520" name="Google Shape;6520;p112"/>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521" name="Google Shape;6521;p112"/>
          <p:cNvGrpSpPr/>
          <p:nvPr/>
        </p:nvGrpSpPr>
        <p:grpSpPr>
          <a:xfrm>
            <a:off x="2913490" y="5218953"/>
            <a:ext cx="1938730" cy="1300181"/>
            <a:chOff x="2913490" y="5218953"/>
            <a:chExt cx="1938730" cy="1300181"/>
          </a:xfrm>
        </p:grpSpPr>
        <p:sp>
          <p:nvSpPr>
            <p:cNvPr id="6522" name="Google Shape;6522;p112"/>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523" name="Google Shape;6523;p112"/>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6524" name="Google Shape;6524;p112"/>
            <p:cNvGrpSpPr/>
            <p:nvPr/>
          </p:nvGrpSpPr>
          <p:grpSpPr>
            <a:xfrm>
              <a:off x="4030362" y="5218953"/>
              <a:ext cx="821858" cy="355937"/>
              <a:chOff x="6859123" y="5156933"/>
              <a:chExt cx="456701" cy="226548"/>
            </a:xfrm>
          </p:grpSpPr>
          <p:sp>
            <p:nvSpPr>
              <p:cNvPr id="6525" name="Google Shape;6525;p112"/>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26" name="Google Shape;6526;p112"/>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27" name="Google Shape;6527;p112"/>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28" name="Google Shape;6528;p112"/>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29" name="Google Shape;6529;p112"/>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30" name="Google Shape;6530;p112"/>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31" name="Google Shape;6531;p112"/>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532" name="Google Shape;6532;p112"/>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6533" name="Google Shape;6533;p112"/>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34" name="Google Shape;6534;p112"/>
          <p:cNvGrpSpPr/>
          <p:nvPr/>
        </p:nvGrpSpPr>
        <p:grpSpPr>
          <a:xfrm>
            <a:off x="1586591" y="4743924"/>
            <a:ext cx="4913849" cy="1346072"/>
            <a:chOff x="5641439" y="2685215"/>
            <a:chExt cx="4000500" cy="1028700"/>
          </a:xfrm>
        </p:grpSpPr>
        <p:sp>
          <p:nvSpPr>
            <p:cNvPr id="6535" name="Google Shape;6535;p112"/>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536" name="Google Shape;6536;p112"/>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537" name="Google Shape;6537;p112"/>
          <p:cNvGrpSpPr/>
          <p:nvPr/>
        </p:nvGrpSpPr>
        <p:grpSpPr>
          <a:xfrm>
            <a:off x="643673" y="1714605"/>
            <a:ext cx="9710831" cy="1905000"/>
            <a:chOff x="643673" y="1714605"/>
            <a:chExt cx="9710831" cy="1905000"/>
          </a:xfrm>
        </p:grpSpPr>
        <p:grpSp>
          <p:nvGrpSpPr>
            <p:cNvPr id="6538" name="Google Shape;6538;p112"/>
            <p:cNvGrpSpPr/>
            <p:nvPr/>
          </p:nvGrpSpPr>
          <p:grpSpPr>
            <a:xfrm>
              <a:off x="7750739" y="2720058"/>
              <a:ext cx="195221" cy="142875"/>
              <a:chOff x="174" y="3986"/>
              <a:chExt cx="51" cy="62"/>
            </a:xfrm>
          </p:grpSpPr>
          <p:sp>
            <p:nvSpPr>
              <p:cNvPr id="6539" name="Google Shape;6539;p112"/>
              <p:cNvSpPr/>
              <p:nvPr/>
            </p:nvSpPr>
            <p:spPr>
              <a:xfrm>
                <a:off x="176" y="3986"/>
                <a:ext cx="49" cy="48"/>
              </a:xfrm>
              <a:custGeom>
                <a:rect b="b" l="l" r="r" t="t"/>
                <a:pathLst>
                  <a:path extrusionOk="0" h="62" w="49">
                    <a:moveTo>
                      <a:pt x="0" y="0"/>
                    </a:moveTo>
                    <a:lnTo>
                      <a:pt x="49" y="32"/>
                    </a:lnTo>
                    <a:lnTo>
                      <a:pt x="4" y="62"/>
                    </a:lnTo>
                  </a:path>
                </a:pathLst>
              </a:custGeom>
              <a:solidFill>
                <a:schemeClr val="lt1"/>
              </a:solidFill>
              <a:ln cap="flat" cmpd="sng" w="222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6540" name="Google Shape;6540;p112"/>
              <p:cNvCxnSpPr/>
              <p:nvPr/>
            </p:nvCxnSpPr>
            <p:spPr>
              <a:xfrm>
                <a:off x="174" y="4048"/>
                <a:ext cx="46" cy="0"/>
              </a:xfrm>
              <a:prstGeom prst="straightConnector1">
                <a:avLst/>
              </a:prstGeom>
              <a:noFill/>
              <a:ln cap="flat" cmpd="sng" w="22225">
                <a:solidFill>
                  <a:schemeClr val="dk1"/>
                </a:solidFill>
                <a:prstDash val="solid"/>
                <a:round/>
                <a:headEnd len="med" w="med" type="none"/>
                <a:tailEnd len="med" w="med" type="none"/>
              </a:ln>
            </p:spPr>
          </p:cxnSp>
        </p:grpSp>
        <p:sp>
          <p:nvSpPr>
            <p:cNvPr id="6541" name="Google Shape;6541;p112"/>
            <p:cNvSpPr txBox="1"/>
            <p:nvPr/>
          </p:nvSpPr>
          <p:spPr>
            <a:xfrm>
              <a:off x="643673" y="1714605"/>
              <a:ext cx="9710831" cy="19050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lost, timed-out packet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application-layer input = application-layer output:</a:t>
              </a:r>
              <a:r>
                <a:rPr b="0" i="0" lang="en-US" sz="2400" u="none" cap="none" strike="noStrike">
                  <a:solidFill>
                    <a:srgbClr val="000000"/>
                  </a:solidFill>
                  <a:latin typeface="Noto Sans Symbols"/>
                  <a:ea typeface="Noto Sans Symbols"/>
                  <a:cs typeface="Noto Sans Symbols"/>
                  <a:sym typeface="Noto Sans Symbols"/>
                </a:rPr>
                <a:t> λ</a:t>
              </a:r>
              <a:r>
                <a:rPr b="0" baseline="-25000" i="0" lang="en-US" sz="2400" u="none" cap="none" strike="noStrike">
                  <a:solidFill>
                    <a:srgbClr val="000000"/>
                  </a:solidFill>
                  <a:latin typeface="Arial"/>
                  <a:ea typeface="Arial"/>
                  <a:cs typeface="Arial"/>
                  <a:sym typeface="Arial"/>
                </a:rPr>
                <a:t>in </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out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transport-layer input includes </a:t>
              </a:r>
              <a:r>
                <a:rPr b="0" i="1" lang="en-US" sz="2400" u="none" cap="none" strike="noStrike">
                  <a:solidFill>
                    <a:srgbClr val="000000"/>
                  </a:solidFill>
                  <a:latin typeface="Calibri"/>
                  <a:ea typeface="Calibri"/>
                  <a:cs typeface="Calibri"/>
                  <a:sym typeface="Calibri"/>
                </a:rPr>
                <a:t>retransmissions </a:t>
              </a:r>
              <a:r>
                <a:rPr b="0"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Noto Sans Symbols"/>
                  <a:ea typeface="Noto Sans Symbols"/>
                  <a:cs typeface="Noto Sans Symbols"/>
                  <a:sym typeface="Noto Sans Symbols"/>
                </a:rPr>
                <a:t> λ</a:t>
              </a:r>
              <a:r>
                <a:rPr b="0" i="0" lang="en-US" sz="2400" u="none" cap="none" strike="noStrike">
                  <a:solidFill>
                    <a:srgbClr val="000000"/>
                  </a:solidFill>
                  <a:latin typeface="Calibri"/>
                  <a:ea typeface="Calibri"/>
                  <a:cs typeface="Calibri"/>
                  <a:sym typeface="Calibri"/>
                </a:rPr>
                <a:t>’</a:t>
              </a:r>
              <a:r>
                <a:rPr b="0" baseline="-25000" i="0" lang="en-US" sz="2400" u="none" cap="none" strike="noStrike">
                  <a:solidFill>
                    <a:srgbClr val="000000"/>
                  </a:solidFill>
                  <a:latin typeface="Arial"/>
                  <a:ea typeface="Arial"/>
                  <a:cs typeface="Arial"/>
                  <a:sym typeface="Arial"/>
                </a:rPr>
                <a:t>in </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in</a:t>
              </a:r>
              <a:endParaRPr b="0" i="1" sz="2400" u="none" cap="none" strike="noStrike">
                <a:solidFill>
                  <a:srgbClr val="000000"/>
                </a:solidFill>
                <a:latin typeface="Calibri"/>
                <a:ea typeface="Calibri"/>
                <a:cs typeface="Calibri"/>
                <a:sym typeface="Calibri"/>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grpSp>
        <p:nvGrpSpPr>
          <p:cNvPr id="6542" name="Google Shape;6542;p112"/>
          <p:cNvGrpSpPr/>
          <p:nvPr/>
        </p:nvGrpSpPr>
        <p:grpSpPr>
          <a:xfrm>
            <a:off x="7116763" y="3629025"/>
            <a:ext cx="1057275" cy="473075"/>
            <a:chOff x="7116763" y="3629025"/>
            <a:chExt cx="1057275" cy="473075"/>
          </a:xfrm>
        </p:grpSpPr>
        <p:sp>
          <p:nvSpPr>
            <p:cNvPr id="6543" name="Google Shape;6543;p112"/>
            <p:cNvSpPr txBox="1"/>
            <p:nvPr/>
          </p:nvSpPr>
          <p:spPr>
            <a:xfrm>
              <a:off x="7583488" y="3629025"/>
              <a:ext cx="590550"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out</a:t>
              </a:r>
              <a:endParaRPr b="0" i="0" sz="2000" u="none" cap="none" strike="noStrike">
                <a:solidFill>
                  <a:srgbClr val="C00000"/>
                </a:solidFill>
                <a:latin typeface="Comic Sans MS"/>
                <a:ea typeface="Comic Sans MS"/>
                <a:cs typeface="Comic Sans MS"/>
                <a:sym typeface="Comic Sans MS"/>
              </a:endParaRPr>
            </a:p>
          </p:txBody>
        </p:sp>
        <p:cxnSp>
          <p:nvCxnSpPr>
            <p:cNvPr id="6544" name="Google Shape;6544;p112"/>
            <p:cNvCxnSpPr/>
            <p:nvPr/>
          </p:nvCxnSpPr>
          <p:spPr>
            <a:xfrm>
              <a:off x="7116763" y="38354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545" name="Google Shape;6545;p112"/>
          <p:cNvGrpSpPr/>
          <p:nvPr/>
        </p:nvGrpSpPr>
        <p:grpSpPr>
          <a:xfrm>
            <a:off x="3289650" y="5336775"/>
            <a:ext cx="2124396" cy="604097"/>
            <a:chOff x="3289650" y="5336775"/>
            <a:chExt cx="2124396" cy="604097"/>
          </a:xfrm>
        </p:grpSpPr>
        <p:sp>
          <p:nvSpPr>
            <p:cNvPr id="6546" name="Google Shape;6546;p112"/>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547" name="Google Shape;6547;p112"/>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6548" name="Google Shape;6548;p1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37"/>
                                        </p:tgtEl>
                                        <p:attrNameLst>
                                          <p:attrName>style.visibility</p:attrName>
                                        </p:attrNameLst>
                                      </p:cBhvr>
                                      <p:to>
                                        <p:strVal val="visible"/>
                                      </p:to>
                                    </p:set>
                                    <p:animEffect filter="fade" transition="in">
                                      <p:cBhvr>
                                        <p:cTn dur="500"/>
                                        <p:tgtEl>
                                          <p:spTgt spid="6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3"/>
                                        </p:tgtEl>
                                        <p:attrNameLst>
                                          <p:attrName>style.visibility</p:attrName>
                                        </p:attrNameLst>
                                      </p:cBhvr>
                                      <p:to>
                                        <p:strVal val="visible"/>
                                      </p:to>
                                    </p:set>
                                    <p:animEffect filter="fade" transition="in">
                                      <p:cBhvr>
                                        <p:cTn dur="500"/>
                                        <p:tgtEl>
                                          <p:spTgt spid="65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2"/>
                                        </p:tgtEl>
                                        <p:attrNameLst>
                                          <p:attrName>style.visibility</p:attrName>
                                        </p:attrNameLst>
                                      </p:cBhvr>
                                      <p:to>
                                        <p:strVal val="visible"/>
                                      </p:to>
                                    </p:set>
                                    <p:animEffect filter="fade" transition="in">
                                      <p:cBhvr>
                                        <p:cTn dur="500"/>
                                        <p:tgtEl>
                                          <p:spTgt spid="6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3" name="Shape 6553"/>
        <p:cNvGrpSpPr/>
        <p:nvPr/>
      </p:nvGrpSpPr>
      <p:grpSpPr>
        <a:xfrm>
          <a:off x="0" y="0"/>
          <a:ext cx="0" cy="0"/>
          <a:chOff x="0" y="0"/>
          <a:chExt cx="0" cy="0"/>
        </a:xfrm>
      </p:grpSpPr>
      <p:sp>
        <p:nvSpPr>
          <p:cNvPr id="6554" name="Google Shape;6554;p113"/>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55" name="Google Shape;6555;p113"/>
          <p:cNvGrpSpPr/>
          <p:nvPr/>
        </p:nvGrpSpPr>
        <p:grpSpPr>
          <a:xfrm>
            <a:off x="6240513" y="5016599"/>
            <a:ext cx="720732" cy="1182930"/>
            <a:chOff x="10910965" y="2513124"/>
            <a:chExt cx="586768" cy="904023"/>
          </a:xfrm>
        </p:grpSpPr>
        <p:sp>
          <p:nvSpPr>
            <p:cNvPr id="6556" name="Google Shape;6556;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57" name="Google Shape;6557;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58" name="Google Shape;6558;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59" name="Google Shape;6559;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0" name="Google Shape;6560;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561" name="Google Shape;6561;p113"/>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62" name="Google Shape;6562;p113"/>
          <p:cNvGrpSpPr/>
          <p:nvPr/>
        </p:nvGrpSpPr>
        <p:grpSpPr>
          <a:xfrm>
            <a:off x="1278678" y="4683698"/>
            <a:ext cx="720732" cy="1182930"/>
            <a:chOff x="10910965" y="2513124"/>
            <a:chExt cx="586768" cy="904023"/>
          </a:xfrm>
        </p:grpSpPr>
        <p:sp>
          <p:nvSpPr>
            <p:cNvPr id="6563" name="Google Shape;6563;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64" name="Google Shape;6564;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5" name="Google Shape;6565;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6" name="Google Shape;6566;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67" name="Google Shape;6567;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568" name="Google Shape;6568;p113"/>
          <p:cNvGrpSpPr/>
          <p:nvPr/>
        </p:nvGrpSpPr>
        <p:grpSpPr>
          <a:xfrm>
            <a:off x="2355044" y="3521091"/>
            <a:ext cx="720732" cy="1182930"/>
            <a:chOff x="10910965" y="2513124"/>
            <a:chExt cx="586768" cy="904023"/>
          </a:xfrm>
        </p:grpSpPr>
        <p:sp>
          <p:nvSpPr>
            <p:cNvPr id="6569" name="Google Shape;6569;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70" name="Google Shape;6570;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1" name="Google Shape;6571;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2" name="Google Shape;6572;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3" name="Google Shape;6573;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574" name="Google Shape;6574;p113"/>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75" name="Google Shape;6575;p113"/>
          <p:cNvGrpSpPr/>
          <p:nvPr/>
        </p:nvGrpSpPr>
        <p:grpSpPr>
          <a:xfrm>
            <a:off x="6698918" y="3667889"/>
            <a:ext cx="720732" cy="1182930"/>
            <a:chOff x="10910965" y="2513124"/>
            <a:chExt cx="586768" cy="904023"/>
          </a:xfrm>
        </p:grpSpPr>
        <p:sp>
          <p:nvSpPr>
            <p:cNvPr id="6576" name="Google Shape;6576;p113"/>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77" name="Google Shape;6577;p113"/>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8" name="Google Shape;6578;p113"/>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79" name="Google Shape;6579;p113"/>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580" name="Google Shape;6580;p113"/>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581" name="Google Shape;6581;p113"/>
          <p:cNvGrpSpPr/>
          <p:nvPr/>
        </p:nvGrpSpPr>
        <p:grpSpPr>
          <a:xfrm>
            <a:off x="3770696" y="5033645"/>
            <a:ext cx="1286871" cy="734927"/>
            <a:chOff x="7493876" y="2774731"/>
            <a:chExt cx="1481958" cy="894622"/>
          </a:xfrm>
        </p:grpSpPr>
        <p:sp>
          <p:nvSpPr>
            <p:cNvPr id="6582" name="Google Shape;6582;p1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583" name="Google Shape;6583;p1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584" name="Google Shape;6584;p113"/>
            <p:cNvGrpSpPr/>
            <p:nvPr/>
          </p:nvGrpSpPr>
          <p:grpSpPr>
            <a:xfrm>
              <a:off x="7713663" y="2848339"/>
              <a:ext cx="1042107" cy="425543"/>
              <a:chOff x="7786941" y="2884917"/>
              <a:chExt cx="897649" cy="353919"/>
            </a:xfrm>
          </p:grpSpPr>
          <p:sp>
            <p:nvSpPr>
              <p:cNvPr id="6585" name="Google Shape;6585;p1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6" name="Google Shape;6586;p1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7" name="Google Shape;6587;p1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8" name="Google Shape;6588;p1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589" name="Google Shape;6589;p113"/>
          <p:cNvGrpSpPr/>
          <p:nvPr/>
        </p:nvGrpSpPr>
        <p:grpSpPr>
          <a:xfrm>
            <a:off x="1317421" y="3877120"/>
            <a:ext cx="645431" cy="569172"/>
            <a:chOff x="-44" y="1473"/>
            <a:chExt cx="981" cy="1105"/>
          </a:xfrm>
        </p:grpSpPr>
        <p:pic>
          <p:nvPicPr>
            <p:cNvPr descr="desktop_computer_stylized_medium" id="6590" name="Google Shape;6590;p1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591" name="Google Shape;6591;p1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92" name="Google Shape;6592;p113"/>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593" name="Google Shape;6593;p113"/>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594" name="Google Shape;6594;p113"/>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595" name="Google Shape;6595;p113"/>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596" name="Google Shape;6596;p113"/>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597" name="Google Shape;6597;p113"/>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598" name="Google Shape;6598;p113"/>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599" name="Google Shape;6599;p113"/>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600" name="Google Shape;6600;p113"/>
          <p:cNvGrpSpPr/>
          <p:nvPr/>
        </p:nvGrpSpPr>
        <p:grpSpPr>
          <a:xfrm>
            <a:off x="7531958" y="4473878"/>
            <a:ext cx="284691" cy="577481"/>
            <a:chOff x="4140" y="429"/>
            <a:chExt cx="1425" cy="2396"/>
          </a:xfrm>
        </p:grpSpPr>
        <p:sp>
          <p:nvSpPr>
            <p:cNvPr id="6601" name="Google Shape;6601;p1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2" name="Google Shape;6602;p113"/>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3" name="Google Shape;6603;p1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4" name="Google Shape;6604;p1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5" name="Google Shape;6605;p113"/>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06" name="Google Shape;6606;p113"/>
            <p:cNvGrpSpPr/>
            <p:nvPr/>
          </p:nvGrpSpPr>
          <p:grpSpPr>
            <a:xfrm>
              <a:off x="4745" y="670"/>
              <a:ext cx="586" cy="146"/>
              <a:chOff x="609" y="2570"/>
              <a:chExt cx="731" cy="140"/>
            </a:xfrm>
          </p:grpSpPr>
          <p:sp>
            <p:nvSpPr>
              <p:cNvPr id="6607" name="Google Shape;6607;p113"/>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8" name="Google Shape;6608;p113"/>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09" name="Google Shape;6609;p113"/>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0" name="Google Shape;6610;p113"/>
            <p:cNvGrpSpPr/>
            <p:nvPr/>
          </p:nvGrpSpPr>
          <p:grpSpPr>
            <a:xfrm>
              <a:off x="4745" y="998"/>
              <a:ext cx="586" cy="129"/>
              <a:chOff x="612" y="2572"/>
              <a:chExt cx="731" cy="134"/>
            </a:xfrm>
          </p:grpSpPr>
          <p:sp>
            <p:nvSpPr>
              <p:cNvPr id="6611" name="Google Shape;6611;p113"/>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2" name="Google Shape;6612;p113"/>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13" name="Google Shape;6613;p113"/>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4" name="Google Shape;6614;p113"/>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5" name="Google Shape;6615;p113"/>
            <p:cNvGrpSpPr/>
            <p:nvPr/>
          </p:nvGrpSpPr>
          <p:grpSpPr>
            <a:xfrm>
              <a:off x="4735" y="1627"/>
              <a:ext cx="586" cy="215"/>
              <a:chOff x="614" y="2568"/>
              <a:chExt cx="730" cy="198"/>
            </a:xfrm>
          </p:grpSpPr>
          <p:sp>
            <p:nvSpPr>
              <p:cNvPr id="6616" name="Google Shape;6616;p113"/>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7" name="Google Shape;6617;p113"/>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18" name="Google Shape;6618;p1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9" name="Google Shape;6619;p113"/>
            <p:cNvGrpSpPr/>
            <p:nvPr/>
          </p:nvGrpSpPr>
          <p:grpSpPr>
            <a:xfrm>
              <a:off x="4735" y="1325"/>
              <a:ext cx="586" cy="138"/>
              <a:chOff x="609" y="2566"/>
              <a:chExt cx="730" cy="138"/>
            </a:xfrm>
          </p:grpSpPr>
          <p:sp>
            <p:nvSpPr>
              <p:cNvPr id="6620" name="Google Shape;6620;p113"/>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1" name="Google Shape;6621;p113"/>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22" name="Google Shape;6622;p113"/>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3" name="Google Shape;6623;p1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4" name="Google Shape;6624;p1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5" name="Google Shape;6625;p11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6" name="Google Shape;6626;p1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7" name="Google Shape;6627;p113"/>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8" name="Google Shape;6628;p113"/>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9" name="Google Shape;6629;p113"/>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0" name="Google Shape;6630;p113"/>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631" name="Google Shape;6631;p113"/>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2" name="Google Shape;6632;p113"/>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633" name="Google Shape;6633;p113"/>
          <p:cNvGrpSpPr/>
          <p:nvPr/>
        </p:nvGrpSpPr>
        <p:grpSpPr>
          <a:xfrm>
            <a:off x="585296" y="5655276"/>
            <a:ext cx="645431" cy="569172"/>
            <a:chOff x="-44" y="1473"/>
            <a:chExt cx="981" cy="1105"/>
          </a:xfrm>
        </p:grpSpPr>
        <p:pic>
          <p:nvPicPr>
            <p:cNvPr descr="desktop_computer_stylized_medium" id="6634" name="Google Shape;6634;p1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635" name="Google Shape;6635;p1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636" name="Google Shape;6636;p113"/>
          <p:cNvGrpSpPr/>
          <p:nvPr/>
        </p:nvGrpSpPr>
        <p:grpSpPr>
          <a:xfrm>
            <a:off x="7141970" y="5736859"/>
            <a:ext cx="284691" cy="577481"/>
            <a:chOff x="4140" y="429"/>
            <a:chExt cx="1425" cy="2396"/>
          </a:xfrm>
        </p:grpSpPr>
        <p:sp>
          <p:nvSpPr>
            <p:cNvPr id="6637" name="Google Shape;6637;p1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8" name="Google Shape;6638;p113"/>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9" name="Google Shape;6639;p1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0" name="Google Shape;6640;p1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1" name="Google Shape;6641;p113"/>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42" name="Google Shape;6642;p113"/>
            <p:cNvGrpSpPr/>
            <p:nvPr/>
          </p:nvGrpSpPr>
          <p:grpSpPr>
            <a:xfrm>
              <a:off x="4745" y="670"/>
              <a:ext cx="586" cy="146"/>
              <a:chOff x="609" y="2570"/>
              <a:chExt cx="731" cy="140"/>
            </a:xfrm>
          </p:grpSpPr>
          <p:sp>
            <p:nvSpPr>
              <p:cNvPr id="6643" name="Google Shape;6643;p113"/>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4" name="Google Shape;6644;p113"/>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45" name="Google Shape;6645;p113"/>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46" name="Google Shape;6646;p113"/>
            <p:cNvGrpSpPr/>
            <p:nvPr/>
          </p:nvGrpSpPr>
          <p:grpSpPr>
            <a:xfrm>
              <a:off x="4745" y="998"/>
              <a:ext cx="586" cy="129"/>
              <a:chOff x="612" y="2572"/>
              <a:chExt cx="731" cy="134"/>
            </a:xfrm>
          </p:grpSpPr>
          <p:sp>
            <p:nvSpPr>
              <p:cNvPr id="6647" name="Google Shape;6647;p113"/>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8" name="Google Shape;6648;p113"/>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49" name="Google Shape;6649;p113"/>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0" name="Google Shape;6650;p113"/>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51" name="Google Shape;6651;p113"/>
            <p:cNvGrpSpPr/>
            <p:nvPr/>
          </p:nvGrpSpPr>
          <p:grpSpPr>
            <a:xfrm>
              <a:off x="4735" y="1627"/>
              <a:ext cx="586" cy="215"/>
              <a:chOff x="614" y="2568"/>
              <a:chExt cx="730" cy="198"/>
            </a:xfrm>
          </p:grpSpPr>
          <p:sp>
            <p:nvSpPr>
              <p:cNvPr id="6652" name="Google Shape;6652;p113"/>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3" name="Google Shape;6653;p113"/>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54" name="Google Shape;6654;p1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55" name="Google Shape;6655;p113"/>
            <p:cNvGrpSpPr/>
            <p:nvPr/>
          </p:nvGrpSpPr>
          <p:grpSpPr>
            <a:xfrm>
              <a:off x="4735" y="1325"/>
              <a:ext cx="586" cy="138"/>
              <a:chOff x="609" y="2566"/>
              <a:chExt cx="730" cy="138"/>
            </a:xfrm>
          </p:grpSpPr>
          <p:sp>
            <p:nvSpPr>
              <p:cNvPr id="6656" name="Google Shape;6656;p113"/>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7" name="Google Shape;6657;p113"/>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58" name="Google Shape;6658;p113"/>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59" name="Google Shape;6659;p1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0" name="Google Shape;6660;p1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1" name="Google Shape;6661;p11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2" name="Google Shape;6662;p1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3" name="Google Shape;6663;p113"/>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4" name="Google Shape;6664;p113"/>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5" name="Google Shape;6665;p113"/>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6" name="Google Shape;6666;p113"/>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667" name="Google Shape;6667;p113"/>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68" name="Google Shape;6668;p113"/>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6669" name="Google Shape;6669;p113"/>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6670" name="Google Shape;6670;p113"/>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6671" name="Google Shape;6671;p113"/>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672" name="Google Shape;6672;p113"/>
          <p:cNvGrpSpPr/>
          <p:nvPr/>
        </p:nvGrpSpPr>
        <p:grpSpPr>
          <a:xfrm>
            <a:off x="2749090" y="3427413"/>
            <a:ext cx="2851610" cy="946150"/>
            <a:chOff x="2749090" y="3427413"/>
            <a:chExt cx="2851610" cy="946150"/>
          </a:xfrm>
        </p:grpSpPr>
        <p:sp>
          <p:nvSpPr>
            <p:cNvPr id="6673" name="Google Shape;6673;p113"/>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6674" name="Google Shape;6674;p113"/>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675" name="Google Shape;6675;p113"/>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6676" name="Google Shape;6676;p113"/>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77" name="Google Shape;6677;p113"/>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6678" name="Google Shape;6678;p113"/>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6679" name="Google Shape;6679;p113"/>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680" name="Google Shape;6680;p113"/>
          <p:cNvGrpSpPr/>
          <p:nvPr/>
        </p:nvGrpSpPr>
        <p:grpSpPr>
          <a:xfrm>
            <a:off x="2913490" y="5218953"/>
            <a:ext cx="1938730" cy="1300181"/>
            <a:chOff x="2913490" y="5218953"/>
            <a:chExt cx="1938730" cy="1300181"/>
          </a:xfrm>
        </p:grpSpPr>
        <p:sp>
          <p:nvSpPr>
            <p:cNvPr id="6681" name="Google Shape;6681;p113"/>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682" name="Google Shape;6682;p113"/>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6683" name="Google Shape;6683;p113"/>
            <p:cNvGrpSpPr/>
            <p:nvPr/>
          </p:nvGrpSpPr>
          <p:grpSpPr>
            <a:xfrm>
              <a:off x="4030362" y="5218953"/>
              <a:ext cx="821858" cy="355937"/>
              <a:chOff x="6859123" y="5156933"/>
              <a:chExt cx="456701" cy="226548"/>
            </a:xfrm>
          </p:grpSpPr>
          <p:sp>
            <p:nvSpPr>
              <p:cNvPr id="6684" name="Google Shape;6684;p113"/>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685" name="Google Shape;6685;p113"/>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6" name="Google Shape;6686;p113"/>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7" name="Google Shape;6687;p113"/>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8" name="Google Shape;6688;p113"/>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89" name="Google Shape;6689;p113"/>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90" name="Google Shape;6690;p113"/>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691" name="Google Shape;6691;p113"/>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6692" name="Google Shape;6692;p113"/>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93" name="Google Shape;6693;p113"/>
          <p:cNvGrpSpPr/>
          <p:nvPr/>
        </p:nvGrpSpPr>
        <p:grpSpPr>
          <a:xfrm>
            <a:off x="1586591" y="4743924"/>
            <a:ext cx="4913849" cy="1346072"/>
            <a:chOff x="5641439" y="2685215"/>
            <a:chExt cx="4000500" cy="1028700"/>
          </a:xfrm>
        </p:grpSpPr>
        <p:sp>
          <p:nvSpPr>
            <p:cNvPr id="6694" name="Google Shape;6694;p113"/>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95" name="Google Shape;6695;p113"/>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96" name="Google Shape;6696;p113"/>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6697" name="Google Shape;6697;p113"/>
          <p:cNvSpPr/>
          <p:nvPr/>
        </p:nvSpPr>
        <p:spPr>
          <a:xfrm>
            <a:off x="2763838"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98" name="Google Shape;6698;p113"/>
          <p:cNvSpPr/>
          <p:nvPr/>
        </p:nvSpPr>
        <p:spPr>
          <a:xfrm>
            <a:off x="2763838"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99" name="Google Shape;6699;p113"/>
          <p:cNvSpPr/>
          <p:nvPr/>
        </p:nvSpPr>
        <p:spPr>
          <a:xfrm>
            <a:off x="2711450" y="3590925"/>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00" name="Google Shape;6700;p113"/>
          <p:cNvSpPr/>
          <p:nvPr/>
        </p:nvSpPr>
        <p:spPr>
          <a:xfrm>
            <a:off x="2381250" y="3824288"/>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01" name="Google Shape;6701;p113"/>
          <p:cNvSpPr txBox="1"/>
          <p:nvPr/>
        </p:nvSpPr>
        <p:spPr>
          <a:xfrm>
            <a:off x="1757363" y="3714750"/>
            <a:ext cx="6127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0" lang="en-US" sz="1600" u="none" cap="none" strike="noStrike">
                <a:solidFill>
                  <a:srgbClr val="006600"/>
                </a:solidFill>
                <a:latin typeface="Arial"/>
                <a:ea typeface="Arial"/>
                <a:cs typeface="Arial"/>
                <a:sym typeface="Arial"/>
              </a:rPr>
              <a:t>copy</a:t>
            </a:r>
            <a:endParaRPr/>
          </a:p>
        </p:txBody>
      </p:sp>
      <p:sp>
        <p:nvSpPr>
          <p:cNvPr id="6702" name="Google Shape;6702;p113"/>
          <p:cNvSpPr txBox="1"/>
          <p:nvPr/>
        </p:nvSpPr>
        <p:spPr>
          <a:xfrm>
            <a:off x="3722688" y="4738894"/>
            <a:ext cx="1768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free buffer space!</a:t>
            </a:r>
            <a:endParaRPr/>
          </a:p>
        </p:txBody>
      </p:sp>
      <p:sp>
        <p:nvSpPr>
          <p:cNvPr id="6703" name="Google Shape;6703;p113"/>
          <p:cNvSpPr txBox="1"/>
          <p:nvPr/>
        </p:nvSpPr>
        <p:spPr>
          <a:xfrm>
            <a:off x="592471" y="1287763"/>
            <a:ext cx="7623176" cy="14303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2800"/>
              <a:buFont typeface="Noto Sans Symbols"/>
              <a:buNone/>
            </a:pPr>
            <a:r>
              <a:rPr b="0" i="0" lang="en-US" sz="2800" u="none" cap="none" strike="noStrike">
                <a:solidFill>
                  <a:srgbClr val="000099"/>
                </a:solidFill>
                <a:latin typeface="Calibri"/>
                <a:ea typeface="Calibri"/>
                <a:cs typeface="Calibri"/>
                <a:sym typeface="Calibri"/>
              </a:rPr>
              <a:t>Idealization: </a:t>
            </a:r>
            <a:r>
              <a:rPr b="0" i="0" lang="en-US" sz="2800" u="none" cap="none" strike="noStrike">
                <a:solidFill>
                  <a:srgbClr val="C00000"/>
                </a:solidFill>
                <a:latin typeface="Calibri"/>
                <a:ea typeface="Calibri"/>
                <a:cs typeface="Calibri"/>
                <a:sym typeface="Calibri"/>
              </a:rPr>
              <a:t>perfect knowledge</a:t>
            </a:r>
            <a:endParaRPr/>
          </a:p>
          <a:p>
            <a:pPr indent="-227013" lvl="0" marL="4667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sender sends only when router buffers available </a:t>
            </a:r>
            <a:endParaRPr/>
          </a:p>
          <a:p>
            <a:pPr indent="-69850" lvl="0" marL="352425" marR="0" rtl="0" algn="l">
              <a:lnSpc>
                <a:spcPct val="8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704" name="Google Shape;6704;p113"/>
          <p:cNvSpPr txBox="1"/>
          <p:nvPr/>
        </p:nvSpPr>
        <p:spPr>
          <a:xfrm>
            <a:off x="7583488" y="3629025"/>
            <a:ext cx="590550"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out</a:t>
            </a:r>
            <a:endParaRPr b="0" i="0" sz="2000" u="none" cap="none" strike="noStrike">
              <a:solidFill>
                <a:srgbClr val="C00000"/>
              </a:solidFill>
              <a:latin typeface="Comic Sans MS"/>
              <a:ea typeface="Comic Sans MS"/>
              <a:cs typeface="Comic Sans MS"/>
              <a:sym typeface="Comic Sans MS"/>
            </a:endParaRPr>
          </a:p>
        </p:txBody>
      </p:sp>
      <p:cxnSp>
        <p:nvCxnSpPr>
          <p:cNvPr id="6705" name="Google Shape;6705;p113"/>
          <p:cNvCxnSpPr/>
          <p:nvPr/>
        </p:nvCxnSpPr>
        <p:spPr>
          <a:xfrm>
            <a:off x="7116763" y="3835400"/>
            <a:ext cx="514350" cy="0"/>
          </a:xfrm>
          <a:prstGeom prst="straightConnector1">
            <a:avLst/>
          </a:prstGeom>
          <a:noFill/>
          <a:ln cap="flat" cmpd="sng" w="12700">
            <a:solidFill>
              <a:srgbClr val="000000"/>
            </a:solidFill>
            <a:prstDash val="solid"/>
            <a:round/>
            <a:headEnd len="med" w="med" type="triangle"/>
            <a:tailEnd len="med" w="med" type="none"/>
          </a:ln>
        </p:spPr>
      </p:cxnSp>
      <p:grpSp>
        <p:nvGrpSpPr>
          <p:cNvPr id="6706" name="Google Shape;6706;p113"/>
          <p:cNvGrpSpPr/>
          <p:nvPr/>
        </p:nvGrpSpPr>
        <p:grpSpPr>
          <a:xfrm>
            <a:off x="3289650" y="5336775"/>
            <a:ext cx="2124396" cy="604097"/>
            <a:chOff x="3289650" y="5336775"/>
            <a:chExt cx="2124396" cy="604097"/>
          </a:xfrm>
        </p:grpSpPr>
        <p:sp>
          <p:nvSpPr>
            <p:cNvPr id="6707" name="Google Shape;6707;p113"/>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708" name="Google Shape;6708;p113"/>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grpSp>
        <p:nvGrpSpPr>
          <p:cNvPr id="6709" name="Google Shape;6709;p113"/>
          <p:cNvGrpSpPr/>
          <p:nvPr/>
        </p:nvGrpSpPr>
        <p:grpSpPr>
          <a:xfrm>
            <a:off x="8192434" y="1423967"/>
            <a:ext cx="3184336" cy="2791471"/>
            <a:chOff x="7614918" y="1260338"/>
            <a:chExt cx="3184336" cy="2791471"/>
          </a:xfrm>
        </p:grpSpPr>
        <p:sp>
          <p:nvSpPr>
            <p:cNvPr id="6710" name="Google Shape;6710;p113"/>
            <p:cNvSpPr txBox="1"/>
            <p:nvPr/>
          </p:nvSpPr>
          <p:spPr>
            <a:xfrm>
              <a:off x="9984131" y="3536215"/>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711" name="Google Shape;6711;p113"/>
            <p:cNvSpPr txBox="1"/>
            <p:nvPr/>
          </p:nvSpPr>
          <p:spPr>
            <a:xfrm>
              <a:off x="8924637" y="3354937"/>
              <a:ext cx="801069" cy="6713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a:p>
          </p:txBody>
        </p:sp>
        <p:cxnSp>
          <p:nvCxnSpPr>
            <p:cNvPr id="6712" name="Google Shape;6712;p113"/>
            <p:cNvCxnSpPr/>
            <p:nvPr/>
          </p:nvCxnSpPr>
          <p:spPr>
            <a:xfrm>
              <a:off x="8219134" y="1260338"/>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6713" name="Google Shape;6713;p113"/>
            <p:cNvCxnSpPr/>
            <p:nvPr/>
          </p:nvCxnSpPr>
          <p:spPr>
            <a:xfrm>
              <a:off x="10226022" y="1496652"/>
              <a:ext cx="0" cy="1869027"/>
            </a:xfrm>
            <a:prstGeom prst="straightConnector1">
              <a:avLst/>
            </a:prstGeom>
            <a:noFill/>
            <a:ln cap="flat" cmpd="sng" w="12700">
              <a:solidFill>
                <a:schemeClr val="dk1"/>
              </a:solidFill>
              <a:prstDash val="dash"/>
              <a:round/>
              <a:headEnd len="med" w="med" type="none"/>
              <a:tailEnd len="med" w="med" type="none"/>
            </a:ln>
          </p:spPr>
        </p:cxnSp>
        <p:sp>
          <p:nvSpPr>
            <p:cNvPr id="6714" name="Google Shape;6714;p113"/>
            <p:cNvSpPr/>
            <p:nvPr/>
          </p:nvSpPr>
          <p:spPr>
            <a:xfrm>
              <a:off x="8207891" y="1437573"/>
              <a:ext cx="2023753" cy="1965701"/>
            </a:xfrm>
            <a:custGeom>
              <a:rect b="b" l="l" r="r" t="t"/>
              <a:pathLst>
                <a:path extrusionOk="0" h="732" w="720">
                  <a:moveTo>
                    <a:pt x="0" y="732"/>
                  </a:moveTo>
                  <a:lnTo>
                    <a:pt x="720"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6715" name="Google Shape;6715;p113"/>
            <p:cNvCxnSpPr/>
            <p:nvPr/>
          </p:nvCxnSpPr>
          <p:spPr>
            <a:xfrm>
              <a:off x="8072974" y="1437573"/>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6716" name="Google Shape;6716;p113"/>
            <p:cNvCxnSpPr/>
            <p:nvPr/>
          </p:nvCxnSpPr>
          <p:spPr>
            <a:xfrm>
              <a:off x="10220401" y="3419386"/>
              <a:ext cx="0" cy="155752"/>
            </a:xfrm>
            <a:prstGeom prst="straightConnector1">
              <a:avLst/>
            </a:prstGeom>
            <a:noFill/>
            <a:ln cap="flat" cmpd="sng" w="19050">
              <a:solidFill>
                <a:schemeClr val="dk1"/>
              </a:solidFill>
              <a:prstDash val="solid"/>
              <a:round/>
              <a:headEnd len="med" w="med" type="none"/>
              <a:tailEnd len="med" w="med" type="none"/>
            </a:ln>
          </p:spPr>
        </p:cxnSp>
        <p:sp>
          <p:nvSpPr>
            <p:cNvPr id="6717" name="Google Shape;6717;p113"/>
            <p:cNvSpPr txBox="1"/>
            <p:nvPr/>
          </p:nvSpPr>
          <p:spPr>
            <a:xfrm>
              <a:off x="7614918" y="1263052"/>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6718" name="Google Shape;6718;p113"/>
            <p:cNvSpPr txBox="1"/>
            <p:nvPr/>
          </p:nvSpPr>
          <p:spPr>
            <a:xfrm rot="-5400000">
              <a:off x="7645131" y="1392361"/>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6719" name="Google Shape;6719;p113"/>
            <p:cNvCxnSpPr/>
            <p:nvPr/>
          </p:nvCxnSpPr>
          <p:spPr>
            <a:xfrm>
              <a:off x="8252864" y="1440259"/>
              <a:ext cx="1841053" cy="0"/>
            </a:xfrm>
            <a:prstGeom prst="straightConnector1">
              <a:avLst/>
            </a:prstGeom>
            <a:noFill/>
            <a:ln cap="flat" cmpd="sng" w="12700">
              <a:solidFill>
                <a:schemeClr val="dk1"/>
              </a:solidFill>
              <a:prstDash val="dash"/>
              <a:round/>
              <a:headEnd len="med" w="med" type="none"/>
              <a:tailEnd len="med" w="med" type="none"/>
            </a:ln>
          </p:spPr>
        </p:cxnSp>
        <p:cxnSp>
          <p:nvCxnSpPr>
            <p:cNvPr id="6720" name="Google Shape;6720;p113"/>
            <p:cNvCxnSpPr/>
            <p:nvPr/>
          </p:nvCxnSpPr>
          <p:spPr>
            <a:xfrm>
              <a:off x="8229601" y="3397718"/>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6721" name="Google Shape;6721;p113"/>
            <p:cNvSpPr txBox="1"/>
            <p:nvPr/>
          </p:nvSpPr>
          <p:spPr>
            <a:xfrm rot="-5400000">
              <a:off x="7392763" y="2479458"/>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6722" name="Google Shape;6722;p113"/>
            <p:cNvSpPr/>
            <p:nvPr/>
          </p:nvSpPr>
          <p:spPr>
            <a:xfrm>
              <a:off x="10147300" y="1397000"/>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723" name="Google Shape;6723;p1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9"/>
                                        </p:tgtEl>
                                        <p:attrNameLst>
                                          <p:attrName>style.visibility</p:attrName>
                                        </p:attrNameLst>
                                      </p:cBhvr>
                                      <p:to>
                                        <p:strVal val="visible"/>
                                      </p:to>
                                    </p:set>
                                    <p:animEffect filter="fade" transition="in">
                                      <p:cBhvr>
                                        <p:cTn dur="500"/>
                                        <p:tgtEl>
                                          <p:spTgt spid="669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700"/>
                                        </p:tgtEl>
                                        <p:attrNameLst>
                                          <p:attrName>style.visibility</p:attrName>
                                        </p:attrNameLst>
                                      </p:cBhvr>
                                      <p:to>
                                        <p:strVal val="visible"/>
                                      </p:to>
                                    </p:set>
                                    <p:animEffect filter="fade" transition="in">
                                      <p:cBhvr>
                                        <p:cTn dur="500"/>
                                        <p:tgtEl>
                                          <p:spTgt spid="6700"/>
                                        </p:tgtEl>
                                      </p:cBhvr>
                                    </p:animEffect>
                                  </p:childTnLst>
                                </p:cTn>
                              </p:par>
                              <p:par>
                                <p:cTn fill="hold" nodeType="withEffect" presetClass="entr" presetID="10" presetSubtype="0">
                                  <p:stCondLst>
                                    <p:cond delay="0"/>
                                  </p:stCondLst>
                                  <p:childTnLst>
                                    <p:set>
                                      <p:cBhvr>
                                        <p:cTn dur="1" fill="hold">
                                          <p:stCondLst>
                                            <p:cond delay="0"/>
                                          </p:stCondLst>
                                        </p:cTn>
                                        <p:tgtEl>
                                          <p:spTgt spid="6701"/>
                                        </p:tgtEl>
                                        <p:attrNameLst>
                                          <p:attrName>style.visibility</p:attrName>
                                        </p:attrNameLst>
                                      </p:cBhvr>
                                      <p:to>
                                        <p:strVal val="visible"/>
                                      </p:to>
                                    </p:set>
                                    <p:animEffect filter="fade" transition="in">
                                      <p:cBhvr>
                                        <p:cTn dur="500"/>
                                        <p:tgtEl>
                                          <p:spTgt spid="6701"/>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6701"/>
                                        </p:tgtEl>
                                      </p:cBhvr>
                                    </p:animEffect>
                                    <p:set>
                                      <p:cBhvr>
                                        <p:cTn dur="1" fill="hold">
                                          <p:stCondLst>
                                            <p:cond delay="500"/>
                                          </p:stCondLst>
                                        </p:cTn>
                                        <p:tgtEl>
                                          <p:spTgt spid="6701"/>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702"/>
                                        </p:tgtEl>
                                        <p:attrNameLst>
                                          <p:attrName>style.visibility</p:attrName>
                                        </p:attrNameLst>
                                      </p:cBhvr>
                                      <p:to>
                                        <p:strVal val="visible"/>
                                      </p:to>
                                    </p:set>
                                    <p:animEffect filter="fade" transition="in">
                                      <p:cBhvr>
                                        <p:cTn dur="500"/>
                                        <p:tgtEl>
                                          <p:spTgt spid="6702"/>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6702"/>
                                        </p:tgtEl>
                                      </p:cBhvr>
                                    </p:animEffect>
                                    <p:set>
                                      <p:cBhvr>
                                        <p:cTn dur="1" fill="hold">
                                          <p:stCondLst>
                                            <p:cond delay="500"/>
                                          </p:stCondLst>
                                        </p:cTn>
                                        <p:tgtEl>
                                          <p:spTgt spid="6702"/>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6699"/>
                                        </p:tgtEl>
                                      </p:cBhvr>
                                    </p:animEffect>
                                    <p:set>
                                      <p:cBhvr>
                                        <p:cTn dur="1" fill="hold">
                                          <p:stCondLst>
                                            <p:cond delay="500"/>
                                          </p:stCondLst>
                                        </p:cTn>
                                        <p:tgtEl>
                                          <p:spTgt spid="669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700"/>
                                        </p:tgtEl>
                                      </p:cBhvr>
                                    </p:animEffect>
                                    <p:set>
                                      <p:cBhvr>
                                        <p:cTn dur="1" fill="hold">
                                          <p:stCondLst>
                                            <p:cond delay="500"/>
                                          </p:stCondLst>
                                        </p:cTn>
                                        <p:tgtEl>
                                          <p:spTgt spid="67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9"/>
                                        </p:tgtEl>
                                        <p:attrNameLst>
                                          <p:attrName>style.visibility</p:attrName>
                                        </p:attrNameLst>
                                      </p:cBhvr>
                                      <p:to>
                                        <p:strVal val="visible"/>
                                      </p:to>
                                    </p:set>
                                    <p:animEffect filter="fade" transition="in">
                                      <p:cBhvr>
                                        <p:cTn dur="500"/>
                                        <p:tgtEl>
                                          <p:spTgt spid="67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8" name="Shape 6728"/>
        <p:cNvGrpSpPr/>
        <p:nvPr/>
      </p:nvGrpSpPr>
      <p:grpSpPr>
        <a:xfrm>
          <a:off x="0" y="0"/>
          <a:ext cx="0" cy="0"/>
          <a:chOff x="0" y="0"/>
          <a:chExt cx="0" cy="0"/>
        </a:xfrm>
      </p:grpSpPr>
      <p:pic>
        <p:nvPicPr>
          <p:cNvPr descr="garbage_can" id="6729" name="Google Shape;6729;p114"/>
          <p:cNvPicPr preferRelativeResize="0"/>
          <p:nvPr/>
        </p:nvPicPr>
        <p:blipFill rotWithShape="1">
          <a:blip r:embed="rId3">
            <a:alphaModFix/>
          </a:blip>
          <a:srcRect b="0" l="0" r="0" t="0"/>
          <a:stretch/>
        </p:blipFill>
        <p:spPr>
          <a:xfrm>
            <a:off x="4379913" y="5775325"/>
            <a:ext cx="487362" cy="649288"/>
          </a:xfrm>
          <a:prstGeom prst="rect">
            <a:avLst/>
          </a:prstGeom>
          <a:noFill/>
          <a:ln>
            <a:noFill/>
          </a:ln>
        </p:spPr>
      </p:pic>
      <p:sp>
        <p:nvSpPr>
          <p:cNvPr id="6730" name="Google Shape;6730;p114"/>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31" name="Google Shape;6731;p114"/>
          <p:cNvGrpSpPr/>
          <p:nvPr/>
        </p:nvGrpSpPr>
        <p:grpSpPr>
          <a:xfrm>
            <a:off x="6240513" y="5016599"/>
            <a:ext cx="720732" cy="1182930"/>
            <a:chOff x="10910965" y="2513124"/>
            <a:chExt cx="586768" cy="904023"/>
          </a:xfrm>
        </p:grpSpPr>
        <p:sp>
          <p:nvSpPr>
            <p:cNvPr id="6732" name="Google Shape;6732;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33" name="Google Shape;6733;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34" name="Google Shape;6734;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35" name="Google Shape;6735;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36" name="Google Shape;6736;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737" name="Google Shape;6737;p114"/>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38" name="Google Shape;6738;p114"/>
          <p:cNvGrpSpPr/>
          <p:nvPr/>
        </p:nvGrpSpPr>
        <p:grpSpPr>
          <a:xfrm>
            <a:off x="1278678" y="4683698"/>
            <a:ext cx="720732" cy="1182930"/>
            <a:chOff x="10910965" y="2513124"/>
            <a:chExt cx="586768" cy="904023"/>
          </a:xfrm>
        </p:grpSpPr>
        <p:sp>
          <p:nvSpPr>
            <p:cNvPr id="6739" name="Google Shape;6739;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40" name="Google Shape;6740;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1" name="Google Shape;6741;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2" name="Google Shape;6742;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3" name="Google Shape;6743;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744" name="Google Shape;6744;p114"/>
          <p:cNvGrpSpPr/>
          <p:nvPr/>
        </p:nvGrpSpPr>
        <p:grpSpPr>
          <a:xfrm>
            <a:off x="2355044" y="3521091"/>
            <a:ext cx="720732" cy="1182930"/>
            <a:chOff x="10910965" y="2513124"/>
            <a:chExt cx="586768" cy="904023"/>
          </a:xfrm>
        </p:grpSpPr>
        <p:sp>
          <p:nvSpPr>
            <p:cNvPr id="6745" name="Google Shape;6745;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46" name="Google Shape;6746;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7" name="Google Shape;6747;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8" name="Google Shape;6748;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49" name="Google Shape;6749;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750" name="Google Shape;6750;p114"/>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51" name="Google Shape;6751;p114"/>
          <p:cNvGrpSpPr/>
          <p:nvPr/>
        </p:nvGrpSpPr>
        <p:grpSpPr>
          <a:xfrm>
            <a:off x="6698918" y="3667889"/>
            <a:ext cx="720732" cy="1182930"/>
            <a:chOff x="10910965" y="2513124"/>
            <a:chExt cx="586768" cy="904023"/>
          </a:xfrm>
        </p:grpSpPr>
        <p:sp>
          <p:nvSpPr>
            <p:cNvPr id="6752" name="Google Shape;6752;p114"/>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53" name="Google Shape;6753;p114"/>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54" name="Google Shape;6754;p114"/>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55" name="Google Shape;6755;p114"/>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756" name="Google Shape;6756;p114"/>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757" name="Google Shape;6757;p114"/>
          <p:cNvGrpSpPr/>
          <p:nvPr/>
        </p:nvGrpSpPr>
        <p:grpSpPr>
          <a:xfrm>
            <a:off x="3770696" y="5033645"/>
            <a:ext cx="1286871" cy="734927"/>
            <a:chOff x="7493876" y="2774731"/>
            <a:chExt cx="1481958" cy="894622"/>
          </a:xfrm>
        </p:grpSpPr>
        <p:sp>
          <p:nvSpPr>
            <p:cNvPr id="6758" name="Google Shape;6758;p1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59" name="Google Shape;6759;p1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60" name="Google Shape;6760;p114"/>
            <p:cNvGrpSpPr/>
            <p:nvPr/>
          </p:nvGrpSpPr>
          <p:grpSpPr>
            <a:xfrm>
              <a:off x="7713663" y="2848339"/>
              <a:ext cx="1042107" cy="425543"/>
              <a:chOff x="7786941" y="2884917"/>
              <a:chExt cx="897649" cy="353919"/>
            </a:xfrm>
          </p:grpSpPr>
          <p:sp>
            <p:nvSpPr>
              <p:cNvPr id="6761" name="Google Shape;6761;p1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2" name="Google Shape;6762;p1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3" name="Google Shape;6763;p1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4" name="Google Shape;6764;p1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65" name="Google Shape;6765;p114"/>
          <p:cNvGrpSpPr/>
          <p:nvPr/>
        </p:nvGrpSpPr>
        <p:grpSpPr>
          <a:xfrm>
            <a:off x="1317421" y="3877120"/>
            <a:ext cx="645431" cy="569172"/>
            <a:chOff x="-44" y="1473"/>
            <a:chExt cx="981" cy="1105"/>
          </a:xfrm>
        </p:grpSpPr>
        <p:pic>
          <p:nvPicPr>
            <p:cNvPr descr="desktop_computer_stylized_medium" id="6766" name="Google Shape;6766;p11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6767" name="Google Shape;6767;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68" name="Google Shape;6768;p114"/>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769" name="Google Shape;6769;p114"/>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770" name="Google Shape;6770;p114"/>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771" name="Google Shape;6771;p114"/>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772" name="Google Shape;6772;p114"/>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773" name="Google Shape;6773;p114"/>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774" name="Google Shape;6774;p114"/>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775" name="Google Shape;6775;p114"/>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776" name="Google Shape;6776;p114"/>
          <p:cNvGrpSpPr/>
          <p:nvPr/>
        </p:nvGrpSpPr>
        <p:grpSpPr>
          <a:xfrm>
            <a:off x="7531958" y="4473878"/>
            <a:ext cx="284691" cy="577481"/>
            <a:chOff x="4140" y="429"/>
            <a:chExt cx="1425" cy="2396"/>
          </a:xfrm>
        </p:grpSpPr>
        <p:sp>
          <p:nvSpPr>
            <p:cNvPr id="6777" name="Google Shape;6777;p1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78" name="Google Shape;6778;p114"/>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79" name="Google Shape;6779;p1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0" name="Google Shape;6780;p1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1" name="Google Shape;6781;p114"/>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82" name="Google Shape;6782;p114"/>
            <p:cNvGrpSpPr/>
            <p:nvPr/>
          </p:nvGrpSpPr>
          <p:grpSpPr>
            <a:xfrm>
              <a:off x="4745" y="670"/>
              <a:ext cx="586" cy="146"/>
              <a:chOff x="609" y="2570"/>
              <a:chExt cx="731" cy="140"/>
            </a:xfrm>
          </p:grpSpPr>
          <p:sp>
            <p:nvSpPr>
              <p:cNvPr id="6783" name="Google Shape;6783;p114"/>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4" name="Google Shape;6784;p114"/>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85" name="Google Shape;6785;p114"/>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86" name="Google Shape;6786;p114"/>
            <p:cNvGrpSpPr/>
            <p:nvPr/>
          </p:nvGrpSpPr>
          <p:grpSpPr>
            <a:xfrm>
              <a:off x="4745" y="998"/>
              <a:ext cx="586" cy="129"/>
              <a:chOff x="612" y="2572"/>
              <a:chExt cx="731" cy="134"/>
            </a:xfrm>
          </p:grpSpPr>
          <p:sp>
            <p:nvSpPr>
              <p:cNvPr id="6787" name="Google Shape;6787;p114"/>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88" name="Google Shape;6788;p114"/>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89" name="Google Shape;6789;p114"/>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0" name="Google Shape;6790;p114"/>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91" name="Google Shape;6791;p114"/>
            <p:cNvGrpSpPr/>
            <p:nvPr/>
          </p:nvGrpSpPr>
          <p:grpSpPr>
            <a:xfrm>
              <a:off x="4735" y="1627"/>
              <a:ext cx="586" cy="215"/>
              <a:chOff x="614" y="2568"/>
              <a:chExt cx="730" cy="198"/>
            </a:xfrm>
          </p:grpSpPr>
          <p:sp>
            <p:nvSpPr>
              <p:cNvPr id="6792" name="Google Shape;6792;p114"/>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3" name="Google Shape;6793;p114"/>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94" name="Google Shape;6794;p1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95" name="Google Shape;6795;p114"/>
            <p:cNvGrpSpPr/>
            <p:nvPr/>
          </p:nvGrpSpPr>
          <p:grpSpPr>
            <a:xfrm>
              <a:off x="4735" y="1325"/>
              <a:ext cx="586" cy="138"/>
              <a:chOff x="609" y="2566"/>
              <a:chExt cx="730" cy="138"/>
            </a:xfrm>
          </p:grpSpPr>
          <p:sp>
            <p:nvSpPr>
              <p:cNvPr id="6796" name="Google Shape;6796;p114"/>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7" name="Google Shape;6797;p114"/>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98" name="Google Shape;6798;p114"/>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99" name="Google Shape;6799;p1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0" name="Google Shape;6800;p1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1" name="Google Shape;6801;p114"/>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2" name="Google Shape;6802;p1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3" name="Google Shape;6803;p114"/>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4" name="Google Shape;6804;p114"/>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5" name="Google Shape;6805;p114"/>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6" name="Google Shape;6806;p114"/>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807" name="Google Shape;6807;p114"/>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08" name="Google Shape;6808;p114"/>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809" name="Google Shape;6809;p114"/>
          <p:cNvGrpSpPr/>
          <p:nvPr/>
        </p:nvGrpSpPr>
        <p:grpSpPr>
          <a:xfrm>
            <a:off x="585296" y="5655276"/>
            <a:ext cx="645431" cy="569172"/>
            <a:chOff x="-44" y="1473"/>
            <a:chExt cx="981" cy="1105"/>
          </a:xfrm>
        </p:grpSpPr>
        <p:pic>
          <p:nvPicPr>
            <p:cNvPr descr="desktop_computer_stylized_medium" id="6810" name="Google Shape;6810;p11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6811" name="Google Shape;6811;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812" name="Google Shape;6812;p114"/>
          <p:cNvGrpSpPr/>
          <p:nvPr/>
        </p:nvGrpSpPr>
        <p:grpSpPr>
          <a:xfrm>
            <a:off x="7141970" y="5736859"/>
            <a:ext cx="284691" cy="577481"/>
            <a:chOff x="4140" y="429"/>
            <a:chExt cx="1425" cy="2396"/>
          </a:xfrm>
        </p:grpSpPr>
        <p:sp>
          <p:nvSpPr>
            <p:cNvPr id="6813" name="Google Shape;6813;p1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4" name="Google Shape;6814;p114"/>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5" name="Google Shape;6815;p1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6" name="Google Shape;6816;p1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17" name="Google Shape;6817;p114"/>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18" name="Google Shape;6818;p114"/>
            <p:cNvGrpSpPr/>
            <p:nvPr/>
          </p:nvGrpSpPr>
          <p:grpSpPr>
            <a:xfrm>
              <a:off x="4745" y="670"/>
              <a:ext cx="586" cy="146"/>
              <a:chOff x="609" y="2570"/>
              <a:chExt cx="731" cy="140"/>
            </a:xfrm>
          </p:grpSpPr>
          <p:sp>
            <p:nvSpPr>
              <p:cNvPr id="6819" name="Google Shape;6819;p114"/>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0" name="Google Shape;6820;p114"/>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21" name="Google Shape;6821;p114"/>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22" name="Google Shape;6822;p114"/>
            <p:cNvGrpSpPr/>
            <p:nvPr/>
          </p:nvGrpSpPr>
          <p:grpSpPr>
            <a:xfrm>
              <a:off x="4745" y="998"/>
              <a:ext cx="586" cy="129"/>
              <a:chOff x="612" y="2572"/>
              <a:chExt cx="731" cy="134"/>
            </a:xfrm>
          </p:grpSpPr>
          <p:sp>
            <p:nvSpPr>
              <p:cNvPr id="6823" name="Google Shape;6823;p114"/>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4" name="Google Shape;6824;p114"/>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25" name="Google Shape;6825;p114"/>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6" name="Google Shape;6826;p114"/>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27" name="Google Shape;6827;p114"/>
            <p:cNvGrpSpPr/>
            <p:nvPr/>
          </p:nvGrpSpPr>
          <p:grpSpPr>
            <a:xfrm>
              <a:off x="4735" y="1627"/>
              <a:ext cx="586" cy="215"/>
              <a:chOff x="614" y="2568"/>
              <a:chExt cx="730" cy="198"/>
            </a:xfrm>
          </p:grpSpPr>
          <p:sp>
            <p:nvSpPr>
              <p:cNvPr id="6828" name="Google Shape;6828;p114"/>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29" name="Google Shape;6829;p114"/>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30" name="Google Shape;6830;p1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31" name="Google Shape;6831;p114"/>
            <p:cNvGrpSpPr/>
            <p:nvPr/>
          </p:nvGrpSpPr>
          <p:grpSpPr>
            <a:xfrm>
              <a:off x="4735" y="1325"/>
              <a:ext cx="586" cy="138"/>
              <a:chOff x="609" y="2566"/>
              <a:chExt cx="730" cy="138"/>
            </a:xfrm>
          </p:grpSpPr>
          <p:sp>
            <p:nvSpPr>
              <p:cNvPr id="6832" name="Google Shape;6832;p114"/>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3" name="Google Shape;6833;p114"/>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34" name="Google Shape;6834;p114"/>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5" name="Google Shape;6835;p1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6" name="Google Shape;6836;p1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7" name="Google Shape;6837;p114"/>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8" name="Google Shape;6838;p1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39" name="Google Shape;6839;p114"/>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0" name="Google Shape;6840;p114"/>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1" name="Google Shape;6841;p114"/>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2" name="Google Shape;6842;p114"/>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843" name="Google Shape;6843;p114"/>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44" name="Google Shape;6844;p114"/>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6845" name="Google Shape;6845;p114"/>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6846" name="Google Shape;6846;p114"/>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6847" name="Google Shape;6847;p114"/>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848" name="Google Shape;6848;p114"/>
          <p:cNvGrpSpPr/>
          <p:nvPr/>
        </p:nvGrpSpPr>
        <p:grpSpPr>
          <a:xfrm>
            <a:off x="2749090" y="3427413"/>
            <a:ext cx="2851610" cy="946150"/>
            <a:chOff x="2749090" y="3427413"/>
            <a:chExt cx="2851610" cy="946150"/>
          </a:xfrm>
        </p:grpSpPr>
        <p:sp>
          <p:nvSpPr>
            <p:cNvPr id="6849" name="Google Shape;6849;p114"/>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6850" name="Google Shape;6850;p114"/>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851" name="Google Shape;6851;p114"/>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6852" name="Google Shape;6852;p114"/>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853" name="Google Shape;6853;p114"/>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6854" name="Google Shape;6854;p114"/>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6855" name="Google Shape;6855;p114"/>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6856" name="Google Shape;6856;p114"/>
          <p:cNvGrpSpPr/>
          <p:nvPr/>
        </p:nvGrpSpPr>
        <p:grpSpPr>
          <a:xfrm>
            <a:off x="2913490" y="5218953"/>
            <a:ext cx="1938730" cy="1300181"/>
            <a:chOff x="2913490" y="5218953"/>
            <a:chExt cx="1938730" cy="1300181"/>
          </a:xfrm>
        </p:grpSpPr>
        <p:sp>
          <p:nvSpPr>
            <p:cNvPr id="6857" name="Google Shape;6857;p114"/>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6858" name="Google Shape;6858;p114"/>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6859" name="Google Shape;6859;p114"/>
            <p:cNvGrpSpPr/>
            <p:nvPr/>
          </p:nvGrpSpPr>
          <p:grpSpPr>
            <a:xfrm>
              <a:off x="4030362" y="5218953"/>
              <a:ext cx="821858" cy="355937"/>
              <a:chOff x="6859123" y="5156933"/>
              <a:chExt cx="456701" cy="226548"/>
            </a:xfrm>
          </p:grpSpPr>
          <p:sp>
            <p:nvSpPr>
              <p:cNvPr id="6860" name="Google Shape;6860;p114"/>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861" name="Google Shape;6861;p114"/>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2" name="Google Shape;6862;p114"/>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3" name="Google Shape;6863;p114"/>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4" name="Google Shape;6864;p114"/>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5" name="Google Shape;6865;p114"/>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6" name="Google Shape;6866;p114"/>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6867" name="Google Shape;6867;p114"/>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6868" name="Google Shape;6868;p114"/>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69" name="Google Shape;6869;p114"/>
          <p:cNvGrpSpPr/>
          <p:nvPr/>
        </p:nvGrpSpPr>
        <p:grpSpPr>
          <a:xfrm>
            <a:off x="1586591" y="4743924"/>
            <a:ext cx="4913849" cy="1346072"/>
            <a:chOff x="5641439" y="2685215"/>
            <a:chExt cx="4000500" cy="1028700"/>
          </a:xfrm>
        </p:grpSpPr>
        <p:sp>
          <p:nvSpPr>
            <p:cNvPr id="6870" name="Google Shape;6870;p114"/>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871" name="Google Shape;6871;p114"/>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872" name="Google Shape;6872;p114"/>
          <p:cNvGrpSpPr/>
          <p:nvPr/>
        </p:nvGrpSpPr>
        <p:grpSpPr>
          <a:xfrm>
            <a:off x="3289650" y="5336775"/>
            <a:ext cx="2124396" cy="604097"/>
            <a:chOff x="3289650" y="5336775"/>
            <a:chExt cx="2124396" cy="604097"/>
          </a:xfrm>
        </p:grpSpPr>
        <p:sp>
          <p:nvSpPr>
            <p:cNvPr id="6873" name="Google Shape;6873;p114"/>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6874" name="Google Shape;6874;p114"/>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6875" name="Google Shape;6875;p114"/>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6876" name="Google Shape;6876;p114"/>
          <p:cNvSpPr/>
          <p:nvPr/>
        </p:nvSpPr>
        <p:spPr>
          <a:xfrm>
            <a:off x="2711450" y="3613150"/>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77" name="Google Shape;6877;p114"/>
          <p:cNvSpPr/>
          <p:nvPr/>
        </p:nvSpPr>
        <p:spPr>
          <a:xfrm>
            <a:off x="2381250" y="3846513"/>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78" name="Google Shape;6878;p114"/>
          <p:cNvSpPr txBox="1"/>
          <p:nvPr/>
        </p:nvSpPr>
        <p:spPr>
          <a:xfrm>
            <a:off x="1757363" y="3736975"/>
            <a:ext cx="6127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0" lang="en-US" sz="1600" u="none" cap="none" strike="noStrike">
                <a:solidFill>
                  <a:srgbClr val="006600"/>
                </a:solidFill>
                <a:latin typeface="Arial"/>
                <a:ea typeface="Arial"/>
                <a:cs typeface="Arial"/>
                <a:sym typeface="Arial"/>
              </a:rPr>
              <a:t>copy</a:t>
            </a:r>
            <a:endParaRPr/>
          </a:p>
        </p:txBody>
      </p:sp>
      <p:sp>
        <p:nvSpPr>
          <p:cNvPr id="6879" name="Google Shape;6879;p114"/>
          <p:cNvSpPr txBox="1"/>
          <p:nvPr/>
        </p:nvSpPr>
        <p:spPr>
          <a:xfrm>
            <a:off x="3786188" y="4761119"/>
            <a:ext cx="16430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no buffer space!</a:t>
            </a:r>
            <a:endParaRPr/>
          </a:p>
        </p:txBody>
      </p:sp>
      <p:sp>
        <p:nvSpPr>
          <p:cNvPr id="6880" name="Google Shape;6880;p114"/>
          <p:cNvSpPr txBox="1"/>
          <p:nvPr/>
        </p:nvSpPr>
        <p:spPr>
          <a:xfrm>
            <a:off x="600313" y="1223059"/>
            <a:ext cx="5915913" cy="2132179"/>
          </a:xfrm>
          <a:prstGeom prst="rect">
            <a:avLst/>
          </a:prstGeom>
          <a:noFill/>
          <a:ln>
            <a:noFill/>
          </a:ln>
        </p:spPr>
        <p:txBody>
          <a:bodyPr anchorCtr="0" anchor="t" bIns="45700" lIns="91425" spcFirstLastPara="1" rIns="91425" wrap="square" tIns="45700">
            <a:normAutofit fontScale="92500"/>
          </a:bodyPr>
          <a:lstStyle/>
          <a:p>
            <a:pPr indent="-222250" lvl="0" marL="352425" marR="0" rtl="0" algn="l">
              <a:lnSpc>
                <a:spcPct val="90000"/>
              </a:lnSpc>
              <a:spcBef>
                <a:spcPts val="0"/>
              </a:spcBef>
              <a:spcAft>
                <a:spcPts val="0"/>
              </a:spcAft>
              <a:buClr>
                <a:srgbClr val="0000A3"/>
              </a:buClr>
              <a:buSzPct val="100000"/>
              <a:buFont typeface="Noto Sans Symbols"/>
              <a:buNone/>
            </a:pPr>
            <a:r>
              <a:rPr b="0" i="0" lang="en-US" sz="3000" u="none" cap="none" strike="noStrike">
                <a:solidFill>
                  <a:srgbClr val="000099"/>
                </a:solidFill>
                <a:latin typeface="Calibri"/>
                <a:ea typeface="Calibri"/>
                <a:cs typeface="Calibri"/>
                <a:sym typeface="Calibri"/>
              </a:rPr>
              <a:t>Idealization: </a:t>
            </a:r>
            <a:r>
              <a:rPr b="0" i="1" lang="en-US" sz="3000" u="none" cap="none" strike="noStrike">
                <a:solidFill>
                  <a:srgbClr val="C00000"/>
                </a:solidFill>
                <a:latin typeface="Calibri"/>
                <a:ea typeface="Calibri"/>
                <a:cs typeface="Calibri"/>
                <a:sym typeface="Calibri"/>
              </a:rPr>
              <a:t>some </a:t>
            </a:r>
            <a:r>
              <a:rPr b="0" i="0" lang="en-US" sz="3000" u="none" cap="none" strike="noStrike">
                <a:solidFill>
                  <a:srgbClr val="000000"/>
                </a:solidFill>
                <a:latin typeface="Calibri"/>
                <a:ea typeface="Calibri"/>
                <a:cs typeface="Calibri"/>
                <a:sym typeface="Calibri"/>
              </a:rPr>
              <a:t>perfect knowledge</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packets can be lost (dropped at router) due  to full buffers</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sender knows when packet has been dropped: only resends if packet </a:t>
            </a:r>
            <a:r>
              <a:rPr b="0" i="1" lang="en-US" sz="2400" u="none" cap="none" strike="noStrike">
                <a:solidFill>
                  <a:srgbClr val="000000"/>
                </a:solidFill>
                <a:latin typeface="Calibri"/>
                <a:ea typeface="Calibri"/>
                <a:cs typeface="Calibri"/>
                <a:sym typeface="Calibri"/>
              </a:rPr>
              <a:t>known</a:t>
            </a:r>
            <a:r>
              <a:rPr b="0" i="0" lang="en-US" sz="2400" u="none" cap="none" strike="noStrike">
                <a:solidFill>
                  <a:srgbClr val="000000"/>
                </a:solidFill>
                <a:latin typeface="Calibri"/>
                <a:ea typeface="Calibri"/>
                <a:cs typeface="Calibri"/>
                <a:sym typeface="Calibri"/>
              </a:rPr>
              <a:t> to be lost</a:t>
            </a:r>
            <a:endParaRPr b="0" i="0" sz="2800" u="none" cap="none" strike="noStrike">
              <a:solidFill>
                <a:srgbClr val="000000"/>
              </a:solidFill>
              <a:latin typeface="Calibri"/>
              <a:ea typeface="Calibri"/>
              <a:cs typeface="Calibri"/>
              <a:sym typeface="Calibri"/>
            </a:endParaRPr>
          </a:p>
        </p:txBody>
      </p:sp>
      <p:sp>
        <p:nvSpPr>
          <p:cNvPr id="6881" name="Google Shape;6881;p1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6"/>
                                        </p:tgtEl>
                                        <p:attrNameLst>
                                          <p:attrName>style.visibility</p:attrName>
                                        </p:attrNameLst>
                                      </p:cBhvr>
                                      <p:to>
                                        <p:strVal val="visible"/>
                                      </p:to>
                                    </p:set>
                                    <p:animEffect filter="fade" transition="in">
                                      <p:cBhvr>
                                        <p:cTn dur="500"/>
                                        <p:tgtEl>
                                          <p:spTgt spid="68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877"/>
                                        </p:tgtEl>
                                        <p:attrNameLst>
                                          <p:attrName>style.visibility</p:attrName>
                                        </p:attrNameLst>
                                      </p:cBhvr>
                                      <p:to>
                                        <p:strVal val="visible"/>
                                      </p:to>
                                    </p:set>
                                    <p:animEffect filter="fade" transition="in">
                                      <p:cBhvr>
                                        <p:cTn dur="500"/>
                                        <p:tgtEl>
                                          <p:spTgt spid="6877"/>
                                        </p:tgtEl>
                                      </p:cBhvr>
                                    </p:animEffect>
                                  </p:childTnLst>
                                </p:cTn>
                              </p:par>
                              <p:par>
                                <p:cTn fill="hold" nodeType="withEffect" presetClass="entr" presetID="10" presetSubtype="0">
                                  <p:stCondLst>
                                    <p:cond delay="0"/>
                                  </p:stCondLst>
                                  <p:childTnLst>
                                    <p:set>
                                      <p:cBhvr>
                                        <p:cTn dur="1" fill="hold">
                                          <p:stCondLst>
                                            <p:cond delay="0"/>
                                          </p:stCondLst>
                                        </p:cTn>
                                        <p:tgtEl>
                                          <p:spTgt spid="6878"/>
                                        </p:tgtEl>
                                        <p:attrNameLst>
                                          <p:attrName>style.visibility</p:attrName>
                                        </p:attrNameLst>
                                      </p:cBhvr>
                                      <p:to>
                                        <p:strVal val="visible"/>
                                      </p:to>
                                    </p:set>
                                    <p:animEffect filter="fade" transition="in">
                                      <p:cBhvr>
                                        <p:cTn dur="500"/>
                                        <p:tgtEl>
                                          <p:spTgt spid="6878"/>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6878"/>
                                        </p:tgtEl>
                                      </p:cBhvr>
                                    </p:animEffect>
                                    <p:set>
                                      <p:cBhvr>
                                        <p:cTn dur="1" fill="hold">
                                          <p:stCondLst>
                                            <p:cond delay="500"/>
                                          </p:stCondLst>
                                        </p:cTn>
                                        <p:tgtEl>
                                          <p:spTgt spid="6878"/>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879"/>
                                        </p:tgtEl>
                                        <p:attrNameLst>
                                          <p:attrName>style.visibility</p:attrName>
                                        </p:attrNameLst>
                                      </p:cBhvr>
                                      <p:to>
                                        <p:strVal val="visible"/>
                                      </p:to>
                                    </p:set>
                                    <p:animEffect filter="fade" transition="in">
                                      <p:cBhvr>
                                        <p:cTn dur="500"/>
                                        <p:tgtEl>
                                          <p:spTgt spid="687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729"/>
                                        </p:tgtEl>
                                        <p:attrNameLst>
                                          <p:attrName>style.visibility</p:attrName>
                                        </p:attrNameLst>
                                      </p:cBhvr>
                                      <p:to>
                                        <p:strVal val="visible"/>
                                      </p:to>
                                    </p:set>
                                    <p:animEffect filter="fade" transition="in">
                                      <p:cBhvr>
                                        <p:cTn dur="500"/>
                                        <p:tgtEl>
                                          <p:spTgt spid="6729"/>
                                        </p:tgtEl>
                                      </p:cBhvr>
                                    </p:animEffec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6879"/>
                                        </p:tgtEl>
                                      </p:cBhvr>
                                    </p:animEffect>
                                    <p:set>
                                      <p:cBhvr>
                                        <p:cTn dur="1" fill="hold">
                                          <p:stCondLst>
                                            <p:cond delay="500"/>
                                          </p:stCondLst>
                                        </p:cTn>
                                        <p:tgtEl>
                                          <p:spTgt spid="6879"/>
                                        </p:tgtEl>
                                        <p:attrNameLst>
                                          <p:attrName>style.visibility</p:attrName>
                                        </p:attrNameLst>
                                      </p:cBhvr>
                                      <p:to>
                                        <p:strVal val="hidden"/>
                                      </p:to>
                                    </p:se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6876"/>
                                        </p:tgtEl>
                                      </p:cBhvr>
                                    </p:animEffect>
                                    <p:set>
                                      <p:cBhvr>
                                        <p:cTn dur="1" fill="hold">
                                          <p:stCondLst>
                                            <p:cond delay="500"/>
                                          </p:stCondLst>
                                        </p:cTn>
                                        <p:tgtEl>
                                          <p:spTgt spid="68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6" name="Shape 6886"/>
        <p:cNvGrpSpPr/>
        <p:nvPr/>
      </p:nvGrpSpPr>
      <p:grpSpPr>
        <a:xfrm>
          <a:off x="0" y="0"/>
          <a:ext cx="0" cy="0"/>
          <a:chOff x="0" y="0"/>
          <a:chExt cx="0" cy="0"/>
        </a:xfrm>
      </p:grpSpPr>
      <p:sp>
        <p:nvSpPr>
          <p:cNvPr id="6887" name="Google Shape;6887;p115"/>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88" name="Google Shape;6888;p115"/>
          <p:cNvGrpSpPr/>
          <p:nvPr/>
        </p:nvGrpSpPr>
        <p:grpSpPr>
          <a:xfrm>
            <a:off x="6249435" y="5024056"/>
            <a:ext cx="720732" cy="1182930"/>
            <a:chOff x="10910965" y="2513124"/>
            <a:chExt cx="586768" cy="904023"/>
          </a:xfrm>
        </p:grpSpPr>
        <p:sp>
          <p:nvSpPr>
            <p:cNvPr id="6889" name="Google Shape;6889;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890" name="Google Shape;6890;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1" name="Google Shape;6891;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2" name="Google Shape;6892;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3" name="Google Shape;6893;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894" name="Google Shape;6894;p115"/>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95" name="Google Shape;6895;p115"/>
          <p:cNvGrpSpPr/>
          <p:nvPr/>
        </p:nvGrpSpPr>
        <p:grpSpPr>
          <a:xfrm>
            <a:off x="1278678" y="4683698"/>
            <a:ext cx="720732" cy="1182930"/>
            <a:chOff x="10910965" y="2513124"/>
            <a:chExt cx="586768" cy="904023"/>
          </a:xfrm>
        </p:grpSpPr>
        <p:sp>
          <p:nvSpPr>
            <p:cNvPr id="6896" name="Google Shape;6896;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897" name="Google Shape;6897;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8" name="Google Shape;6898;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899" name="Google Shape;6899;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0" name="Google Shape;6900;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901" name="Google Shape;6901;p115"/>
          <p:cNvGrpSpPr/>
          <p:nvPr/>
        </p:nvGrpSpPr>
        <p:grpSpPr>
          <a:xfrm>
            <a:off x="2355044" y="3521091"/>
            <a:ext cx="720732" cy="1182930"/>
            <a:chOff x="10910965" y="2513124"/>
            <a:chExt cx="586768" cy="904023"/>
          </a:xfrm>
        </p:grpSpPr>
        <p:sp>
          <p:nvSpPr>
            <p:cNvPr id="6902" name="Google Shape;6902;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903" name="Google Shape;6903;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4" name="Google Shape;6904;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5" name="Google Shape;6905;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06" name="Google Shape;6906;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6907" name="Google Shape;6907;p115"/>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08" name="Google Shape;6908;p115"/>
          <p:cNvGrpSpPr/>
          <p:nvPr/>
        </p:nvGrpSpPr>
        <p:grpSpPr>
          <a:xfrm>
            <a:off x="6698918" y="3667889"/>
            <a:ext cx="720732" cy="1182930"/>
            <a:chOff x="10910965" y="2513124"/>
            <a:chExt cx="586768" cy="904023"/>
          </a:xfrm>
        </p:grpSpPr>
        <p:sp>
          <p:nvSpPr>
            <p:cNvPr id="6909" name="Google Shape;6909;p115"/>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910" name="Google Shape;6910;p115"/>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11" name="Google Shape;6911;p115"/>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12" name="Google Shape;6912;p115"/>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6913" name="Google Shape;6913;p115"/>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6914" name="Google Shape;6914;p115"/>
          <p:cNvGrpSpPr/>
          <p:nvPr/>
        </p:nvGrpSpPr>
        <p:grpSpPr>
          <a:xfrm>
            <a:off x="3770696" y="5033645"/>
            <a:ext cx="1286871" cy="734927"/>
            <a:chOff x="7493876" y="2774731"/>
            <a:chExt cx="1481958" cy="894622"/>
          </a:xfrm>
        </p:grpSpPr>
        <p:sp>
          <p:nvSpPr>
            <p:cNvPr id="6915" name="Google Shape;6915;p1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16" name="Google Shape;6916;p1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17" name="Google Shape;6917;p115"/>
            <p:cNvGrpSpPr/>
            <p:nvPr/>
          </p:nvGrpSpPr>
          <p:grpSpPr>
            <a:xfrm>
              <a:off x="7713663" y="2848339"/>
              <a:ext cx="1042107" cy="425543"/>
              <a:chOff x="7786941" y="2884917"/>
              <a:chExt cx="897649" cy="353919"/>
            </a:xfrm>
          </p:grpSpPr>
          <p:sp>
            <p:nvSpPr>
              <p:cNvPr id="6918" name="Google Shape;6918;p1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9" name="Google Shape;6919;p1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0" name="Google Shape;6920;p1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1" name="Google Shape;6921;p1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22" name="Google Shape;6922;p115"/>
          <p:cNvGrpSpPr/>
          <p:nvPr/>
        </p:nvGrpSpPr>
        <p:grpSpPr>
          <a:xfrm>
            <a:off x="1317421" y="3877120"/>
            <a:ext cx="645431" cy="569172"/>
            <a:chOff x="-44" y="1473"/>
            <a:chExt cx="981" cy="1105"/>
          </a:xfrm>
        </p:grpSpPr>
        <p:pic>
          <p:nvPicPr>
            <p:cNvPr descr="desktop_computer_stylized_medium" id="6923" name="Google Shape;6923;p1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24" name="Google Shape;6924;p1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25" name="Google Shape;6925;p115"/>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926" name="Google Shape;6926;p115"/>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6927" name="Google Shape;6927;p115"/>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6928" name="Google Shape;6928;p115"/>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6929" name="Google Shape;6929;p115"/>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930" name="Google Shape;6930;p115"/>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6931" name="Google Shape;6931;p115"/>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6932" name="Google Shape;6932;p115"/>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6933" name="Google Shape;6933;p115"/>
          <p:cNvGrpSpPr/>
          <p:nvPr/>
        </p:nvGrpSpPr>
        <p:grpSpPr>
          <a:xfrm>
            <a:off x="7531958" y="4473878"/>
            <a:ext cx="284691" cy="577481"/>
            <a:chOff x="4140" y="429"/>
            <a:chExt cx="1425" cy="2396"/>
          </a:xfrm>
        </p:grpSpPr>
        <p:sp>
          <p:nvSpPr>
            <p:cNvPr id="6934" name="Google Shape;6934;p1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5" name="Google Shape;6935;p11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6" name="Google Shape;6936;p1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7" name="Google Shape;6937;p1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38" name="Google Shape;6938;p11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39" name="Google Shape;6939;p115"/>
            <p:cNvGrpSpPr/>
            <p:nvPr/>
          </p:nvGrpSpPr>
          <p:grpSpPr>
            <a:xfrm>
              <a:off x="4745" y="670"/>
              <a:ext cx="586" cy="146"/>
              <a:chOff x="609" y="2570"/>
              <a:chExt cx="731" cy="140"/>
            </a:xfrm>
          </p:grpSpPr>
          <p:sp>
            <p:nvSpPr>
              <p:cNvPr id="6940" name="Google Shape;6940;p11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41" name="Google Shape;6941;p11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42" name="Google Shape;6942;p11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43" name="Google Shape;6943;p115"/>
            <p:cNvGrpSpPr/>
            <p:nvPr/>
          </p:nvGrpSpPr>
          <p:grpSpPr>
            <a:xfrm>
              <a:off x="4745" y="998"/>
              <a:ext cx="586" cy="129"/>
              <a:chOff x="612" y="2572"/>
              <a:chExt cx="731" cy="134"/>
            </a:xfrm>
          </p:grpSpPr>
          <p:sp>
            <p:nvSpPr>
              <p:cNvPr id="6944" name="Google Shape;6944;p11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45" name="Google Shape;6945;p11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46" name="Google Shape;6946;p11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47" name="Google Shape;6947;p11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48" name="Google Shape;6948;p115"/>
            <p:cNvGrpSpPr/>
            <p:nvPr/>
          </p:nvGrpSpPr>
          <p:grpSpPr>
            <a:xfrm>
              <a:off x="4735" y="1627"/>
              <a:ext cx="586" cy="215"/>
              <a:chOff x="614" y="2568"/>
              <a:chExt cx="730" cy="198"/>
            </a:xfrm>
          </p:grpSpPr>
          <p:sp>
            <p:nvSpPr>
              <p:cNvPr id="6949" name="Google Shape;6949;p11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0" name="Google Shape;6950;p11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51" name="Google Shape;6951;p1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52" name="Google Shape;6952;p115"/>
            <p:cNvGrpSpPr/>
            <p:nvPr/>
          </p:nvGrpSpPr>
          <p:grpSpPr>
            <a:xfrm>
              <a:off x="4735" y="1325"/>
              <a:ext cx="586" cy="138"/>
              <a:chOff x="609" y="2566"/>
              <a:chExt cx="730" cy="138"/>
            </a:xfrm>
          </p:grpSpPr>
          <p:sp>
            <p:nvSpPr>
              <p:cNvPr id="6953" name="Google Shape;6953;p11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4" name="Google Shape;6954;p11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55" name="Google Shape;6955;p11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6" name="Google Shape;6956;p1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7" name="Google Shape;6957;p1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8" name="Google Shape;6958;p11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59" name="Google Shape;6959;p1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0" name="Google Shape;6960;p11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1" name="Google Shape;6961;p11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2" name="Google Shape;6962;p11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3" name="Google Shape;6963;p11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964" name="Google Shape;6964;p11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65" name="Google Shape;6965;p11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966" name="Google Shape;6966;p115"/>
          <p:cNvGrpSpPr/>
          <p:nvPr/>
        </p:nvGrpSpPr>
        <p:grpSpPr>
          <a:xfrm>
            <a:off x="585296" y="5655276"/>
            <a:ext cx="645431" cy="569172"/>
            <a:chOff x="-44" y="1473"/>
            <a:chExt cx="981" cy="1105"/>
          </a:xfrm>
        </p:grpSpPr>
        <p:pic>
          <p:nvPicPr>
            <p:cNvPr descr="desktop_computer_stylized_medium" id="6967" name="Google Shape;6967;p1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68" name="Google Shape;6968;p1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969" name="Google Shape;6969;p115"/>
          <p:cNvGrpSpPr/>
          <p:nvPr/>
        </p:nvGrpSpPr>
        <p:grpSpPr>
          <a:xfrm>
            <a:off x="7141970" y="5736859"/>
            <a:ext cx="284691" cy="577481"/>
            <a:chOff x="4140" y="429"/>
            <a:chExt cx="1425" cy="2396"/>
          </a:xfrm>
        </p:grpSpPr>
        <p:sp>
          <p:nvSpPr>
            <p:cNvPr id="6970" name="Google Shape;6970;p1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1" name="Google Shape;6971;p11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2" name="Google Shape;6972;p1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3" name="Google Shape;6973;p1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4" name="Google Shape;6974;p11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75" name="Google Shape;6975;p115"/>
            <p:cNvGrpSpPr/>
            <p:nvPr/>
          </p:nvGrpSpPr>
          <p:grpSpPr>
            <a:xfrm>
              <a:off x="4745" y="670"/>
              <a:ext cx="586" cy="146"/>
              <a:chOff x="609" y="2570"/>
              <a:chExt cx="731" cy="140"/>
            </a:xfrm>
          </p:grpSpPr>
          <p:sp>
            <p:nvSpPr>
              <p:cNvPr id="6976" name="Google Shape;6976;p11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77" name="Google Shape;6977;p11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78" name="Google Shape;6978;p11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79" name="Google Shape;6979;p115"/>
            <p:cNvGrpSpPr/>
            <p:nvPr/>
          </p:nvGrpSpPr>
          <p:grpSpPr>
            <a:xfrm>
              <a:off x="4745" y="998"/>
              <a:ext cx="586" cy="129"/>
              <a:chOff x="612" y="2572"/>
              <a:chExt cx="731" cy="134"/>
            </a:xfrm>
          </p:grpSpPr>
          <p:sp>
            <p:nvSpPr>
              <p:cNvPr id="6980" name="Google Shape;6980;p11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81" name="Google Shape;6981;p11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82" name="Google Shape;6982;p11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83" name="Google Shape;6983;p11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84" name="Google Shape;6984;p115"/>
            <p:cNvGrpSpPr/>
            <p:nvPr/>
          </p:nvGrpSpPr>
          <p:grpSpPr>
            <a:xfrm>
              <a:off x="4735" y="1627"/>
              <a:ext cx="586" cy="215"/>
              <a:chOff x="614" y="2568"/>
              <a:chExt cx="730" cy="198"/>
            </a:xfrm>
          </p:grpSpPr>
          <p:sp>
            <p:nvSpPr>
              <p:cNvPr id="6985" name="Google Shape;6985;p11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86" name="Google Shape;6986;p11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87" name="Google Shape;6987;p1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988" name="Google Shape;6988;p115"/>
            <p:cNvGrpSpPr/>
            <p:nvPr/>
          </p:nvGrpSpPr>
          <p:grpSpPr>
            <a:xfrm>
              <a:off x="4735" y="1325"/>
              <a:ext cx="586" cy="138"/>
              <a:chOff x="609" y="2566"/>
              <a:chExt cx="730" cy="138"/>
            </a:xfrm>
          </p:grpSpPr>
          <p:sp>
            <p:nvSpPr>
              <p:cNvPr id="6989" name="Google Shape;6989;p11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0" name="Google Shape;6990;p11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91" name="Google Shape;6991;p11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2" name="Google Shape;6992;p1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3" name="Google Shape;6993;p1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4" name="Google Shape;6994;p11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5" name="Google Shape;6995;p1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6" name="Google Shape;6996;p11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7" name="Google Shape;6997;p11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8" name="Google Shape;6998;p11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99" name="Google Shape;6999;p11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000" name="Google Shape;7000;p11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01" name="Google Shape;7001;p11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7002" name="Google Shape;7002;p115"/>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7003" name="Google Shape;7003;p115"/>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7004" name="Google Shape;7004;p115"/>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7005" name="Google Shape;7005;p115"/>
          <p:cNvGrpSpPr/>
          <p:nvPr/>
        </p:nvGrpSpPr>
        <p:grpSpPr>
          <a:xfrm>
            <a:off x="2749090" y="3427413"/>
            <a:ext cx="2851610" cy="946150"/>
            <a:chOff x="2749090" y="3427413"/>
            <a:chExt cx="2851610" cy="946150"/>
          </a:xfrm>
        </p:grpSpPr>
        <p:sp>
          <p:nvSpPr>
            <p:cNvPr id="7006" name="Google Shape;7006;p115"/>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7007" name="Google Shape;7007;p115"/>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008" name="Google Shape;7008;p115"/>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7009" name="Google Shape;7009;p115"/>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010" name="Google Shape;7010;p115"/>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7011" name="Google Shape;7011;p115"/>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7012" name="Google Shape;7012;p115"/>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7013" name="Google Shape;7013;p115"/>
          <p:cNvGrpSpPr/>
          <p:nvPr/>
        </p:nvGrpSpPr>
        <p:grpSpPr>
          <a:xfrm>
            <a:off x="2913490" y="5218953"/>
            <a:ext cx="1938730" cy="1300181"/>
            <a:chOff x="2913490" y="5218953"/>
            <a:chExt cx="1938730" cy="1300181"/>
          </a:xfrm>
        </p:grpSpPr>
        <p:sp>
          <p:nvSpPr>
            <p:cNvPr id="7014" name="Google Shape;7014;p115"/>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7015" name="Google Shape;7015;p115"/>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7016" name="Google Shape;7016;p115"/>
            <p:cNvGrpSpPr/>
            <p:nvPr/>
          </p:nvGrpSpPr>
          <p:grpSpPr>
            <a:xfrm>
              <a:off x="4030362" y="5218953"/>
              <a:ext cx="821858" cy="355937"/>
              <a:chOff x="6859123" y="5156933"/>
              <a:chExt cx="456701" cy="226548"/>
            </a:xfrm>
          </p:grpSpPr>
          <p:sp>
            <p:nvSpPr>
              <p:cNvPr id="7017" name="Google Shape;7017;p115"/>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18" name="Google Shape;7018;p115"/>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19" name="Google Shape;7019;p115"/>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0" name="Google Shape;7020;p115"/>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1" name="Google Shape;7021;p115"/>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2" name="Google Shape;7022;p115"/>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3" name="Google Shape;7023;p115"/>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024" name="Google Shape;7024;p115"/>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7025" name="Google Shape;7025;p115"/>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26" name="Google Shape;7026;p115"/>
          <p:cNvGrpSpPr/>
          <p:nvPr/>
        </p:nvGrpSpPr>
        <p:grpSpPr>
          <a:xfrm>
            <a:off x="1586591" y="4743924"/>
            <a:ext cx="4913849" cy="1346072"/>
            <a:chOff x="5641439" y="2685215"/>
            <a:chExt cx="4000500" cy="1028700"/>
          </a:xfrm>
        </p:grpSpPr>
        <p:sp>
          <p:nvSpPr>
            <p:cNvPr id="7027" name="Google Shape;7027;p115"/>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028" name="Google Shape;7028;p115"/>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029" name="Google Shape;7029;p115"/>
          <p:cNvGrpSpPr/>
          <p:nvPr/>
        </p:nvGrpSpPr>
        <p:grpSpPr>
          <a:xfrm>
            <a:off x="3289650" y="5336775"/>
            <a:ext cx="2124396" cy="604097"/>
            <a:chOff x="3289650" y="5336775"/>
            <a:chExt cx="2124396" cy="604097"/>
          </a:xfrm>
        </p:grpSpPr>
        <p:sp>
          <p:nvSpPr>
            <p:cNvPr id="7030" name="Google Shape;7030;p115"/>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7031" name="Google Shape;7031;p115"/>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7032" name="Google Shape;7032;p115"/>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7033" name="Google Shape;7033;p115"/>
          <p:cNvSpPr/>
          <p:nvPr/>
        </p:nvSpPr>
        <p:spPr>
          <a:xfrm>
            <a:off x="2381250" y="3846513"/>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34" name="Google Shape;7034;p115"/>
          <p:cNvSpPr txBox="1"/>
          <p:nvPr/>
        </p:nvSpPr>
        <p:spPr>
          <a:xfrm>
            <a:off x="3725863" y="4761119"/>
            <a:ext cx="1768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free buffer space!</a:t>
            </a:r>
            <a:endParaRPr/>
          </a:p>
        </p:txBody>
      </p:sp>
      <p:sp>
        <p:nvSpPr>
          <p:cNvPr id="7035" name="Google Shape;7035;p115"/>
          <p:cNvSpPr/>
          <p:nvPr/>
        </p:nvSpPr>
        <p:spPr>
          <a:xfrm>
            <a:off x="2381250" y="3844925"/>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36" name="Google Shape;7036;p115"/>
          <p:cNvSpPr txBox="1"/>
          <p:nvPr/>
        </p:nvSpPr>
        <p:spPr>
          <a:xfrm>
            <a:off x="600313" y="1223059"/>
            <a:ext cx="5915913" cy="2132179"/>
          </a:xfrm>
          <a:prstGeom prst="rect">
            <a:avLst/>
          </a:prstGeom>
          <a:noFill/>
          <a:ln>
            <a:noFill/>
          </a:ln>
        </p:spPr>
        <p:txBody>
          <a:bodyPr anchorCtr="0" anchor="t" bIns="45700" lIns="91425" spcFirstLastPara="1" rIns="91425" wrap="square" tIns="45700">
            <a:normAutofit fontScale="92500"/>
          </a:bodyPr>
          <a:lstStyle/>
          <a:p>
            <a:pPr indent="-222250" lvl="0" marL="352425" marR="0" rtl="0" algn="l">
              <a:lnSpc>
                <a:spcPct val="90000"/>
              </a:lnSpc>
              <a:spcBef>
                <a:spcPts val="0"/>
              </a:spcBef>
              <a:spcAft>
                <a:spcPts val="0"/>
              </a:spcAft>
              <a:buClr>
                <a:srgbClr val="0000A3"/>
              </a:buClr>
              <a:buSzPct val="100000"/>
              <a:buFont typeface="Noto Sans Symbols"/>
              <a:buNone/>
            </a:pPr>
            <a:r>
              <a:rPr b="0" i="0" lang="en-US" sz="3000" u="none" cap="none" strike="noStrike">
                <a:solidFill>
                  <a:srgbClr val="000099"/>
                </a:solidFill>
                <a:latin typeface="Calibri"/>
                <a:ea typeface="Calibri"/>
                <a:cs typeface="Calibri"/>
                <a:sym typeface="Calibri"/>
              </a:rPr>
              <a:t>Idealization: </a:t>
            </a:r>
            <a:r>
              <a:rPr b="0" i="1" lang="en-US" sz="3000" u="none" cap="none" strike="noStrike">
                <a:solidFill>
                  <a:srgbClr val="C00000"/>
                </a:solidFill>
                <a:latin typeface="Calibri"/>
                <a:ea typeface="Calibri"/>
                <a:cs typeface="Calibri"/>
                <a:sym typeface="Calibri"/>
              </a:rPr>
              <a:t>some </a:t>
            </a:r>
            <a:r>
              <a:rPr b="0" i="0" lang="en-US" sz="3000" u="none" cap="none" strike="noStrike">
                <a:solidFill>
                  <a:srgbClr val="C00000"/>
                </a:solidFill>
                <a:latin typeface="Calibri"/>
                <a:ea typeface="Calibri"/>
                <a:cs typeface="Calibri"/>
                <a:sym typeface="Calibri"/>
              </a:rPr>
              <a:t>perfect knowledge</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packets can be lost (dropped at router) due  to full buffers</a:t>
            </a:r>
            <a:endParaRPr/>
          </a:p>
          <a:p>
            <a:pPr indent="-215900" lvl="0" marL="457200" marR="0" rtl="0" algn="l">
              <a:lnSpc>
                <a:spcPct val="90000"/>
              </a:lnSpc>
              <a:spcBef>
                <a:spcPts val="1000"/>
              </a:spcBef>
              <a:spcAft>
                <a:spcPts val="0"/>
              </a:spcAft>
              <a:buClr>
                <a:srgbClr val="0000A3"/>
              </a:buClr>
              <a:buSzPct val="100000"/>
              <a:buFont typeface="Noto Sans Symbols"/>
              <a:buChar char="▪"/>
            </a:pPr>
            <a:r>
              <a:rPr b="0" i="0" lang="en-US" sz="2400" u="none" cap="none" strike="noStrike">
                <a:solidFill>
                  <a:srgbClr val="000000"/>
                </a:solidFill>
                <a:latin typeface="Calibri"/>
                <a:ea typeface="Calibri"/>
                <a:cs typeface="Calibri"/>
                <a:sym typeface="Calibri"/>
              </a:rPr>
              <a:t>sender knows when packet has been dropped: only resends if packet </a:t>
            </a:r>
            <a:r>
              <a:rPr b="0" i="1" lang="en-US" sz="2400" u="none" cap="none" strike="noStrike">
                <a:solidFill>
                  <a:srgbClr val="000000"/>
                </a:solidFill>
                <a:latin typeface="Calibri"/>
                <a:ea typeface="Calibri"/>
                <a:cs typeface="Calibri"/>
                <a:sym typeface="Calibri"/>
              </a:rPr>
              <a:t>known</a:t>
            </a:r>
            <a:r>
              <a:rPr b="0" i="0" lang="en-US" sz="2400" u="none" cap="none" strike="noStrike">
                <a:solidFill>
                  <a:srgbClr val="000000"/>
                </a:solidFill>
                <a:latin typeface="Calibri"/>
                <a:ea typeface="Calibri"/>
                <a:cs typeface="Calibri"/>
                <a:sym typeface="Calibri"/>
              </a:rPr>
              <a:t> to be lost</a:t>
            </a:r>
            <a:endParaRPr b="0" i="0" sz="2800" u="none" cap="none" strike="noStrike">
              <a:solidFill>
                <a:srgbClr val="000000"/>
              </a:solidFill>
              <a:latin typeface="Calibri"/>
              <a:ea typeface="Calibri"/>
              <a:cs typeface="Calibri"/>
              <a:sym typeface="Calibri"/>
            </a:endParaRPr>
          </a:p>
        </p:txBody>
      </p:sp>
      <p:grpSp>
        <p:nvGrpSpPr>
          <p:cNvPr id="7037" name="Google Shape;7037;p115"/>
          <p:cNvGrpSpPr/>
          <p:nvPr/>
        </p:nvGrpSpPr>
        <p:grpSpPr>
          <a:xfrm>
            <a:off x="10039611" y="1993407"/>
            <a:ext cx="1866837" cy="1277498"/>
            <a:chOff x="10039611" y="1800903"/>
            <a:chExt cx="1866837" cy="1277498"/>
          </a:xfrm>
        </p:grpSpPr>
        <p:sp>
          <p:nvSpPr>
            <p:cNvPr id="7038" name="Google Shape;7038;p115"/>
            <p:cNvSpPr txBox="1"/>
            <p:nvPr/>
          </p:nvSpPr>
          <p:spPr>
            <a:xfrm>
              <a:off x="10188717" y="2099672"/>
              <a:ext cx="1717731"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when sending at R/2, some packets are needed retransmissions</a:t>
              </a:r>
              <a:endParaRPr/>
            </a:p>
          </p:txBody>
        </p:sp>
        <p:cxnSp>
          <p:nvCxnSpPr>
            <p:cNvPr id="7039" name="Google Shape;7039;p115"/>
            <p:cNvCxnSpPr/>
            <p:nvPr/>
          </p:nvCxnSpPr>
          <p:spPr>
            <a:xfrm rot="10800000">
              <a:off x="10039611" y="1800903"/>
              <a:ext cx="423050" cy="355155"/>
            </a:xfrm>
            <a:prstGeom prst="straightConnector1">
              <a:avLst/>
            </a:prstGeom>
            <a:noFill/>
            <a:ln cap="flat" cmpd="sng" w="9525">
              <a:solidFill>
                <a:schemeClr val="dk1"/>
              </a:solidFill>
              <a:prstDash val="solid"/>
              <a:round/>
              <a:headEnd len="med" w="med" type="none"/>
              <a:tailEnd len="med" w="med" type="triangle"/>
            </a:ln>
          </p:spPr>
        </p:cxnSp>
      </p:grpSp>
      <p:grpSp>
        <p:nvGrpSpPr>
          <p:cNvPr id="7040" name="Google Shape;7040;p115"/>
          <p:cNvGrpSpPr/>
          <p:nvPr/>
        </p:nvGrpSpPr>
        <p:grpSpPr>
          <a:xfrm>
            <a:off x="7361453" y="1392684"/>
            <a:ext cx="3100386" cy="2791471"/>
            <a:chOff x="10662918" y="1488938"/>
            <a:chExt cx="3100386" cy="2791471"/>
          </a:xfrm>
        </p:grpSpPr>
        <p:sp>
          <p:nvSpPr>
            <p:cNvPr id="7041" name="Google Shape;7041;p115"/>
            <p:cNvSpPr/>
            <p:nvPr/>
          </p:nvSpPr>
          <p:spPr>
            <a:xfrm>
              <a:off x="11260180" y="2035401"/>
              <a:ext cx="2024019" cy="1604948"/>
            </a:xfrm>
            <a:custGeom>
              <a:rect b="b" l="l" r="r" t="t"/>
              <a:pathLst>
                <a:path extrusionOk="0" h="10000" w="10000">
                  <a:moveTo>
                    <a:pt x="0" y="10000"/>
                  </a:moveTo>
                  <a:cubicBezTo>
                    <a:pt x="1268" y="8586"/>
                    <a:pt x="-125" y="9688"/>
                    <a:pt x="7233" y="1532"/>
                  </a:cubicBezTo>
                  <a:cubicBezTo>
                    <a:pt x="7865" y="929"/>
                    <a:pt x="8381" y="338"/>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42" name="Google Shape;7042;p115"/>
            <p:cNvGrpSpPr/>
            <p:nvPr/>
          </p:nvGrpSpPr>
          <p:grpSpPr>
            <a:xfrm>
              <a:off x="12077700" y="3606746"/>
              <a:ext cx="458788" cy="400051"/>
              <a:chOff x="3583" y="1761"/>
              <a:chExt cx="289" cy="252"/>
            </a:xfrm>
          </p:grpSpPr>
          <p:sp>
            <p:nvSpPr>
              <p:cNvPr id="7043" name="Google Shape;7043;p115"/>
              <p:cNvSpPr txBox="1"/>
              <p:nvPr/>
            </p:nvSpPr>
            <p:spPr>
              <a:xfrm>
                <a:off x="3583" y="1761"/>
                <a:ext cx="28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b="0" baseline="-25000" i="0" sz="2000" u="none" cap="none" strike="noStrike">
                  <a:solidFill>
                    <a:srgbClr val="000000"/>
                  </a:solidFill>
                  <a:latin typeface="Arial"/>
                  <a:ea typeface="Arial"/>
                  <a:cs typeface="Arial"/>
                  <a:sym typeface="Arial"/>
                </a:endParaRPr>
              </a:p>
            </p:txBody>
          </p:sp>
          <p:cxnSp>
            <p:nvCxnSpPr>
              <p:cNvPr id="7044" name="Google Shape;7044;p115"/>
              <p:cNvCxnSpPr/>
              <p:nvPr/>
            </p:nvCxnSpPr>
            <p:spPr>
              <a:xfrm flipH="1" rot="10800000">
                <a:off x="3726" y="1834"/>
                <a:ext cx="24" cy="24"/>
              </a:xfrm>
              <a:prstGeom prst="straightConnector1">
                <a:avLst/>
              </a:prstGeom>
              <a:noFill/>
              <a:ln cap="flat" cmpd="sng" w="19050">
                <a:solidFill>
                  <a:schemeClr val="dk1"/>
                </a:solidFill>
                <a:prstDash val="solid"/>
                <a:round/>
                <a:headEnd len="med" w="med" type="none"/>
                <a:tailEnd len="med" w="med" type="none"/>
              </a:ln>
            </p:spPr>
          </p:cxnSp>
        </p:grpSp>
        <p:cxnSp>
          <p:nvCxnSpPr>
            <p:cNvPr id="7045" name="Google Shape;7045;p115"/>
            <p:cNvCxnSpPr/>
            <p:nvPr/>
          </p:nvCxnSpPr>
          <p:spPr>
            <a:xfrm>
              <a:off x="11267134" y="1488938"/>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7046" name="Google Shape;7046;p115"/>
            <p:cNvCxnSpPr/>
            <p:nvPr/>
          </p:nvCxnSpPr>
          <p:spPr>
            <a:xfrm>
              <a:off x="13274022" y="1725252"/>
              <a:ext cx="0" cy="1869027"/>
            </a:xfrm>
            <a:prstGeom prst="straightConnector1">
              <a:avLst/>
            </a:prstGeom>
            <a:noFill/>
            <a:ln cap="flat" cmpd="sng" w="12700">
              <a:solidFill>
                <a:schemeClr val="dk1"/>
              </a:solidFill>
              <a:prstDash val="dash"/>
              <a:round/>
              <a:headEnd len="med" w="med" type="none"/>
              <a:tailEnd len="med" w="med" type="none"/>
            </a:ln>
          </p:spPr>
        </p:cxnSp>
        <p:sp>
          <p:nvSpPr>
            <p:cNvPr id="7047" name="Google Shape;7047;p115"/>
            <p:cNvSpPr/>
            <p:nvPr/>
          </p:nvSpPr>
          <p:spPr>
            <a:xfrm>
              <a:off x="11255891" y="1666173"/>
              <a:ext cx="2023753" cy="1965701"/>
            </a:xfrm>
            <a:custGeom>
              <a:rect b="b" l="l" r="r" t="t"/>
              <a:pathLst>
                <a:path extrusionOk="0" h="732" w="720">
                  <a:moveTo>
                    <a:pt x="0" y="732"/>
                  </a:moveTo>
                  <a:lnTo>
                    <a:pt x="720" y="0"/>
                  </a:lnTo>
                </a:path>
              </a:pathLst>
            </a:custGeom>
            <a:noFill/>
            <a:ln cap="flat" cmpd="sng" w="28575">
              <a:solidFill>
                <a:schemeClr val="dk1"/>
              </a:solidFill>
              <a:prstDash val="dash"/>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048" name="Google Shape;7048;p115"/>
            <p:cNvCxnSpPr/>
            <p:nvPr/>
          </p:nvCxnSpPr>
          <p:spPr>
            <a:xfrm>
              <a:off x="11120974" y="1666173"/>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7049" name="Google Shape;7049;p115"/>
            <p:cNvCxnSpPr/>
            <p:nvPr/>
          </p:nvCxnSpPr>
          <p:spPr>
            <a:xfrm>
              <a:off x="13268401" y="3647986"/>
              <a:ext cx="0" cy="155752"/>
            </a:xfrm>
            <a:prstGeom prst="straightConnector1">
              <a:avLst/>
            </a:prstGeom>
            <a:noFill/>
            <a:ln cap="flat" cmpd="sng" w="19050">
              <a:solidFill>
                <a:schemeClr val="dk1"/>
              </a:solidFill>
              <a:prstDash val="solid"/>
              <a:round/>
              <a:headEnd len="med" w="med" type="none"/>
              <a:tailEnd len="med" w="med" type="none"/>
            </a:ln>
          </p:spPr>
        </p:cxnSp>
        <p:sp>
          <p:nvSpPr>
            <p:cNvPr id="7050" name="Google Shape;7050;p115"/>
            <p:cNvSpPr txBox="1"/>
            <p:nvPr/>
          </p:nvSpPr>
          <p:spPr>
            <a:xfrm>
              <a:off x="10662918" y="1491652"/>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051" name="Google Shape;7051;p115"/>
            <p:cNvSpPr txBox="1"/>
            <p:nvPr/>
          </p:nvSpPr>
          <p:spPr>
            <a:xfrm rot="-5400000">
              <a:off x="10693131" y="1620961"/>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7052" name="Google Shape;7052;p115"/>
            <p:cNvCxnSpPr/>
            <p:nvPr/>
          </p:nvCxnSpPr>
          <p:spPr>
            <a:xfrm>
              <a:off x="11300864" y="1668859"/>
              <a:ext cx="1841053" cy="0"/>
            </a:xfrm>
            <a:prstGeom prst="straightConnector1">
              <a:avLst/>
            </a:prstGeom>
            <a:noFill/>
            <a:ln cap="flat" cmpd="sng" w="12700">
              <a:solidFill>
                <a:srgbClr val="BFBFBF"/>
              </a:solidFill>
              <a:prstDash val="dash"/>
              <a:round/>
              <a:headEnd len="med" w="med" type="none"/>
              <a:tailEnd len="med" w="med" type="none"/>
            </a:ln>
          </p:spPr>
        </p:cxnSp>
        <p:cxnSp>
          <p:nvCxnSpPr>
            <p:cNvPr id="7053" name="Google Shape;7053;p115"/>
            <p:cNvCxnSpPr/>
            <p:nvPr/>
          </p:nvCxnSpPr>
          <p:spPr>
            <a:xfrm>
              <a:off x="11277601" y="3626318"/>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7054" name="Google Shape;7054;p115"/>
            <p:cNvSpPr txBox="1"/>
            <p:nvPr/>
          </p:nvSpPr>
          <p:spPr>
            <a:xfrm rot="-5400000">
              <a:off x="10440763" y="2708058"/>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7055" name="Google Shape;7055;p115"/>
            <p:cNvSpPr/>
            <p:nvPr/>
          </p:nvSpPr>
          <p:spPr>
            <a:xfrm>
              <a:off x="13195300" y="1625600"/>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6" name="Google Shape;7056;p115"/>
            <p:cNvSpPr txBox="1"/>
            <p:nvPr/>
          </p:nvSpPr>
          <p:spPr>
            <a:xfrm>
              <a:off x="12948181" y="3764815"/>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057" name="Google Shape;7057;p115"/>
            <p:cNvSpPr/>
            <p:nvPr/>
          </p:nvSpPr>
          <p:spPr>
            <a:xfrm>
              <a:off x="13213792" y="1978681"/>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58" name="Google Shape;7058;p115"/>
            <p:cNvCxnSpPr/>
            <p:nvPr/>
          </p:nvCxnSpPr>
          <p:spPr>
            <a:xfrm>
              <a:off x="11261558" y="2061890"/>
              <a:ext cx="1975007" cy="0"/>
            </a:xfrm>
            <a:prstGeom prst="straightConnector1">
              <a:avLst/>
            </a:prstGeom>
            <a:noFill/>
            <a:ln cap="flat" cmpd="sng" w="12700">
              <a:solidFill>
                <a:schemeClr val="dk1"/>
              </a:solidFill>
              <a:prstDash val="dash"/>
              <a:round/>
              <a:headEnd len="med" w="med" type="none"/>
              <a:tailEnd len="med" w="med" type="none"/>
            </a:ln>
          </p:spPr>
        </p:cxnSp>
      </p:grpSp>
      <p:sp>
        <p:nvSpPr>
          <p:cNvPr id="7059" name="Google Shape;7059;p115"/>
          <p:cNvSpPr/>
          <p:nvPr/>
        </p:nvSpPr>
        <p:spPr>
          <a:xfrm rot="-2408713">
            <a:off x="7883091" y="2781701"/>
            <a:ext cx="1203158" cy="529390"/>
          </a:xfrm>
          <a:prstGeom prst="ellipse">
            <a:avLst/>
          </a:prstGeom>
          <a:noFill/>
          <a:ln cap="flat" cmpd="sng" w="25400">
            <a:solidFill>
              <a:srgbClr val="001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60" name="Google Shape;7060;p115"/>
          <p:cNvSpPr/>
          <p:nvPr/>
        </p:nvSpPr>
        <p:spPr>
          <a:xfrm>
            <a:off x="9577137" y="1414913"/>
            <a:ext cx="866274" cy="866274"/>
          </a:xfrm>
          <a:prstGeom prst="ellipse">
            <a:avLst/>
          </a:prstGeom>
          <a:noFill/>
          <a:ln cap="flat" cmpd="sng" w="28575">
            <a:solidFill>
              <a:srgbClr val="0013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061" name="Google Shape;7061;p115"/>
          <p:cNvGrpSpPr/>
          <p:nvPr/>
        </p:nvGrpSpPr>
        <p:grpSpPr>
          <a:xfrm>
            <a:off x="10048776" y="1568677"/>
            <a:ext cx="1915427" cy="480131"/>
            <a:chOff x="10048776" y="1376173"/>
            <a:chExt cx="1915427" cy="480131"/>
          </a:xfrm>
        </p:grpSpPr>
        <p:sp>
          <p:nvSpPr>
            <p:cNvPr id="7062" name="Google Shape;7062;p115"/>
            <p:cNvSpPr/>
            <p:nvPr/>
          </p:nvSpPr>
          <p:spPr>
            <a:xfrm>
              <a:off x="10048776" y="1414914"/>
              <a:ext cx="144379" cy="336885"/>
            </a:xfrm>
            <a:prstGeom prst="rightBrace">
              <a:avLst>
                <a:gd fmla="val 8333" name="adj1"/>
                <a:gd fmla="val 50000" name="adj2"/>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63" name="Google Shape;7063;p115"/>
            <p:cNvSpPr txBox="1"/>
            <p:nvPr/>
          </p:nvSpPr>
          <p:spPr>
            <a:xfrm>
              <a:off x="10148612" y="1376173"/>
              <a:ext cx="1815591" cy="4801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“wasted” capacity due to retransmissions</a:t>
              </a:r>
              <a:endParaRPr/>
            </a:p>
          </p:txBody>
        </p:sp>
      </p:grpSp>
      <p:sp>
        <p:nvSpPr>
          <p:cNvPr id="7064" name="Google Shape;7064;p1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034"/>
                                        </p:tgtEl>
                                        <p:attrNameLst>
                                          <p:attrName>style.visibility</p:attrName>
                                        </p:attrNameLst>
                                      </p:cBhvr>
                                      <p:to>
                                        <p:strVal val="visible"/>
                                      </p:to>
                                    </p:set>
                                    <p:animEffect filter="fade" transition="in">
                                      <p:cBhvr>
                                        <p:cTn dur="500"/>
                                        <p:tgtEl>
                                          <p:spTgt spid="7034"/>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7034"/>
                                        </p:tgtEl>
                                      </p:cBhvr>
                                    </p:animEffect>
                                    <p:set>
                                      <p:cBhvr>
                                        <p:cTn dur="1" fill="hold">
                                          <p:stCondLst>
                                            <p:cond delay="500"/>
                                          </p:stCondLst>
                                        </p:cTn>
                                        <p:tgtEl>
                                          <p:spTgt spid="7034"/>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7033"/>
                                        </p:tgtEl>
                                      </p:cBhvr>
                                    </p:animEffect>
                                    <p:set>
                                      <p:cBhvr>
                                        <p:cTn dur="1" fill="hold">
                                          <p:stCondLst>
                                            <p:cond delay="500"/>
                                          </p:stCondLst>
                                        </p:cTn>
                                        <p:tgtEl>
                                          <p:spTgt spid="703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035"/>
                                        </p:tgtEl>
                                      </p:cBhvr>
                                    </p:animEffect>
                                    <p:set>
                                      <p:cBhvr>
                                        <p:cTn dur="1" fill="hold">
                                          <p:stCondLst>
                                            <p:cond delay="500"/>
                                          </p:stCondLst>
                                        </p:cTn>
                                        <p:tgtEl>
                                          <p:spTgt spid="70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0"/>
                                        </p:tgtEl>
                                        <p:attrNameLst>
                                          <p:attrName>style.visibility</p:attrName>
                                        </p:attrNameLst>
                                      </p:cBhvr>
                                      <p:to>
                                        <p:strVal val="visible"/>
                                      </p:to>
                                    </p:set>
                                    <p:animEffect filter="fade" transition="in">
                                      <p:cBhvr>
                                        <p:cTn dur="500"/>
                                        <p:tgtEl>
                                          <p:spTgt spid="70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59"/>
                                        </p:tgtEl>
                                        <p:attrNameLst>
                                          <p:attrName>style.visibility</p:attrName>
                                        </p:attrNameLst>
                                      </p:cBhvr>
                                      <p:to>
                                        <p:strVal val="visible"/>
                                      </p:to>
                                    </p:set>
                                    <p:animEffect filter="fade" transition="in">
                                      <p:cBhvr>
                                        <p:cTn dur="500"/>
                                        <p:tgtEl>
                                          <p:spTgt spid="7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0"/>
                                        </p:tgtEl>
                                        <p:attrNameLst>
                                          <p:attrName>style.visibility</p:attrName>
                                        </p:attrNameLst>
                                      </p:cBhvr>
                                      <p:to>
                                        <p:strVal val="visible"/>
                                      </p:to>
                                    </p:set>
                                    <p:animEffect filter="fade" transition="in">
                                      <p:cBhvr>
                                        <p:cTn dur="500"/>
                                        <p:tgtEl>
                                          <p:spTgt spid="7060"/>
                                        </p:tgtEl>
                                      </p:cBhvr>
                                    </p:animEffect>
                                  </p:childTnLst>
                                </p:cTn>
                              </p:par>
                              <p:par>
                                <p:cTn fill="hold" nodeType="withEffect" presetClass="exit" presetID="10" presetSubtype="0">
                                  <p:stCondLst>
                                    <p:cond delay="0"/>
                                  </p:stCondLst>
                                  <p:childTnLst>
                                    <p:animEffect filter="fade" transition="out">
                                      <p:cBhvr>
                                        <p:cTn dur="500"/>
                                        <p:tgtEl>
                                          <p:spTgt spid="7059"/>
                                        </p:tgtEl>
                                      </p:cBhvr>
                                    </p:animEffect>
                                    <p:set>
                                      <p:cBhvr>
                                        <p:cTn dur="1" fill="hold">
                                          <p:stCondLst>
                                            <p:cond delay="500"/>
                                          </p:stCondLst>
                                        </p:cTn>
                                        <p:tgtEl>
                                          <p:spTgt spid="70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7"/>
                                        </p:tgtEl>
                                        <p:attrNameLst>
                                          <p:attrName>style.visibility</p:attrName>
                                        </p:attrNameLst>
                                      </p:cBhvr>
                                      <p:to>
                                        <p:strVal val="visible"/>
                                      </p:to>
                                    </p:set>
                                    <p:animEffect filter="fade" transition="in">
                                      <p:cBhvr>
                                        <p:cTn dur="500"/>
                                        <p:tgtEl>
                                          <p:spTgt spid="7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1"/>
                                        </p:tgtEl>
                                        <p:attrNameLst>
                                          <p:attrName>style.visibility</p:attrName>
                                        </p:attrNameLst>
                                      </p:cBhvr>
                                      <p:to>
                                        <p:strVal val="visible"/>
                                      </p:to>
                                    </p:set>
                                    <p:animEffect filter="fade" transition="in">
                                      <p:cBhvr>
                                        <p:cTn dur="500"/>
                                        <p:tgtEl>
                                          <p:spTgt spid="70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9" name="Shape 7069"/>
        <p:cNvGrpSpPr/>
        <p:nvPr/>
      </p:nvGrpSpPr>
      <p:grpSpPr>
        <a:xfrm>
          <a:off x="0" y="0"/>
          <a:ext cx="0" cy="0"/>
          <a:chOff x="0" y="0"/>
          <a:chExt cx="0" cy="0"/>
        </a:xfrm>
      </p:grpSpPr>
      <p:sp>
        <p:nvSpPr>
          <p:cNvPr id="7070" name="Google Shape;7070;p116"/>
          <p:cNvSpPr/>
          <p:nvPr/>
        </p:nvSpPr>
        <p:spPr>
          <a:xfrm>
            <a:off x="6946976" y="5009814"/>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71" name="Google Shape;7071;p116"/>
          <p:cNvGrpSpPr/>
          <p:nvPr/>
        </p:nvGrpSpPr>
        <p:grpSpPr>
          <a:xfrm>
            <a:off x="6249435" y="5024056"/>
            <a:ext cx="720732" cy="1182930"/>
            <a:chOff x="10910965" y="2513124"/>
            <a:chExt cx="586768" cy="904023"/>
          </a:xfrm>
        </p:grpSpPr>
        <p:sp>
          <p:nvSpPr>
            <p:cNvPr id="7072" name="Google Shape;7072;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73" name="Google Shape;7073;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74" name="Google Shape;7074;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75" name="Google Shape;7075;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76" name="Google Shape;7076;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077" name="Google Shape;7077;p116"/>
          <p:cNvSpPr/>
          <p:nvPr/>
        </p:nvSpPr>
        <p:spPr>
          <a:xfrm flipH="1">
            <a:off x="1844721" y="3515638"/>
            <a:ext cx="528348" cy="1178279"/>
          </a:xfrm>
          <a:custGeom>
            <a:rect b="b" l="l" r="r" t="t"/>
            <a:pathLst>
              <a:path extrusionOk="0" h="10765" w="10000">
                <a:moveTo>
                  <a:pt x="8616" y="3799"/>
                </a:moveTo>
                <a:lnTo>
                  <a:pt x="0" y="0"/>
                </a:lnTo>
                <a:cubicBezTo>
                  <a:pt x="78" y="3333"/>
                  <a:pt x="50" y="7432"/>
                  <a:pt x="128" y="10765"/>
                </a:cubicBezTo>
                <a:lnTo>
                  <a:pt x="10000" y="6530"/>
                </a:lnTo>
                <a:lnTo>
                  <a:pt x="8616" y="379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78" name="Google Shape;7078;p116"/>
          <p:cNvGrpSpPr/>
          <p:nvPr/>
        </p:nvGrpSpPr>
        <p:grpSpPr>
          <a:xfrm>
            <a:off x="1278678" y="4683698"/>
            <a:ext cx="720732" cy="1182930"/>
            <a:chOff x="10910965" y="2513124"/>
            <a:chExt cx="586768" cy="904023"/>
          </a:xfrm>
        </p:grpSpPr>
        <p:sp>
          <p:nvSpPr>
            <p:cNvPr id="7079" name="Google Shape;7079;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80" name="Google Shape;7080;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1" name="Google Shape;7081;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2" name="Google Shape;7082;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3" name="Google Shape;7083;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084" name="Google Shape;7084;p116"/>
          <p:cNvGrpSpPr/>
          <p:nvPr/>
        </p:nvGrpSpPr>
        <p:grpSpPr>
          <a:xfrm>
            <a:off x="2355044" y="3521091"/>
            <a:ext cx="720732" cy="1182930"/>
            <a:chOff x="10910965" y="2513124"/>
            <a:chExt cx="586768" cy="904023"/>
          </a:xfrm>
        </p:grpSpPr>
        <p:sp>
          <p:nvSpPr>
            <p:cNvPr id="7085" name="Google Shape;7085;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86" name="Google Shape;7086;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7" name="Google Shape;7087;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8" name="Google Shape;7088;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89" name="Google Shape;7089;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090" name="Google Shape;7090;p116"/>
          <p:cNvSpPr/>
          <p:nvPr/>
        </p:nvSpPr>
        <p:spPr>
          <a:xfrm>
            <a:off x="7409112" y="3699469"/>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91" name="Google Shape;7091;p116"/>
          <p:cNvGrpSpPr/>
          <p:nvPr/>
        </p:nvGrpSpPr>
        <p:grpSpPr>
          <a:xfrm>
            <a:off x="6698918" y="3667889"/>
            <a:ext cx="720732" cy="1182930"/>
            <a:chOff x="10910965" y="2513124"/>
            <a:chExt cx="586768" cy="904023"/>
          </a:xfrm>
        </p:grpSpPr>
        <p:sp>
          <p:nvSpPr>
            <p:cNvPr id="7092" name="Google Shape;7092;p116"/>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93" name="Google Shape;7093;p116"/>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94" name="Google Shape;7094;p116"/>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95" name="Google Shape;7095;p116"/>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096" name="Google Shape;7096;p116"/>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097" name="Google Shape;7097;p116"/>
          <p:cNvGrpSpPr/>
          <p:nvPr/>
        </p:nvGrpSpPr>
        <p:grpSpPr>
          <a:xfrm>
            <a:off x="3770696" y="5033645"/>
            <a:ext cx="1286871" cy="734927"/>
            <a:chOff x="7493876" y="2774731"/>
            <a:chExt cx="1481958" cy="894622"/>
          </a:xfrm>
        </p:grpSpPr>
        <p:sp>
          <p:nvSpPr>
            <p:cNvPr id="7098" name="Google Shape;7098;p1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99" name="Google Shape;7099;p1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00" name="Google Shape;7100;p116"/>
            <p:cNvGrpSpPr/>
            <p:nvPr/>
          </p:nvGrpSpPr>
          <p:grpSpPr>
            <a:xfrm>
              <a:off x="7713663" y="2848339"/>
              <a:ext cx="1042107" cy="425543"/>
              <a:chOff x="7786941" y="2884917"/>
              <a:chExt cx="897649" cy="353919"/>
            </a:xfrm>
          </p:grpSpPr>
          <p:sp>
            <p:nvSpPr>
              <p:cNvPr id="7101" name="Google Shape;7101;p1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2" name="Google Shape;7102;p1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3" name="Google Shape;7103;p1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4" name="Google Shape;7104;p1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05" name="Google Shape;7105;p116"/>
          <p:cNvGrpSpPr/>
          <p:nvPr/>
        </p:nvGrpSpPr>
        <p:grpSpPr>
          <a:xfrm>
            <a:off x="1317421" y="3877120"/>
            <a:ext cx="645431" cy="569172"/>
            <a:chOff x="-44" y="1473"/>
            <a:chExt cx="981" cy="1105"/>
          </a:xfrm>
        </p:grpSpPr>
        <p:pic>
          <p:nvPicPr>
            <p:cNvPr descr="desktop_computer_stylized_medium" id="7106" name="Google Shape;7106;p1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107" name="Google Shape;7107;p1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08" name="Google Shape;7108;p116"/>
          <p:cNvSpPr/>
          <p:nvPr/>
        </p:nvSpPr>
        <p:spPr>
          <a:xfrm flipH="1">
            <a:off x="978210" y="4681606"/>
            <a:ext cx="308091" cy="1217281"/>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7109" name="Google Shape;7109;p116"/>
          <p:cNvCxnSpPr/>
          <p:nvPr/>
        </p:nvCxnSpPr>
        <p:spPr>
          <a:xfrm flipH="1">
            <a:off x="2405566" y="4856096"/>
            <a:ext cx="1134865" cy="1134190"/>
          </a:xfrm>
          <a:prstGeom prst="straightConnector1">
            <a:avLst/>
          </a:prstGeom>
          <a:noFill/>
          <a:ln cap="flat" cmpd="sng" w="9525">
            <a:solidFill>
              <a:srgbClr val="000000"/>
            </a:solidFill>
            <a:prstDash val="solid"/>
            <a:round/>
            <a:headEnd len="med" w="med" type="none"/>
            <a:tailEnd len="med" w="med" type="none"/>
          </a:ln>
        </p:spPr>
      </p:cxnSp>
      <p:sp>
        <p:nvSpPr>
          <p:cNvPr id="7110" name="Google Shape;7110;p116"/>
          <p:cNvSpPr txBox="1"/>
          <p:nvPr/>
        </p:nvSpPr>
        <p:spPr>
          <a:xfrm>
            <a:off x="1088616" y="3529817"/>
            <a:ext cx="1122503"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Host A</a:t>
            </a:r>
            <a:endParaRPr b="0" i="0" sz="4000" u="none" cap="none" strike="noStrike">
              <a:solidFill>
                <a:srgbClr val="C00000"/>
              </a:solidFill>
              <a:latin typeface="Comic Sans MS"/>
              <a:ea typeface="Comic Sans MS"/>
              <a:cs typeface="Comic Sans MS"/>
              <a:sym typeface="Comic Sans MS"/>
            </a:endParaRPr>
          </a:p>
        </p:txBody>
      </p:sp>
      <p:sp>
        <p:nvSpPr>
          <p:cNvPr id="7111" name="Google Shape;7111;p116"/>
          <p:cNvSpPr txBox="1"/>
          <p:nvPr/>
        </p:nvSpPr>
        <p:spPr>
          <a:xfrm>
            <a:off x="1083435" y="6053488"/>
            <a:ext cx="981577" cy="3178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13A3"/>
              </a:buClr>
              <a:buSzPts val="1600"/>
              <a:buFont typeface="Arial"/>
              <a:buNone/>
            </a:pPr>
            <a:r>
              <a:rPr b="0" i="0" lang="en-US" sz="1600" u="none" cap="none" strike="noStrike">
                <a:solidFill>
                  <a:srgbClr val="0013A3"/>
                </a:solidFill>
                <a:latin typeface="Arial"/>
                <a:ea typeface="Arial"/>
                <a:cs typeface="Arial"/>
                <a:sym typeface="Arial"/>
              </a:rPr>
              <a:t>Host B</a:t>
            </a:r>
            <a:endParaRPr b="0" i="0" sz="4000" u="none" cap="none" strike="noStrike">
              <a:solidFill>
                <a:srgbClr val="0013A3"/>
              </a:solidFill>
              <a:latin typeface="Comic Sans MS"/>
              <a:ea typeface="Comic Sans MS"/>
              <a:cs typeface="Comic Sans MS"/>
              <a:sym typeface="Comic Sans MS"/>
            </a:endParaRPr>
          </a:p>
        </p:txBody>
      </p:sp>
      <p:cxnSp>
        <p:nvCxnSpPr>
          <p:cNvPr id="7112" name="Google Shape;7112;p116"/>
          <p:cNvCxnSpPr/>
          <p:nvPr/>
        </p:nvCxnSpPr>
        <p:spPr>
          <a:xfrm rot="10800000">
            <a:off x="3002248"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7113" name="Google Shape;7113;p116"/>
          <p:cNvCxnSpPr/>
          <p:nvPr/>
        </p:nvCxnSpPr>
        <p:spPr>
          <a:xfrm rot="10800000">
            <a:off x="4991187" y="5379569"/>
            <a:ext cx="748777" cy="0"/>
          </a:xfrm>
          <a:prstGeom prst="straightConnector1">
            <a:avLst/>
          </a:prstGeom>
          <a:noFill/>
          <a:ln cap="flat" cmpd="sng" w="9525">
            <a:solidFill>
              <a:srgbClr val="000000"/>
            </a:solidFill>
            <a:prstDash val="solid"/>
            <a:round/>
            <a:headEnd len="med" w="med" type="none"/>
            <a:tailEnd len="med" w="med" type="none"/>
          </a:ln>
        </p:spPr>
      </p:cxnSp>
      <p:cxnSp>
        <p:nvCxnSpPr>
          <p:cNvPr id="7114" name="Google Shape;7114;p116"/>
          <p:cNvCxnSpPr/>
          <p:nvPr/>
        </p:nvCxnSpPr>
        <p:spPr>
          <a:xfrm flipH="1">
            <a:off x="5143282" y="4856096"/>
            <a:ext cx="1134865" cy="1134190"/>
          </a:xfrm>
          <a:prstGeom prst="straightConnector1">
            <a:avLst/>
          </a:prstGeom>
          <a:noFill/>
          <a:ln cap="flat" cmpd="sng" w="9525">
            <a:solidFill>
              <a:srgbClr val="000000"/>
            </a:solidFill>
            <a:prstDash val="solid"/>
            <a:round/>
            <a:headEnd len="med" w="med" type="none"/>
            <a:tailEnd len="med" w="med" type="none"/>
          </a:ln>
        </p:spPr>
      </p:cxnSp>
      <p:cxnSp>
        <p:nvCxnSpPr>
          <p:cNvPr id="7115" name="Google Shape;7115;p116"/>
          <p:cNvCxnSpPr/>
          <p:nvPr/>
        </p:nvCxnSpPr>
        <p:spPr>
          <a:xfrm rot="10800000">
            <a:off x="6275655" y="4856289"/>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7116" name="Google Shape;7116;p116"/>
          <p:cNvGrpSpPr/>
          <p:nvPr/>
        </p:nvGrpSpPr>
        <p:grpSpPr>
          <a:xfrm>
            <a:off x="7531958" y="4473878"/>
            <a:ext cx="284691" cy="577481"/>
            <a:chOff x="4140" y="429"/>
            <a:chExt cx="1425" cy="2396"/>
          </a:xfrm>
        </p:grpSpPr>
        <p:sp>
          <p:nvSpPr>
            <p:cNvPr id="7117" name="Google Shape;7117;p1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18" name="Google Shape;7118;p116"/>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19" name="Google Shape;7119;p1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0" name="Google Shape;7120;p1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1" name="Google Shape;7121;p116"/>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22" name="Google Shape;7122;p116"/>
            <p:cNvGrpSpPr/>
            <p:nvPr/>
          </p:nvGrpSpPr>
          <p:grpSpPr>
            <a:xfrm>
              <a:off x="4745" y="670"/>
              <a:ext cx="586" cy="146"/>
              <a:chOff x="609" y="2570"/>
              <a:chExt cx="731" cy="140"/>
            </a:xfrm>
          </p:grpSpPr>
          <p:sp>
            <p:nvSpPr>
              <p:cNvPr id="7123" name="Google Shape;7123;p116"/>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4" name="Google Shape;7124;p116"/>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25" name="Google Shape;7125;p116"/>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26" name="Google Shape;7126;p116"/>
            <p:cNvGrpSpPr/>
            <p:nvPr/>
          </p:nvGrpSpPr>
          <p:grpSpPr>
            <a:xfrm>
              <a:off x="4745" y="998"/>
              <a:ext cx="586" cy="129"/>
              <a:chOff x="612" y="2572"/>
              <a:chExt cx="731" cy="134"/>
            </a:xfrm>
          </p:grpSpPr>
          <p:sp>
            <p:nvSpPr>
              <p:cNvPr id="7127" name="Google Shape;7127;p116"/>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8" name="Google Shape;7128;p116"/>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29" name="Google Shape;7129;p116"/>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0" name="Google Shape;7130;p116"/>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31" name="Google Shape;7131;p116"/>
            <p:cNvGrpSpPr/>
            <p:nvPr/>
          </p:nvGrpSpPr>
          <p:grpSpPr>
            <a:xfrm>
              <a:off x="4735" y="1627"/>
              <a:ext cx="586" cy="215"/>
              <a:chOff x="614" y="2568"/>
              <a:chExt cx="730" cy="198"/>
            </a:xfrm>
          </p:grpSpPr>
          <p:sp>
            <p:nvSpPr>
              <p:cNvPr id="7132" name="Google Shape;7132;p116"/>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3" name="Google Shape;7133;p116"/>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34" name="Google Shape;7134;p1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35" name="Google Shape;7135;p116"/>
            <p:cNvGrpSpPr/>
            <p:nvPr/>
          </p:nvGrpSpPr>
          <p:grpSpPr>
            <a:xfrm>
              <a:off x="4735" y="1325"/>
              <a:ext cx="586" cy="138"/>
              <a:chOff x="609" y="2566"/>
              <a:chExt cx="730" cy="138"/>
            </a:xfrm>
          </p:grpSpPr>
          <p:sp>
            <p:nvSpPr>
              <p:cNvPr id="7136" name="Google Shape;7136;p116"/>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7" name="Google Shape;7137;p116"/>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38" name="Google Shape;7138;p116"/>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9" name="Google Shape;7139;p1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0" name="Google Shape;7140;p1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1" name="Google Shape;7141;p116"/>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2" name="Google Shape;7142;p1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3" name="Google Shape;7143;p116"/>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4" name="Google Shape;7144;p116"/>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5" name="Google Shape;7145;p116"/>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6" name="Google Shape;7146;p116"/>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147" name="Google Shape;7147;p116"/>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8" name="Google Shape;7148;p116"/>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149" name="Google Shape;7149;p116"/>
          <p:cNvGrpSpPr/>
          <p:nvPr/>
        </p:nvGrpSpPr>
        <p:grpSpPr>
          <a:xfrm>
            <a:off x="585296" y="5655276"/>
            <a:ext cx="645431" cy="569172"/>
            <a:chOff x="-44" y="1473"/>
            <a:chExt cx="981" cy="1105"/>
          </a:xfrm>
        </p:grpSpPr>
        <p:pic>
          <p:nvPicPr>
            <p:cNvPr descr="desktop_computer_stylized_medium" id="7150" name="Google Shape;7150;p1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151" name="Google Shape;7151;p1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152" name="Google Shape;7152;p116"/>
          <p:cNvGrpSpPr/>
          <p:nvPr/>
        </p:nvGrpSpPr>
        <p:grpSpPr>
          <a:xfrm>
            <a:off x="7141970" y="5736859"/>
            <a:ext cx="284691" cy="577481"/>
            <a:chOff x="4140" y="429"/>
            <a:chExt cx="1425" cy="2396"/>
          </a:xfrm>
        </p:grpSpPr>
        <p:sp>
          <p:nvSpPr>
            <p:cNvPr id="7153" name="Google Shape;7153;p1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4" name="Google Shape;7154;p116"/>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5" name="Google Shape;7155;p1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6" name="Google Shape;7156;p1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57" name="Google Shape;7157;p116"/>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58" name="Google Shape;7158;p116"/>
            <p:cNvGrpSpPr/>
            <p:nvPr/>
          </p:nvGrpSpPr>
          <p:grpSpPr>
            <a:xfrm>
              <a:off x="4745" y="670"/>
              <a:ext cx="586" cy="146"/>
              <a:chOff x="609" y="2570"/>
              <a:chExt cx="731" cy="140"/>
            </a:xfrm>
          </p:grpSpPr>
          <p:sp>
            <p:nvSpPr>
              <p:cNvPr id="7159" name="Google Shape;7159;p116"/>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0" name="Google Shape;7160;p116"/>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61" name="Google Shape;7161;p116"/>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62" name="Google Shape;7162;p116"/>
            <p:cNvGrpSpPr/>
            <p:nvPr/>
          </p:nvGrpSpPr>
          <p:grpSpPr>
            <a:xfrm>
              <a:off x="4745" y="998"/>
              <a:ext cx="586" cy="129"/>
              <a:chOff x="612" y="2572"/>
              <a:chExt cx="731" cy="134"/>
            </a:xfrm>
          </p:grpSpPr>
          <p:sp>
            <p:nvSpPr>
              <p:cNvPr id="7163" name="Google Shape;7163;p116"/>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4" name="Google Shape;7164;p116"/>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65" name="Google Shape;7165;p116"/>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6" name="Google Shape;7166;p116"/>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67" name="Google Shape;7167;p116"/>
            <p:cNvGrpSpPr/>
            <p:nvPr/>
          </p:nvGrpSpPr>
          <p:grpSpPr>
            <a:xfrm>
              <a:off x="4735" y="1627"/>
              <a:ext cx="586" cy="215"/>
              <a:chOff x="614" y="2568"/>
              <a:chExt cx="730" cy="198"/>
            </a:xfrm>
          </p:grpSpPr>
          <p:sp>
            <p:nvSpPr>
              <p:cNvPr id="7168" name="Google Shape;7168;p116"/>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69" name="Google Shape;7169;p116"/>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70" name="Google Shape;7170;p1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71" name="Google Shape;7171;p116"/>
            <p:cNvGrpSpPr/>
            <p:nvPr/>
          </p:nvGrpSpPr>
          <p:grpSpPr>
            <a:xfrm>
              <a:off x="4735" y="1325"/>
              <a:ext cx="586" cy="138"/>
              <a:chOff x="609" y="2566"/>
              <a:chExt cx="730" cy="138"/>
            </a:xfrm>
          </p:grpSpPr>
          <p:sp>
            <p:nvSpPr>
              <p:cNvPr id="7172" name="Google Shape;7172;p116"/>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3" name="Google Shape;7173;p116"/>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74" name="Google Shape;7174;p116"/>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5" name="Google Shape;7175;p1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6" name="Google Shape;7176;p1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7" name="Google Shape;7177;p116"/>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8" name="Google Shape;7178;p1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79" name="Google Shape;7179;p116"/>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0" name="Google Shape;7180;p116"/>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1" name="Google Shape;7181;p116"/>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2" name="Google Shape;7182;p116"/>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183" name="Google Shape;7183;p116"/>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84" name="Google Shape;7184;p116"/>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7185" name="Google Shape;7185;p116"/>
          <p:cNvCxnSpPr/>
          <p:nvPr/>
        </p:nvCxnSpPr>
        <p:spPr>
          <a:xfrm rot="10800000">
            <a:off x="5155368" y="5988369"/>
            <a:ext cx="1009919" cy="0"/>
          </a:xfrm>
          <a:prstGeom prst="straightConnector1">
            <a:avLst/>
          </a:prstGeom>
          <a:noFill/>
          <a:ln cap="flat" cmpd="sng" w="9525">
            <a:solidFill>
              <a:srgbClr val="000000"/>
            </a:solidFill>
            <a:prstDash val="solid"/>
            <a:round/>
            <a:headEnd len="med" w="med" type="none"/>
            <a:tailEnd len="med" w="med" type="none"/>
          </a:ln>
        </p:spPr>
      </p:cxnSp>
      <p:cxnSp>
        <p:nvCxnSpPr>
          <p:cNvPr id="7186" name="Google Shape;7186;p116"/>
          <p:cNvCxnSpPr/>
          <p:nvPr/>
        </p:nvCxnSpPr>
        <p:spPr>
          <a:xfrm rot="10800000">
            <a:off x="3001196" y="4853221"/>
            <a:ext cx="540134" cy="0"/>
          </a:xfrm>
          <a:prstGeom prst="straightConnector1">
            <a:avLst/>
          </a:prstGeom>
          <a:noFill/>
          <a:ln cap="flat" cmpd="sng" w="9525">
            <a:solidFill>
              <a:srgbClr val="000000"/>
            </a:solidFill>
            <a:prstDash val="solid"/>
            <a:round/>
            <a:headEnd len="med" w="med" type="none"/>
            <a:tailEnd len="med" w="med" type="none"/>
          </a:ln>
        </p:spPr>
      </p:cxnSp>
      <p:cxnSp>
        <p:nvCxnSpPr>
          <p:cNvPr id="7187" name="Google Shape;7187;p116"/>
          <p:cNvCxnSpPr/>
          <p:nvPr/>
        </p:nvCxnSpPr>
        <p:spPr>
          <a:xfrm rot="10800000">
            <a:off x="1869391" y="5991438"/>
            <a:ext cx="540134" cy="0"/>
          </a:xfrm>
          <a:prstGeom prst="straightConnector1">
            <a:avLst/>
          </a:prstGeom>
          <a:noFill/>
          <a:ln cap="flat" cmpd="sng" w="9525">
            <a:solidFill>
              <a:srgbClr val="000000"/>
            </a:solidFill>
            <a:prstDash val="solid"/>
            <a:round/>
            <a:headEnd len="med" w="med" type="none"/>
            <a:tailEnd len="med" w="med" type="none"/>
          </a:ln>
        </p:spPr>
      </p:cxnSp>
      <p:grpSp>
        <p:nvGrpSpPr>
          <p:cNvPr id="7188" name="Google Shape;7188;p116"/>
          <p:cNvGrpSpPr/>
          <p:nvPr/>
        </p:nvGrpSpPr>
        <p:grpSpPr>
          <a:xfrm>
            <a:off x="2749090" y="3427413"/>
            <a:ext cx="2851610" cy="946150"/>
            <a:chOff x="2749090" y="3427413"/>
            <a:chExt cx="2851610" cy="946150"/>
          </a:xfrm>
        </p:grpSpPr>
        <p:sp>
          <p:nvSpPr>
            <p:cNvPr id="7189" name="Google Shape;7189;p116"/>
            <p:cNvSpPr txBox="1"/>
            <p:nvPr/>
          </p:nvSpPr>
          <p:spPr>
            <a:xfrm>
              <a:off x="3368675" y="3427413"/>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original data</a:t>
              </a:r>
              <a:endParaRPr b="0" i="0" sz="1600" u="none" cap="none" strike="noStrike">
                <a:solidFill>
                  <a:srgbClr val="C00000"/>
                </a:solidFill>
                <a:latin typeface="Comic Sans MS"/>
                <a:ea typeface="Comic Sans MS"/>
                <a:cs typeface="Comic Sans MS"/>
                <a:sym typeface="Comic Sans MS"/>
              </a:endParaRPr>
            </a:p>
          </p:txBody>
        </p:sp>
        <p:sp>
          <p:nvSpPr>
            <p:cNvPr id="7190" name="Google Shape;7190;p116"/>
            <p:cNvSpPr/>
            <p:nvPr/>
          </p:nvSpPr>
          <p:spPr>
            <a:xfrm>
              <a:off x="2749090" y="3616325"/>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191" name="Google Shape;7191;p116"/>
            <p:cNvCxnSpPr/>
            <p:nvPr/>
          </p:nvCxnSpPr>
          <p:spPr>
            <a:xfrm>
              <a:off x="4845050" y="3995738"/>
              <a:ext cx="339725" cy="0"/>
            </a:xfrm>
            <a:prstGeom prst="straightConnector1">
              <a:avLst/>
            </a:prstGeom>
            <a:noFill/>
            <a:ln cap="flat" cmpd="sng" w="38100">
              <a:solidFill>
                <a:srgbClr val="FFFFFF"/>
              </a:solidFill>
              <a:prstDash val="dot"/>
              <a:round/>
              <a:headEnd len="med" w="med" type="none"/>
              <a:tailEnd len="med" w="med" type="none"/>
            </a:ln>
          </p:spPr>
        </p:cxnSp>
        <p:sp>
          <p:nvSpPr>
            <p:cNvPr id="7192" name="Google Shape;7192;p116"/>
            <p:cNvSpPr/>
            <p:nvPr/>
          </p:nvSpPr>
          <p:spPr>
            <a:xfrm>
              <a:off x="2749606" y="3849688"/>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193" name="Google Shape;7193;p116"/>
            <p:cNvSpPr txBox="1"/>
            <p:nvPr/>
          </p:nvSpPr>
          <p:spPr>
            <a:xfrm>
              <a:off x="3251200" y="3756025"/>
              <a:ext cx="2349500" cy="6175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original data, </a:t>
              </a:r>
              <a:r>
                <a:rPr b="0" i="1" lang="en-US" sz="1600" u="none" cap="none" strike="noStrike">
                  <a:solidFill>
                    <a:srgbClr val="C00000"/>
                  </a:solidFill>
                  <a:latin typeface="Arial"/>
                  <a:ea typeface="Arial"/>
                  <a:cs typeface="Arial"/>
                  <a:sym typeface="Arial"/>
                </a:rPr>
                <a:t>plus</a:t>
              </a:r>
              <a:r>
                <a:rPr b="0" i="0" lang="en-US" sz="1600" u="none" cap="none" strike="noStrike">
                  <a:solidFill>
                    <a:srgbClr val="C00000"/>
                  </a:solidFill>
                  <a:latin typeface="Arial"/>
                  <a:ea typeface="Arial"/>
                  <a:cs typeface="Arial"/>
                  <a:sym typeface="Arial"/>
                </a:rPr>
                <a:t> retransmitted data</a:t>
              </a:r>
              <a:endParaRPr b="0" i="0" sz="1600" u="none" cap="none" strike="noStrike">
                <a:solidFill>
                  <a:srgbClr val="C00000"/>
                </a:solidFill>
                <a:latin typeface="Comic Sans MS"/>
                <a:ea typeface="Comic Sans MS"/>
                <a:cs typeface="Comic Sans MS"/>
                <a:sym typeface="Comic Sans MS"/>
              </a:endParaRPr>
            </a:p>
          </p:txBody>
        </p:sp>
        <p:cxnSp>
          <p:nvCxnSpPr>
            <p:cNvPr id="7194" name="Google Shape;7194;p116"/>
            <p:cNvCxnSpPr/>
            <p:nvPr/>
          </p:nvCxnSpPr>
          <p:spPr>
            <a:xfrm>
              <a:off x="2909888" y="3916363"/>
              <a:ext cx="514350" cy="0"/>
            </a:xfrm>
            <a:prstGeom prst="straightConnector1">
              <a:avLst/>
            </a:prstGeom>
            <a:noFill/>
            <a:ln cap="flat" cmpd="sng" w="12700">
              <a:solidFill>
                <a:srgbClr val="000000"/>
              </a:solidFill>
              <a:prstDash val="solid"/>
              <a:round/>
              <a:headEnd len="med" w="med" type="triangle"/>
              <a:tailEnd len="med" w="med" type="none"/>
            </a:ln>
          </p:spPr>
        </p:cxnSp>
        <p:cxnSp>
          <p:nvCxnSpPr>
            <p:cNvPr id="7195" name="Google Shape;7195;p116"/>
            <p:cNvCxnSpPr/>
            <p:nvPr/>
          </p:nvCxnSpPr>
          <p:spPr>
            <a:xfrm>
              <a:off x="2905125" y="3683000"/>
              <a:ext cx="514350" cy="0"/>
            </a:xfrm>
            <a:prstGeom prst="straightConnector1">
              <a:avLst/>
            </a:prstGeom>
            <a:noFill/>
            <a:ln cap="flat" cmpd="sng" w="12700">
              <a:solidFill>
                <a:srgbClr val="000000"/>
              </a:solidFill>
              <a:prstDash val="solid"/>
              <a:round/>
              <a:headEnd len="med" w="med" type="triangle"/>
              <a:tailEnd len="med" w="med" type="none"/>
            </a:ln>
          </p:spPr>
        </p:cxnSp>
      </p:grpSp>
      <p:grpSp>
        <p:nvGrpSpPr>
          <p:cNvPr id="7196" name="Google Shape;7196;p116"/>
          <p:cNvGrpSpPr/>
          <p:nvPr/>
        </p:nvGrpSpPr>
        <p:grpSpPr>
          <a:xfrm>
            <a:off x="2913490" y="5218953"/>
            <a:ext cx="1938730" cy="1300181"/>
            <a:chOff x="2913490" y="5218953"/>
            <a:chExt cx="1938730" cy="1300181"/>
          </a:xfrm>
        </p:grpSpPr>
        <p:sp>
          <p:nvSpPr>
            <p:cNvPr id="7197" name="Google Shape;7197;p116"/>
            <p:cNvSpPr txBox="1"/>
            <p:nvPr/>
          </p:nvSpPr>
          <p:spPr>
            <a:xfrm>
              <a:off x="2913490" y="6001893"/>
              <a:ext cx="1749096" cy="517241"/>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00000"/>
                </a:buClr>
                <a:buSzPts val="1600"/>
                <a:buFont typeface="Arial"/>
                <a:buNone/>
              </a:pPr>
              <a:r>
                <a:rPr b="1" i="1" lang="en-US" sz="1600" u="none" cap="none" strike="noStrike">
                  <a:solidFill>
                    <a:srgbClr val="C00000"/>
                  </a:solidFill>
                  <a:latin typeface="Arial"/>
                  <a:ea typeface="Arial"/>
                  <a:cs typeface="Arial"/>
                  <a:sym typeface="Arial"/>
                </a:rPr>
                <a:t>finite</a:t>
              </a:r>
              <a:r>
                <a:rPr b="0" i="0" lang="en-US" sz="1200" u="none" cap="none" strike="noStrike">
                  <a:solidFill>
                    <a:srgbClr val="000000"/>
                  </a:solidFill>
                  <a:latin typeface="Arial"/>
                  <a:ea typeface="Arial"/>
                  <a:cs typeface="Arial"/>
                  <a:sym typeface="Arial"/>
                </a:rPr>
                <a:t> shared output link buffers</a:t>
              </a:r>
              <a:endParaRPr/>
            </a:p>
          </p:txBody>
        </p:sp>
        <p:cxnSp>
          <p:nvCxnSpPr>
            <p:cNvPr id="7198" name="Google Shape;7198;p116"/>
            <p:cNvCxnSpPr/>
            <p:nvPr/>
          </p:nvCxnSpPr>
          <p:spPr>
            <a:xfrm flipH="1">
              <a:off x="4292190" y="5608320"/>
              <a:ext cx="295050" cy="508454"/>
            </a:xfrm>
            <a:prstGeom prst="straightConnector1">
              <a:avLst/>
            </a:prstGeom>
            <a:noFill/>
            <a:ln cap="flat" cmpd="sng" w="9525">
              <a:solidFill>
                <a:srgbClr val="000000"/>
              </a:solidFill>
              <a:prstDash val="solid"/>
              <a:round/>
              <a:headEnd len="med" w="med" type="none"/>
              <a:tailEnd len="sm" w="sm" type="none"/>
            </a:ln>
          </p:spPr>
        </p:cxnSp>
        <p:grpSp>
          <p:nvGrpSpPr>
            <p:cNvPr id="7199" name="Google Shape;7199;p116"/>
            <p:cNvGrpSpPr/>
            <p:nvPr/>
          </p:nvGrpSpPr>
          <p:grpSpPr>
            <a:xfrm>
              <a:off x="4030362" y="5218953"/>
              <a:ext cx="821858" cy="355937"/>
              <a:chOff x="6859123" y="5156933"/>
              <a:chExt cx="456701" cy="226548"/>
            </a:xfrm>
          </p:grpSpPr>
          <p:sp>
            <p:nvSpPr>
              <p:cNvPr id="7200" name="Google Shape;7200;p116"/>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01" name="Google Shape;7201;p116"/>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2" name="Google Shape;7202;p116"/>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3" name="Google Shape;7203;p116"/>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4" name="Google Shape;7204;p116"/>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5" name="Google Shape;7205;p116"/>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6" name="Google Shape;7206;p116"/>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207" name="Google Shape;7207;p116"/>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sp>
        <p:nvSpPr>
          <p:cNvPr id="7208" name="Google Shape;7208;p116"/>
          <p:cNvSpPr/>
          <p:nvPr/>
        </p:nvSpPr>
        <p:spPr>
          <a:xfrm>
            <a:off x="2803354" y="3659588"/>
            <a:ext cx="4211870" cy="1670126"/>
          </a:xfrm>
          <a:custGeom>
            <a:rect b="b" l="l" r="r" t="t"/>
            <a:pathLst>
              <a:path extrusionOk="0" h="804" w="2160">
                <a:moveTo>
                  <a:pt x="0" y="0"/>
                </a:moveTo>
                <a:lnTo>
                  <a:pt x="0" y="594"/>
                </a:lnTo>
                <a:lnTo>
                  <a:pt x="402" y="600"/>
                </a:lnTo>
                <a:lnTo>
                  <a:pt x="216" y="804"/>
                </a:lnTo>
                <a:lnTo>
                  <a:pt x="1446" y="804"/>
                </a:lnTo>
                <a:lnTo>
                  <a:pt x="1770" y="524"/>
                </a:lnTo>
                <a:lnTo>
                  <a:pt x="2160" y="516"/>
                </a:lnTo>
                <a:lnTo>
                  <a:pt x="2160" y="48"/>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09" name="Google Shape;7209;p116"/>
          <p:cNvGrpSpPr/>
          <p:nvPr/>
        </p:nvGrpSpPr>
        <p:grpSpPr>
          <a:xfrm>
            <a:off x="1586591" y="4743924"/>
            <a:ext cx="4913849" cy="1346072"/>
            <a:chOff x="5641439" y="2685215"/>
            <a:chExt cx="4000500" cy="1028700"/>
          </a:xfrm>
        </p:grpSpPr>
        <p:sp>
          <p:nvSpPr>
            <p:cNvPr id="7210" name="Google Shape;7210;p116"/>
            <p:cNvSpPr/>
            <p:nvPr/>
          </p:nvSpPr>
          <p:spPr>
            <a:xfrm>
              <a:off x="5641439" y="2685215"/>
              <a:ext cx="92075" cy="90487"/>
            </a:xfrm>
            <a:prstGeom prst="ellipse">
              <a:avLst/>
            </a:prstGeom>
            <a:solidFill>
              <a:srgbClr val="0013A3"/>
            </a:solidFill>
            <a:ln cap="flat" cmpd="sng" w="9525">
              <a:solidFill>
                <a:srgbClr val="001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211" name="Google Shape;7211;p116"/>
            <p:cNvSpPr/>
            <p:nvPr/>
          </p:nvSpPr>
          <p:spPr>
            <a:xfrm>
              <a:off x="5689064" y="2761415"/>
              <a:ext cx="3952875" cy="952500"/>
            </a:xfrm>
            <a:custGeom>
              <a:rect b="b" l="l" r="r" t="t"/>
              <a:pathLst>
                <a:path extrusionOk="0" h="1501" w="6225">
                  <a:moveTo>
                    <a:pt x="0" y="0"/>
                  </a:moveTo>
                  <a:lnTo>
                    <a:pt x="0" y="1486"/>
                  </a:lnTo>
                  <a:lnTo>
                    <a:pt x="1005" y="1501"/>
                  </a:lnTo>
                  <a:lnTo>
                    <a:pt x="1860" y="706"/>
                  </a:lnTo>
                  <a:lnTo>
                    <a:pt x="5085" y="721"/>
                  </a:lnTo>
                  <a:lnTo>
                    <a:pt x="4305" y="1456"/>
                  </a:lnTo>
                  <a:lnTo>
                    <a:pt x="6225" y="1456"/>
                  </a:lnTo>
                  <a:lnTo>
                    <a:pt x="6220" y="391"/>
                  </a:lnTo>
                </a:path>
              </a:pathLst>
            </a:custGeom>
            <a:noFill/>
            <a:ln cap="flat" cmpd="sng" w="38100">
              <a:solidFill>
                <a:srgbClr val="0013A3"/>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212" name="Google Shape;7212;p116"/>
          <p:cNvGrpSpPr/>
          <p:nvPr/>
        </p:nvGrpSpPr>
        <p:grpSpPr>
          <a:xfrm>
            <a:off x="3289650" y="5336775"/>
            <a:ext cx="2124396" cy="604097"/>
            <a:chOff x="3289650" y="5336775"/>
            <a:chExt cx="2124396" cy="604097"/>
          </a:xfrm>
        </p:grpSpPr>
        <p:sp>
          <p:nvSpPr>
            <p:cNvPr id="7213" name="Google Shape;7213;p116"/>
            <p:cNvSpPr txBox="1"/>
            <p:nvPr/>
          </p:nvSpPr>
          <p:spPr>
            <a:xfrm>
              <a:off x="4982445" y="5336775"/>
              <a:ext cx="431601" cy="6040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sp>
          <p:nvSpPr>
            <p:cNvPr id="7214" name="Google Shape;7214;p116"/>
            <p:cNvSpPr txBox="1"/>
            <p:nvPr/>
          </p:nvSpPr>
          <p:spPr>
            <a:xfrm>
              <a:off x="3289650" y="5351752"/>
              <a:ext cx="351378"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7215" name="Google Shape;7215;p116"/>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cxnSp>
        <p:nvCxnSpPr>
          <p:cNvPr id="7216" name="Google Shape;7216;p116"/>
          <p:cNvCxnSpPr/>
          <p:nvPr/>
        </p:nvCxnSpPr>
        <p:spPr>
          <a:xfrm flipH="1">
            <a:off x="3021013" y="4878388"/>
            <a:ext cx="538162" cy="1587"/>
          </a:xfrm>
          <a:prstGeom prst="straightConnector1">
            <a:avLst/>
          </a:prstGeom>
          <a:noFill/>
          <a:ln cap="flat" cmpd="sng" w="9525">
            <a:solidFill>
              <a:srgbClr val="000000"/>
            </a:solidFill>
            <a:prstDash val="solid"/>
            <a:round/>
            <a:headEnd len="med" w="med" type="none"/>
            <a:tailEnd len="med" w="med" type="none"/>
          </a:ln>
        </p:spPr>
      </p:cxnSp>
      <p:sp>
        <p:nvSpPr>
          <p:cNvPr id="7217" name="Google Shape;7217;p116"/>
          <p:cNvSpPr/>
          <p:nvPr/>
        </p:nvSpPr>
        <p:spPr>
          <a:xfrm>
            <a:off x="2763838" y="3638550"/>
            <a:ext cx="112712" cy="11588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218" name="Google Shape;7218;p116"/>
          <p:cNvSpPr/>
          <p:nvPr/>
        </p:nvSpPr>
        <p:spPr>
          <a:xfrm>
            <a:off x="2822575" y="3698875"/>
            <a:ext cx="4210050" cy="1646238"/>
          </a:xfrm>
          <a:custGeom>
            <a:rect b="b" l="l" r="r" t="t"/>
            <a:pathLst>
              <a:path extrusionOk="0" h="2010" w="5400">
                <a:moveTo>
                  <a:pt x="0" y="0"/>
                </a:moveTo>
                <a:lnTo>
                  <a:pt x="0" y="1485"/>
                </a:lnTo>
                <a:lnTo>
                  <a:pt x="1005" y="1500"/>
                </a:lnTo>
                <a:lnTo>
                  <a:pt x="540" y="2010"/>
                </a:lnTo>
                <a:lnTo>
                  <a:pt x="3615" y="2010"/>
                </a:lnTo>
                <a:lnTo>
                  <a:pt x="4350" y="1275"/>
                </a:lnTo>
                <a:lnTo>
                  <a:pt x="5400" y="1290"/>
                </a:lnTo>
                <a:lnTo>
                  <a:pt x="5400" y="12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19" name="Google Shape;7219;p116"/>
          <p:cNvSpPr/>
          <p:nvPr/>
        </p:nvSpPr>
        <p:spPr>
          <a:xfrm>
            <a:off x="2763838" y="3871913"/>
            <a:ext cx="112712" cy="115887"/>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220" name="Google Shape;7220;p116"/>
          <p:cNvSpPr/>
          <p:nvPr/>
        </p:nvSpPr>
        <p:spPr>
          <a:xfrm>
            <a:off x="2711450" y="3613150"/>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1" name="Google Shape;7221;p116"/>
          <p:cNvSpPr/>
          <p:nvPr/>
        </p:nvSpPr>
        <p:spPr>
          <a:xfrm>
            <a:off x="2381250" y="3846513"/>
            <a:ext cx="244475" cy="155575"/>
          </a:xfrm>
          <a:prstGeom prst="rect">
            <a:avLst/>
          </a:prstGeom>
          <a:solidFill>
            <a:srgbClr val="00CC99"/>
          </a:solidFill>
          <a:ln cap="flat" cmpd="sng" w="952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2" name="Google Shape;7222;p116"/>
          <p:cNvSpPr txBox="1"/>
          <p:nvPr/>
        </p:nvSpPr>
        <p:spPr>
          <a:xfrm>
            <a:off x="1757363" y="3736975"/>
            <a:ext cx="6127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0" lang="en-US" sz="1600" u="none" cap="none" strike="noStrike">
                <a:solidFill>
                  <a:srgbClr val="006600"/>
                </a:solidFill>
                <a:latin typeface="Arial"/>
                <a:ea typeface="Arial"/>
                <a:cs typeface="Arial"/>
                <a:sym typeface="Arial"/>
              </a:rPr>
              <a:t>copy</a:t>
            </a:r>
            <a:endParaRPr/>
          </a:p>
        </p:txBody>
      </p:sp>
      <p:grpSp>
        <p:nvGrpSpPr>
          <p:cNvPr id="7223" name="Google Shape;7223;p116"/>
          <p:cNvGrpSpPr/>
          <p:nvPr/>
        </p:nvGrpSpPr>
        <p:grpSpPr>
          <a:xfrm>
            <a:off x="1376363" y="3300413"/>
            <a:ext cx="947737" cy="869950"/>
            <a:chOff x="3283" y="2142"/>
            <a:chExt cx="597" cy="548"/>
          </a:xfrm>
        </p:grpSpPr>
        <p:grpSp>
          <p:nvGrpSpPr>
            <p:cNvPr id="7224" name="Google Shape;7224;p116"/>
            <p:cNvGrpSpPr/>
            <p:nvPr/>
          </p:nvGrpSpPr>
          <p:grpSpPr>
            <a:xfrm>
              <a:off x="3283" y="2387"/>
              <a:ext cx="597" cy="303"/>
              <a:chOff x="990" y="4570"/>
              <a:chExt cx="597" cy="380"/>
            </a:xfrm>
          </p:grpSpPr>
          <p:pic>
            <p:nvPicPr>
              <p:cNvPr id="7225" name="Google Shape;7225;p116"/>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7226" name="Google Shape;7226;p116"/>
              <p:cNvSpPr/>
              <p:nvPr/>
            </p:nvSpPr>
            <p:spPr>
              <a:xfrm>
                <a:off x="1124" y="4679"/>
                <a:ext cx="360"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27" name="Google Shape;7227;p116"/>
            <p:cNvSpPr txBox="1"/>
            <p:nvPr/>
          </p:nvSpPr>
          <p:spPr>
            <a:xfrm>
              <a:off x="3343" y="2461"/>
              <a:ext cx="479" cy="15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timeout</a:t>
              </a:r>
              <a:endParaRPr/>
            </a:p>
          </p:txBody>
        </p:sp>
        <p:pic>
          <p:nvPicPr>
            <p:cNvPr id="7228" name="Google Shape;7228;p116"/>
            <p:cNvPicPr preferRelativeResize="0"/>
            <p:nvPr/>
          </p:nvPicPr>
          <p:blipFill rotWithShape="1">
            <a:blip r:embed="rId5">
              <a:alphaModFix/>
            </a:blip>
            <a:srcRect b="0" l="0" r="0" t="0"/>
            <a:stretch/>
          </p:blipFill>
          <p:spPr>
            <a:xfrm flipH="1">
              <a:off x="3419" y="2142"/>
              <a:ext cx="262" cy="245"/>
            </a:xfrm>
            <a:prstGeom prst="rect">
              <a:avLst/>
            </a:prstGeom>
            <a:noFill/>
            <a:ln>
              <a:noFill/>
            </a:ln>
          </p:spPr>
        </p:pic>
      </p:grpSp>
      <p:sp>
        <p:nvSpPr>
          <p:cNvPr id="7229" name="Google Shape;7229;p116"/>
          <p:cNvSpPr/>
          <p:nvPr/>
        </p:nvSpPr>
        <p:spPr>
          <a:xfrm>
            <a:off x="768350" y="1252512"/>
            <a:ext cx="5939840" cy="208745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99"/>
                </a:solidFill>
                <a:latin typeface="Calibri"/>
                <a:ea typeface="Calibri"/>
                <a:cs typeface="Calibri"/>
                <a:sym typeface="Calibri"/>
              </a:rPr>
              <a:t>Realistic scenario: </a:t>
            </a:r>
            <a:r>
              <a:rPr b="0" i="1" lang="en-US" sz="2800" u="none" cap="none" strike="noStrike">
                <a:solidFill>
                  <a:srgbClr val="C00000"/>
                </a:solidFill>
                <a:latin typeface="Calibri"/>
                <a:ea typeface="Calibri"/>
                <a:cs typeface="Calibri"/>
                <a:sym typeface="Calibri"/>
              </a:rPr>
              <a:t>un-needed</a:t>
            </a:r>
            <a:r>
              <a:rPr b="0" i="0" lang="en-US" sz="2800" u="none" cap="none" strike="noStrike">
                <a:solidFill>
                  <a:srgbClr val="000099"/>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duplicates</a:t>
            </a:r>
            <a:endParaRPr b="0" i="0" sz="2000" u="none" cap="none" strike="noStrike">
              <a:solidFill>
                <a:srgbClr val="000000"/>
              </a:solidFill>
              <a:latin typeface="Calibri"/>
              <a:ea typeface="Calibri"/>
              <a:cs typeface="Calibri"/>
              <a:sym typeface="Calibri"/>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packets can be lost, dropped at router due  to full buffers – requiring retransmissions</a:t>
            </a:r>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but sender times can time out prematurely, sending </a:t>
            </a:r>
            <a:r>
              <a:rPr b="0" i="1" lang="en-US" sz="2200" u="none" cap="none" strike="noStrike">
                <a:solidFill>
                  <a:srgbClr val="000099"/>
                </a:solidFill>
                <a:latin typeface="Calibri"/>
                <a:ea typeface="Calibri"/>
                <a:cs typeface="Calibri"/>
                <a:sym typeface="Calibri"/>
              </a:rPr>
              <a:t>two</a:t>
            </a:r>
            <a:r>
              <a:rPr b="0" i="1" lang="en-US" sz="2200" u="none" cap="none" strike="noStrike">
                <a:solidFill>
                  <a:srgbClr val="000000"/>
                </a:solidFill>
                <a:latin typeface="Calibri"/>
                <a:ea typeface="Calibri"/>
                <a:cs typeface="Calibri"/>
                <a:sym typeface="Calibri"/>
              </a:rPr>
              <a:t> </a:t>
            </a:r>
            <a:r>
              <a:rPr b="0" i="0" lang="en-US" sz="2200" u="none" cap="none" strike="noStrike">
                <a:solidFill>
                  <a:srgbClr val="000000"/>
                </a:solidFill>
                <a:latin typeface="Calibri"/>
                <a:ea typeface="Calibri"/>
                <a:cs typeface="Calibri"/>
                <a:sym typeface="Calibri"/>
              </a:rPr>
              <a:t>copies, </a:t>
            </a:r>
            <a:r>
              <a:rPr b="0" i="1" lang="en-US" sz="2200" u="none" cap="none" strike="noStrike">
                <a:solidFill>
                  <a:srgbClr val="0013A3"/>
                </a:solidFill>
                <a:latin typeface="Calibri"/>
                <a:ea typeface="Calibri"/>
                <a:cs typeface="Calibri"/>
                <a:sym typeface="Calibri"/>
              </a:rPr>
              <a:t>both</a:t>
            </a:r>
            <a:r>
              <a:rPr b="0" i="0" lang="en-US" sz="2200" u="none" cap="none" strike="noStrike">
                <a:solidFill>
                  <a:srgbClr val="000000"/>
                </a:solidFill>
                <a:latin typeface="Calibri"/>
                <a:ea typeface="Calibri"/>
                <a:cs typeface="Calibri"/>
                <a:sym typeface="Calibri"/>
              </a:rPr>
              <a:t> of which are delivered</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7230" name="Google Shape;7230;p116"/>
          <p:cNvSpPr txBox="1"/>
          <p:nvPr/>
        </p:nvSpPr>
        <p:spPr>
          <a:xfrm>
            <a:off x="3724275" y="4761119"/>
            <a:ext cx="1768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1600"/>
              <a:buFont typeface="Arial"/>
              <a:buNone/>
            </a:pPr>
            <a:r>
              <a:rPr b="0" i="1" lang="en-US" sz="1600" u="none" cap="none" strike="noStrike">
                <a:solidFill>
                  <a:srgbClr val="006600"/>
                </a:solidFill>
                <a:latin typeface="Arial"/>
                <a:ea typeface="Arial"/>
                <a:cs typeface="Arial"/>
                <a:sym typeface="Arial"/>
              </a:rPr>
              <a:t>free buffer space!</a:t>
            </a:r>
            <a:endParaRPr/>
          </a:p>
        </p:txBody>
      </p:sp>
      <p:grpSp>
        <p:nvGrpSpPr>
          <p:cNvPr id="7231" name="Google Shape;7231;p116"/>
          <p:cNvGrpSpPr/>
          <p:nvPr/>
        </p:nvGrpSpPr>
        <p:grpSpPr>
          <a:xfrm>
            <a:off x="10022277" y="2256302"/>
            <a:ext cx="2018927" cy="1905034"/>
            <a:chOff x="10022277" y="2034920"/>
            <a:chExt cx="2018927" cy="1905034"/>
          </a:xfrm>
        </p:grpSpPr>
        <p:sp>
          <p:nvSpPr>
            <p:cNvPr id="7232" name="Google Shape;7232;p116"/>
            <p:cNvSpPr txBox="1"/>
            <p:nvPr/>
          </p:nvSpPr>
          <p:spPr>
            <a:xfrm>
              <a:off x="10241280" y="2339516"/>
              <a:ext cx="1799924"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when sending at R/2, some packets are retransmissions, including needed and </a:t>
              </a:r>
              <a:r>
                <a:rPr b="0" i="1" lang="en-US" sz="1400" u="none" cap="none" strike="noStrike">
                  <a:solidFill>
                    <a:srgbClr val="C00000"/>
                  </a:solidFill>
                  <a:latin typeface="Arial"/>
                  <a:ea typeface="Arial"/>
                  <a:cs typeface="Arial"/>
                  <a:sym typeface="Arial"/>
                </a:rPr>
                <a:t>un-needed</a:t>
              </a:r>
              <a:r>
                <a:rPr b="0" i="0" lang="en-US" sz="1400" u="none" cap="none" strike="noStrike">
                  <a:solidFill>
                    <a:srgbClr val="000000"/>
                  </a:solidFill>
                  <a:latin typeface="Arial"/>
                  <a:ea typeface="Arial"/>
                  <a:cs typeface="Arial"/>
                  <a:sym typeface="Arial"/>
                </a:rPr>
                <a:t> duplicates, that are delivered!</a:t>
              </a:r>
              <a:endParaRPr/>
            </a:p>
          </p:txBody>
        </p:sp>
        <p:cxnSp>
          <p:nvCxnSpPr>
            <p:cNvPr id="7233" name="Google Shape;7233;p116"/>
            <p:cNvCxnSpPr/>
            <p:nvPr/>
          </p:nvCxnSpPr>
          <p:spPr>
            <a:xfrm rot="10800000">
              <a:off x="10022277" y="2034920"/>
              <a:ext cx="423050" cy="355155"/>
            </a:xfrm>
            <a:prstGeom prst="straightConnector1">
              <a:avLst/>
            </a:prstGeom>
            <a:noFill/>
            <a:ln cap="flat" cmpd="sng" w="9525">
              <a:solidFill>
                <a:schemeClr val="dk1"/>
              </a:solidFill>
              <a:prstDash val="solid"/>
              <a:round/>
              <a:headEnd len="med" w="med" type="none"/>
              <a:tailEnd len="med" w="med" type="triangle"/>
            </a:ln>
          </p:spPr>
        </p:cxnSp>
      </p:grpSp>
      <p:grpSp>
        <p:nvGrpSpPr>
          <p:cNvPr id="7234" name="Google Shape;7234;p116"/>
          <p:cNvGrpSpPr/>
          <p:nvPr/>
        </p:nvGrpSpPr>
        <p:grpSpPr>
          <a:xfrm>
            <a:off x="10040109" y="1751513"/>
            <a:ext cx="1904433" cy="674031"/>
            <a:chOff x="10040109" y="1530131"/>
            <a:chExt cx="1904433" cy="674031"/>
          </a:xfrm>
        </p:grpSpPr>
        <p:sp>
          <p:nvSpPr>
            <p:cNvPr id="7235" name="Google Shape;7235;p116"/>
            <p:cNvSpPr txBox="1"/>
            <p:nvPr/>
          </p:nvSpPr>
          <p:spPr>
            <a:xfrm>
              <a:off x="10128951" y="1530131"/>
              <a:ext cx="181559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“wasted” capacity due to un-needed retransmissions</a:t>
              </a:r>
              <a:endParaRPr/>
            </a:p>
          </p:txBody>
        </p:sp>
        <p:sp>
          <p:nvSpPr>
            <p:cNvPr id="7236" name="Google Shape;7236;p116"/>
            <p:cNvSpPr/>
            <p:nvPr/>
          </p:nvSpPr>
          <p:spPr>
            <a:xfrm>
              <a:off x="10040109" y="1765940"/>
              <a:ext cx="144379" cy="223205"/>
            </a:xfrm>
            <a:prstGeom prst="righ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237" name="Google Shape;7237;p116"/>
          <p:cNvGrpSpPr/>
          <p:nvPr/>
        </p:nvGrpSpPr>
        <p:grpSpPr>
          <a:xfrm>
            <a:off x="7361453" y="1421562"/>
            <a:ext cx="3100386" cy="2791471"/>
            <a:chOff x="7361453" y="1200180"/>
            <a:chExt cx="3100386" cy="2791471"/>
          </a:xfrm>
        </p:grpSpPr>
        <p:sp>
          <p:nvSpPr>
            <p:cNvPr id="7238" name="Google Shape;7238;p116"/>
            <p:cNvSpPr/>
            <p:nvPr/>
          </p:nvSpPr>
          <p:spPr>
            <a:xfrm>
              <a:off x="7958715" y="1967477"/>
              <a:ext cx="2024019" cy="1384114"/>
            </a:xfrm>
            <a:custGeom>
              <a:rect b="b" l="l" r="r" t="t"/>
              <a:pathLst>
                <a:path extrusionOk="0" h="10000" w="10000">
                  <a:moveTo>
                    <a:pt x="0" y="10000"/>
                  </a:moveTo>
                  <a:cubicBezTo>
                    <a:pt x="1268" y="8586"/>
                    <a:pt x="4789" y="3077"/>
                    <a:pt x="6536" y="1223"/>
                  </a:cubicBezTo>
                  <a:cubicBezTo>
                    <a:pt x="7406" y="549"/>
                    <a:pt x="8333" y="126"/>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39" name="Google Shape;7239;p116"/>
            <p:cNvGrpSpPr/>
            <p:nvPr/>
          </p:nvGrpSpPr>
          <p:grpSpPr>
            <a:xfrm>
              <a:off x="8776235" y="3317988"/>
              <a:ext cx="458788" cy="400051"/>
              <a:chOff x="3583" y="1761"/>
              <a:chExt cx="289" cy="252"/>
            </a:xfrm>
          </p:grpSpPr>
          <p:sp>
            <p:nvSpPr>
              <p:cNvPr id="7240" name="Google Shape;7240;p116"/>
              <p:cNvSpPr txBox="1"/>
              <p:nvPr/>
            </p:nvSpPr>
            <p:spPr>
              <a:xfrm>
                <a:off x="3583" y="1761"/>
                <a:ext cx="28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b="0" baseline="-25000" i="0" sz="2000" u="none" cap="none" strike="noStrike">
                  <a:solidFill>
                    <a:srgbClr val="000000"/>
                  </a:solidFill>
                  <a:latin typeface="Arial"/>
                  <a:ea typeface="Arial"/>
                  <a:cs typeface="Arial"/>
                  <a:sym typeface="Arial"/>
                </a:endParaRPr>
              </a:p>
            </p:txBody>
          </p:sp>
          <p:cxnSp>
            <p:nvCxnSpPr>
              <p:cNvPr id="7241" name="Google Shape;7241;p116"/>
              <p:cNvCxnSpPr/>
              <p:nvPr/>
            </p:nvCxnSpPr>
            <p:spPr>
              <a:xfrm flipH="1" rot="10800000">
                <a:off x="3726" y="1834"/>
                <a:ext cx="24" cy="24"/>
              </a:xfrm>
              <a:prstGeom prst="straightConnector1">
                <a:avLst/>
              </a:prstGeom>
              <a:noFill/>
              <a:ln cap="flat" cmpd="sng" w="19050">
                <a:solidFill>
                  <a:schemeClr val="dk1"/>
                </a:solidFill>
                <a:prstDash val="solid"/>
                <a:round/>
                <a:headEnd len="med" w="med" type="none"/>
                <a:tailEnd len="med" w="med" type="none"/>
              </a:ln>
            </p:spPr>
          </p:cxnSp>
        </p:grpSp>
        <p:cxnSp>
          <p:nvCxnSpPr>
            <p:cNvPr id="7242" name="Google Shape;7242;p116"/>
            <p:cNvCxnSpPr/>
            <p:nvPr/>
          </p:nvCxnSpPr>
          <p:spPr>
            <a:xfrm>
              <a:off x="7965669" y="1200180"/>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7243" name="Google Shape;7243;p116"/>
            <p:cNvCxnSpPr/>
            <p:nvPr/>
          </p:nvCxnSpPr>
          <p:spPr>
            <a:xfrm>
              <a:off x="9972557" y="1436494"/>
              <a:ext cx="0" cy="1869027"/>
            </a:xfrm>
            <a:prstGeom prst="straightConnector1">
              <a:avLst/>
            </a:prstGeom>
            <a:noFill/>
            <a:ln cap="flat" cmpd="sng" w="12700">
              <a:solidFill>
                <a:schemeClr val="dk1"/>
              </a:solidFill>
              <a:prstDash val="dash"/>
              <a:round/>
              <a:headEnd len="med" w="med" type="none"/>
              <a:tailEnd len="med" w="med" type="none"/>
            </a:ln>
          </p:spPr>
        </p:cxnSp>
        <p:sp>
          <p:nvSpPr>
            <p:cNvPr id="7244" name="Google Shape;7244;p116"/>
            <p:cNvSpPr/>
            <p:nvPr/>
          </p:nvSpPr>
          <p:spPr>
            <a:xfrm>
              <a:off x="7954426" y="1377415"/>
              <a:ext cx="2023753" cy="1965701"/>
            </a:xfrm>
            <a:custGeom>
              <a:rect b="b" l="l" r="r" t="t"/>
              <a:pathLst>
                <a:path extrusionOk="0" h="732" w="720">
                  <a:moveTo>
                    <a:pt x="0" y="732"/>
                  </a:moveTo>
                  <a:lnTo>
                    <a:pt x="720" y="0"/>
                  </a:lnTo>
                </a:path>
              </a:pathLst>
            </a:custGeom>
            <a:noFill/>
            <a:ln cap="flat" cmpd="sng" w="28575">
              <a:solidFill>
                <a:schemeClr val="dk1"/>
              </a:solidFill>
              <a:prstDash val="dash"/>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245" name="Google Shape;7245;p116"/>
            <p:cNvCxnSpPr/>
            <p:nvPr/>
          </p:nvCxnSpPr>
          <p:spPr>
            <a:xfrm>
              <a:off x="7819509" y="1377415"/>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7246" name="Google Shape;7246;p116"/>
            <p:cNvCxnSpPr/>
            <p:nvPr/>
          </p:nvCxnSpPr>
          <p:spPr>
            <a:xfrm>
              <a:off x="9966936" y="3359228"/>
              <a:ext cx="0" cy="155752"/>
            </a:xfrm>
            <a:prstGeom prst="straightConnector1">
              <a:avLst/>
            </a:prstGeom>
            <a:noFill/>
            <a:ln cap="flat" cmpd="sng" w="19050">
              <a:solidFill>
                <a:schemeClr val="dk1"/>
              </a:solidFill>
              <a:prstDash val="solid"/>
              <a:round/>
              <a:headEnd len="med" w="med" type="none"/>
              <a:tailEnd len="med" w="med" type="none"/>
            </a:ln>
          </p:spPr>
        </p:cxnSp>
        <p:sp>
          <p:nvSpPr>
            <p:cNvPr id="7247" name="Google Shape;7247;p116"/>
            <p:cNvSpPr txBox="1"/>
            <p:nvPr/>
          </p:nvSpPr>
          <p:spPr>
            <a:xfrm>
              <a:off x="7361453" y="1202894"/>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48" name="Google Shape;7248;p116"/>
            <p:cNvSpPr txBox="1"/>
            <p:nvPr/>
          </p:nvSpPr>
          <p:spPr>
            <a:xfrm rot="-5400000">
              <a:off x="7391666" y="1332203"/>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7249" name="Google Shape;7249;p116"/>
            <p:cNvCxnSpPr/>
            <p:nvPr/>
          </p:nvCxnSpPr>
          <p:spPr>
            <a:xfrm>
              <a:off x="7999399" y="1380101"/>
              <a:ext cx="1841053" cy="0"/>
            </a:xfrm>
            <a:prstGeom prst="straightConnector1">
              <a:avLst/>
            </a:prstGeom>
            <a:noFill/>
            <a:ln cap="flat" cmpd="sng" w="12700">
              <a:solidFill>
                <a:srgbClr val="BFBFBF"/>
              </a:solidFill>
              <a:prstDash val="dash"/>
              <a:round/>
              <a:headEnd len="med" w="med" type="none"/>
              <a:tailEnd len="med" w="med" type="none"/>
            </a:ln>
          </p:spPr>
        </p:cxnSp>
        <p:cxnSp>
          <p:nvCxnSpPr>
            <p:cNvPr id="7250" name="Google Shape;7250;p116"/>
            <p:cNvCxnSpPr/>
            <p:nvPr/>
          </p:nvCxnSpPr>
          <p:spPr>
            <a:xfrm>
              <a:off x="7976136" y="3337560"/>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7251" name="Google Shape;7251;p116"/>
            <p:cNvSpPr txBox="1"/>
            <p:nvPr/>
          </p:nvSpPr>
          <p:spPr>
            <a:xfrm rot="-5400000">
              <a:off x="7139298" y="2419300"/>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7252" name="Google Shape;7252;p116"/>
            <p:cNvSpPr/>
            <p:nvPr/>
          </p:nvSpPr>
          <p:spPr>
            <a:xfrm>
              <a:off x="9893835" y="1336842"/>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53" name="Google Shape;7253;p116"/>
            <p:cNvSpPr txBox="1"/>
            <p:nvPr/>
          </p:nvSpPr>
          <p:spPr>
            <a:xfrm>
              <a:off x="9646716" y="3476057"/>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54" name="Google Shape;7254;p116"/>
            <p:cNvSpPr/>
            <p:nvPr/>
          </p:nvSpPr>
          <p:spPr>
            <a:xfrm>
              <a:off x="9912327" y="1689923"/>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55" name="Google Shape;7255;p116"/>
            <p:cNvCxnSpPr/>
            <p:nvPr/>
          </p:nvCxnSpPr>
          <p:spPr>
            <a:xfrm>
              <a:off x="7960093" y="1773132"/>
              <a:ext cx="1975007" cy="0"/>
            </a:xfrm>
            <a:prstGeom prst="straightConnector1">
              <a:avLst/>
            </a:prstGeom>
            <a:noFill/>
            <a:ln cap="flat" cmpd="sng" w="12700">
              <a:solidFill>
                <a:srgbClr val="BFBFBF"/>
              </a:solidFill>
              <a:prstDash val="dash"/>
              <a:round/>
              <a:headEnd len="med" w="med" type="none"/>
              <a:tailEnd len="med" w="med" type="none"/>
            </a:ln>
          </p:spPr>
        </p:cxnSp>
        <p:sp>
          <p:nvSpPr>
            <p:cNvPr id="7256" name="Google Shape;7256;p116"/>
            <p:cNvSpPr/>
            <p:nvPr/>
          </p:nvSpPr>
          <p:spPr>
            <a:xfrm>
              <a:off x="9908716" y="1920329"/>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57" name="Google Shape;7257;p116"/>
            <p:cNvCxnSpPr/>
            <p:nvPr/>
          </p:nvCxnSpPr>
          <p:spPr>
            <a:xfrm>
              <a:off x="7995485" y="1986203"/>
              <a:ext cx="1975007" cy="0"/>
            </a:xfrm>
            <a:prstGeom prst="straightConnector1">
              <a:avLst/>
            </a:prstGeom>
            <a:noFill/>
            <a:ln cap="flat" cmpd="sng" w="12700">
              <a:solidFill>
                <a:schemeClr val="dk1"/>
              </a:solidFill>
              <a:prstDash val="dash"/>
              <a:round/>
              <a:headEnd len="med" w="med" type="none"/>
              <a:tailEnd len="med" w="med" type="none"/>
            </a:ln>
          </p:spPr>
        </p:cxnSp>
      </p:grpSp>
      <p:sp>
        <p:nvSpPr>
          <p:cNvPr id="7258" name="Google Shape;7258;p1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20"/>
                                        </p:tgtEl>
                                        <p:attrNameLst>
                                          <p:attrName>style.visibility</p:attrName>
                                        </p:attrNameLst>
                                      </p:cBhvr>
                                      <p:to>
                                        <p:strVal val="visible"/>
                                      </p:to>
                                    </p:set>
                                    <p:animEffect filter="fade" transition="in">
                                      <p:cBhvr>
                                        <p:cTn dur="500"/>
                                        <p:tgtEl>
                                          <p:spTgt spid="72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221"/>
                                        </p:tgtEl>
                                        <p:attrNameLst>
                                          <p:attrName>style.visibility</p:attrName>
                                        </p:attrNameLst>
                                      </p:cBhvr>
                                      <p:to>
                                        <p:strVal val="visible"/>
                                      </p:to>
                                    </p:set>
                                    <p:animEffect filter="fade" transition="in">
                                      <p:cBhvr>
                                        <p:cTn dur="500"/>
                                        <p:tgtEl>
                                          <p:spTgt spid="7221"/>
                                        </p:tgtEl>
                                      </p:cBhvr>
                                    </p:animEffect>
                                  </p:childTnLst>
                                </p:cTn>
                              </p:par>
                              <p:par>
                                <p:cTn fill="hold" nodeType="withEffect" presetClass="entr" presetID="10" presetSubtype="0">
                                  <p:stCondLst>
                                    <p:cond delay="0"/>
                                  </p:stCondLst>
                                  <p:childTnLst>
                                    <p:set>
                                      <p:cBhvr>
                                        <p:cTn dur="1" fill="hold">
                                          <p:stCondLst>
                                            <p:cond delay="0"/>
                                          </p:stCondLst>
                                        </p:cTn>
                                        <p:tgtEl>
                                          <p:spTgt spid="7222"/>
                                        </p:tgtEl>
                                        <p:attrNameLst>
                                          <p:attrName>style.visibility</p:attrName>
                                        </p:attrNameLst>
                                      </p:cBhvr>
                                      <p:to>
                                        <p:strVal val="visible"/>
                                      </p:to>
                                    </p:set>
                                    <p:animEffect filter="fade" transition="in">
                                      <p:cBhvr>
                                        <p:cTn dur="500"/>
                                        <p:tgtEl>
                                          <p:spTgt spid="7222"/>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7222"/>
                                        </p:tgtEl>
                                      </p:cBhvr>
                                    </p:animEffect>
                                    <p:set>
                                      <p:cBhvr>
                                        <p:cTn dur="1" fill="hold">
                                          <p:stCondLst>
                                            <p:cond delay="500"/>
                                          </p:stCondLst>
                                        </p:cTn>
                                        <p:tgtEl>
                                          <p:spTgt spid="7222"/>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230"/>
                                        </p:tgtEl>
                                        <p:attrNameLst>
                                          <p:attrName>style.visibility</p:attrName>
                                        </p:attrNameLst>
                                      </p:cBhvr>
                                      <p:to>
                                        <p:strVal val="visible"/>
                                      </p:to>
                                    </p:set>
                                    <p:animEffect filter="fade" transition="in">
                                      <p:cBhvr>
                                        <p:cTn dur="500"/>
                                        <p:tgtEl>
                                          <p:spTgt spid="7230"/>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7230"/>
                                        </p:tgtEl>
                                      </p:cBhvr>
                                    </p:animEffect>
                                    <p:set>
                                      <p:cBhvr>
                                        <p:cTn dur="1" fill="hold">
                                          <p:stCondLst>
                                            <p:cond delay="500"/>
                                          </p:stCondLst>
                                        </p:cTn>
                                        <p:tgtEl>
                                          <p:spTgt spid="7230"/>
                                        </p:tgtEl>
                                        <p:attrNameLst>
                                          <p:attrName>style.visibility</p:attrName>
                                        </p:attrNameLst>
                                      </p:cBhvr>
                                      <p:to>
                                        <p:strVal val="hidden"/>
                                      </p:to>
                                    </p:se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7223"/>
                                        </p:tgtEl>
                                        <p:attrNameLst>
                                          <p:attrName>style.visibility</p:attrName>
                                        </p:attrNameLst>
                                      </p:cBhvr>
                                      <p:to>
                                        <p:strVal val="visible"/>
                                      </p:to>
                                    </p:set>
                                    <p:animEffect filter="fade" transition="in">
                                      <p:cBhvr>
                                        <p:cTn dur="500"/>
                                        <p:tgtEl>
                                          <p:spTgt spid="7223"/>
                                        </p:tgtEl>
                                      </p:cBhvr>
                                    </p:animEffec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7223"/>
                                        </p:tgtEl>
                                      </p:cBhvr>
                                    </p:animEffect>
                                    <p:set>
                                      <p:cBhvr>
                                        <p:cTn dur="1" fill="hold">
                                          <p:stCondLst>
                                            <p:cond delay="500"/>
                                          </p:stCondLst>
                                        </p:cTn>
                                        <p:tgtEl>
                                          <p:spTgt spid="7223"/>
                                        </p:tgtEl>
                                        <p:attrNameLst>
                                          <p:attrName>style.visibility</p:attrName>
                                        </p:attrNameLst>
                                      </p:cBhvr>
                                      <p:to>
                                        <p:strVal val="hidden"/>
                                      </p:to>
                                    </p:se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7220"/>
                                        </p:tgtEl>
                                      </p:cBhvr>
                                    </p:animEffect>
                                    <p:set>
                                      <p:cBhvr>
                                        <p:cTn dur="1" fill="hold">
                                          <p:stCondLst>
                                            <p:cond delay="500"/>
                                          </p:stCondLst>
                                        </p:cTn>
                                        <p:tgtEl>
                                          <p:spTgt spid="72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7"/>
                                        </p:tgtEl>
                                        <p:attrNameLst>
                                          <p:attrName>style.visibility</p:attrName>
                                        </p:attrNameLst>
                                      </p:cBhvr>
                                      <p:to>
                                        <p:strVal val="visible"/>
                                      </p:to>
                                    </p:set>
                                    <p:animEffect filter="fade" transition="in">
                                      <p:cBhvr>
                                        <p:cTn dur="500"/>
                                        <p:tgtEl>
                                          <p:spTgt spid="7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1"/>
                                        </p:tgtEl>
                                        <p:attrNameLst>
                                          <p:attrName>style.visibility</p:attrName>
                                        </p:attrNameLst>
                                      </p:cBhvr>
                                      <p:to>
                                        <p:strVal val="visible"/>
                                      </p:to>
                                    </p:set>
                                    <p:animEffect filter="fade" transition="in">
                                      <p:cBhvr>
                                        <p:cTn dur="500"/>
                                        <p:tgtEl>
                                          <p:spTgt spid="7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4"/>
                                        </p:tgtEl>
                                        <p:attrNameLst>
                                          <p:attrName>style.visibility</p:attrName>
                                        </p:attrNameLst>
                                      </p:cBhvr>
                                      <p:to>
                                        <p:strVal val="visible"/>
                                      </p:to>
                                    </p:set>
                                    <p:animEffect filter="fade" transition="in">
                                      <p:cBhvr>
                                        <p:cTn dur="500"/>
                                        <p:tgtEl>
                                          <p:spTgt spid="7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3" name="Shape 7263"/>
        <p:cNvGrpSpPr/>
        <p:nvPr/>
      </p:nvGrpSpPr>
      <p:grpSpPr>
        <a:xfrm>
          <a:off x="0" y="0"/>
          <a:ext cx="0" cy="0"/>
          <a:chOff x="0" y="0"/>
          <a:chExt cx="0" cy="0"/>
        </a:xfrm>
      </p:grpSpPr>
      <p:sp>
        <p:nvSpPr>
          <p:cNvPr id="7264" name="Google Shape;7264;p117"/>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2</a:t>
            </a:r>
            <a:endParaRPr b="0" sz="4400"/>
          </a:p>
        </p:txBody>
      </p:sp>
      <p:sp>
        <p:nvSpPr>
          <p:cNvPr id="7265" name="Google Shape;7265;p117"/>
          <p:cNvSpPr/>
          <p:nvPr/>
        </p:nvSpPr>
        <p:spPr>
          <a:xfrm>
            <a:off x="1474555" y="3993105"/>
            <a:ext cx="9386733" cy="2159366"/>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“costs” of congestion:</a:t>
            </a:r>
            <a:r>
              <a:rPr b="0" i="0" lang="en-US" sz="2800" u="none" cap="none" strike="noStrike">
                <a:solidFill>
                  <a:srgbClr val="000000"/>
                </a:solidFill>
                <a:latin typeface="Calibri"/>
                <a:ea typeface="Calibri"/>
                <a:cs typeface="Calibri"/>
                <a:sym typeface="Calibri"/>
              </a:rPr>
              <a:t> </a:t>
            </a:r>
            <a:endParaRPr/>
          </a:p>
          <a:p>
            <a:pPr indent="-342900" lvl="0" marL="3429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more work (retransmission) for given receiver throughput</a:t>
            </a:r>
            <a:endParaRPr/>
          </a:p>
          <a:p>
            <a:pPr indent="-342900" lvl="0" marL="3429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unneeded retransmissions: link carries multiple copies of a packet</a:t>
            </a:r>
            <a:endParaRPr/>
          </a:p>
          <a:p>
            <a:pPr indent="-228600" lvl="1" marL="685800"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decreasing maximum achievable throughput</a:t>
            </a:r>
            <a:endParaRPr/>
          </a:p>
          <a:p>
            <a:pPr indent="-243840" lvl="0" marL="342900" marR="0" rtl="0" algn="l">
              <a:lnSpc>
                <a:spcPct val="85000"/>
              </a:lnSpc>
              <a:spcBef>
                <a:spcPts val="480"/>
              </a:spcBef>
              <a:spcAft>
                <a:spcPts val="0"/>
              </a:spcAft>
              <a:buClr>
                <a:srgbClr val="000099"/>
              </a:buClr>
              <a:buSzPts val="1560"/>
              <a:buFont typeface="Noto Sans Symbols"/>
              <a:buNone/>
            </a:pPr>
            <a:r>
              <a:t/>
            </a:r>
            <a:endParaRPr b="0" i="0" sz="2400" u="none" cap="none" strike="noStrike">
              <a:solidFill>
                <a:srgbClr val="000000"/>
              </a:solidFill>
              <a:latin typeface="Gill Sans"/>
              <a:ea typeface="Gill Sans"/>
              <a:cs typeface="Gill Sans"/>
              <a:sym typeface="Gill Sans"/>
            </a:endParaRPr>
          </a:p>
        </p:txBody>
      </p:sp>
      <p:sp>
        <p:nvSpPr>
          <p:cNvPr id="7266" name="Google Shape;7266;p117"/>
          <p:cNvSpPr/>
          <p:nvPr/>
        </p:nvSpPr>
        <p:spPr>
          <a:xfrm>
            <a:off x="768350" y="1252512"/>
            <a:ext cx="5939840" cy="208745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99"/>
                </a:solidFill>
                <a:latin typeface="Calibri"/>
                <a:ea typeface="Calibri"/>
                <a:cs typeface="Calibri"/>
                <a:sym typeface="Calibri"/>
              </a:rPr>
              <a:t>Realistic scenario: </a:t>
            </a:r>
            <a:r>
              <a:rPr b="0" i="1" lang="en-US" sz="2800" u="none" cap="none" strike="noStrike">
                <a:solidFill>
                  <a:srgbClr val="C00000"/>
                </a:solidFill>
                <a:latin typeface="Calibri"/>
                <a:ea typeface="Calibri"/>
                <a:cs typeface="Calibri"/>
                <a:sym typeface="Calibri"/>
              </a:rPr>
              <a:t>un-needed</a:t>
            </a:r>
            <a:r>
              <a:rPr b="0" i="0" lang="en-US" sz="2800" u="none" cap="none" strike="noStrike">
                <a:solidFill>
                  <a:srgbClr val="000099"/>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duplicates</a:t>
            </a:r>
            <a:endParaRPr b="0" i="0" sz="2000" u="none" cap="none" strike="noStrike">
              <a:solidFill>
                <a:srgbClr val="000000"/>
              </a:solidFill>
              <a:latin typeface="Calibri"/>
              <a:ea typeface="Calibri"/>
              <a:cs typeface="Calibri"/>
              <a:sym typeface="Calibri"/>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packets can be lost, dropped at router due  to full buffers – requiring retransmissions</a:t>
            </a:r>
            <a:endParaRPr/>
          </a:p>
          <a:p>
            <a:pPr indent="-241300" lvl="0" marL="292100" marR="0" rtl="0" algn="l">
              <a:lnSpc>
                <a:spcPct val="85000"/>
              </a:lnSpc>
              <a:spcBef>
                <a:spcPts val="440"/>
              </a:spcBef>
              <a:spcAft>
                <a:spcPts val="0"/>
              </a:spcAft>
              <a:buClr>
                <a:srgbClr val="000099"/>
              </a:buClr>
              <a:buSzPts val="2200"/>
              <a:buFont typeface="Noto Sans Symbols"/>
              <a:buChar char="▪"/>
            </a:pPr>
            <a:r>
              <a:rPr b="0" i="0" lang="en-US" sz="2200" u="none" cap="none" strike="noStrike">
                <a:solidFill>
                  <a:srgbClr val="000000"/>
                </a:solidFill>
                <a:latin typeface="Calibri"/>
                <a:ea typeface="Calibri"/>
                <a:cs typeface="Calibri"/>
                <a:sym typeface="Calibri"/>
              </a:rPr>
              <a:t>but sender times can time out prematurely, sending </a:t>
            </a:r>
            <a:r>
              <a:rPr b="0" i="1" lang="en-US" sz="2200" u="none" cap="none" strike="noStrike">
                <a:solidFill>
                  <a:srgbClr val="000099"/>
                </a:solidFill>
                <a:latin typeface="Calibri"/>
                <a:ea typeface="Calibri"/>
                <a:cs typeface="Calibri"/>
                <a:sym typeface="Calibri"/>
              </a:rPr>
              <a:t>two</a:t>
            </a:r>
            <a:r>
              <a:rPr b="0" i="1" lang="en-US" sz="2200" u="none" cap="none" strike="noStrike">
                <a:solidFill>
                  <a:srgbClr val="000000"/>
                </a:solidFill>
                <a:latin typeface="Calibri"/>
                <a:ea typeface="Calibri"/>
                <a:cs typeface="Calibri"/>
                <a:sym typeface="Calibri"/>
              </a:rPr>
              <a:t> </a:t>
            </a:r>
            <a:r>
              <a:rPr b="0" i="0" lang="en-US" sz="2200" u="none" cap="none" strike="noStrike">
                <a:solidFill>
                  <a:srgbClr val="000000"/>
                </a:solidFill>
                <a:latin typeface="Calibri"/>
                <a:ea typeface="Calibri"/>
                <a:cs typeface="Calibri"/>
                <a:sym typeface="Calibri"/>
              </a:rPr>
              <a:t>copies, </a:t>
            </a:r>
            <a:r>
              <a:rPr b="0" i="1" lang="en-US" sz="2200" u="none" cap="none" strike="noStrike">
                <a:solidFill>
                  <a:srgbClr val="0013A3"/>
                </a:solidFill>
                <a:latin typeface="Calibri"/>
                <a:ea typeface="Calibri"/>
                <a:cs typeface="Calibri"/>
                <a:sym typeface="Calibri"/>
              </a:rPr>
              <a:t>both</a:t>
            </a:r>
            <a:r>
              <a:rPr b="0" i="0" lang="en-US" sz="2200" u="none" cap="none" strike="noStrike">
                <a:solidFill>
                  <a:srgbClr val="000000"/>
                </a:solidFill>
                <a:latin typeface="Calibri"/>
                <a:ea typeface="Calibri"/>
                <a:cs typeface="Calibri"/>
                <a:sym typeface="Calibri"/>
              </a:rPr>
              <a:t> of which are delivered</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7267" name="Google Shape;7267;p117"/>
          <p:cNvGrpSpPr/>
          <p:nvPr/>
        </p:nvGrpSpPr>
        <p:grpSpPr>
          <a:xfrm>
            <a:off x="10022277" y="2256302"/>
            <a:ext cx="2018927" cy="1905034"/>
            <a:chOff x="10022277" y="2034920"/>
            <a:chExt cx="2018927" cy="1905034"/>
          </a:xfrm>
        </p:grpSpPr>
        <p:sp>
          <p:nvSpPr>
            <p:cNvPr id="7268" name="Google Shape;7268;p117"/>
            <p:cNvSpPr txBox="1"/>
            <p:nvPr/>
          </p:nvSpPr>
          <p:spPr>
            <a:xfrm>
              <a:off x="10241280" y="2339516"/>
              <a:ext cx="1799924"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when sending at R/2, some packets are retransmissions, including needed and </a:t>
              </a:r>
              <a:r>
                <a:rPr b="0" i="1" lang="en-US" sz="1400" u="none" cap="none" strike="noStrike">
                  <a:solidFill>
                    <a:srgbClr val="C00000"/>
                  </a:solidFill>
                  <a:latin typeface="Arial"/>
                  <a:ea typeface="Arial"/>
                  <a:cs typeface="Arial"/>
                  <a:sym typeface="Arial"/>
                </a:rPr>
                <a:t>un-needed</a:t>
              </a:r>
              <a:r>
                <a:rPr b="0" i="0" lang="en-US" sz="1400" u="none" cap="none" strike="noStrike">
                  <a:solidFill>
                    <a:srgbClr val="000000"/>
                  </a:solidFill>
                  <a:latin typeface="Arial"/>
                  <a:ea typeface="Arial"/>
                  <a:cs typeface="Arial"/>
                  <a:sym typeface="Arial"/>
                </a:rPr>
                <a:t> duplicates, that are delivered!</a:t>
              </a:r>
              <a:endParaRPr/>
            </a:p>
          </p:txBody>
        </p:sp>
        <p:cxnSp>
          <p:nvCxnSpPr>
            <p:cNvPr id="7269" name="Google Shape;7269;p117"/>
            <p:cNvCxnSpPr/>
            <p:nvPr/>
          </p:nvCxnSpPr>
          <p:spPr>
            <a:xfrm rot="10800000">
              <a:off x="10022277" y="2034920"/>
              <a:ext cx="423050" cy="355155"/>
            </a:xfrm>
            <a:prstGeom prst="straightConnector1">
              <a:avLst/>
            </a:prstGeom>
            <a:noFill/>
            <a:ln cap="flat" cmpd="sng" w="9525">
              <a:solidFill>
                <a:schemeClr val="dk1"/>
              </a:solidFill>
              <a:prstDash val="solid"/>
              <a:round/>
              <a:headEnd len="med" w="med" type="none"/>
              <a:tailEnd len="med" w="med" type="triangle"/>
            </a:ln>
          </p:spPr>
        </p:cxnSp>
      </p:grpSp>
      <p:grpSp>
        <p:nvGrpSpPr>
          <p:cNvPr id="7270" name="Google Shape;7270;p117"/>
          <p:cNvGrpSpPr/>
          <p:nvPr/>
        </p:nvGrpSpPr>
        <p:grpSpPr>
          <a:xfrm>
            <a:off x="10040109" y="1751513"/>
            <a:ext cx="1904433" cy="674031"/>
            <a:chOff x="10040109" y="1530131"/>
            <a:chExt cx="1904433" cy="674031"/>
          </a:xfrm>
        </p:grpSpPr>
        <p:sp>
          <p:nvSpPr>
            <p:cNvPr id="7271" name="Google Shape;7271;p117"/>
            <p:cNvSpPr txBox="1"/>
            <p:nvPr/>
          </p:nvSpPr>
          <p:spPr>
            <a:xfrm>
              <a:off x="10128951" y="1530131"/>
              <a:ext cx="181559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“wasted” capacity due to un-needed retransmissions</a:t>
              </a:r>
              <a:endParaRPr/>
            </a:p>
          </p:txBody>
        </p:sp>
        <p:sp>
          <p:nvSpPr>
            <p:cNvPr id="7272" name="Google Shape;7272;p117"/>
            <p:cNvSpPr/>
            <p:nvPr/>
          </p:nvSpPr>
          <p:spPr>
            <a:xfrm>
              <a:off x="10040109" y="1765940"/>
              <a:ext cx="144379" cy="223205"/>
            </a:xfrm>
            <a:prstGeom prst="righ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273" name="Google Shape;7273;p117"/>
          <p:cNvGrpSpPr/>
          <p:nvPr/>
        </p:nvGrpSpPr>
        <p:grpSpPr>
          <a:xfrm>
            <a:off x="7361453" y="1421562"/>
            <a:ext cx="3100386" cy="2791471"/>
            <a:chOff x="7361453" y="1200180"/>
            <a:chExt cx="3100386" cy="2791471"/>
          </a:xfrm>
        </p:grpSpPr>
        <p:sp>
          <p:nvSpPr>
            <p:cNvPr id="7274" name="Google Shape;7274;p117"/>
            <p:cNvSpPr/>
            <p:nvPr/>
          </p:nvSpPr>
          <p:spPr>
            <a:xfrm>
              <a:off x="7958715" y="1967477"/>
              <a:ext cx="2024019" cy="1384114"/>
            </a:xfrm>
            <a:custGeom>
              <a:rect b="b" l="l" r="r" t="t"/>
              <a:pathLst>
                <a:path extrusionOk="0" h="10000" w="10000">
                  <a:moveTo>
                    <a:pt x="0" y="10000"/>
                  </a:moveTo>
                  <a:cubicBezTo>
                    <a:pt x="1268" y="8586"/>
                    <a:pt x="4789" y="3077"/>
                    <a:pt x="6536" y="1223"/>
                  </a:cubicBezTo>
                  <a:cubicBezTo>
                    <a:pt x="7406" y="549"/>
                    <a:pt x="8333" y="126"/>
                    <a:pt x="10000" y="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75" name="Google Shape;7275;p117"/>
            <p:cNvGrpSpPr/>
            <p:nvPr/>
          </p:nvGrpSpPr>
          <p:grpSpPr>
            <a:xfrm>
              <a:off x="8776235" y="3317988"/>
              <a:ext cx="458788" cy="400051"/>
              <a:chOff x="3583" y="1761"/>
              <a:chExt cx="289" cy="252"/>
            </a:xfrm>
          </p:grpSpPr>
          <p:sp>
            <p:nvSpPr>
              <p:cNvPr id="7276" name="Google Shape;7276;p117"/>
              <p:cNvSpPr txBox="1"/>
              <p:nvPr/>
            </p:nvSpPr>
            <p:spPr>
              <a:xfrm>
                <a:off x="3583" y="1761"/>
                <a:ext cx="28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in</a:t>
                </a:r>
                <a:endParaRPr b="0" baseline="-25000" i="0" sz="2000" u="none" cap="none" strike="noStrike">
                  <a:solidFill>
                    <a:srgbClr val="000000"/>
                  </a:solidFill>
                  <a:latin typeface="Arial"/>
                  <a:ea typeface="Arial"/>
                  <a:cs typeface="Arial"/>
                  <a:sym typeface="Arial"/>
                </a:endParaRPr>
              </a:p>
            </p:txBody>
          </p:sp>
          <p:cxnSp>
            <p:nvCxnSpPr>
              <p:cNvPr id="7277" name="Google Shape;7277;p117"/>
              <p:cNvCxnSpPr/>
              <p:nvPr/>
            </p:nvCxnSpPr>
            <p:spPr>
              <a:xfrm flipH="1" rot="10800000">
                <a:off x="3726" y="1834"/>
                <a:ext cx="24" cy="24"/>
              </a:xfrm>
              <a:prstGeom prst="straightConnector1">
                <a:avLst/>
              </a:prstGeom>
              <a:noFill/>
              <a:ln cap="flat" cmpd="sng" w="19050">
                <a:solidFill>
                  <a:schemeClr val="dk1"/>
                </a:solidFill>
                <a:prstDash val="solid"/>
                <a:round/>
                <a:headEnd len="med" w="med" type="none"/>
                <a:tailEnd len="med" w="med" type="none"/>
              </a:ln>
            </p:spPr>
          </p:cxnSp>
        </p:grpSp>
        <p:cxnSp>
          <p:nvCxnSpPr>
            <p:cNvPr id="7278" name="Google Shape;7278;p117"/>
            <p:cNvCxnSpPr/>
            <p:nvPr/>
          </p:nvCxnSpPr>
          <p:spPr>
            <a:xfrm>
              <a:off x="7965669" y="1200180"/>
              <a:ext cx="0" cy="2159048"/>
            </a:xfrm>
            <a:prstGeom prst="straightConnector1">
              <a:avLst/>
            </a:prstGeom>
            <a:noFill/>
            <a:ln cap="flat" cmpd="sng" w="25400">
              <a:solidFill>
                <a:schemeClr val="dk1"/>
              </a:solidFill>
              <a:prstDash val="solid"/>
              <a:round/>
              <a:headEnd len="med" w="med" type="none"/>
              <a:tailEnd len="med" w="med" type="none"/>
            </a:ln>
          </p:spPr>
        </p:cxnSp>
        <p:cxnSp>
          <p:nvCxnSpPr>
            <p:cNvPr id="7279" name="Google Shape;7279;p117"/>
            <p:cNvCxnSpPr/>
            <p:nvPr/>
          </p:nvCxnSpPr>
          <p:spPr>
            <a:xfrm>
              <a:off x="9972557" y="1436494"/>
              <a:ext cx="0" cy="1869027"/>
            </a:xfrm>
            <a:prstGeom prst="straightConnector1">
              <a:avLst/>
            </a:prstGeom>
            <a:noFill/>
            <a:ln cap="flat" cmpd="sng" w="12700">
              <a:solidFill>
                <a:schemeClr val="dk1"/>
              </a:solidFill>
              <a:prstDash val="dash"/>
              <a:round/>
              <a:headEnd len="med" w="med" type="none"/>
              <a:tailEnd len="med" w="med" type="none"/>
            </a:ln>
          </p:spPr>
        </p:cxnSp>
        <p:sp>
          <p:nvSpPr>
            <p:cNvPr id="7280" name="Google Shape;7280;p117"/>
            <p:cNvSpPr/>
            <p:nvPr/>
          </p:nvSpPr>
          <p:spPr>
            <a:xfrm>
              <a:off x="7954426" y="1377415"/>
              <a:ext cx="2023753" cy="1965701"/>
            </a:xfrm>
            <a:custGeom>
              <a:rect b="b" l="l" r="r" t="t"/>
              <a:pathLst>
                <a:path extrusionOk="0" h="732" w="720">
                  <a:moveTo>
                    <a:pt x="0" y="732"/>
                  </a:moveTo>
                  <a:lnTo>
                    <a:pt x="720" y="0"/>
                  </a:lnTo>
                </a:path>
              </a:pathLst>
            </a:custGeom>
            <a:noFill/>
            <a:ln cap="flat" cmpd="sng" w="28575">
              <a:solidFill>
                <a:schemeClr val="dk1"/>
              </a:solidFill>
              <a:prstDash val="dash"/>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281" name="Google Shape;7281;p117"/>
            <p:cNvCxnSpPr/>
            <p:nvPr/>
          </p:nvCxnSpPr>
          <p:spPr>
            <a:xfrm>
              <a:off x="7819509" y="1377415"/>
              <a:ext cx="140538" cy="0"/>
            </a:xfrm>
            <a:prstGeom prst="straightConnector1">
              <a:avLst/>
            </a:prstGeom>
            <a:noFill/>
            <a:ln cap="flat" cmpd="sng" w="19050">
              <a:solidFill>
                <a:schemeClr val="dk1"/>
              </a:solidFill>
              <a:prstDash val="solid"/>
              <a:round/>
              <a:headEnd len="med" w="med" type="none"/>
              <a:tailEnd len="med" w="med" type="none"/>
            </a:ln>
          </p:spPr>
        </p:cxnSp>
        <p:cxnSp>
          <p:nvCxnSpPr>
            <p:cNvPr id="7282" name="Google Shape;7282;p117"/>
            <p:cNvCxnSpPr/>
            <p:nvPr/>
          </p:nvCxnSpPr>
          <p:spPr>
            <a:xfrm>
              <a:off x="9966936" y="3359228"/>
              <a:ext cx="0" cy="155752"/>
            </a:xfrm>
            <a:prstGeom prst="straightConnector1">
              <a:avLst/>
            </a:prstGeom>
            <a:noFill/>
            <a:ln cap="flat" cmpd="sng" w="19050">
              <a:solidFill>
                <a:schemeClr val="dk1"/>
              </a:solidFill>
              <a:prstDash val="solid"/>
              <a:round/>
              <a:headEnd len="med" w="med" type="none"/>
              <a:tailEnd len="med" w="med" type="none"/>
            </a:ln>
          </p:spPr>
        </p:cxnSp>
        <p:sp>
          <p:nvSpPr>
            <p:cNvPr id="7283" name="Google Shape;7283;p117"/>
            <p:cNvSpPr txBox="1"/>
            <p:nvPr/>
          </p:nvSpPr>
          <p:spPr>
            <a:xfrm>
              <a:off x="7361453" y="1202894"/>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84" name="Google Shape;7284;p117"/>
            <p:cNvSpPr txBox="1"/>
            <p:nvPr/>
          </p:nvSpPr>
          <p:spPr>
            <a:xfrm rot="-5400000">
              <a:off x="7391666" y="1332203"/>
              <a:ext cx="937199" cy="7026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Noto Sans Symbols"/>
                  <a:ea typeface="Noto Sans Symbols"/>
                  <a:cs typeface="Noto Sans Symbols"/>
                  <a:sym typeface="Noto Sans Symbols"/>
                </a:rPr>
                <a:t>λ</a:t>
              </a:r>
              <a:r>
                <a:rPr b="0" baseline="-25000" i="0" lang="en-US" sz="2000" u="none" cap="none" strike="noStrike">
                  <a:solidFill>
                    <a:srgbClr val="000000"/>
                  </a:solidFill>
                  <a:latin typeface="Arial"/>
                  <a:ea typeface="Arial"/>
                  <a:cs typeface="Arial"/>
                  <a:sym typeface="Arial"/>
                </a:rPr>
                <a:t>out</a:t>
              </a:r>
              <a:endParaRPr/>
            </a:p>
          </p:txBody>
        </p:sp>
        <p:cxnSp>
          <p:nvCxnSpPr>
            <p:cNvPr id="7285" name="Google Shape;7285;p117"/>
            <p:cNvCxnSpPr/>
            <p:nvPr/>
          </p:nvCxnSpPr>
          <p:spPr>
            <a:xfrm>
              <a:off x="7999399" y="1380101"/>
              <a:ext cx="1841053" cy="0"/>
            </a:xfrm>
            <a:prstGeom prst="straightConnector1">
              <a:avLst/>
            </a:prstGeom>
            <a:noFill/>
            <a:ln cap="flat" cmpd="sng" w="12700">
              <a:solidFill>
                <a:srgbClr val="BFBFBF"/>
              </a:solidFill>
              <a:prstDash val="dash"/>
              <a:round/>
              <a:headEnd len="med" w="med" type="none"/>
              <a:tailEnd len="med" w="med" type="none"/>
            </a:ln>
          </p:spPr>
        </p:cxnSp>
        <p:cxnSp>
          <p:nvCxnSpPr>
            <p:cNvPr id="7286" name="Google Shape;7286;p117"/>
            <p:cNvCxnSpPr/>
            <p:nvPr/>
          </p:nvCxnSpPr>
          <p:spPr>
            <a:xfrm>
              <a:off x="7976136" y="3337560"/>
              <a:ext cx="2165684" cy="0"/>
            </a:xfrm>
            <a:prstGeom prst="straightConnector1">
              <a:avLst/>
            </a:prstGeom>
            <a:noFill/>
            <a:ln cap="flat" cmpd="sng" w="25400">
              <a:solidFill>
                <a:schemeClr val="dk1"/>
              </a:solidFill>
              <a:prstDash val="solid"/>
              <a:miter lim="800000"/>
              <a:headEnd len="sm" w="sm" type="none"/>
              <a:tailEnd len="sm" w="sm" type="none"/>
            </a:ln>
          </p:spPr>
        </p:cxnSp>
        <p:sp>
          <p:nvSpPr>
            <p:cNvPr id="7287" name="Google Shape;7287;p117"/>
            <p:cNvSpPr txBox="1"/>
            <p:nvPr/>
          </p:nvSpPr>
          <p:spPr>
            <a:xfrm rot="-5400000">
              <a:off x="7139298" y="2419300"/>
              <a:ext cx="123450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throughput: </a:t>
              </a:r>
              <a:endParaRPr/>
            </a:p>
          </p:txBody>
        </p:sp>
        <p:sp>
          <p:nvSpPr>
            <p:cNvPr id="7288" name="Google Shape;7288;p117"/>
            <p:cNvSpPr/>
            <p:nvPr/>
          </p:nvSpPr>
          <p:spPr>
            <a:xfrm>
              <a:off x="9893835" y="1336842"/>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89" name="Google Shape;7289;p117"/>
            <p:cNvSpPr txBox="1"/>
            <p:nvPr/>
          </p:nvSpPr>
          <p:spPr>
            <a:xfrm>
              <a:off x="9646716" y="3476057"/>
              <a:ext cx="815123" cy="515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290" name="Google Shape;7290;p117"/>
            <p:cNvSpPr/>
            <p:nvPr/>
          </p:nvSpPr>
          <p:spPr>
            <a:xfrm>
              <a:off x="9912327" y="1689923"/>
              <a:ext cx="127000" cy="1270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91" name="Google Shape;7291;p117"/>
            <p:cNvCxnSpPr/>
            <p:nvPr/>
          </p:nvCxnSpPr>
          <p:spPr>
            <a:xfrm>
              <a:off x="7960093" y="1773132"/>
              <a:ext cx="1975007" cy="0"/>
            </a:xfrm>
            <a:prstGeom prst="straightConnector1">
              <a:avLst/>
            </a:prstGeom>
            <a:noFill/>
            <a:ln cap="flat" cmpd="sng" w="12700">
              <a:solidFill>
                <a:srgbClr val="BFBFBF"/>
              </a:solidFill>
              <a:prstDash val="dash"/>
              <a:round/>
              <a:headEnd len="med" w="med" type="none"/>
              <a:tailEnd len="med" w="med" type="none"/>
            </a:ln>
          </p:spPr>
        </p:cxnSp>
        <p:sp>
          <p:nvSpPr>
            <p:cNvPr id="7292" name="Google Shape;7292;p117"/>
            <p:cNvSpPr/>
            <p:nvPr/>
          </p:nvSpPr>
          <p:spPr>
            <a:xfrm>
              <a:off x="9908716" y="1920329"/>
              <a:ext cx="127000" cy="1270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93" name="Google Shape;7293;p117"/>
            <p:cNvCxnSpPr/>
            <p:nvPr/>
          </p:nvCxnSpPr>
          <p:spPr>
            <a:xfrm>
              <a:off x="7995485" y="1986203"/>
              <a:ext cx="1975007" cy="0"/>
            </a:xfrm>
            <a:prstGeom prst="straightConnector1">
              <a:avLst/>
            </a:prstGeom>
            <a:noFill/>
            <a:ln cap="flat" cmpd="sng" w="12700">
              <a:solidFill>
                <a:schemeClr val="dk1"/>
              </a:solidFill>
              <a:prstDash val="dash"/>
              <a:round/>
              <a:headEnd len="med" w="med" type="none"/>
              <a:tailEnd len="med" w="med" type="none"/>
            </a:ln>
          </p:spPr>
        </p:cxnSp>
      </p:grpSp>
      <p:sp>
        <p:nvSpPr>
          <p:cNvPr id="7294" name="Google Shape;7294;p1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9" name="Shape 7299"/>
        <p:cNvGrpSpPr/>
        <p:nvPr/>
      </p:nvGrpSpPr>
      <p:grpSpPr>
        <a:xfrm>
          <a:off x="0" y="0"/>
          <a:ext cx="0" cy="0"/>
          <a:chOff x="0" y="0"/>
          <a:chExt cx="0" cy="0"/>
        </a:xfrm>
      </p:grpSpPr>
      <p:sp>
        <p:nvSpPr>
          <p:cNvPr id="7300" name="Google Shape;7300;p118"/>
          <p:cNvSpPr/>
          <p:nvPr/>
        </p:nvSpPr>
        <p:spPr>
          <a:xfrm flipH="1">
            <a:off x="3903164" y="3127613"/>
            <a:ext cx="169456" cy="1042731"/>
          </a:xfrm>
          <a:custGeom>
            <a:rect b="b" l="l" r="r" t="t"/>
            <a:pathLst>
              <a:path extrusionOk="0" h="11173" w="10000">
                <a:moveTo>
                  <a:pt x="10000" y="6998"/>
                </a:moveTo>
                <a:lnTo>
                  <a:pt x="458" y="0"/>
                </a:lnTo>
                <a:cubicBezTo>
                  <a:pt x="306" y="3139"/>
                  <a:pt x="153" y="6277"/>
                  <a:pt x="0" y="9416"/>
                </a:cubicBezTo>
                <a:lnTo>
                  <a:pt x="9177" y="11173"/>
                </a:lnTo>
                <a:lnTo>
                  <a:pt x="10000" y="699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01" name="Google Shape;7301;p118"/>
          <p:cNvGrpSpPr/>
          <p:nvPr/>
        </p:nvGrpSpPr>
        <p:grpSpPr>
          <a:xfrm>
            <a:off x="4058150" y="3125879"/>
            <a:ext cx="616282" cy="869387"/>
            <a:chOff x="10910964" y="2513124"/>
            <a:chExt cx="586769" cy="904023"/>
          </a:xfrm>
        </p:grpSpPr>
        <p:sp>
          <p:nvSpPr>
            <p:cNvPr id="7302" name="Google Shape;7302;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03" name="Google Shape;7303;p118"/>
            <p:cNvCxnSpPr/>
            <p:nvPr/>
          </p:nvCxnSpPr>
          <p:spPr>
            <a:xfrm>
              <a:off x="10910964"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04" name="Google Shape;7304;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05" name="Google Shape;7305;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06" name="Google Shape;7306;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307" name="Google Shape;7307;p118"/>
          <p:cNvSpPr/>
          <p:nvPr/>
        </p:nvSpPr>
        <p:spPr>
          <a:xfrm flipH="1">
            <a:off x="1898724" y="5081691"/>
            <a:ext cx="195993" cy="1005421"/>
          </a:xfrm>
          <a:custGeom>
            <a:rect b="b" l="l" r="r" t="t"/>
            <a:pathLst>
              <a:path extrusionOk="0" h="9490" w="10740">
                <a:moveTo>
                  <a:pt x="10740" y="6979"/>
                </a:moveTo>
                <a:lnTo>
                  <a:pt x="424" y="0"/>
                </a:lnTo>
                <a:cubicBezTo>
                  <a:pt x="283" y="3043"/>
                  <a:pt x="141" y="5235"/>
                  <a:pt x="0" y="8278"/>
                </a:cubicBezTo>
                <a:lnTo>
                  <a:pt x="10043" y="9490"/>
                </a:lnTo>
                <a:lnTo>
                  <a:pt x="10740" y="6979"/>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08" name="Google Shape;7308;p118"/>
          <p:cNvGrpSpPr/>
          <p:nvPr/>
        </p:nvGrpSpPr>
        <p:grpSpPr>
          <a:xfrm>
            <a:off x="2080082" y="5084889"/>
            <a:ext cx="616282" cy="869387"/>
            <a:chOff x="10910964" y="2513124"/>
            <a:chExt cx="586769" cy="904023"/>
          </a:xfrm>
        </p:grpSpPr>
        <p:sp>
          <p:nvSpPr>
            <p:cNvPr id="7309" name="Google Shape;7309;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10" name="Google Shape;7310;p118"/>
            <p:cNvCxnSpPr/>
            <p:nvPr/>
          </p:nvCxnSpPr>
          <p:spPr>
            <a:xfrm>
              <a:off x="10910964"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1" name="Google Shape;7311;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2" name="Google Shape;7312;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3" name="Google Shape;7313;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314" name="Google Shape;7314;p118"/>
          <p:cNvSpPr/>
          <p:nvPr/>
        </p:nvSpPr>
        <p:spPr>
          <a:xfrm>
            <a:off x="8102599" y="5226097"/>
            <a:ext cx="168983" cy="1122548"/>
          </a:xfrm>
          <a:custGeom>
            <a:rect b="b" l="l" r="r" t="t"/>
            <a:pathLst>
              <a:path extrusionOk="0" h="11066" w="7144">
                <a:moveTo>
                  <a:pt x="7144" y="7022"/>
                </a:moveTo>
                <a:lnTo>
                  <a:pt x="328" y="0"/>
                </a:lnTo>
                <a:cubicBezTo>
                  <a:pt x="219" y="3178"/>
                  <a:pt x="109" y="6355"/>
                  <a:pt x="0" y="9533"/>
                </a:cubicBezTo>
                <a:lnTo>
                  <a:pt x="6605" y="11066"/>
                </a:lnTo>
                <a:cubicBezTo>
                  <a:pt x="6785" y="9718"/>
                  <a:pt x="6964" y="8370"/>
                  <a:pt x="7144" y="7022"/>
                </a:cubicBez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15" name="Google Shape;7315;p118"/>
          <p:cNvGrpSpPr/>
          <p:nvPr/>
        </p:nvGrpSpPr>
        <p:grpSpPr>
          <a:xfrm>
            <a:off x="7504175" y="5297345"/>
            <a:ext cx="616281" cy="869387"/>
            <a:chOff x="10910965" y="2513124"/>
            <a:chExt cx="586768" cy="904023"/>
          </a:xfrm>
        </p:grpSpPr>
        <p:sp>
          <p:nvSpPr>
            <p:cNvPr id="7316" name="Google Shape;7316;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17" name="Google Shape;7317;p118"/>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8" name="Google Shape;7318;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19" name="Google Shape;7319;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320" name="Google Shape;7320;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sp>
        <p:nvSpPr>
          <p:cNvPr id="7321" name="Google Shape;7321;p118"/>
          <p:cNvSpPr/>
          <p:nvPr/>
        </p:nvSpPr>
        <p:spPr>
          <a:xfrm>
            <a:off x="8572023" y="3216064"/>
            <a:ext cx="223031" cy="1244178"/>
          </a:xfrm>
          <a:custGeom>
            <a:rect b="b" l="l" r="r" t="t"/>
            <a:pathLst>
              <a:path extrusionOk="0" h="12265" w="10000">
                <a:moveTo>
                  <a:pt x="10000" y="8488"/>
                </a:moveTo>
                <a:lnTo>
                  <a:pt x="348" y="0"/>
                </a:lnTo>
                <a:lnTo>
                  <a:pt x="0" y="9533"/>
                </a:lnTo>
                <a:lnTo>
                  <a:pt x="9025" y="12265"/>
                </a:lnTo>
                <a:lnTo>
                  <a:pt x="10000" y="848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22" name="Google Shape;7322;p118"/>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3</a:t>
            </a:r>
            <a:endParaRPr b="0" sz="4400"/>
          </a:p>
        </p:txBody>
      </p:sp>
      <p:sp>
        <p:nvSpPr>
          <p:cNvPr id="7323" name="Google Shape;7323;p118"/>
          <p:cNvSpPr txBox="1"/>
          <p:nvPr/>
        </p:nvSpPr>
        <p:spPr>
          <a:xfrm>
            <a:off x="936625" y="1320799"/>
            <a:ext cx="3787775" cy="1247775"/>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four </a:t>
            </a:r>
            <a:r>
              <a:rPr b="0" i="0" lang="en-US" sz="2400" u="none" cap="none" strike="noStrike">
                <a:solidFill>
                  <a:srgbClr val="000000"/>
                </a:solidFill>
                <a:latin typeface="Calibri"/>
                <a:ea typeface="Calibri"/>
                <a:cs typeface="Calibri"/>
                <a:sym typeface="Calibri"/>
              </a:rPr>
              <a:t>senders</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multi-hop</a:t>
            </a:r>
            <a:r>
              <a:rPr b="0" i="0" lang="en-US" sz="2400" u="none" cap="none" strike="noStrike">
                <a:solidFill>
                  <a:srgbClr val="000000"/>
                </a:solidFill>
                <a:latin typeface="Calibri"/>
                <a:ea typeface="Calibri"/>
                <a:cs typeface="Calibri"/>
                <a:sym typeface="Calibri"/>
              </a:rPr>
              <a:t> paths</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timeout/retransmit</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324" name="Google Shape;7324;p118"/>
          <p:cNvSpPr/>
          <p:nvPr/>
        </p:nvSpPr>
        <p:spPr>
          <a:xfrm>
            <a:off x="4733925" y="1273175"/>
            <a:ext cx="6264275" cy="526128"/>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sng" cap="none" strike="noStrike">
                <a:solidFill>
                  <a:srgbClr val="CC0000"/>
                </a:solidFill>
                <a:latin typeface="Calibri"/>
                <a:ea typeface="Calibri"/>
                <a:cs typeface="Calibri"/>
                <a:sym typeface="Calibri"/>
              </a:rPr>
              <a:t>Q:</a:t>
            </a:r>
            <a:r>
              <a:rPr b="0" i="0" lang="en-US" sz="24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what happens as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Gill Sans"/>
                <a:ea typeface="Gill Sans"/>
                <a:cs typeface="Gill Sans"/>
                <a:sym typeface="Gill Sans"/>
              </a:rPr>
              <a:t>in</a:t>
            </a:r>
            <a:r>
              <a:rPr b="0" i="0" lang="en-US" sz="2400" u="none" cap="none" strike="noStrike">
                <a:solidFill>
                  <a:srgbClr val="CC0000"/>
                </a:solidFill>
                <a:latin typeface="Gill Sans"/>
                <a:ea typeface="Gill Sans"/>
                <a:cs typeface="Gill Sans"/>
                <a:sym typeface="Gill Sans"/>
              </a:rPr>
              <a:t> </a:t>
            </a:r>
            <a:r>
              <a:rPr b="0" i="0" lang="en-US" sz="2400" u="none" cap="none" strike="noStrike">
                <a:solidFill>
                  <a:srgbClr val="000000"/>
                </a:solidFill>
                <a:latin typeface="Calibri"/>
                <a:ea typeface="Calibri"/>
                <a:cs typeface="Calibri"/>
                <a:sym typeface="Calibri"/>
              </a:rPr>
              <a:t>and</a:t>
            </a:r>
            <a:r>
              <a:rPr b="0" i="0" lang="en-US" sz="2400" u="none" cap="none" strike="noStrike">
                <a:solidFill>
                  <a:srgbClr val="000000"/>
                </a:solidFill>
                <a:latin typeface="Gill Sans"/>
                <a:ea typeface="Gill Sans"/>
                <a:cs typeface="Gill Sans"/>
                <a:sym typeface="Gill Sans"/>
              </a:rPr>
              <a:t>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Gill Sans"/>
                <a:ea typeface="Gill Sans"/>
                <a:cs typeface="Gill Sans"/>
                <a:sym typeface="Gill Sans"/>
              </a:rPr>
              <a:t>in</a:t>
            </a:r>
            <a:r>
              <a:rPr b="1" baseline="30000" i="0" lang="en-US" sz="2400" u="none" cap="none" strike="noStrike">
                <a:solidFill>
                  <a:srgbClr val="CC0000"/>
                </a:solidFill>
                <a:latin typeface="Arial"/>
                <a:ea typeface="Arial"/>
                <a:cs typeface="Arial"/>
                <a:sym typeface="Arial"/>
              </a:rPr>
              <a:t>’</a:t>
            </a:r>
            <a:r>
              <a:rPr b="0" i="0" lang="en-US" sz="2400" u="none" cap="none" strike="noStrike">
                <a:solidFill>
                  <a:srgbClr val="000000"/>
                </a:solidFill>
                <a:latin typeface="Gill Sans"/>
                <a:ea typeface="Gill Sans"/>
                <a:cs typeface="Gill Sans"/>
                <a:sym typeface="Gill Sans"/>
              </a:rPr>
              <a:t> </a:t>
            </a:r>
            <a:r>
              <a:rPr b="0" i="0" lang="en-US" sz="2400" u="none" cap="none" strike="noStrike">
                <a:solidFill>
                  <a:srgbClr val="000000"/>
                </a:solidFill>
                <a:latin typeface="Calibri"/>
                <a:ea typeface="Calibri"/>
                <a:cs typeface="Calibri"/>
                <a:sym typeface="Calibri"/>
              </a:rPr>
              <a:t>increase ?</a:t>
            </a:r>
            <a:endParaRPr b="0" i="0" sz="2400" u="none" cap="none" strike="noStrike">
              <a:solidFill>
                <a:srgbClr val="000000"/>
              </a:solidFill>
              <a:latin typeface="Calibri"/>
              <a:ea typeface="Calibri"/>
              <a:cs typeface="Calibri"/>
              <a:sym typeface="Calibri"/>
            </a:endParaRPr>
          </a:p>
        </p:txBody>
      </p:sp>
      <p:sp>
        <p:nvSpPr>
          <p:cNvPr id="7325" name="Google Shape;7325;p118"/>
          <p:cNvSpPr/>
          <p:nvPr/>
        </p:nvSpPr>
        <p:spPr>
          <a:xfrm>
            <a:off x="4764261" y="1804940"/>
            <a:ext cx="6994525" cy="106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sng" cap="none" strike="noStrike">
                <a:solidFill>
                  <a:srgbClr val="CC0000"/>
                </a:solidFill>
                <a:latin typeface="Calibri"/>
                <a:ea typeface="Calibri"/>
                <a:cs typeface="Calibri"/>
                <a:sym typeface="Calibri"/>
              </a:rPr>
              <a:t>A:</a:t>
            </a:r>
            <a:r>
              <a:rPr b="0" i="0" lang="en-US" sz="24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as red  </a:t>
            </a:r>
            <a:r>
              <a:rPr b="0" i="0" lang="en-US" sz="2400" u="none" cap="none" strike="noStrike">
                <a:solidFill>
                  <a:srgbClr val="CC0000"/>
                </a:solidFill>
                <a:latin typeface="Noto Sans Symbols"/>
                <a:ea typeface="Noto Sans Symbols"/>
                <a:cs typeface="Noto Sans Symbols"/>
                <a:sym typeface="Noto Sans Symbols"/>
              </a:rPr>
              <a:t>λ</a:t>
            </a:r>
            <a:r>
              <a:rPr b="0" baseline="-25000" i="0" lang="en-US" sz="2400" u="none" cap="none" strike="noStrike">
                <a:solidFill>
                  <a:srgbClr val="CC0000"/>
                </a:solidFill>
                <a:latin typeface="Gill Sans"/>
                <a:ea typeface="Gill Sans"/>
                <a:cs typeface="Gill Sans"/>
                <a:sym typeface="Gill Sans"/>
              </a:rPr>
              <a:t>in</a:t>
            </a:r>
            <a:r>
              <a:rPr b="0" baseline="30000" i="0" lang="en-US" sz="2400" u="none" cap="none" strike="noStrike">
                <a:solidFill>
                  <a:srgbClr val="CC0000"/>
                </a:solidFill>
                <a:latin typeface="Arial"/>
                <a:ea typeface="Arial"/>
                <a:cs typeface="Arial"/>
                <a:sym typeface="Arial"/>
              </a:rPr>
              <a:t>’</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0000"/>
                </a:solidFill>
                <a:latin typeface="Calibri"/>
                <a:ea typeface="Calibri"/>
                <a:cs typeface="Calibri"/>
                <a:sym typeface="Calibri"/>
              </a:rPr>
              <a:t>increases, all arriving blue pkts at upper queue are dropped, blue throughput </a:t>
            </a:r>
            <a:r>
              <a:rPr b="0" i="0" lang="en-US" sz="2400" u="none" cap="none" strike="noStrike">
                <a:solidFill>
                  <a:srgbClr val="000000"/>
                </a:solidFill>
                <a:latin typeface="Noto Sans Symbols"/>
                <a:ea typeface="Noto Sans Symbols"/>
                <a:cs typeface="Noto Sans Symbols"/>
                <a:sym typeface="Noto Sans Symbols"/>
              </a:rPr>
              <a:t>→</a:t>
            </a:r>
            <a:r>
              <a:rPr b="0" i="0" lang="en-US" sz="2400" u="none" cap="none" strike="noStrike">
                <a:solidFill>
                  <a:srgbClr val="000000"/>
                </a:solidFill>
                <a:latin typeface="Gill Sans"/>
                <a:ea typeface="Gill Sans"/>
                <a:cs typeface="Gill Sans"/>
                <a:sym typeface="Gill Sans"/>
              </a:rPr>
              <a:t> </a:t>
            </a:r>
            <a:r>
              <a:rPr b="0" i="0" lang="en-US" sz="2400" u="none" cap="none" strike="noStrike">
                <a:solidFill>
                  <a:srgbClr val="000000"/>
                </a:solidFill>
                <a:latin typeface="Calibri"/>
                <a:ea typeface="Calibri"/>
                <a:cs typeface="Calibri"/>
                <a:sym typeface="Calibri"/>
              </a:rPr>
              <a:t>0</a:t>
            </a:r>
            <a:endParaRPr b="0" i="0" sz="2400" u="none" cap="none" strike="noStrike">
              <a:solidFill>
                <a:srgbClr val="000000"/>
              </a:solidFill>
              <a:latin typeface="Calibri"/>
              <a:ea typeface="Calibri"/>
              <a:cs typeface="Calibri"/>
              <a:sym typeface="Calibri"/>
            </a:endParaRPr>
          </a:p>
        </p:txBody>
      </p:sp>
      <p:grpSp>
        <p:nvGrpSpPr>
          <p:cNvPr id="7326" name="Google Shape;7326;p118"/>
          <p:cNvGrpSpPr/>
          <p:nvPr/>
        </p:nvGrpSpPr>
        <p:grpSpPr>
          <a:xfrm>
            <a:off x="5682185" y="4389943"/>
            <a:ext cx="1015652" cy="456281"/>
            <a:chOff x="7493876" y="2774731"/>
            <a:chExt cx="1481958" cy="894622"/>
          </a:xfrm>
        </p:grpSpPr>
        <p:sp>
          <p:nvSpPr>
            <p:cNvPr id="7327" name="Google Shape;7327;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28" name="Google Shape;7328;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29" name="Google Shape;7329;p118"/>
            <p:cNvGrpSpPr/>
            <p:nvPr/>
          </p:nvGrpSpPr>
          <p:grpSpPr>
            <a:xfrm>
              <a:off x="7713663" y="2848339"/>
              <a:ext cx="1042107" cy="425543"/>
              <a:chOff x="7786941" y="2884917"/>
              <a:chExt cx="897649" cy="353919"/>
            </a:xfrm>
          </p:grpSpPr>
          <p:sp>
            <p:nvSpPr>
              <p:cNvPr id="7330" name="Google Shape;7330;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1" name="Google Shape;7331;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2" name="Google Shape;7332;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3" name="Google Shape;7333;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334" name="Google Shape;7334;p118"/>
          <p:cNvGrpSpPr/>
          <p:nvPr/>
        </p:nvGrpSpPr>
        <p:grpSpPr>
          <a:xfrm>
            <a:off x="5962825" y="5123116"/>
            <a:ext cx="1015652" cy="456281"/>
            <a:chOff x="7493876" y="2774731"/>
            <a:chExt cx="1481958" cy="894622"/>
          </a:xfrm>
        </p:grpSpPr>
        <p:sp>
          <p:nvSpPr>
            <p:cNvPr id="7335" name="Google Shape;7335;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36" name="Google Shape;7336;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37" name="Google Shape;7337;p118"/>
            <p:cNvGrpSpPr/>
            <p:nvPr/>
          </p:nvGrpSpPr>
          <p:grpSpPr>
            <a:xfrm>
              <a:off x="7713663" y="2848339"/>
              <a:ext cx="1042107" cy="425543"/>
              <a:chOff x="7786941" y="2884917"/>
              <a:chExt cx="897649" cy="353919"/>
            </a:xfrm>
          </p:grpSpPr>
          <p:sp>
            <p:nvSpPr>
              <p:cNvPr id="7338" name="Google Shape;7338;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9" name="Google Shape;7339;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0" name="Google Shape;7340;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1" name="Google Shape;7341;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342" name="Google Shape;7342;p118"/>
          <p:cNvGrpSpPr/>
          <p:nvPr/>
        </p:nvGrpSpPr>
        <p:grpSpPr>
          <a:xfrm>
            <a:off x="3583956" y="4844264"/>
            <a:ext cx="1015652" cy="456281"/>
            <a:chOff x="7493876" y="2774731"/>
            <a:chExt cx="1481958" cy="894622"/>
          </a:xfrm>
        </p:grpSpPr>
        <p:sp>
          <p:nvSpPr>
            <p:cNvPr id="7343" name="Google Shape;7343;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44" name="Google Shape;7344;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45" name="Google Shape;7345;p118"/>
            <p:cNvGrpSpPr/>
            <p:nvPr/>
          </p:nvGrpSpPr>
          <p:grpSpPr>
            <a:xfrm>
              <a:off x="7713663" y="2848339"/>
              <a:ext cx="1042107" cy="425543"/>
              <a:chOff x="7786941" y="2884917"/>
              <a:chExt cx="897649" cy="353919"/>
            </a:xfrm>
          </p:grpSpPr>
          <p:sp>
            <p:nvSpPr>
              <p:cNvPr id="7346" name="Google Shape;7346;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7" name="Google Shape;7347;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8" name="Google Shape;7348;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9" name="Google Shape;7349;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350" name="Google Shape;7350;p118"/>
          <p:cNvSpPr txBox="1"/>
          <p:nvPr/>
        </p:nvSpPr>
        <p:spPr>
          <a:xfrm>
            <a:off x="5310361" y="3661938"/>
            <a:ext cx="1912938" cy="39528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finite shared output link buffers</a:t>
            </a:r>
            <a:endParaRPr/>
          </a:p>
        </p:txBody>
      </p:sp>
      <p:cxnSp>
        <p:nvCxnSpPr>
          <p:cNvPr id="7351" name="Google Shape;7351;p118"/>
          <p:cNvCxnSpPr/>
          <p:nvPr/>
        </p:nvCxnSpPr>
        <p:spPr>
          <a:xfrm flipH="1">
            <a:off x="4151313" y="4113259"/>
            <a:ext cx="923925" cy="866775"/>
          </a:xfrm>
          <a:prstGeom prst="straightConnector1">
            <a:avLst/>
          </a:prstGeom>
          <a:noFill/>
          <a:ln cap="flat" cmpd="sng" w="19050">
            <a:solidFill>
              <a:srgbClr val="000000"/>
            </a:solidFill>
            <a:prstDash val="solid"/>
            <a:round/>
            <a:headEnd len="med" w="med" type="none"/>
            <a:tailEnd len="med" w="med" type="none"/>
          </a:ln>
        </p:spPr>
      </p:cxnSp>
      <p:sp>
        <p:nvSpPr>
          <p:cNvPr id="7352" name="Google Shape;7352;p118"/>
          <p:cNvSpPr txBox="1"/>
          <p:nvPr/>
        </p:nvSpPr>
        <p:spPr>
          <a:xfrm>
            <a:off x="3992563" y="2779759"/>
            <a:ext cx="735012"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A</a:t>
            </a:r>
            <a:endParaRPr/>
          </a:p>
        </p:txBody>
      </p:sp>
      <p:cxnSp>
        <p:nvCxnSpPr>
          <p:cNvPr id="7353" name="Google Shape;7353;p118"/>
          <p:cNvCxnSpPr/>
          <p:nvPr/>
        </p:nvCxnSpPr>
        <p:spPr>
          <a:xfrm rot="10800000">
            <a:off x="1868129" y="6103982"/>
            <a:ext cx="2462570" cy="0"/>
          </a:xfrm>
          <a:prstGeom prst="straightConnector1">
            <a:avLst/>
          </a:prstGeom>
          <a:noFill/>
          <a:ln cap="flat" cmpd="sng" w="19050">
            <a:solidFill>
              <a:srgbClr val="000000"/>
            </a:solidFill>
            <a:prstDash val="solid"/>
            <a:round/>
            <a:headEnd len="med" w="med" type="none"/>
            <a:tailEnd len="med" w="med" type="none"/>
          </a:ln>
        </p:spPr>
      </p:cxnSp>
      <p:cxnSp>
        <p:nvCxnSpPr>
          <p:cNvPr id="7354" name="Google Shape;7354;p118"/>
          <p:cNvCxnSpPr/>
          <p:nvPr/>
        </p:nvCxnSpPr>
        <p:spPr>
          <a:xfrm rot="10800000">
            <a:off x="4637088" y="4543472"/>
            <a:ext cx="1357312" cy="17462"/>
          </a:xfrm>
          <a:prstGeom prst="straightConnector1">
            <a:avLst/>
          </a:prstGeom>
          <a:noFill/>
          <a:ln cap="flat" cmpd="sng" w="19050">
            <a:solidFill>
              <a:srgbClr val="000000"/>
            </a:solidFill>
            <a:prstDash val="solid"/>
            <a:round/>
            <a:headEnd len="med" w="med" type="none"/>
            <a:tailEnd len="med" w="med" type="none"/>
          </a:ln>
        </p:spPr>
      </p:cxnSp>
      <p:cxnSp>
        <p:nvCxnSpPr>
          <p:cNvPr id="7355" name="Google Shape;7355;p118"/>
          <p:cNvCxnSpPr/>
          <p:nvPr/>
        </p:nvCxnSpPr>
        <p:spPr>
          <a:xfrm rot="10800000">
            <a:off x="6302375" y="4560933"/>
            <a:ext cx="895350" cy="9525"/>
          </a:xfrm>
          <a:prstGeom prst="straightConnector1">
            <a:avLst/>
          </a:prstGeom>
          <a:noFill/>
          <a:ln cap="flat" cmpd="sng" w="19050">
            <a:solidFill>
              <a:srgbClr val="000000"/>
            </a:solidFill>
            <a:prstDash val="solid"/>
            <a:round/>
            <a:headEnd len="med" w="med" type="none"/>
            <a:tailEnd len="med" w="med" type="none"/>
          </a:ln>
        </p:spPr>
      </p:cxnSp>
      <p:cxnSp>
        <p:nvCxnSpPr>
          <p:cNvPr id="7356" name="Google Shape;7356;p118"/>
          <p:cNvCxnSpPr/>
          <p:nvPr/>
        </p:nvCxnSpPr>
        <p:spPr>
          <a:xfrm flipH="1">
            <a:off x="6361112" y="4073832"/>
            <a:ext cx="1337545" cy="1353877"/>
          </a:xfrm>
          <a:prstGeom prst="straightConnector1">
            <a:avLst/>
          </a:prstGeom>
          <a:noFill/>
          <a:ln cap="flat" cmpd="sng" w="19050">
            <a:solidFill>
              <a:srgbClr val="000000"/>
            </a:solidFill>
            <a:prstDash val="solid"/>
            <a:round/>
            <a:headEnd len="med" w="med" type="none"/>
            <a:tailEnd len="med" w="med" type="none"/>
          </a:ln>
        </p:spPr>
      </p:cxnSp>
      <p:cxnSp>
        <p:nvCxnSpPr>
          <p:cNvPr id="7357" name="Google Shape;7357;p118"/>
          <p:cNvCxnSpPr/>
          <p:nvPr/>
        </p:nvCxnSpPr>
        <p:spPr>
          <a:xfrm rot="10800000">
            <a:off x="7687685" y="4077626"/>
            <a:ext cx="439738" cy="0"/>
          </a:xfrm>
          <a:prstGeom prst="straightConnector1">
            <a:avLst/>
          </a:prstGeom>
          <a:noFill/>
          <a:ln cap="flat" cmpd="sng" w="19050">
            <a:solidFill>
              <a:srgbClr val="000000"/>
            </a:solidFill>
            <a:prstDash val="solid"/>
            <a:round/>
            <a:headEnd len="med" w="med" type="none"/>
            <a:tailEnd len="med" w="med" type="none"/>
          </a:ln>
        </p:spPr>
      </p:cxnSp>
      <p:grpSp>
        <p:nvGrpSpPr>
          <p:cNvPr id="7358" name="Google Shape;7358;p118"/>
          <p:cNvGrpSpPr/>
          <p:nvPr/>
        </p:nvGrpSpPr>
        <p:grpSpPr>
          <a:xfrm>
            <a:off x="7027073" y="4812231"/>
            <a:ext cx="637943" cy="602421"/>
            <a:chOff x="7027073" y="4812231"/>
            <a:chExt cx="637943" cy="602421"/>
          </a:xfrm>
        </p:grpSpPr>
        <p:sp>
          <p:nvSpPr>
            <p:cNvPr id="7359" name="Google Shape;7359;p118"/>
            <p:cNvSpPr txBox="1"/>
            <p:nvPr/>
          </p:nvSpPr>
          <p:spPr>
            <a:xfrm>
              <a:off x="7027073" y="4812231"/>
              <a:ext cx="617537"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out</a:t>
              </a:r>
              <a:endParaRPr b="0" i="0" sz="2000" u="none" cap="none" strike="noStrike">
                <a:solidFill>
                  <a:srgbClr val="C00000"/>
                </a:solidFill>
                <a:latin typeface="Comic Sans MS"/>
                <a:ea typeface="Comic Sans MS"/>
                <a:cs typeface="Comic Sans MS"/>
                <a:sym typeface="Comic Sans MS"/>
              </a:endParaRPr>
            </a:p>
          </p:txBody>
        </p:sp>
        <p:cxnSp>
          <p:nvCxnSpPr>
            <p:cNvPr id="7360" name="Google Shape;7360;p118"/>
            <p:cNvCxnSpPr/>
            <p:nvPr/>
          </p:nvCxnSpPr>
          <p:spPr>
            <a:xfrm>
              <a:off x="7464991" y="5195577"/>
              <a:ext cx="200025" cy="219075"/>
            </a:xfrm>
            <a:prstGeom prst="straightConnector1">
              <a:avLst/>
            </a:prstGeom>
            <a:noFill/>
            <a:ln cap="flat" cmpd="sng" w="9525">
              <a:solidFill>
                <a:srgbClr val="000000"/>
              </a:solidFill>
              <a:prstDash val="solid"/>
              <a:round/>
              <a:headEnd len="med" w="med" type="none"/>
              <a:tailEnd len="med" w="med" type="triangle"/>
            </a:ln>
          </p:spPr>
        </p:cxnSp>
      </p:grpSp>
      <p:cxnSp>
        <p:nvCxnSpPr>
          <p:cNvPr id="7361" name="Google Shape;7361;p118"/>
          <p:cNvCxnSpPr/>
          <p:nvPr/>
        </p:nvCxnSpPr>
        <p:spPr>
          <a:xfrm flipH="1">
            <a:off x="6249988" y="4162002"/>
            <a:ext cx="7937" cy="243358"/>
          </a:xfrm>
          <a:prstGeom prst="straightConnector1">
            <a:avLst/>
          </a:prstGeom>
          <a:noFill/>
          <a:ln cap="flat" cmpd="sng" w="9525">
            <a:solidFill>
              <a:srgbClr val="000000"/>
            </a:solidFill>
            <a:prstDash val="solid"/>
            <a:round/>
            <a:headEnd len="med" w="med" type="none"/>
            <a:tailEnd len="med" w="med" type="triangle"/>
          </a:ln>
        </p:spPr>
      </p:cxnSp>
      <p:cxnSp>
        <p:nvCxnSpPr>
          <p:cNvPr id="7362" name="Google Shape;7362;p118"/>
          <p:cNvCxnSpPr/>
          <p:nvPr/>
        </p:nvCxnSpPr>
        <p:spPr>
          <a:xfrm>
            <a:off x="6465888" y="3475084"/>
            <a:ext cx="276225" cy="1588"/>
          </a:xfrm>
          <a:prstGeom prst="straightConnector1">
            <a:avLst/>
          </a:prstGeom>
          <a:noFill/>
          <a:ln cap="flat" cmpd="sng" w="38100">
            <a:solidFill>
              <a:srgbClr val="FFFFFF"/>
            </a:solidFill>
            <a:prstDash val="dot"/>
            <a:round/>
            <a:headEnd len="med" w="med" type="none"/>
            <a:tailEnd len="med" w="med" type="none"/>
          </a:ln>
        </p:spPr>
      </p:cxnSp>
      <p:cxnSp>
        <p:nvCxnSpPr>
          <p:cNvPr id="7363" name="Google Shape;7363;p118"/>
          <p:cNvCxnSpPr/>
          <p:nvPr/>
        </p:nvCxnSpPr>
        <p:spPr>
          <a:xfrm rot="10800000">
            <a:off x="4637087" y="6084932"/>
            <a:ext cx="2876307" cy="22485"/>
          </a:xfrm>
          <a:prstGeom prst="straightConnector1">
            <a:avLst/>
          </a:prstGeom>
          <a:noFill/>
          <a:ln cap="flat" cmpd="sng" w="19050">
            <a:solidFill>
              <a:srgbClr val="000000"/>
            </a:solidFill>
            <a:prstDash val="solid"/>
            <a:round/>
            <a:headEnd len="med" w="med" type="none"/>
            <a:tailEnd len="med" w="med" type="none"/>
          </a:ln>
        </p:spPr>
      </p:cxnSp>
      <p:cxnSp>
        <p:nvCxnSpPr>
          <p:cNvPr id="7364" name="Google Shape;7364;p118"/>
          <p:cNvCxnSpPr/>
          <p:nvPr/>
        </p:nvCxnSpPr>
        <p:spPr>
          <a:xfrm flipH="1">
            <a:off x="5711825" y="5461837"/>
            <a:ext cx="604176" cy="632622"/>
          </a:xfrm>
          <a:prstGeom prst="straightConnector1">
            <a:avLst/>
          </a:prstGeom>
          <a:noFill/>
          <a:ln cap="flat" cmpd="sng" w="19050">
            <a:solidFill>
              <a:srgbClr val="000000"/>
            </a:solidFill>
            <a:prstDash val="solid"/>
            <a:round/>
            <a:headEnd len="med" w="med" type="none"/>
            <a:tailEnd len="med" w="med" type="none"/>
          </a:ln>
        </p:spPr>
      </p:cxnSp>
      <p:grpSp>
        <p:nvGrpSpPr>
          <p:cNvPr id="7365" name="Google Shape;7365;p118"/>
          <p:cNvGrpSpPr/>
          <p:nvPr/>
        </p:nvGrpSpPr>
        <p:grpSpPr>
          <a:xfrm>
            <a:off x="4115809" y="5911519"/>
            <a:ext cx="923925" cy="426578"/>
            <a:chOff x="7493876" y="2774731"/>
            <a:chExt cx="1481958" cy="894622"/>
          </a:xfrm>
        </p:grpSpPr>
        <p:sp>
          <p:nvSpPr>
            <p:cNvPr id="7366" name="Google Shape;7366;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67" name="Google Shape;7367;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68" name="Google Shape;7368;p118"/>
            <p:cNvGrpSpPr/>
            <p:nvPr/>
          </p:nvGrpSpPr>
          <p:grpSpPr>
            <a:xfrm>
              <a:off x="7713663" y="2848339"/>
              <a:ext cx="1042107" cy="425543"/>
              <a:chOff x="7786941" y="2884917"/>
              <a:chExt cx="897649" cy="353919"/>
            </a:xfrm>
          </p:grpSpPr>
          <p:sp>
            <p:nvSpPr>
              <p:cNvPr id="7369" name="Google Shape;7369;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0" name="Google Shape;7370;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1" name="Google Shape;7371;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2" name="Google Shape;7372;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7373" name="Google Shape;7373;p118"/>
          <p:cNvCxnSpPr/>
          <p:nvPr/>
        </p:nvCxnSpPr>
        <p:spPr>
          <a:xfrm flipH="1" rot="10800000">
            <a:off x="4047728" y="4957809"/>
            <a:ext cx="195171" cy="155510"/>
          </a:xfrm>
          <a:prstGeom prst="straightConnector1">
            <a:avLst/>
          </a:prstGeom>
          <a:noFill/>
          <a:ln cap="flat" cmpd="sng" w="28575">
            <a:solidFill>
              <a:srgbClr val="969696"/>
            </a:solidFill>
            <a:prstDash val="solid"/>
            <a:round/>
            <a:headEnd len="med" w="med" type="none"/>
            <a:tailEnd len="med" w="med" type="none"/>
          </a:ln>
        </p:spPr>
      </p:cxnSp>
      <p:cxnSp>
        <p:nvCxnSpPr>
          <p:cNvPr id="7374" name="Google Shape;7374;p118"/>
          <p:cNvCxnSpPr/>
          <p:nvPr/>
        </p:nvCxnSpPr>
        <p:spPr>
          <a:xfrm flipH="1">
            <a:off x="2987674" y="5113320"/>
            <a:ext cx="1031875" cy="982728"/>
          </a:xfrm>
          <a:prstGeom prst="straightConnector1">
            <a:avLst/>
          </a:prstGeom>
          <a:noFill/>
          <a:ln cap="flat" cmpd="sng" w="19050">
            <a:solidFill>
              <a:srgbClr val="000000"/>
            </a:solidFill>
            <a:prstDash val="solid"/>
            <a:round/>
            <a:headEnd len="med" w="med" type="none"/>
            <a:tailEnd len="med" w="med" type="none"/>
          </a:ln>
        </p:spPr>
      </p:cxnSp>
      <p:sp>
        <p:nvSpPr>
          <p:cNvPr id="7375" name="Google Shape;7375;p118"/>
          <p:cNvSpPr txBox="1"/>
          <p:nvPr/>
        </p:nvSpPr>
        <p:spPr>
          <a:xfrm>
            <a:off x="8027988" y="2965497"/>
            <a:ext cx="735012"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B</a:t>
            </a:r>
            <a:endParaRPr/>
          </a:p>
        </p:txBody>
      </p:sp>
      <p:sp>
        <p:nvSpPr>
          <p:cNvPr id="7376" name="Google Shape;7376;p118"/>
          <p:cNvSpPr txBox="1"/>
          <p:nvPr/>
        </p:nvSpPr>
        <p:spPr>
          <a:xfrm>
            <a:off x="7480300" y="5026072"/>
            <a:ext cx="735013"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C</a:t>
            </a:r>
            <a:endParaRPr/>
          </a:p>
        </p:txBody>
      </p:sp>
      <p:sp>
        <p:nvSpPr>
          <p:cNvPr id="7377" name="Google Shape;7377;p118"/>
          <p:cNvSpPr txBox="1"/>
          <p:nvPr/>
        </p:nvSpPr>
        <p:spPr>
          <a:xfrm>
            <a:off x="2043113" y="4783184"/>
            <a:ext cx="735012" cy="231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D</a:t>
            </a:r>
            <a:endParaRPr/>
          </a:p>
        </p:txBody>
      </p:sp>
      <p:grpSp>
        <p:nvGrpSpPr>
          <p:cNvPr id="7378" name="Google Shape;7378;p118"/>
          <p:cNvGrpSpPr/>
          <p:nvPr/>
        </p:nvGrpSpPr>
        <p:grpSpPr>
          <a:xfrm>
            <a:off x="4409092" y="2741055"/>
            <a:ext cx="2272505" cy="510248"/>
            <a:chOff x="4418013" y="2732134"/>
            <a:chExt cx="2272505" cy="510248"/>
          </a:xfrm>
        </p:grpSpPr>
        <p:cxnSp>
          <p:nvCxnSpPr>
            <p:cNvPr id="7379" name="Google Shape;7379;p118"/>
            <p:cNvCxnSpPr/>
            <p:nvPr/>
          </p:nvCxnSpPr>
          <p:spPr>
            <a:xfrm flipH="1">
              <a:off x="4541838" y="3055984"/>
              <a:ext cx="295275" cy="104775"/>
            </a:xfrm>
            <a:prstGeom prst="straightConnector1">
              <a:avLst/>
            </a:prstGeom>
            <a:noFill/>
            <a:ln cap="flat" cmpd="sng" w="9525">
              <a:solidFill>
                <a:srgbClr val="000000"/>
              </a:solidFill>
              <a:prstDash val="solid"/>
              <a:round/>
              <a:headEnd len="med" w="med" type="none"/>
              <a:tailEnd len="med" w="med" type="triangle"/>
            </a:ln>
          </p:spPr>
        </p:cxnSp>
        <p:sp>
          <p:nvSpPr>
            <p:cNvPr id="7380" name="Google Shape;7380;p118"/>
            <p:cNvSpPr/>
            <p:nvPr/>
          </p:nvSpPr>
          <p:spPr>
            <a:xfrm>
              <a:off x="4418013" y="3151234"/>
              <a:ext cx="90487" cy="9114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C00000"/>
                </a:solidFill>
                <a:latin typeface="Tahoma"/>
                <a:ea typeface="Tahoma"/>
                <a:cs typeface="Tahoma"/>
                <a:sym typeface="Tahoma"/>
              </a:endParaRPr>
            </a:p>
          </p:txBody>
        </p:sp>
        <p:sp>
          <p:nvSpPr>
            <p:cNvPr id="7381" name="Google Shape;7381;p118"/>
            <p:cNvSpPr txBox="1"/>
            <p:nvPr/>
          </p:nvSpPr>
          <p:spPr>
            <a:xfrm>
              <a:off x="4809330" y="2732134"/>
              <a:ext cx="1881188" cy="473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baseline="-25000" i="0" lang="en-US" sz="2000" u="none" cap="none" strike="noStrike">
                  <a:solidFill>
                    <a:srgbClr val="C00000"/>
                  </a:solidFill>
                  <a:latin typeface="Arial"/>
                  <a:ea typeface="Arial"/>
                  <a:cs typeface="Arial"/>
                  <a:sym typeface="Arial"/>
                </a:rPr>
                <a:t>in</a:t>
              </a:r>
              <a:r>
                <a:rPr b="0" baseline="-2500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Arial"/>
                  <a:ea typeface="Arial"/>
                  <a:cs typeface="Arial"/>
                  <a:sym typeface="Arial"/>
                </a:rPr>
                <a:t>: </a:t>
              </a:r>
              <a:r>
                <a:rPr b="0" i="0" lang="en-US" sz="1600" u="none" cap="none" strike="noStrike">
                  <a:solidFill>
                    <a:srgbClr val="C00000"/>
                  </a:solidFill>
                  <a:latin typeface="Calibri"/>
                  <a:ea typeface="Calibri"/>
                  <a:cs typeface="Calibri"/>
                  <a:sym typeface="Calibri"/>
                </a:rPr>
                <a:t>original data</a:t>
              </a:r>
              <a:endParaRPr/>
            </a:p>
          </p:txBody>
        </p:sp>
      </p:grpSp>
      <p:cxnSp>
        <p:nvCxnSpPr>
          <p:cNvPr id="7382" name="Google Shape;7382;p118"/>
          <p:cNvCxnSpPr/>
          <p:nvPr/>
        </p:nvCxnSpPr>
        <p:spPr>
          <a:xfrm>
            <a:off x="6305550" y="3389359"/>
            <a:ext cx="339725" cy="0"/>
          </a:xfrm>
          <a:prstGeom prst="straightConnector1">
            <a:avLst/>
          </a:prstGeom>
          <a:noFill/>
          <a:ln cap="flat" cmpd="sng" w="38100">
            <a:solidFill>
              <a:srgbClr val="FFFFFF"/>
            </a:solidFill>
            <a:prstDash val="dot"/>
            <a:round/>
            <a:headEnd len="med" w="med" type="none"/>
            <a:tailEnd len="med" w="med" type="none"/>
          </a:ln>
        </p:spPr>
      </p:cxnSp>
      <p:grpSp>
        <p:nvGrpSpPr>
          <p:cNvPr id="7383" name="Google Shape;7383;p118"/>
          <p:cNvGrpSpPr/>
          <p:nvPr/>
        </p:nvGrpSpPr>
        <p:grpSpPr>
          <a:xfrm>
            <a:off x="4413552" y="3083161"/>
            <a:ext cx="2482850" cy="617537"/>
            <a:chOff x="4418013" y="3074240"/>
            <a:chExt cx="2482850" cy="617537"/>
          </a:xfrm>
        </p:grpSpPr>
        <p:sp>
          <p:nvSpPr>
            <p:cNvPr id="7384" name="Google Shape;7384;p118"/>
            <p:cNvSpPr/>
            <p:nvPr/>
          </p:nvSpPr>
          <p:spPr>
            <a:xfrm>
              <a:off x="4418013" y="3331549"/>
              <a:ext cx="90487" cy="9114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385" name="Google Shape;7385;p118"/>
            <p:cNvCxnSpPr/>
            <p:nvPr/>
          </p:nvCxnSpPr>
          <p:spPr>
            <a:xfrm flipH="1">
              <a:off x="4551363" y="3322684"/>
              <a:ext cx="304800" cy="38100"/>
            </a:xfrm>
            <a:prstGeom prst="straightConnector1">
              <a:avLst/>
            </a:prstGeom>
            <a:noFill/>
            <a:ln cap="flat" cmpd="sng" w="9525">
              <a:solidFill>
                <a:srgbClr val="000000"/>
              </a:solidFill>
              <a:prstDash val="solid"/>
              <a:round/>
              <a:headEnd len="med" w="med" type="none"/>
              <a:tailEnd len="med" w="med" type="triangle"/>
            </a:ln>
          </p:spPr>
        </p:cxnSp>
        <p:sp>
          <p:nvSpPr>
            <p:cNvPr id="7386" name="Google Shape;7386;p118"/>
            <p:cNvSpPr txBox="1"/>
            <p:nvPr/>
          </p:nvSpPr>
          <p:spPr>
            <a:xfrm>
              <a:off x="4551363" y="3074240"/>
              <a:ext cx="2349500" cy="617537"/>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C00000"/>
                </a:buClr>
                <a:buSzPts val="2000"/>
                <a:buFont typeface="Noto Sans Symbols"/>
                <a:buNone/>
              </a:pPr>
              <a:r>
                <a:rPr b="0" i="0" lang="en-US" sz="2000" u="none" cap="none" strike="noStrike">
                  <a:solidFill>
                    <a:srgbClr val="C00000"/>
                  </a:solidFill>
                  <a:latin typeface="Noto Sans Symbols"/>
                  <a:ea typeface="Noto Sans Symbols"/>
                  <a:cs typeface="Noto Sans Symbols"/>
                  <a:sym typeface="Noto Sans Symbols"/>
                </a:rPr>
                <a:t>λ</a:t>
              </a:r>
              <a:r>
                <a:rPr b="0" i="0" lang="en-US" sz="2000" u="none" cap="none" strike="noStrike">
                  <a:solidFill>
                    <a:srgbClr val="C00000"/>
                  </a:solidFill>
                  <a:latin typeface="Arial"/>
                  <a:ea typeface="Arial"/>
                  <a:cs typeface="Arial"/>
                  <a:sym typeface="Arial"/>
                </a:rPr>
                <a:t>'</a:t>
              </a:r>
              <a:r>
                <a:rPr b="0" baseline="-25000" i="0" lang="en-US" sz="2000" u="none" cap="none" strike="noStrike">
                  <a:solidFill>
                    <a:srgbClr val="C00000"/>
                  </a:solidFill>
                  <a:latin typeface="Arial"/>
                  <a:ea typeface="Arial"/>
                  <a:cs typeface="Arial"/>
                  <a:sym typeface="Arial"/>
                </a:rPr>
                <a:t>in</a:t>
              </a:r>
              <a:r>
                <a:rPr b="0" i="0" lang="en-US" sz="1800" u="none" cap="none" strike="noStrike">
                  <a:solidFill>
                    <a:srgbClr val="C00000"/>
                  </a:solidFill>
                  <a:latin typeface="Arial"/>
                  <a:ea typeface="Arial"/>
                  <a:cs typeface="Arial"/>
                  <a:sym typeface="Arial"/>
                </a:rPr>
                <a:t>:</a:t>
              </a:r>
              <a:r>
                <a:rPr b="0" i="0" lang="en-US" sz="1400" u="none" cap="none" strike="noStrike">
                  <a:solidFill>
                    <a:srgbClr val="C00000"/>
                  </a:solidFill>
                  <a:latin typeface="Arial"/>
                  <a:ea typeface="Arial"/>
                  <a:cs typeface="Arial"/>
                  <a:sym typeface="Arial"/>
                </a:rPr>
                <a:t> </a:t>
              </a:r>
              <a:r>
                <a:rPr b="0" i="0" lang="en-US" sz="1600" u="none" cap="none" strike="noStrike">
                  <a:solidFill>
                    <a:srgbClr val="C00000"/>
                  </a:solidFill>
                  <a:latin typeface="Calibri"/>
                  <a:ea typeface="Calibri"/>
                  <a:cs typeface="Calibri"/>
                  <a:sym typeface="Calibri"/>
                </a:rPr>
                <a:t>original data, </a:t>
              </a:r>
              <a:r>
                <a:rPr b="0" i="1" lang="en-US" sz="1600" u="none" cap="none" strike="noStrike">
                  <a:solidFill>
                    <a:srgbClr val="C00000"/>
                  </a:solidFill>
                  <a:latin typeface="Calibri"/>
                  <a:ea typeface="Calibri"/>
                  <a:cs typeface="Calibri"/>
                  <a:sym typeface="Calibri"/>
                </a:rPr>
                <a:t>plus</a:t>
              </a:r>
              <a:r>
                <a:rPr b="0" i="0" lang="en-US" sz="1600" u="none" cap="none" strike="noStrike">
                  <a:solidFill>
                    <a:srgbClr val="C00000"/>
                  </a:solidFill>
                  <a:latin typeface="Calibri"/>
                  <a:ea typeface="Calibri"/>
                  <a:cs typeface="Calibri"/>
                  <a:sym typeface="Calibri"/>
                </a:rPr>
                <a:t> retransmitted data</a:t>
              </a:r>
              <a:endParaRPr/>
            </a:p>
          </p:txBody>
        </p:sp>
      </p:grpSp>
      <p:grpSp>
        <p:nvGrpSpPr>
          <p:cNvPr id="7387" name="Google Shape;7387;p118"/>
          <p:cNvGrpSpPr/>
          <p:nvPr/>
        </p:nvGrpSpPr>
        <p:grpSpPr>
          <a:xfrm>
            <a:off x="8721725" y="4056109"/>
            <a:ext cx="231775" cy="441325"/>
            <a:chOff x="4140" y="429"/>
            <a:chExt cx="1425" cy="2396"/>
          </a:xfrm>
        </p:grpSpPr>
        <p:sp>
          <p:nvSpPr>
            <p:cNvPr id="7388" name="Google Shape;7388;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9" name="Google Shape;7389;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0" name="Google Shape;7390;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1" name="Google Shape;7391;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2" name="Google Shape;7392;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93" name="Google Shape;7393;p118"/>
            <p:cNvGrpSpPr/>
            <p:nvPr/>
          </p:nvGrpSpPr>
          <p:grpSpPr>
            <a:xfrm>
              <a:off x="4745" y="670"/>
              <a:ext cx="586" cy="146"/>
              <a:chOff x="609" y="2570"/>
              <a:chExt cx="731" cy="140"/>
            </a:xfrm>
          </p:grpSpPr>
          <p:sp>
            <p:nvSpPr>
              <p:cNvPr id="7394" name="Google Shape;7394;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5" name="Google Shape;7395;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396" name="Google Shape;7396;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97" name="Google Shape;7397;p118"/>
            <p:cNvGrpSpPr/>
            <p:nvPr/>
          </p:nvGrpSpPr>
          <p:grpSpPr>
            <a:xfrm>
              <a:off x="4745" y="998"/>
              <a:ext cx="586" cy="129"/>
              <a:chOff x="612" y="2572"/>
              <a:chExt cx="731" cy="134"/>
            </a:xfrm>
          </p:grpSpPr>
          <p:sp>
            <p:nvSpPr>
              <p:cNvPr id="7398" name="Google Shape;7398;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9" name="Google Shape;7399;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00" name="Google Shape;7400;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1" name="Google Shape;7401;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02" name="Google Shape;7402;p118"/>
            <p:cNvGrpSpPr/>
            <p:nvPr/>
          </p:nvGrpSpPr>
          <p:grpSpPr>
            <a:xfrm>
              <a:off x="4735" y="1627"/>
              <a:ext cx="586" cy="215"/>
              <a:chOff x="614" y="2568"/>
              <a:chExt cx="730" cy="198"/>
            </a:xfrm>
          </p:grpSpPr>
          <p:sp>
            <p:nvSpPr>
              <p:cNvPr id="7403" name="Google Shape;7403;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4" name="Google Shape;7404;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05" name="Google Shape;7405;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06" name="Google Shape;7406;p118"/>
            <p:cNvGrpSpPr/>
            <p:nvPr/>
          </p:nvGrpSpPr>
          <p:grpSpPr>
            <a:xfrm>
              <a:off x="4735" y="1325"/>
              <a:ext cx="586" cy="138"/>
              <a:chOff x="609" y="2566"/>
              <a:chExt cx="730" cy="138"/>
            </a:xfrm>
          </p:grpSpPr>
          <p:sp>
            <p:nvSpPr>
              <p:cNvPr id="7407" name="Google Shape;7407;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8" name="Google Shape;7408;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09" name="Google Shape;7409;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0" name="Google Shape;7410;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1" name="Google Shape;7411;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2" name="Google Shape;7412;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3" name="Google Shape;7413;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4" name="Google Shape;7414;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5" name="Google Shape;7415;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6" name="Google Shape;7416;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7" name="Google Shape;7417;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418" name="Google Shape;7418;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9" name="Google Shape;7419;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20" name="Google Shape;7420;p118"/>
          <p:cNvGrpSpPr/>
          <p:nvPr/>
        </p:nvGrpSpPr>
        <p:grpSpPr>
          <a:xfrm>
            <a:off x="8242300" y="5913484"/>
            <a:ext cx="231775" cy="441325"/>
            <a:chOff x="4140" y="429"/>
            <a:chExt cx="1425" cy="2396"/>
          </a:xfrm>
        </p:grpSpPr>
        <p:sp>
          <p:nvSpPr>
            <p:cNvPr id="7421" name="Google Shape;7421;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2" name="Google Shape;7422;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3" name="Google Shape;7423;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4" name="Google Shape;7424;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5" name="Google Shape;7425;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26" name="Google Shape;7426;p118"/>
            <p:cNvGrpSpPr/>
            <p:nvPr/>
          </p:nvGrpSpPr>
          <p:grpSpPr>
            <a:xfrm>
              <a:off x="4745" y="670"/>
              <a:ext cx="586" cy="146"/>
              <a:chOff x="609" y="2570"/>
              <a:chExt cx="731" cy="140"/>
            </a:xfrm>
          </p:grpSpPr>
          <p:sp>
            <p:nvSpPr>
              <p:cNvPr id="7427" name="Google Shape;7427;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28" name="Google Shape;7428;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29" name="Google Shape;7429;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30" name="Google Shape;7430;p118"/>
            <p:cNvGrpSpPr/>
            <p:nvPr/>
          </p:nvGrpSpPr>
          <p:grpSpPr>
            <a:xfrm>
              <a:off x="4745" y="998"/>
              <a:ext cx="586" cy="129"/>
              <a:chOff x="612" y="2572"/>
              <a:chExt cx="731" cy="134"/>
            </a:xfrm>
          </p:grpSpPr>
          <p:sp>
            <p:nvSpPr>
              <p:cNvPr id="7431" name="Google Shape;7431;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32" name="Google Shape;7432;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33" name="Google Shape;7433;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34" name="Google Shape;7434;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35" name="Google Shape;7435;p118"/>
            <p:cNvGrpSpPr/>
            <p:nvPr/>
          </p:nvGrpSpPr>
          <p:grpSpPr>
            <a:xfrm>
              <a:off x="4735" y="1627"/>
              <a:ext cx="586" cy="215"/>
              <a:chOff x="614" y="2568"/>
              <a:chExt cx="730" cy="198"/>
            </a:xfrm>
          </p:grpSpPr>
          <p:sp>
            <p:nvSpPr>
              <p:cNvPr id="7436" name="Google Shape;7436;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37" name="Google Shape;7437;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38" name="Google Shape;7438;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39" name="Google Shape;7439;p118"/>
            <p:cNvGrpSpPr/>
            <p:nvPr/>
          </p:nvGrpSpPr>
          <p:grpSpPr>
            <a:xfrm>
              <a:off x="4735" y="1325"/>
              <a:ext cx="586" cy="138"/>
              <a:chOff x="609" y="2566"/>
              <a:chExt cx="730" cy="138"/>
            </a:xfrm>
          </p:grpSpPr>
          <p:sp>
            <p:nvSpPr>
              <p:cNvPr id="7440" name="Google Shape;7440;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1" name="Google Shape;7441;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42" name="Google Shape;7442;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3" name="Google Shape;7443;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4" name="Google Shape;7444;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5" name="Google Shape;7445;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6" name="Google Shape;7446;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7" name="Google Shape;7447;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8" name="Google Shape;7448;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49" name="Google Shape;7449;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0" name="Google Shape;7450;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451" name="Google Shape;7451;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2" name="Google Shape;7452;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53" name="Google Shape;7453;p118"/>
          <p:cNvGrpSpPr/>
          <p:nvPr/>
        </p:nvGrpSpPr>
        <p:grpSpPr>
          <a:xfrm>
            <a:off x="1689100" y="5749972"/>
            <a:ext cx="231775" cy="441325"/>
            <a:chOff x="4140" y="429"/>
            <a:chExt cx="1425" cy="2396"/>
          </a:xfrm>
        </p:grpSpPr>
        <p:sp>
          <p:nvSpPr>
            <p:cNvPr id="7454" name="Google Shape;7454;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5" name="Google Shape;7455;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6" name="Google Shape;7456;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7" name="Google Shape;7457;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58" name="Google Shape;7458;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59" name="Google Shape;7459;p118"/>
            <p:cNvGrpSpPr/>
            <p:nvPr/>
          </p:nvGrpSpPr>
          <p:grpSpPr>
            <a:xfrm>
              <a:off x="4745" y="670"/>
              <a:ext cx="586" cy="146"/>
              <a:chOff x="609" y="2570"/>
              <a:chExt cx="731" cy="140"/>
            </a:xfrm>
          </p:grpSpPr>
          <p:sp>
            <p:nvSpPr>
              <p:cNvPr id="7460" name="Google Shape;7460;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61" name="Google Shape;7461;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62" name="Google Shape;7462;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63" name="Google Shape;7463;p118"/>
            <p:cNvGrpSpPr/>
            <p:nvPr/>
          </p:nvGrpSpPr>
          <p:grpSpPr>
            <a:xfrm>
              <a:off x="4745" y="998"/>
              <a:ext cx="586" cy="129"/>
              <a:chOff x="612" y="2572"/>
              <a:chExt cx="731" cy="134"/>
            </a:xfrm>
          </p:grpSpPr>
          <p:sp>
            <p:nvSpPr>
              <p:cNvPr id="7464" name="Google Shape;7464;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65" name="Google Shape;7465;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66" name="Google Shape;7466;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67" name="Google Shape;7467;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68" name="Google Shape;7468;p118"/>
            <p:cNvGrpSpPr/>
            <p:nvPr/>
          </p:nvGrpSpPr>
          <p:grpSpPr>
            <a:xfrm>
              <a:off x="4735" y="1627"/>
              <a:ext cx="586" cy="215"/>
              <a:chOff x="614" y="2568"/>
              <a:chExt cx="730" cy="198"/>
            </a:xfrm>
          </p:grpSpPr>
          <p:sp>
            <p:nvSpPr>
              <p:cNvPr id="7469" name="Google Shape;7469;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0" name="Google Shape;7470;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71" name="Google Shape;7471;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72" name="Google Shape;7472;p118"/>
            <p:cNvGrpSpPr/>
            <p:nvPr/>
          </p:nvGrpSpPr>
          <p:grpSpPr>
            <a:xfrm>
              <a:off x="4735" y="1325"/>
              <a:ext cx="586" cy="138"/>
              <a:chOff x="609" y="2566"/>
              <a:chExt cx="730" cy="138"/>
            </a:xfrm>
          </p:grpSpPr>
          <p:sp>
            <p:nvSpPr>
              <p:cNvPr id="7473" name="Google Shape;7473;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4" name="Google Shape;7474;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75" name="Google Shape;7475;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6" name="Google Shape;7476;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7" name="Google Shape;7477;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8" name="Google Shape;7478;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9" name="Google Shape;7479;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0" name="Google Shape;7480;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1" name="Google Shape;7481;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2" name="Google Shape;7482;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3" name="Google Shape;7483;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484" name="Google Shape;7484;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5" name="Google Shape;7485;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86" name="Google Shape;7486;p118"/>
          <p:cNvGrpSpPr/>
          <p:nvPr/>
        </p:nvGrpSpPr>
        <p:grpSpPr>
          <a:xfrm>
            <a:off x="7928343" y="3253082"/>
            <a:ext cx="616281" cy="869387"/>
            <a:chOff x="10910965" y="2513124"/>
            <a:chExt cx="586768" cy="904023"/>
          </a:xfrm>
        </p:grpSpPr>
        <p:sp>
          <p:nvSpPr>
            <p:cNvPr id="7487" name="Google Shape;7487;p118"/>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488" name="Google Shape;7488;p118"/>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489" name="Google Shape;7489;p118"/>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490" name="Google Shape;7490;p118"/>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491" name="Google Shape;7491;p118"/>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cxnSp>
        <p:nvCxnSpPr>
          <p:cNvPr id="7492" name="Google Shape;7492;p118"/>
          <p:cNvCxnSpPr/>
          <p:nvPr/>
        </p:nvCxnSpPr>
        <p:spPr>
          <a:xfrm>
            <a:off x="3769031" y="4119717"/>
            <a:ext cx="1307691" cy="0"/>
          </a:xfrm>
          <a:prstGeom prst="straightConnector1">
            <a:avLst/>
          </a:prstGeom>
          <a:noFill/>
          <a:ln cap="flat" cmpd="sng" w="19050">
            <a:solidFill>
              <a:schemeClr val="dk1"/>
            </a:solidFill>
            <a:prstDash val="solid"/>
            <a:miter lim="800000"/>
            <a:headEnd len="sm" w="sm" type="none"/>
            <a:tailEnd len="sm" w="sm" type="none"/>
          </a:ln>
        </p:spPr>
      </p:cxnSp>
      <p:grpSp>
        <p:nvGrpSpPr>
          <p:cNvPr id="7493" name="Google Shape;7493;p118"/>
          <p:cNvGrpSpPr/>
          <p:nvPr/>
        </p:nvGrpSpPr>
        <p:grpSpPr>
          <a:xfrm>
            <a:off x="3703638" y="3744959"/>
            <a:ext cx="231775" cy="441325"/>
            <a:chOff x="4140" y="429"/>
            <a:chExt cx="1425" cy="2396"/>
          </a:xfrm>
        </p:grpSpPr>
        <p:sp>
          <p:nvSpPr>
            <p:cNvPr id="7494" name="Google Shape;7494;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5" name="Google Shape;7495;p118"/>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6" name="Google Shape;7496;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7" name="Google Shape;7497;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8" name="Google Shape;7498;p118"/>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99" name="Google Shape;7499;p118"/>
            <p:cNvGrpSpPr/>
            <p:nvPr/>
          </p:nvGrpSpPr>
          <p:grpSpPr>
            <a:xfrm>
              <a:off x="4745" y="670"/>
              <a:ext cx="586" cy="146"/>
              <a:chOff x="609" y="2570"/>
              <a:chExt cx="731" cy="140"/>
            </a:xfrm>
          </p:grpSpPr>
          <p:sp>
            <p:nvSpPr>
              <p:cNvPr id="7500" name="Google Shape;7500;p118"/>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1" name="Google Shape;7501;p118"/>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02" name="Google Shape;7502;p118"/>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03" name="Google Shape;7503;p118"/>
            <p:cNvGrpSpPr/>
            <p:nvPr/>
          </p:nvGrpSpPr>
          <p:grpSpPr>
            <a:xfrm>
              <a:off x="4745" y="998"/>
              <a:ext cx="586" cy="129"/>
              <a:chOff x="612" y="2572"/>
              <a:chExt cx="731" cy="134"/>
            </a:xfrm>
          </p:grpSpPr>
          <p:sp>
            <p:nvSpPr>
              <p:cNvPr id="7504" name="Google Shape;7504;p118"/>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5" name="Google Shape;7505;p118"/>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06" name="Google Shape;7506;p118"/>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7" name="Google Shape;7507;p118"/>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08" name="Google Shape;7508;p118"/>
            <p:cNvGrpSpPr/>
            <p:nvPr/>
          </p:nvGrpSpPr>
          <p:grpSpPr>
            <a:xfrm>
              <a:off x="4735" y="1627"/>
              <a:ext cx="586" cy="215"/>
              <a:chOff x="614" y="2568"/>
              <a:chExt cx="730" cy="198"/>
            </a:xfrm>
          </p:grpSpPr>
          <p:sp>
            <p:nvSpPr>
              <p:cNvPr id="7509" name="Google Shape;7509;p118"/>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0" name="Google Shape;7510;p118"/>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11" name="Google Shape;7511;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12" name="Google Shape;7512;p118"/>
            <p:cNvGrpSpPr/>
            <p:nvPr/>
          </p:nvGrpSpPr>
          <p:grpSpPr>
            <a:xfrm>
              <a:off x="4735" y="1325"/>
              <a:ext cx="586" cy="138"/>
              <a:chOff x="609" y="2566"/>
              <a:chExt cx="730" cy="138"/>
            </a:xfrm>
          </p:grpSpPr>
          <p:sp>
            <p:nvSpPr>
              <p:cNvPr id="7513" name="Google Shape;7513;p118"/>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4" name="Google Shape;7514;p118"/>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15" name="Google Shape;7515;p118"/>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6" name="Google Shape;7516;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7" name="Google Shape;7517;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8" name="Google Shape;7518;p118"/>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9" name="Google Shape;7519;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0" name="Google Shape;7520;p118"/>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1" name="Google Shape;7521;p118"/>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2" name="Google Shape;7522;p118"/>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3" name="Google Shape;7523;p118"/>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524" name="Google Shape;7524;p118"/>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5" name="Google Shape;7525;p118"/>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26" name="Google Shape;7526;p118"/>
          <p:cNvGrpSpPr/>
          <p:nvPr/>
        </p:nvGrpSpPr>
        <p:grpSpPr>
          <a:xfrm>
            <a:off x="4258034" y="5968846"/>
            <a:ext cx="476864" cy="255639"/>
            <a:chOff x="6859123" y="5156933"/>
            <a:chExt cx="456701" cy="226548"/>
          </a:xfrm>
        </p:grpSpPr>
        <p:sp>
          <p:nvSpPr>
            <p:cNvPr id="7527" name="Google Shape;7527;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28" name="Google Shape;7528;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29" name="Google Shape;7529;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0" name="Google Shape;7530;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1" name="Google Shape;7531;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2" name="Google Shape;7532;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3" name="Google Shape;7533;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4" name="Google Shape;7534;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nvGrpSpPr>
          <p:cNvPr id="7535" name="Google Shape;7535;p118"/>
          <p:cNvGrpSpPr/>
          <p:nvPr/>
        </p:nvGrpSpPr>
        <p:grpSpPr>
          <a:xfrm rot="-2622180">
            <a:off x="3960984" y="4842636"/>
            <a:ext cx="476864" cy="255639"/>
            <a:chOff x="6859123" y="5156933"/>
            <a:chExt cx="456701" cy="226548"/>
          </a:xfrm>
        </p:grpSpPr>
        <p:sp>
          <p:nvSpPr>
            <p:cNvPr id="7536" name="Google Shape;7536;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37" name="Google Shape;7537;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8" name="Google Shape;7538;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39" name="Google Shape;7539;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0" name="Google Shape;7540;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1" name="Google Shape;7541;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2" name="Google Shape;7542;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3" name="Google Shape;7543;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nvGrpSpPr>
          <p:cNvPr id="7544" name="Google Shape;7544;p118"/>
          <p:cNvGrpSpPr/>
          <p:nvPr/>
        </p:nvGrpSpPr>
        <p:grpSpPr>
          <a:xfrm>
            <a:off x="6120416" y="4464220"/>
            <a:ext cx="476864" cy="255639"/>
            <a:chOff x="6859123" y="5156933"/>
            <a:chExt cx="456701" cy="226548"/>
          </a:xfrm>
        </p:grpSpPr>
        <p:sp>
          <p:nvSpPr>
            <p:cNvPr id="7545" name="Google Shape;7545;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46" name="Google Shape;7546;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7" name="Google Shape;7547;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8" name="Google Shape;7548;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49" name="Google Shape;7549;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0" name="Google Shape;7550;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1" name="Google Shape;7551;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2" name="Google Shape;7552;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grpSp>
        <p:nvGrpSpPr>
          <p:cNvPr id="7553" name="Google Shape;7553;p118"/>
          <p:cNvGrpSpPr/>
          <p:nvPr/>
        </p:nvGrpSpPr>
        <p:grpSpPr>
          <a:xfrm rot="-2742359">
            <a:off x="6110083" y="5317919"/>
            <a:ext cx="476864" cy="255639"/>
            <a:chOff x="6859123" y="5156933"/>
            <a:chExt cx="456701" cy="226548"/>
          </a:xfrm>
        </p:grpSpPr>
        <p:sp>
          <p:nvSpPr>
            <p:cNvPr id="7554" name="Google Shape;7554;p118"/>
            <p:cNvSpPr/>
            <p:nvPr/>
          </p:nvSpPr>
          <p:spPr>
            <a:xfrm>
              <a:off x="6859123" y="5156933"/>
              <a:ext cx="456701" cy="226548"/>
            </a:xfrm>
            <a:prstGeom prst="rect">
              <a:avLst/>
            </a:prstGeom>
            <a:solidFill>
              <a:srgbClr val="F989B2"/>
            </a:solid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55" name="Google Shape;7555;p118"/>
            <p:cNvCxnSpPr/>
            <p:nvPr/>
          </p:nvCxnSpPr>
          <p:spPr>
            <a:xfrm rot="10800000">
              <a:off x="724911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6" name="Google Shape;7556;p118"/>
            <p:cNvCxnSpPr/>
            <p:nvPr/>
          </p:nvCxnSpPr>
          <p:spPr>
            <a:xfrm rot="10800000">
              <a:off x="7197800"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7" name="Google Shape;7557;p118"/>
            <p:cNvCxnSpPr/>
            <p:nvPr/>
          </p:nvCxnSpPr>
          <p:spPr>
            <a:xfrm rot="10800000">
              <a:off x="7146485"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8" name="Google Shape;7558;p118"/>
            <p:cNvCxnSpPr/>
            <p:nvPr/>
          </p:nvCxnSpPr>
          <p:spPr>
            <a:xfrm rot="10800000">
              <a:off x="709517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59" name="Google Shape;7559;p118"/>
            <p:cNvCxnSpPr/>
            <p:nvPr/>
          </p:nvCxnSpPr>
          <p:spPr>
            <a:xfrm rot="10800000">
              <a:off x="7043856"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60" name="Google Shape;7560;p118"/>
            <p:cNvCxnSpPr/>
            <p:nvPr/>
          </p:nvCxnSpPr>
          <p:spPr>
            <a:xfrm rot="10800000">
              <a:off x="6992541" y="5189971"/>
              <a:ext cx="0" cy="155752"/>
            </a:xfrm>
            <a:prstGeom prst="straightConnector1">
              <a:avLst/>
            </a:prstGeom>
            <a:noFill/>
            <a:ln cap="flat" cmpd="sng" w="22225">
              <a:solidFill>
                <a:srgbClr val="FF0000"/>
              </a:solidFill>
              <a:prstDash val="solid"/>
              <a:miter lim="800000"/>
              <a:headEnd len="sm" w="sm" type="none"/>
              <a:tailEnd len="sm" w="sm" type="none"/>
            </a:ln>
          </p:spPr>
        </p:cxnSp>
        <p:cxnSp>
          <p:nvCxnSpPr>
            <p:cNvPr id="7561" name="Google Shape;7561;p118"/>
            <p:cNvCxnSpPr/>
            <p:nvPr/>
          </p:nvCxnSpPr>
          <p:spPr>
            <a:xfrm rot="10800000">
              <a:off x="6941227" y="5189971"/>
              <a:ext cx="0" cy="155752"/>
            </a:xfrm>
            <a:prstGeom prst="straightConnector1">
              <a:avLst/>
            </a:prstGeom>
            <a:noFill/>
            <a:ln cap="flat" cmpd="sng" w="22225">
              <a:solidFill>
                <a:srgbClr val="FF0000"/>
              </a:solidFill>
              <a:prstDash val="solid"/>
              <a:miter lim="800000"/>
              <a:headEnd len="sm" w="sm" type="none"/>
              <a:tailEnd len="sm" w="sm" type="none"/>
            </a:ln>
          </p:spPr>
        </p:cxnSp>
      </p:grpSp>
      <p:sp>
        <p:nvSpPr>
          <p:cNvPr id="7562" name="Google Shape;7562;p118"/>
          <p:cNvSpPr/>
          <p:nvPr/>
        </p:nvSpPr>
        <p:spPr>
          <a:xfrm>
            <a:off x="4455129" y="3198255"/>
            <a:ext cx="3305175" cy="2857500"/>
          </a:xfrm>
          <a:custGeom>
            <a:rect b="b" l="l" r="r" t="t"/>
            <a:pathLst>
              <a:path extrusionOk="0" h="10000" w="10000">
                <a:moveTo>
                  <a:pt x="0" y="0"/>
                </a:moveTo>
                <a:cubicBezTo>
                  <a:pt x="4" y="986"/>
                  <a:pt x="7" y="1972"/>
                  <a:pt x="11" y="2958"/>
                </a:cubicBezTo>
                <a:lnTo>
                  <a:pt x="2299" y="2963"/>
                </a:lnTo>
                <a:lnTo>
                  <a:pt x="951" y="4533"/>
                </a:lnTo>
                <a:lnTo>
                  <a:pt x="8674" y="4700"/>
                </a:lnTo>
                <a:lnTo>
                  <a:pt x="4265" y="10000"/>
                </a:lnTo>
                <a:lnTo>
                  <a:pt x="10000" y="10000"/>
                </a:lnTo>
                <a:lnTo>
                  <a:pt x="10000" y="7567"/>
                </a:lnTo>
              </a:path>
            </a:pathLst>
          </a:cu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63" name="Google Shape;7563;p118"/>
          <p:cNvGrpSpPr/>
          <p:nvPr/>
        </p:nvGrpSpPr>
        <p:grpSpPr>
          <a:xfrm>
            <a:off x="2825750" y="3227434"/>
            <a:ext cx="5111145" cy="2933700"/>
            <a:chOff x="2825750" y="3227434"/>
            <a:chExt cx="5111145" cy="2933700"/>
          </a:xfrm>
        </p:grpSpPr>
        <p:grpSp>
          <p:nvGrpSpPr>
            <p:cNvPr id="7564" name="Google Shape;7564;p118"/>
            <p:cNvGrpSpPr/>
            <p:nvPr/>
          </p:nvGrpSpPr>
          <p:grpSpPr>
            <a:xfrm>
              <a:off x="7844820" y="5350527"/>
              <a:ext cx="92075" cy="271462"/>
              <a:chOff x="10104" y="10005"/>
              <a:chExt cx="137" cy="411"/>
            </a:xfrm>
          </p:grpSpPr>
          <p:sp>
            <p:nvSpPr>
              <p:cNvPr id="7565" name="Google Shape;7565;p118"/>
              <p:cNvSpPr/>
              <p:nvPr/>
            </p:nvSpPr>
            <p:spPr>
              <a:xfrm>
                <a:off x="10104" y="10005"/>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566" name="Google Shape;7566;p118"/>
              <p:cNvSpPr/>
              <p:nvPr/>
            </p:nvSpPr>
            <p:spPr>
              <a:xfrm>
                <a:off x="10104" y="10278"/>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7567" name="Google Shape;7567;p118"/>
            <p:cNvSpPr/>
            <p:nvPr/>
          </p:nvSpPr>
          <p:spPr>
            <a:xfrm>
              <a:off x="2825750" y="3227434"/>
              <a:ext cx="5067300" cy="2933700"/>
            </a:xfrm>
            <a:custGeom>
              <a:rect b="b" l="l" r="r" t="t"/>
              <a:pathLst>
                <a:path extrusionOk="0" h="10000" w="10000">
                  <a:moveTo>
                    <a:pt x="9981" y="7403"/>
                  </a:moveTo>
                  <a:cubicBezTo>
                    <a:pt x="9987" y="8269"/>
                    <a:pt x="9994" y="9134"/>
                    <a:pt x="10000" y="10000"/>
                  </a:cubicBezTo>
                  <a:lnTo>
                    <a:pt x="0" y="9968"/>
                  </a:lnTo>
                  <a:lnTo>
                    <a:pt x="4154" y="3214"/>
                  </a:lnTo>
                  <a:lnTo>
                    <a:pt x="2965" y="3221"/>
                  </a:lnTo>
                  <a:cubicBezTo>
                    <a:pt x="2965" y="2171"/>
                    <a:pt x="2951" y="1050"/>
                    <a:pt x="2951" y="0"/>
                  </a:cubicBezTo>
                </a:path>
              </a:pathLst>
            </a:custGeom>
            <a:noFill/>
            <a:ln cap="flat" cmpd="sng" w="38100">
              <a:solidFill>
                <a:srgbClr val="FF00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68" name="Google Shape;7568;p118"/>
          <p:cNvGrpSpPr/>
          <p:nvPr/>
        </p:nvGrpSpPr>
        <p:grpSpPr>
          <a:xfrm>
            <a:off x="2352785" y="3322684"/>
            <a:ext cx="5785267" cy="2890693"/>
            <a:chOff x="2437534" y="3327145"/>
            <a:chExt cx="5785267" cy="2890693"/>
          </a:xfrm>
        </p:grpSpPr>
        <p:grpSp>
          <p:nvGrpSpPr>
            <p:cNvPr id="7569" name="Google Shape;7569;p118"/>
            <p:cNvGrpSpPr/>
            <p:nvPr/>
          </p:nvGrpSpPr>
          <p:grpSpPr>
            <a:xfrm>
              <a:off x="2437534" y="5122909"/>
              <a:ext cx="92465" cy="271463"/>
              <a:chOff x="10192" y="10005"/>
              <a:chExt cx="140" cy="411"/>
            </a:xfrm>
          </p:grpSpPr>
          <p:sp>
            <p:nvSpPr>
              <p:cNvPr id="7570" name="Google Shape;7570;p118"/>
              <p:cNvSpPr/>
              <p:nvPr/>
            </p:nvSpPr>
            <p:spPr>
              <a:xfrm>
                <a:off x="10195" y="10005"/>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571" name="Google Shape;7571;p118"/>
              <p:cNvSpPr/>
              <p:nvPr/>
            </p:nvSpPr>
            <p:spPr>
              <a:xfrm>
                <a:off x="10192" y="10278"/>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7572" name="Google Shape;7572;p118"/>
            <p:cNvSpPr/>
            <p:nvPr/>
          </p:nvSpPr>
          <p:spPr>
            <a:xfrm>
              <a:off x="2479226" y="3327145"/>
              <a:ext cx="5743575" cy="2890693"/>
            </a:xfrm>
            <a:custGeom>
              <a:rect b="b" l="l" r="r" t="t"/>
              <a:pathLst>
                <a:path extrusionOk="0" h="10016" w="10000">
                  <a:moveTo>
                    <a:pt x="0" y="6337"/>
                  </a:moveTo>
                  <a:lnTo>
                    <a:pt x="0" y="10016"/>
                  </a:lnTo>
                  <a:lnTo>
                    <a:pt x="978" y="10000"/>
                  </a:lnTo>
                  <a:lnTo>
                    <a:pt x="3881" y="4422"/>
                  </a:lnTo>
                  <a:lnTo>
                    <a:pt x="7894" y="4521"/>
                  </a:lnTo>
                  <a:lnTo>
                    <a:pt x="9005" y="2244"/>
                  </a:lnTo>
                  <a:lnTo>
                    <a:pt x="10000" y="2244"/>
                  </a:lnTo>
                  <a:lnTo>
                    <a:pt x="9967" y="0"/>
                  </a:lnTo>
                </a:path>
              </a:pathLst>
            </a:custGeom>
            <a:noFill/>
            <a:ln cap="flat" cmpd="sng" w="38100">
              <a:solidFill>
                <a:srgbClr val="0000FF"/>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73" name="Google Shape;7573;p118"/>
          <p:cNvGrpSpPr/>
          <p:nvPr/>
        </p:nvGrpSpPr>
        <p:grpSpPr>
          <a:xfrm>
            <a:off x="2549524" y="3308080"/>
            <a:ext cx="5828945" cy="2729229"/>
            <a:chOff x="2549524" y="3308080"/>
            <a:chExt cx="5828945" cy="2729229"/>
          </a:xfrm>
        </p:grpSpPr>
        <p:sp>
          <p:nvSpPr>
            <p:cNvPr id="7574" name="Google Shape;7574;p118"/>
            <p:cNvSpPr/>
            <p:nvPr/>
          </p:nvSpPr>
          <p:spPr>
            <a:xfrm>
              <a:off x="2549524" y="3370309"/>
              <a:ext cx="5787725" cy="2667000"/>
            </a:xfrm>
            <a:custGeom>
              <a:rect b="b" l="l" r="r" t="t"/>
              <a:pathLst>
                <a:path extrusionOk="0" h="10000" w="9994">
                  <a:moveTo>
                    <a:pt x="0" y="6715"/>
                  </a:moveTo>
                  <a:lnTo>
                    <a:pt x="0" y="10000"/>
                  </a:lnTo>
                  <a:lnTo>
                    <a:pt x="5362" y="10000"/>
                  </a:lnTo>
                  <a:lnTo>
                    <a:pt x="8832" y="2502"/>
                  </a:lnTo>
                  <a:lnTo>
                    <a:pt x="9994" y="2505"/>
                  </a:lnTo>
                  <a:cubicBezTo>
                    <a:pt x="9989" y="1648"/>
                    <a:pt x="9989" y="857"/>
                    <a:pt x="9984" y="0"/>
                  </a:cubicBezTo>
                </a:path>
              </a:pathLst>
            </a:custGeom>
            <a:noFill/>
            <a:ln cap="flat" cmpd="sng" w="38100">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75" name="Google Shape;7575;p118"/>
            <p:cNvSpPr/>
            <p:nvPr/>
          </p:nvSpPr>
          <p:spPr>
            <a:xfrm>
              <a:off x="8286088" y="3308080"/>
              <a:ext cx="88262" cy="88262"/>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6" name="Google Shape;7576;p118"/>
            <p:cNvSpPr/>
            <p:nvPr/>
          </p:nvSpPr>
          <p:spPr>
            <a:xfrm>
              <a:off x="8290207" y="3467541"/>
              <a:ext cx="88262" cy="88262"/>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7577" name="Google Shape;7577;p118"/>
          <p:cNvSpPr/>
          <p:nvPr/>
        </p:nvSpPr>
        <p:spPr>
          <a:xfrm>
            <a:off x="5476775" y="4215866"/>
            <a:ext cx="1530417" cy="789271"/>
          </a:xfrm>
          <a:prstGeom prst="ellipse">
            <a:avLst/>
          </a:pr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8" name="Google Shape;7578;p118"/>
          <p:cNvSpPr/>
          <p:nvPr/>
        </p:nvSpPr>
        <p:spPr>
          <a:xfrm>
            <a:off x="5725428" y="4965032"/>
            <a:ext cx="1530417" cy="789271"/>
          </a:xfrm>
          <a:prstGeom prst="ellipse">
            <a:avLst/>
          </a:pr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9" name="Google Shape;7579;p1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2"/>
                                        </p:tgtEl>
                                        <p:attrNameLst>
                                          <p:attrName>style.visibility</p:attrName>
                                        </p:attrNameLst>
                                      </p:cBhvr>
                                      <p:to>
                                        <p:strVal val="visible"/>
                                      </p:to>
                                    </p:set>
                                    <p:animEffect filter="fade" transition="in">
                                      <p:cBhvr>
                                        <p:cTn dur="500"/>
                                        <p:tgtEl>
                                          <p:spTgt spid="7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8"/>
                                        </p:tgtEl>
                                        <p:attrNameLst>
                                          <p:attrName>style.visibility</p:attrName>
                                        </p:attrNameLst>
                                      </p:cBhvr>
                                      <p:to>
                                        <p:strVal val="visible"/>
                                      </p:to>
                                    </p:set>
                                    <p:animEffect filter="fade" transition="in">
                                      <p:cBhvr>
                                        <p:cTn dur="500"/>
                                        <p:tgtEl>
                                          <p:spTgt spid="73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383"/>
                                        </p:tgtEl>
                                        <p:attrNameLst>
                                          <p:attrName>style.visibility</p:attrName>
                                        </p:attrNameLst>
                                      </p:cBhvr>
                                      <p:to>
                                        <p:strVal val="visible"/>
                                      </p:to>
                                    </p:set>
                                    <p:animEffect filter="fade" transition="in">
                                      <p:cBhvr>
                                        <p:cTn dur="500"/>
                                        <p:tgtEl>
                                          <p:spTgt spid="73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358"/>
                                        </p:tgtEl>
                                        <p:attrNameLst>
                                          <p:attrName>style.visibility</p:attrName>
                                        </p:attrNameLst>
                                      </p:cBhvr>
                                      <p:to>
                                        <p:strVal val="visible"/>
                                      </p:to>
                                    </p:set>
                                    <p:animEffect filter="fade" transition="in">
                                      <p:cBhvr>
                                        <p:cTn dur="500"/>
                                        <p:tgtEl>
                                          <p:spTgt spid="7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8"/>
                                        </p:tgtEl>
                                        <p:attrNameLst>
                                          <p:attrName>style.visibility</p:attrName>
                                        </p:attrNameLst>
                                      </p:cBhvr>
                                      <p:to>
                                        <p:strVal val="visible"/>
                                      </p:to>
                                    </p:set>
                                    <p:animEffect filter="fade" transition="in">
                                      <p:cBhvr>
                                        <p:cTn dur="500"/>
                                        <p:tgtEl>
                                          <p:spTgt spid="7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3"/>
                                        </p:tgtEl>
                                        <p:attrNameLst>
                                          <p:attrName>style.visibility</p:attrName>
                                        </p:attrNameLst>
                                      </p:cBhvr>
                                      <p:to>
                                        <p:strVal val="visible"/>
                                      </p:to>
                                    </p:set>
                                    <p:animEffect filter="fade" transition="in">
                                      <p:cBhvr>
                                        <p:cTn dur="500"/>
                                        <p:tgtEl>
                                          <p:spTgt spid="7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3"/>
                                        </p:tgtEl>
                                        <p:attrNameLst>
                                          <p:attrName>style.visibility</p:attrName>
                                        </p:attrNameLst>
                                      </p:cBhvr>
                                      <p:to>
                                        <p:strVal val="visible"/>
                                      </p:to>
                                    </p:set>
                                    <p:animEffect filter="fade" transition="in">
                                      <p:cBhvr>
                                        <p:cTn dur="500"/>
                                        <p:tgtEl>
                                          <p:spTgt spid="7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7"/>
                                        </p:tgtEl>
                                        <p:attrNameLst>
                                          <p:attrName>style.visibility</p:attrName>
                                        </p:attrNameLst>
                                      </p:cBhvr>
                                      <p:to>
                                        <p:strVal val="visible"/>
                                      </p:to>
                                    </p:set>
                                    <p:animEffect filter="fade" transition="in">
                                      <p:cBhvr>
                                        <p:cTn dur="500"/>
                                        <p:tgtEl>
                                          <p:spTgt spid="7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8"/>
                                        </p:tgtEl>
                                        <p:attrNameLst>
                                          <p:attrName>style.visibility</p:attrName>
                                        </p:attrNameLst>
                                      </p:cBhvr>
                                      <p:to>
                                        <p:strVal val="visible"/>
                                      </p:to>
                                    </p:set>
                                    <p:animEffect filter="fade" transition="in">
                                      <p:cBhvr>
                                        <p:cTn dur="500"/>
                                        <p:tgtEl>
                                          <p:spTgt spid="7578"/>
                                        </p:tgtEl>
                                      </p:cBhvr>
                                    </p:animEffect>
                                  </p:childTnLst>
                                </p:cTn>
                              </p:par>
                              <p:par>
                                <p:cTn fill="hold" nodeType="withEffect" presetClass="exit" presetID="10" presetSubtype="0">
                                  <p:stCondLst>
                                    <p:cond delay="0"/>
                                  </p:stCondLst>
                                  <p:childTnLst>
                                    <p:animEffect filter="fade" transition="out">
                                      <p:cBhvr>
                                        <p:cTn dur="500"/>
                                        <p:tgtEl>
                                          <p:spTgt spid="7577"/>
                                        </p:tgtEl>
                                      </p:cBhvr>
                                    </p:animEffect>
                                    <p:set>
                                      <p:cBhvr>
                                        <p:cTn dur="1" fill="hold">
                                          <p:stCondLst>
                                            <p:cond delay="500"/>
                                          </p:stCondLst>
                                        </p:cTn>
                                        <p:tgtEl>
                                          <p:spTgt spid="75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578"/>
                                        </p:tgtEl>
                                      </p:cBhvr>
                                    </p:animEffect>
                                    <p:set>
                                      <p:cBhvr>
                                        <p:cTn dur="1" fill="hold">
                                          <p:stCondLst>
                                            <p:cond delay="500"/>
                                          </p:stCondLst>
                                        </p:cTn>
                                        <p:tgtEl>
                                          <p:spTgt spid="75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4"/>
                                        </p:tgtEl>
                                        <p:attrNameLst>
                                          <p:attrName>style.visibility</p:attrName>
                                        </p:attrNameLst>
                                      </p:cBhvr>
                                      <p:to>
                                        <p:strVal val="visible"/>
                                      </p:to>
                                    </p:set>
                                    <p:animEffect filter="fade" transition="in">
                                      <p:cBhvr>
                                        <p:cTn dur="500"/>
                                        <p:tgtEl>
                                          <p:spTgt spid="7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5"/>
                                        </p:tgtEl>
                                        <p:attrNameLst>
                                          <p:attrName>style.visibility</p:attrName>
                                        </p:attrNameLst>
                                      </p:cBhvr>
                                      <p:to>
                                        <p:strVal val="visible"/>
                                      </p:to>
                                    </p:set>
                                    <p:animEffect filter="fade" transition="in">
                                      <p:cBhvr>
                                        <p:cTn dur="500"/>
                                        <p:tgtEl>
                                          <p:spTgt spid="7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4" name="Shape 7584"/>
        <p:cNvGrpSpPr/>
        <p:nvPr/>
      </p:nvGrpSpPr>
      <p:grpSpPr>
        <a:xfrm>
          <a:off x="0" y="0"/>
          <a:ext cx="0" cy="0"/>
          <a:chOff x="0" y="0"/>
          <a:chExt cx="0" cy="0"/>
        </a:xfrm>
      </p:grpSpPr>
      <p:grpSp>
        <p:nvGrpSpPr>
          <p:cNvPr id="7585" name="Google Shape;7585;p119"/>
          <p:cNvGrpSpPr/>
          <p:nvPr/>
        </p:nvGrpSpPr>
        <p:grpSpPr>
          <a:xfrm>
            <a:off x="9193161" y="2984089"/>
            <a:ext cx="357600" cy="634183"/>
            <a:chOff x="10910965" y="2513124"/>
            <a:chExt cx="586768" cy="904023"/>
          </a:xfrm>
        </p:grpSpPr>
        <p:sp>
          <p:nvSpPr>
            <p:cNvPr id="7586" name="Google Shape;7586;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87" name="Google Shape;7587;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88" name="Google Shape;7588;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89" name="Google Shape;7589;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0" name="Google Shape;7590;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591" name="Google Shape;7591;p119"/>
          <p:cNvGrpSpPr/>
          <p:nvPr/>
        </p:nvGrpSpPr>
        <p:grpSpPr>
          <a:xfrm>
            <a:off x="6047012" y="2820091"/>
            <a:ext cx="357600" cy="634183"/>
            <a:chOff x="10910965" y="2513124"/>
            <a:chExt cx="586768" cy="904023"/>
          </a:xfrm>
        </p:grpSpPr>
        <p:sp>
          <p:nvSpPr>
            <p:cNvPr id="7592" name="Google Shape;7592;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93" name="Google Shape;7593;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4" name="Google Shape;7594;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5" name="Google Shape;7595;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596" name="Google Shape;7596;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597" name="Google Shape;7597;p119"/>
          <p:cNvGrpSpPr/>
          <p:nvPr/>
        </p:nvGrpSpPr>
        <p:grpSpPr>
          <a:xfrm>
            <a:off x="7166228" y="1579986"/>
            <a:ext cx="357600" cy="634183"/>
            <a:chOff x="10910965" y="2513124"/>
            <a:chExt cx="586768" cy="904023"/>
          </a:xfrm>
        </p:grpSpPr>
        <p:sp>
          <p:nvSpPr>
            <p:cNvPr id="7598" name="Google Shape;7598;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599" name="Google Shape;7599;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0" name="Google Shape;7600;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1" name="Google Shape;7601;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2" name="Google Shape;7602;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cxnSp>
        <p:nvCxnSpPr>
          <p:cNvPr id="7603" name="Google Shape;7603;p119"/>
          <p:cNvCxnSpPr/>
          <p:nvPr/>
        </p:nvCxnSpPr>
        <p:spPr>
          <a:xfrm rot="10800000">
            <a:off x="9257399" y="2242311"/>
            <a:ext cx="260376" cy="0"/>
          </a:xfrm>
          <a:prstGeom prst="straightConnector1">
            <a:avLst/>
          </a:prstGeom>
          <a:noFill/>
          <a:ln cap="flat" cmpd="sng" w="19050">
            <a:solidFill>
              <a:srgbClr val="000000"/>
            </a:solidFill>
            <a:prstDash val="solid"/>
            <a:round/>
            <a:headEnd len="med" w="med" type="none"/>
            <a:tailEnd len="med" w="med" type="none"/>
          </a:ln>
        </p:spPr>
      </p:cxnSp>
      <p:grpSp>
        <p:nvGrpSpPr>
          <p:cNvPr id="7604" name="Google Shape;7604;p119"/>
          <p:cNvGrpSpPr/>
          <p:nvPr/>
        </p:nvGrpSpPr>
        <p:grpSpPr>
          <a:xfrm>
            <a:off x="9453716" y="1637069"/>
            <a:ext cx="357600" cy="634183"/>
            <a:chOff x="10910965" y="2513124"/>
            <a:chExt cx="586768" cy="904023"/>
          </a:xfrm>
        </p:grpSpPr>
        <p:sp>
          <p:nvSpPr>
            <p:cNvPr id="7605" name="Google Shape;7605;p119"/>
            <p:cNvSpPr/>
            <p:nvPr/>
          </p:nvSpPr>
          <p:spPr>
            <a:xfrm>
              <a:off x="10916736" y="2513124"/>
              <a:ext cx="574264" cy="904023"/>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chemeClr val="dk1">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606" name="Google Shape;7606;p119"/>
            <p:cNvCxnSpPr/>
            <p:nvPr/>
          </p:nvCxnSpPr>
          <p:spPr>
            <a:xfrm>
              <a:off x="10910965" y="2696064"/>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7" name="Google Shape;7607;p119"/>
            <p:cNvCxnSpPr/>
            <p:nvPr/>
          </p:nvCxnSpPr>
          <p:spPr>
            <a:xfrm>
              <a:off x="10914332" y="2881753"/>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8" name="Google Shape;7608;p119"/>
            <p:cNvCxnSpPr/>
            <p:nvPr/>
          </p:nvCxnSpPr>
          <p:spPr>
            <a:xfrm>
              <a:off x="10923469" y="3064677"/>
              <a:ext cx="574264" cy="0"/>
            </a:xfrm>
            <a:prstGeom prst="straightConnector1">
              <a:avLst/>
            </a:prstGeom>
            <a:noFill/>
            <a:ln cap="flat" cmpd="sng" w="19050">
              <a:solidFill>
                <a:schemeClr val="dk1"/>
              </a:solidFill>
              <a:prstDash val="solid"/>
              <a:miter lim="800000"/>
              <a:headEnd len="sm" w="sm" type="none"/>
              <a:tailEnd len="sm" w="sm" type="none"/>
            </a:ln>
          </p:spPr>
        </p:cxnSp>
        <p:cxnSp>
          <p:nvCxnSpPr>
            <p:cNvPr id="7609" name="Google Shape;7609;p119"/>
            <p:cNvCxnSpPr/>
            <p:nvPr/>
          </p:nvCxnSpPr>
          <p:spPr>
            <a:xfrm>
              <a:off x="10915293" y="3242073"/>
              <a:ext cx="574264"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610" name="Google Shape;7610;p119"/>
          <p:cNvGrpSpPr/>
          <p:nvPr/>
        </p:nvGrpSpPr>
        <p:grpSpPr>
          <a:xfrm>
            <a:off x="6869826" y="2671431"/>
            <a:ext cx="660225" cy="290099"/>
            <a:chOff x="7493876" y="2774731"/>
            <a:chExt cx="1481958" cy="894622"/>
          </a:xfrm>
        </p:grpSpPr>
        <p:sp>
          <p:nvSpPr>
            <p:cNvPr id="7611" name="Google Shape;7611;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12" name="Google Shape;7612;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13" name="Google Shape;7613;p119"/>
            <p:cNvGrpSpPr/>
            <p:nvPr/>
          </p:nvGrpSpPr>
          <p:grpSpPr>
            <a:xfrm>
              <a:off x="7713663" y="2848339"/>
              <a:ext cx="1042107" cy="425543"/>
              <a:chOff x="7786941" y="2884917"/>
              <a:chExt cx="897649" cy="353919"/>
            </a:xfrm>
          </p:grpSpPr>
          <p:sp>
            <p:nvSpPr>
              <p:cNvPr id="7614" name="Google Shape;7614;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5" name="Google Shape;7615;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6" name="Google Shape;7616;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7" name="Google Shape;7617;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18" name="Google Shape;7618;p119"/>
          <p:cNvGrpSpPr/>
          <p:nvPr/>
        </p:nvGrpSpPr>
        <p:grpSpPr>
          <a:xfrm>
            <a:off x="7928680" y="2356760"/>
            <a:ext cx="660225" cy="290099"/>
            <a:chOff x="7493876" y="2774731"/>
            <a:chExt cx="1481958" cy="894622"/>
          </a:xfrm>
        </p:grpSpPr>
        <p:sp>
          <p:nvSpPr>
            <p:cNvPr id="7619" name="Google Shape;7619;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20" name="Google Shape;7620;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21" name="Google Shape;7621;p119"/>
            <p:cNvGrpSpPr/>
            <p:nvPr/>
          </p:nvGrpSpPr>
          <p:grpSpPr>
            <a:xfrm>
              <a:off x="7713663" y="2848339"/>
              <a:ext cx="1042107" cy="425543"/>
              <a:chOff x="7786941" y="2884917"/>
              <a:chExt cx="897649" cy="353919"/>
            </a:xfrm>
          </p:grpSpPr>
          <p:sp>
            <p:nvSpPr>
              <p:cNvPr id="7622" name="Google Shape;7622;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3" name="Google Shape;7623;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4" name="Google Shape;7624;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5" name="Google Shape;7625;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26" name="Google Shape;7626;p119"/>
          <p:cNvGrpSpPr/>
          <p:nvPr/>
        </p:nvGrpSpPr>
        <p:grpSpPr>
          <a:xfrm>
            <a:off x="8246995" y="2882143"/>
            <a:ext cx="660225" cy="290099"/>
            <a:chOff x="7493876" y="2774731"/>
            <a:chExt cx="1481958" cy="894622"/>
          </a:xfrm>
        </p:grpSpPr>
        <p:sp>
          <p:nvSpPr>
            <p:cNvPr id="7627" name="Google Shape;7627;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28" name="Google Shape;7628;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29" name="Google Shape;7629;p119"/>
            <p:cNvGrpSpPr/>
            <p:nvPr/>
          </p:nvGrpSpPr>
          <p:grpSpPr>
            <a:xfrm>
              <a:off x="7713663" y="2848339"/>
              <a:ext cx="1042107" cy="425543"/>
              <a:chOff x="7786941" y="2884917"/>
              <a:chExt cx="897649" cy="353919"/>
            </a:xfrm>
          </p:grpSpPr>
          <p:sp>
            <p:nvSpPr>
              <p:cNvPr id="7630" name="Google Shape;7630;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1" name="Google Shape;7631;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2" name="Google Shape;7632;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3" name="Google Shape;7633;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34" name="Google Shape;7634;p119"/>
          <p:cNvGrpSpPr/>
          <p:nvPr/>
        </p:nvGrpSpPr>
        <p:grpSpPr>
          <a:xfrm>
            <a:off x="7203643" y="3367614"/>
            <a:ext cx="660225" cy="290099"/>
            <a:chOff x="7493876" y="2774731"/>
            <a:chExt cx="1481958" cy="894622"/>
          </a:xfrm>
        </p:grpSpPr>
        <p:sp>
          <p:nvSpPr>
            <p:cNvPr id="7635" name="Google Shape;7635;p1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36" name="Google Shape;7636;p1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37" name="Google Shape;7637;p119"/>
            <p:cNvGrpSpPr/>
            <p:nvPr/>
          </p:nvGrpSpPr>
          <p:grpSpPr>
            <a:xfrm>
              <a:off x="7713663" y="2848339"/>
              <a:ext cx="1042107" cy="425543"/>
              <a:chOff x="7786941" y="2884917"/>
              <a:chExt cx="897649" cy="353919"/>
            </a:xfrm>
          </p:grpSpPr>
          <p:sp>
            <p:nvSpPr>
              <p:cNvPr id="7638" name="Google Shape;7638;p1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9" name="Google Shape;7639;p1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0" name="Google Shape;7640;p1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1" name="Google Shape;7641;p1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642" name="Google Shape;7642;p119"/>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scenario 3</a:t>
            </a:r>
            <a:endParaRPr b="0" sz="4400"/>
          </a:p>
        </p:txBody>
      </p:sp>
      <p:sp>
        <p:nvSpPr>
          <p:cNvPr id="7643" name="Google Shape;7643;p119"/>
          <p:cNvSpPr/>
          <p:nvPr/>
        </p:nvSpPr>
        <p:spPr>
          <a:xfrm>
            <a:off x="1206500" y="5114925"/>
            <a:ext cx="8267700" cy="409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44" name="Google Shape;7644;p119"/>
          <p:cNvSpPr/>
          <p:nvPr/>
        </p:nvSpPr>
        <p:spPr>
          <a:xfrm>
            <a:off x="1639888" y="4329113"/>
            <a:ext cx="9650409" cy="99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0" lang="en-US" sz="3200" u="none" cap="none" strike="noStrike">
                <a:solidFill>
                  <a:srgbClr val="C00000"/>
                </a:solidFill>
                <a:latin typeface="Calibri"/>
                <a:ea typeface="Calibri"/>
                <a:cs typeface="Calibri"/>
                <a:sym typeface="Calibri"/>
              </a:rPr>
              <a:t>another “cost” of congestion: </a:t>
            </a:r>
            <a:endParaRPr/>
          </a:p>
          <a:p>
            <a:pPr indent="-342900" lvl="0" marL="3429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when packet dropped, any upstream transmission capacity and buffering used for that packet was wasted!</a:t>
            </a:r>
            <a:endParaRPr b="0" i="0" sz="2800" u="none" cap="none" strike="noStrike">
              <a:solidFill>
                <a:srgbClr val="000000"/>
              </a:solidFill>
              <a:latin typeface="Calibri"/>
              <a:ea typeface="Calibri"/>
              <a:cs typeface="Calibri"/>
              <a:sym typeface="Calibri"/>
            </a:endParaRPr>
          </a:p>
        </p:txBody>
      </p:sp>
      <p:cxnSp>
        <p:nvCxnSpPr>
          <p:cNvPr id="7645" name="Google Shape;7645;p119"/>
          <p:cNvCxnSpPr/>
          <p:nvPr/>
        </p:nvCxnSpPr>
        <p:spPr>
          <a:xfrm flipH="1">
            <a:off x="7206675" y="2219117"/>
            <a:ext cx="546573" cy="550850"/>
          </a:xfrm>
          <a:prstGeom prst="straightConnector1">
            <a:avLst/>
          </a:prstGeom>
          <a:noFill/>
          <a:ln cap="flat" cmpd="sng" w="19050">
            <a:solidFill>
              <a:srgbClr val="000000"/>
            </a:solidFill>
            <a:prstDash val="solid"/>
            <a:round/>
            <a:headEnd len="med" w="med" type="none"/>
            <a:tailEnd len="med" w="med" type="none"/>
          </a:ln>
        </p:spPr>
      </p:cxnSp>
      <p:cxnSp>
        <p:nvCxnSpPr>
          <p:cNvPr id="7646" name="Google Shape;7646;p119"/>
          <p:cNvCxnSpPr/>
          <p:nvPr/>
        </p:nvCxnSpPr>
        <p:spPr>
          <a:xfrm rot="10800000">
            <a:off x="7492872" y="2219117"/>
            <a:ext cx="260376" cy="0"/>
          </a:xfrm>
          <a:prstGeom prst="straightConnector1">
            <a:avLst/>
          </a:prstGeom>
          <a:noFill/>
          <a:ln cap="flat" cmpd="sng" w="19050">
            <a:solidFill>
              <a:srgbClr val="000000"/>
            </a:solidFill>
            <a:prstDash val="solid"/>
            <a:round/>
            <a:headEnd len="med" w="med" type="none"/>
            <a:tailEnd len="med" w="med" type="none"/>
          </a:ln>
        </p:spPr>
      </p:cxnSp>
      <p:cxnSp>
        <p:nvCxnSpPr>
          <p:cNvPr id="7647" name="Google Shape;7647;p119"/>
          <p:cNvCxnSpPr/>
          <p:nvPr/>
        </p:nvCxnSpPr>
        <p:spPr>
          <a:xfrm flipH="1">
            <a:off x="6404029" y="3477375"/>
            <a:ext cx="865049" cy="7731"/>
          </a:xfrm>
          <a:prstGeom prst="straightConnector1">
            <a:avLst/>
          </a:prstGeom>
          <a:noFill/>
          <a:ln cap="flat" cmpd="sng" w="19050">
            <a:solidFill>
              <a:srgbClr val="000000"/>
            </a:solidFill>
            <a:prstDash val="solid"/>
            <a:round/>
            <a:headEnd len="med" w="med" type="none"/>
            <a:tailEnd len="med" w="med" type="none"/>
          </a:ln>
        </p:spPr>
      </p:cxnSp>
      <p:cxnSp>
        <p:nvCxnSpPr>
          <p:cNvPr id="7648" name="Google Shape;7648;p119"/>
          <p:cNvCxnSpPr/>
          <p:nvPr/>
        </p:nvCxnSpPr>
        <p:spPr>
          <a:xfrm rot="10800000">
            <a:off x="7492872" y="2491642"/>
            <a:ext cx="430372" cy="0"/>
          </a:xfrm>
          <a:prstGeom prst="straightConnector1">
            <a:avLst/>
          </a:prstGeom>
          <a:noFill/>
          <a:ln cap="flat" cmpd="sng" w="19050">
            <a:solidFill>
              <a:srgbClr val="000000"/>
            </a:solidFill>
            <a:prstDash val="solid"/>
            <a:round/>
            <a:headEnd len="med" w="med" type="none"/>
            <a:tailEnd len="med" w="med" type="none"/>
          </a:ln>
        </p:spPr>
      </p:cxnSp>
      <p:cxnSp>
        <p:nvCxnSpPr>
          <p:cNvPr id="7649" name="Google Shape;7649;p119"/>
          <p:cNvCxnSpPr/>
          <p:nvPr/>
        </p:nvCxnSpPr>
        <p:spPr>
          <a:xfrm rot="10800000">
            <a:off x="8549437" y="2503239"/>
            <a:ext cx="460499" cy="5799"/>
          </a:xfrm>
          <a:prstGeom prst="straightConnector1">
            <a:avLst/>
          </a:prstGeom>
          <a:noFill/>
          <a:ln cap="flat" cmpd="sng" w="19050">
            <a:solidFill>
              <a:srgbClr val="000000"/>
            </a:solidFill>
            <a:prstDash val="solid"/>
            <a:round/>
            <a:headEnd len="med" w="med" type="none"/>
            <a:tailEnd len="med" w="med" type="none"/>
          </a:ln>
        </p:spPr>
      </p:cxnSp>
      <p:cxnSp>
        <p:nvCxnSpPr>
          <p:cNvPr id="7650" name="Google Shape;7650;p119"/>
          <p:cNvCxnSpPr/>
          <p:nvPr/>
        </p:nvCxnSpPr>
        <p:spPr>
          <a:xfrm flipH="1">
            <a:off x="8515007" y="2230714"/>
            <a:ext cx="768214" cy="823377"/>
          </a:xfrm>
          <a:prstGeom prst="straightConnector1">
            <a:avLst/>
          </a:prstGeom>
          <a:noFill/>
          <a:ln cap="flat" cmpd="sng" w="19050">
            <a:solidFill>
              <a:srgbClr val="000000"/>
            </a:solidFill>
            <a:prstDash val="solid"/>
            <a:round/>
            <a:headEnd len="med" w="med" type="none"/>
            <a:tailEnd len="med" w="med" type="none"/>
          </a:ln>
        </p:spPr>
      </p:cxnSp>
      <p:grpSp>
        <p:nvGrpSpPr>
          <p:cNvPr id="7651" name="Google Shape;7651;p119"/>
          <p:cNvGrpSpPr/>
          <p:nvPr/>
        </p:nvGrpSpPr>
        <p:grpSpPr>
          <a:xfrm>
            <a:off x="8295103" y="2407263"/>
            <a:ext cx="186693" cy="155869"/>
            <a:chOff x="11283" y="10423"/>
            <a:chExt cx="475" cy="374"/>
          </a:xfrm>
        </p:grpSpPr>
        <p:sp>
          <p:nvSpPr>
            <p:cNvPr id="7652" name="Google Shape;7652;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53" name="Google Shape;7653;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4" name="Google Shape;7654;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5" name="Google Shape;7655;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6" name="Google Shape;7656;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57" name="Google Shape;7657;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58" name="Google Shape;7658;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cxnSp>
        <p:nvCxnSpPr>
          <p:cNvPr id="7659" name="Google Shape;7659;p119"/>
          <p:cNvCxnSpPr/>
          <p:nvPr/>
        </p:nvCxnSpPr>
        <p:spPr>
          <a:xfrm>
            <a:off x="8577410" y="1813227"/>
            <a:ext cx="163542" cy="1932"/>
          </a:xfrm>
          <a:prstGeom prst="straightConnector1">
            <a:avLst/>
          </a:prstGeom>
          <a:noFill/>
          <a:ln cap="flat" cmpd="sng" w="38100">
            <a:solidFill>
              <a:srgbClr val="FFFFFF"/>
            </a:solidFill>
            <a:prstDash val="dot"/>
            <a:round/>
            <a:headEnd len="med" w="med" type="none"/>
            <a:tailEnd len="med" w="med" type="none"/>
          </a:ln>
        </p:spPr>
      </p:cxnSp>
      <p:grpSp>
        <p:nvGrpSpPr>
          <p:cNvPr id="7660" name="Google Shape;7660;p119"/>
          <p:cNvGrpSpPr/>
          <p:nvPr/>
        </p:nvGrpSpPr>
        <p:grpSpPr>
          <a:xfrm>
            <a:off x="7363760" y="1608349"/>
            <a:ext cx="53797" cy="172019"/>
            <a:chOff x="10104" y="10005"/>
            <a:chExt cx="137" cy="411"/>
          </a:xfrm>
        </p:grpSpPr>
        <p:sp>
          <p:nvSpPr>
            <p:cNvPr id="7661" name="Google Shape;7661;p119"/>
            <p:cNvSpPr/>
            <p:nvPr/>
          </p:nvSpPr>
          <p:spPr>
            <a:xfrm>
              <a:off x="10104" y="10005"/>
              <a:ext cx="137" cy="13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662" name="Google Shape;7662;p119"/>
            <p:cNvSpPr/>
            <p:nvPr/>
          </p:nvSpPr>
          <p:spPr>
            <a:xfrm>
              <a:off x="10104" y="10278"/>
              <a:ext cx="137" cy="138"/>
            </a:xfrm>
            <a:prstGeom prst="ellipse">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663" name="Google Shape;7663;p119"/>
          <p:cNvGrpSpPr/>
          <p:nvPr/>
        </p:nvGrpSpPr>
        <p:grpSpPr>
          <a:xfrm rot="7844936">
            <a:off x="8457757" y="2928960"/>
            <a:ext cx="204878" cy="142023"/>
            <a:chOff x="11283" y="10423"/>
            <a:chExt cx="475" cy="374"/>
          </a:xfrm>
        </p:grpSpPr>
        <p:sp>
          <p:nvSpPr>
            <p:cNvPr id="7664" name="Google Shape;7664;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65" name="Google Shape;7665;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6" name="Google Shape;7666;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7" name="Google Shape;7667;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8" name="Google Shape;7668;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69" name="Google Shape;7669;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70" name="Google Shape;7670;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cxnSp>
        <p:nvCxnSpPr>
          <p:cNvPr id="7671" name="Google Shape;7671;p119"/>
          <p:cNvCxnSpPr/>
          <p:nvPr/>
        </p:nvCxnSpPr>
        <p:spPr>
          <a:xfrm rot="10800000">
            <a:off x="7764006" y="3471578"/>
            <a:ext cx="1172766" cy="11597"/>
          </a:xfrm>
          <a:prstGeom prst="straightConnector1">
            <a:avLst/>
          </a:prstGeom>
          <a:noFill/>
          <a:ln cap="flat" cmpd="sng" w="19050">
            <a:solidFill>
              <a:srgbClr val="000000"/>
            </a:solidFill>
            <a:prstDash val="solid"/>
            <a:round/>
            <a:headEnd len="med" w="med" type="none"/>
            <a:tailEnd len="med" w="med" type="none"/>
          </a:ln>
        </p:spPr>
      </p:cxnSp>
      <p:cxnSp>
        <p:nvCxnSpPr>
          <p:cNvPr id="7672" name="Google Shape;7672;p119"/>
          <p:cNvCxnSpPr/>
          <p:nvPr/>
        </p:nvCxnSpPr>
        <p:spPr>
          <a:xfrm flipH="1">
            <a:off x="8129823" y="3059889"/>
            <a:ext cx="367969" cy="417487"/>
          </a:xfrm>
          <a:prstGeom prst="straightConnector1">
            <a:avLst/>
          </a:prstGeom>
          <a:noFill/>
          <a:ln cap="flat" cmpd="sng" w="19050">
            <a:solidFill>
              <a:srgbClr val="000000"/>
            </a:solidFill>
            <a:prstDash val="solid"/>
            <a:round/>
            <a:headEnd len="med" w="med" type="none"/>
            <a:tailEnd len="med" w="med" type="none"/>
          </a:ln>
        </p:spPr>
      </p:cxnSp>
      <p:sp>
        <p:nvSpPr>
          <p:cNvPr id="7673" name="Google Shape;7673;p119"/>
          <p:cNvSpPr/>
          <p:nvPr/>
        </p:nvSpPr>
        <p:spPr>
          <a:xfrm>
            <a:off x="7391735" y="1631543"/>
            <a:ext cx="1956042" cy="1814908"/>
          </a:xfrm>
          <a:custGeom>
            <a:rect b="b" l="l" r="r" t="t"/>
            <a:pathLst>
              <a:path extrusionOk="0" h="4500" w="5205">
                <a:moveTo>
                  <a:pt x="0" y="0"/>
                </a:moveTo>
                <a:lnTo>
                  <a:pt x="0" y="1320"/>
                </a:lnTo>
                <a:lnTo>
                  <a:pt x="1230" y="1350"/>
                </a:lnTo>
                <a:lnTo>
                  <a:pt x="495" y="2040"/>
                </a:lnTo>
                <a:lnTo>
                  <a:pt x="4515" y="2115"/>
                </a:lnTo>
                <a:lnTo>
                  <a:pt x="2220" y="4500"/>
                </a:lnTo>
                <a:lnTo>
                  <a:pt x="5205" y="4500"/>
                </a:lnTo>
                <a:lnTo>
                  <a:pt x="5205" y="3405"/>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674" name="Google Shape;7674;p119"/>
          <p:cNvGrpSpPr/>
          <p:nvPr/>
        </p:nvGrpSpPr>
        <p:grpSpPr>
          <a:xfrm>
            <a:off x="7312115" y="3392332"/>
            <a:ext cx="187213" cy="156558"/>
            <a:chOff x="11283" y="10423"/>
            <a:chExt cx="475" cy="374"/>
          </a:xfrm>
        </p:grpSpPr>
        <p:sp>
          <p:nvSpPr>
            <p:cNvPr id="7675" name="Google Shape;7675;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76" name="Google Shape;7676;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77" name="Google Shape;7677;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78" name="Google Shape;7678;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79" name="Google Shape;7679;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0" name="Google Shape;7680;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81" name="Google Shape;7681;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cxnSp>
        <p:nvCxnSpPr>
          <p:cNvPr id="7682" name="Google Shape;7682;p119"/>
          <p:cNvCxnSpPr/>
          <p:nvPr/>
        </p:nvCxnSpPr>
        <p:spPr>
          <a:xfrm flipH="1">
            <a:off x="6515926" y="2963248"/>
            <a:ext cx="514296" cy="514127"/>
          </a:xfrm>
          <a:prstGeom prst="straightConnector1">
            <a:avLst/>
          </a:prstGeom>
          <a:noFill/>
          <a:ln cap="flat" cmpd="sng" w="19050">
            <a:solidFill>
              <a:srgbClr val="000000"/>
            </a:solidFill>
            <a:prstDash val="solid"/>
            <a:round/>
            <a:headEnd len="med" w="med" type="none"/>
            <a:tailEnd len="med" w="med" type="none"/>
          </a:ln>
        </p:spPr>
      </p:cxnSp>
      <p:grpSp>
        <p:nvGrpSpPr>
          <p:cNvPr id="7683" name="Google Shape;7683;p119"/>
          <p:cNvGrpSpPr/>
          <p:nvPr/>
        </p:nvGrpSpPr>
        <p:grpSpPr>
          <a:xfrm rot="8027572">
            <a:off x="7091324" y="2716351"/>
            <a:ext cx="204878" cy="142023"/>
            <a:chOff x="11283" y="10423"/>
            <a:chExt cx="475" cy="374"/>
          </a:xfrm>
        </p:grpSpPr>
        <p:sp>
          <p:nvSpPr>
            <p:cNvPr id="7684" name="Google Shape;7684;p119"/>
            <p:cNvSpPr/>
            <p:nvPr/>
          </p:nvSpPr>
          <p:spPr>
            <a:xfrm>
              <a:off x="11283" y="10423"/>
              <a:ext cx="475" cy="3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685" name="Google Shape;7685;p119"/>
            <p:cNvCxnSpPr/>
            <p:nvPr/>
          </p:nvCxnSpPr>
          <p:spPr>
            <a:xfrm>
              <a:off x="1168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6" name="Google Shape;7686;p119"/>
            <p:cNvCxnSpPr/>
            <p:nvPr/>
          </p:nvCxnSpPr>
          <p:spPr>
            <a:xfrm>
              <a:off x="11621"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7" name="Google Shape;7687;p119"/>
            <p:cNvCxnSpPr/>
            <p:nvPr/>
          </p:nvCxnSpPr>
          <p:spPr>
            <a:xfrm>
              <a:off x="11556" y="10502"/>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8" name="Google Shape;7688;p119"/>
            <p:cNvCxnSpPr/>
            <p:nvPr/>
          </p:nvCxnSpPr>
          <p:spPr>
            <a:xfrm>
              <a:off x="11491" y="10495"/>
              <a:ext cx="1" cy="231"/>
            </a:xfrm>
            <a:prstGeom prst="straightConnector1">
              <a:avLst/>
            </a:prstGeom>
            <a:noFill/>
            <a:ln cap="flat" cmpd="sng" w="9525">
              <a:solidFill>
                <a:srgbClr val="000000"/>
              </a:solidFill>
              <a:prstDash val="solid"/>
              <a:round/>
              <a:headEnd len="med" w="med" type="none"/>
              <a:tailEnd len="med" w="med" type="none"/>
            </a:ln>
          </p:spPr>
        </p:cxnSp>
        <p:cxnSp>
          <p:nvCxnSpPr>
            <p:cNvPr id="7689" name="Google Shape;7689;p119"/>
            <p:cNvCxnSpPr/>
            <p:nvPr/>
          </p:nvCxnSpPr>
          <p:spPr>
            <a:xfrm>
              <a:off x="11426" y="10495"/>
              <a:ext cx="2" cy="231"/>
            </a:xfrm>
            <a:prstGeom prst="straightConnector1">
              <a:avLst/>
            </a:prstGeom>
            <a:noFill/>
            <a:ln cap="flat" cmpd="sng" w="9525">
              <a:solidFill>
                <a:srgbClr val="000000"/>
              </a:solidFill>
              <a:prstDash val="solid"/>
              <a:round/>
              <a:headEnd len="med" w="med" type="none"/>
              <a:tailEnd len="med" w="med" type="none"/>
            </a:ln>
          </p:spPr>
        </p:cxnSp>
        <p:cxnSp>
          <p:nvCxnSpPr>
            <p:cNvPr id="7690" name="Google Shape;7690;p119"/>
            <p:cNvCxnSpPr/>
            <p:nvPr/>
          </p:nvCxnSpPr>
          <p:spPr>
            <a:xfrm>
              <a:off x="11360" y="10495"/>
              <a:ext cx="3" cy="231"/>
            </a:xfrm>
            <a:prstGeom prst="straightConnector1">
              <a:avLst/>
            </a:prstGeom>
            <a:noFill/>
            <a:ln cap="flat" cmpd="sng" w="9525">
              <a:solidFill>
                <a:srgbClr val="000000"/>
              </a:solidFill>
              <a:prstDash val="solid"/>
              <a:round/>
              <a:headEnd len="med" w="med" type="none"/>
              <a:tailEnd len="med" w="med" type="none"/>
            </a:ln>
          </p:spPr>
        </p:cxnSp>
      </p:grpSp>
      <p:sp>
        <p:nvSpPr>
          <p:cNvPr id="7691" name="Google Shape;7691;p119"/>
          <p:cNvSpPr/>
          <p:nvPr/>
        </p:nvSpPr>
        <p:spPr>
          <a:xfrm>
            <a:off x="6421244" y="1656669"/>
            <a:ext cx="2999696" cy="1863229"/>
          </a:xfrm>
          <a:custGeom>
            <a:rect b="b" l="l" r="r" t="t"/>
            <a:pathLst>
              <a:path extrusionOk="0" h="4620" w="7980">
                <a:moveTo>
                  <a:pt x="7965" y="3420"/>
                </a:moveTo>
                <a:lnTo>
                  <a:pt x="7980" y="4620"/>
                </a:lnTo>
                <a:lnTo>
                  <a:pt x="0" y="4605"/>
                </a:lnTo>
                <a:lnTo>
                  <a:pt x="3315" y="1485"/>
                </a:lnTo>
                <a:lnTo>
                  <a:pt x="2355" y="1455"/>
                </a:lnTo>
                <a:lnTo>
                  <a:pt x="2355" y="0"/>
                </a:lnTo>
              </a:path>
            </a:pathLst>
          </a:custGeom>
          <a:noFill/>
          <a:ln cap="flat" cmpd="sng" w="38100">
            <a:solidFill>
              <a:srgbClr val="FF00FF"/>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92" name="Google Shape;7692;p119"/>
          <p:cNvSpPr/>
          <p:nvPr/>
        </p:nvSpPr>
        <p:spPr>
          <a:xfrm>
            <a:off x="6184539" y="1716586"/>
            <a:ext cx="3399942" cy="1832304"/>
          </a:xfrm>
          <a:custGeom>
            <a:rect b="b" l="l" r="r" t="t"/>
            <a:pathLst>
              <a:path extrusionOk="0" h="4545" w="9045">
                <a:moveTo>
                  <a:pt x="0" y="2880"/>
                </a:moveTo>
                <a:lnTo>
                  <a:pt x="0" y="4530"/>
                </a:lnTo>
                <a:lnTo>
                  <a:pt x="885" y="4545"/>
                </a:lnTo>
                <a:lnTo>
                  <a:pt x="3510" y="2010"/>
                </a:lnTo>
                <a:lnTo>
                  <a:pt x="7140" y="2055"/>
                </a:lnTo>
                <a:lnTo>
                  <a:pt x="8145" y="1020"/>
                </a:lnTo>
                <a:lnTo>
                  <a:pt x="9045" y="1020"/>
                </a:lnTo>
                <a:lnTo>
                  <a:pt x="9015" y="0"/>
                </a:lnTo>
              </a:path>
            </a:pathLst>
          </a:custGeom>
          <a:noFill/>
          <a:ln cap="flat" cmpd="sng" w="38100">
            <a:solidFill>
              <a:srgbClr val="0000FF"/>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93" name="Google Shape;7693;p119"/>
          <p:cNvSpPr/>
          <p:nvPr/>
        </p:nvSpPr>
        <p:spPr>
          <a:xfrm>
            <a:off x="6257703" y="1747511"/>
            <a:ext cx="3430069" cy="1693141"/>
          </a:xfrm>
          <a:custGeom>
            <a:rect b="b" l="l" r="r" t="t"/>
            <a:pathLst>
              <a:path extrusionOk="0" h="4201" w="9120">
                <a:moveTo>
                  <a:pt x="0" y="2821"/>
                </a:moveTo>
                <a:lnTo>
                  <a:pt x="0" y="4201"/>
                </a:lnTo>
                <a:lnTo>
                  <a:pt x="4890" y="4201"/>
                </a:lnTo>
                <a:lnTo>
                  <a:pt x="8055" y="1051"/>
                </a:lnTo>
                <a:lnTo>
                  <a:pt x="9120" y="1080"/>
                </a:lnTo>
                <a:lnTo>
                  <a:pt x="9105" y="0"/>
                </a:lnTo>
              </a:path>
            </a:pathLst>
          </a:custGeom>
          <a:noFill/>
          <a:ln cap="flat" cmpd="sng" w="38100">
            <a:solidFill>
              <a:srgbClr val="00B05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694" name="Google Shape;7694;p119"/>
          <p:cNvGrpSpPr/>
          <p:nvPr/>
        </p:nvGrpSpPr>
        <p:grpSpPr>
          <a:xfrm>
            <a:off x="6156566" y="2860810"/>
            <a:ext cx="53796" cy="172019"/>
            <a:chOff x="10104" y="10005"/>
            <a:chExt cx="137" cy="411"/>
          </a:xfrm>
        </p:grpSpPr>
        <p:sp>
          <p:nvSpPr>
            <p:cNvPr id="7695" name="Google Shape;7695;p119"/>
            <p:cNvSpPr/>
            <p:nvPr/>
          </p:nvSpPr>
          <p:spPr>
            <a:xfrm>
              <a:off x="10104" y="10005"/>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696" name="Google Shape;7696;p119"/>
            <p:cNvSpPr/>
            <p:nvPr/>
          </p:nvSpPr>
          <p:spPr>
            <a:xfrm>
              <a:off x="10104" y="10278"/>
              <a:ext cx="137" cy="138"/>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697" name="Google Shape;7697;p119"/>
          <p:cNvGrpSpPr/>
          <p:nvPr/>
        </p:nvGrpSpPr>
        <p:grpSpPr>
          <a:xfrm>
            <a:off x="9388663" y="3009635"/>
            <a:ext cx="53796" cy="173953"/>
            <a:chOff x="10104" y="10005"/>
            <a:chExt cx="137" cy="411"/>
          </a:xfrm>
        </p:grpSpPr>
        <p:sp>
          <p:nvSpPr>
            <p:cNvPr id="7698" name="Google Shape;7698;p119"/>
            <p:cNvSpPr/>
            <p:nvPr/>
          </p:nvSpPr>
          <p:spPr>
            <a:xfrm>
              <a:off x="10104" y="10005"/>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699" name="Google Shape;7699;p119"/>
            <p:cNvSpPr/>
            <p:nvPr/>
          </p:nvSpPr>
          <p:spPr>
            <a:xfrm>
              <a:off x="10104" y="10278"/>
              <a:ext cx="137" cy="138"/>
            </a:xfrm>
            <a:prstGeom prst="ellipse">
              <a:avLst/>
            </a:prstGeom>
            <a:solidFill>
              <a:srgbClr val="FF00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700" name="Google Shape;7700;p119"/>
          <p:cNvGrpSpPr/>
          <p:nvPr/>
        </p:nvGrpSpPr>
        <p:grpSpPr>
          <a:xfrm>
            <a:off x="9653341" y="1703056"/>
            <a:ext cx="53797" cy="173953"/>
            <a:chOff x="10104" y="10005"/>
            <a:chExt cx="137" cy="411"/>
          </a:xfrm>
        </p:grpSpPr>
        <p:sp>
          <p:nvSpPr>
            <p:cNvPr id="7701" name="Google Shape;7701;p119"/>
            <p:cNvSpPr/>
            <p:nvPr/>
          </p:nvSpPr>
          <p:spPr>
            <a:xfrm>
              <a:off x="10104" y="10005"/>
              <a:ext cx="137" cy="138"/>
            </a:xfrm>
            <a:prstGeom prst="ellipse">
              <a:avLst/>
            </a:prstGeom>
            <a:solidFill>
              <a:srgbClr val="00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702" name="Google Shape;7702;p119"/>
            <p:cNvSpPr/>
            <p:nvPr/>
          </p:nvSpPr>
          <p:spPr>
            <a:xfrm>
              <a:off x="10104" y="10278"/>
              <a:ext cx="137" cy="138"/>
            </a:xfrm>
            <a:prstGeom prst="ellipse">
              <a:avLst/>
            </a:prstGeom>
            <a:solidFill>
              <a:srgbClr val="00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703" name="Google Shape;7703;p119"/>
          <p:cNvGrpSpPr/>
          <p:nvPr/>
        </p:nvGrpSpPr>
        <p:grpSpPr>
          <a:xfrm>
            <a:off x="1505725" y="1423988"/>
            <a:ext cx="3115488" cy="2380952"/>
            <a:chOff x="1505725" y="1423988"/>
            <a:chExt cx="3115488" cy="2380952"/>
          </a:xfrm>
        </p:grpSpPr>
        <p:cxnSp>
          <p:nvCxnSpPr>
            <p:cNvPr id="7704" name="Google Shape;7704;p119"/>
            <p:cNvCxnSpPr/>
            <p:nvPr/>
          </p:nvCxnSpPr>
          <p:spPr>
            <a:xfrm>
              <a:off x="2143125" y="1520825"/>
              <a:ext cx="0" cy="1860550"/>
            </a:xfrm>
            <a:prstGeom prst="straightConnector1">
              <a:avLst/>
            </a:prstGeom>
            <a:noFill/>
            <a:ln cap="flat" cmpd="sng" w="19050">
              <a:solidFill>
                <a:srgbClr val="000000"/>
              </a:solidFill>
              <a:prstDash val="solid"/>
              <a:round/>
              <a:headEnd len="med" w="med" type="none"/>
              <a:tailEnd len="med" w="med" type="none"/>
            </a:ln>
          </p:spPr>
        </p:cxnSp>
        <p:cxnSp>
          <p:nvCxnSpPr>
            <p:cNvPr id="7705" name="Google Shape;7705;p119"/>
            <p:cNvCxnSpPr/>
            <p:nvPr/>
          </p:nvCxnSpPr>
          <p:spPr>
            <a:xfrm flipH="1" rot="10800000">
              <a:off x="2127250" y="3373438"/>
              <a:ext cx="2333625" cy="4762"/>
            </a:xfrm>
            <a:prstGeom prst="straightConnector1">
              <a:avLst/>
            </a:prstGeom>
            <a:noFill/>
            <a:ln cap="flat" cmpd="sng" w="19050">
              <a:solidFill>
                <a:srgbClr val="000000"/>
              </a:solidFill>
              <a:prstDash val="solid"/>
              <a:round/>
              <a:headEnd len="med" w="med" type="none"/>
              <a:tailEnd len="med" w="med" type="none"/>
            </a:ln>
          </p:spPr>
        </p:cxnSp>
        <p:sp>
          <p:nvSpPr>
            <p:cNvPr id="7706" name="Google Shape;7706;p119"/>
            <p:cNvSpPr/>
            <p:nvPr/>
          </p:nvSpPr>
          <p:spPr>
            <a:xfrm>
              <a:off x="2132013" y="2607303"/>
              <a:ext cx="2489200" cy="759348"/>
            </a:xfrm>
            <a:custGeom>
              <a:rect b="b" l="l" r="r" t="t"/>
              <a:pathLst>
                <a:path extrusionOk="0" h="10001" w="10000">
                  <a:moveTo>
                    <a:pt x="0" y="9992"/>
                  </a:moveTo>
                  <a:cubicBezTo>
                    <a:pt x="695" y="8315"/>
                    <a:pt x="3984" y="235"/>
                    <a:pt x="5094" y="5"/>
                  </a:cubicBezTo>
                  <a:cubicBezTo>
                    <a:pt x="6204" y="-225"/>
                    <a:pt x="5488" y="6933"/>
                    <a:pt x="6661" y="8610"/>
                  </a:cubicBezTo>
                  <a:cubicBezTo>
                    <a:pt x="7835" y="10287"/>
                    <a:pt x="8882" y="9997"/>
                    <a:pt x="10000" y="9960"/>
                  </a:cubicBezTo>
                </a:path>
              </a:pathLst>
            </a:custGeom>
            <a:noFill/>
            <a:ln cap="flat" cmpd="sng" w="2857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7707" name="Google Shape;7707;p119"/>
            <p:cNvCxnSpPr/>
            <p:nvPr/>
          </p:nvCxnSpPr>
          <p:spPr>
            <a:xfrm>
              <a:off x="2011363" y="1673225"/>
              <a:ext cx="125412" cy="0"/>
            </a:xfrm>
            <a:prstGeom prst="straightConnector1">
              <a:avLst/>
            </a:prstGeom>
            <a:noFill/>
            <a:ln cap="flat" cmpd="sng" w="19050">
              <a:solidFill>
                <a:srgbClr val="000000"/>
              </a:solidFill>
              <a:prstDash val="solid"/>
              <a:round/>
              <a:headEnd len="med" w="med" type="none"/>
              <a:tailEnd len="med" w="med" type="none"/>
            </a:ln>
          </p:spPr>
        </p:cxnSp>
        <p:cxnSp>
          <p:nvCxnSpPr>
            <p:cNvPr id="7708" name="Google Shape;7708;p119"/>
            <p:cNvCxnSpPr/>
            <p:nvPr/>
          </p:nvCxnSpPr>
          <p:spPr>
            <a:xfrm>
              <a:off x="3944938" y="3381375"/>
              <a:ext cx="0" cy="134938"/>
            </a:xfrm>
            <a:prstGeom prst="straightConnector1">
              <a:avLst/>
            </a:prstGeom>
            <a:noFill/>
            <a:ln cap="flat" cmpd="sng" w="19050">
              <a:solidFill>
                <a:srgbClr val="000000"/>
              </a:solidFill>
              <a:prstDash val="solid"/>
              <a:round/>
              <a:headEnd len="med" w="med" type="none"/>
              <a:tailEnd len="med" w="med" type="none"/>
            </a:ln>
          </p:spPr>
        </p:cxnSp>
        <p:sp>
          <p:nvSpPr>
            <p:cNvPr id="7709" name="Google Shape;7709;p119"/>
            <p:cNvSpPr txBox="1"/>
            <p:nvPr/>
          </p:nvSpPr>
          <p:spPr>
            <a:xfrm>
              <a:off x="1505725" y="1423988"/>
              <a:ext cx="463588"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710" name="Google Shape;7710;p119"/>
            <p:cNvSpPr txBox="1"/>
            <p:nvPr/>
          </p:nvSpPr>
          <p:spPr>
            <a:xfrm>
              <a:off x="3742512" y="3433763"/>
              <a:ext cx="463588"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R/2</a:t>
              </a:r>
              <a:endParaRPr/>
            </a:p>
          </p:txBody>
        </p:sp>
        <p:sp>
          <p:nvSpPr>
            <p:cNvPr id="7711" name="Google Shape;7711;p119"/>
            <p:cNvSpPr txBox="1"/>
            <p:nvPr/>
          </p:nvSpPr>
          <p:spPr>
            <a:xfrm rot="-5400000">
              <a:off x="1416844" y="2351882"/>
              <a:ext cx="808037"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out</a:t>
              </a:r>
              <a:endParaRPr/>
            </a:p>
          </p:txBody>
        </p:sp>
        <p:sp>
          <p:nvSpPr>
            <p:cNvPr id="7712" name="Google Shape;7712;p119"/>
            <p:cNvSpPr txBox="1"/>
            <p:nvPr/>
          </p:nvSpPr>
          <p:spPr>
            <a:xfrm>
              <a:off x="2857001" y="3343275"/>
              <a:ext cx="56297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Noto Sans Symbols"/>
                  <a:ea typeface="Noto Sans Symbols"/>
                  <a:cs typeface="Noto Sans Symbols"/>
                  <a:sym typeface="Noto Sans Symbols"/>
                </a:rPr>
                <a:t>λ</a:t>
              </a:r>
              <a:r>
                <a:rPr b="0" baseline="-25000" i="0" lang="en-US" sz="2400" u="none" cap="none" strike="noStrike">
                  <a:solidFill>
                    <a:srgbClr val="000000"/>
                  </a:solidFill>
                  <a:latin typeface="Arial"/>
                  <a:ea typeface="Arial"/>
                  <a:cs typeface="Arial"/>
                  <a:sym typeface="Arial"/>
                </a:rPr>
                <a:t>in</a:t>
              </a:r>
              <a:r>
                <a:rPr b="0" baseline="30000" i="0" lang="en-US" sz="2400" u="none" cap="none" strike="noStrike">
                  <a:solidFill>
                    <a:srgbClr val="000000"/>
                  </a:solidFill>
                  <a:latin typeface="Calibri"/>
                  <a:ea typeface="Calibri"/>
                  <a:cs typeface="Calibri"/>
                  <a:sym typeface="Calibri"/>
                </a:rPr>
                <a:t>’</a:t>
              </a:r>
              <a:endParaRPr b="0" baseline="30000" i="0" sz="2400" u="none" cap="none" strike="noStrike">
                <a:solidFill>
                  <a:srgbClr val="000000"/>
                </a:solidFill>
                <a:latin typeface="Calibri"/>
                <a:ea typeface="Calibri"/>
                <a:cs typeface="Calibri"/>
                <a:sym typeface="Calibri"/>
              </a:endParaRPr>
            </a:p>
          </p:txBody>
        </p:sp>
      </p:grpSp>
      <p:sp>
        <p:nvSpPr>
          <p:cNvPr id="7713" name="Google Shape;7713;p1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8" name="Shape 7718"/>
        <p:cNvGrpSpPr/>
        <p:nvPr/>
      </p:nvGrpSpPr>
      <p:grpSpPr>
        <a:xfrm>
          <a:off x="0" y="0"/>
          <a:ext cx="0" cy="0"/>
          <a:chOff x="0" y="0"/>
          <a:chExt cx="0" cy="0"/>
        </a:xfrm>
      </p:grpSpPr>
      <p:sp>
        <p:nvSpPr>
          <p:cNvPr id="7719" name="Google Shape;7719;p120"/>
          <p:cNvSpPr txBox="1"/>
          <p:nvPr>
            <p:ph type="title"/>
          </p:nvPr>
        </p:nvSpPr>
        <p:spPr>
          <a:xfrm>
            <a:off x="798690" y="2086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Causes/costs of congestion: insights</a:t>
            </a:r>
            <a:endParaRPr b="0" sz="4400"/>
          </a:p>
        </p:txBody>
      </p:sp>
      <p:grpSp>
        <p:nvGrpSpPr>
          <p:cNvPr id="7720" name="Google Shape;7720;p120"/>
          <p:cNvGrpSpPr/>
          <p:nvPr/>
        </p:nvGrpSpPr>
        <p:grpSpPr>
          <a:xfrm>
            <a:off x="1054099" y="5185696"/>
            <a:ext cx="8420101" cy="1336368"/>
            <a:chOff x="1054099" y="4728508"/>
            <a:chExt cx="8420101" cy="1336368"/>
          </a:xfrm>
        </p:grpSpPr>
        <p:sp>
          <p:nvSpPr>
            <p:cNvPr id="7721" name="Google Shape;7721;p120"/>
            <p:cNvSpPr/>
            <p:nvPr/>
          </p:nvSpPr>
          <p:spPr>
            <a:xfrm>
              <a:off x="1206500" y="5114925"/>
              <a:ext cx="8267700" cy="409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722" name="Google Shape;7722;p120"/>
            <p:cNvSpPr/>
            <p:nvPr/>
          </p:nvSpPr>
          <p:spPr>
            <a:xfrm>
              <a:off x="1054099" y="4926013"/>
              <a:ext cx="6735751" cy="808194"/>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upstream transmission capacity / buffering wasted for packets lost downstream</a:t>
              </a:r>
              <a:endParaRPr b="0" i="0" sz="2800" u="none" cap="none" strike="noStrike">
                <a:solidFill>
                  <a:srgbClr val="000000"/>
                </a:solidFill>
                <a:latin typeface="Calibri"/>
                <a:ea typeface="Calibri"/>
                <a:cs typeface="Calibri"/>
                <a:sym typeface="Calibri"/>
              </a:endParaRPr>
            </a:p>
          </p:txBody>
        </p:sp>
        <p:pic>
          <p:nvPicPr>
            <p:cNvPr id="7723" name="Google Shape;7723;p120"/>
            <p:cNvPicPr preferRelativeResize="0"/>
            <p:nvPr/>
          </p:nvPicPr>
          <p:blipFill rotWithShape="1">
            <a:blip r:embed="rId3">
              <a:alphaModFix/>
            </a:blip>
            <a:srcRect b="0" l="0" r="0" t="0"/>
            <a:stretch/>
          </p:blipFill>
          <p:spPr>
            <a:xfrm>
              <a:off x="7734126" y="4728508"/>
              <a:ext cx="1657096" cy="1336368"/>
            </a:xfrm>
            <a:prstGeom prst="rect">
              <a:avLst/>
            </a:prstGeom>
            <a:noFill/>
            <a:ln>
              <a:noFill/>
            </a:ln>
          </p:spPr>
        </p:pic>
      </p:grpSp>
      <p:grpSp>
        <p:nvGrpSpPr>
          <p:cNvPr id="7724" name="Google Shape;7724;p120"/>
          <p:cNvGrpSpPr/>
          <p:nvPr/>
        </p:nvGrpSpPr>
        <p:grpSpPr>
          <a:xfrm>
            <a:off x="1028700" y="2052023"/>
            <a:ext cx="10080734" cy="1334789"/>
            <a:chOff x="1028700" y="1860299"/>
            <a:chExt cx="10080734" cy="1334789"/>
          </a:xfrm>
        </p:grpSpPr>
        <p:sp>
          <p:nvSpPr>
            <p:cNvPr id="7725" name="Google Shape;7725;p120"/>
            <p:cNvSpPr/>
            <p:nvPr/>
          </p:nvSpPr>
          <p:spPr>
            <a:xfrm>
              <a:off x="1028700" y="2139156"/>
              <a:ext cx="10080734" cy="471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delay increases as capacity approached </a:t>
              </a:r>
              <a:endParaRPr/>
            </a:p>
          </p:txBody>
        </p:sp>
        <p:pic>
          <p:nvPicPr>
            <p:cNvPr id="7726" name="Google Shape;7726;p120"/>
            <p:cNvPicPr preferRelativeResize="0"/>
            <p:nvPr/>
          </p:nvPicPr>
          <p:blipFill rotWithShape="1">
            <a:blip r:embed="rId4">
              <a:alphaModFix/>
            </a:blip>
            <a:srcRect b="0" l="0" r="0" t="0"/>
            <a:stretch/>
          </p:blipFill>
          <p:spPr>
            <a:xfrm>
              <a:off x="9451601" y="1860299"/>
              <a:ext cx="1402990" cy="1334789"/>
            </a:xfrm>
            <a:prstGeom prst="rect">
              <a:avLst/>
            </a:prstGeom>
            <a:noFill/>
            <a:ln>
              <a:noFill/>
            </a:ln>
          </p:spPr>
        </p:pic>
      </p:grpSp>
      <p:grpSp>
        <p:nvGrpSpPr>
          <p:cNvPr id="7727" name="Google Shape;7727;p120"/>
          <p:cNvGrpSpPr/>
          <p:nvPr/>
        </p:nvGrpSpPr>
        <p:grpSpPr>
          <a:xfrm>
            <a:off x="1041400" y="4167737"/>
            <a:ext cx="9952137" cy="1463041"/>
            <a:chOff x="1041400" y="4167737"/>
            <a:chExt cx="9952137" cy="1463041"/>
          </a:xfrm>
        </p:grpSpPr>
        <p:sp>
          <p:nvSpPr>
            <p:cNvPr id="7728" name="Google Shape;7728;p120"/>
            <p:cNvSpPr/>
            <p:nvPr/>
          </p:nvSpPr>
          <p:spPr>
            <a:xfrm>
              <a:off x="1041400" y="4352873"/>
              <a:ext cx="6769100" cy="76227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un-needed duplicates further decreases effective throughput</a:t>
              </a:r>
              <a:endParaRPr/>
            </a:p>
          </p:txBody>
        </p:sp>
        <p:pic>
          <p:nvPicPr>
            <p:cNvPr id="7729" name="Google Shape;7729;p120"/>
            <p:cNvPicPr preferRelativeResize="0"/>
            <p:nvPr/>
          </p:nvPicPr>
          <p:blipFill rotWithShape="1">
            <a:blip r:embed="rId5">
              <a:alphaModFix/>
            </a:blip>
            <a:srcRect b="0" l="0" r="0" t="0"/>
            <a:stretch/>
          </p:blipFill>
          <p:spPr>
            <a:xfrm>
              <a:off x="9364995" y="4167737"/>
              <a:ext cx="1628542" cy="1463041"/>
            </a:xfrm>
            <a:prstGeom prst="rect">
              <a:avLst/>
            </a:prstGeom>
            <a:noFill/>
            <a:ln>
              <a:noFill/>
            </a:ln>
          </p:spPr>
        </p:pic>
      </p:grpSp>
      <p:grpSp>
        <p:nvGrpSpPr>
          <p:cNvPr id="7730" name="Google Shape;7730;p120"/>
          <p:cNvGrpSpPr/>
          <p:nvPr/>
        </p:nvGrpSpPr>
        <p:grpSpPr>
          <a:xfrm>
            <a:off x="1041400" y="2983830"/>
            <a:ext cx="8301120" cy="1447533"/>
            <a:chOff x="1041400" y="2983830"/>
            <a:chExt cx="8301120" cy="1447533"/>
          </a:xfrm>
        </p:grpSpPr>
        <p:sp>
          <p:nvSpPr>
            <p:cNvPr id="7731" name="Google Shape;7731;p120"/>
            <p:cNvSpPr/>
            <p:nvPr/>
          </p:nvSpPr>
          <p:spPr>
            <a:xfrm>
              <a:off x="1041400" y="3256108"/>
              <a:ext cx="6332794" cy="4272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loss/retransmission decreases effective throughput</a:t>
              </a:r>
              <a:endParaRPr/>
            </a:p>
          </p:txBody>
        </p:sp>
        <p:pic>
          <p:nvPicPr>
            <p:cNvPr id="7732" name="Google Shape;7732;p120"/>
            <p:cNvPicPr preferRelativeResize="0"/>
            <p:nvPr/>
          </p:nvPicPr>
          <p:blipFill rotWithShape="1">
            <a:blip r:embed="rId6">
              <a:alphaModFix/>
            </a:blip>
            <a:srcRect b="0" l="0" r="0" t="0"/>
            <a:stretch/>
          </p:blipFill>
          <p:spPr>
            <a:xfrm>
              <a:off x="7723915" y="2983830"/>
              <a:ext cx="1618605" cy="1447533"/>
            </a:xfrm>
            <a:prstGeom prst="rect">
              <a:avLst/>
            </a:prstGeom>
            <a:noFill/>
            <a:ln>
              <a:noFill/>
            </a:ln>
          </p:spPr>
        </p:pic>
      </p:grpSp>
      <p:grpSp>
        <p:nvGrpSpPr>
          <p:cNvPr id="7733" name="Google Shape;7733;p120"/>
          <p:cNvGrpSpPr/>
          <p:nvPr/>
        </p:nvGrpSpPr>
        <p:grpSpPr>
          <a:xfrm>
            <a:off x="1041400" y="1190115"/>
            <a:ext cx="8210815" cy="1330482"/>
            <a:chOff x="1041400" y="1190115"/>
            <a:chExt cx="8210815" cy="1330482"/>
          </a:xfrm>
        </p:grpSpPr>
        <p:sp>
          <p:nvSpPr>
            <p:cNvPr id="7734" name="Google Shape;7734;p120"/>
            <p:cNvSpPr/>
            <p:nvPr/>
          </p:nvSpPr>
          <p:spPr>
            <a:xfrm>
              <a:off x="1041400" y="1395413"/>
              <a:ext cx="6538912" cy="471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throughput can never exceed capacity </a:t>
              </a:r>
              <a:endParaRPr/>
            </a:p>
          </p:txBody>
        </p:sp>
        <p:pic>
          <p:nvPicPr>
            <p:cNvPr id="7735" name="Google Shape;7735;p120"/>
            <p:cNvPicPr preferRelativeResize="0"/>
            <p:nvPr/>
          </p:nvPicPr>
          <p:blipFill rotWithShape="1">
            <a:blip r:embed="rId7">
              <a:alphaModFix/>
            </a:blip>
            <a:srcRect b="0" l="0" r="0" t="0"/>
            <a:stretch/>
          </p:blipFill>
          <p:spPr>
            <a:xfrm>
              <a:off x="7729084" y="1190115"/>
              <a:ext cx="1523131" cy="1330482"/>
            </a:xfrm>
            <a:prstGeom prst="rect">
              <a:avLst/>
            </a:prstGeom>
            <a:noFill/>
            <a:ln>
              <a:noFill/>
            </a:ln>
          </p:spPr>
        </p:pic>
      </p:grpSp>
      <p:sp>
        <p:nvSpPr>
          <p:cNvPr id="7736" name="Google Shape;7736;p1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3"/>
                                        </p:tgtEl>
                                        <p:attrNameLst>
                                          <p:attrName>style.visibility</p:attrName>
                                        </p:attrNameLst>
                                      </p:cBhvr>
                                      <p:to>
                                        <p:strVal val="visible"/>
                                      </p:to>
                                    </p:set>
                                    <p:animEffect filter="fade" transition="in">
                                      <p:cBhvr>
                                        <p:cTn dur="500"/>
                                        <p:tgtEl>
                                          <p:spTgt spid="77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4"/>
                                        </p:tgtEl>
                                        <p:attrNameLst>
                                          <p:attrName>style.visibility</p:attrName>
                                        </p:attrNameLst>
                                      </p:cBhvr>
                                      <p:to>
                                        <p:strVal val="visible"/>
                                      </p:to>
                                    </p:set>
                                    <p:animEffect filter="fade" transition="in">
                                      <p:cBhvr>
                                        <p:cTn dur="500"/>
                                        <p:tgtEl>
                                          <p:spTgt spid="7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0"/>
                                        </p:tgtEl>
                                        <p:attrNameLst>
                                          <p:attrName>style.visibility</p:attrName>
                                        </p:attrNameLst>
                                      </p:cBhvr>
                                      <p:to>
                                        <p:strVal val="visible"/>
                                      </p:to>
                                    </p:set>
                                    <p:animEffect filter="fade" transition="in">
                                      <p:cBhvr>
                                        <p:cTn dur="500"/>
                                        <p:tgtEl>
                                          <p:spTgt spid="7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7"/>
                                        </p:tgtEl>
                                        <p:attrNameLst>
                                          <p:attrName>style.visibility</p:attrName>
                                        </p:attrNameLst>
                                      </p:cBhvr>
                                      <p:to>
                                        <p:strVal val="visible"/>
                                      </p:to>
                                    </p:set>
                                    <p:animEffect filter="fade" transition="in">
                                      <p:cBhvr>
                                        <p:cTn dur="500"/>
                                        <p:tgtEl>
                                          <p:spTgt spid="7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0"/>
                                        </p:tgtEl>
                                        <p:attrNameLst>
                                          <p:attrName>style.visibility</p:attrName>
                                        </p:attrNameLst>
                                      </p:cBhvr>
                                      <p:to>
                                        <p:strVal val="visible"/>
                                      </p:to>
                                    </p:set>
                                    <p:animEffect filter="fade" transition="in">
                                      <p:cBhvr>
                                        <p:cTn dur="500"/>
                                        <p:tgtEl>
                                          <p:spTgt spid="77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1" name="Shape 7741"/>
        <p:cNvGrpSpPr/>
        <p:nvPr/>
      </p:nvGrpSpPr>
      <p:grpSpPr>
        <a:xfrm>
          <a:off x="0" y="0"/>
          <a:ext cx="0" cy="0"/>
          <a:chOff x="0" y="0"/>
          <a:chExt cx="0" cy="0"/>
        </a:xfrm>
      </p:grpSpPr>
      <p:grpSp>
        <p:nvGrpSpPr>
          <p:cNvPr id="7742" name="Google Shape;7742;p121"/>
          <p:cNvGrpSpPr/>
          <p:nvPr/>
        </p:nvGrpSpPr>
        <p:grpSpPr>
          <a:xfrm>
            <a:off x="10476914" y="2368655"/>
            <a:ext cx="717868" cy="1154474"/>
            <a:chOff x="7664720" y="2795550"/>
            <a:chExt cx="717868" cy="1154474"/>
          </a:xfrm>
        </p:grpSpPr>
        <p:sp>
          <p:nvSpPr>
            <p:cNvPr id="7743" name="Google Shape;7743;p121"/>
            <p:cNvSpPr/>
            <p:nvPr/>
          </p:nvSpPr>
          <p:spPr>
            <a:xfrm>
              <a:off x="7671781" y="2795550"/>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744" name="Google Shape;7744;p121"/>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45" name="Google Shape;7745;p121"/>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46" name="Google Shape;7746;p121"/>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47" name="Google Shape;7747;p121"/>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sp>
        <p:nvSpPr>
          <p:cNvPr id="7748" name="Google Shape;7748;p121"/>
          <p:cNvSpPr/>
          <p:nvPr/>
        </p:nvSpPr>
        <p:spPr>
          <a:xfrm flipH="1">
            <a:off x="6810066" y="2305050"/>
            <a:ext cx="250825" cy="120173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749" name="Google Shape;7749;p121"/>
          <p:cNvGrpSpPr/>
          <p:nvPr/>
        </p:nvGrpSpPr>
        <p:grpSpPr>
          <a:xfrm>
            <a:off x="6405254" y="3243263"/>
            <a:ext cx="525462" cy="434975"/>
            <a:chOff x="-44" y="1473"/>
            <a:chExt cx="981" cy="1105"/>
          </a:xfrm>
        </p:grpSpPr>
        <p:pic>
          <p:nvPicPr>
            <p:cNvPr descr="desktop_computer_stylized_medium" id="7750" name="Google Shape;7750;p1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751" name="Google Shape;7751;p1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752" name="Google Shape;7752;p121"/>
          <p:cNvGrpSpPr/>
          <p:nvPr/>
        </p:nvGrpSpPr>
        <p:grpSpPr>
          <a:xfrm>
            <a:off x="7045286" y="2362077"/>
            <a:ext cx="717868" cy="1154474"/>
            <a:chOff x="7664720" y="2799688"/>
            <a:chExt cx="717868" cy="1154474"/>
          </a:xfrm>
        </p:grpSpPr>
        <p:sp>
          <p:nvSpPr>
            <p:cNvPr id="7753" name="Google Shape;7753;p121"/>
            <p:cNvSpPr/>
            <p:nvPr/>
          </p:nvSpPr>
          <p:spPr>
            <a:xfrm>
              <a:off x="7671781" y="2799688"/>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754" name="Google Shape;7754;p121"/>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55" name="Google Shape;7755;p121"/>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56" name="Google Shape;7756;p121"/>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757" name="Google Shape;7757;p121"/>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sp>
        <p:nvSpPr>
          <p:cNvPr id="7758" name="Google Shape;7758;p121"/>
          <p:cNvSpPr txBox="1"/>
          <p:nvPr>
            <p:ph idx="1" type="body"/>
          </p:nvPr>
        </p:nvSpPr>
        <p:spPr>
          <a:xfrm>
            <a:off x="884903" y="1939313"/>
            <a:ext cx="5562600" cy="2536434"/>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3200"/>
              <a:buFont typeface="Noto Sans Symbols"/>
              <a:buNone/>
            </a:pPr>
            <a:r>
              <a:rPr lang="en-US" sz="3200">
                <a:solidFill>
                  <a:srgbClr val="C00000"/>
                </a:solidFill>
              </a:rPr>
              <a:t>End-end congestion control:</a:t>
            </a:r>
            <a:endParaRPr/>
          </a:p>
          <a:p>
            <a:pPr indent="-336550" lvl="0" marL="466725" rtl="0" algn="l">
              <a:lnSpc>
                <a:spcPct val="90000"/>
              </a:lnSpc>
              <a:spcBef>
                <a:spcPts val="1000"/>
              </a:spcBef>
              <a:spcAft>
                <a:spcPts val="0"/>
              </a:spcAft>
              <a:buSzPts val="3200"/>
              <a:buChar char="▪"/>
            </a:pPr>
            <a:r>
              <a:rPr lang="en-US" sz="3200"/>
              <a:t>no explicit feedback from network</a:t>
            </a:r>
            <a:endParaRPr/>
          </a:p>
          <a:p>
            <a:pPr indent="-336550" lvl="0" marL="466725" rtl="0" algn="l">
              <a:lnSpc>
                <a:spcPct val="90000"/>
              </a:lnSpc>
              <a:spcBef>
                <a:spcPts val="1000"/>
              </a:spcBef>
              <a:spcAft>
                <a:spcPts val="0"/>
              </a:spcAft>
              <a:buSzPts val="3200"/>
              <a:buChar char="▪"/>
            </a:pPr>
            <a:r>
              <a:rPr lang="en-US" sz="3200"/>
              <a:t>congestion </a:t>
            </a:r>
            <a:r>
              <a:rPr i="1" lang="en-US" sz="3200">
                <a:solidFill>
                  <a:srgbClr val="C00000"/>
                </a:solidFill>
              </a:rPr>
              <a:t>inferred</a:t>
            </a:r>
            <a:r>
              <a:rPr lang="en-US" sz="3200"/>
              <a:t> from observed loss, delay</a:t>
            </a:r>
            <a:endParaRPr/>
          </a:p>
        </p:txBody>
      </p:sp>
      <p:sp>
        <p:nvSpPr>
          <p:cNvPr id="7759" name="Google Shape;7759;p12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Approaches towards congestion control</a:t>
            </a:r>
            <a:endParaRPr sz="5400"/>
          </a:p>
        </p:txBody>
      </p:sp>
      <p:sp>
        <p:nvSpPr>
          <p:cNvPr id="7760" name="Google Shape;7760;p121"/>
          <p:cNvSpPr/>
          <p:nvPr/>
        </p:nvSpPr>
        <p:spPr>
          <a:xfrm>
            <a:off x="7675918" y="3459066"/>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1" name="Google Shape;7761;p121"/>
          <p:cNvSpPr/>
          <p:nvPr/>
        </p:nvSpPr>
        <p:spPr>
          <a:xfrm>
            <a:off x="8314293" y="3762231"/>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2" name="Google Shape;7762;p121"/>
          <p:cNvSpPr/>
          <p:nvPr/>
        </p:nvSpPr>
        <p:spPr>
          <a:xfrm>
            <a:off x="9356021" y="3755882"/>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3" name="Google Shape;7763;p121"/>
          <p:cNvSpPr/>
          <p:nvPr/>
        </p:nvSpPr>
        <p:spPr>
          <a:xfrm>
            <a:off x="8290473" y="4147933"/>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4" name="Google Shape;7764;p121"/>
          <p:cNvSpPr/>
          <p:nvPr/>
        </p:nvSpPr>
        <p:spPr>
          <a:xfrm>
            <a:off x="9238509" y="4124124"/>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5" name="Google Shape;7765;p121"/>
          <p:cNvSpPr/>
          <p:nvPr/>
        </p:nvSpPr>
        <p:spPr>
          <a:xfrm>
            <a:off x="9905469" y="4178091"/>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6" name="Google Shape;7766;p121"/>
          <p:cNvSpPr/>
          <p:nvPr/>
        </p:nvSpPr>
        <p:spPr>
          <a:xfrm>
            <a:off x="8670005" y="4711407"/>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767" name="Google Shape;7767;p121"/>
          <p:cNvSpPr/>
          <p:nvPr/>
        </p:nvSpPr>
        <p:spPr>
          <a:xfrm>
            <a:off x="8133261" y="4171742"/>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7768" name="Google Shape;7768;p121"/>
          <p:cNvGrpSpPr/>
          <p:nvPr/>
        </p:nvGrpSpPr>
        <p:grpSpPr>
          <a:xfrm>
            <a:off x="9719734" y="3946352"/>
            <a:ext cx="578032" cy="285706"/>
            <a:chOff x="7493876" y="2774731"/>
            <a:chExt cx="1481958" cy="894622"/>
          </a:xfrm>
        </p:grpSpPr>
        <p:sp>
          <p:nvSpPr>
            <p:cNvPr id="7769" name="Google Shape;7769;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70" name="Google Shape;7770;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71" name="Google Shape;7771;p121"/>
            <p:cNvGrpSpPr/>
            <p:nvPr/>
          </p:nvGrpSpPr>
          <p:grpSpPr>
            <a:xfrm>
              <a:off x="7713663" y="2848339"/>
              <a:ext cx="1042107" cy="425543"/>
              <a:chOff x="7786941" y="2884917"/>
              <a:chExt cx="897649" cy="353919"/>
            </a:xfrm>
          </p:grpSpPr>
          <p:sp>
            <p:nvSpPr>
              <p:cNvPr id="7772" name="Google Shape;7772;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3" name="Google Shape;7773;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4" name="Google Shape;7774;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5" name="Google Shape;7775;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76" name="Google Shape;7776;p121"/>
          <p:cNvGrpSpPr/>
          <p:nvPr/>
        </p:nvGrpSpPr>
        <p:grpSpPr>
          <a:xfrm>
            <a:off x="9351606" y="4600112"/>
            <a:ext cx="578032" cy="285706"/>
            <a:chOff x="7493876" y="2774731"/>
            <a:chExt cx="1481958" cy="894622"/>
          </a:xfrm>
        </p:grpSpPr>
        <p:sp>
          <p:nvSpPr>
            <p:cNvPr id="7777" name="Google Shape;7777;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78" name="Google Shape;7778;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79" name="Google Shape;7779;p121"/>
            <p:cNvGrpSpPr/>
            <p:nvPr/>
          </p:nvGrpSpPr>
          <p:grpSpPr>
            <a:xfrm>
              <a:off x="7713663" y="2848339"/>
              <a:ext cx="1042107" cy="425543"/>
              <a:chOff x="7786941" y="2884917"/>
              <a:chExt cx="897649" cy="353919"/>
            </a:xfrm>
          </p:grpSpPr>
          <p:sp>
            <p:nvSpPr>
              <p:cNvPr id="7780" name="Google Shape;7780;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1" name="Google Shape;7781;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2" name="Google Shape;7782;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3" name="Google Shape;7783;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84" name="Google Shape;7784;p121"/>
          <p:cNvGrpSpPr/>
          <p:nvPr/>
        </p:nvGrpSpPr>
        <p:grpSpPr>
          <a:xfrm>
            <a:off x="8195132" y="4551443"/>
            <a:ext cx="578032" cy="285706"/>
            <a:chOff x="7493876" y="2774731"/>
            <a:chExt cx="1481958" cy="894622"/>
          </a:xfrm>
        </p:grpSpPr>
        <p:sp>
          <p:nvSpPr>
            <p:cNvPr id="7785" name="Google Shape;7785;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86" name="Google Shape;7786;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87" name="Google Shape;7787;p121"/>
            <p:cNvGrpSpPr/>
            <p:nvPr/>
          </p:nvGrpSpPr>
          <p:grpSpPr>
            <a:xfrm>
              <a:off x="7713663" y="2848339"/>
              <a:ext cx="1042107" cy="425543"/>
              <a:chOff x="7786941" y="2884917"/>
              <a:chExt cx="897649" cy="353919"/>
            </a:xfrm>
          </p:grpSpPr>
          <p:sp>
            <p:nvSpPr>
              <p:cNvPr id="7788" name="Google Shape;7788;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9" name="Google Shape;7789;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0" name="Google Shape;7790;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1" name="Google Shape;7791;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92" name="Google Shape;7792;p121"/>
          <p:cNvGrpSpPr/>
          <p:nvPr/>
        </p:nvGrpSpPr>
        <p:grpSpPr>
          <a:xfrm>
            <a:off x="8800632" y="3636044"/>
            <a:ext cx="578032" cy="285706"/>
            <a:chOff x="7493876" y="2774731"/>
            <a:chExt cx="1481958" cy="894622"/>
          </a:xfrm>
        </p:grpSpPr>
        <p:sp>
          <p:nvSpPr>
            <p:cNvPr id="7793" name="Google Shape;7793;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94" name="Google Shape;7794;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95" name="Google Shape;7795;p121"/>
            <p:cNvGrpSpPr/>
            <p:nvPr/>
          </p:nvGrpSpPr>
          <p:grpSpPr>
            <a:xfrm>
              <a:off x="7713663" y="2848339"/>
              <a:ext cx="1042107" cy="425543"/>
              <a:chOff x="7786941" y="2884917"/>
              <a:chExt cx="897649" cy="353919"/>
            </a:xfrm>
          </p:grpSpPr>
          <p:sp>
            <p:nvSpPr>
              <p:cNvPr id="7796" name="Google Shape;7796;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7" name="Google Shape;7797;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8" name="Google Shape;7798;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9" name="Google Shape;7799;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00" name="Google Shape;7800;p121"/>
          <p:cNvGrpSpPr/>
          <p:nvPr/>
        </p:nvGrpSpPr>
        <p:grpSpPr>
          <a:xfrm>
            <a:off x="8711293" y="4233883"/>
            <a:ext cx="578032" cy="285706"/>
            <a:chOff x="7493876" y="2774731"/>
            <a:chExt cx="1481958" cy="894622"/>
          </a:xfrm>
        </p:grpSpPr>
        <p:sp>
          <p:nvSpPr>
            <p:cNvPr id="7801" name="Google Shape;7801;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02" name="Google Shape;7802;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03" name="Google Shape;7803;p121"/>
            <p:cNvGrpSpPr/>
            <p:nvPr/>
          </p:nvGrpSpPr>
          <p:grpSpPr>
            <a:xfrm>
              <a:off x="7713663" y="2848339"/>
              <a:ext cx="1042107" cy="425543"/>
              <a:chOff x="7786941" y="2884917"/>
              <a:chExt cx="897649" cy="353919"/>
            </a:xfrm>
          </p:grpSpPr>
          <p:sp>
            <p:nvSpPr>
              <p:cNvPr id="7804" name="Google Shape;7804;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5" name="Google Shape;7805;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6" name="Google Shape;7806;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7" name="Google Shape;7807;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08" name="Google Shape;7808;p121"/>
          <p:cNvGrpSpPr/>
          <p:nvPr/>
        </p:nvGrpSpPr>
        <p:grpSpPr>
          <a:xfrm>
            <a:off x="7764614" y="3944180"/>
            <a:ext cx="578032" cy="285706"/>
            <a:chOff x="7493876" y="2774731"/>
            <a:chExt cx="1481958" cy="894622"/>
          </a:xfrm>
        </p:grpSpPr>
        <p:sp>
          <p:nvSpPr>
            <p:cNvPr id="7809" name="Google Shape;7809;p12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10" name="Google Shape;7810;p12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11" name="Google Shape;7811;p121"/>
            <p:cNvGrpSpPr/>
            <p:nvPr/>
          </p:nvGrpSpPr>
          <p:grpSpPr>
            <a:xfrm>
              <a:off x="7713663" y="2848339"/>
              <a:ext cx="1042107" cy="425543"/>
              <a:chOff x="7786941" y="2884917"/>
              <a:chExt cx="897649" cy="353919"/>
            </a:xfrm>
          </p:grpSpPr>
          <p:sp>
            <p:nvSpPr>
              <p:cNvPr id="7812" name="Google Shape;7812;p12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3" name="Google Shape;7813;p12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4" name="Google Shape;7814;p12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5" name="Google Shape;7815;p12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16" name="Google Shape;7816;p121"/>
          <p:cNvGrpSpPr/>
          <p:nvPr/>
        </p:nvGrpSpPr>
        <p:grpSpPr>
          <a:xfrm>
            <a:off x="8867832" y="4245561"/>
            <a:ext cx="456701" cy="226548"/>
            <a:chOff x="6859123" y="5156933"/>
            <a:chExt cx="456701" cy="226548"/>
          </a:xfrm>
        </p:grpSpPr>
        <p:sp>
          <p:nvSpPr>
            <p:cNvPr id="7817" name="Google Shape;7817;p121"/>
            <p:cNvSpPr/>
            <p:nvPr/>
          </p:nvSpPr>
          <p:spPr>
            <a:xfrm>
              <a:off x="6859123" y="5156933"/>
              <a:ext cx="456701" cy="226548"/>
            </a:xfrm>
            <a:prstGeom prst="rect">
              <a:avLst/>
            </a:prstGeom>
            <a:solidFill>
              <a:srgbClr val="F989B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818" name="Google Shape;7818;p121"/>
            <p:cNvCxnSpPr/>
            <p:nvPr/>
          </p:nvCxnSpPr>
          <p:spPr>
            <a:xfrm rot="10800000">
              <a:off x="724911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19" name="Google Shape;7819;p121"/>
            <p:cNvCxnSpPr/>
            <p:nvPr/>
          </p:nvCxnSpPr>
          <p:spPr>
            <a:xfrm rot="10800000">
              <a:off x="7197800"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0" name="Google Shape;7820;p121"/>
            <p:cNvCxnSpPr/>
            <p:nvPr/>
          </p:nvCxnSpPr>
          <p:spPr>
            <a:xfrm rot="10800000">
              <a:off x="714648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1" name="Google Shape;7821;p121"/>
            <p:cNvCxnSpPr/>
            <p:nvPr/>
          </p:nvCxnSpPr>
          <p:spPr>
            <a:xfrm rot="10800000">
              <a:off x="709517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2" name="Google Shape;7822;p121"/>
            <p:cNvCxnSpPr/>
            <p:nvPr/>
          </p:nvCxnSpPr>
          <p:spPr>
            <a:xfrm rot="10800000">
              <a:off x="7043856"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3" name="Google Shape;7823;p121"/>
            <p:cNvCxnSpPr/>
            <p:nvPr/>
          </p:nvCxnSpPr>
          <p:spPr>
            <a:xfrm rot="10800000">
              <a:off x="699254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824" name="Google Shape;7824;p121"/>
            <p:cNvCxnSpPr/>
            <p:nvPr/>
          </p:nvCxnSpPr>
          <p:spPr>
            <a:xfrm rot="10800000">
              <a:off x="6941227" y="5189971"/>
              <a:ext cx="0" cy="155752"/>
            </a:xfrm>
            <a:prstGeom prst="straightConnector1">
              <a:avLst/>
            </a:prstGeom>
            <a:noFill/>
            <a:ln cap="flat" cmpd="sng" w="12700">
              <a:solidFill>
                <a:srgbClr val="FF0000"/>
              </a:solidFill>
              <a:prstDash val="solid"/>
              <a:miter lim="800000"/>
              <a:headEnd len="sm" w="sm" type="none"/>
              <a:tailEnd len="sm" w="sm" type="none"/>
            </a:ln>
          </p:spPr>
        </p:cxnSp>
      </p:grpSp>
      <p:grpSp>
        <p:nvGrpSpPr>
          <p:cNvPr id="7825" name="Google Shape;7825;p121"/>
          <p:cNvGrpSpPr/>
          <p:nvPr/>
        </p:nvGrpSpPr>
        <p:grpSpPr>
          <a:xfrm>
            <a:off x="7428575" y="2677315"/>
            <a:ext cx="3355719" cy="1705017"/>
            <a:chOff x="7428575" y="2677315"/>
            <a:chExt cx="3355719" cy="1705017"/>
          </a:xfrm>
        </p:grpSpPr>
        <p:sp>
          <p:nvSpPr>
            <p:cNvPr id="7826" name="Google Shape;7826;p121"/>
            <p:cNvSpPr/>
            <p:nvPr/>
          </p:nvSpPr>
          <p:spPr>
            <a:xfrm>
              <a:off x="9335149" y="2701273"/>
              <a:ext cx="1406838" cy="1681059"/>
            </a:xfrm>
            <a:custGeom>
              <a:rect b="b" l="l" r="r" t="t"/>
              <a:pathLst>
                <a:path extrusionOk="0" h="1681059" w="1541303">
                  <a:moveTo>
                    <a:pt x="0" y="1681059"/>
                  </a:moveTo>
                  <a:lnTo>
                    <a:pt x="539056" y="1465436"/>
                  </a:lnTo>
                  <a:lnTo>
                    <a:pt x="1541303" y="1445471"/>
                  </a:lnTo>
                  <a:lnTo>
                    <a:pt x="1525331" y="0"/>
                  </a:lnTo>
                </a:path>
              </a:pathLst>
            </a:custGeom>
            <a:noFill/>
            <a:ln cap="flat" cmpd="sng" w="4445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7" name="Google Shape;7827;p121"/>
            <p:cNvSpPr/>
            <p:nvPr/>
          </p:nvSpPr>
          <p:spPr>
            <a:xfrm>
              <a:off x="7473006" y="2677315"/>
              <a:ext cx="1446868" cy="1701024"/>
            </a:xfrm>
            <a:custGeom>
              <a:rect b="b" l="l" r="r" t="t"/>
              <a:pathLst>
                <a:path extrusionOk="0" h="1701024" w="1549289">
                  <a:moveTo>
                    <a:pt x="0" y="0"/>
                  </a:moveTo>
                  <a:lnTo>
                    <a:pt x="7986" y="1481408"/>
                  </a:lnTo>
                  <a:lnTo>
                    <a:pt x="1030198" y="1485401"/>
                  </a:lnTo>
                  <a:lnTo>
                    <a:pt x="1549289" y="1701024"/>
                  </a:lnTo>
                </a:path>
              </a:pathLst>
            </a:custGeom>
            <a:noFill/>
            <a:ln cap="flat" cmpd="sng" w="3810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8" name="Google Shape;7828;p121"/>
            <p:cNvSpPr txBox="1"/>
            <p:nvPr/>
          </p:nvSpPr>
          <p:spPr>
            <a:xfrm>
              <a:off x="10184578" y="355661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sp>
          <p:nvSpPr>
            <p:cNvPr id="7829" name="Google Shape;7829;p121"/>
            <p:cNvSpPr txBox="1"/>
            <p:nvPr/>
          </p:nvSpPr>
          <p:spPr>
            <a:xfrm>
              <a:off x="7428575" y="351769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grpSp>
      <p:grpSp>
        <p:nvGrpSpPr>
          <p:cNvPr id="7830" name="Google Shape;7830;p121"/>
          <p:cNvGrpSpPr/>
          <p:nvPr/>
        </p:nvGrpSpPr>
        <p:grpSpPr>
          <a:xfrm>
            <a:off x="6799618" y="2691243"/>
            <a:ext cx="4657206" cy="1827509"/>
            <a:chOff x="6799618" y="2691243"/>
            <a:chExt cx="4657206" cy="1827509"/>
          </a:xfrm>
        </p:grpSpPr>
        <p:sp>
          <p:nvSpPr>
            <p:cNvPr id="7831" name="Google Shape;7831;p121"/>
            <p:cNvSpPr/>
            <p:nvPr/>
          </p:nvSpPr>
          <p:spPr>
            <a:xfrm>
              <a:off x="7353946" y="2691243"/>
              <a:ext cx="3498244" cy="1827509"/>
            </a:xfrm>
            <a:custGeom>
              <a:rect b="b" l="l" r="r" t="t"/>
              <a:pathLst>
                <a:path extrusionOk="0" h="1827509" w="3832605">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cap="flat" cmpd="sng" w="254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2" name="Google Shape;7832;p121"/>
            <p:cNvSpPr txBox="1"/>
            <p:nvPr/>
          </p:nvSpPr>
          <p:spPr>
            <a:xfrm>
              <a:off x="6799618" y="3650736"/>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sp>
          <p:nvSpPr>
            <p:cNvPr id="7833" name="Google Shape;7833;p121"/>
            <p:cNvSpPr txBox="1"/>
            <p:nvPr/>
          </p:nvSpPr>
          <p:spPr>
            <a:xfrm>
              <a:off x="10809403" y="3772400"/>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grpSp>
      <p:sp>
        <p:nvSpPr>
          <p:cNvPr id="7834" name="Google Shape;7834;p121"/>
          <p:cNvSpPr/>
          <p:nvPr/>
        </p:nvSpPr>
        <p:spPr>
          <a:xfrm>
            <a:off x="11178866" y="2363683"/>
            <a:ext cx="250825" cy="12128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35" name="Google Shape;7835;p121"/>
          <p:cNvGrpSpPr/>
          <p:nvPr/>
        </p:nvGrpSpPr>
        <p:grpSpPr>
          <a:xfrm>
            <a:off x="11355079" y="3260620"/>
            <a:ext cx="231775" cy="441325"/>
            <a:chOff x="4140" y="429"/>
            <a:chExt cx="1425" cy="2396"/>
          </a:xfrm>
        </p:grpSpPr>
        <p:sp>
          <p:nvSpPr>
            <p:cNvPr id="7836" name="Google Shape;7836;p1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7" name="Google Shape;7837;p121"/>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8" name="Google Shape;7838;p1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39" name="Google Shape;7839;p1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0" name="Google Shape;7840;p121"/>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41" name="Google Shape;7841;p121"/>
            <p:cNvGrpSpPr/>
            <p:nvPr/>
          </p:nvGrpSpPr>
          <p:grpSpPr>
            <a:xfrm>
              <a:off x="4745" y="670"/>
              <a:ext cx="586" cy="146"/>
              <a:chOff x="609" y="2570"/>
              <a:chExt cx="731" cy="140"/>
            </a:xfrm>
          </p:grpSpPr>
          <p:sp>
            <p:nvSpPr>
              <p:cNvPr id="7842" name="Google Shape;7842;p121"/>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3" name="Google Shape;7843;p121"/>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44" name="Google Shape;7844;p121"/>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45" name="Google Shape;7845;p121"/>
            <p:cNvGrpSpPr/>
            <p:nvPr/>
          </p:nvGrpSpPr>
          <p:grpSpPr>
            <a:xfrm>
              <a:off x="4745" y="998"/>
              <a:ext cx="586" cy="129"/>
              <a:chOff x="612" y="2572"/>
              <a:chExt cx="731" cy="134"/>
            </a:xfrm>
          </p:grpSpPr>
          <p:sp>
            <p:nvSpPr>
              <p:cNvPr id="7846" name="Google Shape;7846;p121"/>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7" name="Google Shape;7847;p121"/>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48" name="Google Shape;7848;p121"/>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49" name="Google Shape;7849;p121"/>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50" name="Google Shape;7850;p121"/>
            <p:cNvGrpSpPr/>
            <p:nvPr/>
          </p:nvGrpSpPr>
          <p:grpSpPr>
            <a:xfrm>
              <a:off x="4735" y="1627"/>
              <a:ext cx="586" cy="215"/>
              <a:chOff x="614" y="2568"/>
              <a:chExt cx="730" cy="198"/>
            </a:xfrm>
          </p:grpSpPr>
          <p:sp>
            <p:nvSpPr>
              <p:cNvPr id="7851" name="Google Shape;7851;p121"/>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2" name="Google Shape;7852;p121"/>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53" name="Google Shape;7853;p1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54" name="Google Shape;7854;p121"/>
            <p:cNvGrpSpPr/>
            <p:nvPr/>
          </p:nvGrpSpPr>
          <p:grpSpPr>
            <a:xfrm>
              <a:off x="4735" y="1325"/>
              <a:ext cx="586" cy="138"/>
              <a:chOff x="609" y="2566"/>
              <a:chExt cx="730" cy="138"/>
            </a:xfrm>
          </p:grpSpPr>
          <p:sp>
            <p:nvSpPr>
              <p:cNvPr id="7855" name="Google Shape;7855;p121"/>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6" name="Google Shape;7856;p121"/>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57" name="Google Shape;7857;p121"/>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8" name="Google Shape;7858;p1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9" name="Google Shape;7859;p1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0" name="Google Shape;7860;p121"/>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1" name="Google Shape;7861;p1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2" name="Google Shape;7862;p12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3" name="Google Shape;7863;p121"/>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4" name="Google Shape;7864;p121"/>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5" name="Google Shape;7865;p121"/>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866" name="Google Shape;7866;p121"/>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7" name="Google Shape;7867;p121"/>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68" name="Google Shape;7868;p121"/>
          <p:cNvSpPr txBox="1"/>
          <p:nvPr/>
        </p:nvSpPr>
        <p:spPr>
          <a:xfrm>
            <a:off x="921800" y="4257398"/>
            <a:ext cx="5562600" cy="632236"/>
          </a:xfrm>
          <a:prstGeom prst="rect">
            <a:avLst/>
          </a:prstGeom>
          <a:noFill/>
          <a:ln>
            <a:noFill/>
          </a:ln>
        </p:spPr>
        <p:txBody>
          <a:bodyPr anchorCtr="0" anchor="t" bIns="45700" lIns="91425" spcFirstLastPara="1" rIns="91425" wrap="square" tIns="45700">
            <a:normAutofit/>
          </a:bodyPr>
          <a:lstStyle/>
          <a:p>
            <a:pPr indent="-336550" lvl="0" marL="4667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approach taken by TCP</a:t>
            </a:r>
            <a:endParaRPr b="0" i="0" sz="3600" u="none" cap="none" strike="noStrike">
              <a:solidFill>
                <a:srgbClr val="000000"/>
              </a:solidFill>
              <a:latin typeface="Calibri"/>
              <a:ea typeface="Calibri"/>
              <a:cs typeface="Calibri"/>
              <a:sym typeface="Calibri"/>
            </a:endParaRPr>
          </a:p>
        </p:txBody>
      </p:sp>
      <p:sp>
        <p:nvSpPr>
          <p:cNvPr id="7869" name="Google Shape;7869;p1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25"/>
                                        </p:tgtEl>
                                        <p:attrNameLst>
                                          <p:attrName>style.visibility</p:attrName>
                                        </p:attrNameLst>
                                      </p:cBhvr>
                                      <p:to>
                                        <p:strVal val="visible"/>
                                      </p:to>
                                    </p:set>
                                    <p:animEffect filter="fade" transition="in">
                                      <p:cBhvr>
                                        <p:cTn dur="1000"/>
                                        <p:tgtEl>
                                          <p:spTgt spid="78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830"/>
                                        </p:tgtEl>
                                        <p:attrNameLst>
                                          <p:attrName>style.visibility</p:attrName>
                                        </p:attrNameLst>
                                      </p:cBhvr>
                                      <p:to>
                                        <p:strVal val="visible"/>
                                      </p:to>
                                    </p:set>
                                    <p:animEffect filter="fade" transition="in">
                                      <p:cBhvr>
                                        <p:cTn dur="1000"/>
                                        <p:tgtEl>
                                          <p:spTgt spid="7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68"/>
                                        </p:tgtEl>
                                        <p:attrNameLst>
                                          <p:attrName>style.visibility</p:attrName>
                                        </p:attrNameLst>
                                      </p:cBhvr>
                                      <p:to>
                                        <p:strVal val="visible"/>
                                      </p:to>
                                    </p:set>
                                    <p:animEffect filter="fade" transition="in">
                                      <p:cBhvr>
                                        <p:cTn dur="500"/>
                                        <p:tgtEl>
                                          <p:spTgt spid="78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4" name="Shape 7874"/>
        <p:cNvGrpSpPr/>
        <p:nvPr/>
      </p:nvGrpSpPr>
      <p:grpSpPr>
        <a:xfrm>
          <a:off x="0" y="0"/>
          <a:ext cx="0" cy="0"/>
          <a:chOff x="0" y="0"/>
          <a:chExt cx="0" cy="0"/>
        </a:xfrm>
      </p:grpSpPr>
      <p:sp>
        <p:nvSpPr>
          <p:cNvPr id="7875" name="Google Shape;7875;p122"/>
          <p:cNvSpPr txBox="1"/>
          <p:nvPr>
            <p:ph idx="1" type="body"/>
          </p:nvPr>
        </p:nvSpPr>
        <p:spPr>
          <a:xfrm>
            <a:off x="718945" y="5640403"/>
            <a:ext cx="5781368" cy="736333"/>
          </a:xfrm>
          <a:prstGeom prst="rect">
            <a:avLst/>
          </a:prstGeom>
          <a:noFill/>
          <a:ln>
            <a:noFill/>
          </a:ln>
        </p:spPr>
        <p:txBody>
          <a:bodyPr anchorCtr="0" anchor="t" bIns="45700" lIns="91425" spcFirstLastPara="1" rIns="91425" wrap="square" tIns="45700">
            <a:normAutofit/>
          </a:bodyPr>
          <a:lstStyle/>
          <a:p>
            <a:pPr indent="-277813" lvl="0" marL="407988" rtl="0" algn="l">
              <a:lnSpc>
                <a:spcPct val="90000"/>
              </a:lnSpc>
              <a:spcBef>
                <a:spcPts val="0"/>
              </a:spcBef>
              <a:spcAft>
                <a:spcPts val="0"/>
              </a:spcAft>
              <a:buSzPts val="3000"/>
              <a:buChar char="▪"/>
            </a:pPr>
            <a:r>
              <a:rPr lang="en-US" sz="3000"/>
              <a:t>TCP ECN, ATM, DECbit protocols</a:t>
            </a:r>
            <a:endParaRPr sz="3500"/>
          </a:p>
        </p:txBody>
      </p:sp>
      <p:sp>
        <p:nvSpPr>
          <p:cNvPr id="7876" name="Google Shape;7876;p12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Approaches towards congestion control</a:t>
            </a:r>
            <a:endParaRPr sz="5400"/>
          </a:p>
        </p:txBody>
      </p:sp>
      <p:sp>
        <p:nvSpPr>
          <p:cNvPr id="7877" name="Google Shape;7877;p122"/>
          <p:cNvSpPr/>
          <p:nvPr/>
        </p:nvSpPr>
        <p:spPr>
          <a:xfrm>
            <a:off x="7675918" y="3459066"/>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78" name="Google Shape;7878;p122"/>
          <p:cNvSpPr/>
          <p:nvPr/>
        </p:nvSpPr>
        <p:spPr>
          <a:xfrm>
            <a:off x="8314293" y="3762231"/>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79" name="Google Shape;7879;p122"/>
          <p:cNvSpPr/>
          <p:nvPr/>
        </p:nvSpPr>
        <p:spPr>
          <a:xfrm>
            <a:off x="9356021" y="3755882"/>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0" name="Google Shape;7880;p122"/>
          <p:cNvSpPr/>
          <p:nvPr/>
        </p:nvSpPr>
        <p:spPr>
          <a:xfrm>
            <a:off x="8290473" y="4147933"/>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1" name="Google Shape;7881;p122"/>
          <p:cNvSpPr/>
          <p:nvPr/>
        </p:nvSpPr>
        <p:spPr>
          <a:xfrm>
            <a:off x="9238509" y="4124124"/>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2" name="Google Shape;7882;p122"/>
          <p:cNvSpPr/>
          <p:nvPr/>
        </p:nvSpPr>
        <p:spPr>
          <a:xfrm>
            <a:off x="9905469" y="4178091"/>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3" name="Google Shape;7883;p122"/>
          <p:cNvSpPr/>
          <p:nvPr/>
        </p:nvSpPr>
        <p:spPr>
          <a:xfrm>
            <a:off x="8670005" y="4711407"/>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884" name="Google Shape;7884;p122"/>
          <p:cNvSpPr/>
          <p:nvPr/>
        </p:nvSpPr>
        <p:spPr>
          <a:xfrm>
            <a:off x="8133261" y="4171742"/>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7885" name="Google Shape;7885;p122"/>
          <p:cNvGrpSpPr/>
          <p:nvPr/>
        </p:nvGrpSpPr>
        <p:grpSpPr>
          <a:xfrm>
            <a:off x="9719734" y="3946352"/>
            <a:ext cx="578032" cy="285706"/>
            <a:chOff x="7493876" y="2774731"/>
            <a:chExt cx="1481958" cy="894622"/>
          </a:xfrm>
        </p:grpSpPr>
        <p:sp>
          <p:nvSpPr>
            <p:cNvPr id="7886" name="Google Shape;7886;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87" name="Google Shape;7887;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88" name="Google Shape;7888;p122"/>
            <p:cNvGrpSpPr/>
            <p:nvPr/>
          </p:nvGrpSpPr>
          <p:grpSpPr>
            <a:xfrm>
              <a:off x="7713663" y="2848339"/>
              <a:ext cx="1042107" cy="425543"/>
              <a:chOff x="7786941" y="2884917"/>
              <a:chExt cx="897649" cy="353919"/>
            </a:xfrm>
          </p:grpSpPr>
          <p:sp>
            <p:nvSpPr>
              <p:cNvPr id="7889" name="Google Shape;7889;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0" name="Google Shape;7890;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1" name="Google Shape;7891;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2" name="Google Shape;7892;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93" name="Google Shape;7893;p122"/>
          <p:cNvGrpSpPr/>
          <p:nvPr/>
        </p:nvGrpSpPr>
        <p:grpSpPr>
          <a:xfrm>
            <a:off x="9351606" y="4600112"/>
            <a:ext cx="578032" cy="285706"/>
            <a:chOff x="7493876" y="2774731"/>
            <a:chExt cx="1481958" cy="894622"/>
          </a:xfrm>
        </p:grpSpPr>
        <p:sp>
          <p:nvSpPr>
            <p:cNvPr id="7894" name="Google Shape;7894;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95" name="Google Shape;7895;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96" name="Google Shape;7896;p122"/>
            <p:cNvGrpSpPr/>
            <p:nvPr/>
          </p:nvGrpSpPr>
          <p:grpSpPr>
            <a:xfrm>
              <a:off x="7713663" y="2848339"/>
              <a:ext cx="1042107" cy="425543"/>
              <a:chOff x="7786941" y="2884917"/>
              <a:chExt cx="897649" cy="353919"/>
            </a:xfrm>
          </p:grpSpPr>
          <p:sp>
            <p:nvSpPr>
              <p:cNvPr id="7897" name="Google Shape;7897;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8" name="Google Shape;7898;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9" name="Google Shape;7899;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0" name="Google Shape;7900;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01" name="Google Shape;7901;p122"/>
          <p:cNvGrpSpPr/>
          <p:nvPr/>
        </p:nvGrpSpPr>
        <p:grpSpPr>
          <a:xfrm>
            <a:off x="8195132" y="4551443"/>
            <a:ext cx="578032" cy="285706"/>
            <a:chOff x="7493876" y="2774731"/>
            <a:chExt cx="1481958" cy="894622"/>
          </a:xfrm>
        </p:grpSpPr>
        <p:sp>
          <p:nvSpPr>
            <p:cNvPr id="7902" name="Google Shape;7902;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03" name="Google Shape;7903;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04" name="Google Shape;7904;p122"/>
            <p:cNvGrpSpPr/>
            <p:nvPr/>
          </p:nvGrpSpPr>
          <p:grpSpPr>
            <a:xfrm>
              <a:off x="7713663" y="2848339"/>
              <a:ext cx="1042107" cy="425543"/>
              <a:chOff x="7786941" y="2884917"/>
              <a:chExt cx="897649" cy="353919"/>
            </a:xfrm>
          </p:grpSpPr>
          <p:sp>
            <p:nvSpPr>
              <p:cNvPr id="7905" name="Google Shape;7905;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6" name="Google Shape;7906;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7" name="Google Shape;7907;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8" name="Google Shape;7908;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09" name="Google Shape;7909;p122"/>
          <p:cNvGrpSpPr/>
          <p:nvPr/>
        </p:nvGrpSpPr>
        <p:grpSpPr>
          <a:xfrm>
            <a:off x="8800632" y="3636044"/>
            <a:ext cx="578032" cy="285706"/>
            <a:chOff x="7493876" y="2774731"/>
            <a:chExt cx="1481958" cy="894622"/>
          </a:xfrm>
        </p:grpSpPr>
        <p:sp>
          <p:nvSpPr>
            <p:cNvPr id="7910" name="Google Shape;7910;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11" name="Google Shape;7911;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12" name="Google Shape;7912;p122"/>
            <p:cNvGrpSpPr/>
            <p:nvPr/>
          </p:nvGrpSpPr>
          <p:grpSpPr>
            <a:xfrm>
              <a:off x="7713663" y="2848339"/>
              <a:ext cx="1042107" cy="425543"/>
              <a:chOff x="7786941" y="2884917"/>
              <a:chExt cx="897649" cy="353919"/>
            </a:xfrm>
          </p:grpSpPr>
          <p:sp>
            <p:nvSpPr>
              <p:cNvPr id="7913" name="Google Shape;7913;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4" name="Google Shape;7914;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5" name="Google Shape;7915;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6" name="Google Shape;7916;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17" name="Google Shape;7917;p122"/>
          <p:cNvGrpSpPr/>
          <p:nvPr/>
        </p:nvGrpSpPr>
        <p:grpSpPr>
          <a:xfrm>
            <a:off x="8711293" y="4233883"/>
            <a:ext cx="578032" cy="285706"/>
            <a:chOff x="7493876" y="2774731"/>
            <a:chExt cx="1481958" cy="894622"/>
          </a:xfrm>
        </p:grpSpPr>
        <p:sp>
          <p:nvSpPr>
            <p:cNvPr id="7918" name="Google Shape;7918;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19" name="Google Shape;7919;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20" name="Google Shape;7920;p122"/>
            <p:cNvGrpSpPr/>
            <p:nvPr/>
          </p:nvGrpSpPr>
          <p:grpSpPr>
            <a:xfrm>
              <a:off x="7713663" y="2848339"/>
              <a:ext cx="1042107" cy="425543"/>
              <a:chOff x="7786941" y="2884917"/>
              <a:chExt cx="897649" cy="353919"/>
            </a:xfrm>
          </p:grpSpPr>
          <p:sp>
            <p:nvSpPr>
              <p:cNvPr id="7921" name="Google Shape;7921;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2" name="Google Shape;7922;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3" name="Google Shape;7923;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4" name="Google Shape;7924;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25" name="Google Shape;7925;p122"/>
          <p:cNvGrpSpPr/>
          <p:nvPr/>
        </p:nvGrpSpPr>
        <p:grpSpPr>
          <a:xfrm>
            <a:off x="7764614" y="3944180"/>
            <a:ext cx="578032" cy="285706"/>
            <a:chOff x="7493876" y="2774731"/>
            <a:chExt cx="1481958" cy="894622"/>
          </a:xfrm>
        </p:grpSpPr>
        <p:sp>
          <p:nvSpPr>
            <p:cNvPr id="7926" name="Google Shape;7926;p1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27" name="Google Shape;7927;p1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28" name="Google Shape;7928;p122"/>
            <p:cNvGrpSpPr/>
            <p:nvPr/>
          </p:nvGrpSpPr>
          <p:grpSpPr>
            <a:xfrm>
              <a:off x="7713663" y="2848339"/>
              <a:ext cx="1042107" cy="425543"/>
              <a:chOff x="7786941" y="2884917"/>
              <a:chExt cx="897649" cy="353919"/>
            </a:xfrm>
          </p:grpSpPr>
          <p:sp>
            <p:nvSpPr>
              <p:cNvPr id="7929" name="Google Shape;7929;p1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30" name="Google Shape;7930;p1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31" name="Google Shape;7931;p1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32" name="Google Shape;7932;p1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933" name="Google Shape;7933;p122"/>
          <p:cNvSpPr/>
          <p:nvPr/>
        </p:nvSpPr>
        <p:spPr>
          <a:xfrm>
            <a:off x="11178866" y="2363683"/>
            <a:ext cx="250825" cy="12128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34" name="Google Shape;7934;p122"/>
          <p:cNvGrpSpPr/>
          <p:nvPr/>
        </p:nvGrpSpPr>
        <p:grpSpPr>
          <a:xfrm>
            <a:off x="11355079" y="3260620"/>
            <a:ext cx="231775" cy="441325"/>
            <a:chOff x="4140" y="429"/>
            <a:chExt cx="1425" cy="2396"/>
          </a:xfrm>
        </p:grpSpPr>
        <p:sp>
          <p:nvSpPr>
            <p:cNvPr id="7935" name="Google Shape;7935;p1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6" name="Google Shape;7936;p122"/>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7" name="Google Shape;7937;p1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8" name="Google Shape;7938;p1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39" name="Google Shape;7939;p122"/>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40" name="Google Shape;7940;p122"/>
            <p:cNvGrpSpPr/>
            <p:nvPr/>
          </p:nvGrpSpPr>
          <p:grpSpPr>
            <a:xfrm>
              <a:off x="4745" y="670"/>
              <a:ext cx="586" cy="146"/>
              <a:chOff x="609" y="2570"/>
              <a:chExt cx="731" cy="140"/>
            </a:xfrm>
          </p:grpSpPr>
          <p:sp>
            <p:nvSpPr>
              <p:cNvPr id="7941" name="Google Shape;7941;p122"/>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2" name="Google Shape;7942;p122"/>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43" name="Google Shape;7943;p122"/>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44" name="Google Shape;7944;p122"/>
            <p:cNvGrpSpPr/>
            <p:nvPr/>
          </p:nvGrpSpPr>
          <p:grpSpPr>
            <a:xfrm>
              <a:off x="4745" y="998"/>
              <a:ext cx="586" cy="129"/>
              <a:chOff x="612" y="2572"/>
              <a:chExt cx="731" cy="134"/>
            </a:xfrm>
          </p:grpSpPr>
          <p:sp>
            <p:nvSpPr>
              <p:cNvPr id="7945" name="Google Shape;7945;p122"/>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6" name="Google Shape;7946;p122"/>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47" name="Google Shape;7947;p122"/>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48" name="Google Shape;7948;p122"/>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49" name="Google Shape;7949;p122"/>
            <p:cNvGrpSpPr/>
            <p:nvPr/>
          </p:nvGrpSpPr>
          <p:grpSpPr>
            <a:xfrm>
              <a:off x="4735" y="1627"/>
              <a:ext cx="586" cy="215"/>
              <a:chOff x="614" y="2568"/>
              <a:chExt cx="730" cy="198"/>
            </a:xfrm>
          </p:grpSpPr>
          <p:sp>
            <p:nvSpPr>
              <p:cNvPr id="7950" name="Google Shape;7950;p122"/>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1" name="Google Shape;7951;p122"/>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52" name="Google Shape;7952;p1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53" name="Google Shape;7953;p122"/>
            <p:cNvGrpSpPr/>
            <p:nvPr/>
          </p:nvGrpSpPr>
          <p:grpSpPr>
            <a:xfrm>
              <a:off x="4735" y="1325"/>
              <a:ext cx="586" cy="138"/>
              <a:chOff x="609" y="2566"/>
              <a:chExt cx="730" cy="138"/>
            </a:xfrm>
          </p:grpSpPr>
          <p:sp>
            <p:nvSpPr>
              <p:cNvPr id="7954" name="Google Shape;7954;p122"/>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5" name="Google Shape;7955;p122"/>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56" name="Google Shape;7956;p122"/>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7" name="Google Shape;7957;p1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8" name="Google Shape;7958;p1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59" name="Google Shape;7959;p122"/>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0" name="Google Shape;7960;p1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1" name="Google Shape;7961;p12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2" name="Google Shape;7962;p122"/>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3" name="Google Shape;7963;p122"/>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4" name="Google Shape;7964;p122"/>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965" name="Google Shape;7965;p122"/>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66" name="Google Shape;7966;p122"/>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967" name="Google Shape;7967;p122"/>
          <p:cNvSpPr/>
          <p:nvPr/>
        </p:nvSpPr>
        <p:spPr>
          <a:xfrm flipH="1">
            <a:off x="6810066" y="2305050"/>
            <a:ext cx="250825" cy="120173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68" name="Google Shape;7968;p122"/>
          <p:cNvGrpSpPr/>
          <p:nvPr/>
        </p:nvGrpSpPr>
        <p:grpSpPr>
          <a:xfrm>
            <a:off x="6405254" y="3243263"/>
            <a:ext cx="525462" cy="434975"/>
            <a:chOff x="-44" y="1473"/>
            <a:chExt cx="981" cy="1105"/>
          </a:xfrm>
        </p:grpSpPr>
        <p:pic>
          <p:nvPicPr>
            <p:cNvPr descr="desktop_computer_stylized_medium" id="7969" name="Google Shape;7969;p12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970" name="Google Shape;7970;p12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971" name="Google Shape;7971;p122"/>
          <p:cNvGrpSpPr/>
          <p:nvPr/>
        </p:nvGrpSpPr>
        <p:grpSpPr>
          <a:xfrm>
            <a:off x="7045286" y="2362077"/>
            <a:ext cx="717868" cy="1154474"/>
            <a:chOff x="7664720" y="2799688"/>
            <a:chExt cx="717868" cy="1154474"/>
          </a:xfrm>
        </p:grpSpPr>
        <p:sp>
          <p:nvSpPr>
            <p:cNvPr id="7972" name="Google Shape;7972;p122"/>
            <p:cNvSpPr/>
            <p:nvPr/>
          </p:nvSpPr>
          <p:spPr>
            <a:xfrm>
              <a:off x="7671781" y="2799688"/>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973" name="Google Shape;7973;p122"/>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74" name="Google Shape;7974;p122"/>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75" name="Google Shape;7975;p122"/>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76" name="Google Shape;7976;p122"/>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977" name="Google Shape;7977;p122"/>
          <p:cNvGrpSpPr/>
          <p:nvPr/>
        </p:nvGrpSpPr>
        <p:grpSpPr>
          <a:xfrm>
            <a:off x="10476914" y="2368655"/>
            <a:ext cx="717868" cy="1154474"/>
            <a:chOff x="7664720" y="2795550"/>
            <a:chExt cx="717868" cy="1154474"/>
          </a:xfrm>
        </p:grpSpPr>
        <p:sp>
          <p:nvSpPr>
            <p:cNvPr id="7978" name="Google Shape;7978;p122"/>
            <p:cNvSpPr/>
            <p:nvPr/>
          </p:nvSpPr>
          <p:spPr>
            <a:xfrm>
              <a:off x="7671781" y="2795550"/>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979" name="Google Shape;7979;p122"/>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80" name="Google Shape;7980;p122"/>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81" name="Google Shape;7981;p122"/>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982" name="Google Shape;7982;p122"/>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983" name="Google Shape;7983;p122"/>
          <p:cNvGrpSpPr/>
          <p:nvPr/>
        </p:nvGrpSpPr>
        <p:grpSpPr>
          <a:xfrm>
            <a:off x="8867832" y="4245561"/>
            <a:ext cx="456701" cy="226548"/>
            <a:chOff x="6859123" y="5156933"/>
            <a:chExt cx="456701" cy="226548"/>
          </a:xfrm>
        </p:grpSpPr>
        <p:sp>
          <p:nvSpPr>
            <p:cNvPr id="7984" name="Google Shape;7984;p122"/>
            <p:cNvSpPr/>
            <p:nvPr/>
          </p:nvSpPr>
          <p:spPr>
            <a:xfrm>
              <a:off x="6859123" y="5156933"/>
              <a:ext cx="456701" cy="226548"/>
            </a:xfrm>
            <a:prstGeom prst="rect">
              <a:avLst/>
            </a:prstGeom>
            <a:solidFill>
              <a:srgbClr val="F989B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985" name="Google Shape;7985;p122"/>
            <p:cNvCxnSpPr/>
            <p:nvPr/>
          </p:nvCxnSpPr>
          <p:spPr>
            <a:xfrm rot="10800000">
              <a:off x="724911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6" name="Google Shape;7986;p122"/>
            <p:cNvCxnSpPr/>
            <p:nvPr/>
          </p:nvCxnSpPr>
          <p:spPr>
            <a:xfrm rot="10800000">
              <a:off x="7197800"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7" name="Google Shape;7987;p122"/>
            <p:cNvCxnSpPr/>
            <p:nvPr/>
          </p:nvCxnSpPr>
          <p:spPr>
            <a:xfrm rot="10800000">
              <a:off x="714648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8" name="Google Shape;7988;p122"/>
            <p:cNvCxnSpPr/>
            <p:nvPr/>
          </p:nvCxnSpPr>
          <p:spPr>
            <a:xfrm rot="10800000">
              <a:off x="709517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89" name="Google Shape;7989;p122"/>
            <p:cNvCxnSpPr/>
            <p:nvPr/>
          </p:nvCxnSpPr>
          <p:spPr>
            <a:xfrm rot="10800000">
              <a:off x="7043856"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90" name="Google Shape;7990;p122"/>
            <p:cNvCxnSpPr/>
            <p:nvPr/>
          </p:nvCxnSpPr>
          <p:spPr>
            <a:xfrm rot="10800000">
              <a:off x="699254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991" name="Google Shape;7991;p122"/>
            <p:cNvCxnSpPr/>
            <p:nvPr/>
          </p:nvCxnSpPr>
          <p:spPr>
            <a:xfrm rot="10800000">
              <a:off x="6941227" y="5189971"/>
              <a:ext cx="0" cy="155752"/>
            </a:xfrm>
            <a:prstGeom prst="straightConnector1">
              <a:avLst/>
            </a:prstGeom>
            <a:noFill/>
            <a:ln cap="flat" cmpd="sng" w="12700">
              <a:solidFill>
                <a:srgbClr val="FF0000"/>
              </a:solidFill>
              <a:prstDash val="solid"/>
              <a:miter lim="800000"/>
              <a:headEnd len="sm" w="sm" type="none"/>
              <a:tailEnd len="sm" w="sm" type="none"/>
            </a:ln>
          </p:spPr>
        </p:cxnSp>
      </p:grpSp>
      <p:grpSp>
        <p:nvGrpSpPr>
          <p:cNvPr id="7992" name="Google Shape;7992;p122"/>
          <p:cNvGrpSpPr/>
          <p:nvPr/>
        </p:nvGrpSpPr>
        <p:grpSpPr>
          <a:xfrm>
            <a:off x="7552398" y="2762175"/>
            <a:ext cx="3061681" cy="1433307"/>
            <a:chOff x="7552398" y="2762175"/>
            <a:chExt cx="3061681" cy="1433307"/>
          </a:xfrm>
        </p:grpSpPr>
        <p:sp>
          <p:nvSpPr>
            <p:cNvPr id="7993" name="Google Shape;7993;p122"/>
            <p:cNvSpPr/>
            <p:nvPr/>
          </p:nvSpPr>
          <p:spPr>
            <a:xfrm flipH="1">
              <a:off x="9104671" y="2771139"/>
              <a:ext cx="1509408" cy="1424343"/>
            </a:xfrm>
            <a:custGeom>
              <a:rect b="b" l="l" r="r" t="t"/>
              <a:pathLst>
                <a:path extrusionOk="0" h="1378340" w="1509408">
                  <a:moveTo>
                    <a:pt x="1509408" y="1378340"/>
                  </a:moveTo>
                  <a:cubicBezTo>
                    <a:pt x="1268229" y="509348"/>
                    <a:pt x="882368" y="54174"/>
                    <a:pt x="0" y="0"/>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4" name="Google Shape;7994;p122"/>
            <p:cNvSpPr/>
            <p:nvPr/>
          </p:nvSpPr>
          <p:spPr>
            <a:xfrm>
              <a:off x="7552398" y="2762175"/>
              <a:ext cx="1509408" cy="1424343"/>
            </a:xfrm>
            <a:custGeom>
              <a:rect b="b" l="l" r="r" t="t"/>
              <a:pathLst>
                <a:path extrusionOk="0" h="1378340" w="1509408">
                  <a:moveTo>
                    <a:pt x="1509408" y="1378340"/>
                  </a:moveTo>
                  <a:cubicBezTo>
                    <a:pt x="1268229" y="509348"/>
                    <a:pt x="882368" y="54174"/>
                    <a:pt x="0" y="0"/>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7995" name="Google Shape;7995;p122"/>
          <p:cNvGrpSpPr/>
          <p:nvPr/>
        </p:nvGrpSpPr>
        <p:grpSpPr>
          <a:xfrm>
            <a:off x="7428575" y="2677315"/>
            <a:ext cx="3355719" cy="1705017"/>
            <a:chOff x="7428575" y="2677315"/>
            <a:chExt cx="3355719" cy="1705017"/>
          </a:xfrm>
        </p:grpSpPr>
        <p:sp>
          <p:nvSpPr>
            <p:cNvPr id="7996" name="Google Shape;7996;p122"/>
            <p:cNvSpPr/>
            <p:nvPr/>
          </p:nvSpPr>
          <p:spPr>
            <a:xfrm>
              <a:off x="9335149" y="2701273"/>
              <a:ext cx="1406838" cy="1681059"/>
            </a:xfrm>
            <a:custGeom>
              <a:rect b="b" l="l" r="r" t="t"/>
              <a:pathLst>
                <a:path extrusionOk="0" h="1681059" w="1541303">
                  <a:moveTo>
                    <a:pt x="0" y="1681059"/>
                  </a:moveTo>
                  <a:lnTo>
                    <a:pt x="539056" y="1465436"/>
                  </a:lnTo>
                  <a:lnTo>
                    <a:pt x="1541303" y="1445471"/>
                  </a:lnTo>
                  <a:lnTo>
                    <a:pt x="1525331" y="0"/>
                  </a:lnTo>
                </a:path>
              </a:pathLst>
            </a:custGeom>
            <a:noFill/>
            <a:ln cap="flat" cmpd="sng" w="4445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7" name="Google Shape;7997;p122"/>
            <p:cNvSpPr/>
            <p:nvPr/>
          </p:nvSpPr>
          <p:spPr>
            <a:xfrm>
              <a:off x="7473006" y="2677315"/>
              <a:ext cx="1446868" cy="1701024"/>
            </a:xfrm>
            <a:custGeom>
              <a:rect b="b" l="l" r="r" t="t"/>
              <a:pathLst>
                <a:path extrusionOk="0" h="1701024" w="1549289">
                  <a:moveTo>
                    <a:pt x="0" y="0"/>
                  </a:moveTo>
                  <a:lnTo>
                    <a:pt x="7986" y="1481408"/>
                  </a:lnTo>
                  <a:lnTo>
                    <a:pt x="1030198" y="1485401"/>
                  </a:lnTo>
                  <a:lnTo>
                    <a:pt x="1549289" y="1701024"/>
                  </a:lnTo>
                </a:path>
              </a:pathLst>
            </a:custGeom>
            <a:noFill/>
            <a:ln cap="flat" cmpd="sng" w="3810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8" name="Google Shape;7998;p122"/>
            <p:cNvSpPr txBox="1"/>
            <p:nvPr/>
          </p:nvSpPr>
          <p:spPr>
            <a:xfrm>
              <a:off x="10184578" y="355661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sp>
          <p:nvSpPr>
            <p:cNvPr id="7999" name="Google Shape;7999;p122"/>
            <p:cNvSpPr txBox="1"/>
            <p:nvPr/>
          </p:nvSpPr>
          <p:spPr>
            <a:xfrm>
              <a:off x="7428575" y="351769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grpSp>
      <p:grpSp>
        <p:nvGrpSpPr>
          <p:cNvPr id="8000" name="Google Shape;8000;p122"/>
          <p:cNvGrpSpPr/>
          <p:nvPr/>
        </p:nvGrpSpPr>
        <p:grpSpPr>
          <a:xfrm>
            <a:off x="6799618" y="2691243"/>
            <a:ext cx="4657206" cy="1827509"/>
            <a:chOff x="6799618" y="2691243"/>
            <a:chExt cx="4657206" cy="1827509"/>
          </a:xfrm>
        </p:grpSpPr>
        <p:sp>
          <p:nvSpPr>
            <p:cNvPr id="8001" name="Google Shape;8001;p122"/>
            <p:cNvSpPr/>
            <p:nvPr/>
          </p:nvSpPr>
          <p:spPr>
            <a:xfrm>
              <a:off x="7353946" y="2691243"/>
              <a:ext cx="3498244" cy="1827509"/>
            </a:xfrm>
            <a:custGeom>
              <a:rect b="b" l="l" r="r" t="t"/>
              <a:pathLst>
                <a:path extrusionOk="0" h="1827509" w="3832605">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cap="flat" cmpd="sng" w="254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2" name="Google Shape;8002;p122"/>
            <p:cNvSpPr txBox="1"/>
            <p:nvPr/>
          </p:nvSpPr>
          <p:spPr>
            <a:xfrm>
              <a:off x="6799618" y="3650736"/>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sp>
          <p:nvSpPr>
            <p:cNvPr id="8003" name="Google Shape;8003;p122"/>
            <p:cNvSpPr txBox="1"/>
            <p:nvPr/>
          </p:nvSpPr>
          <p:spPr>
            <a:xfrm>
              <a:off x="10809403" y="3772400"/>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grpSp>
      <p:sp>
        <p:nvSpPr>
          <p:cNvPr id="8004" name="Google Shape;8004;p122"/>
          <p:cNvSpPr txBox="1"/>
          <p:nvPr/>
        </p:nvSpPr>
        <p:spPr>
          <a:xfrm>
            <a:off x="8061221" y="2622756"/>
            <a:ext cx="20955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explicit congestion info</a:t>
            </a:r>
            <a:endParaRPr/>
          </a:p>
        </p:txBody>
      </p:sp>
      <p:sp>
        <p:nvSpPr>
          <p:cNvPr id="8005" name="Google Shape;8005;p122"/>
          <p:cNvSpPr txBox="1"/>
          <p:nvPr/>
        </p:nvSpPr>
        <p:spPr>
          <a:xfrm>
            <a:off x="698090" y="1818967"/>
            <a:ext cx="5781368" cy="382143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00000"/>
                </a:solidFill>
                <a:latin typeface="Calibri"/>
                <a:ea typeface="Calibri"/>
                <a:cs typeface="Calibri"/>
                <a:sym typeface="Calibri"/>
              </a:rPr>
              <a:t>Network-assisted congestion control:</a:t>
            </a:r>
            <a:endParaRPr/>
          </a:p>
          <a:p>
            <a:pPr indent="-277813" lvl="0" marL="407988" marR="0" rtl="0" algn="l">
              <a:lnSpc>
                <a:spcPct val="90000"/>
              </a:lnSpc>
              <a:spcBef>
                <a:spcPts val="1000"/>
              </a:spcBef>
              <a:spcAft>
                <a:spcPts val="0"/>
              </a:spcAft>
              <a:buClr>
                <a:srgbClr val="0000A3"/>
              </a:buClr>
              <a:buSzPts val="3000"/>
              <a:buFont typeface="Noto Sans Symbols"/>
              <a:buChar char="▪"/>
            </a:pPr>
            <a:r>
              <a:rPr b="0" i="0" lang="en-US" sz="3000" u="none" cap="none" strike="noStrike">
                <a:solidFill>
                  <a:srgbClr val="000000"/>
                </a:solidFill>
                <a:latin typeface="Calibri"/>
                <a:ea typeface="Calibri"/>
                <a:cs typeface="Calibri"/>
                <a:sym typeface="Calibri"/>
              </a:rPr>
              <a:t>routers provide </a:t>
            </a:r>
            <a:r>
              <a:rPr b="0" i="1" lang="en-US" sz="3000" u="none" cap="none" strike="noStrike">
                <a:solidFill>
                  <a:srgbClr val="C00000"/>
                </a:solidFill>
                <a:latin typeface="Calibri"/>
                <a:ea typeface="Calibri"/>
                <a:cs typeface="Calibri"/>
                <a:sym typeface="Calibri"/>
              </a:rPr>
              <a:t>direct</a:t>
            </a:r>
            <a:r>
              <a:rPr b="0" i="0" lang="en-US" sz="3000" u="none" cap="none" strike="noStrike">
                <a:solidFill>
                  <a:srgbClr val="000000"/>
                </a:solidFill>
                <a:latin typeface="Calibri"/>
                <a:ea typeface="Calibri"/>
                <a:cs typeface="Calibri"/>
                <a:sym typeface="Calibri"/>
              </a:rPr>
              <a:t> feedback to sending/receiving hosts with flows passing through congested router</a:t>
            </a:r>
            <a:endParaRPr/>
          </a:p>
          <a:p>
            <a:pPr indent="-277813" lvl="0" marL="407988" marR="0" rtl="0" algn="l">
              <a:lnSpc>
                <a:spcPct val="90000"/>
              </a:lnSpc>
              <a:spcBef>
                <a:spcPts val="1000"/>
              </a:spcBef>
              <a:spcAft>
                <a:spcPts val="0"/>
              </a:spcAft>
              <a:buClr>
                <a:srgbClr val="0000A3"/>
              </a:buClr>
              <a:buSzPts val="3000"/>
              <a:buFont typeface="Noto Sans Symbols"/>
              <a:buChar char="▪"/>
            </a:pPr>
            <a:r>
              <a:rPr b="0" i="0" lang="en-US" sz="3000" u="none" cap="none" strike="noStrike">
                <a:solidFill>
                  <a:srgbClr val="000000"/>
                </a:solidFill>
                <a:latin typeface="Calibri"/>
                <a:ea typeface="Calibri"/>
                <a:cs typeface="Calibri"/>
                <a:sym typeface="Calibri"/>
              </a:rPr>
              <a:t>may indicate congestion level or explicitly set sending rate</a:t>
            </a:r>
            <a:endParaRPr/>
          </a:p>
        </p:txBody>
      </p:sp>
      <p:sp>
        <p:nvSpPr>
          <p:cNvPr id="8006" name="Google Shape;8006;p1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5"/>
                                        </p:tgtEl>
                                        <p:attrNameLst>
                                          <p:attrName>style.visibility</p:attrName>
                                        </p:attrNameLst>
                                      </p:cBhvr>
                                      <p:to>
                                        <p:strVal val="visible"/>
                                      </p:to>
                                    </p:set>
                                    <p:animEffect filter="fade" transition="in">
                                      <p:cBhvr>
                                        <p:cTn dur="1000"/>
                                        <p:tgtEl>
                                          <p:spTgt spid="799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000"/>
                                        </p:tgtEl>
                                        <p:attrNameLst>
                                          <p:attrName>style.visibility</p:attrName>
                                        </p:attrNameLst>
                                      </p:cBhvr>
                                      <p:to>
                                        <p:strVal val="visible"/>
                                      </p:to>
                                    </p:set>
                                    <p:animEffect filter="fade" transition="in">
                                      <p:cBhvr>
                                        <p:cTn dur="1000"/>
                                        <p:tgtEl>
                                          <p:spTgt spid="80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2"/>
                                        </p:tgtEl>
                                        <p:attrNameLst>
                                          <p:attrName>style.visibility</p:attrName>
                                        </p:attrNameLst>
                                      </p:cBhvr>
                                      <p:to>
                                        <p:strVal val="visible"/>
                                      </p:to>
                                    </p:set>
                                    <p:animEffect filter="fade" transition="in">
                                      <p:cBhvr>
                                        <p:cTn dur="500"/>
                                        <p:tgtEl>
                                          <p:spTgt spid="79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004"/>
                                        </p:tgtEl>
                                        <p:attrNameLst>
                                          <p:attrName>style.visibility</p:attrName>
                                        </p:attrNameLst>
                                      </p:cBhvr>
                                      <p:to>
                                        <p:strVal val="visible"/>
                                      </p:to>
                                    </p:set>
                                    <p:animEffect filter="fade" transition="in">
                                      <p:cBhvr>
                                        <p:cTn dur="500"/>
                                        <p:tgtEl>
                                          <p:spTgt spid="80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75">
                                            <p:txEl>
                                              <p:pRg end="0" st="0"/>
                                            </p:txEl>
                                          </p:spTgt>
                                        </p:tgtEl>
                                        <p:attrNameLst>
                                          <p:attrName>style.visibility</p:attrName>
                                        </p:attrNameLst>
                                      </p:cBhvr>
                                      <p:to>
                                        <p:strVal val="visible"/>
                                      </p:to>
                                    </p:set>
                                    <p:animEffect filter="fade" transition="in">
                                      <p:cBhvr>
                                        <p:cTn dur="500"/>
                                        <p:tgtEl>
                                          <p:spTgt spid="787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1" name="Shape 8011"/>
        <p:cNvGrpSpPr/>
        <p:nvPr/>
      </p:nvGrpSpPr>
      <p:grpSpPr>
        <a:xfrm>
          <a:off x="0" y="0"/>
          <a:ext cx="0" cy="0"/>
          <a:chOff x="0" y="0"/>
          <a:chExt cx="0" cy="0"/>
        </a:xfrm>
      </p:grpSpPr>
      <p:sp>
        <p:nvSpPr>
          <p:cNvPr id="8012" name="Google Shape;8012;p12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8013" name="Google Shape;8013;p123"/>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SzPts val="3200"/>
              <a:buChar char="▪"/>
            </a:pPr>
            <a:r>
              <a:rPr lang="en-US" sz="3200"/>
              <a:t>TCP congestion control</a:t>
            </a:r>
            <a:endParaRPr/>
          </a:p>
          <a:p>
            <a:pPr indent="-285750" lvl="0" marL="403225" rtl="0" algn="l">
              <a:lnSpc>
                <a:spcPct val="90000"/>
              </a:lnSpc>
              <a:spcBef>
                <a:spcPts val="800"/>
              </a:spcBef>
              <a:spcAft>
                <a:spcPts val="0"/>
              </a:spcAft>
              <a:buSzPts val="3200"/>
              <a:buChar char="▪"/>
            </a:pPr>
            <a:r>
              <a:rPr lang="en-US" sz="3200">
                <a:solidFill>
                  <a:srgbClr val="BFBFBF"/>
                </a:solidFill>
              </a:rPr>
              <a:t>Evolution of transport-layer functionality</a:t>
            </a:r>
            <a:endParaRPr sz="3200"/>
          </a:p>
          <a:p>
            <a:pPr indent="-222250" lvl="0" marL="352425" rtl="0" algn="l">
              <a:lnSpc>
                <a:spcPct val="90000"/>
              </a:lnSpc>
              <a:spcBef>
                <a:spcPts val="1000"/>
              </a:spcBef>
              <a:spcAft>
                <a:spcPts val="0"/>
              </a:spcAft>
              <a:buSzPts val="2400"/>
              <a:buFont typeface="Noto Sans Symbols"/>
              <a:buNone/>
            </a:pPr>
            <a:r>
              <a:t/>
            </a:r>
            <a:endParaRPr sz="2400"/>
          </a:p>
        </p:txBody>
      </p:sp>
      <p:sp>
        <p:nvSpPr>
          <p:cNvPr id="8014" name="Google Shape;8014;p1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8015" name="Google Shape;8015;p123"/>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0" name="Shape 8020"/>
        <p:cNvGrpSpPr/>
        <p:nvPr/>
      </p:nvGrpSpPr>
      <p:grpSpPr>
        <a:xfrm>
          <a:off x="0" y="0"/>
          <a:ext cx="0" cy="0"/>
          <a:chOff x="0" y="0"/>
          <a:chExt cx="0" cy="0"/>
        </a:xfrm>
      </p:grpSpPr>
      <p:sp>
        <p:nvSpPr>
          <p:cNvPr id="8021" name="Google Shape;8021;p124"/>
          <p:cNvSpPr txBox="1"/>
          <p:nvPr>
            <p:ph type="title"/>
          </p:nvPr>
        </p:nvSpPr>
        <p:spPr>
          <a:xfrm>
            <a:off x="811390" y="2581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congestion control: AIMD</a:t>
            </a:r>
            <a:endParaRPr b="0" sz="4400"/>
          </a:p>
        </p:txBody>
      </p:sp>
      <p:sp>
        <p:nvSpPr>
          <p:cNvPr id="8022" name="Google Shape;8022;p124"/>
          <p:cNvSpPr/>
          <p:nvPr/>
        </p:nvSpPr>
        <p:spPr>
          <a:xfrm>
            <a:off x="901700" y="1168400"/>
            <a:ext cx="10274300" cy="1447800"/>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approach: </a:t>
            </a:r>
            <a:r>
              <a:rPr b="0" i="0" lang="en-US" sz="2800" u="none" cap="none" strike="noStrike">
                <a:solidFill>
                  <a:srgbClr val="000000"/>
                </a:solidFill>
                <a:latin typeface="Calibri"/>
                <a:ea typeface="Calibri"/>
                <a:cs typeface="Calibri"/>
                <a:sym typeface="Calibri"/>
              </a:rPr>
              <a:t>senders can</a:t>
            </a:r>
            <a:r>
              <a:rPr b="0" i="1" lang="en-US" sz="2800" u="none" cap="none" strike="noStrike">
                <a:solidFill>
                  <a:srgbClr val="FF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increase sending rate until packet loss (congestion) occurs, then decrease sending rate on loss event</a:t>
            </a:r>
            <a:endParaRPr b="0" i="0" sz="2800" u="none" cap="none" strike="noStrike">
              <a:solidFill>
                <a:srgbClr val="000000"/>
              </a:solidFill>
              <a:latin typeface="Gill Sans"/>
              <a:ea typeface="Gill Sans"/>
              <a:cs typeface="Gill Sans"/>
              <a:sym typeface="Gill Sans"/>
            </a:endParaRPr>
          </a:p>
        </p:txBody>
      </p:sp>
      <p:sp>
        <p:nvSpPr>
          <p:cNvPr id="8023" name="Google Shape;8023;p124"/>
          <p:cNvSpPr txBox="1"/>
          <p:nvPr/>
        </p:nvSpPr>
        <p:spPr>
          <a:xfrm>
            <a:off x="8688708" y="4380805"/>
            <a:ext cx="2769156" cy="150810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13A3"/>
              </a:buClr>
              <a:buSzPts val="3600"/>
              <a:buFont typeface="Calibri"/>
              <a:buNone/>
            </a:pPr>
            <a:r>
              <a:rPr b="1" i="0" lang="en-US" sz="3600" u="none" cap="none" strike="noStrike">
                <a:solidFill>
                  <a:srgbClr val="0013A3"/>
                </a:solidFill>
                <a:latin typeface="Calibri"/>
                <a:ea typeface="Calibri"/>
                <a:cs typeface="Calibri"/>
                <a:sym typeface="Calibri"/>
              </a:rPr>
              <a:t>AIMD</a:t>
            </a:r>
            <a:r>
              <a:rPr b="0" i="0" lang="en-US" sz="2800" u="none" cap="none" strike="noStrike">
                <a:solidFill>
                  <a:srgbClr val="000000"/>
                </a:solidFill>
                <a:latin typeface="Calibri"/>
                <a:ea typeface="Calibri"/>
                <a:cs typeface="Calibri"/>
                <a:sym typeface="Calibri"/>
              </a:rPr>
              <a:t> sawtooth</a:t>
            </a:r>
            <a:endParaRPr/>
          </a:p>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behavior: </a:t>
            </a:r>
            <a:r>
              <a:rPr b="0" i="1" lang="en-US" sz="2800" u="none" cap="none" strike="noStrike">
                <a:solidFill>
                  <a:srgbClr val="0013A3"/>
                </a:solidFill>
                <a:latin typeface="Calibri"/>
                <a:ea typeface="Calibri"/>
                <a:cs typeface="Calibri"/>
                <a:sym typeface="Calibri"/>
              </a:rPr>
              <a:t>probing</a:t>
            </a:r>
            <a:endParaRPr/>
          </a:p>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for bandwidth</a:t>
            </a:r>
            <a:endParaRPr/>
          </a:p>
        </p:txBody>
      </p:sp>
      <p:sp>
        <p:nvSpPr>
          <p:cNvPr id="8024" name="Google Shape;8024;p124"/>
          <p:cNvSpPr/>
          <p:nvPr/>
        </p:nvSpPr>
        <p:spPr>
          <a:xfrm>
            <a:off x="4717339" y="3774454"/>
            <a:ext cx="6858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cxnSp>
        <p:nvCxnSpPr>
          <p:cNvPr id="8025" name="Google Shape;8025;p124"/>
          <p:cNvCxnSpPr/>
          <p:nvPr/>
        </p:nvCxnSpPr>
        <p:spPr>
          <a:xfrm flipH="1" rot="10800000">
            <a:off x="3898189" y="5196854"/>
            <a:ext cx="169863" cy="169862"/>
          </a:xfrm>
          <a:prstGeom prst="straightConnector1">
            <a:avLst/>
          </a:prstGeom>
          <a:noFill/>
          <a:ln cap="flat" cmpd="sng" w="38100">
            <a:solidFill>
              <a:schemeClr val="dk1"/>
            </a:solidFill>
            <a:prstDash val="solid"/>
            <a:round/>
            <a:headEnd len="med" w="med" type="none"/>
            <a:tailEnd len="med" w="med" type="none"/>
          </a:ln>
        </p:spPr>
      </p:cxnSp>
      <p:cxnSp>
        <p:nvCxnSpPr>
          <p:cNvPr id="8026" name="Google Shape;8026;p124"/>
          <p:cNvCxnSpPr/>
          <p:nvPr/>
        </p:nvCxnSpPr>
        <p:spPr>
          <a:xfrm>
            <a:off x="4079164" y="5185741"/>
            <a:ext cx="0" cy="642938"/>
          </a:xfrm>
          <a:prstGeom prst="straightConnector1">
            <a:avLst/>
          </a:prstGeom>
          <a:noFill/>
          <a:ln cap="flat" cmpd="sng" w="38100">
            <a:solidFill>
              <a:schemeClr val="dk1"/>
            </a:solidFill>
            <a:prstDash val="solid"/>
            <a:round/>
            <a:headEnd len="med" w="med" type="none"/>
            <a:tailEnd len="med" w="med" type="none"/>
          </a:ln>
        </p:spPr>
      </p:cxnSp>
      <p:cxnSp>
        <p:nvCxnSpPr>
          <p:cNvPr id="8027" name="Google Shape;8027;p124"/>
          <p:cNvCxnSpPr/>
          <p:nvPr/>
        </p:nvCxnSpPr>
        <p:spPr>
          <a:xfrm flipH="1" rot="10800000">
            <a:off x="4068052" y="4869829"/>
            <a:ext cx="982662" cy="981075"/>
          </a:xfrm>
          <a:prstGeom prst="straightConnector1">
            <a:avLst/>
          </a:prstGeom>
          <a:noFill/>
          <a:ln cap="flat" cmpd="sng" w="38100">
            <a:solidFill>
              <a:schemeClr val="dk1"/>
            </a:solidFill>
            <a:prstDash val="solid"/>
            <a:round/>
            <a:headEnd len="med" w="med" type="none"/>
            <a:tailEnd len="med" w="med" type="none"/>
          </a:ln>
        </p:spPr>
      </p:cxnSp>
      <p:cxnSp>
        <p:nvCxnSpPr>
          <p:cNvPr id="8028" name="Google Shape;8028;p124"/>
          <p:cNvCxnSpPr/>
          <p:nvPr/>
        </p:nvCxnSpPr>
        <p:spPr>
          <a:xfrm>
            <a:off x="5039602" y="4871416"/>
            <a:ext cx="0" cy="801688"/>
          </a:xfrm>
          <a:prstGeom prst="straightConnector1">
            <a:avLst/>
          </a:prstGeom>
          <a:noFill/>
          <a:ln cap="flat" cmpd="sng" w="38100">
            <a:solidFill>
              <a:schemeClr val="dk1"/>
            </a:solidFill>
            <a:prstDash val="solid"/>
            <a:round/>
            <a:headEnd len="med" w="med" type="none"/>
            <a:tailEnd len="med" w="med" type="none"/>
          </a:ln>
        </p:spPr>
      </p:cxnSp>
      <p:cxnSp>
        <p:nvCxnSpPr>
          <p:cNvPr id="8029" name="Google Shape;8029;p124"/>
          <p:cNvCxnSpPr/>
          <p:nvPr/>
        </p:nvCxnSpPr>
        <p:spPr>
          <a:xfrm flipH="1" rot="10800000">
            <a:off x="5031664" y="5168279"/>
            <a:ext cx="525463" cy="523875"/>
          </a:xfrm>
          <a:prstGeom prst="straightConnector1">
            <a:avLst/>
          </a:prstGeom>
          <a:noFill/>
          <a:ln cap="flat" cmpd="sng" w="38100">
            <a:solidFill>
              <a:schemeClr val="dk1"/>
            </a:solidFill>
            <a:prstDash val="solid"/>
            <a:round/>
            <a:headEnd len="med" w="med" type="none"/>
            <a:tailEnd len="med" w="med" type="none"/>
          </a:ln>
        </p:spPr>
      </p:cxnSp>
      <p:cxnSp>
        <p:nvCxnSpPr>
          <p:cNvPr id="8030" name="Google Shape;8030;p124"/>
          <p:cNvCxnSpPr/>
          <p:nvPr/>
        </p:nvCxnSpPr>
        <p:spPr>
          <a:xfrm>
            <a:off x="5557127" y="5163516"/>
            <a:ext cx="0" cy="688975"/>
          </a:xfrm>
          <a:prstGeom prst="straightConnector1">
            <a:avLst/>
          </a:prstGeom>
          <a:noFill/>
          <a:ln cap="flat" cmpd="sng" w="38100">
            <a:solidFill>
              <a:schemeClr val="dk1"/>
            </a:solidFill>
            <a:prstDash val="solid"/>
            <a:round/>
            <a:headEnd len="med" w="med" type="none"/>
            <a:tailEnd len="med" w="med" type="none"/>
          </a:ln>
        </p:spPr>
      </p:cxnSp>
      <p:cxnSp>
        <p:nvCxnSpPr>
          <p:cNvPr id="8031" name="Google Shape;8031;p124"/>
          <p:cNvCxnSpPr/>
          <p:nvPr/>
        </p:nvCxnSpPr>
        <p:spPr>
          <a:xfrm flipH="1" rot="10800000">
            <a:off x="5568240" y="4849191"/>
            <a:ext cx="969963" cy="981075"/>
          </a:xfrm>
          <a:prstGeom prst="straightConnector1">
            <a:avLst/>
          </a:prstGeom>
          <a:noFill/>
          <a:ln cap="flat" cmpd="sng" w="38100">
            <a:solidFill>
              <a:schemeClr val="dk1"/>
            </a:solidFill>
            <a:prstDash val="solid"/>
            <a:round/>
            <a:headEnd len="med" w="med" type="none"/>
            <a:tailEnd len="med" w="med" type="none"/>
          </a:ln>
        </p:spPr>
      </p:cxnSp>
      <p:cxnSp>
        <p:nvCxnSpPr>
          <p:cNvPr id="8032" name="Google Shape;8032;p124"/>
          <p:cNvCxnSpPr/>
          <p:nvPr/>
        </p:nvCxnSpPr>
        <p:spPr>
          <a:xfrm>
            <a:off x="6533440" y="4849191"/>
            <a:ext cx="11113" cy="835025"/>
          </a:xfrm>
          <a:prstGeom prst="straightConnector1">
            <a:avLst/>
          </a:prstGeom>
          <a:noFill/>
          <a:ln cap="flat" cmpd="sng" w="38100">
            <a:solidFill>
              <a:schemeClr val="dk1"/>
            </a:solidFill>
            <a:prstDash val="solid"/>
            <a:round/>
            <a:headEnd len="med" w="med" type="none"/>
            <a:tailEnd len="med" w="med" type="none"/>
          </a:ln>
        </p:spPr>
      </p:cxnSp>
      <p:cxnSp>
        <p:nvCxnSpPr>
          <p:cNvPr id="8033" name="Google Shape;8033;p124"/>
          <p:cNvCxnSpPr/>
          <p:nvPr/>
        </p:nvCxnSpPr>
        <p:spPr>
          <a:xfrm flipH="1" rot="10800000">
            <a:off x="6538202" y="5012704"/>
            <a:ext cx="666750" cy="666750"/>
          </a:xfrm>
          <a:prstGeom prst="straightConnector1">
            <a:avLst/>
          </a:prstGeom>
          <a:noFill/>
          <a:ln cap="flat" cmpd="sng" w="38100">
            <a:solidFill>
              <a:schemeClr val="dk1"/>
            </a:solidFill>
            <a:prstDash val="solid"/>
            <a:round/>
            <a:headEnd len="med" w="med" type="none"/>
            <a:tailEnd len="med" w="med" type="none"/>
          </a:ln>
        </p:spPr>
      </p:cxnSp>
      <p:cxnSp>
        <p:nvCxnSpPr>
          <p:cNvPr id="8034" name="Google Shape;8034;p124"/>
          <p:cNvCxnSpPr/>
          <p:nvPr/>
        </p:nvCxnSpPr>
        <p:spPr>
          <a:xfrm>
            <a:off x="7204952" y="4998416"/>
            <a:ext cx="0" cy="747712"/>
          </a:xfrm>
          <a:prstGeom prst="straightConnector1">
            <a:avLst/>
          </a:prstGeom>
          <a:noFill/>
          <a:ln cap="flat" cmpd="sng" w="38100">
            <a:solidFill>
              <a:schemeClr val="dk1"/>
            </a:solidFill>
            <a:prstDash val="solid"/>
            <a:round/>
            <a:headEnd len="med" w="med" type="none"/>
            <a:tailEnd len="med" w="med" type="none"/>
          </a:ln>
        </p:spPr>
      </p:cxnSp>
      <p:cxnSp>
        <p:nvCxnSpPr>
          <p:cNvPr id="8035" name="Google Shape;8035;p124"/>
          <p:cNvCxnSpPr/>
          <p:nvPr/>
        </p:nvCxnSpPr>
        <p:spPr>
          <a:xfrm flipH="1" rot="10800000">
            <a:off x="7195427" y="4746004"/>
            <a:ext cx="876300" cy="1014412"/>
          </a:xfrm>
          <a:prstGeom prst="straightConnector1">
            <a:avLst/>
          </a:prstGeom>
          <a:noFill/>
          <a:ln cap="flat" cmpd="sng" w="38100">
            <a:solidFill>
              <a:schemeClr val="dk1"/>
            </a:solidFill>
            <a:prstDash val="solid"/>
            <a:round/>
            <a:headEnd len="med" w="med" type="none"/>
            <a:tailEnd len="med" w="med" type="none"/>
          </a:ln>
        </p:spPr>
      </p:cxnSp>
      <p:grpSp>
        <p:nvGrpSpPr>
          <p:cNvPr id="8036" name="Google Shape;8036;p124"/>
          <p:cNvGrpSpPr/>
          <p:nvPr/>
        </p:nvGrpSpPr>
        <p:grpSpPr>
          <a:xfrm>
            <a:off x="3439503" y="4254499"/>
            <a:ext cx="4602061" cy="2566367"/>
            <a:chOff x="4099904" y="3937000"/>
            <a:chExt cx="4602061" cy="2566367"/>
          </a:xfrm>
        </p:grpSpPr>
        <p:sp>
          <p:nvSpPr>
            <p:cNvPr id="8037" name="Google Shape;8037;p124"/>
            <p:cNvSpPr txBox="1"/>
            <p:nvPr/>
          </p:nvSpPr>
          <p:spPr>
            <a:xfrm rot="-5400000">
              <a:off x="3117142" y="4919761"/>
              <a:ext cx="2273300"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TCP sender  Sending rate</a:t>
              </a:r>
              <a:endParaRPr/>
            </a:p>
          </p:txBody>
        </p:sp>
        <p:cxnSp>
          <p:nvCxnSpPr>
            <p:cNvPr id="8038" name="Google Shape;8038;p124"/>
            <p:cNvCxnSpPr/>
            <p:nvPr/>
          </p:nvCxnSpPr>
          <p:spPr>
            <a:xfrm>
              <a:off x="4558589" y="6176341"/>
              <a:ext cx="4143375" cy="0"/>
            </a:xfrm>
            <a:prstGeom prst="straightConnector1">
              <a:avLst/>
            </a:prstGeom>
            <a:noFill/>
            <a:ln cap="flat" cmpd="sng" w="28575">
              <a:solidFill>
                <a:schemeClr val="dk1"/>
              </a:solidFill>
              <a:prstDash val="solid"/>
              <a:round/>
              <a:headEnd len="med" w="med" type="none"/>
              <a:tailEnd len="med" w="med" type="triangle"/>
            </a:ln>
          </p:spPr>
        </p:cxnSp>
        <p:cxnSp>
          <p:nvCxnSpPr>
            <p:cNvPr id="8039" name="Google Shape;8039;p124"/>
            <p:cNvCxnSpPr/>
            <p:nvPr/>
          </p:nvCxnSpPr>
          <p:spPr>
            <a:xfrm>
              <a:off x="4546600" y="4203700"/>
              <a:ext cx="877" cy="1974229"/>
            </a:xfrm>
            <a:prstGeom prst="straightConnector1">
              <a:avLst/>
            </a:prstGeom>
            <a:noFill/>
            <a:ln cap="flat" cmpd="sng" w="28575">
              <a:solidFill>
                <a:schemeClr val="dk1"/>
              </a:solidFill>
              <a:prstDash val="solid"/>
              <a:round/>
              <a:headEnd len="med" w="med" type="none"/>
              <a:tailEnd len="med" w="med" type="none"/>
            </a:ln>
          </p:spPr>
        </p:cxnSp>
        <p:sp>
          <p:nvSpPr>
            <p:cNvPr id="8040" name="Google Shape;8040;p124"/>
            <p:cNvSpPr txBox="1"/>
            <p:nvPr/>
          </p:nvSpPr>
          <p:spPr>
            <a:xfrm>
              <a:off x="6125452" y="6166816"/>
              <a:ext cx="5762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a:t>
              </a:r>
              <a:endParaRPr/>
            </a:p>
          </p:txBody>
        </p:sp>
      </p:grpSp>
      <p:grpSp>
        <p:nvGrpSpPr>
          <p:cNvPr id="8041" name="Google Shape;8041;p124"/>
          <p:cNvGrpSpPr/>
          <p:nvPr/>
        </p:nvGrpSpPr>
        <p:grpSpPr>
          <a:xfrm>
            <a:off x="965200" y="2146300"/>
            <a:ext cx="5054600" cy="1905000"/>
            <a:chOff x="0" y="4533900"/>
            <a:chExt cx="4762500" cy="1905000"/>
          </a:xfrm>
        </p:grpSpPr>
        <p:sp>
          <p:nvSpPr>
            <p:cNvPr id="8042" name="Google Shape;8042;p124"/>
            <p:cNvSpPr/>
            <p:nvPr/>
          </p:nvSpPr>
          <p:spPr>
            <a:xfrm>
              <a:off x="406846" y="4737100"/>
              <a:ext cx="4334880" cy="1435100"/>
            </a:xfrm>
            <a:prstGeom prst="rect">
              <a:avLst/>
            </a:prstGeom>
            <a:solidFill>
              <a:schemeClr val="lt1"/>
            </a:solidFill>
            <a:ln cap="flat" cmpd="sng" w="127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43" name="Google Shape;8043;p124"/>
            <p:cNvSpPr/>
            <p:nvPr/>
          </p:nvSpPr>
          <p:spPr>
            <a:xfrm>
              <a:off x="0" y="4991100"/>
              <a:ext cx="4762500" cy="1447800"/>
            </a:xfrm>
            <a:prstGeom prst="rect">
              <a:avLst/>
            </a:prstGeom>
            <a:noFill/>
            <a:ln>
              <a:noFill/>
            </a:ln>
          </p:spPr>
          <p:txBody>
            <a:bodyPr anchorCtr="0" anchor="t" bIns="45700" lIns="91425" spcFirstLastPara="1" rIns="91425" wrap="square" tIns="45700">
              <a:noAutofit/>
            </a:bodyPr>
            <a:lstStyle/>
            <a:p>
              <a:pPr indent="0" lvl="1" marL="457200" marR="0" rtl="0" algn="l">
                <a:lnSpc>
                  <a:spcPct val="85000"/>
                </a:lnSpc>
                <a:spcBef>
                  <a:spcPts val="0"/>
                </a:spcBef>
                <a:spcAft>
                  <a:spcPts val="0"/>
                </a:spcAft>
                <a:buClr>
                  <a:srgbClr val="000099"/>
                </a:buClr>
                <a:buSzPts val="2600"/>
                <a:buFont typeface="Calibri"/>
                <a:buNone/>
              </a:pPr>
              <a:r>
                <a:rPr b="0" i="0" lang="en-US" sz="2600" u="none" cap="none" strike="noStrike">
                  <a:solidFill>
                    <a:srgbClr val="000000"/>
                  </a:solidFill>
                  <a:latin typeface="Calibri"/>
                  <a:ea typeface="Calibri"/>
                  <a:cs typeface="Calibri"/>
                  <a:sym typeface="Calibri"/>
                </a:rPr>
                <a:t>increase sending rate </a:t>
              </a:r>
              <a:r>
                <a:rPr b="0" i="0" lang="en-US" sz="2600" u="none" cap="none" strike="noStrike">
                  <a:solidFill>
                    <a:srgbClr val="000000"/>
                  </a:solidFill>
                  <a:latin typeface="Gill Sans"/>
                  <a:ea typeface="Gill Sans"/>
                  <a:cs typeface="Gill Sans"/>
                  <a:sym typeface="Gill Sans"/>
                </a:rPr>
                <a:t>by </a:t>
              </a:r>
              <a:r>
                <a:rPr b="0" i="0" lang="en-US" sz="2600" u="none" cap="none" strike="noStrike">
                  <a:solidFill>
                    <a:srgbClr val="000000"/>
                  </a:solidFill>
                  <a:latin typeface="Calibri"/>
                  <a:ea typeface="Calibri"/>
                  <a:cs typeface="Calibri"/>
                  <a:sym typeface="Calibri"/>
                </a:rPr>
                <a:t>1 maximum segment size every RTT until loss detected</a:t>
              </a:r>
              <a:endParaRPr b="0" i="1" sz="2600" u="none" cap="none" strike="noStrike">
                <a:solidFill>
                  <a:srgbClr val="000000"/>
                </a:solidFill>
                <a:latin typeface="Calibri"/>
                <a:ea typeface="Calibri"/>
                <a:cs typeface="Calibri"/>
                <a:sym typeface="Calibri"/>
              </a:endParaRPr>
            </a:p>
          </p:txBody>
        </p:sp>
        <p:sp>
          <p:nvSpPr>
            <p:cNvPr id="8044" name="Google Shape;8044;p124"/>
            <p:cNvSpPr/>
            <p:nvPr/>
          </p:nvSpPr>
          <p:spPr>
            <a:xfrm>
              <a:off x="508000" y="4533900"/>
              <a:ext cx="2667000" cy="444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sng" cap="none" strike="noStrike">
                  <a:solidFill>
                    <a:srgbClr val="00B050"/>
                  </a:solidFill>
                  <a:latin typeface="Calibri"/>
                  <a:ea typeface="Calibri"/>
                  <a:cs typeface="Calibri"/>
                  <a:sym typeface="Calibri"/>
                </a:rPr>
                <a:t>A</a:t>
              </a:r>
              <a:r>
                <a:rPr b="0" i="1" lang="en-US" sz="2800" u="none" cap="none" strike="noStrike">
                  <a:solidFill>
                    <a:srgbClr val="00B050"/>
                  </a:solidFill>
                  <a:latin typeface="Calibri"/>
                  <a:ea typeface="Calibri"/>
                  <a:cs typeface="Calibri"/>
                  <a:sym typeface="Calibri"/>
                </a:rPr>
                <a:t>dditive </a:t>
              </a:r>
              <a:r>
                <a:rPr b="0" i="1" lang="en-US" sz="2800" u="sng" cap="none" strike="noStrike">
                  <a:solidFill>
                    <a:srgbClr val="00B050"/>
                  </a:solidFill>
                  <a:latin typeface="Calibri"/>
                  <a:ea typeface="Calibri"/>
                  <a:cs typeface="Calibri"/>
                  <a:sym typeface="Calibri"/>
                </a:rPr>
                <a:t>I</a:t>
              </a:r>
              <a:r>
                <a:rPr b="0" i="1" lang="en-US" sz="2800" u="none" cap="none" strike="noStrike">
                  <a:solidFill>
                    <a:srgbClr val="00B050"/>
                  </a:solidFill>
                  <a:latin typeface="Calibri"/>
                  <a:ea typeface="Calibri"/>
                  <a:cs typeface="Calibri"/>
                  <a:sym typeface="Calibri"/>
                </a:rPr>
                <a:t>ncrease</a:t>
              </a:r>
              <a:endParaRPr b="0" i="0" sz="2800" u="none" cap="none" strike="noStrike">
                <a:solidFill>
                  <a:srgbClr val="00B050"/>
                </a:solidFill>
                <a:latin typeface="Gill Sans"/>
                <a:ea typeface="Gill Sans"/>
                <a:cs typeface="Gill Sans"/>
                <a:sym typeface="Gill Sans"/>
              </a:endParaRPr>
            </a:p>
          </p:txBody>
        </p:sp>
      </p:grpSp>
      <p:grpSp>
        <p:nvGrpSpPr>
          <p:cNvPr id="8045" name="Google Shape;8045;p124"/>
          <p:cNvGrpSpPr/>
          <p:nvPr/>
        </p:nvGrpSpPr>
        <p:grpSpPr>
          <a:xfrm>
            <a:off x="6007100" y="2197100"/>
            <a:ext cx="4749800" cy="1422400"/>
            <a:chOff x="38100" y="4533900"/>
            <a:chExt cx="4749800" cy="1422400"/>
          </a:xfrm>
        </p:grpSpPr>
        <p:sp>
          <p:nvSpPr>
            <p:cNvPr id="8046" name="Google Shape;8046;p124"/>
            <p:cNvSpPr/>
            <p:nvPr/>
          </p:nvSpPr>
          <p:spPr>
            <a:xfrm>
              <a:off x="342900" y="4686300"/>
              <a:ext cx="4267200" cy="1270000"/>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47" name="Google Shape;8047;p124"/>
            <p:cNvSpPr/>
            <p:nvPr/>
          </p:nvSpPr>
          <p:spPr>
            <a:xfrm>
              <a:off x="38100" y="4991100"/>
              <a:ext cx="4749800" cy="825500"/>
            </a:xfrm>
            <a:prstGeom prst="rect">
              <a:avLst/>
            </a:prstGeom>
            <a:noFill/>
            <a:ln>
              <a:noFill/>
            </a:ln>
          </p:spPr>
          <p:txBody>
            <a:bodyPr anchorCtr="0" anchor="t" bIns="45700" lIns="91425" spcFirstLastPara="1" rIns="91425" wrap="square" tIns="45700">
              <a:noAutofit/>
            </a:bodyPr>
            <a:lstStyle/>
            <a:p>
              <a:pPr indent="0" lvl="1" marL="457200" marR="0" rtl="0" algn="l">
                <a:lnSpc>
                  <a:spcPct val="85000"/>
                </a:lnSpc>
                <a:spcBef>
                  <a:spcPts val="0"/>
                </a:spcBef>
                <a:spcAft>
                  <a:spcPts val="0"/>
                </a:spcAft>
                <a:buClr>
                  <a:srgbClr val="000099"/>
                </a:buClr>
                <a:buSzPts val="2600"/>
                <a:buFont typeface="Calibri"/>
                <a:buNone/>
              </a:pPr>
              <a:r>
                <a:rPr b="0" i="0" lang="en-US" sz="2600" u="none" cap="none" strike="noStrike">
                  <a:solidFill>
                    <a:srgbClr val="000000"/>
                  </a:solidFill>
                  <a:latin typeface="Calibri"/>
                  <a:ea typeface="Calibri"/>
                  <a:cs typeface="Calibri"/>
                  <a:sym typeface="Calibri"/>
                </a:rPr>
                <a:t>cut sending rate in half at each loss event</a:t>
              </a:r>
              <a:endParaRPr b="0" i="1" sz="26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8048" name="Google Shape;8048;p124"/>
            <p:cNvSpPr/>
            <p:nvPr/>
          </p:nvSpPr>
          <p:spPr>
            <a:xfrm>
              <a:off x="508000" y="4533900"/>
              <a:ext cx="3746500" cy="444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sng" cap="none" strike="noStrike">
                  <a:solidFill>
                    <a:srgbClr val="C00000"/>
                  </a:solidFill>
                  <a:latin typeface="Calibri"/>
                  <a:ea typeface="Calibri"/>
                  <a:cs typeface="Calibri"/>
                  <a:sym typeface="Calibri"/>
                </a:rPr>
                <a:t>M</a:t>
              </a:r>
              <a:r>
                <a:rPr b="0" i="1" lang="en-US" sz="2800" u="none" cap="none" strike="noStrike">
                  <a:solidFill>
                    <a:srgbClr val="C00000"/>
                  </a:solidFill>
                  <a:latin typeface="Calibri"/>
                  <a:ea typeface="Calibri"/>
                  <a:cs typeface="Calibri"/>
                  <a:sym typeface="Calibri"/>
                </a:rPr>
                <a:t>ultiplicative </a:t>
              </a:r>
              <a:r>
                <a:rPr b="0" i="1" lang="en-US" sz="2800" u="sng" cap="none" strike="noStrike">
                  <a:solidFill>
                    <a:srgbClr val="C00000"/>
                  </a:solidFill>
                  <a:latin typeface="Calibri"/>
                  <a:ea typeface="Calibri"/>
                  <a:cs typeface="Calibri"/>
                  <a:sym typeface="Calibri"/>
                </a:rPr>
                <a:t>D</a:t>
              </a:r>
              <a:r>
                <a:rPr b="0" i="1" lang="en-US" sz="2800" u="none" cap="none" strike="noStrike">
                  <a:solidFill>
                    <a:srgbClr val="C00000"/>
                  </a:solidFill>
                  <a:latin typeface="Calibri"/>
                  <a:ea typeface="Calibri"/>
                  <a:cs typeface="Calibri"/>
                  <a:sym typeface="Calibri"/>
                </a:rPr>
                <a:t>ecrease</a:t>
              </a:r>
              <a:endParaRPr b="0" i="0" sz="2800" u="none" cap="none" strike="noStrike">
                <a:solidFill>
                  <a:srgbClr val="C00000"/>
                </a:solidFill>
                <a:latin typeface="Gill Sans"/>
                <a:ea typeface="Gill Sans"/>
                <a:cs typeface="Gill Sans"/>
                <a:sym typeface="Gill Sans"/>
              </a:endParaRPr>
            </a:p>
          </p:txBody>
        </p:sp>
      </p:grpSp>
      <p:grpSp>
        <p:nvGrpSpPr>
          <p:cNvPr id="8049" name="Google Shape;8049;p124"/>
          <p:cNvGrpSpPr/>
          <p:nvPr/>
        </p:nvGrpSpPr>
        <p:grpSpPr>
          <a:xfrm>
            <a:off x="3952943" y="3784600"/>
            <a:ext cx="3599234" cy="1591283"/>
            <a:chOff x="3965643" y="3797300"/>
            <a:chExt cx="3599234" cy="1591283"/>
          </a:xfrm>
        </p:grpSpPr>
        <p:grpSp>
          <p:nvGrpSpPr>
            <p:cNvPr id="8050" name="Google Shape;8050;p124"/>
            <p:cNvGrpSpPr/>
            <p:nvPr/>
          </p:nvGrpSpPr>
          <p:grpSpPr>
            <a:xfrm>
              <a:off x="3965643" y="4159386"/>
              <a:ext cx="3599234" cy="1229197"/>
              <a:chOff x="3965643" y="4159386"/>
              <a:chExt cx="3599234" cy="1229197"/>
            </a:xfrm>
          </p:grpSpPr>
          <p:cxnSp>
            <p:nvCxnSpPr>
              <p:cNvPr id="8051" name="Google Shape;8051;p124"/>
              <p:cNvCxnSpPr/>
              <p:nvPr/>
            </p:nvCxnSpPr>
            <p:spPr>
              <a:xfrm>
                <a:off x="3972128" y="4163438"/>
                <a:ext cx="0" cy="1056262"/>
              </a:xfrm>
              <a:prstGeom prst="straightConnector1">
                <a:avLst/>
              </a:prstGeom>
              <a:noFill/>
              <a:ln cap="flat" cmpd="sng" w="12700">
                <a:solidFill>
                  <a:srgbClr val="00B050"/>
                </a:solidFill>
                <a:prstDash val="solid"/>
                <a:miter lim="800000"/>
                <a:headEnd len="sm" w="sm" type="none"/>
                <a:tailEnd len="med" w="med" type="triangle"/>
              </a:ln>
            </p:spPr>
          </p:cxnSp>
          <p:cxnSp>
            <p:nvCxnSpPr>
              <p:cNvPr id="8052" name="Google Shape;8052;p124"/>
              <p:cNvCxnSpPr/>
              <p:nvPr/>
            </p:nvCxnSpPr>
            <p:spPr>
              <a:xfrm>
                <a:off x="4480128" y="4163438"/>
                <a:ext cx="0" cy="1221362"/>
              </a:xfrm>
              <a:prstGeom prst="straightConnector1">
                <a:avLst/>
              </a:prstGeom>
              <a:noFill/>
              <a:ln cap="flat" cmpd="sng" w="12700">
                <a:solidFill>
                  <a:srgbClr val="00B050"/>
                </a:solidFill>
                <a:prstDash val="solid"/>
                <a:miter lim="800000"/>
                <a:headEnd len="sm" w="sm" type="none"/>
                <a:tailEnd len="med" w="med" type="triangle"/>
              </a:ln>
            </p:spPr>
          </p:cxnSp>
          <p:cxnSp>
            <p:nvCxnSpPr>
              <p:cNvPr id="8053" name="Google Shape;8053;p124"/>
              <p:cNvCxnSpPr/>
              <p:nvPr/>
            </p:nvCxnSpPr>
            <p:spPr>
              <a:xfrm>
                <a:off x="5295630" y="4163438"/>
                <a:ext cx="0" cy="1225145"/>
              </a:xfrm>
              <a:prstGeom prst="straightConnector1">
                <a:avLst/>
              </a:prstGeom>
              <a:noFill/>
              <a:ln cap="flat" cmpd="sng" w="12700">
                <a:solidFill>
                  <a:srgbClr val="00B050"/>
                </a:solidFill>
                <a:prstDash val="solid"/>
                <a:miter lim="800000"/>
                <a:headEnd len="sm" w="sm" type="none"/>
                <a:tailEnd len="med" w="med" type="triangle"/>
              </a:ln>
            </p:spPr>
          </p:cxnSp>
          <p:cxnSp>
            <p:nvCxnSpPr>
              <p:cNvPr id="8054" name="Google Shape;8054;p124"/>
              <p:cNvCxnSpPr/>
              <p:nvPr/>
            </p:nvCxnSpPr>
            <p:spPr>
              <a:xfrm>
                <a:off x="5964941" y="4171542"/>
                <a:ext cx="0" cy="1204339"/>
              </a:xfrm>
              <a:prstGeom prst="straightConnector1">
                <a:avLst/>
              </a:prstGeom>
              <a:noFill/>
              <a:ln cap="flat" cmpd="sng" w="12700">
                <a:solidFill>
                  <a:srgbClr val="00B050"/>
                </a:solidFill>
                <a:prstDash val="solid"/>
                <a:miter lim="800000"/>
                <a:headEnd len="sm" w="sm" type="none"/>
                <a:tailEnd len="med" w="med" type="triangle"/>
              </a:ln>
            </p:spPr>
          </p:cxnSp>
          <p:cxnSp>
            <p:nvCxnSpPr>
              <p:cNvPr id="8055" name="Google Shape;8055;p124"/>
              <p:cNvCxnSpPr/>
              <p:nvPr/>
            </p:nvCxnSpPr>
            <p:spPr>
              <a:xfrm>
                <a:off x="6794500" y="4165056"/>
                <a:ext cx="0" cy="1193800"/>
              </a:xfrm>
              <a:prstGeom prst="straightConnector1">
                <a:avLst/>
              </a:prstGeom>
              <a:noFill/>
              <a:ln cap="flat" cmpd="sng" w="12700">
                <a:solidFill>
                  <a:srgbClr val="00B050"/>
                </a:solidFill>
                <a:prstDash val="solid"/>
                <a:miter lim="800000"/>
                <a:headEnd len="sm" w="sm" type="none"/>
                <a:tailEnd len="med" w="med" type="triangle"/>
              </a:ln>
            </p:spPr>
          </p:cxnSp>
          <p:cxnSp>
            <p:nvCxnSpPr>
              <p:cNvPr id="8056" name="Google Shape;8056;p124"/>
              <p:cNvCxnSpPr/>
              <p:nvPr/>
            </p:nvCxnSpPr>
            <p:spPr>
              <a:xfrm>
                <a:off x="7559743" y="4159386"/>
                <a:ext cx="0" cy="1106520"/>
              </a:xfrm>
              <a:prstGeom prst="straightConnector1">
                <a:avLst/>
              </a:prstGeom>
              <a:noFill/>
              <a:ln cap="flat" cmpd="sng" w="12700">
                <a:solidFill>
                  <a:srgbClr val="00B050"/>
                </a:solidFill>
                <a:prstDash val="solid"/>
                <a:miter lim="800000"/>
                <a:headEnd len="sm" w="sm" type="none"/>
                <a:tailEnd len="med" w="med" type="triangle"/>
              </a:ln>
            </p:spPr>
          </p:cxnSp>
          <p:cxnSp>
            <p:nvCxnSpPr>
              <p:cNvPr id="8057" name="Google Shape;8057;p124"/>
              <p:cNvCxnSpPr/>
              <p:nvPr/>
            </p:nvCxnSpPr>
            <p:spPr>
              <a:xfrm>
                <a:off x="3965643" y="4162357"/>
                <a:ext cx="3599234" cy="0"/>
              </a:xfrm>
              <a:prstGeom prst="straightConnector1">
                <a:avLst/>
              </a:prstGeom>
              <a:noFill/>
              <a:ln cap="flat" cmpd="sng" w="12700">
                <a:solidFill>
                  <a:srgbClr val="00B050"/>
                </a:solidFill>
                <a:prstDash val="solid"/>
                <a:miter lim="800000"/>
                <a:headEnd len="sm" w="sm" type="none"/>
                <a:tailEnd len="sm" w="sm" type="none"/>
              </a:ln>
            </p:spPr>
          </p:cxnSp>
        </p:grpSp>
        <p:cxnSp>
          <p:nvCxnSpPr>
            <p:cNvPr id="8058" name="Google Shape;8058;p124"/>
            <p:cNvCxnSpPr/>
            <p:nvPr/>
          </p:nvCxnSpPr>
          <p:spPr>
            <a:xfrm>
              <a:off x="5651500" y="3797300"/>
              <a:ext cx="0" cy="381000"/>
            </a:xfrm>
            <a:prstGeom prst="straightConnector1">
              <a:avLst/>
            </a:prstGeom>
            <a:noFill/>
            <a:ln cap="flat" cmpd="sng" w="12700">
              <a:solidFill>
                <a:srgbClr val="00B050"/>
              </a:solidFill>
              <a:prstDash val="solid"/>
              <a:miter lim="800000"/>
              <a:headEnd len="sm" w="sm" type="none"/>
              <a:tailEnd len="med" w="med" type="triangle"/>
            </a:ln>
          </p:spPr>
        </p:cxnSp>
      </p:grpSp>
      <p:grpSp>
        <p:nvGrpSpPr>
          <p:cNvPr id="8059" name="Google Shape;8059;p124"/>
          <p:cNvGrpSpPr/>
          <p:nvPr/>
        </p:nvGrpSpPr>
        <p:grpSpPr>
          <a:xfrm>
            <a:off x="4108450" y="3622675"/>
            <a:ext cx="3819526" cy="1695450"/>
            <a:chOff x="4108450" y="3622675"/>
            <a:chExt cx="3819526" cy="1695450"/>
          </a:xfrm>
        </p:grpSpPr>
        <p:grpSp>
          <p:nvGrpSpPr>
            <p:cNvPr id="8060" name="Google Shape;8060;p124"/>
            <p:cNvGrpSpPr/>
            <p:nvPr/>
          </p:nvGrpSpPr>
          <p:grpSpPr>
            <a:xfrm>
              <a:off x="4108450" y="3975100"/>
              <a:ext cx="3819526" cy="1343025"/>
              <a:chOff x="4108450" y="3975100"/>
              <a:chExt cx="3819526" cy="1343025"/>
            </a:xfrm>
          </p:grpSpPr>
          <p:cxnSp>
            <p:nvCxnSpPr>
              <p:cNvPr id="8061" name="Google Shape;8061;p124"/>
              <p:cNvCxnSpPr/>
              <p:nvPr/>
            </p:nvCxnSpPr>
            <p:spPr>
              <a:xfrm flipH="1">
                <a:off x="7245350" y="3981450"/>
                <a:ext cx="679450" cy="1254125"/>
              </a:xfrm>
              <a:prstGeom prst="straightConnector1">
                <a:avLst/>
              </a:prstGeom>
              <a:noFill/>
              <a:ln cap="flat" cmpd="sng" w="12700">
                <a:solidFill>
                  <a:srgbClr val="C00000"/>
                </a:solidFill>
                <a:prstDash val="solid"/>
                <a:miter lim="800000"/>
                <a:headEnd len="sm" w="sm" type="none"/>
                <a:tailEnd len="med" w="med" type="triangle"/>
              </a:ln>
            </p:spPr>
          </p:cxnSp>
          <p:cxnSp>
            <p:nvCxnSpPr>
              <p:cNvPr id="8062" name="Google Shape;8062;p124"/>
              <p:cNvCxnSpPr/>
              <p:nvPr/>
            </p:nvCxnSpPr>
            <p:spPr>
              <a:xfrm flipH="1">
                <a:off x="4108450" y="3975100"/>
                <a:ext cx="3816350" cy="1339850"/>
              </a:xfrm>
              <a:prstGeom prst="straightConnector1">
                <a:avLst/>
              </a:prstGeom>
              <a:noFill/>
              <a:ln cap="flat" cmpd="sng" w="12700">
                <a:solidFill>
                  <a:srgbClr val="C00000"/>
                </a:solidFill>
                <a:prstDash val="solid"/>
                <a:miter lim="800000"/>
                <a:headEnd len="sm" w="sm" type="none"/>
                <a:tailEnd len="med" w="med" type="triangle"/>
              </a:ln>
            </p:spPr>
          </p:cxnSp>
          <p:cxnSp>
            <p:nvCxnSpPr>
              <p:cNvPr id="8063" name="Google Shape;8063;p124"/>
              <p:cNvCxnSpPr/>
              <p:nvPr/>
            </p:nvCxnSpPr>
            <p:spPr>
              <a:xfrm flipH="1">
                <a:off x="5070475" y="3978275"/>
                <a:ext cx="2854325" cy="1298575"/>
              </a:xfrm>
              <a:prstGeom prst="straightConnector1">
                <a:avLst/>
              </a:prstGeom>
              <a:noFill/>
              <a:ln cap="flat" cmpd="sng" w="12700">
                <a:solidFill>
                  <a:srgbClr val="C00000"/>
                </a:solidFill>
                <a:prstDash val="solid"/>
                <a:miter lim="800000"/>
                <a:headEnd len="sm" w="sm" type="none"/>
                <a:tailEnd len="med" w="med" type="triangle"/>
              </a:ln>
            </p:spPr>
          </p:cxnSp>
          <p:cxnSp>
            <p:nvCxnSpPr>
              <p:cNvPr id="8064" name="Google Shape;8064;p124"/>
              <p:cNvCxnSpPr/>
              <p:nvPr/>
            </p:nvCxnSpPr>
            <p:spPr>
              <a:xfrm flipH="1">
                <a:off x="5607050" y="3984625"/>
                <a:ext cx="2320926" cy="1333500"/>
              </a:xfrm>
              <a:prstGeom prst="straightConnector1">
                <a:avLst/>
              </a:prstGeom>
              <a:noFill/>
              <a:ln cap="flat" cmpd="sng" w="12700">
                <a:solidFill>
                  <a:srgbClr val="C00000"/>
                </a:solidFill>
                <a:prstDash val="solid"/>
                <a:miter lim="800000"/>
                <a:headEnd len="sm" w="sm" type="none"/>
                <a:tailEnd len="med" w="med" type="triangle"/>
              </a:ln>
            </p:spPr>
          </p:cxnSp>
          <p:cxnSp>
            <p:nvCxnSpPr>
              <p:cNvPr id="8065" name="Google Shape;8065;p124"/>
              <p:cNvCxnSpPr/>
              <p:nvPr/>
            </p:nvCxnSpPr>
            <p:spPr>
              <a:xfrm flipH="1">
                <a:off x="6565900" y="3984625"/>
                <a:ext cx="1358900" cy="1193800"/>
              </a:xfrm>
              <a:prstGeom prst="straightConnector1">
                <a:avLst/>
              </a:prstGeom>
              <a:noFill/>
              <a:ln cap="flat" cmpd="sng" w="12700">
                <a:solidFill>
                  <a:srgbClr val="C00000"/>
                </a:solidFill>
                <a:prstDash val="solid"/>
                <a:miter lim="800000"/>
                <a:headEnd len="sm" w="sm" type="none"/>
                <a:tailEnd len="med" w="med" type="triangle"/>
              </a:ln>
            </p:spPr>
          </p:cxnSp>
        </p:grpSp>
        <p:cxnSp>
          <p:nvCxnSpPr>
            <p:cNvPr id="8066" name="Google Shape;8066;p124"/>
            <p:cNvCxnSpPr/>
            <p:nvPr/>
          </p:nvCxnSpPr>
          <p:spPr>
            <a:xfrm rot="10800000">
              <a:off x="7921625" y="3622675"/>
              <a:ext cx="0" cy="358775"/>
            </a:xfrm>
            <a:prstGeom prst="straightConnector1">
              <a:avLst/>
            </a:prstGeom>
            <a:noFill/>
            <a:ln cap="flat" cmpd="sng" w="12700">
              <a:solidFill>
                <a:srgbClr val="C00000"/>
              </a:solidFill>
              <a:prstDash val="solid"/>
              <a:miter lim="800000"/>
              <a:headEnd len="sm" w="sm" type="none"/>
              <a:tailEnd len="sm" w="sm" type="none"/>
            </a:ln>
          </p:spPr>
        </p:cxnSp>
      </p:grpSp>
      <p:sp>
        <p:nvSpPr>
          <p:cNvPr id="8067" name="Google Shape;8067;p1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6"/>
                                        </p:tgtEl>
                                        <p:attrNameLst>
                                          <p:attrName>style.visibility</p:attrName>
                                        </p:attrNameLst>
                                      </p:cBhvr>
                                      <p:to>
                                        <p:strVal val="visible"/>
                                      </p:to>
                                    </p:set>
                                    <p:animEffect filter="fade" transition="in">
                                      <p:cBhvr>
                                        <p:cTn dur="500"/>
                                        <p:tgtEl>
                                          <p:spTgt spid="80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5"/>
                                        </p:tgtEl>
                                        <p:attrNameLst>
                                          <p:attrName>style.visibility</p:attrName>
                                        </p:attrNameLst>
                                      </p:cBhvr>
                                      <p:to>
                                        <p:strVal val="visible"/>
                                      </p:to>
                                    </p:set>
                                    <p:animEffect filter="fade" transition="in">
                                      <p:cBhvr>
                                        <p:cTn dur="500"/>
                                        <p:tgtEl>
                                          <p:spTgt spid="80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026"/>
                                        </p:tgtEl>
                                        <p:attrNameLst>
                                          <p:attrName>style.visibility</p:attrName>
                                        </p:attrNameLst>
                                      </p:cBhvr>
                                      <p:to>
                                        <p:strVal val="visible"/>
                                      </p:to>
                                    </p:set>
                                    <p:animEffect filter="fade" transition="in">
                                      <p:cBhvr>
                                        <p:cTn dur="500"/>
                                        <p:tgtEl>
                                          <p:spTgt spid="80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027"/>
                                        </p:tgtEl>
                                        <p:attrNameLst>
                                          <p:attrName>style.visibility</p:attrName>
                                        </p:attrNameLst>
                                      </p:cBhvr>
                                      <p:to>
                                        <p:strVal val="visible"/>
                                      </p:to>
                                    </p:set>
                                    <p:animEffect filter="fade" transition="in">
                                      <p:cBhvr>
                                        <p:cTn dur="500"/>
                                        <p:tgtEl>
                                          <p:spTgt spid="802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028"/>
                                        </p:tgtEl>
                                        <p:attrNameLst>
                                          <p:attrName>style.visibility</p:attrName>
                                        </p:attrNameLst>
                                      </p:cBhvr>
                                      <p:to>
                                        <p:strVal val="visible"/>
                                      </p:to>
                                    </p:set>
                                    <p:animEffect filter="fade" transition="in">
                                      <p:cBhvr>
                                        <p:cTn dur="500"/>
                                        <p:tgtEl>
                                          <p:spTgt spid="802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029"/>
                                        </p:tgtEl>
                                        <p:attrNameLst>
                                          <p:attrName>style.visibility</p:attrName>
                                        </p:attrNameLst>
                                      </p:cBhvr>
                                      <p:to>
                                        <p:strVal val="visible"/>
                                      </p:to>
                                    </p:set>
                                    <p:animEffect filter="fade" transition="in">
                                      <p:cBhvr>
                                        <p:cTn dur="500"/>
                                        <p:tgtEl>
                                          <p:spTgt spid="802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8030"/>
                                        </p:tgtEl>
                                        <p:attrNameLst>
                                          <p:attrName>style.visibility</p:attrName>
                                        </p:attrNameLst>
                                      </p:cBhvr>
                                      <p:to>
                                        <p:strVal val="visible"/>
                                      </p:to>
                                    </p:set>
                                    <p:animEffect filter="fade" transition="in">
                                      <p:cBhvr>
                                        <p:cTn dur="500"/>
                                        <p:tgtEl>
                                          <p:spTgt spid="803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031"/>
                                        </p:tgtEl>
                                        <p:attrNameLst>
                                          <p:attrName>style.visibility</p:attrName>
                                        </p:attrNameLst>
                                      </p:cBhvr>
                                      <p:to>
                                        <p:strVal val="visible"/>
                                      </p:to>
                                    </p:set>
                                    <p:animEffect filter="fade" transition="in">
                                      <p:cBhvr>
                                        <p:cTn dur="500"/>
                                        <p:tgtEl>
                                          <p:spTgt spid="803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8032"/>
                                        </p:tgtEl>
                                        <p:attrNameLst>
                                          <p:attrName>style.visibility</p:attrName>
                                        </p:attrNameLst>
                                      </p:cBhvr>
                                      <p:to>
                                        <p:strVal val="visible"/>
                                      </p:to>
                                    </p:set>
                                    <p:animEffect filter="fade" transition="in">
                                      <p:cBhvr>
                                        <p:cTn dur="500"/>
                                        <p:tgtEl>
                                          <p:spTgt spid="803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8033"/>
                                        </p:tgtEl>
                                        <p:attrNameLst>
                                          <p:attrName>style.visibility</p:attrName>
                                        </p:attrNameLst>
                                      </p:cBhvr>
                                      <p:to>
                                        <p:strVal val="visible"/>
                                      </p:to>
                                    </p:set>
                                    <p:animEffect filter="fade" transition="in">
                                      <p:cBhvr>
                                        <p:cTn dur="500"/>
                                        <p:tgtEl>
                                          <p:spTgt spid="8033"/>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8034"/>
                                        </p:tgtEl>
                                        <p:attrNameLst>
                                          <p:attrName>style.visibility</p:attrName>
                                        </p:attrNameLst>
                                      </p:cBhvr>
                                      <p:to>
                                        <p:strVal val="visible"/>
                                      </p:to>
                                    </p:set>
                                    <p:animEffect filter="fade" transition="in">
                                      <p:cBhvr>
                                        <p:cTn dur="500"/>
                                        <p:tgtEl>
                                          <p:spTgt spid="8034"/>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8035"/>
                                        </p:tgtEl>
                                        <p:attrNameLst>
                                          <p:attrName>style.visibility</p:attrName>
                                        </p:attrNameLst>
                                      </p:cBhvr>
                                      <p:to>
                                        <p:strVal val="visible"/>
                                      </p:to>
                                    </p:set>
                                    <p:animEffect filter="fade" transition="in">
                                      <p:cBhvr>
                                        <p:cTn dur="500"/>
                                        <p:tgtEl>
                                          <p:spTgt spid="80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1"/>
                                        </p:tgtEl>
                                        <p:attrNameLst>
                                          <p:attrName>style.visibility</p:attrName>
                                        </p:attrNameLst>
                                      </p:cBhvr>
                                      <p:to>
                                        <p:strVal val="visible"/>
                                      </p:to>
                                    </p:set>
                                    <p:animEffect filter="fade" transition="in">
                                      <p:cBhvr>
                                        <p:cTn dur="500"/>
                                        <p:tgtEl>
                                          <p:spTgt spid="8041"/>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8049"/>
                                        </p:tgtEl>
                                        <p:attrNameLst>
                                          <p:attrName>style.visibility</p:attrName>
                                        </p:attrNameLst>
                                      </p:cBhvr>
                                      <p:to>
                                        <p:strVal val="visible"/>
                                      </p:to>
                                    </p:set>
                                    <p:animEffect filter="fade" transition="in">
                                      <p:cBhvr>
                                        <p:cTn dur="500"/>
                                        <p:tgtEl>
                                          <p:spTgt spid="80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5"/>
                                        </p:tgtEl>
                                        <p:attrNameLst>
                                          <p:attrName>style.visibility</p:attrName>
                                        </p:attrNameLst>
                                      </p:cBhvr>
                                      <p:to>
                                        <p:strVal val="visible"/>
                                      </p:to>
                                    </p:set>
                                    <p:animEffect filter="fade" transition="in">
                                      <p:cBhvr>
                                        <p:cTn dur="500"/>
                                        <p:tgtEl>
                                          <p:spTgt spid="8045"/>
                                        </p:tgtEl>
                                      </p:cBhvr>
                                    </p:animEffect>
                                  </p:childTnLst>
                                </p:cTn>
                              </p:par>
                              <p:par>
                                <p:cTn fill="hold" nodeType="withEffect" presetClass="exit" presetID="10" presetSubtype="0">
                                  <p:stCondLst>
                                    <p:cond delay="0"/>
                                  </p:stCondLst>
                                  <p:childTnLst>
                                    <p:animEffect filter="fade" transition="out">
                                      <p:cBhvr>
                                        <p:cTn dur="500"/>
                                        <p:tgtEl>
                                          <p:spTgt spid="8049"/>
                                        </p:tgtEl>
                                      </p:cBhvr>
                                    </p:animEffect>
                                    <p:set>
                                      <p:cBhvr>
                                        <p:cTn dur="1" fill="hold">
                                          <p:stCondLst>
                                            <p:cond delay="500"/>
                                          </p:stCondLst>
                                        </p:cTn>
                                        <p:tgtEl>
                                          <p:spTgt spid="804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8059"/>
                                        </p:tgtEl>
                                        <p:attrNameLst>
                                          <p:attrName>style.visibility</p:attrName>
                                        </p:attrNameLst>
                                      </p:cBhvr>
                                      <p:to>
                                        <p:strVal val="visible"/>
                                      </p:to>
                                    </p:set>
                                    <p:animEffect filter="fade" transition="in">
                                      <p:cBhvr>
                                        <p:cTn dur="500"/>
                                        <p:tgtEl>
                                          <p:spTgt spid="8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3"/>
                                        </p:tgtEl>
                                        <p:attrNameLst>
                                          <p:attrName>style.visibility</p:attrName>
                                        </p:attrNameLst>
                                      </p:cBhvr>
                                      <p:to>
                                        <p:strVal val="visible"/>
                                      </p:to>
                                    </p:set>
                                    <p:animEffect filter="fade" transition="in">
                                      <p:cBhvr>
                                        <p:cTn dur="500"/>
                                        <p:tgtEl>
                                          <p:spTgt spid="8023"/>
                                        </p:tgtEl>
                                      </p:cBhvr>
                                    </p:animEffect>
                                  </p:childTnLst>
                                </p:cTn>
                              </p:par>
                              <p:par>
                                <p:cTn fill="hold" nodeType="withEffect" presetClass="exit" presetID="10" presetSubtype="0">
                                  <p:stCondLst>
                                    <p:cond delay="0"/>
                                  </p:stCondLst>
                                  <p:childTnLst>
                                    <p:animEffect filter="fade" transition="out">
                                      <p:cBhvr>
                                        <p:cTn dur="500"/>
                                        <p:tgtEl>
                                          <p:spTgt spid="8059"/>
                                        </p:tgtEl>
                                      </p:cBhvr>
                                    </p:animEffect>
                                    <p:set>
                                      <p:cBhvr>
                                        <p:cTn dur="1" fill="hold">
                                          <p:stCondLst>
                                            <p:cond delay="500"/>
                                          </p:stCondLst>
                                        </p:cTn>
                                        <p:tgtEl>
                                          <p:spTgt spid="805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2" name="Shape 8072"/>
        <p:cNvGrpSpPr/>
        <p:nvPr/>
      </p:nvGrpSpPr>
      <p:grpSpPr>
        <a:xfrm>
          <a:off x="0" y="0"/>
          <a:ext cx="0" cy="0"/>
          <a:chOff x="0" y="0"/>
          <a:chExt cx="0" cy="0"/>
        </a:xfrm>
      </p:grpSpPr>
      <p:sp>
        <p:nvSpPr>
          <p:cNvPr id="8073" name="Google Shape;8073;p125"/>
          <p:cNvSpPr txBox="1"/>
          <p:nvPr>
            <p:ph type="title"/>
          </p:nvPr>
        </p:nvSpPr>
        <p:spPr>
          <a:xfrm>
            <a:off x="811390" y="2581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b="0" lang="en-US" sz="4800"/>
              <a:t>TCP AIMD: more</a:t>
            </a:r>
            <a:endParaRPr b="0" sz="4400"/>
          </a:p>
        </p:txBody>
      </p:sp>
      <p:sp>
        <p:nvSpPr>
          <p:cNvPr id="8074" name="Google Shape;8074;p125"/>
          <p:cNvSpPr/>
          <p:nvPr/>
        </p:nvSpPr>
        <p:spPr>
          <a:xfrm>
            <a:off x="901700" y="1361440"/>
            <a:ext cx="9847580" cy="17678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none" cap="none" strike="noStrike">
                <a:solidFill>
                  <a:srgbClr val="C00000"/>
                </a:solidFill>
                <a:latin typeface="Calibri"/>
                <a:ea typeface="Calibri"/>
                <a:cs typeface="Calibri"/>
                <a:sym typeface="Calibri"/>
              </a:rPr>
              <a:t>Multiplicative decrease </a:t>
            </a:r>
            <a:r>
              <a:rPr b="0" i="0" lang="en-US" sz="2800" u="none" cap="none" strike="noStrike">
                <a:solidFill>
                  <a:srgbClr val="000000"/>
                </a:solidFill>
                <a:latin typeface="Calibri"/>
                <a:ea typeface="Calibri"/>
                <a:cs typeface="Calibri"/>
                <a:sym typeface="Calibri"/>
              </a:rPr>
              <a:t>detail:  sending rate is </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Cut in half on loss detected by triple duplicate ACK (TCP Reno)</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Cut to 1 MSS (maximum segment size) when loss detected by timeout (TCP Tahoe)</a:t>
            </a:r>
            <a:endParaRPr/>
          </a:p>
          <a:p>
            <a:pPr indent="-127000" lvl="0" marL="4064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114300" lvl="0" marL="2921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8075" name="Google Shape;8075;p125"/>
          <p:cNvSpPr/>
          <p:nvPr/>
        </p:nvSpPr>
        <p:spPr>
          <a:xfrm>
            <a:off x="861060" y="3362960"/>
            <a:ext cx="9847580" cy="17678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0" lang="en-US" sz="2800" u="none" cap="none" strike="noStrike">
                <a:solidFill>
                  <a:srgbClr val="000000"/>
                </a:solidFill>
                <a:latin typeface="Calibri"/>
                <a:ea typeface="Calibri"/>
                <a:cs typeface="Calibri"/>
                <a:sym typeface="Calibri"/>
              </a:rPr>
              <a:t>Why</a:t>
            </a:r>
            <a:r>
              <a:rPr b="0" i="1" lang="en-US" sz="2800" u="none" cap="none" strike="noStrike">
                <a:solidFill>
                  <a:srgbClr val="C00000"/>
                </a:solidFill>
                <a:latin typeface="Calibri"/>
                <a:ea typeface="Calibri"/>
                <a:cs typeface="Calibri"/>
                <a:sym typeface="Calibri"/>
              </a:rPr>
              <a:t> </a:t>
            </a:r>
            <a:r>
              <a:rPr b="0" i="0" lang="en-US" sz="2800" u="sng" cap="none" strike="noStrike">
                <a:solidFill>
                  <a:srgbClr val="C00000"/>
                </a:solidFill>
                <a:latin typeface="Calibri"/>
                <a:ea typeface="Calibri"/>
                <a:cs typeface="Calibri"/>
                <a:sym typeface="Calibri"/>
              </a:rPr>
              <a:t>A</a:t>
            </a:r>
            <a:r>
              <a:rPr b="0" i="0" lang="en-US" sz="2800" u="none" cap="none" strike="noStrike">
                <a:solidFill>
                  <a:srgbClr val="000000"/>
                </a:solidFill>
                <a:latin typeface="Calibri"/>
                <a:ea typeface="Calibri"/>
                <a:cs typeface="Calibri"/>
                <a:sym typeface="Calibri"/>
              </a:rPr>
              <a:t>I</a:t>
            </a:r>
            <a:r>
              <a:rPr b="0" i="0" lang="en-US" sz="2800" u="sng" cap="none" strike="noStrike">
                <a:solidFill>
                  <a:srgbClr val="C00000"/>
                </a:solidFill>
                <a:latin typeface="Calibri"/>
                <a:ea typeface="Calibri"/>
                <a:cs typeface="Calibri"/>
                <a:sym typeface="Calibri"/>
              </a:rPr>
              <a:t>M</a:t>
            </a:r>
            <a:r>
              <a:rPr b="0" i="0" lang="en-US" sz="2800" u="none" cap="none" strike="noStrike">
                <a:solidFill>
                  <a:srgbClr val="000000"/>
                </a:solidFill>
                <a:latin typeface="Calibri"/>
                <a:ea typeface="Calibri"/>
                <a:cs typeface="Calibri"/>
                <a:sym typeface="Calibri"/>
              </a:rPr>
              <a:t>D</a:t>
            </a:r>
            <a:r>
              <a:rPr b="0" i="0" lang="en-US" sz="2800" u="none" cap="none" strike="noStrike">
                <a:solidFill>
                  <a:srgbClr val="C00000"/>
                </a:solidFill>
                <a:latin typeface="Calibri"/>
                <a:ea typeface="Calibri"/>
                <a:cs typeface="Calibri"/>
                <a:sym typeface="Calibri"/>
              </a:rPr>
              <a:t>?</a:t>
            </a:r>
            <a:r>
              <a:rPr b="0" i="1"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 </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AIMD – a distributed, asynchronous algorithm – has been shown to:</a:t>
            </a:r>
            <a:endParaRPr/>
          </a:p>
          <a:p>
            <a:pPr indent="-284163" lvl="1" marL="69056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optimize congested flow rates network wide!</a:t>
            </a:r>
            <a:endParaRPr/>
          </a:p>
          <a:p>
            <a:pPr indent="-284163" lvl="1" marL="69056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have desirable stability properties</a:t>
            </a:r>
            <a:endParaRPr/>
          </a:p>
          <a:p>
            <a:pPr indent="0" lvl="0" marL="101600" marR="0" rtl="0" algn="l">
              <a:lnSpc>
                <a:spcPct val="85000"/>
              </a:lnSpc>
              <a:spcBef>
                <a:spcPts val="560"/>
              </a:spcBef>
              <a:spcAft>
                <a:spcPts val="0"/>
              </a:spcAft>
              <a:buClr>
                <a:srgbClr val="000099"/>
              </a:buClr>
              <a:buSzPts val="2800"/>
              <a:buFont typeface="Calibri"/>
              <a:buNone/>
            </a:pPr>
            <a:r>
              <a:t/>
            </a:r>
            <a:endParaRPr b="0" i="0" sz="2800" u="none" cap="none" strike="noStrike">
              <a:solidFill>
                <a:srgbClr val="000000"/>
              </a:solidFill>
              <a:latin typeface="Calibri"/>
              <a:ea typeface="Calibri"/>
              <a:cs typeface="Calibri"/>
              <a:sym typeface="Calibri"/>
            </a:endParaRPr>
          </a:p>
          <a:p>
            <a:pPr indent="-114300" lvl="0" marL="2921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8076" name="Google Shape;8076;p1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75"/>
                                        </p:tgtEl>
                                        <p:attrNameLst>
                                          <p:attrName>style.visibility</p:attrName>
                                        </p:attrNameLst>
                                      </p:cBhvr>
                                      <p:to>
                                        <p:strVal val="visible"/>
                                      </p:to>
                                    </p:set>
                                    <p:animEffect filter="fade" transition="in">
                                      <p:cBhvr>
                                        <p:cTn dur="500"/>
                                        <p:tgtEl>
                                          <p:spTgt spid="80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1" name="Shape 8081"/>
        <p:cNvGrpSpPr/>
        <p:nvPr/>
      </p:nvGrpSpPr>
      <p:grpSpPr>
        <a:xfrm>
          <a:off x="0" y="0"/>
          <a:ext cx="0" cy="0"/>
          <a:chOff x="0" y="0"/>
          <a:chExt cx="0" cy="0"/>
        </a:xfrm>
      </p:grpSpPr>
      <p:sp>
        <p:nvSpPr>
          <p:cNvPr id="8082" name="Google Shape;8082;p126"/>
          <p:cNvSpPr txBox="1"/>
          <p:nvPr>
            <p:ph type="title"/>
          </p:nvPr>
        </p:nvSpPr>
        <p:spPr>
          <a:xfrm>
            <a:off x="812800" y="2594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congestion control: details</a:t>
            </a:r>
            <a:endParaRPr b="0" sz="4400"/>
          </a:p>
        </p:txBody>
      </p:sp>
      <p:grpSp>
        <p:nvGrpSpPr>
          <p:cNvPr id="8083" name="Google Shape;8083;p126"/>
          <p:cNvGrpSpPr/>
          <p:nvPr/>
        </p:nvGrpSpPr>
        <p:grpSpPr>
          <a:xfrm>
            <a:off x="1116489" y="4838128"/>
            <a:ext cx="10034111" cy="1695450"/>
            <a:chOff x="1116489" y="4838128"/>
            <a:chExt cx="10034111" cy="1695450"/>
          </a:xfrm>
        </p:grpSpPr>
        <p:sp>
          <p:nvSpPr>
            <p:cNvPr id="8084" name="Google Shape;8084;p126"/>
            <p:cNvSpPr/>
            <p:nvPr/>
          </p:nvSpPr>
          <p:spPr>
            <a:xfrm>
              <a:off x="5989208" y="4895568"/>
              <a:ext cx="5161392" cy="36512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85" name="Google Shape;8085;p126"/>
            <p:cNvSpPr txBox="1"/>
            <p:nvPr/>
          </p:nvSpPr>
          <p:spPr>
            <a:xfrm>
              <a:off x="1116489" y="4838128"/>
              <a:ext cx="9628822" cy="16954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90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TCP sender limits transmission:</a:t>
              </a:r>
              <a:endParaRPr/>
            </a:p>
            <a:p>
              <a:pPr indent="-284163" lvl="0" marL="284163"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ourier"/>
                  <a:ea typeface="Courier"/>
                  <a:cs typeface="Courier"/>
                  <a:sym typeface="Courier"/>
                </a:rPr>
                <a:t>cwnd </a:t>
              </a:r>
              <a:r>
                <a:rPr b="0" i="0" lang="en-US" sz="2800" u="none" cap="none" strike="noStrike">
                  <a:solidFill>
                    <a:srgbClr val="000000"/>
                  </a:solidFill>
                  <a:latin typeface="Calibri"/>
                  <a:ea typeface="Calibri"/>
                  <a:cs typeface="Calibri"/>
                  <a:sym typeface="Calibri"/>
                </a:rPr>
                <a:t>is dynamically adjusted in response to observed network congestion (implementing TCP congestion control)</a:t>
              </a:r>
              <a:endParaRPr/>
            </a:p>
            <a:p>
              <a:pPr indent="-106363" lvl="0" marL="284163"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8086" name="Google Shape;8086;p126"/>
            <p:cNvGrpSpPr/>
            <p:nvPr/>
          </p:nvGrpSpPr>
          <p:grpSpPr>
            <a:xfrm>
              <a:off x="6040008" y="4887177"/>
              <a:ext cx="4888123" cy="397144"/>
              <a:chOff x="5614194" y="4809655"/>
              <a:chExt cx="4888123" cy="397144"/>
            </a:xfrm>
          </p:grpSpPr>
          <p:sp>
            <p:nvSpPr>
              <p:cNvPr id="8087" name="Google Shape;8087;p126"/>
              <p:cNvSpPr txBox="1"/>
              <p:nvPr/>
            </p:nvSpPr>
            <p:spPr>
              <a:xfrm>
                <a:off x="5614194" y="4868630"/>
                <a:ext cx="4395788" cy="338169"/>
              </a:xfrm>
              <a:prstGeom prst="rect">
                <a:avLst/>
              </a:prstGeom>
              <a:noFill/>
              <a:ln>
                <a:noFill/>
              </a:ln>
            </p:spPr>
            <p:txBody>
              <a:bodyPr anchorCtr="0" anchor="t" bIns="45700" lIns="91425" spcFirstLastPara="1" rIns="91425" wrap="square" tIns="45700">
                <a:spAutoFit/>
              </a:bodyPr>
              <a:lstStyle/>
              <a:p>
                <a:pPr indent="-225425" lvl="0" marL="225425"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LastByteSent- LastByteAcked</a:t>
                </a:r>
                <a:endParaRPr b="0" i="0" sz="1800" u="none" cap="none" strike="noStrike">
                  <a:solidFill>
                    <a:srgbClr val="000000"/>
                  </a:solidFill>
                  <a:latin typeface="Courier New"/>
                  <a:ea typeface="Courier New"/>
                  <a:cs typeface="Courier New"/>
                  <a:sym typeface="Courier New"/>
                </a:endParaRPr>
              </a:p>
            </p:txBody>
          </p:sp>
          <p:grpSp>
            <p:nvGrpSpPr>
              <p:cNvPr id="8088" name="Google Shape;8088;p126"/>
              <p:cNvGrpSpPr/>
              <p:nvPr/>
            </p:nvGrpSpPr>
            <p:grpSpPr>
              <a:xfrm>
                <a:off x="9416467" y="4809655"/>
                <a:ext cx="1085850" cy="366713"/>
                <a:chOff x="7709188" y="4768381"/>
                <a:chExt cx="1085850" cy="366713"/>
              </a:xfrm>
            </p:grpSpPr>
            <p:grpSp>
              <p:nvGrpSpPr>
                <p:cNvPr id="8089" name="Google Shape;8089;p126"/>
                <p:cNvGrpSpPr/>
                <p:nvPr/>
              </p:nvGrpSpPr>
              <p:grpSpPr>
                <a:xfrm>
                  <a:off x="7709188" y="4789019"/>
                  <a:ext cx="350837" cy="336550"/>
                  <a:chOff x="2059" y="2097"/>
                  <a:chExt cx="221" cy="212"/>
                </a:xfrm>
              </p:grpSpPr>
              <p:sp>
                <p:nvSpPr>
                  <p:cNvPr id="8090" name="Google Shape;8090;p126"/>
                  <p:cNvSpPr txBox="1"/>
                  <p:nvPr/>
                </p:nvSpPr>
                <p:spPr>
                  <a:xfrm>
                    <a:off x="2059" y="2097"/>
                    <a:ext cx="22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1" i="0" lang="en-US" sz="1600" u="none" cap="none" strike="noStrike">
                        <a:solidFill>
                          <a:srgbClr val="000000"/>
                        </a:solidFill>
                        <a:latin typeface="Tahoma"/>
                        <a:ea typeface="Tahoma"/>
                        <a:cs typeface="Tahoma"/>
                        <a:sym typeface="Tahoma"/>
                      </a:rPr>
                      <a:t>&lt;</a:t>
                    </a:r>
                    <a:endParaRPr/>
                  </a:p>
                </p:txBody>
              </p:sp>
              <p:cxnSp>
                <p:nvCxnSpPr>
                  <p:cNvPr id="8091" name="Google Shape;8091;p126"/>
                  <p:cNvCxnSpPr/>
                  <p:nvPr/>
                </p:nvCxnSpPr>
                <p:spPr>
                  <a:xfrm>
                    <a:off x="2133" y="2269"/>
                    <a:ext cx="85" cy="0"/>
                  </a:xfrm>
                  <a:prstGeom prst="straightConnector1">
                    <a:avLst/>
                  </a:prstGeom>
                  <a:noFill/>
                  <a:ln cap="flat" cmpd="sng" w="19050">
                    <a:solidFill>
                      <a:srgbClr val="000000"/>
                    </a:solidFill>
                    <a:prstDash val="solid"/>
                    <a:round/>
                    <a:headEnd len="med" w="med" type="none"/>
                    <a:tailEnd len="med" w="med" type="none"/>
                  </a:ln>
                </p:spPr>
              </p:cxnSp>
            </p:grpSp>
            <p:sp>
              <p:nvSpPr>
                <p:cNvPr id="8092" name="Google Shape;8092;p126"/>
                <p:cNvSpPr txBox="1"/>
                <p:nvPr/>
              </p:nvSpPr>
              <p:spPr>
                <a:xfrm>
                  <a:off x="8064788" y="4768381"/>
                  <a:ext cx="730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cwnd</a:t>
                  </a:r>
                  <a:endParaRPr b="1" i="0" sz="1800" u="none" cap="none" strike="noStrike">
                    <a:solidFill>
                      <a:srgbClr val="000000"/>
                    </a:solidFill>
                    <a:latin typeface="Courier New"/>
                    <a:ea typeface="Courier New"/>
                    <a:cs typeface="Courier New"/>
                    <a:sym typeface="Courier New"/>
                  </a:endParaRPr>
                </a:p>
              </p:txBody>
            </p:sp>
          </p:grpSp>
        </p:grpSp>
      </p:grpSp>
      <p:sp>
        <p:nvSpPr>
          <p:cNvPr id="8093" name="Google Shape;8093;p126"/>
          <p:cNvSpPr/>
          <p:nvPr/>
        </p:nvSpPr>
        <p:spPr>
          <a:xfrm>
            <a:off x="1314221" y="2927773"/>
            <a:ext cx="4503412" cy="10754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094" name="Google Shape;8094;p126"/>
          <p:cNvGrpSpPr/>
          <p:nvPr/>
        </p:nvGrpSpPr>
        <p:grpSpPr>
          <a:xfrm>
            <a:off x="1289051" y="2849038"/>
            <a:ext cx="1267801" cy="861704"/>
            <a:chOff x="1289051" y="2849038"/>
            <a:chExt cx="1267801" cy="861704"/>
          </a:xfrm>
        </p:grpSpPr>
        <p:sp>
          <p:nvSpPr>
            <p:cNvPr id="8095" name="Google Shape;8095;p126"/>
            <p:cNvSpPr/>
            <p:nvPr/>
          </p:nvSpPr>
          <p:spPr>
            <a:xfrm>
              <a:off x="2369283" y="2849038"/>
              <a:ext cx="187569" cy="464732"/>
            </a:xfrm>
            <a:custGeom>
              <a:rect b="b" l="l" r="r" t="t"/>
              <a:pathLst>
                <a:path extrusionOk="0" h="242" w="91">
                  <a:moveTo>
                    <a:pt x="91" y="0"/>
                  </a:moveTo>
                  <a:lnTo>
                    <a:pt x="88" y="242"/>
                  </a:lnTo>
                  <a:lnTo>
                    <a:pt x="0" y="242"/>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96" name="Google Shape;8096;p126"/>
            <p:cNvSpPr txBox="1"/>
            <p:nvPr/>
          </p:nvSpPr>
          <p:spPr>
            <a:xfrm>
              <a:off x="1289051" y="3119811"/>
              <a:ext cx="986168"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last byte</a:t>
              </a:r>
              <a:endParaRPr/>
            </a:p>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ACKed</a:t>
              </a:r>
              <a:endParaRPr b="0" i="0" sz="1800" u="none" cap="none" strike="noStrike">
                <a:solidFill>
                  <a:srgbClr val="000000"/>
                </a:solidFill>
                <a:latin typeface="Calibri"/>
                <a:ea typeface="Calibri"/>
                <a:cs typeface="Calibri"/>
                <a:sym typeface="Calibri"/>
              </a:endParaRPr>
            </a:p>
          </p:txBody>
        </p:sp>
      </p:grpSp>
      <p:grpSp>
        <p:nvGrpSpPr>
          <p:cNvPr id="8097" name="Google Shape;8097;p126"/>
          <p:cNvGrpSpPr/>
          <p:nvPr/>
        </p:nvGrpSpPr>
        <p:grpSpPr>
          <a:xfrm>
            <a:off x="3824084" y="2948877"/>
            <a:ext cx="1759290" cy="1283237"/>
            <a:chOff x="3824084" y="2948877"/>
            <a:chExt cx="1759290" cy="1283237"/>
          </a:xfrm>
        </p:grpSpPr>
        <p:sp>
          <p:nvSpPr>
            <p:cNvPr id="8098" name="Google Shape;8098;p126"/>
            <p:cNvSpPr txBox="1"/>
            <p:nvPr/>
          </p:nvSpPr>
          <p:spPr>
            <a:xfrm>
              <a:off x="3979525" y="3890482"/>
              <a:ext cx="1603849"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last byte sent</a:t>
              </a:r>
              <a:endParaRPr/>
            </a:p>
          </p:txBody>
        </p:sp>
        <p:sp>
          <p:nvSpPr>
            <p:cNvPr id="8099" name="Google Shape;8099;p126"/>
            <p:cNvSpPr/>
            <p:nvPr/>
          </p:nvSpPr>
          <p:spPr>
            <a:xfrm flipH="1">
              <a:off x="3824084" y="2948877"/>
              <a:ext cx="190240" cy="1102896"/>
            </a:xfrm>
            <a:custGeom>
              <a:rect b="b" l="l" r="r" t="t"/>
              <a:pathLst>
                <a:path extrusionOk="0" h="9938" w="9670">
                  <a:moveTo>
                    <a:pt x="9412" y="0"/>
                  </a:moveTo>
                  <a:lnTo>
                    <a:pt x="9670" y="9938"/>
                  </a:lnTo>
                  <a:lnTo>
                    <a:pt x="0" y="9938"/>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8100" name="Google Shape;8100;p126"/>
          <p:cNvGrpSpPr/>
          <p:nvPr/>
        </p:nvGrpSpPr>
        <p:grpSpPr>
          <a:xfrm>
            <a:off x="1289051" y="1292332"/>
            <a:ext cx="4641849" cy="1497173"/>
            <a:chOff x="1289051" y="1292332"/>
            <a:chExt cx="4641849" cy="1497173"/>
          </a:xfrm>
        </p:grpSpPr>
        <p:sp>
          <p:nvSpPr>
            <p:cNvPr id="8101" name="Google Shape;8101;p126"/>
            <p:cNvSpPr/>
            <p:nvPr/>
          </p:nvSpPr>
          <p:spPr>
            <a:xfrm>
              <a:off x="1370854" y="2034797"/>
              <a:ext cx="86000" cy="752789"/>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2" name="Google Shape;8102;p126"/>
            <p:cNvSpPr/>
            <p:nvPr/>
          </p:nvSpPr>
          <p:spPr>
            <a:xfrm>
              <a:off x="1498805" y="2036716"/>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3" name="Google Shape;8103;p126"/>
            <p:cNvSpPr/>
            <p:nvPr/>
          </p:nvSpPr>
          <p:spPr>
            <a:xfrm>
              <a:off x="1628852"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4" name="Google Shape;8104;p126"/>
            <p:cNvSpPr/>
            <p:nvPr/>
          </p:nvSpPr>
          <p:spPr>
            <a:xfrm>
              <a:off x="1756801"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5" name="Google Shape;8105;p126"/>
            <p:cNvSpPr/>
            <p:nvPr/>
          </p:nvSpPr>
          <p:spPr>
            <a:xfrm>
              <a:off x="1882653"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6" name="Google Shape;8106;p126"/>
            <p:cNvSpPr/>
            <p:nvPr/>
          </p:nvSpPr>
          <p:spPr>
            <a:xfrm>
              <a:off x="2010604"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7" name="Google Shape;8107;p126"/>
            <p:cNvSpPr/>
            <p:nvPr/>
          </p:nvSpPr>
          <p:spPr>
            <a:xfrm>
              <a:off x="2132261"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8" name="Google Shape;8108;p126"/>
            <p:cNvSpPr/>
            <p:nvPr/>
          </p:nvSpPr>
          <p:spPr>
            <a:xfrm>
              <a:off x="2258113"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9" name="Google Shape;8109;p126"/>
            <p:cNvSpPr/>
            <p:nvPr/>
          </p:nvSpPr>
          <p:spPr>
            <a:xfrm>
              <a:off x="2383965"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0" name="Google Shape;8110;p126"/>
            <p:cNvSpPr/>
            <p:nvPr/>
          </p:nvSpPr>
          <p:spPr>
            <a:xfrm>
              <a:off x="2524500"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1" name="Google Shape;8111;p126"/>
            <p:cNvSpPr/>
            <p:nvPr/>
          </p:nvSpPr>
          <p:spPr>
            <a:xfrm>
              <a:off x="2654547" y="2036716"/>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2" name="Google Shape;8112;p126"/>
            <p:cNvSpPr/>
            <p:nvPr/>
          </p:nvSpPr>
          <p:spPr>
            <a:xfrm>
              <a:off x="2782498"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3" name="Google Shape;8113;p126"/>
            <p:cNvSpPr/>
            <p:nvPr/>
          </p:nvSpPr>
          <p:spPr>
            <a:xfrm>
              <a:off x="2910447"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4" name="Google Shape;8114;p126"/>
            <p:cNvSpPr/>
            <p:nvPr/>
          </p:nvSpPr>
          <p:spPr>
            <a:xfrm>
              <a:off x="3038397"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5" name="Google Shape;8115;p126"/>
            <p:cNvSpPr/>
            <p:nvPr/>
          </p:nvSpPr>
          <p:spPr>
            <a:xfrm>
              <a:off x="3164249"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6" name="Google Shape;8116;p126"/>
            <p:cNvSpPr/>
            <p:nvPr/>
          </p:nvSpPr>
          <p:spPr>
            <a:xfrm>
              <a:off x="3285907"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7" name="Google Shape;8117;p126"/>
            <p:cNvSpPr/>
            <p:nvPr/>
          </p:nvSpPr>
          <p:spPr>
            <a:xfrm>
              <a:off x="3411759"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8" name="Google Shape;8118;p126"/>
            <p:cNvSpPr/>
            <p:nvPr/>
          </p:nvSpPr>
          <p:spPr>
            <a:xfrm>
              <a:off x="3539708"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9" name="Google Shape;8119;p126"/>
            <p:cNvSpPr/>
            <p:nvPr/>
          </p:nvSpPr>
          <p:spPr>
            <a:xfrm>
              <a:off x="3657170"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0" name="Google Shape;8120;p126"/>
            <p:cNvSpPr/>
            <p:nvPr/>
          </p:nvSpPr>
          <p:spPr>
            <a:xfrm>
              <a:off x="3783022"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1" name="Google Shape;8121;p126"/>
            <p:cNvSpPr/>
            <p:nvPr/>
          </p:nvSpPr>
          <p:spPr>
            <a:xfrm>
              <a:off x="3906778" y="2032876"/>
              <a:ext cx="85998"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2" name="Google Shape;8122;p126"/>
            <p:cNvSpPr/>
            <p:nvPr/>
          </p:nvSpPr>
          <p:spPr>
            <a:xfrm>
              <a:off x="4028435" y="2032876"/>
              <a:ext cx="85998"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3" name="Google Shape;8123;p126"/>
            <p:cNvSpPr/>
            <p:nvPr/>
          </p:nvSpPr>
          <p:spPr>
            <a:xfrm>
              <a:off x="4156384"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4" name="Google Shape;8124;p126"/>
            <p:cNvSpPr/>
            <p:nvPr/>
          </p:nvSpPr>
          <p:spPr>
            <a:xfrm>
              <a:off x="4282236"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5" name="Google Shape;8125;p126"/>
            <p:cNvSpPr/>
            <p:nvPr/>
          </p:nvSpPr>
          <p:spPr>
            <a:xfrm>
              <a:off x="4399698"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6" name="Google Shape;8126;p126"/>
            <p:cNvSpPr/>
            <p:nvPr/>
          </p:nvSpPr>
          <p:spPr>
            <a:xfrm>
              <a:off x="4525550"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7" name="Google Shape;8127;p126"/>
            <p:cNvSpPr/>
            <p:nvPr/>
          </p:nvSpPr>
          <p:spPr>
            <a:xfrm>
              <a:off x="4653501"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8" name="Google Shape;8128;p126"/>
            <p:cNvSpPr/>
            <p:nvPr/>
          </p:nvSpPr>
          <p:spPr>
            <a:xfrm>
              <a:off x="4781450" y="2036716"/>
              <a:ext cx="86000"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29" name="Google Shape;8129;p126"/>
            <p:cNvSpPr/>
            <p:nvPr/>
          </p:nvSpPr>
          <p:spPr>
            <a:xfrm>
              <a:off x="4909400"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0" name="Google Shape;8130;p126"/>
            <p:cNvSpPr/>
            <p:nvPr/>
          </p:nvSpPr>
          <p:spPr>
            <a:xfrm>
              <a:off x="5039448"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1" name="Google Shape;8131;p126"/>
            <p:cNvSpPr/>
            <p:nvPr/>
          </p:nvSpPr>
          <p:spPr>
            <a:xfrm>
              <a:off x="5165300"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2" name="Google Shape;8132;p126"/>
            <p:cNvSpPr/>
            <p:nvPr/>
          </p:nvSpPr>
          <p:spPr>
            <a:xfrm>
              <a:off x="5291152"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3" name="Google Shape;8133;p126"/>
            <p:cNvSpPr/>
            <p:nvPr/>
          </p:nvSpPr>
          <p:spPr>
            <a:xfrm>
              <a:off x="5412809"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4" name="Google Shape;8134;p126"/>
            <p:cNvSpPr/>
            <p:nvPr/>
          </p:nvSpPr>
          <p:spPr>
            <a:xfrm>
              <a:off x="5540759" y="2034797"/>
              <a:ext cx="86000"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5" name="Google Shape;8135;p126"/>
            <p:cNvSpPr/>
            <p:nvPr/>
          </p:nvSpPr>
          <p:spPr>
            <a:xfrm>
              <a:off x="5666611" y="2034797"/>
              <a:ext cx="86000" cy="752789"/>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6" name="Google Shape;8136;p126"/>
            <p:cNvSpPr/>
            <p:nvPr/>
          </p:nvSpPr>
          <p:spPr>
            <a:xfrm>
              <a:off x="1427488" y="1902290"/>
              <a:ext cx="4503412" cy="10754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37" name="Google Shape;8137;p126"/>
            <p:cNvSpPr txBox="1"/>
            <p:nvPr/>
          </p:nvSpPr>
          <p:spPr>
            <a:xfrm>
              <a:off x="3220882" y="1648799"/>
              <a:ext cx="805454" cy="34374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cwnd</a:t>
              </a:r>
              <a:endParaRPr b="1" i="1" sz="1400" u="none" cap="none" strike="noStrike">
                <a:solidFill>
                  <a:srgbClr val="000000"/>
                </a:solidFill>
                <a:latin typeface="Courier New"/>
                <a:ea typeface="Courier New"/>
                <a:cs typeface="Courier New"/>
                <a:sym typeface="Courier New"/>
              </a:endParaRPr>
            </a:p>
          </p:txBody>
        </p:sp>
        <p:grpSp>
          <p:nvGrpSpPr>
            <p:cNvPr id="8138" name="Google Shape;8138;p126"/>
            <p:cNvGrpSpPr/>
            <p:nvPr/>
          </p:nvGrpSpPr>
          <p:grpSpPr>
            <a:xfrm>
              <a:off x="4022141" y="1750580"/>
              <a:ext cx="591506" cy="142108"/>
              <a:chOff x="4250" y="1692"/>
              <a:chExt cx="374" cy="86"/>
            </a:xfrm>
          </p:grpSpPr>
          <p:cxnSp>
            <p:nvCxnSpPr>
              <p:cNvPr id="8139" name="Google Shape;8139;p126"/>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8140" name="Google Shape;8140;p126"/>
              <p:cNvCxnSpPr/>
              <p:nvPr/>
            </p:nvCxnSpPr>
            <p:spPr>
              <a:xfrm>
                <a:off x="4621"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8141" name="Google Shape;8141;p126"/>
            <p:cNvGrpSpPr/>
            <p:nvPr/>
          </p:nvGrpSpPr>
          <p:grpSpPr>
            <a:xfrm rot="10800000">
              <a:off x="2633863" y="1759691"/>
              <a:ext cx="616676" cy="149790"/>
              <a:chOff x="4260" y="1700"/>
              <a:chExt cx="374" cy="86"/>
            </a:xfrm>
          </p:grpSpPr>
          <p:cxnSp>
            <p:nvCxnSpPr>
              <p:cNvPr id="8142" name="Google Shape;8142;p126"/>
              <p:cNvCxnSpPr/>
              <p:nvPr/>
            </p:nvCxnSpPr>
            <p:spPr>
              <a:xfrm>
                <a:off x="4260" y="1746"/>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8143" name="Google Shape;8143;p126"/>
              <p:cNvCxnSpPr/>
              <p:nvPr/>
            </p:nvCxnSpPr>
            <p:spPr>
              <a:xfrm>
                <a:off x="4632" y="1700"/>
                <a:ext cx="0" cy="86"/>
              </a:xfrm>
              <a:prstGeom prst="straightConnector1">
                <a:avLst/>
              </a:prstGeom>
              <a:noFill/>
              <a:ln cap="flat" cmpd="sng" w="9525">
                <a:solidFill>
                  <a:srgbClr val="CC0000"/>
                </a:solidFill>
                <a:prstDash val="solid"/>
                <a:round/>
                <a:headEnd len="med" w="med" type="none"/>
                <a:tailEnd len="med" w="med" type="none"/>
              </a:ln>
            </p:spPr>
          </p:cxnSp>
        </p:grpSp>
        <p:sp>
          <p:nvSpPr>
            <p:cNvPr id="8144" name="Google Shape;8144;p126"/>
            <p:cNvSpPr txBox="1"/>
            <p:nvPr/>
          </p:nvSpPr>
          <p:spPr>
            <a:xfrm>
              <a:off x="1289051" y="1292332"/>
              <a:ext cx="3220754" cy="3693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 sequence number space </a:t>
              </a:r>
              <a:endParaRPr/>
            </a:p>
          </p:txBody>
        </p:sp>
      </p:grpSp>
      <p:cxnSp>
        <p:nvCxnSpPr>
          <p:cNvPr id="8145" name="Google Shape;8145;p126"/>
          <p:cNvCxnSpPr/>
          <p:nvPr/>
        </p:nvCxnSpPr>
        <p:spPr>
          <a:xfrm>
            <a:off x="3908860" y="2875555"/>
            <a:ext cx="700041" cy="0"/>
          </a:xfrm>
          <a:prstGeom prst="straightConnector1">
            <a:avLst/>
          </a:prstGeom>
          <a:noFill/>
          <a:ln cap="flat" cmpd="sng" w="28575">
            <a:solidFill>
              <a:srgbClr val="CC0000"/>
            </a:solidFill>
            <a:prstDash val="solid"/>
            <a:round/>
            <a:headEnd len="med" w="med" type="none"/>
            <a:tailEnd len="med" w="med" type="none"/>
          </a:ln>
        </p:spPr>
      </p:cxnSp>
      <p:grpSp>
        <p:nvGrpSpPr>
          <p:cNvPr id="8146" name="Google Shape;8146;p126"/>
          <p:cNvGrpSpPr/>
          <p:nvPr/>
        </p:nvGrpSpPr>
        <p:grpSpPr>
          <a:xfrm>
            <a:off x="4204169" y="2959619"/>
            <a:ext cx="1759165" cy="950582"/>
            <a:chOff x="4204169" y="2959619"/>
            <a:chExt cx="1759165" cy="950582"/>
          </a:xfrm>
        </p:grpSpPr>
        <p:sp>
          <p:nvSpPr>
            <p:cNvPr id="8147" name="Google Shape;8147;p126"/>
            <p:cNvSpPr/>
            <p:nvPr/>
          </p:nvSpPr>
          <p:spPr>
            <a:xfrm flipH="1">
              <a:off x="4204169" y="2959619"/>
              <a:ext cx="190240" cy="549834"/>
            </a:xfrm>
            <a:custGeom>
              <a:rect b="b" l="l" r="r" t="t"/>
              <a:pathLst>
                <a:path extrusionOk="0" h="9938" w="9670">
                  <a:moveTo>
                    <a:pt x="9412" y="0"/>
                  </a:moveTo>
                  <a:lnTo>
                    <a:pt x="9670" y="9938"/>
                  </a:lnTo>
                  <a:lnTo>
                    <a:pt x="0" y="9938"/>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8148" name="Google Shape;8148;p126"/>
            <p:cNvSpPr txBox="1"/>
            <p:nvPr/>
          </p:nvSpPr>
          <p:spPr>
            <a:xfrm>
              <a:off x="4359485" y="3319270"/>
              <a:ext cx="1603849"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available but not used</a:t>
              </a:r>
              <a:endParaRPr/>
            </a:p>
          </p:txBody>
        </p:sp>
      </p:grpSp>
      <p:grpSp>
        <p:nvGrpSpPr>
          <p:cNvPr id="8149" name="Google Shape;8149;p126"/>
          <p:cNvGrpSpPr/>
          <p:nvPr/>
        </p:nvGrpSpPr>
        <p:grpSpPr>
          <a:xfrm>
            <a:off x="7180262" y="1455737"/>
            <a:ext cx="4592627" cy="2538364"/>
            <a:chOff x="7180262" y="1455737"/>
            <a:chExt cx="4592627" cy="2538364"/>
          </a:xfrm>
        </p:grpSpPr>
        <p:sp>
          <p:nvSpPr>
            <p:cNvPr id="8150" name="Google Shape;8150;p126"/>
            <p:cNvSpPr txBox="1"/>
            <p:nvPr/>
          </p:nvSpPr>
          <p:spPr>
            <a:xfrm>
              <a:off x="7180262" y="1455737"/>
              <a:ext cx="4592627" cy="2447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000000"/>
                  </a:solidFill>
                  <a:latin typeface="Calibri"/>
                  <a:ea typeface="Calibri"/>
                  <a:cs typeface="Calibri"/>
                  <a:sym typeface="Calibri"/>
                </a:rPr>
                <a:t>TCP sending behavior:</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roughly:</a:t>
              </a:r>
              <a:r>
                <a:rPr b="0" i="0" lang="en-US" sz="2800" u="none" cap="none" strike="noStrike">
                  <a:solidFill>
                    <a:srgbClr val="000000"/>
                  </a:solidFill>
                  <a:latin typeface="Calibri"/>
                  <a:ea typeface="Calibri"/>
                  <a:cs typeface="Calibri"/>
                  <a:sym typeface="Calibri"/>
                </a:rPr>
                <a:t> send </a:t>
              </a:r>
              <a:r>
                <a:rPr b="0" i="0" lang="en-US" sz="2800" u="none" cap="none" strike="noStrike">
                  <a:solidFill>
                    <a:srgbClr val="000000"/>
                  </a:solidFill>
                  <a:latin typeface="Courier"/>
                  <a:ea typeface="Courier"/>
                  <a:cs typeface="Courier"/>
                  <a:sym typeface="Courier"/>
                </a:rPr>
                <a:t>cwnd</a:t>
              </a:r>
              <a:r>
                <a:rPr b="0" i="0" lang="en-US" sz="2800" u="none" cap="none" strike="noStrike">
                  <a:solidFill>
                    <a:srgbClr val="000000"/>
                  </a:solidFill>
                  <a:latin typeface="Calibri"/>
                  <a:ea typeface="Calibri"/>
                  <a:cs typeface="Calibri"/>
                  <a:sym typeface="Calibri"/>
                </a:rPr>
                <a:t> bytes, wait RTT for ACKS, then send more bytes</a:t>
              </a:r>
              <a:endParaRPr/>
            </a:p>
          </p:txBody>
        </p:sp>
        <p:grpSp>
          <p:nvGrpSpPr>
            <p:cNvPr id="8151" name="Google Shape;8151;p126"/>
            <p:cNvGrpSpPr/>
            <p:nvPr/>
          </p:nvGrpSpPr>
          <p:grpSpPr>
            <a:xfrm>
              <a:off x="7513131" y="3110983"/>
              <a:ext cx="3751561" cy="883118"/>
              <a:chOff x="6839655" y="3035314"/>
              <a:chExt cx="3751561" cy="883118"/>
            </a:xfrm>
          </p:grpSpPr>
          <p:sp>
            <p:nvSpPr>
              <p:cNvPr id="8152" name="Google Shape;8152;p126"/>
              <p:cNvSpPr/>
              <p:nvPr/>
            </p:nvSpPr>
            <p:spPr>
              <a:xfrm>
                <a:off x="6839655" y="3035314"/>
                <a:ext cx="3751561" cy="88311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153" name="Google Shape;8153;p126"/>
              <p:cNvGrpSpPr/>
              <p:nvPr/>
            </p:nvGrpSpPr>
            <p:grpSpPr>
              <a:xfrm>
                <a:off x="6869571" y="3107218"/>
                <a:ext cx="3634909" cy="811214"/>
                <a:chOff x="6694950" y="3614743"/>
                <a:chExt cx="3634909" cy="811214"/>
              </a:xfrm>
            </p:grpSpPr>
            <p:sp>
              <p:nvSpPr>
                <p:cNvPr id="8154" name="Google Shape;8154;p126"/>
                <p:cNvSpPr txBox="1"/>
                <p:nvPr/>
              </p:nvSpPr>
              <p:spPr>
                <a:xfrm>
                  <a:off x="6694950" y="3723809"/>
                  <a:ext cx="1390637"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rate</a:t>
                  </a:r>
                  <a:endParaRPr b="0" i="0" sz="2400" u="none" cap="none" strike="noStrike">
                    <a:solidFill>
                      <a:srgbClr val="000000"/>
                    </a:solidFill>
                    <a:latin typeface="Calibri"/>
                    <a:ea typeface="Calibri"/>
                    <a:cs typeface="Calibri"/>
                    <a:sym typeface="Calibri"/>
                  </a:endParaRPr>
                </a:p>
              </p:txBody>
            </p:sp>
            <p:grpSp>
              <p:nvGrpSpPr>
                <p:cNvPr id="8155" name="Google Shape;8155;p126"/>
                <p:cNvGrpSpPr/>
                <p:nvPr/>
              </p:nvGrpSpPr>
              <p:grpSpPr>
                <a:xfrm>
                  <a:off x="7748588" y="3776663"/>
                  <a:ext cx="931863" cy="441325"/>
                  <a:chOff x="4214" y="2517"/>
                  <a:chExt cx="587" cy="278"/>
                </a:xfrm>
              </p:grpSpPr>
              <p:sp>
                <p:nvSpPr>
                  <p:cNvPr id="8156" name="Google Shape;8156;p126"/>
                  <p:cNvSpPr txBox="1"/>
                  <p:nvPr/>
                </p:nvSpPr>
                <p:spPr>
                  <a:xfrm>
                    <a:off x="4216" y="2517"/>
                    <a:ext cx="58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t>
                    </a:r>
                    <a:endParaRPr/>
                  </a:p>
                </p:txBody>
              </p:sp>
              <p:sp>
                <p:nvSpPr>
                  <p:cNvPr id="8157" name="Google Shape;8157;p126"/>
                  <p:cNvSpPr txBox="1"/>
                  <p:nvPr/>
                </p:nvSpPr>
                <p:spPr>
                  <a:xfrm>
                    <a:off x="4214" y="2564"/>
                    <a:ext cx="58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t>
                    </a:r>
                    <a:endParaRPr/>
                  </a:p>
                </p:txBody>
              </p:sp>
            </p:grpSp>
            <p:grpSp>
              <p:nvGrpSpPr>
                <p:cNvPr id="8158" name="Google Shape;8158;p126"/>
                <p:cNvGrpSpPr/>
                <p:nvPr/>
              </p:nvGrpSpPr>
              <p:grpSpPr>
                <a:xfrm>
                  <a:off x="8320082" y="3614743"/>
                  <a:ext cx="922336" cy="811214"/>
                  <a:chOff x="4335" y="2509"/>
                  <a:chExt cx="581" cy="511"/>
                </a:xfrm>
              </p:grpSpPr>
              <p:sp>
                <p:nvSpPr>
                  <p:cNvPr id="8159" name="Google Shape;8159;p126"/>
                  <p:cNvSpPr txBox="1"/>
                  <p:nvPr/>
                </p:nvSpPr>
                <p:spPr>
                  <a:xfrm>
                    <a:off x="4335" y="2509"/>
                    <a:ext cx="581"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a:buNone/>
                    </a:pPr>
                    <a:r>
                      <a:rPr b="0" i="0" lang="en-US" sz="2400" u="none" cap="none" strike="noStrike">
                        <a:solidFill>
                          <a:srgbClr val="000000"/>
                        </a:solidFill>
                        <a:latin typeface="Courier"/>
                        <a:ea typeface="Courier"/>
                        <a:cs typeface="Courier"/>
                        <a:sym typeface="Courier"/>
                      </a:rPr>
                      <a:t>cwnd</a:t>
                    </a:r>
                    <a:endParaRPr b="0" i="0" sz="2400" u="none" cap="none" strike="noStrike">
                      <a:solidFill>
                        <a:srgbClr val="000000"/>
                      </a:solidFill>
                      <a:latin typeface="Courier"/>
                      <a:ea typeface="Courier"/>
                      <a:cs typeface="Courier"/>
                      <a:sym typeface="Courier"/>
                    </a:endParaRPr>
                  </a:p>
                </p:txBody>
              </p:sp>
              <p:sp>
                <p:nvSpPr>
                  <p:cNvPr id="8160" name="Google Shape;8160;p126"/>
                  <p:cNvSpPr txBox="1"/>
                  <p:nvPr/>
                </p:nvSpPr>
                <p:spPr>
                  <a:xfrm>
                    <a:off x="4398" y="2729"/>
                    <a:ext cx="463"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RTT</a:t>
                    </a:r>
                    <a:endParaRPr/>
                  </a:p>
                </p:txBody>
              </p:sp>
              <p:cxnSp>
                <p:nvCxnSpPr>
                  <p:cNvPr id="8161" name="Google Shape;8161;p126"/>
                  <p:cNvCxnSpPr/>
                  <p:nvPr/>
                </p:nvCxnSpPr>
                <p:spPr>
                  <a:xfrm>
                    <a:off x="4430" y="2763"/>
                    <a:ext cx="384" cy="0"/>
                  </a:xfrm>
                  <a:prstGeom prst="straightConnector1">
                    <a:avLst/>
                  </a:prstGeom>
                  <a:noFill/>
                  <a:ln cap="flat" cmpd="sng" w="19050">
                    <a:solidFill>
                      <a:srgbClr val="000000"/>
                    </a:solidFill>
                    <a:prstDash val="solid"/>
                    <a:round/>
                    <a:headEnd len="med" w="med" type="none"/>
                    <a:tailEnd len="med" w="med" type="none"/>
                  </a:ln>
                </p:spPr>
              </p:cxnSp>
            </p:grpSp>
            <p:sp>
              <p:nvSpPr>
                <p:cNvPr id="8162" name="Google Shape;8162;p126"/>
                <p:cNvSpPr txBox="1"/>
                <p:nvPr/>
              </p:nvSpPr>
              <p:spPr>
                <a:xfrm>
                  <a:off x="9141713" y="3823464"/>
                  <a:ext cx="11881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bytes/sec</a:t>
                  </a:r>
                  <a:endParaRPr/>
                </a:p>
              </p:txBody>
            </p:sp>
          </p:grpSp>
        </p:grpSp>
      </p:grpSp>
      <p:grpSp>
        <p:nvGrpSpPr>
          <p:cNvPr id="8163" name="Google Shape;8163;p126"/>
          <p:cNvGrpSpPr/>
          <p:nvPr/>
        </p:nvGrpSpPr>
        <p:grpSpPr>
          <a:xfrm>
            <a:off x="2327097" y="2874002"/>
            <a:ext cx="1660913" cy="1379180"/>
            <a:chOff x="2327097" y="2874002"/>
            <a:chExt cx="1660913" cy="1379180"/>
          </a:xfrm>
        </p:grpSpPr>
        <p:sp>
          <p:nvSpPr>
            <p:cNvPr id="8164" name="Google Shape;8164;p126"/>
            <p:cNvSpPr txBox="1"/>
            <p:nvPr/>
          </p:nvSpPr>
          <p:spPr>
            <a:xfrm>
              <a:off x="2327097" y="3412952"/>
              <a:ext cx="1660913"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sent, but not-yet ACKed </a:t>
              </a:r>
              <a:endParaRPr/>
            </a:p>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(“in-flight”)</a:t>
              </a:r>
              <a:endParaRPr b="0" i="0" sz="1600" u="none" cap="none" strike="noStrike">
                <a:solidFill>
                  <a:srgbClr val="000000"/>
                </a:solidFill>
                <a:latin typeface="Calibri"/>
                <a:ea typeface="Calibri"/>
                <a:cs typeface="Calibri"/>
                <a:sym typeface="Calibri"/>
              </a:endParaRPr>
            </a:p>
          </p:txBody>
        </p:sp>
        <p:grpSp>
          <p:nvGrpSpPr>
            <p:cNvPr id="8165" name="Google Shape;8165;p126"/>
            <p:cNvGrpSpPr/>
            <p:nvPr/>
          </p:nvGrpSpPr>
          <p:grpSpPr>
            <a:xfrm>
              <a:off x="2644060" y="2874002"/>
              <a:ext cx="1201888" cy="658131"/>
              <a:chOff x="2644060" y="2874003"/>
              <a:chExt cx="1201888" cy="635450"/>
            </a:xfrm>
          </p:grpSpPr>
          <p:cxnSp>
            <p:nvCxnSpPr>
              <p:cNvPr id="8166" name="Google Shape;8166;p126"/>
              <p:cNvCxnSpPr/>
              <p:nvPr/>
            </p:nvCxnSpPr>
            <p:spPr>
              <a:xfrm>
                <a:off x="2644060" y="2874003"/>
                <a:ext cx="1201888" cy="0"/>
              </a:xfrm>
              <a:prstGeom prst="straightConnector1">
                <a:avLst/>
              </a:prstGeom>
              <a:noFill/>
              <a:ln cap="flat" cmpd="sng" w="28575">
                <a:solidFill>
                  <a:srgbClr val="CC0000"/>
                </a:solidFill>
                <a:prstDash val="solid"/>
                <a:round/>
                <a:headEnd len="med" w="med" type="none"/>
                <a:tailEnd len="med" w="med" type="none"/>
              </a:ln>
            </p:spPr>
          </p:cxnSp>
          <p:cxnSp>
            <p:nvCxnSpPr>
              <p:cNvPr id="8167" name="Google Shape;8167;p126"/>
              <p:cNvCxnSpPr/>
              <p:nvPr/>
            </p:nvCxnSpPr>
            <p:spPr>
              <a:xfrm>
                <a:off x="2850877" y="2898008"/>
                <a:ext cx="0" cy="611445"/>
              </a:xfrm>
              <a:prstGeom prst="straightConnector1">
                <a:avLst/>
              </a:prstGeom>
              <a:noFill/>
              <a:ln cap="flat" cmpd="sng" w="19050">
                <a:solidFill>
                  <a:srgbClr val="C00000"/>
                </a:solidFill>
                <a:prstDash val="solid"/>
                <a:miter lim="800000"/>
                <a:headEnd len="sm" w="sm" type="none"/>
                <a:tailEnd len="sm" w="sm" type="none"/>
              </a:ln>
            </p:spPr>
          </p:cxnSp>
        </p:grpSp>
      </p:grpSp>
      <p:sp>
        <p:nvSpPr>
          <p:cNvPr id="8168" name="Google Shape;8168;p1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4"/>
                                        </p:tgtEl>
                                        <p:attrNameLst>
                                          <p:attrName>style.visibility</p:attrName>
                                        </p:attrNameLst>
                                      </p:cBhvr>
                                      <p:to>
                                        <p:strVal val="visible"/>
                                      </p:to>
                                    </p:set>
                                    <p:animEffect filter="fade" transition="in">
                                      <p:cBhvr>
                                        <p:cTn dur="500"/>
                                        <p:tgtEl>
                                          <p:spTgt spid="80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63"/>
                                        </p:tgtEl>
                                        <p:attrNameLst>
                                          <p:attrName>style.visibility</p:attrName>
                                        </p:attrNameLst>
                                      </p:cBhvr>
                                      <p:to>
                                        <p:strVal val="visible"/>
                                      </p:to>
                                    </p:set>
                                    <p:animEffect filter="fade" transition="in">
                                      <p:cBhvr>
                                        <p:cTn dur="500"/>
                                        <p:tgtEl>
                                          <p:spTgt spid="8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7"/>
                                        </p:tgtEl>
                                        <p:attrNameLst>
                                          <p:attrName>style.visibility</p:attrName>
                                        </p:attrNameLst>
                                      </p:cBhvr>
                                      <p:to>
                                        <p:strVal val="visible"/>
                                      </p:to>
                                    </p:set>
                                    <p:animEffect filter="fade" transition="in">
                                      <p:cBhvr>
                                        <p:cTn dur="500"/>
                                        <p:tgtEl>
                                          <p:spTgt spid="80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6"/>
                                        </p:tgtEl>
                                        <p:attrNameLst>
                                          <p:attrName>style.visibility</p:attrName>
                                        </p:attrNameLst>
                                      </p:cBhvr>
                                      <p:to>
                                        <p:strVal val="visible"/>
                                      </p:to>
                                    </p:set>
                                    <p:animEffect filter="fade" transition="in">
                                      <p:cBhvr>
                                        <p:cTn dur="500"/>
                                        <p:tgtEl>
                                          <p:spTgt spid="8146"/>
                                        </p:tgtEl>
                                      </p:cBhvr>
                                    </p:animEffect>
                                  </p:childTnLst>
                                </p:cTn>
                              </p:par>
                              <p:par>
                                <p:cTn fill="hold" nodeType="withEffect" presetClass="entr" presetID="10" presetSubtype="0">
                                  <p:stCondLst>
                                    <p:cond delay="0"/>
                                  </p:stCondLst>
                                  <p:childTnLst>
                                    <p:set>
                                      <p:cBhvr>
                                        <p:cTn dur="1" fill="hold">
                                          <p:stCondLst>
                                            <p:cond delay="0"/>
                                          </p:stCondLst>
                                        </p:cTn>
                                        <p:tgtEl>
                                          <p:spTgt spid="8145"/>
                                        </p:tgtEl>
                                        <p:attrNameLst>
                                          <p:attrName>style.visibility</p:attrName>
                                        </p:attrNameLst>
                                      </p:cBhvr>
                                      <p:to>
                                        <p:strVal val="visible"/>
                                      </p:to>
                                    </p:set>
                                    <p:animEffect filter="fade" transition="in">
                                      <p:cBhvr>
                                        <p:cTn dur="500"/>
                                        <p:tgtEl>
                                          <p:spTgt spid="8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3"/>
                                        </p:tgtEl>
                                        <p:attrNameLst>
                                          <p:attrName>style.visibility</p:attrName>
                                        </p:attrNameLst>
                                      </p:cBhvr>
                                      <p:to>
                                        <p:strVal val="visible"/>
                                      </p:to>
                                    </p:set>
                                    <p:animEffect filter="fade" transition="in">
                                      <p:cBhvr>
                                        <p:cTn dur="500"/>
                                        <p:tgtEl>
                                          <p:spTgt spid="80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9"/>
                                        </p:tgtEl>
                                        <p:attrNameLst>
                                          <p:attrName>style.visibility</p:attrName>
                                        </p:attrNameLst>
                                      </p:cBhvr>
                                      <p:to>
                                        <p:strVal val="visible"/>
                                      </p:to>
                                    </p:set>
                                    <p:animEffect filter="fade" transition="in">
                                      <p:cBhvr>
                                        <p:cTn dur="500"/>
                                        <p:tgtEl>
                                          <p:spTgt spid="8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3" name="Shape 8173"/>
        <p:cNvGrpSpPr/>
        <p:nvPr/>
      </p:nvGrpSpPr>
      <p:grpSpPr>
        <a:xfrm>
          <a:off x="0" y="0"/>
          <a:ext cx="0" cy="0"/>
          <a:chOff x="0" y="0"/>
          <a:chExt cx="0" cy="0"/>
        </a:xfrm>
      </p:grpSpPr>
      <p:sp>
        <p:nvSpPr>
          <p:cNvPr id="8174" name="Google Shape;8174;p127"/>
          <p:cNvSpPr txBox="1"/>
          <p:nvPr>
            <p:ph type="title"/>
          </p:nvPr>
        </p:nvSpPr>
        <p:spPr>
          <a:xfrm>
            <a:off x="811390" y="259719"/>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slow start </a:t>
            </a:r>
            <a:endParaRPr b="0" sz="4400"/>
          </a:p>
        </p:txBody>
      </p:sp>
      <p:sp>
        <p:nvSpPr>
          <p:cNvPr id="8175" name="Google Shape;8175;p127"/>
          <p:cNvSpPr txBox="1"/>
          <p:nvPr/>
        </p:nvSpPr>
        <p:spPr>
          <a:xfrm>
            <a:off x="1143000" y="1384299"/>
            <a:ext cx="5118100" cy="5214257"/>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when connection begins, increase rate exponentially until first loss event: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initially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 1 MSS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double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every RTT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done by incrementing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for every ACK received</a:t>
            </a:r>
            <a:endParaRPr/>
          </a:p>
        </p:txBody>
      </p:sp>
      <p:cxnSp>
        <p:nvCxnSpPr>
          <p:cNvPr id="8176" name="Google Shape;8176;p127"/>
          <p:cNvCxnSpPr/>
          <p:nvPr/>
        </p:nvCxnSpPr>
        <p:spPr>
          <a:xfrm>
            <a:off x="7585075" y="2306590"/>
            <a:ext cx="2505075" cy="352425"/>
          </a:xfrm>
          <a:prstGeom prst="straightConnector1">
            <a:avLst/>
          </a:prstGeom>
          <a:noFill/>
          <a:ln cap="flat" cmpd="sng" w="28575">
            <a:solidFill>
              <a:srgbClr val="3333CC"/>
            </a:solidFill>
            <a:prstDash val="solid"/>
            <a:round/>
            <a:headEnd len="med" w="med" type="none"/>
            <a:tailEnd len="med" w="med" type="triangle"/>
          </a:ln>
        </p:spPr>
      </p:cxnSp>
      <p:sp>
        <p:nvSpPr>
          <p:cNvPr id="8177" name="Google Shape;8177;p127"/>
          <p:cNvSpPr txBox="1"/>
          <p:nvPr/>
        </p:nvSpPr>
        <p:spPr>
          <a:xfrm>
            <a:off x="7181850" y="1168352"/>
            <a:ext cx="8699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 A</a:t>
            </a:r>
            <a:endParaRPr/>
          </a:p>
        </p:txBody>
      </p:sp>
      <p:sp>
        <p:nvSpPr>
          <p:cNvPr id="8178" name="Google Shape;8178;p127"/>
          <p:cNvSpPr txBox="1"/>
          <p:nvPr/>
        </p:nvSpPr>
        <p:spPr>
          <a:xfrm rot="408567">
            <a:off x="8591550" y="2273252"/>
            <a:ext cx="12080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one segment</a:t>
            </a:r>
            <a:endParaRPr b="0" i="0" sz="1000" u="none" cap="none" strike="noStrike">
              <a:solidFill>
                <a:srgbClr val="000000"/>
              </a:solidFill>
              <a:latin typeface="Times New Roman"/>
              <a:ea typeface="Times New Roman"/>
              <a:cs typeface="Times New Roman"/>
              <a:sym typeface="Times New Roman"/>
            </a:endParaRPr>
          </a:p>
        </p:txBody>
      </p:sp>
      <p:sp>
        <p:nvSpPr>
          <p:cNvPr id="8179" name="Google Shape;8179;p127"/>
          <p:cNvSpPr txBox="1"/>
          <p:nvPr/>
        </p:nvSpPr>
        <p:spPr>
          <a:xfrm>
            <a:off x="9618663" y="1154065"/>
            <a:ext cx="8699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 B</a:t>
            </a:r>
            <a:endParaRPr/>
          </a:p>
        </p:txBody>
      </p:sp>
      <p:cxnSp>
        <p:nvCxnSpPr>
          <p:cNvPr id="8180" name="Google Shape;8180;p127"/>
          <p:cNvCxnSpPr/>
          <p:nvPr/>
        </p:nvCxnSpPr>
        <p:spPr>
          <a:xfrm>
            <a:off x="7580313" y="2120852"/>
            <a:ext cx="0" cy="3848100"/>
          </a:xfrm>
          <a:prstGeom prst="straightConnector1">
            <a:avLst/>
          </a:prstGeom>
          <a:noFill/>
          <a:ln cap="flat" cmpd="sng" w="19050">
            <a:solidFill>
              <a:srgbClr val="777777"/>
            </a:solidFill>
            <a:prstDash val="solid"/>
            <a:round/>
            <a:headEnd len="med" w="med" type="none"/>
            <a:tailEnd len="med" w="med" type="none"/>
          </a:ln>
        </p:spPr>
      </p:cxnSp>
      <p:cxnSp>
        <p:nvCxnSpPr>
          <p:cNvPr id="8181" name="Google Shape;8181;p127"/>
          <p:cNvCxnSpPr/>
          <p:nvPr/>
        </p:nvCxnSpPr>
        <p:spPr>
          <a:xfrm>
            <a:off x="10094913" y="2158952"/>
            <a:ext cx="0" cy="3848100"/>
          </a:xfrm>
          <a:prstGeom prst="straightConnector1">
            <a:avLst/>
          </a:prstGeom>
          <a:noFill/>
          <a:ln cap="flat" cmpd="sng" w="19050">
            <a:solidFill>
              <a:srgbClr val="777777"/>
            </a:solidFill>
            <a:prstDash val="solid"/>
            <a:round/>
            <a:headEnd len="med" w="med" type="none"/>
            <a:tailEnd len="med" w="med" type="none"/>
          </a:ln>
        </p:spPr>
      </p:cxnSp>
      <p:grpSp>
        <p:nvGrpSpPr>
          <p:cNvPr id="8182" name="Google Shape;8182;p127"/>
          <p:cNvGrpSpPr/>
          <p:nvPr/>
        </p:nvGrpSpPr>
        <p:grpSpPr>
          <a:xfrm>
            <a:off x="7254874" y="2270077"/>
            <a:ext cx="304800" cy="830263"/>
            <a:chOff x="7254874" y="2270077"/>
            <a:chExt cx="304800" cy="830263"/>
          </a:xfrm>
        </p:grpSpPr>
        <p:sp>
          <p:nvSpPr>
            <p:cNvPr id="8183" name="Google Shape;8183;p127"/>
            <p:cNvSpPr txBox="1"/>
            <p:nvPr/>
          </p:nvSpPr>
          <p:spPr>
            <a:xfrm rot="-5400000">
              <a:off x="7142956" y="2510584"/>
              <a:ext cx="528637"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endParaRPr b="0" i="0" sz="1000" u="none" cap="none" strike="noStrike">
                <a:solidFill>
                  <a:srgbClr val="000000"/>
                </a:solidFill>
                <a:latin typeface="Arial"/>
                <a:ea typeface="Arial"/>
                <a:cs typeface="Arial"/>
                <a:sym typeface="Arial"/>
              </a:endParaRPr>
            </a:p>
          </p:txBody>
        </p:sp>
        <p:cxnSp>
          <p:nvCxnSpPr>
            <p:cNvPr id="8184" name="Google Shape;8184;p127"/>
            <p:cNvCxnSpPr/>
            <p:nvPr/>
          </p:nvCxnSpPr>
          <p:spPr>
            <a:xfrm rot="10800000">
              <a:off x="7399338" y="2270077"/>
              <a:ext cx="4762" cy="219075"/>
            </a:xfrm>
            <a:prstGeom prst="straightConnector1">
              <a:avLst/>
            </a:prstGeom>
            <a:noFill/>
            <a:ln cap="flat" cmpd="sng" w="19050">
              <a:solidFill>
                <a:srgbClr val="000000"/>
              </a:solidFill>
              <a:prstDash val="solid"/>
              <a:round/>
              <a:headEnd len="med" w="med" type="none"/>
              <a:tailEnd len="med" w="med" type="triangle"/>
            </a:ln>
          </p:spPr>
        </p:cxnSp>
        <p:cxnSp>
          <p:nvCxnSpPr>
            <p:cNvPr id="8185" name="Google Shape;8185;p127"/>
            <p:cNvCxnSpPr/>
            <p:nvPr/>
          </p:nvCxnSpPr>
          <p:spPr>
            <a:xfrm>
              <a:off x="7408863" y="2876502"/>
              <a:ext cx="4762" cy="223838"/>
            </a:xfrm>
            <a:prstGeom prst="straightConnector1">
              <a:avLst/>
            </a:prstGeom>
            <a:noFill/>
            <a:ln cap="flat" cmpd="sng" w="19050">
              <a:solidFill>
                <a:srgbClr val="000000"/>
              </a:solidFill>
              <a:prstDash val="solid"/>
              <a:round/>
              <a:headEnd len="med" w="med" type="none"/>
              <a:tailEnd len="med" w="med" type="triangle"/>
            </a:ln>
          </p:spPr>
        </p:cxnSp>
      </p:grpSp>
      <p:cxnSp>
        <p:nvCxnSpPr>
          <p:cNvPr id="8186" name="Google Shape;8186;p127"/>
          <p:cNvCxnSpPr/>
          <p:nvPr/>
        </p:nvCxnSpPr>
        <p:spPr>
          <a:xfrm flipH="1" rot="10800000">
            <a:off x="7561263" y="2711402"/>
            <a:ext cx="2505075" cy="352425"/>
          </a:xfrm>
          <a:prstGeom prst="straightConnector1">
            <a:avLst/>
          </a:prstGeom>
          <a:noFill/>
          <a:ln cap="flat" cmpd="sng" w="28575">
            <a:solidFill>
              <a:srgbClr val="3333CC"/>
            </a:solidFill>
            <a:prstDash val="solid"/>
            <a:round/>
            <a:headEnd len="med" w="med" type="triangle"/>
            <a:tailEnd len="med" w="med" type="none"/>
          </a:ln>
        </p:spPr>
      </p:cxnSp>
      <p:grpSp>
        <p:nvGrpSpPr>
          <p:cNvPr id="8187" name="Google Shape;8187;p127"/>
          <p:cNvGrpSpPr/>
          <p:nvPr/>
        </p:nvGrpSpPr>
        <p:grpSpPr>
          <a:xfrm>
            <a:off x="9809163" y="5453015"/>
            <a:ext cx="615950" cy="366712"/>
            <a:chOff x="3317" y="3527"/>
            <a:chExt cx="388" cy="231"/>
          </a:xfrm>
        </p:grpSpPr>
        <p:sp>
          <p:nvSpPr>
            <p:cNvPr id="8188" name="Google Shape;8188;p127"/>
            <p:cNvSpPr/>
            <p:nvPr/>
          </p:nvSpPr>
          <p:spPr>
            <a:xfrm>
              <a:off x="3342" y="3576"/>
              <a:ext cx="324" cy="1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9" name="Google Shape;8189;p127"/>
            <p:cNvSpPr txBox="1"/>
            <p:nvPr/>
          </p:nvSpPr>
          <p:spPr>
            <a:xfrm>
              <a:off x="3317" y="3527"/>
              <a:ext cx="388"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time</a:t>
              </a:r>
              <a:endParaRPr b="0" i="0" sz="1000" u="none" cap="none" strike="noStrike">
                <a:solidFill>
                  <a:srgbClr val="000000"/>
                </a:solidFill>
                <a:latin typeface="Arial"/>
                <a:ea typeface="Arial"/>
                <a:cs typeface="Arial"/>
                <a:sym typeface="Arial"/>
              </a:endParaRPr>
            </a:p>
          </p:txBody>
        </p:sp>
      </p:grpSp>
      <p:grpSp>
        <p:nvGrpSpPr>
          <p:cNvPr id="8190" name="Google Shape;8190;p127"/>
          <p:cNvGrpSpPr/>
          <p:nvPr/>
        </p:nvGrpSpPr>
        <p:grpSpPr>
          <a:xfrm>
            <a:off x="7585075" y="3087640"/>
            <a:ext cx="2509838" cy="438150"/>
            <a:chOff x="7585075" y="3087640"/>
            <a:chExt cx="2509838" cy="438150"/>
          </a:xfrm>
        </p:grpSpPr>
        <p:cxnSp>
          <p:nvCxnSpPr>
            <p:cNvPr id="8191" name="Google Shape;8191;p127"/>
            <p:cNvCxnSpPr/>
            <p:nvPr/>
          </p:nvCxnSpPr>
          <p:spPr>
            <a:xfrm>
              <a:off x="7589838" y="3087640"/>
              <a:ext cx="2505075" cy="352425"/>
            </a:xfrm>
            <a:prstGeom prst="straightConnector1">
              <a:avLst/>
            </a:prstGeom>
            <a:noFill/>
            <a:ln cap="flat" cmpd="sng" w="28575">
              <a:solidFill>
                <a:srgbClr val="3333CC"/>
              </a:solidFill>
              <a:prstDash val="solid"/>
              <a:round/>
              <a:headEnd len="med" w="med" type="none"/>
              <a:tailEnd len="med" w="med" type="triangle"/>
            </a:ln>
          </p:spPr>
        </p:cxnSp>
        <p:cxnSp>
          <p:nvCxnSpPr>
            <p:cNvPr id="8192" name="Google Shape;8192;p127"/>
            <p:cNvCxnSpPr/>
            <p:nvPr/>
          </p:nvCxnSpPr>
          <p:spPr>
            <a:xfrm>
              <a:off x="7585075" y="3173365"/>
              <a:ext cx="2505075" cy="352425"/>
            </a:xfrm>
            <a:prstGeom prst="straightConnector1">
              <a:avLst/>
            </a:prstGeom>
            <a:noFill/>
            <a:ln cap="flat" cmpd="sng" w="28575">
              <a:solidFill>
                <a:srgbClr val="3333CC"/>
              </a:solidFill>
              <a:prstDash val="solid"/>
              <a:round/>
              <a:headEnd len="med" w="med" type="none"/>
              <a:tailEnd len="med" w="med" type="triangle"/>
            </a:ln>
          </p:spPr>
        </p:cxnSp>
      </p:grpSp>
      <p:grpSp>
        <p:nvGrpSpPr>
          <p:cNvPr id="8193" name="Google Shape;8193;p127"/>
          <p:cNvGrpSpPr/>
          <p:nvPr/>
        </p:nvGrpSpPr>
        <p:grpSpPr>
          <a:xfrm>
            <a:off x="7558088" y="3697240"/>
            <a:ext cx="2555875" cy="612775"/>
            <a:chOff x="7558088" y="3697240"/>
            <a:chExt cx="2555875" cy="612775"/>
          </a:xfrm>
        </p:grpSpPr>
        <p:cxnSp>
          <p:nvCxnSpPr>
            <p:cNvPr id="8194" name="Google Shape;8194;p127"/>
            <p:cNvCxnSpPr/>
            <p:nvPr/>
          </p:nvCxnSpPr>
          <p:spPr>
            <a:xfrm flipH="1" rot="10800000">
              <a:off x="7585075" y="3697240"/>
              <a:ext cx="2528888" cy="361950"/>
            </a:xfrm>
            <a:prstGeom prst="straightConnector1">
              <a:avLst/>
            </a:prstGeom>
            <a:noFill/>
            <a:ln cap="flat" cmpd="sng" w="28575">
              <a:solidFill>
                <a:srgbClr val="3333CC"/>
              </a:solidFill>
              <a:prstDash val="solid"/>
              <a:round/>
              <a:headEnd len="med" w="med" type="triangle"/>
              <a:tailEnd len="med" w="med" type="none"/>
            </a:ln>
          </p:spPr>
        </p:cxnSp>
        <p:cxnSp>
          <p:nvCxnSpPr>
            <p:cNvPr id="8195" name="Google Shape;8195;p127"/>
            <p:cNvCxnSpPr/>
            <p:nvPr/>
          </p:nvCxnSpPr>
          <p:spPr>
            <a:xfrm flipH="1" rot="10800000">
              <a:off x="7558088" y="3957590"/>
              <a:ext cx="2505075" cy="352425"/>
            </a:xfrm>
            <a:prstGeom prst="straightConnector1">
              <a:avLst/>
            </a:prstGeom>
            <a:noFill/>
            <a:ln cap="flat" cmpd="sng" w="28575">
              <a:solidFill>
                <a:srgbClr val="3333CC"/>
              </a:solidFill>
              <a:prstDash val="solid"/>
              <a:round/>
              <a:headEnd len="med" w="med" type="triangle"/>
              <a:tailEnd len="med" w="med" type="none"/>
            </a:ln>
          </p:spPr>
        </p:cxnSp>
      </p:grpSp>
      <p:sp>
        <p:nvSpPr>
          <p:cNvPr id="8196" name="Google Shape;8196;p127"/>
          <p:cNvSpPr txBox="1"/>
          <p:nvPr/>
        </p:nvSpPr>
        <p:spPr>
          <a:xfrm rot="408567">
            <a:off x="8589963" y="3059065"/>
            <a:ext cx="1277937"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two segments</a:t>
            </a:r>
            <a:endParaRPr b="0" i="0" sz="1000" u="none" cap="none" strike="noStrike">
              <a:solidFill>
                <a:srgbClr val="000000"/>
              </a:solidFill>
              <a:latin typeface="Times New Roman"/>
              <a:ea typeface="Times New Roman"/>
              <a:cs typeface="Times New Roman"/>
              <a:sym typeface="Times New Roman"/>
            </a:endParaRPr>
          </a:p>
        </p:txBody>
      </p:sp>
      <p:sp>
        <p:nvSpPr>
          <p:cNvPr id="8197" name="Google Shape;8197;p127"/>
          <p:cNvSpPr txBox="1"/>
          <p:nvPr/>
        </p:nvSpPr>
        <p:spPr>
          <a:xfrm rot="408567">
            <a:off x="8682038" y="4073477"/>
            <a:ext cx="130651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four segments</a:t>
            </a:r>
            <a:endParaRPr b="0" i="0" sz="1000" u="none" cap="none" strike="noStrike">
              <a:solidFill>
                <a:srgbClr val="000000"/>
              </a:solidFill>
              <a:latin typeface="Times New Roman"/>
              <a:ea typeface="Times New Roman"/>
              <a:cs typeface="Times New Roman"/>
              <a:sym typeface="Times New Roman"/>
            </a:endParaRPr>
          </a:p>
        </p:txBody>
      </p:sp>
      <p:grpSp>
        <p:nvGrpSpPr>
          <p:cNvPr id="8198" name="Google Shape;8198;p127"/>
          <p:cNvGrpSpPr/>
          <p:nvPr/>
        </p:nvGrpSpPr>
        <p:grpSpPr>
          <a:xfrm>
            <a:off x="7580316" y="4092527"/>
            <a:ext cx="2519363" cy="652463"/>
            <a:chOff x="3954" y="2214"/>
            <a:chExt cx="1587" cy="411"/>
          </a:xfrm>
        </p:grpSpPr>
        <p:cxnSp>
          <p:nvCxnSpPr>
            <p:cNvPr id="8199" name="Google Shape;8199;p127"/>
            <p:cNvCxnSpPr/>
            <p:nvPr/>
          </p:nvCxnSpPr>
          <p:spPr>
            <a:xfrm>
              <a:off x="3963" y="2214"/>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8200" name="Google Shape;8200;p127"/>
            <p:cNvCxnSpPr/>
            <p:nvPr/>
          </p:nvCxnSpPr>
          <p:spPr>
            <a:xfrm>
              <a:off x="3954" y="2274"/>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8201" name="Google Shape;8201;p127"/>
            <p:cNvCxnSpPr/>
            <p:nvPr/>
          </p:nvCxnSpPr>
          <p:spPr>
            <a:xfrm>
              <a:off x="3963" y="2340"/>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8202" name="Google Shape;8202;p127"/>
            <p:cNvCxnSpPr/>
            <p:nvPr/>
          </p:nvCxnSpPr>
          <p:spPr>
            <a:xfrm>
              <a:off x="3957" y="2403"/>
              <a:ext cx="1578" cy="222"/>
            </a:xfrm>
            <a:prstGeom prst="straightConnector1">
              <a:avLst/>
            </a:prstGeom>
            <a:noFill/>
            <a:ln cap="flat" cmpd="sng" w="28575">
              <a:solidFill>
                <a:srgbClr val="3333CC"/>
              </a:solidFill>
              <a:prstDash val="solid"/>
              <a:round/>
              <a:headEnd len="med" w="med" type="none"/>
              <a:tailEnd len="med" w="med" type="triangle"/>
            </a:ln>
          </p:spPr>
        </p:cxnSp>
      </p:grpSp>
      <p:grpSp>
        <p:nvGrpSpPr>
          <p:cNvPr id="8203" name="Google Shape;8203;p127"/>
          <p:cNvGrpSpPr/>
          <p:nvPr/>
        </p:nvGrpSpPr>
        <p:grpSpPr>
          <a:xfrm flipH="1" rot="10800000">
            <a:off x="7866063" y="4473527"/>
            <a:ext cx="2228850" cy="604838"/>
            <a:chOff x="3954" y="2214"/>
            <a:chExt cx="1587" cy="411"/>
          </a:xfrm>
        </p:grpSpPr>
        <p:cxnSp>
          <p:nvCxnSpPr>
            <p:cNvPr id="8204" name="Google Shape;8204;p127"/>
            <p:cNvCxnSpPr/>
            <p:nvPr/>
          </p:nvCxnSpPr>
          <p:spPr>
            <a:xfrm>
              <a:off x="3963" y="2214"/>
              <a:ext cx="1578" cy="222"/>
            </a:xfrm>
            <a:prstGeom prst="straightConnector1">
              <a:avLst/>
            </a:prstGeom>
            <a:noFill/>
            <a:ln cap="flat" cmpd="sng" w="28575">
              <a:solidFill>
                <a:srgbClr val="3333CC"/>
              </a:solidFill>
              <a:prstDash val="solid"/>
              <a:round/>
              <a:headEnd len="med" w="med" type="triangle"/>
              <a:tailEnd len="med" w="med" type="none"/>
            </a:ln>
          </p:spPr>
        </p:cxnSp>
        <p:cxnSp>
          <p:nvCxnSpPr>
            <p:cNvPr id="8205" name="Google Shape;8205;p127"/>
            <p:cNvCxnSpPr/>
            <p:nvPr/>
          </p:nvCxnSpPr>
          <p:spPr>
            <a:xfrm>
              <a:off x="3954" y="2274"/>
              <a:ext cx="1578" cy="220"/>
            </a:xfrm>
            <a:prstGeom prst="straightConnector1">
              <a:avLst/>
            </a:prstGeom>
            <a:noFill/>
            <a:ln cap="flat" cmpd="sng" w="28575">
              <a:solidFill>
                <a:srgbClr val="3333CC"/>
              </a:solidFill>
              <a:prstDash val="solid"/>
              <a:round/>
              <a:headEnd len="med" w="med" type="triangle"/>
              <a:tailEnd len="med" w="med" type="none"/>
            </a:ln>
          </p:spPr>
        </p:cxnSp>
        <p:cxnSp>
          <p:nvCxnSpPr>
            <p:cNvPr id="8206" name="Google Shape;8206;p127"/>
            <p:cNvCxnSpPr/>
            <p:nvPr/>
          </p:nvCxnSpPr>
          <p:spPr>
            <a:xfrm>
              <a:off x="3963" y="2340"/>
              <a:ext cx="1578" cy="222"/>
            </a:xfrm>
            <a:prstGeom prst="straightConnector1">
              <a:avLst/>
            </a:prstGeom>
            <a:noFill/>
            <a:ln cap="flat" cmpd="sng" w="28575">
              <a:solidFill>
                <a:srgbClr val="3333CC"/>
              </a:solidFill>
              <a:prstDash val="solid"/>
              <a:round/>
              <a:headEnd len="med" w="med" type="triangle"/>
              <a:tailEnd len="med" w="med" type="none"/>
            </a:ln>
          </p:spPr>
        </p:cxnSp>
        <p:cxnSp>
          <p:nvCxnSpPr>
            <p:cNvPr id="8207" name="Google Shape;8207;p127"/>
            <p:cNvCxnSpPr/>
            <p:nvPr/>
          </p:nvCxnSpPr>
          <p:spPr>
            <a:xfrm>
              <a:off x="3957" y="2403"/>
              <a:ext cx="1578" cy="222"/>
            </a:xfrm>
            <a:prstGeom prst="straightConnector1">
              <a:avLst/>
            </a:prstGeom>
            <a:noFill/>
            <a:ln cap="flat" cmpd="sng" w="28575">
              <a:solidFill>
                <a:srgbClr val="3333CC"/>
              </a:solidFill>
              <a:prstDash val="solid"/>
              <a:round/>
              <a:headEnd len="med" w="med" type="triangle"/>
              <a:tailEnd len="med" w="med" type="none"/>
            </a:ln>
          </p:spPr>
        </p:cxnSp>
      </p:grpSp>
      <p:grpSp>
        <p:nvGrpSpPr>
          <p:cNvPr id="8208" name="Google Shape;8208;p127"/>
          <p:cNvGrpSpPr/>
          <p:nvPr/>
        </p:nvGrpSpPr>
        <p:grpSpPr>
          <a:xfrm>
            <a:off x="7142163" y="1492202"/>
            <a:ext cx="654050" cy="601663"/>
            <a:chOff x="-44" y="1473"/>
            <a:chExt cx="981" cy="1105"/>
          </a:xfrm>
        </p:grpSpPr>
        <p:pic>
          <p:nvPicPr>
            <p:cNvPr descr="desktop_computer_stylized_medium" id="8209" name="Google Shape;8209;p1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210" name="Google Shape;8210;p1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211" name="Google Shape;8211;p127"/>
          <p:cNvGrpSpPr/>
          <p:nvPr/>
        </p:nvGrpSpPr>
        <p:grpSpPr>
          <a:xfrm>
            <a:off x="9877425" y="1506490"/>
            <a:ext cx="382588" cy="547687"/>
            <a:chOff x="4140" y="429"/>
            <a:chExt cx="1425" cy="2396"/>
          </a:xfrm>
        </p:grpSpPr>
        <p:sp>
          <p:nvSpPr>
            <p:cNvPr id="8212" name="Google Shape;8212;p12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3" name="Google Shape;8213;p127"/>
            <p:cNvSpPr/>
            <p:nvPr/>
          </p:nvSpPr>
          <p:spPr>
            <a:xfrm>
              <a:off x="4205" y="429"/>
              <a:ext cx="1047"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4" name="Google Shape;8214;p12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5" name="Google Shape;8215;p12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6" name="Google Shape;8216;p127"/>
            <p:cNvSpPr/>
            <p:nvPr/>
          </p:nvSpPr>
          <p:spPr>
            <a:xfrm>
              <a:off x="4211" y="693"/>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17" name="Google Shape;8217;p127"/>
            <p:cNvGrpSpPr/>
            <p:nvPr/>
          </p:nvGrpSpPr>
          <p:grpSpPr>
            <a:xfrm>
              <a:off x="4749" y="665"/>
              <a:ext cx="579" cy="146"/>
              <a:chOff x="614" y="2565"/>
              <a:chExt cx="723" cy="140"/>
            </a:xfrm>
          </p:grpSpPr>
          <p:sp>
            <p:nvSpPr>
              <p:cNvPr id="8218" name="Google Shape;8218;p127"/>
              <p:cNvSpPr/>
              <p:nvPr/>
            </p:nvSpPr>
            <p:spPr>
              <a:xfrm>
                <a:off x="614" y="2565"/>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9" name="Google Shape;8219;p127"/>
              <p:cNvSpPr/>
              <p:nvPr/>
            </p:nvSpPr>
            <p:spPr>
              <a:xfrm>
                <a:off x="629" y="2579"/>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20" name="Google Shape;8220;p127"/>
            <p:cNvSpPr/>
            <p:nvPr/>
          </p:nvSpPr>
          <p:spPr>
            <a:xfrm>
              <a:off x="4223" y="1019"/>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21" name="Google Shape;8221;p127"/>
            <p:cNvGrpSpPr/>
            <p:nvPr/>
          </p:nvGrpSpPr>
          <p:grpSpPr>
            <a:xfrm>
              <a:off x="4749" y="991"/>
              <a:ext cx="579" cy="139"/>
              <a:chOff x="617" y="2565"/>
              <a:chExt cx="723" cy="144"/>
            </a:xfrm>
          </p:grpSpPr>
          <p:sp>
            <p:nvSpPr>
              <p:cNvPr id="8222" name="Google Shape;8222;p127"/>
              <p:cNvSpPr/>
              <p:nvPr/>
            </p:nvSpPr>
            <p:spPr>
              <a:xfrm>
                <a:off x="617" y="2565"/>
                <a:ext cx="723"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3" name="Google Shape;8223;p127"/>
              <p:cNvSpPr/>
              <p:nvPr/>
            </p:nvSpPr>
            <p:spPr>
              <a:xfrm>
                <a:off x="631" y="2580"/>
                <a:ext cx="694" cy="11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24" name="Google Shape;8224;p127"/>
            <p:cNvSpPr/>
            <p:nvPr/>
          </p:nvSpPr>
          <p:spPr>
            <a:xfrm>
              <a:off x="4217"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5" name="Google Shape;8225;p127"/>
            <p:cNvSpPr/>
            <p:nvPr/>
          </p:nvSpPr>
          <p:spPr>
            <a:xfrm>
              <a:off x="4229" y="1658"/>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26" name="Google Shape;8226;p127"/>
            <p:cNvGrpSpPr/>
            <p:nvPr/>
          </p:nvGrpSpPr>
          <p:grpSpPr>
            <a:xfrm>
              <a:off x="4737" y="1630"/>
              <a:ext cx="580" cy="146"/>
              <a:chOff x="617" y="2571"/>
              <a:chExt cx="722" cy="134"/>
            </a:xfrm>
          </p:grpSpPr>
          <p:sp>
            <p:nvSpPr>
              <p:cNvPr id="8227" name="Google Shape;8227;p127"/>
              <p:cNvSpPr/>
              <p:nvPr/>
            </p:nvSpPr>
            <p:spPr>
              <a:xfrm>
                <a:off x="617" y="2571"/>
                <a:ext cx="72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8" name="Google Shape;8228;p127"/>
              <p:cNvSpPr/>
              <p:nvPr/>
            </p:nvSpPr>
            <p:spPr>
              <a:xfrm>
                <a:off x="631" y="2584"/>
                <a:ext cx="692"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29" name="Google Shape;8229;p12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30" name="Google Shape;8230;p127"/>
            <p:cNvGrpSpPr/>
            <p:nvPr/>
          </p:nvGrpSpPr>
          <p:grpSpPr>
            <a:xfrm>
              <a:off x="4737" y="1325"/>
              <a:ext cx="585" cy="139"/>
              <a:chOff x="612" y="2566"/>
              <a:chExt cx="729" cy="139"/>
            </a:xfrm>
          </p:grpSpPr>
          <p:sp>
            <p:nvSpPr>
              <p:cNvPr id="8231" name="Google Shape;8231;p127"/>
              <p:cNvSpPr/>
              <p:nvPr/>
            </p:nvSpPr>
            <p:spPr>
              <a:xfrm>
                <a:off x="612" y="2566"/>
                <a:ext cx="729"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2" name="Google Shape;8232;p127"/>
              <p:cNvSpPr/>
              <p:nvPr/>
            </p:nvSpPr>
            <p:spPr>
              <a:xfrm>
                <a:off x="626" y="2580"/>
                <a:ext cx="700"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33" name="Google Shape;8233;p127"/>
            <p:cNvSpPr/>
            <p:nvPr/>
          </p:nvSpPr>
          <p:spPr>
            <a:xfrm>
              <a:off x="5252" y="429"/>
              <a:ext cx="65"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4" name="Google Shape;8234;p12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5" name="Google Shape;8235;p12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6" name="Google Shape;8236;p127"/>
            <p:cNvSpPr/>
            <p:nvPr/>
          </p:nvSpPr>
          <p:spPr>
            <a:xfrm>
              <a:off x="5518" y="2610"/>
              <a:ext cx="47"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7" name="Google Shape;8237;p12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8" name="Google Shape;8238;p127"/>
            <p:cNvSpPr/>
            <p:nvPr/>
          </p:nvSpPr>
          <p:spPr>
            <a:xfrm>
              <a:off x="4140" y="2679"/>
              <a:ext cx="1200"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39" name="Google Shape;8239;p127"/>
            <p:cNvSpPr/>
            <p:nvPr/>
          </p:nvSpPr>
          <p:spPr>
            <a:xfrm>
              <a:off x="4205" y="2714"/>
              <a:ext cx="1070" cy="76"/>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40" name="Google Shape;8240;p127"/>
            <p:cNvSpPr/>
            <p:nvPr/>
          </p:nvSpPr>
          <p:spPr>
            <a:xfrm>
              <a:off x="4306" y="2381"/>
              <a:ext cx="160"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41" name="Google Shape;8241;p127"/>
            <p:cNvSpPr/>
            <p:nvPr/>
          </p:nvSpPr>
          <p:spPr>
            <a:xfrm>
              <a:off x="4489" y="2387"/>
              <a:ext cx="160" cy="13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242" name="Google Shape;8242;p127"/>
            <p:cNvSpPr/>
            <p:nvPr/>
          </p:nvSpPr>
          <p:spPr>
            <a:xfrm>
              <a:off x="4660" y="2381"/>
              <a:ext cx="160"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43" name="Google Shape;8243;p127"/>
            <p:cNvSpPr/>
            <p:nvPr/>
          </p:nvSpPr>
          <p:spPr>
            <a:xfrm>
              <a:off x="5062" y="1832"/>
              <a:ext cx="83" cy="764"/>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44" name="Google Shape;8244;p127"/>
          <p:cNvSpPr txBox="1"/>
          <p:nvPr/>
        </p:nvSpPr>
        <p:spPr>
          <a:xfrm>
            <a:off x="1168400" y="4597399"/>
            <a:ext cx="5118100" cy="1905001"/>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summary: </a:t>
            </a:r>
            <a:r>
              <a:rPr b="0" i="0" lang="en-US" sz="3200" u="none" cap="none" strike="noStrike">
                <a:solidFill>
                  <a:srgbClr val="000000"/>
                </a:solidFill>
                <a:latin typeface="Calibri"/>
                <a:ea typeface="Calibri"/>
                <a:cs typeface="Calibri"/>
                <a:sym typeface="Calibri"/>
              </a:rPr>
              <a:t>initial rate is slow, but ramps up exponentially fast</a:t>
            </a:r>
            <a:endParaRPr/>
          </a:p>
        </p:txBody>
      </p:sp>
      <p:sp>
        <p:nvSpPr>
          <p:cNvPr id="8245" name="Google Shape;8245;p1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6"/>
                                        </p:tgtEl>
                                        <p:attrNameLst>
                                          <p:attrName>style.visibility</p:attrName>
                                        </p:attrNameLst>
                                      </p:cBhvr>
                                      <p:to>
                                        <p:strVal val="visible"/>
                                      </p:to>
                                    </p:set>
                                    <p:animEffect filter="fade" transition="in">
                                      <p:cBhvr>
                                        <p:cTn dur="500"/>
                                        <p:tgtEl>
                                          <p:spTgt spid="8176"/>
                                        </p:tgtEl>
                                      </p:cBhvr>
                                    </p:animEffect>
                                  </p:childTnLst>
                                </p:cTn>
                              </p:par>
                              <p:par>
                                <p:cTn fill="hold" nodeType="withEffect" presetClass="entr" presetID="10" presetSubtype="0">
                                  <p:stCondLst>
                                    <p:cond delay="0"/>
                                  </p:stCondLst>
                                  <p:childTnLst>
                                    <p:set>
                                      <p:cBhvr>
                                        <p:cTn dur="1" fill="hold">
                                          <p:stCondLst>
                                            <p:cond delay="0"/>
                                          </p:stCondLst>
                                        </p:cTn>
                                        <p:tgtEl>
                                          <p:spTgt spid="8178"/>
                                        </p:tgtEl>
                                        <p:attrNameLst>
                                          <p:attrName>style.visibility</p:attrName>
                                        </p:attrNameLst>
                                      </p:cBhvr>
                                      <p:to>
                                        <p:strVal val="visible"/>
                                      </p:to>
                                    </p:set>
                                    <p:animEffect filter="fade" transition="in">
                                      <p:cBhvr>
                                        <p:cTn dur="500"/>
                                        <p:tgtEl>
                                          <p:spTgt spid="81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186"/>
                                        </p:tgtEl>
                                        <p:attrNameLst>
                                          <p:attrName>style.visibility</p:attrName>
                                        </p:attrNameLst>
                                      </p:cBhvr>
                                      <p:to>
                                        <p:strVal val="visible"/>
                                      </p:to>
                                    </p:set>
                                    <p:animEffect filter="fade" transition="in">
                                      <p:cBhvr>
                                        <p:cTn dur="500"/>
                                        <p:tgtEl>
                                          <p:spTgt spid="81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182"/>
                                        </p:tgtEl>
                                        <p:attrNameLst>
                                          <p:attrName>style.visibility</p:attrName>
                                        </p:attrNameLst>
                                      </p:cBhvr>
                                      <p:to>
                                        <p:strVal val="visible"/>
                                      </p:to>
                                    </p:set>
                                    <p:animEffect filter="fade" transition="in">
                                      <p:cBhvr>
                                        <p:cTn dur="500"/>
                                        <p:tgtEl>
                                          <p:spTgt spid="8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0"/>
                                        </p:tgtEl>
                                        <p:attrNameLst>
                                          <p:attrName>style.visibility</p:attrName>
                                        </p:attrNameLst>
                                      </p:cBhvr>
                                      <p:to>
                                        <p:strVal val="visible"/>
                                      </p:to>
                                    </p:set>
                                    <p:animEffect filter="fade" transition="in">
                                      <p:cBhvr>
                                        <p:cTn dur="500"/>
                                        <p:tgtEl>
                                          <p:spTgt spid="8190"/>
                                        </p:tgtEl>
                                      </p:cBhvr>
                                    </p:animEffect>
                                  </p:childTnLst>
                                </p:cTn>
                              </p:par>
                              <p:par>
                                <p:cTn fill="hold" nodeType="withEffect" presetClass="entr" presetID="10" presetSubtype="0">
                                  <p:stCondLst>
                                    <p:cond delay="0"/>
                                  </p:stCondLst>
                                  <p:childTnLst>
                                    <p:set>
                                      <p:cBhvr>
                                        <p:cTn dur="1" fill="hold">
                                          <p:stCondLst>
                                            <p:cond delay="0"/>
                                          </p:stCondLst>
                                        </p:cTn>
                                        <p:tgtEl>
                                          <p:spTgt spid="8196"/>
                                        </p:tgtEl>
                                        <p:attrNameLst>
                                          <p:attrName>style.visibility</p:attrName>
                                        </p:attrNameLst>
                                      </p:cBhvr>
                                      <p:to>
                                        <p:strVal val="visible"/>
                                      </p:to>
                                    </p:set>
                                    <p:animEffect filter="fade" transition="in">
                                      <p:cBhvr>
                                        <p:cTn dur="500"/>
                                        <p:tgtEl>
                                          <p:spTgt spid="81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193"/>
                                        </p:tgtEl>
                                        <p:attrNameLst>
                                          <p:attrName>style.visibility</p:attrName>
                                        </p:attrNameLst>
                                      </p:cBhvr>
                                      <p:to>
                                        <p:strVal val="visible"/>
                                      </p:to>
                                    </p:set>
                                    <p:animEffect filter="fade" transition="in">
                                      <p:cBhvr>
                                        <p:cTn dur="500"/>
                                        <p:tgtEl>
                                          <p:spTgt spid="81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198"/>
                                        </p:tgtEl>
                                        <p:attrNameLst>
                                          <p:attrName>style.visibility</p:attrName>
                                        </p:attrNameLst>
                                      </p:cBhvr>
                                      <p:to>
                                        <p:strVal val="visible"/>
                                      </p:to>
                                    </p:set>
                                    <p:animEffect filter="fade" transition="in">
                                      <p:cBhvr>
                                        <p:cTn dur="500"/>
                                        <p:tgtEl>
                                          <p:spTgt spid="8198"/>
                                        </p:tgtEl>
                                      </p:cBhvr>
                                    </p:animEffect>
                                  </p:childTnLst>
                                </p:cTn>
                              </p:par>
                              <p:par>
                                <p:cTn fill="hold" nodeType="withEffect" presetClass="entr" presetID="10" presetSubtype="0">
                                  <p:stCondLst>
                                    <p:cond delay="0"/>
                                  </p:stCondLst>
                                  <p:childTnLst>
                                    <p:set>
                                      <p:cBhvr>
                                        <p:cTn dur="1" fill="hold">
                                          <p:stCondLst>
                                            <p:cond delay="0"/>
                                          </p:stCondLst>
                                        </p:cTn>
                                        <p:tgtEl>
                                          <p:spTgt spid="8197"/>
                                        </p:tgtEl>
                                        <p:attrNameLst>
                                          <p:attrName>style.visibility</p:attrName>
                                        </p:attrNameLst>
                                      </p:cBhvr>
                                      <p:to>
                                        <p:strVal val="visible"/>
                                      </p:to>
                                    </p:set>
                                    <p:animEffect filter="fade" transition="in">
                                      <p:cBhvr>
                                        <p:cTn dur="500"/>
                                        <p:tgtEl>
                                          <p:spTgt spid="819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203"/>
                                        </p:tgtEl>
                                        <p:attrNameLst>
                                          <p:attrName>style.visibility</p:attrName>
                                        </p:attrNameLst>
                                      </p:cBhvr>
                                      <p:to>
                                        <p:strVal val="visible"/>
                                      </p:to>
                                    </p:set>
                                    <p:animEffect filter="fade" transition="in">
                                      <p:cBhvr>
                                        <p:cTn dur="500"/>
                                        <p:tgtEl>
                                          <p:spTgt spid="8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4"/>
                                        </p:tgtEl>
                                        <p:attrNameLst>
                                          <p:attrName>style.visibility</p:attrName>
                                        </p:attrNameLst>
                                      </p:cBhvr>
                                      <p:to>
                                        <p:strVal val="visible"/>
                                      </p:to>
                                    </p:set>
                                    <p:animEffect filter="fade" transition="in">
                                      <p:cBhvr>
                                        <p:cTn dur="500"/>
                                        <p:tgtEl>
                                          <p:spTgt spid="8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0" name="Shape 8250"/>
        <p:cNvGrpSpPr/>
        <p:nvPr/>
      </p:nvGrpSpPr>
      <p:grpSpPr>
        <a:xfrm>
          <a:off x="0" y="0"/>
          <a:ext cx="0" cy="0"/>
          <a:chOff x="0" y="0"/>
          <a:chExt cx="0" cy="0"/>
        </a:xfrm>
      </p:grpSpPr>
      <p:sp>
        <p:nvSpPr>
          <p:cNvPr id="8251" name="Google Shape;8251;p128"/>
          <p:cNvSpPr txBox="1"/>
          <p:nvPr>
            <p:ph type="title"/>
          </p:nvPr>
        </p:nvSpPr>
        <p:spPr>
          <a:xfrm>
            <a:off x="812800" y="2467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from slow start to congestion avoidance</a:t>
            </a:r>
            <a:endParaRPr b="0" sz="4400"/>
          </a:p>
        </p:txBody>
      </p:sp>
      <p:sp>
        <p:nvSpPr>
          <p:cNvPr id="8252" name="Google Shape;8252;p128"/>
          <p:cNvSpPr txBox="1"/>
          <p:nvPr/>
        </p:nvSpPr>
        <p:spPr>
          <a:xfrm>
            <a:off x="952500" y="1382665"/>
            <a:ext cx="5054600" cy="19050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00000"/>
                </a:solidFill>
                <a:latin typeface="Calibri"/>
                <a:ea typeface="Calibri"/>
                <a:cs typeface="Calibri"/>
                <a:sym typeface="Calibri"/>
              </a:rPr>
              <a:t>Q: </a:t>
            </a:r>
            <a:r>
              <a:rPr b="0" i="0" lang="en-US" sz="2800" u="none" cap="none" strike="noStrike">
                <a:solidFill>
                  <a:srgbClr val="000000"/>
                </a:solidFill>
                <a:latin typeface="Calibri"/>
                <a:ea typeface="Calibri"/>
                <a:cs typeface="Calibri"/>
                <a:sym typeface="Calibri"/>
              </a:rPr>
              <a:t>when should the exponential increase switch to linear? </a:t>
            </a:r>
            <a:endParaRPr/>
          </a:p>
          <a:p>
            <a:pPr indent="-222250" lvl="0" marL="352425" marR="0" rtl="0" algn="l">
              <a:lnSpc>
                <a:spcPct val="90000"/>
              </a:lnSpc>
              <a:spcBef>
                <a:spcPts val="1000"/>
              </a:spcBef>
              <a:spcAft>
                <a:spcPts val="0"/>
              </a:spcAft>
              <a:buClr>
                <a:srgbClr val="0000A3"/>
              </a:buClr>
              <a:buSzPts val="2800"/>
              <a:buFont typeface="Noto Sans Symbols"/>
              <a:buNone/>
            </a:pPr>
            <a:r>
              <a:rPr b="0" i="1" lang="en-US" sz="2800" u="none"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when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gets to 1/2 of its value before timeout.</a:t>
            </a:r>
            <a:endParaRPr/>
          </a:p>
        </p:txBody>
      </p:sp>
      <p:sp>
        <p:nvSpPr>
          <p:cNvPr id="8253" name="Google Shape;8253;p128"/>
          <p:cNvSpPr txBox="1"/>
          <p:nvPr/>
        </p:nvSpPr>
        <p:spPr>
          <a:xfrm>
            <a:off x="952500" y="3528965"/>
            <a:ext cx="4927600" cy="19050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Implementation:</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variable </a:t>
            </a:r>
            <a:r>
              <a:rPr b="1" i="0" lang="en-US" sz="2400" u="none" cap="none" strike="noStrike">
                <a:solidFill>
                  <a:srgbClr val="000000"/>
                </a:solidFill>
                <a:latin typeface="Courier New"/>
                <a:ea typeface="Courier New"/>
                <a:cs typeface="Courier New"/>
                <a:sym typeface="Courier New"/>
              </a:rPr>
              <a:t>ssthresh</a:t>
            </a:r>
            <a:r>
              <a:rPr b="0" i="0" lang="en-US" sz="2400" u="none" cap="none" strike="noStrike">
                <a:solidFill>
                  <a:srgbClr val="000000"/>
                </a:solidFill>
                <a:latin typeface="Courier New"/>
                <a:ea typeface="Courier New"/>
                <a:cs typeface="Courier New"/>
                <a:sym typeface="Courier New"/>
              </a:rPr>
              <a:t> </a:t>
            </a:r>
            <a:endParaRPr/>
          </a:p>
          <a:p>
            <a:pPr indent="-222250" lvl="0" marL="35242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on loss event, </a:t>
            </a:r>
            <a:r>
              <a:rPr b="1" i="0" lang="en-US" sz="2400" u="none" cap="none" strike="noStrike">
                <a:solidFill>
                  <a:srgbClr val="000000"/>
                </a:solidFill>
                <a:latin typeface="Courier New"/>
                <a:ea typeface="Courier New"/>
                <a:cs typeface="Courier New"/>
                <a:sym typeface="Courier New"/>
              </a:rPr>
              <a:t>ssthresh</a:t>
            </a:r>
            <a:r>
              <a:rPr b="0" i="0" lang="en-US" sz="2400" u="none" cap="none" strike="noStrike">
                <a:solidFill>
                  <a:srgbClr val="000000"/>
                </a:solidFill>
                <a:latin typeface="Calibri"/>
                <a:ea typeface="Calibri"/>
                <a:cs typeface="Calibri"/>
                <a:sym typeface="Calibri"/>
              </a:rPr>
              <a:t> is set to 1/2 of </a:t>
            </a:r>
            <a:r>
              <a:rPr b="1" i="0" lang="en-US" sz="2400" u="none" cap="none" strike="noStrike">
                <a:solidFill>
                  <a:srgbClr val="000000"/>
                </a:solidFill>
                <a:latin typeface="Courier New"/>
                <a:ea typeface="Courier New"/>
                <a:cs typeface="Courier New"/>
                <a:sym typeface="Courier New"/>
              </a:rPr>
              <a:t>cwnd</a:t>
            </a:r>
            <a:r>
              <a:rPr b="0" i="0" lang="en-US" sz="2400" u="none" cap="none" strike="noStrike">
                <a:solidFill>
                  <a:srgbClr val="000000"/>
                </a:solidFill>
                <a:latin typeface="Courier New"/>
                <a:ea typeface="Courier New"/>
                <a:cs typeface="Courier New"/>
                <a:sym typeface="Courier New"/>
              </a:rPr>
              <a:t> </a:t>
            </a:r>
            <a:r>
              <a:rPr b="0" i="0" lang="en-US" sz="2400" u="none" cap="none" strike="noStrike">
                <a:solidFill>
                  <a:srgbClr val="000000"/>
                </a:solidFill>
                <a:latin typeface="Calibri"/>
                <a:ea typeface="Calibri"/>
                <a:cs typeface="Calibri"/>
                <a:sym typeface="Calibri"/>
              </a:rPr>
              <a:t>just before loss event</a:t>
            </a:r>
            <a:endParaRPr/>
          </a:p>
        </p:txBody>
      </p:sp>
      <p:pic>
        <p:nvPicPr>
          <p:cNvPr id="8254" name="Google Shape;8254;p128"/>
          <p:cNvPicPr preferRelativeResize="0"/>
          <p:nvPr/>
        </p:nvPicPr>
        <p:blipFill rotWithShape="1">
          <a:blip r:embed="rId3">
            <a:alphaModFix/>
          </a:blip>
          <a:srcRect b="0" l="0" r="0" t="0"/>
          <a:stretch/>
        </p:blipFill>
        <p:spPr>
          <a:xfrm>
            <a:off x="6021387" y="1889345"/>
            <a:ext cx="5536882" cy="3157538"/>
          </a:xfrm>
          <a:prstGeom prst="rect">
            <a:avLst/>
          </a:prstGeom>
          <a:noFill/>
          <a:ln>
            <a:noFill/>
          </a:ln>
        </p:spPr>
      </p:pic>
      <p:sp>
        <p:nvSpPr>
          <p:cNvPr id="8255" name="Google Shape;8255;p128"/>
          <p:cNvSpPr txBox="1"/>
          <p:nvPr/>
        </p:nvSpPr>
        <p:spPr>
          <a:xfrm>
            <a:off x="1143000" y="6135312"/>
            <a:ext cx="975677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sp>
        <p:nvSpPr>
          <p:cNvPr id="8256" name="Google Shape;8256;p128"/>
          <p:cNvSpPr/>
          <p:nvPr/>
        </p:nvSpPr>
        <p:spPr>
          <a:xfrm>
            <a:off x="7851775" y="3825875"/>
            <a:ext cx="850900" cy="200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57" name="Google Shape;8257;p128"/>
          <p:cNvSpPr/>
          <p:nvPr/>
        </p:nvSpPr>
        <p:spPr>
          <a:xfrm>
            <a:off x="7677150" y="3924300"/>
            <a:ext cx="850900" cy="4571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8258" name="Google Shape;8258;p128"/>
          <p:cNvPicPr preferRelativeResize="0"/>
          <p:nvPr/>
        </p:nvPicPr>
        <p:blipFill rotWithShape="1">
          <a:blip r:embed="rId4">
            <a:alphaModFix/>
          </a:blip>
          <a:srcRect b="0" l="0" r="0" t="0"/>
          <a:stretch/>
        </p:blipFill>
        <p:spPr>
          <a:xfrm>
            <a:off x="10020300" y="3804496"/>
            <a:ext cx="1003300" cy="234103"/>
          </a:xfrm>
          <a:prstGeom prst="rect">
            <a:avLst/>
          </a:prstGeom>
          <a:noFill/>
          <a:ln>
            <a:noFill/>
          </a:ln>
        </p:spPr>
      </p:pic>
      <p:sp>
        <p:nvSpPr>
          <p:cNvPr id="8259" name="Google Shape;8259;p128"/>
          <p:cNvSpPr/>
          <p:nvPr/>
        </p:nvSpPr>
        <p:spPr>
          <a:xfrm>
            <a:off x="9194800" y="1892300"/>
            <a:ext cx="2133600" cy="2489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60" name="Google Shape;8260;p128"/>
          <p:cNvSpPr txBox="1"/>
          <p:nvPr/>
        </p:nvSpPr>
        <p:spPr>
          <a:xfrm>
            <a:off x="9067800" y="2197100"/>
            <a:ext cx="31130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X</a:t>
            </a:r>
            <a:endParaRPr/>
          </a:p>
        </p:txBody>
      </p:sp>
      <p:sp>
        <p:nvSpPr>
          <p:cNvPr id="8261" name="Google Shape;8261;p1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3"/>
                                        </p:tgtEl>
                                        <p:attrNameLst>
                                          <p:attrName>style.visibility</p:attrName>
                                        </p:attrNameLst>
                                      </p:cBhvr>
                                      <p:to>
                                        <p:strVal val="visible"/>
                                      </p:to>
                                    </p:set>
                                    <p:animEffect filter="fade" transition="in">
                                      <p:cBhvr>
                                        <p:cTn dur="500"/>
                                        <p:tgtEl>
                                          <p:spTgt spid="8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259"/>
                                        </p:tgtEl>
                                      </p:cBhvr>
                                    </p:animEffect>
                                    <p:set>
                                      <p:cBhvr>
                                        <p:cTn dur="1" fill="hold">
                                          <p:stCondLst>
                                            <p:cond delay="500"/>
                                          </p:stCondLst>
                                        </p:cTn>
                                        <p:tgtEl>
                                          <p:spTgt spid="82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5"/>
                                        </p:tgtEl>
                                        <p:attrNameLst>
                                          <p:attrName>style.visibility</p:attrName>
                                        </p:attrNameLst>
                                      </p:cBhvr>
                                      <p:to>
                                        <p:strVal val="visible"/>
                                      </p:to>
                                    </p:set>
                                    <p:animEffect filter="fade" transition="in">
                                      <p:cBhvr>
                                        <p:cTn dur="500"/>
                                        <p:tgtEl>
                                          <p:spTgt spid="8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6" name="Shape 8266"/>
        <p:cNvGrpSpPr/>
        <p:nvPr/>
      </p:nvGrpSpPr>
      <p:grpSpPr>
        <a:xfrm>
          <a:off x="0" y="0"/>
          <a:ext cx="0" cy="0"/>
          <a:chOff x="0" y="0"/>
          <a:chExt cx="0" cy="0"/>
        </a:xfrm>
      </p:grpSpPr>
      <p:sp>
        <p:nvSpPr>
          <p:cNvPr id="8267" name="Google Shape;8267;p129"/>
          <p:cNvSpPr txBox="1"/>
          <p:nvPr>
            <p:ph type="title"/>
          </p:nvPr>
        </p:nvSpPr>
        <p:spPr>
          <a:xfrm>
            <a:off x="812800" y="232962"/>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Summary: TCP congestion control</a:t>
            </a:r>
            <a:endParaRPr b="0" sz="4400"/>
          </a:p>
        </p:txBody>
      </p:sp>
      <p:grpSp>
        <p:nvGrpSpPr>
          <p:cNvPr id="8268" name="Google Shape;8268;p129"/>
          <p:cNvGrpSpPr/>
          <p:nvPr/>
        </p:nvGrpSpPr>
        <p:grpSpPr>
          <a:xfrm>
            <a:off x="5041900" y="2967944"/>
            <a:ext cx="2133600" cy="814388"/>
            <a:chOff x="2168" y="1727"/>
            <a:chExt cx="1344" cy="513"/>
          </a:xfrm>
        </p:grpSpPr>
        <p:grpSp>
          <p:nvGrpSpPr>
            <p:cNvPr id="8269" name="Google Shape;8269;p129"/>
            <p:cNvGrpSpPr/>
            <p:nvPr/>
          </p:nvGrpSpPr>
          <p:grpSpPr>
            <a:xfrm>
              <a:off x="2280" y="1727"/>
              <a:ext cx="1118" cy="513"/>
              <a:chOff x="2280" y="1727"/>
              <a:chExt cx="1118" cy="513"/>
            </a:xfrm>
          </p:grpSpPr>
          <p:sp>
            <p:nvSpPr>
              <p:cNvPr id="8270" name="Google Shape;8270;p129"/>
              <p:cNvSpPr txBox="1"/>
              <p:nvPr/>
            </p:nvSpPr>
            <p:spPr>
              <a:xfrm>
                <a:off x="2640" y="1727"/>
                <a:ext cx="377"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timeout</a:t>
                </a:r>
                <a:endParaRPr/>
              </a:p>
            </p:txBody>
          </p:sp>
          <p:sp>
            <p:nvSpPr>
              <p:cNvPr id="8271" name="Google Shape;8271;p129"/>
              <p:cNvSpPr txBox="1"/>
              <p:nvPr/>
            </p:nvSpPr>
            <p:spPr>
              <a:xfrm>
                <a:off x="2280" y="1838"/>
                <a:ext cx="1118" cy="40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ssthresh = cwnd/2</a:t>
                </a:r>
                <a:endParaRPr/>
              </a:p>
              <a:p>
                <a:pPr indent="0" lvl="0" marL="0" marR="0" rtl="0" algn="ctr">
                  <a:lnSpc>
                    <a:spcPct val="8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cwnd = 1 MSS</a:t>
                </a:r>
                <a:endParaRPr/>
              </a:p>
              <a:p>
                <a:pPr indent="0" lvl="0" marL="0" marR="0" rtl="0" algn="ctr">
                  <a:lnSpc>
                    <a:spcPct val="85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dupACKcount = 0</a:t>
                </a:r>
                <a:endParaRPr/>
              </a:p>
              <a:p>
                <a:pPr indent="0" lvl="0" marL="0" marR="0" rtl="0" algn="ctr">
                  <a:lnSpc>
                    <a:spcPct val="85000"/>
                  </a:lnSpc>
                  <a:spcBef>
                    <a:spcPts val="0"/>
                  </a:spcBef>
                  <a:spcAft>
                    <a:spcPts val="0"/>
                  </a:spcAft>
                  <a:buClr>
                    <a:srgbClr val="000099"/>
                  </a:buClr>
                  <a:buSzPts val="1000"/>
                  <a:buFont typeface="Arial"/>
                  <a:buNone/>
                </a:pPr>
                <a:r>
                  <a:rPr b="0" i="1" lang="en-US" sz="1000" u="none" cap="none" strike="noStrike">
                    <a:solidFill>
                      <a:srgbClr val="000099"/>
                    </a:solidFill>
                    <a:latin typeface="Arial"/>
                    <a:ea typeface="Arial"/>
                    <a:cs typeface="Arial"/>
                    <a:sym typeface="Arial"/>
                  </a:rPr>
                  <a:t>retransmit missing segment</a:t>
                </a:r>
                <a:r>
                  <a:rPr b="0" i="0" lang="en-US" sz="1200" u="none" cap="none" strike="noStrike">
                    <a:solidFill>
                      <a:srgbClr val="000000"/>
                    </a:solidFill>
                    <a:latin typeface="Arial"/>
                    <a:ea typeface="Arial"/>
                    <a:cs typeface="Arial"/>
                    <a:sym typeface="Arial"/>
                  </a:rPr>
                  <a:t> </a:t>
                </a:r>
                <a:endParaRPr/>
              </a:p>
            </p:txBody>
          </p:sp>
          <p:cxnSp>
            <p:nvCxnSpPr>
              <p:cNvPr id="8272" name="Google Shape;8272;p129"/>
              <p:cNvCxnSpPr/>
              <p:nvPr/>
            </p:nvCxnSpPr>
            <p:spPr>
              <a:xfrm>
                <a:off x="2491" y="1857"/>
                <a:ext cx="697" cy="0"/>
              </a:xfrm>
              <a:prstGeom prst="straightConnector1">
                <a:avLst/>
              </a:prstGeom>
              <a:noFill/>
              <a:ln cap="flat" cmpd="sng" w="9525">
                <a:solidFill>
                  <a:srgbClr val="000000"/>
                </a:solidFill>
                <a:prstDash val="solid"/>
                <a:round/>
                <a:headEnd len="med" w="med" type="none"/>
                <a:tailEnd len="med" w="med" type="none"/>
              </a:ln>
            </p:spPr>
          </p:cxnSp>
        </p:grpSp>
        <p:cxnSp>
          <p:nvCxnSpPr>
            <p:cNvPr id="8273" name="Google Shape;8273;p129"/>
            <p:cNvCxnSpPr/>
            <p:nvPr/>
          </p:nvCxnSpPr>
          <p:spPr>
            <a:xfrm rot="10800000">
              <a:off x="2168" y="1734"/>
              <a:ext cx="1344" cy="0"/>
            </a:xfrm>
            <a:prstGeom prst="straightConnector1">
              <a:avLst/>
            </a:prstGeom>
            <a:noFill/>
            <a:ln cap="flat" cmpd="sng" w="9525">
              <a:solidFill>
                <a:srgbClr val="000000"/>
              </a:solidFill>
              <a:prstDash val="solid"/>
              <a:round/>
              <a:headEnd len="med" w="med" type="none"/>
              <a:tailEnd len="med" w="med" type="triangle"/>
            </a:ln>
          </p:spPr>
        </p:cxnSp>
      </p:grpSp>
      <p:grpSp>
        <p:nvGrpSpPr>
          <p:cNvPr id="8274" name="Google Shape;8274;p129"/>
          <p:cNvGrpSpPr/>
          <p:nvPr/>
        </p:nvGrpSpPr>
        <p:grpSpPr>
          <a:xfrm>
            <a:off x="5072063" y="2491694"/>
            <a:ext cx="2133600" cy="398463"/>
            <a:chOff x="2187" y="1427"/>
            <a:chExt cx="1344" cy="251"/>
          </a:xfrm>
        </p:grpSpPr>
        <p:cxnSp>
          <p:nvCxnSpPr>
            <p:cNvPr id="8275" name="Google Shape;8275;p129"/>
            <p:cNvCxnSpPr/>
            <p:nvPr/>
          </p:nvCxnSpPr>
          <p:spPr>
            <a:xfrm rot="10800000">
              <a:off x="2187" y="1673"/>
              <a:ext cx="1344" cy="0"/>
            </a:xfrm>
            <a:prstGeom prst="straightConnector1">
              <a:avLst/>
            </a:prstGeom>
            <a:noFill/>
            <a:ln cap="flat" cmpd="sng" w="9525">
              <a:solidFill>
                <a:srgbClr val="000000"/>
              </a:solidFill>
              <a:prstDash val="solid"/>
              <a:round/>
              <a:headEnd len="med" w="med" type="triangle"/>
              <a:tailEnd len="med" w="med" type="none"/>
            </a:ln>
          </p:spPr>
        </p:cxnSp>
        <p:sp>
          <p:nvSpPr>
            <p:cNvPr id="8276" name="Google Shape;8276;p129"/>
            <p:cNvSpPr txBox="1"/>
            <p:nvPr/>
          </p:nvSpPr>
          <p:spPr>
            <a:xfrm>
              <a:off x="2740" y="1543"/>
              <a:ext cx="171" cy="13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00"/>
                <a:buFont typeface="Noto Sans Symbols"/>
                <a:buNone/>
              </a:pPr>
              <a:r>
                <a:rPr b="0" i="0" lang="en-US" sz="1000" u="none" cap="none" strike="noStrike">
                  <a:solidFill>
                    <a:srgbClr val="000000"/>
                  </a:solidFill>
                  <a:latin typeface="Noto Sans Symbols"/>
                  <a:ea typeface="Noto Sans Symbols"/>
                  <a:cs typeface="Noto Sans Symbols"/>
                  <a:sym typeface="Noto Sans Symbols"/>
                </a:rPr>
                <a:t>Λ</a:t>
              </a:r>
              <a:endParaRPr b="0" i="0" sz="1200" u="none" cap="none" strike="noStrike">
                <a:solidFill>
                  <a:srgbClr val="000000"/>
                </a:solidFill>
                <a:latin typeface="Noto Sans Symbols"/>
                <a:ea typeface="Noto Sans Symbols"/>
                <a:cs typeface="Noto Sans Symbols"/>
                <a:sym typeface="Noto Sans Symbols"/>
              </a:endParaRPr>
            </a:p>
          </p:txBody>
        </p:sp>
        <p:cxnSp>
          <p:nvCxnSpPr>
            <p:cNvPr id="8277" name="Google Shape;8277;p129"/>
            <p:cNvCxnSpPr/>
            <p:nvPr/>
          </p:nvCxnSpPr>
          <p:spPr>
            <a:xfrm>
              <a:off x="2572" y="1554"/>
              <a:ext cx="535" cy="0"/>
            </a:xfrm>
            <a:prstGeom prst="straightConnector1">
              <a:avLst/>
            </a:prstGeom>
            <a:noFill/>
            <a:ln cap="flat" cmpd="sng" w="9525">
              <a:solidFill>
                <a:srgbClr val="000000"/>
              </a:solidFill>
              <a:prstDash val="solid"/>
              <a:round/>
              <a:headEnd len="med" w="med" type="none"/>
              <a:tailEnd len="med" w="med" type="none"/>
            </a:ln>
          </p:spPr>
        </p:cxnSp>
        <p:grpSp>
          <p:nvGrpSpPr>
            <p:cNvPr id="8278" name="Google Shape;8278;p129"/>
            <p:cNvGrpSpPr/>
            <p:nvPr/>
          </p:nvGrpSpPr>
          <p:grpSpPr>
            <a:xfrm>
              <a:off x="2486" y="1427"/>
              <a:ext cx="694" cy="154"/>
              <a:chOff x="2458" y="1450"/>
              <a:chExt cx="694" cy="154"/>
            </a:xfrm>
          </p:grpSpPr>
          <p:sp>
            <p:nvSpPr>
              <p:cNvPr id="8279" name="Google Shape;8279;p129"/>
              <p:cNvSpPr txBox="1"/>
              <p:nvPr/>
            </p:nvSpPr>
            <p:spPr>
              <a:xfrm>
                <a:off x="2458" y="1450"/>
                <a:ext cx="69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cwnd &gt; ssthresh</a:t>
                </a:r>
                <a:endParaRPr/>
              </a:p>
            </p:txBody>
          </p:sp>
          <p:cxnSp>
            <p:nvCxnSpPr>
              <p:cNvPr id="8280" name="Google Shape;8280;p129"/>
              <p:cNvCxnSpPr/>
              <p:nvPr/>
            </p:nvCxnSpPr>
            <p:spPr>
              <a:xfrm>
                <a:off x="2724" y="1557"/>
                <a:ext cx="47"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8281" name="Google Shape;8281;p129"/>
          <p:cNvGrpSpPr/>
          <p:nvPr/>
        </p:nvGrpSpPr>
        <p:grpSpPr>
          <a:xfrm>
            <a:off x="7118352" y="1429657"/>
            <a:ext cx="2782888" cy="2398713"/>
            <a:chOff x="3476" y="786"/>
            <a:chExt cx="1753" cy="1511"/>
          </a:xfrm>
        </p:grpSpPr>
        <p:grpSp>
          <p:nvGrpSpPr>
            <p:cNvPr id="8282" name="Google Shape;8282;p129"/>
            <p:cNvGrpSpPr/>
            <p:nvPr/>
          </p:nvGrpSpPr>
          <p:grpSpPr>
            <a:xfrm>
              <a:off x="3602" y="1330"/>
              <a:ext cx="820" cy="754"/>
              <a:chOff x="2293" y="2021"/>
              <a:chExt cx="820" cy="754"/>
            </a:xfrm>
          </p:grpSpPr>
          <p:sp>
            <p:nvSpPr>
              <p:cNvPr id="8283" name="Google Shape;8283;p129"/>
              <p:cNvSpPr/>
              <p:nvPr/>
            </p:nvSpPr>
            <p:spPr>
              <a:xfrm>
                <a:off x="2293" y="2021"/>
                <a:ext cx="800" cy="754"/>
              </a:xfrm>
              <a:prstGeom prst="ellipse">
                <a:avLst/>
              </a:prstGeom>
              <a:solidFill>
                <a:srgbClr val="00CC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84" name="Google Shape;8284;p129"/>
              <p:cNvSpPr txBox="1"/>
              <p:nvPr/>
            </p:nvSpPr>
            <p:spPr>
              <a:xfrm>
                <a:off x="2294" y="2191"/>
                <a:ext cx="819" cy="58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congestion</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avoidance </a:t>
                </a:r>
                <a:endParaRPr/>
              </a:p>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000000"/>
                  </a:solidFill>
                  <a:latin typeface="Arial"/>
                  <a:ea typeface="Arial"/>
                  <a:cs typeface="Arial"/>
                  <a:sym typeface="Arial"/>
                </a:endParaRPr>
              </a:p>
            </p:txBody>
          </p:sp>
        </p:grpSp>
        <p:grpSp>
          <p:nvGrpSpPr>
            <p:cNvPr id="8285" name="Google Shape;8285;p129"/>
            <p:cNvGrpSpPr/>
            <p:nvPr/>
          </p:nvGrpSpPr>
          <p:grpSpPr>
            <a:xfrm>
              <a:off x="3476" y="786"/>
              <a:ext cx="1496" cy="575"/>
              <a:chOff x="3499" y="904"/>
              <a:chExt cx="1496" cy="575"/>
            </a:xfrm>
          </p:grpSpPr>
          <p:sp>
            <p:nvSpPr>
              <p:cNvPr id="8286" name="Google Shape;8286;p129"/>
              <p:cNvSpPr txBox="1"/>
              <p:nvPr/>
            </p:nvSpPr>
            <p:spPr>
              <a:xfrm>
                <a:off x="3499" y="1037"/>
                <a:ext cx="1496" cy="44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cwnd + MSS    (MSS/cwnd)</a:t>
                </a:r>
                <a:endParaRPr/>
              </a:p>
              <a:p>
                <a:pPr indent="0" lvl="0" marL="0" marR="0" rtl="0" algn="ctr">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ctr">
                  <a:lnSpc>
                    <a:spcPct val="9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transmit new segment(s), as allowed</a:t>
                </a:r>
                <a:endParaRPr/>
              </a:p>
              <a:p>
                <a:pPr indent="0" lvl="0" marL="0" marR="0" rtl="0" algn="ctr">
                  <a:lnSpc>
                    <a:spcPct val="80000"/>
                  </a:lnSpc>
                  <a:spcBef>
                    <a:spcPts val="0"/>
                  </a:spcBef>
                  <a:spcAft>
                    <a:spcPts val="0"/>
                  </a:spcAft>
                  <a:buClr>
                    <a:schemeClr val="dk1"/>
                  </a:buClr>
                  <a:buSzPts val="1400"/>
                  <a:buFont typeface="Tahoma"/>
                  <a:buNone/>
                </a:pPr>
                <a:r>
                  <a:t/>
                </a:r>
                <a:endParaRPr b="0" i="1" sz="1400" u="none" cap="none" strike="noStrike">
                  <a:solidFill>
                    <a:srgbClr val="000000"/>
                  </a:solidFill>
                  <a:latin typeface="Arial"/>
                  <a:ea typeface="Arial"/>
                  <a:cs typeface="Arial"/>
                  <a:sym typeface="Arial"/>
                </a:endParaRPr>
              </a:p>
            </p:txBody>
          </p:sp>
          <p:cxnSp>
            <p:nvCxnSpPr>
              <p:cNvPr id="8287" name="Google Shape;8287;p129"/>
              <p:cNvCxnSpPr/>
              <p:nvPr/>
            </p:nvCxnSpPr>
            <p:spPr>
              <a:xfrm>
                <a:off x="3976" y="1054"/>
                <a:ext cx="535" cy="0"/>
              </a:xfrm>
              <a:prstGeom prst="straightConnector1">
                <a:avLst/>
              </a:prstGeom>
              <a:noFill/>
              <a:ln cap="flat" cmpd="sng" w="9525">
                <a:solidFill>
                  <a:srgbClr val="000000"/>
                </a:solidFill>
                <a:prstDash val="solid"/>
                <a:round/>
                <a:headEnd len="med" w="med" type="none"/>
                <a:tailEnd len="med" w="med" type="none"/>
              </a:ln>
            </p:spPr>
          </p:cxnSp>
          <p:sp>
            <p:nvSpPr>
              <p:cNvPr id="8288" name="Google Shape;8288;p129"/>
              <p:cNvSpPr txBox="1"/>
              <p:nvPr/>
            </p:nvSpPr>
            <p:spPr>
              <a:xfrm>
                <a:off x="3974" y="915"/>
                <a:ext cx="471"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new ACK</a:t>
                </a:r>
                <a:endParaRPr/>
              </a:p>
            </p:txBody>
          </p:sp>
          <p:sp>
            <p:nvSpPr>
              <p:cNvPr id="8289" name="Google Shape;8289;p129"/>
              <p:cNvSpPr txBox="1"/>
              <p:nvPr/>
            </p:nvSpPr>
            <p:spPr>
              <a:xfrm>
                <a:off x="4311" y="904"/>
                <a:ext cx="173"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a:t>
                </a:r>
                <a:endParaRPr/>
              </a:p>
            </p:txBody>
          </p:sp>
        </p:grpSp>
        <p:sp>
          <p:nvSpPr>
            <p:cNvPr id="8290" name="Google Shape;8290;p129"/>
            <p:cNvSpPr/>
            <p:nvPr/>
          </p:nvSpPr>
          <p:spPr>
            <a:xfrm rot="9705213">
              <a:off x="4212" y="1145"/>
              <a:ext cx="333" cy="452"/>
            </a:xfrm>
            <a:custGeom>
              <a:rect b="b" l="l" r="r" t="t"/>
              <a:pathLst>
                <a:path extrusionOk="0" h="452" w="376">
                  <a:moveTo>
                    <a:pt x="376" y="306"/>
                  </a:moveTo>
                  <a:cubicBezTo>
                    <a:pt x="332" y="380"/>
                    <a:pt x="164" y="452"/>
                    <a:pt x="82" y="269"/>
                  </a:cubicBezTo>
                  <a:cubicBezTo>
                    <a:pt x="0" y="86"/>
                    <a:pt x="66" y="18"/>
                    <a:pt x="208" y="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291" name="Google Shape;8291;p129"/>
            <p:cNvGrpSpPr/>
            <p:nvPr/>
          </p:nvGrpSpPr>
          <p:grpSpPr>
            <a:xfrm>
              <a:off x="4489" y="1909"/>
              <a:ext cx="740" cy="388"/>
              <a:chOff x="4254" y="2922"/>
              <a:chExt cx="740" cy="388"/>
            </a:xfrm>
          </p:grpSpPr>
          <p:sp>
            <p:nvSpPr>
              <p:cNvPr id="8292" name="Google Shape;8292;p129"/>
              <p:cNvSpPr txBox="1"/>
              <p:nvPr/>
            </p:nvSpPr>
            <p:spPr>
              <a:xfrm>
                <a:off x="4254" y="3062"/>
                <a:ext cx="740" cy="24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a:t>
                </a:r>
                <a:endParaRPr/>
              </a:p>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cxnSp>
            <p:nvCxnSpPr>
              <p:cNvPr id="8293" name="Google Shape;8293;p129"/>
              <p:cNvCxnSpPr/>
              <p:nvPr/>
            </p:nvCxnSpPr>
            <p:spPr>
              <a:xfrm>
                <a:off x="4353" y="3071"/>
                <a:ext cx="535" cy="0"/>
              </a:xfrm>
              <a:prstGeom prst="straightConnector1">
                <a:avLst/>
              </a:prstGeom>
              <a:noFill/>
              <a:ln cap="flat" cmpd="sng" w="9525">
                <a:solidFill>
                  <a:srgbClr val="000000"/>
                </a:solidFill>
                <a:prstDash val="solid"/>
                <a:round/>
                <a:headEnd len="med" w="med" type="none"/>
                <a:tailEnd len="med" w="med" type="none"/>
              </a:ln>
            </p:spPr>
          </p:cxnSp>
          <p:sp>
            <p:nvSpPr>
              <p:cNvPr id="8294" name="Google Shape;8294;p129"/>
              <p:cNvSpPr txBox="1"/>
              <p:nvPr/>
            </p:nvSpPr>
            <p:spPr>
              <a:xfrm>
                <a:off x="4295" y="2922"/>
                <a:ext cx="656"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duplicate ACK</a:t>
                </a:r>
                <a:endParaRPr/>
              </a:p>
            </p:txBody>
          </p:sp>
        </p:grpSp>
        <p:sp>
          <p:nvSpPr>
            <p:cNvPr id="8295" name="Google Shape;8295;p129"/>
            <p:cNvSpPr/>
            <p:nvPr/>
          </p:nvSpPr>
          <p:spPr>
            <a:xfrm rot="-7516021">
              <a:off x="4290" y="1673"/>
              <a:ext cx="333" cy="452"/>
            </a:xfrm>
            <a:custGeom>
              <a:rect b="b" l="l" r="r" t="t"/>
              <a:pathLst>
                <a:path extrusionOk="0" h="452" w="376">
                  <a:moveTo>
                    <a:pt x="376" y="306"/>
                  </a:moveTo>
                  <a:cubicBezTo>
                    <a:pt x="332" y="380"/>
                    <a:pt x="164" y="452"/>
                    <a:pt x="82" y="269"/>
                  </a:cubicBezTo>
                  <a:cubicBezTo>
                    <a:pt x="0" y="86"/>
                    <a:pt x="66" y="18"/>
                    <a:pt x="208" y="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296" name="Google Shape;8296;p129"/>
          <p:cNvGrpSpPr/>
          <p:nvPr/>
        </p:nvGrpSpPr>
        <p:grpSpPr>
          <a:xfrm>
            <a:off x="5629276" y="4880882"/>
            <a:ext cx="3417888" cy="1758950"/>
            <a:chOff x="2538" y="2960"/>
            <a:chExt cx="2153" cy="1108"/>
          </a:xfrm>
        </p:grpSpPr>
        <p:grpSp>
          <p:nvGrpSpPr>
            <p:cNvPr id="8297" name="Google Shape;8297;p129"/>
            <p:cNvGrpSpPr/>
            <p:nvPr/>
          </p:nvGrpSpPr>
          <p:grpSpPr>
            <a:xfrm>
              <a:off x="2538" y="2960"/>
              <a:ext cx="800" cy="767"/>
              <a:chOff x="2454" y="3045"/>
              <a:chExt cx="800" cy="767"/>
            </a:xfrm>
          </p:grpSpPr>
          <p:sp>
            <p:nvSpPr>
              <p:cNvPr id="8298" name="Google Shape;8298;p129"/>
              <p:cNvSpPr/>
              <p:nvPr/>
            </p:nvSpPr>
            <p:spPr>
              <a:xfrm>
                <a:off x="2454" y="3045"/>
                <a:ext cx="800" cy="754"/>
              </a:xfrm>
              <a:prstGeom prst="ellipse">
                <a:avLst/>
              </a:prstGeom>
              <a:solidFill>
                <a:srgbClr val="00CC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99" name="Google Shape;8299;p129"/>
              <p:cNvSpPr txBox="1"/>
              <p:nvPr/>
            </p:nvSpPr>
            <p:spPr>
              <a:xfrm>
                <a:off x="2794" y="3212"/>
                <a:ext cx="161" cy="4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Arial"/>
                  <a:ea typeface="Arial"/>
                  <a:cs typeface="Arial"/>
                  <a:sym typeface="Arial"/>
                </a:endParaRPr>
              </a:p>
            </p:txBody>
          </p:sp>
          <p:sp>
            <p:nvSpPr>
              <p:cNvPr id="8300" name="Google Shape;8300;p129"/>
              <p:cNvSpPr txBox="1"/>
              <p:nvPr/>
            </p:nvSpPr>
            <p:spPr>
              <a:xfrm>
                <a:off x="2466" y="3172"/>
                <a:ext cx="780" cy="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fast</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recovery </a:t>
                </a:r>
                <a:endParaRPr/>
              </a:p>
              <a:p>
                <a:pPr indent="0" lvl="0" marL="0" marR="0" rtl="0" algn="ct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Arial"/>
                  <a:ea typeface="Arial"/>
                  <a:cs typeface="Arial"/>
                  <a:sym typeface="Arial"/>
                </a:endParaRPr>
              </a:p>
            </p:txBody>
          </p:sp>
        </p:grpSp>
        <p:sp>
          <p:nvSpPr>
            <p:cNvPr id="8301" name="Google Shape;8301;p129"/>
            <p:cNvSpPr/>
            <p:nvPr/>
          </p:nvSpPr>
          <p:spPr>
            <a:xfrm>
              <a:off x="2775" y="3708"/>
              <a:ext cx="384" cy="161"/>
            </a:xfrm>
            <a:custGeom>
              <a:rect b="b" l="l" r="r" t="t"/>
              <a:pathLst>
                <a:path extrusionOk="0" h="161" w="384">
                  <a:moveTo>
                    <a:pt x="317" y="0"/>
                  </a:moveTo>
                  <a:cubicBezTo>
                    <a:pt x="384" y="42"/>
                    <a:pt x="378" y="149"/>
                    <a:pt x="189" y="155"/>
                  </a:cubicBezTo>
                  <a:cubicBezTo>
                    <a:pt x="0" y="161"/>
                    <a:pt x="3" y="87"/>
                    <a:pt x="59" y="13"/>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302" name="Google Shape;8302;p129"/>
            <p:cNvGrpSpPr/>
            <p:nvPr/>
          </p:nvGrpSpPr>
          <p:grpSpPr>
            <a:xfrm>
              <a:off x="3191" y="3592"/>
              <a:ext cx="1500" cy="476"/>
              <a:chOff x="3542" y="3496"/>
              <a:chExt cx="1500" cy="476"/>
            </a:xfrm>
          </p:grpSpPr>
          <p:sp>
            <p:nvSpPr>
              <p:cNvPr id="8303" name="Google Shape;8303;p129"/>
              <p:cNvSpPr txBox="1"/>
              <p:nvPr/>
            </p:nvSpPr>
            <p:spPr>
              <a:xfrm>
                <a:off x="3546" y="3632"/>
                <a:ext cx="1496" cy="34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cwnd + MSS</a:t>
                </a:r>
                <a:endParaRPr/>
              </a:p>
              <a:p>
                <a:pPr indent="0" lvl="0" marL="0" marR="0" rtl="0" algn="l">
                  <a:lnSpc>
                    <a:spcPct val="85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transmit new segment(s), as allowed</a:t>
                </a:r>
                <a:endParaRPr/>
              </a:p>
              <a:p>
                <a:pPr indent="0" lvl="0" marL="0" marR="0" rtl="0" algn="l">
                  <a:lnSpc>
                    <a:spcPct val="80000"/>
                  </a:lnSpc>
                  <a:spcBef>
                    <a:spcPts val="0"/>
                  </a:spcBef>
                  <a:spcAft>
                    <a:spcPts val="0"/>
                  </a:spcAft>
                  <a:buClr>
                    <a:schemeClr val="dk1"/>
                  </a:buClr>
                  <a:buSzPts val="1400"/>
                  <a:buFont typeface="Tahoma"/>
                  <a:buNone/>
                </a:pPr>
                <a:r>
                  <a:t/>
                </a:r>
                <a:endParaRPr b="0" i="1" sz="1400" u="none" cap="none" strike="noStrike">
                  <a:solidFill>
                    <a:srgbClr val="808080"/>
                  </a:solidFill>
                  <a:latin typeface="Arial"/>
                  <a:ea typeface="Arial"/>
                  <a:cs typeface="Arial"/>
                  <a:sym typeface="Arial"/>
                </a:endParaRPr>
              </a:p>
            </p:txBody>
          </p:sp>
          <p:cxnSp>
            <p:nvCxnSpPr>
              <p:cNvPr id="8304" name="Google Shape;8304;p129"/>
              <p:cNvCxnSpPr/>
              <p:nvPr/>
            </p:nvCxnSpPr>
            <p:spPr>
              <a:xfrm>
                <a:off x="3600" y="3645"/>
                <a:ext cx="535" cy="0"/>
              </a:xfrm>
              <a:prstGeom prst="straightConnector1">
                <a:avLst/>
              </a:prstGeom>
              <a:noFill/>
              <a:ln cap="flat" cmpd="sng" w="9525">
                <a:solidFill>
                  <a:srgbClr val="000000"/>
                </a:solidFill>
                <a:prstDash val="solid"/>
                <a:round/>
                <a:headEnd len="med" w="med" type="none"/>
                <a:tailEnd len="med" w="med" type="none"/>
              </a:ln>
            </p:spPr>
          </p:cxnSp>
          <p:sp>
            <p:nvSpPr>
              <p:cNvPr id="8305" name="Google Shape;8305;p129"/>
              <p:cNvSpPr txBox="1"/>
              <p:nvPr/>
            </p:nvSpPr>
            <p:spPr>
              <a:xfrm>
                <a:off x="3542" y="3496"/>
                <a:ext cx="656"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duplicate ACK</a:t>
                </a:r>
                <a:endParaRPr/>
              </a:p>
            </p:txBody>
          </p:sp>
        </p:grpSp>
      </p:grpSp>
      <p:grpSp>
        <p:nvGrpSpPr>
          <p:cNvPr id="8306" name="Google Shape;8306;p129"/>
          <p:cNvGrpSpPr/>
          <p:nvPr/>
        </p:nvGrpSpPr>
        <p:grpSpPr>
          <a:xfrm>
            <a:off x="2427288" y="3561671"/>
            <a:ext cx="3935413" cy="1974851"/>
            <a:chOff x="521" y="2129"/>
            <a:chExt cx="2479" cy="1244"/>
          </a:xfrm>
        </p:grpSpPr>
        <p:grpSp>
          <p:nvGrpSpPr>
            <p:cNvPr id="8307" name="Google Shape;8307;p129"/>
            <p:cNvGrpSpPr/>
            <p:nvPr/>
          </p:nvGrpSpPr>
          <p:grpSpPr>
            <a:xfrm>
              <a:off x="521" y="2818"/>
              <a:ext cx="1205" cy="555"/>
              <a:chOff x="380" y="2768"/>
              <a:chExt cx="1205" cy="555"/>
            </a:xfrm>
          </p:grpSpPr>
          <p:sp>
            <p:nvSpPr>
              <p:cNvPr id="8308" name="Google Shape;8308;p129"/>
              <p:cNvSpPr txBox="1"/>
              <p:nvPr/>
            </p:nvSpPr>
            <p:spPr>
              <a:xfrm>
                <a:off x="380" y="2912"/>
                <a:ext cx="1155" cy="411"/>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cwnd/2</a:t>
                </a:r>
                <a:endParaRPr/>
              </a:p>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ssthresh + 3</a:t>
                </a:r>
                <a:endParaRPr/>
              </a:p>
              <a:p>
                <a:pPr indent="0" lvl="0" marL="0" marR="0" rtl="0" algn="r">
                  <a:lnSpc>
                    <a:spcPct val="8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endParaRPr/>
              </a:p>
              <a:p>
                <a:pPr indent="0" lvl="0" marL="0" marR="0" rtl="0" algn="r">
                  <a:lnSpc>
                    <a:spcPct val="80000"/>
                  </a:lnSpc>
                  <a:spcBef>
                    <a:spcPts val="0"/>
                  </a:spcBef>
                  <a:spcAft>
                    <a:spcPts val="0"/>
                  </a:spcAft>
                  <a:buClr>
                    <a:schemeClr val="dk1"/>
                  </a:buClr>
                  <a:buSzPts val="1400"/>
                  <a:buFont typeface="Tahoma"/>
                  <a:buNone/>
                </a:pPr>
                <a:r>
                  <a:t/>
                </a:r>
                <a:endParaRPr b="0" i="0" sz="1400" u="none" cap="none" strike="noStrike">
                  <a:solidFill>
                    <a:srgbClr val="808080"/>
                  </a:solidFill>
                  <a:latin typeface="Arial"/>
                  <a:ea typeface="Arial"/>
                  <a:cs typeface="Arial"/>
                  <a:sym typeface="Arial"/>
                </a:endParaRPr>
              </a:p>
            </p:txBody>
          </p:sp>
          <p:cxnSp>
            <p:nvCxnSpPr>
              <p:cNvPr id="8309" name="Google Shape;8309;p129"/>
              <p:cNvCxnSpPr/>
              <p:nvPr/>
            </p:nvCxnSpPr>
            <p:spPr>
              <a:xfrm>
                <a:off x="925" y="2913"/>
                <a:ext cx="535" cy="0"/>
              </a:xfrm>
              <a:prstGeom prst="straightConnector1">
                <a:avLst/>
              </a:prstGeom>
              <a:noFill/>
              <a:ln cap="flat" cmpd="sng" w="9525">
                <a:solidFill>
                  <a:srgbClr val="000000"/>
                </a:solidFill>
                <a:prstDash val="solid"/>
                <a:round/>
                <a:headEnd len="med" w="med" type="none"/>
                <a:tailEnd len="med" w="med" type="none"/>
              </a:ln>
            </p:spPr>
          </p:cxnSp>
          <p:sp>
            <p:nvSpPr>
              <p:cNvPr id="8310" name="Google Shape;8310;p129"/>
              <p:cNvSpPr txBox="1"/>
              <p:nvPr/>
            </p:nvSpPr>
            <p:spPr>
              <a:xfrm>
                <a:off x="751" y="2768"/>
                <a:ext cx="834"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3</a:t>
                </a:r>
                <a:endParaRPr/>
              </a:p>
            </p:txBody>
          </p:sp>
        </p:grpSp>
        <p:grpSp>
          <p:nvGrpSpPr>
            <p:cNvPr id="8311" name="Google Shape;8311;p129"/>
            <p:cNvGrpSpPr/>
            <p:nvPr/>
          </p:nvGrpSpPr>
          <p:grpSpPr>
            <a:xfrm>
              <a:off x="1813" y="2454"/>
              <a:ext cx="1187" cy="550"/>
              <a:chOff x="419" y="2872"/>
              <a:chExt cx="1187" cy="550"/>
            </a:xfrm>
          </p:grpSpPr>
          <p:sp>
            <p:nvSpPr>
              <p:cNvPr id="8312" name="Google Shape;8312;p129"/>
              <p:cNvSpPr txBox="1"/>
              <p:nvPr/>
            </p:nvSpPr>
            <p:spPr>
              <a:xfrm>
                <a:off x="439" y="2872"/>
                <a:ext cx="395"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timeout</a:t>
                </a:r>
                <a:endParaRPr/>
              </a:p>
            </p:txBody>
          </p:sp>
          <p:sp>
            <p:nvSpPr>
              <p:cNvPr id="8313" name="Google Shape;8313;p129"/>
              <p:cNvSpPr txBox="1"/>
              <p:nvPr/>
            </p:nvSpPr>
            <p:spPr>
              <a:xfrm>
                <a:off x="419" y="2989"/>
                <a:ext cx="1187" cy="43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 cwnd/2</a:t>
                </a:r>
                <a:endParaRPr/>
              </a:p>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1 </a:t>
                </a:r>
                <a:endParaRPr/>
              </a:p>
              <a:p>
                <a:pPr indent="0" lvl="0" marL="0" marR="0" rtl="0" algn="l">
                  <a:lnSpc>
                    <a:spcPct val="85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l">
                  <a:lnSpc>
                    <a:spcPct val="85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r>
                  <a:rPr b="0" i="0" lang="en-US" sz="1400" u="none" cap="none" strike="noStrike">
                    <a:solidFill>
                      <a:srgbClr val="000000"/>
                    </a:solidFill>
                    <a:latin typeface="Arial"/>
                    <a:ea typeface="Arial"/>
                    <a:cs typeface="Arial"/>
                    <a:sym typeface="Arial"/>
                  </a:rPr>
                  <a:t> </a:t>
                </a:r>
                <a:endParaRPr/>
              </a:p>
            </p:txBody>
          </p:sp>
          <p:cxnSp>
            <p:nvCxnSpPr>
              <p:cNvPr id="8314" name="Google Shape;8314;p129"/>
              <p:cNvCxnSpPr/>
              <p:nvPr/>
            </p:nvCxnSpPr>
            <p:spPr>
              <a:xfrm>
                <a:off x="471" y="3014"/>
                <a:ext cx="697" cy="0"/>
              </a:xfrm>
              <a:prstGeom prst="straightConnector1">
                <a:avLst/>
              </a:prstGeom>
              <a:noFill/>
              <a:ln cap="flat" cmpd="sng" w="9525">
                <a:solidFill>
                  <a:srgbClr val="000000"/>
                </a:solidFill>
                <a:prstDash val="solid"/>
                <a:round/>
                <a:headEnd len="med" w="med" type="none"/>
                <a:tailEnd len="med" w="med" type="none"/>
              </a:ln>
            </p:spPr>
          </p:cxnSp>
        </p:grpSp>
        <p:sp>
          <p:nvSpPr>
            <p:cNvPr id="8315" name="Google Shape;8315;p129"/>
            <p:cNvSpPr/>
            <p:nvPr/>
          </p:nvSpPr>
          <p:spPr>
            <a:xfrm>
              <a:off x="1722" y="2129"/>
              <a:ext cx="740" cy="1146"/>
            </a:xfrm>
            <a:custGeom>
              <a:rect b="b" l="l" r="r" t="t"/>
              <a:pathLst>
                <a:path extrusionOk="0" h="1146" w="740">
                  <a:moveTo>
                    <a:pt x="0" y="0"/>
                  </a:moveTo>
                  <a:lnTo>
                    <a:pt x="0" y="1146"/>
                  </a:lnTo>
                  <a:lnTo>
                    <a:pt x="740" y="1146"/>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316" name="Google Shape;8316;p129"/>
            <p:cNvSpPr/>
            <p:nvPr/>
          </p:nvSpPr>
          <p:spPr>
            <a:xfrm>
              <a:off x="1791" y="2146"/>
              <a:ext cx="700" cy="1051"/>
            </a:xfrm>
            <a:custGeom>
              <a:rect b="b" l="l" r="r" t="t"/>
              <a:pathLst>
                <a:path extrusionOk="0" h="1051" w="700">
                  <a:moveTo>
                    <a:pt x="700" y="1051"/>
                  </a:moveTo>
                  <a:lnTo>
                    <a:pt x="0" y="1051"/>
                  </a:lnTo>
                  <a:lnTo>
                    <a:pt x="0" y="0"/>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317" name="Google Shape;8317;p129"/>
          <p:cNvGrpSpPr/>
          <p:nvPr/>
        </p:nvGrpSpPr>
        <p:grpSpPr>
          <a:xfrm>
            <a:off x="6951663" y="3553730"/>
            <a:ext cx="3022600" cy="1963736"/>
            <a:chOff x="3371" y="2124"/>
            <a:chExt cx="1904" cy="1237"/>
          </a:xfrm>
        </p:grpSpPr>
        <p:grpSp>
          <p:nvGrpSpPr>
            <p:cNvPr id="8318" name="Google Shape;8318;p129"/>
            <p:cNvGrpSpPr/>
            <p:nvPr/>
          </p:nvGrpSpPr>
          <p:grpSpPr>
            <a:xfrm>
              <a:off x="4120" y="2796"/>
              <a:ext cx="1155" cy="565"/>
              <a:chOff x="4142" y="2802"/>
              <a:chExt cx="1155" cy="565"/>
            </a:xfrm>
          </p:grpSpPr>
          <p:sp>
            <p:nvSpPr>
              <p:cNvPr id="8319" name="Google Shape;8319;p129"/>
              <p:cNvSpPr txBox="1"/>
              <p:nvPr/>
            </p:nvSpPr>
            <p:spPr>
              <a:xfrm>
                <a:off x="4142" y="2956"/>
                <a:ext cx="1155" cy="41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cwnd/2</a:t>
                </a:r>
                <a:endParaRPr/>
              </a:p>
              <a:p>
                <a:pPr indent="0" lvl="0" marL="0" marR="0" rtl="0" algn="l">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ssthresh + 3</a:t>
                </a:r>
                <a:endParaRPr/>
              </a:p>
              <a:p>
                <a:pPr indent="0" lvl="0" marL="0" marR="0" rtl="0" algn="l">
                  <a:lnSpc>
                    <a:spcPct val="8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endParaRPr/>
              </a:p>
              <a:p>
                <a:pPr indent="0" lvl="0" marL="0" marR="0" rtl="0" algn="l">
                  <a:lnSpc>
                    <a:spcPct val="80000"/>
                  </a:lnSpc>
                  <a:spcBef>
                    <a:spcPts val="0"/>
                  </a:spcBef>
                  <a:spcAft>
                    <a:spcPts val="0"/>
                  </a:spcAft>
                  <a:buClr>
                    <a:schemeClr val="dk1"/>
                  </a:buClr>
                  <a:buSzPts val="1400"/>
                  <a:buFont typeface="Tahoma"/>
                  <a:buNone/>
                </a:pPr>
                <a:r>
                  <a:t/>
                </a:r>
                <a:endParaRPr b="0" i="1" sz="1400" u="none" cap="none" strike="noStrike">
                  <a:solidFill>
                    <a:srgbClr val="000000"/>
                  </a:solidFill>
                  <a:latin typeface="Arial"/>
                  <a:ea typeface="Arial"/>
                  <a:cs typeface="Arial"/>
                  <a:sym typeface="Arial"/>
                </a:endParaRPr>
              </a:p>
            </p:txBody>
          </p:sp>
          <p:cxnSp>
            <p:nvCxnSpPr>
              <p:cNvPr id="8320" name="Google Shape;8320;p129"/>
              <p:cNvCxnSpPr/>
              <p:nvPr/>
            </p:nvCxnSpPr>
            <p:spPr>
              <a:xfrm>
                <a:off x="4211" y="2950"/>
                <a:ext cx="535" cy="0"/>
              </a:xfrm>
              <a:prstGeom prst="straightConnector1">
                <a:avLst/>
              </a:prstGeom>
              <a:noFill/>
              <a:ln cap="flat" cmpd="sng" w="9525">
                <a:solidFill>
                  <a:srgbClr val="000000"/>
                </a:solidFill>
                <a:prstDash val="solid"/>
                <a:round/>
                <a:headEnd len="med" w="med" type="none"/>
                <a:tailEnd len="med" w="med" type="none"/>
              </a:ln>
            </p:spPr>
          </p:cxnSp>
          <p:sp>
            <p:nvSpPr>
              <p:cNvPr id="8321" name="Google Shape;8321;p129"/>
              <p:cNvSpPr txBox="1"/>
              <p:nvPr/>
            </p:nvSpPr>
            <p:spPr>
              <a:xfrm>
                <a:off x="4154" y="2802"/>
                <a:ext cx="834"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3</a:t>
                </a:r>
                <a:endParaRPr/>
              </a:p>
            </p:txBody>
          </p:sp>
        </p:grpSp>
        <p:sp>
          <p:nvSpPr>
            <p:cNvPr id="8322" name="Google Shape;8322;p129"/>
            <p:cNvSpPr/>
            <p:nvPr/>
          </p:nvSpPr>
          <p:spPr>
            <a:xfrm flipH="1">
              <a:off x="3371" y="2124"/>
              <a:ext cx="740" cy="1146"/>
            </a:xfrm>
            <a:custGeom>
              <a:rect b="b" l="l" r="r" t="t"/>
              <a:pathLst>
                <a:path extrusionOk="0" h="1146" w="740">
                  <a:moveTo>
                    <a:pt x="0" y="0"/>
                  </a:moveTo>
                  <a:lnTo>
                    <a:pt x="0" y="1146"/>
                  </a:lnTo>
                  <a:lnTo>
                    <a:pt x="740" y="1146"/>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323" name="Google Shape;8323;p129"/>
          <p:cNvGrpSpPr/>
          <p:nvPr/>
        </p:nvGrpSpPr>
        <p:grpSpPr>
          <a:xfrm>
            <a:off x="6716713" y="3579131"/>
            <a:ext cx="1276350" cy="1689099"/>
            <a:chOff x="3223" y="2140"/>
            <a:chExt cx="804" cy="1064"/>
          </a:xfrm>
        </p:grpSpPr>
        <p:sp>
          <p:nvSpPr>
            <p:cNvPr id="8324" name="Google Shape;8324;p129"/>
            <p:cNvSpPr/>
            <p:nvPr/>
          </p:nvSpPr>
          <p:spPr>
            <a:xfrm flipH="1">
              <a:off x="3327" y="2140"/>
              <a:ext cx="700" cy="1051"/>
            </a:xfrm>
            <a:custGeom>
              <a:rect b="b" l="l" r="r" t="t"/>
              <a:pathLst>
                <a:path extrusionOk="0" h="1051" w="700">
                  <a:moveTo>
                    <a:pt x="700" y="1051"/>
                  </a:moveTo>
                  <a:lnTo>
                    <a:pt x="0" y="1051"/>
                  </a:lnTo>
                  <a:lnTo>
                    <a:pt x="0" y="0"/>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325" name="Google Shape;8325;p129"/>
            <p:cNvGrpSpPr/>
            <p:nvPr/>
          </p:nvGrpSpPr>
          <p:grpSpPr>
            <a:xfrm>
              <a:off x="3223" y="2649"/>
              <a:ext cx="785" cy="555"/>
              <a:chOff x="1015" y="3496"/>
              <a:chExt cx="785" cy="555"/>
            </a:xfrm>
          </p:grpSpPr>
          <p:sp>
            <p:nvSpPr>
              <p:cNvPr id="8326" name="Google Shape;8326;p129"/>
              <p:cNvSpPr txBox="1"/>
              <p:nvPr/>
            </p:nvSpPr>
            <p:spPr>
              <a:xfrm>
                <a:off x="1015" y="3640"/>
                <a:ext cx="785" cy="411"/>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ssthresh</a:t>
                </a:r>
                <a:endParaRPr b="0" i="0" sz="1050" u="none" cap="none" strike="noStrike">
                  <a:solidFill>
                    <a:srgbClr val="000000"/>
                  </a:solidFill>
                  <a:latin typeface="Arial"/>
                  <a:ea typeface="Arial"/>
                  <a:cs typeface="Arial"/>
                  <a:sym typeface="Arial"/>
                </a:endParaRPr>
              </a:p>
              <a:p>
                <a:pPr indent="0" lvl="0" marL="0" marR="0" rtl="0" algn="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r">
                  <a:lnSpc>
                    <a:spcPct val="80000"/>
                  </a:lnSpc>
                  <a:spcBef>
                    <a:spcPts val="0"/>
                  </a:spcBef>
                  <a:spcAft>
                    <a:spcPts val="0"/>
                  </a:spcAft>
                  <a:buClr>
                    <a:schemeClr val="dk1"/>
                  </a:buClr>
                  <a:buSzPts val="1050"/>
                  <a:buFont typeface="Tahoma"/>
                  <a:buNone/>
                </a:pPr>
                <a:r>
                  <a:t/>
                </a:r>
                <a:endParaRPr b="0" i="0" sz="1050" u="none" cap="none" strike="noStrike">
                  <a:solidFill>
                    <a:srgbClr val="000000"/>
                  </a:solidFill>
                  <a:latin typeface="Arial"/>
                  <a:ea typeface="Arial"/>
                  <a:cs typeface="Arial"/>
                  <a:sym typeface="Arial"/>
                </a:endParaRPr>
              </a:p>
              <a:p>
                <a:pPr indent="0" lvl="0" marL="0" marR="0" rtl="0" algn="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grpSp>
            <p:nvGrpSpPr>
              <p:cNvPr id="8327" name="Google Shape;8327;p129"/>
              <p:cNvGrpSpPr/>
              <p:nvPr/>
            </p:nvGrpSpPr>
            <p:grpSpPr>
              <a:xfrm>
                <a:off x="1190" y="3496"/>
                <a:ext cx="582" cy="160"/>
                <a:chOff x="1190" y="3496"/>
                <a:chExt cx="582" cy="160"/>
              </a:xfrm>
            </p:grpSpPr>
            <p:cxnSp>
              <p:nvCxnSpPr>
                <p:cNvPr id="8328" name="Google Shape;8328;p129"/>
                <p:cNvCxnSpPr/>
                <p:nvPr/>
              </p:nvCxnSpPr>
              <p:spPr>
                <a:xfrm>
                  <a:off x="1190" y="3641"/>
                  <a:ext cx="535" cy="0"/>
                </a:xfrm>
                <a:prstGeom prst="straightConnector1">
                  <a:avLst/>
                </a:prstGeom>
                <a:noFill/>
                <a:ln cap="flat" cmpd="sng" w="9525">
                  <a:solidFill>
                    <a:srgbClr val="000000"/>
                  </a:solidFill>
                  <a:prstDash val="solid"/>
                  <a:round/>
                  <a:headEnd len="med" w="med" type="none"/>
                  <a:tailEnd len="med" w="med" type="none"/>
                </a:ln>
              </p:spPr>
            </p:cxnSp>
            <p:sp>
              <p:nvSpPr>
                <p:cNvPr id="8329" name="Google Shape;8329;p129"/>
                <p:cNvSpPr txBox="1"/>
                <p:nvPr/>
              </p:nvSpPr>
              <p:spPr>
                <a:xfrm>
                  <a:off x="1287" y="3496"/>
                  <a:ext cx="485" cy="1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New ACK</a:t>
                  </a:r>
                  <a:endParaRPr/>
                </a:p>
              </p:txBody>
            </p:sp>
          </p:grpSp>
        </p:grpSp>
      </p:grpSp>
      <p:grpSp>
        <p:nvGrpSpPr>
          <p:cNvPr id="8330" name="Google Shape;8330;p129"/>
          <p:cNvGrpSpPr/>
          <p:nvPr/>
        </p:nvGrpSpPr>
        <p:grpSpPr>
          <a:xfrm>
            <a:off x="2386012" y="1545544"/>
            <a:ext cx="5038723" cy="2706689"/>
            <a:chOff x="495" y="859"/>
            <a:chExt cx="3174" cy="1705"/>
          </a:xfrm>
        </p:grpSpPr>
        <p:grpSp>
          <p:nvGrpSpPr>
            <p:cNvPr id="8331" name="Google Shape;8331;p129"/>
            <p:cNvGrpSpPr/>
            <p:nvPr/>
          </p:nvGrpSpPr>
          <p:grpSpPr>
            <a:xfrm>
              <a:off x="1329" y="1320"/>
              <a:ext cx="800" cy="754"/>
              <a:chOff x="996" y="1773"/>
              <a:chExt cx="800" cy="754"/>
            </a:xfrm>
          </p:grpSpPr>
          <p:sp>
            <p:nvSpPr>
              <p:cNvPr id="8332" name="Google Shape;8332;p129"/>
              <p:cNvSpPr/>
              <p:nvPr/>
            </p:nvSpPr>
            <p:spPr>
              <a:xfrm>
                <a:off x="996" y="1773"/>
                <a:ext cx="800" cy="754"/>
              </a:xfrm>
              <a:prstGeom prst="ellipse">
                <a:avLst/>
              </a:prstGeom>
              <a:solidFill>
                <a:srgbClr val="00CC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333" name="Google Shape;8333;p129"/>
              <p:cNvSpPr txBox="1"/>
              <p:nvPr/>
            </p:nvSpPr>
            <p:spPr>
              <a:xfrm>
                <a:off x="1159" y="1946"/>
                <a:ext cx="485" cy="4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slow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start</a:t>
                </a:r>
                <a:endParaRPr/>
              </a:p>
            </p:txBody>
          </p:sp>
        </p:grpSp>
        <p:grpSp>
          <p:nvGrpSpPr>
            <p:cNvPr id="8334" name="Google Shape;8334;p129"/>
            <p:cNvGrpSpPr/>
            <p:nvPr/>
          </p:nvGrpSpPr>
          <p:grpSpPr>
            <a:xfrm>
              <a:off x="496" y="2026"/>
              <a:ext cx="1187" cy="538"/>
              <a:chOff x="384" y="2713"/>
              <a:chExt cx="1187" cy="538"/>
            </a:xfrm>
          </p:grpSpPr>
          <p:sp>
            <p:nvSpPr>
              <p:cNvPr id="8335" name="Google Shape;8335;p129"/>
              <p:cNvSpPr txBox="1"/>
              <p:nvPr/>
            </p:nvSpPr>
            <p:spPr>
              <a:xfrm>
                <a:off x="777" y="2713"/>
                <a:ext cx="395"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timeout</a:t>
                </a:r>
                <a:endParaRPr/>
              </a:p>
            </p:txBody>
          </p:sp>
          <p:sp>
            <p:nvSpPr>
              <p:cNvPr id="8336" name="Google Shape;8336;p129"/>
              <p:cNvSpPr txBox="1"/>
              <p:nvPr/>
            </p:nvSpPr>
            <p:spPr>
              <a:xfrm>
                <a:off x="384" y="2840"/>
                <a:ext cx="1187" cy="41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 cwnd/2 </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1 MSS</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ctr">
                  <a:lnSpc>
                    <a:spcPct val="8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retransmit missing segment</a:t>
                </a:r>
                <a:r>
                  <a:rPr b="0" i="0" lang="en-US" sz="1400" u="none" cap="none" strike="noStrike">
                    <a:solidFill>
                      <a:srgbClr val="000000"/>
                    </a:solidFill>
                    <a:latin typeface="Arial"/>
                    <a:ea typeface="Arial"/>
                    <a:cs typeface="Arial"/>
                    <a:sym typeface="Arial"/>
                  </a:rPr>
                  <a:t> </a:t>
                </a:r>
                <a:endParaRPr/>
              </a:p>
            </p:txBody>
          </p:sp>
          <p:cxnSp>
            <p:nvCxnSpPr>
              <p:cNvPr id="8337" name="Google Shape;8337;p129"/>
              <p:cNvCxnSpPr/>
              <p:nvPr/>
            </p:nvCxnSpPr>
            <p:spPr>
              <a:xfrm>
                <a:off x="709" y="2855"/>
                <a:ext cx="535" cy="0"/>
              </a:xfrm>
              <a:prstGeom prst="straightConnector1">
                <a:avLst/>
              </a:prstGeom>
              <a:noFill/>
              <a:ln cap="flat" cmpd="sng" w="9525">
                <a:solidFill>
                  <a:srgbClr val="000000"/>
                </a:solidFill>
                <a:prstDash val="solid"/>
                <a:round/>
                <a:headEnd len="med" w="med" type="none"/>
                <a:tailEnd len="med" w="med" type="none"/>
              </a:ln>
            </p:spPr>
          </p:cxnSp>
        </p:grpSp>
        <p:grpSp>
          <p:nvGrpSpPr>
            <p:cNvPr id="8338" name="Google Shape;8338;p129"/>
            <p:cNvGrpSpPr/>
            <p:nvPr/>
          </p:nvGrpSpPr>
          <p:grpSpPr>
            <a:xfrm>
              <a:off x="2173" y="960"/>
              <a:ext cx="1496" cy="561"/>
              <a:chOff x="2683" y="798"/>
              <a:chExt cx="1496" cy="561"/>
            </a:xfrm>
          </p:grpSpPr>
          <p:sp>
            <p:nvSpPr>
              <p:cNvPr id="8339" name="Google Shape;8339;p129"/>
              <p:cNvSpPr txBox="1"/>
              <p:nvPr/>
            </p:nvSpPr>
            <p:spPr>
              <a:xfrm>
                <a:off x="2683" y="917"/>
                <a:ext cx="1496" cy="44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cwnd+MSS</a:t>
                </a:r>
                <a:endParaRPr/>
              </a:p>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a:p>
              <a:p>
                <a:pPr indent="0" lvl="0" marL="0" marR="0" rtl="0" algn="l">
                  <a:lnSpc>
                    <a:spcPct val="90000"/>
                  </a:lnSpc>
                  <a:spcBef>
                    <a:spcPts val="0"/>
                  </a:spcBef>
                  <a:spcAft>
                    <a:spcPts val="0"/>
                  </a:spcAft>
                  <a:buClr>
                    <a:srgbClr val="000099"/>
                  </a:buClr>
                  <a:buSzPts val="1050"/>
                  <a:buFont typeface="Arial"/>
                  <a:buNone/>
                </a:pPr>
                <a:r>
                  <a:rPr b="0" i="1" lang="en-US" sz="1050" u="none" cap="none" strike="noStrike">
                    <a:solidFill>
                      <a:srgbClr val="000099"/>
                    </a:solidFill>
                    <a:latin typeface="Arial"/>
                    <a:ea typeface="Arial"/>
                    <a:cs typeface="Arial"/>
                    <a:sym typeface="Arial"/>
                  </a:rPr>
                  <a:t>transmit new segment(s), as allowed</a:t>
                </a:r>
                <a:endParaRPr/>
              </a:p>
              <a:p>
                <a:pPr indent="0" lvl="0" marL="0" marR="0" rtl="0" algn="l">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cxnSp>
            <p:nvCxnSpPr>
              <p:cNvPr id="8340" name="Google Shape;8340;p129"/>
              <p:cNvCxnSpPr/>
              <p:nvPr/>
            </p:nvCxnSpPr>
            <p:spPr>
              <a:xfrm>
                <a:off x="2744" y="934"/>
                <a:ext cx="535" cy="0"/>
              </a:xfrm>
              <a:prstGeom prst="straightConnector1">
                <a:avLst/>
              </a:prstGeom>
              <a:noFill/>
              <a:ln cap="flat" cmpd="sng" w="9525">
                <a:solidFill>
                  <a:srgbClr val="000000"/>
                </a:solidFill>
                <a:prstDash val="solid"/>
                <a:round/>
                <a:headEnd len="med" w="med" type="none"/>
                <a:tailEnd len="med" w="med" type="none"/>
              </a:ln>
            </p:spPr>
          </p:cxnSp>
          <p:sp>
            <p:nvSpPr>
              <p:cNvPr id="8341" name="Google Shape;8341;p129"/>
              <p:cNvSpPr txBox="1"/>
              <p:nvPr/>
            </p:nvSpPr>
            <p:spPr>
              <a:xfrm>
                <a:off x="2697" y="798"/>
                <a:ext cx="471"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new ACK</a:t>
                </a:r>
                <a:endParaRPr/>
              </a:p>
            </p:txBody>
          </p:sp>
        </p:grpSp>
        <p:sp>
          <p:nvSpPr>
            <p:cNvPr id="8342" name="Google Shape;8342;p129"/>
            <p:cNvSpPr/>
            <p:nvPr/>
          </p:nvSpPr>
          <p:spPr>
            <a:xfrm>
              <a:off x="1601" y="1129"/>
              <a:ext cx="313" cy="201"/>
            </a:xfrm>
            <a:custGeom>
              <a:rect b="b" l="l" r="r" t="t"/>
              <a:pathLst>
                <a:path extrusionOk="0" h="201" w="313">
                  <a:moveTo>
                    <a:pt x="25" y="169"/>
                  </a:moveTo>
                  <a:cubicBezTo>
                    <a:pt x="0" y="108"/>
                    <a:pt x="5" y="0"/>
                    <a:pt x="153" y="7"/>
                  </a:cubicBezTo>
                  <a:cubicBezTo>
                    <a:pt x="302" y="12"/>
                    <a:pt x="313" y="87"/>
                    <a:pt x="258" y="201"/>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343" name="Google Shape;8343;p129"/>
            <p:cNvSpPr/>
            <p:nvPr/>
          </p:nvSpPr>
          <p:spPr>
            <a:xfrm rot="2575893">
              <a:off x="1950" y="1316"/>
              <a:ext cx="313" cy="201"/>
            </a:xfrm>
            <a:custGeom>
              <a:rect b="b" l="l" r="r" t="t"/>
              <a:pathLst>
                <a:path extrusionOk="0" h="201" w="313">
                  <a:moveTo>
                    <a:pt x="25" y="169"/>
                  </a:moveTo>
                  <a:cubicBezTo>
                    <a:pt x="0" y="108"/>
                    <a:pt x="5" y="0"/>
                    <a:pt x="153" y="7"/>
                  </a:cubicBezTo>
                  <a:cubicBezTo>
                    <a:pt x="302" y="12"/>
                    <a:pt x="313" y="87"/>
                    <a:pt x="258" y="201"/>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8344" name="Google Shape;8344;p129"/>
            <p:cNvGrpSpPr/>
            <p:nvPr/>
          </p:nvGrpSpPr>
          <p:grpSpPr>
            <a:xfrm>
              <a:off x="1445" y="859"/>
              <a:ext cx="740" cy="388"/>
              <a:chOff x="4254" y="2922"/>
              <a:chExt cx="740" cy="388"/>
            </a:xfrm>
          </p:grpSpPr>
          <p:sp>
            <p:nvSpPr>
              <p:cNvPr id="8345" name="Google Shape;8345;p129"/>
              <p:cNvSpPr txBox="1"/>
              <p:nvPr/>
            </p:nvSpPr>
            <p:spPr>
              <a:xfrm>
                <a:off x="4254" y="3062"/>
                <a:ext cx="740" cy="24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a:t>
                </a:r>
                <a:endParaRPr/>
              </a:p>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Arial"/>
                  <a:ea typeface="Arial"/>
                  <a:cs typeface="Arial"/>
                  <a:sym typeface="Arial"/>
                </a:endParaRPr>
              </a:p>
            </p:txBody>
          </p:sp>
          <p:cxnSp>
            <p:nvCxnSpPr>
              <p:cNvPr id="8346" name="Google Shape;8346;p129"/>
              <p:cNvCxnSpPr/>
              <p:nvPr/>
            </p:nvCxnSpPr>
            <p:spPr>
              <a:xfrm>
                <a:off x="4353" y="3071"/>
                <a:ext cx="535" cy="0"/>
              </a:xfrm>
              <a:prstGeom prst="straightConnector1">
                <a:avLst/>
              </a:prstGeom>
              <a:noFill/>
              <a:ln cap="flat" cmpd="sng" w="9525">
                <a:solidFill>
                  <a:srgbClr val="000000"/>
                </a:solidFill>
                <a:prstDash val="solid"/>
                <a:round/>
                <a:headEnd len="med" w="med" type="none"/>
                <a:tailEnd len="med" w="med" type="none"/>
              </a:ln>
            </p:spPr>
          </p:cxnSp>
          <p:sp>
            <p:nvSpPr>
              <p:cNvPr id="8347" name="Google Shape;8347;p129"/>
              <p:cNvSpPr txBox="1"/>
              <p:nvPr/>
            </p:nvSpPr>
            <p:spPr>
              <a:xfrm>
                <a:off x="4295" y="2922"/>
                <a:ext cx="656"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duplicate ACK</a:t>
                </a:r>
                <a:endParaRPr/>
              </a:p>
            </p:txBody>
          </p:sp>
        </p:grpSp>
        <p:sp>
          <p:nvSpPr>
            <p:cNvPr id="8348" name="Google Shape;8348;p129"/>
            <p:cNvSpPr/>
            <p:nvPr/>
          </p:nvSpPr>
          <p:spPr>
            <a:xfrm rot="-8222029">
              <a:off x="1204" y="1903"/>
              <a:ext cx="313" cy="201"/>
            </a:xfrm>
            <a:custGeom>
              <a:rect b="b" l="l" r="r" t="t"/>
              <a:pathLst>
                <a:path extrusionOk="0" h="201" w="313">
                  <a:moveTo>
                    <a:pt x="25" y="169"/>
                  </a:moveTo>
                  <a:cubicBezTo>
                    <a:pt x="0" y="108"/>
                    <a:pt x="5" y="0"/>
                    <a:pt x="153" y="7"/>
                  </a:cubicBezTo>
                  <a:cubicBezTo>
                    <a:pt x="302" y="12"/>
                    <a:pt x="313" y="87"/>
                    <a:pt x="258" y="201"/>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cxnSp>
          <p:nvCxnSpPr>
            <p:cNvPr id="8349" name="Google Shape;8349;p129"/>
            <p:cNvCxnSpPr/>
            <p:nvPr/>
          </p:nvCxnSpPr>
          <p:spPr>
            <a:xfrm>
              <a:off x="536" y="1649"/>
              <a:ext cx="752" cy="1"/>
            </a:xfrm>
            <a:prstGeom prst="straightConnector1">
              <a:avLst/>
            </a:prstGeom>
            <a:noFill/>
            <a:ln cap="flat" cmpd="sng" w="9525">
              <a:solidFill>
                <a:srgbClr val="000000"/>
              </a:solidFill>
              <a:prstDash val="dash"/>
              <a:round/>
              <a:headEnd len="med" w="med" type="none"/>
              <a:tailEnd len="med" w="med" type="triangle"/>
            </a:ln>
          </p:spPr>
        </p:cxnSp>
        <p:grpSp>
          <p:nvGrpSpPr>
            <p:cNvPr id="8350" name="Google Shape;8350;p129"/>
            <p:cNvGrpSpPr/>
            <p:nvPr/>
          </p:nvGrpSpPr>
          <p:grpSpPr>
            <a:xfrm>
              <a:off x="495" y="1255"/>
              <a:ext cx="785" cy="429"/>
              <a:chOff x="517" y="936"/>
              <a:chExt cx="785" cy="429"/>
            </a:xfrm>
          </p:grpSpPr>
          <p:sp>
            <p:nvSpPr>
              <p:cNvPr id="8351" name="Google Shape;8351;p129"/>
              <p:cNvSpPr txBox="1"/>
              <p:nvPr/>
            </p:nvSpPr>
            <p:spPr>
              <a:xfrm>
                <a:off x="816" y="936"/>
                <a:ext cx="175" cy="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Noto Sans Symbols"/>
                  <a:buNone/>
                </a:pPr>
                <a:r>
                  <a:rPr b="0" i="0" lang="en-US" sz="1050" u="none" cap="none" strike="noStrike">
                    <a:solidFill>
                      <a:srgbClr val="000000"/>
                    </a:solidFill>
                    <a:latin typeface="Noto Sans Symbols"/>
                    <a:ea typeface="Noto Sans Symbols"/>
                    <a:cs typeface="Noto Sans Symbols"/>
                    <a:sym typeface="Noto Sans Symbols"/>
                  </a:rPr>
                  <a:t>Λ</a:t>
                </a:r>
                <a:endParaRPr/>
              </a:p>
            </p:txBody>
          </p:sp>
          <p:sp>
            <p:nvSpPr>
              <p:cNvPr id="8352" name="Google Shape;8352;p129"/>
              <p:cNvSpPr txBox="1"/>
              <p:nvPr/>
            </p:nvSpPr>
            <p:spPr>
              <a:xfrm>
                <a:off x="517" y="1063"/>
                <a:ext cx="785" cy="30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cwnd = 1 MSS</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ssthresh = 64 KB</a:t>
                </a:r>
                <a:endParaRPr/>
              </a:p>
              <a:p>
                <a:pPr indent="0" lvl="0" marL="0" marR="0" rtl="0" algn="ctr">
                  <a:lnSpc>
                    <a:spcPct val="80000"/>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dupACKcount = 0</a:t>
                </a:r>
                <a:endParaRPr b="0" i="0" sz="1400" u="none" cap="none" strike="noStrike">
                  <a:solidFill>
                    <a:srgbClr val="000000"/>
                  </a:solidFill>
                  <a:latin typeface="Arial"/>
                  <a:ea typeface="Arial"/>
                  <a:cs typeface="Arial"/>
                  <a:sym typeface="Arial"/>
                </a:endParaRPr>
              </a:p>
            </p:txBody>
          </p:sp>
          <p:cxnSp>
            <p:nvCxnSpPr>
              <p:cNvPr id="8353" name="Google Shape;8353;p129"/>
              <p:cNvCxnSpPr/>
              <p:nvPr/>
            </p:nvCxnSpPr>
            <p:spPr>
              <a:xfrm>
                <a:off x="641" y="1078"/>
                <a:ext cx="535"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8354" name="Google Shape;8354;p129"/>
          <p:cNvGrpSpPr/>
          <p:nvPr/>
        </p:nvGrpSpPr>
        <p:grpSpPr>
          <a:xfrm>
            <a:off x="2405063" y="2982232"/>
            <a:ext cx="3167062" cy="1312862"/>
            <a:chOff x="509" y="1766"/>
            <a:chExt cx="1995" cy="827"/>
          </a:xfrm>
        </p:grpSpPr>
        <p:pic>
          <p:nvPicPr>
            <p:cNvPr id="8355" name="Google Shape;8355;p129"/>
            <p:cNvPicPr preferRelativeResize="0"/>
            <p:nvPr/>
          </p:nvPicPr>
          <p:blipFill rotWithShape="1">
            <a:blip r:embed="rId3">
              <a:alphaModFix/>
            </a:blip>
            <a:srcRect b="0" l="0" r="0" t="0"/>
            <a:stretch/>
          </p:blipFill>
          <p:spPr>
            <a:xfrm flipH="1">
              <a:off x="509" y="1992"/>
              <a:ext cx="262" cy="245"/>
            </a:xfrm>
            <a:prstGeom prst="rect">
              <a:avLst/>
            </a:prstGeom>
            <a:noFill/>
            <a:ln>
              <a:noFill/>
            </a:ln>
          </p:spPr>
        </p:pic>
        <p:pic>
          <p:nvPicPr>
            <p:cNvPr id="8356" name="Google Shape;8356;p129"/>
            <p:cNvPicPr preferRelativeResize="0"/>
            <p:nvPr/>
          </p:nvPicPr>
          <p:blipFill rotWithShape="1">
            <a:blip r:embed="rId3">
              <a:alphaModFix/>
            </a:blip>
            <a:srcRect b="0" l="0" r="0" t="0"/>
            <a:stretch/>
          </p:blipFill>
          <p:spPr>
            <a:xfrm flipH="1">
              <a:off x="2242" y="1766"/>
              <a:ext cx="262" cy="245"/>
            </a:xfrm>
            <a:prstGeom prst="rect">
              <a:avLst/>
            </a:prstGeom>
            <a:noFill/>
            <a:ln>
              <a:noFill/>
            </a:ln>
          </p:spPr>
        </p:pic>
        <p:pic>
          <p:nvPicPr>
            <p:cNvPr id="8357" name="Google Shape;8357;p129"/>
            <p:cNvPicPr preferRelativeResize="0"/>
            <p:nvPr/>
          </p:nvPicPr>
          <p:blipFill rotWithShape="1">
            <a:blip r:embed="rId3">
              <a:alphaModFix/>
            </a:blip>
            <a:srcRect b="0" l="0" r="0" t="0"/>
            <a:stretch/>
          </p:blipFill>
          <p:spPr>
            <a:xfrm flipH="1">
              <a:off x="2164" y="2348"/>
              <a:ext cx="262" cy="245"/>
            </a:xfrm>
            <a:prstGeom prst="rect">
              <a:avLst/>
            </a:prstGeom>
            <a:noFill/>
            <a:ln>
              <a:noFill/>
            </a:ln>
          </p:spPr>
        </p:pic>
      </p:grpSp>
      <p:grpSp>
        <p:nvGrpSpPr>
          <p:cNvPr id="8358" name="Google Shape;8358;p129"/>
          <p:cNvGrpSpPr/>
          <p:nvPr/>
        </p:nvGrpSpPr>
        <p:grpSpPr>
          <a:xfrm>
            <a:off x="5102225" y="1208994"/>
            <a:ext cx="4333875" cy="3243263"/>
            <a:chOff x="2205" y="641"/>
            <a:chExt cx="2730" cy="2043"/>
          </a:xfrm>
        </p:grpSpPr>
        <p:grpSp>
          <p:nvGrpSpPr>
            <p:cNvPr id="8359" name="Google Shape;8359;p129"/>
            <p:cNvGrpSpPr/>
            <p:nvPr/>
          </p:nvGrpSpPr>
          <p:grpSpPr>
            <a:xfrm>
              <a:off x="3381" y="2381"/>
              <a:ext cx="583" cy="303"/>
              <a:chOff x="1166" y="3601"/>
              <a:chExt cx="583" cy="303"/>
            </a:xfrm>
          </p:grpSpPr>
          <p:grpSp>
            <p:nvGrpSpPr>
              <p:cNvPr id="8360" name="Google Shape;8360;p129"/>
              <p:cNvGrpSpPr/>
              <p:nvPr/>
            </p:nvGrpSpPr>
            <p:grpSpPr>
              <a:xfrm>
                <a:off x="1166" y="3601"/>
                <a:ext cx="583" cy="303"/>
                <a:chOff x="990" y="4570"/>
                <a:chExt cx="597" cy="380"/>
              </a:xfrm>
            </p:grpSpPr>
            <p:pic>
              <p:nvPicPr>
                <p:cNvPr id="8361" name="Google Shape;8361;p129"/>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8362" name="Google Shape;8362;p129"/>
                <p:cNvSpPr/>
                <p:nvPr/>
              </p:nvSpPr>
              <p:spPr>
                <a:xfrm>
                  <a:off x="1124" y="4679"/>
                  <a:ext cx="356"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63" name="Google Shape;8363;p129"/>
              <p:cNvSpPr txBox="1"/>
              <p:nvPr/>
            </p:nvSpPr>
            <p:spPr>
              <a:xfrm>
                <a:off x="1274" y="3633"/>
                <a:ext cx="397" cy="24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New</a:t>
                </a:r>
                <a:endParaRPr/>
              </a:p>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ACK!</a:t>
                </a:r>
                <a:endParaRPr/>
              </a:p>
            </p:txBody>
          </p:sp>
        </p:grpSp>
        <p:grpSp>
          <p:nvGrpSpPr>
            <p:cNvPr id="8364" name="Google Shape;8364;p129"/>
            <p:cNvGrpSpPr/>
            <p:nvPr/>
          </p:nvGrpSpPr>
          <p:grpSpPr>
            <a:xfrm>
              <a:off x="2205" y="700"/>
              <a:ext cx="583" cy="303"/>
              <a:chOff x="1166" y="3601"/>
              <a:chExt cx="583" cy="303"/>
            </a:xfrm>
          </p:grpSpPr>
          <p:grpSp>
            <p:nvGrpSpPr>
              <p:cNvPr id="8365" name="Google Shape;8365;p129"/>
              <p:cNvGrpSpPr/>
              <p:nvPr/>
            </p:nvGrpSpPr>
            <p:grpSpPr>
              <a:xfrm>
                <a:off x="1166" y="3601"/>
                <a:ext cx="583" cy="303"/>
                <a:chOff x="990" y="4570"/>
                <a:chExt cx="597" cy="380"/>
              </a:xfrm>
            </p:grpSpPr>
            <p:pic>
              <p:nvPicPr>
                <p:cNvPr id="8366" name="Google Shape;8366;p129"/>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8367" name="Google Shape;8367;p129"/>
                <p:cNvSpPr/>
                <p:nvPr/>
              </p:nvSpPr>
              <p:spPr>
                <a:xfrm>
                  <a:off x="1124" y="4679"/>
                  <a:ext cx="356"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68" name="Google Shape;8368;p129"/>
              <p:cNvSpPr txBox="1"/>
              <p:nvPr/>
            </p:nvSpPr>
            <p:spPr>
              <a:xfrm>
                <a:off x="1274" y="3633"/>
                <a:ext cx="397" cy="24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New</a:t>
                </a:r>
                <a:endParaRPr/>
              </a:p>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ACK!</a:t>
                </a:r>
                <a:endParaRPr/>
              </a:p>
            </p:txBody>
          </p:sp>
        </p:grpSp>
        <p:grpSp>
          <p:nvGrpSpPr>
            <p:cNvPr id="8369" name="Google Shape;8369;p129"/>
            <p:cNvGrpSpPr/>
            <p:nvPr/>
          </p:nvGrpSpPr>
          <p:grpSpPr>
            <a:xfrm>
              <a:off x="4352" y="641"/>
              <a:ext cx="583" cy="303"/>
              <a:chOff x="1166" y="3601"/>
              <a:chExt cx="583" cy="303"/>
            </a:xfrm>
          </p:grpSpPr>
          <p:grpSp>
            <p:nvGrpSpPr>
              <p:cNvPr id="8370" name="Google Shape;8370;p129"/>
              <p:cNvGrpSpPr/>
              <p:nvPr/>
            </p:nvGrpSpPr>
            <p:grpSpPr>
              <a:xfrm>
                <a:off x="1166" y="3601"/>
                <a:ext cx="583" cy="303"/>
                <a:chOff x="990" y="4570"/>
                <a:chExt cx="597" cy="380"/>
              </a:xfrm>
            </p:grpSpPr>
            <p:pic>
              <p:nvPicPr>
                <p:cNvPr id="8371" name="Google Shape;8371;p129"/>
                <p:cNvPicPr preferRelativeResize="0"/>
                <p:nvPr/>
              </p:nvPicPr>
              <p:blipFill rotWithShape="1">
                <a:blip r:embed="rId4">
                  <a:alphaModFix/>
                </a:blip>
                <a:srcRect b="0" l="0" r="0" t="0"/>
                <a:stretch/>
              </p:blipFill>
              <p:spPr>
                <a:xfrm>
                  <a:off x="990" y="4570"/>
                  <a:ext cx="597" cy="380"/>
                </a:xfrm>
                <a:prstGeom prst="rect">
                  <a:avLst/>
                </a:prstGeom>
                <a:noFill/>
                <a:ln>
                  <a:noFill/>
                </a:ln>
              </p:spPr>
            </p:pic>
            <p:sp>
              <p:nvSpPr>
                <p:cNvPr id="8372" name="Google Shape;8372;p129"/>
                <p:cNvSpPr/>
                <p:nvPr/>
              </p:nvSpPr>
              <p:spPr>
                <a:xfrm>
                  <a:off x="1124" y="4679"/>
                  <a:ext cx="356" cy="14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73" name="Google Shape;8373;p129"/>
              <p:cNvSpPr txBox="1"/>
              <p:nvPr/>
            </p:nvSpPr>
            <p:spPr>
              <a:xfrm>
                <a:off x="1274" y="3633"/>
                <a:ext cx="397" cy="24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New</a:t>
                </a:r>
                <a:endParaRPr/>
              </a:p>
              <a:p>
                <a:pPr indent="0" lvl="0" marL="0" marR="0" rtl="0" algn="ctr">
                  <a:lnSpc>
                    <a:spcPct val="80000"/>
                  </a:lnSpc>
                  <a:spcBef>
                    <a:spcPts val="0"/>
                  </a:spcBef>
                  <a:spcAft>
                    <a:spcPts val="0"/>
                  </a:spcAft>
                  <a:buClr>
                    <a:srgbClr val="3333CC"/>
                  </a:buClr>
                  <a:buSzPts val="1200"/>
                  <a:buFont typeface="Comic Sans MS"/>
                  <a:buNone/>
                </a:pPr>
                <a:r>
                  <a:rPr b="1" i="1" lang="en-US" sz="1200" u="none" cap="none" strike="noStrike">
                    <a:solidFill>
                      <a:srgbClr val="3333CC"/>
                    </a:solidFill>
                    <a:latin typeface="Comic Sans MS"/>
                    <a:ea typeface="Comic Sans MS"/>
                    <a:cs typeface="Comic Sans MS"/>
                    <a:sym typeface="Comic Sans MS"/>
                  </a:rPr>
                  <a:t>ACK!</a:t>
                </a:r>
                <a:endParaRPr/>
              </a:p>
            </p:txBody>
          </p:sp>
        </p:grpSp>
      </p:grpSp>
      <p:sp>
        <p:nvSpPr>
          <p:cNvPr id="8374" name="Google Shape;8374;p1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0"/>
                                        </p:tgtEl>
                                        <p:attrNameLst>
                                          <p:attrName>style.visibility</p:attrName>
                                        </p:attrNameLst>
                                      </p:cBhvr>
                                      <p:to>
                                        <p:strVal val="visible"/>
                                      </p:to>
                                    </p:set>
                                    <p:animEffect filter="fade" transition="in">
                                      <p:cBhvr>
                                        <p:cTn dur="500"/>
                                        <p:tgtEl>
                                          <p:spTgt spid="8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74"/>
                                        </p:tgtEl>
                                        <p:attrNameLst>
                                          <p:attrName>style.visibility</p:attrName>
                                        </p:attrNameLst>
                                      </p:cBhvr>
                                      <p:to>
                                        <p:strVal val="visible"/>
                                      </p:to>
                                    </p:set>
                                    <p:animEffect filter="fade" transition="in">
                                      <p:cBhvr>
                                        <p:cTn dur="500"/>
                                        <p:tgtEl>
                                          <p:spTgt spid="8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1"/>
                                        </p:tgtEl>
                                        <p:attrNameLst>
                                          <p:attrName>style.visibility</p:attrName>
                                        </p:attrNameLst>
                                      </p:cBhvr>
                                      <p:to>
                                        <p:strVal val="visible"/>
                                      </p:to>
                                    </p:set>
                                    <p:animEffect filter="fade" transition="in">
                                      <p:cBhvr>
                                        <p:cTn dur="500"/>
                                        <p:tgtEl>
                                          <p:spTgt spid="8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68"/>
                                        </p:tgtEl>
                                        <p:attrNameLst>
                                          <p:attrName>style.visibility</p:attrName>
                                        </p:attrNameLst>
                                      </p:cBhvr>
                                      <p:to>
                                        <p:strVal val="visible"/>
                                      </p:to>
                                    </p:set>
                                    <p:animEffect filter="fade" transition="in">
                                      <p:cBhvr>
                                        <p:cTn dur="500"/>
                                        <p:tgtEl>
                                          <p:spTgt spid="8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7"/>
                                        </p:tgtEl>
                                        <p:attrNameLst>
                                          <p:attrName>style.visibility</p:attrName>
                                        </p:attrNameLst>
                                      </p:cBhvr>
                                      <p:to>
                                        <p:strVal val="visible"/>
                                      </p:to>
                                    </p:set>
                                    <p:animEffect filter="fade" transition="in">
                                      <p:cBhvr>
                                        <p:cTn dur="500"/>
                                        <p:tgtEl>
                                          <p:spTgt spid="8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3"/>
                                        </p:tgtEl>
                                        <p:attrNameLst>
                                          <p:attrName>style.visibility</p:attrName>
                                        </p:attrNameLst>
                                      </p:cBhvr>
                                      <p:to>
                                        <p:strVal val="visible"/>
                                      </p:to>
                                    </p:set>
                                    <p:animEffect filter="fade" transition="in">
                                      <p:cBhvr>
                                        <p:cTn dur="500"/>
                                        <p:tgtEl>
                                          <p:spTgt spid="8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6"/>
                                        </p:tgtEl>
                                        <p:attrNameLst>
                                          <p:attrName>style.visibility</p:attrName>
                                        </p:attrNameLst>
                                      </p:cBhvr>
                                      <p:to>
                                        <p:strVal val="visible"/>
                                      </p:to>
                                    </p:set>
                                    <p:animEffect filter="fade" transition="in">
                                      <p:cBhvr>
                                        <p:cTn dur="500"/>
                                        <p:tgtEl>
                                          <p:spTgt spid="8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8"/>
                                        </p:tgtEl>
                                        <p:attrNameLst>
                                          <p:attrName>style.visibility</p:attrName>
                                        </p:attrNameLst>
                                      </p:cBhvr>
                                      <p:to>
                                        <p:strVal val="visible"/>
                                      </p:to>
                                    </p:set>
                                    <p:animEffect filter="fade" transition="in">
                                      <p:cBhvr>
                                        <p:cTn dur="500"/>
                                        <p:tgtEl>
                                          <p:spTgt spid="8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9" name="Shape 8379"/>
        <p:cNvGrpSpPr/>
        <p:nvPr/>
      </p:nvGrpSpPr>
      <p:grpSpPr>
        <a:xfrm>
          <a:off x="0" y="0"/>
          <a:ext cx="0" cy="0"/>
          <a:chOff x="0" y="0"/>
          <a:chExt cx="0" cy="0"/>
        </a:xfrm>
      </p:grpSpPr>
      <p:sp>
        <p:nvSpPr>
          <p:cNvPr id="8380" name="Google Shape;8380;p130"/>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CUBIC</a:t>
            </a:r>
            <a:endParaRPr b="0" sz="4400"/>
          </a:p>
        </p:txBody>
      </p:sp>
      <p:sp>
        <p:nvSpPr>
          <p:cNvPr id="8381" name="Google Shape;8381;p130"/>
          <p:cNvSpPr txBox="1"/>
          <p:nvPr/>
        </p:nvSpPr>
        <p:spPr>
          <a:xfrm>
            <a:off x="798690" y="1308100"/>
            <a:ext cx="11164126" cy="4648200"/>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Is there a better way than AIMD to “probe” for usable bandwidth?</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8382" name="Google Shape;8382;p130"/>
          <p:cNvGrpSpPr/>
          <p:nvPr/>
        </p:nvGrpSpPr>
        <p:grpSpPr>
          <a:xfrm>
            <a:off x="1454066" y="4302985"/>
            <a:ext cx="6081713" cy="1998662"/>
            <a:chOff x="73" y="2432"/>
            <a:chExt cx="3831" cy="1259"/>
          </a:xfrm>
        </p:grpSpPr>
        <p:sp>
          <p:nvSpPr>
            <p:cNvPr id="8383" name="Google Shape;8383;p130"/>
            <p:cNvSpPr/>
            <p:nvPr/>
          </p:nvSpPr>
          <p:spPr>
            <a:xfrm>
              <a:off x="678" y="2556"/>
              <a:ext cx="3226" cy="579"/>
            </a:xfrm>
            <a:custGeom>
              <a:rect b="b" l="l" r="r" t="t"/>
              <a:pathLst>
                <a:path extrusionOk="0" h="579" w="2481">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384" name="Google Shape;8384;p130"/>
            <p:cNvCxnSpPr/>
            <p:nvPr/>
          </p:nvCxnSpPr>
          <p:spPr>
            <a:xfrm>
              <a:off x="675" y="3685"/>
              <a:ext cx="2674" cy="0"/>
            </a:xfrm>
            <a:prstGeom prst="straightConnector1">
              <a:avLst/>
            </a:prstGeom>
            <a:noFill/>
            <a:ln cap="flat" cmpd="sng" w="19050">
              <a:solidFill>
                <a:schemeClr val="dk1"/>
              </a:solidFill>
              <a:prstDash val="solid"/>
              <a:round/>
              <a:headEnd len="med" w="med" type="none"/>
              <a:tailEnd len="med" w="med" type="none"/>
            </a:ln>
          </p:spPr>
        </p:cxnSp>
        <p:cxnSp>
          <p:nvCxnSpPr>
            <p:cNvPr id="8385" name="Google Shape;8385;p130"/>
            <p:cNvCxnSpPr/>
            <p:nvPr/>
          </p:nvCxnSpPr>
          <p:spPr>
            <a:xfrm>
              <a:off x="682" y="2432"/>
              <a:ext cx="0" cy="1259"/>
            </a:xfrm>
            <a:prstGeom prst="straightConnector1">
              <a:avLst/>
            </a:prstGeom>
            <a:noFill/>
            <a:ln cap="flat" cmpd="sng" w="19050">
              <a:solidFill>
                <a:schemeClr val="dk1"/>
              </a:solidFill>
              <a:prstDash val="solid"/>
              <a:round/>
              <a:headEnd len="med" w="med" type="none"/>
              <a:tailEnd len="med" w="med" type="none"/>
            </a:ln>
          </p:spPr>
        </p:cxnSp>
        <p:cxnSp>
          <p:nvCxnSpPr>
            <p:cNvPr id="8386" name="Google Shape;8386;p130"/>
            <p:cNvCxnSpPr/>
            <p:nvPr/>
          </p:nvCxnSpPr>
          <p:spPr>
            <a:xfrm>
              <a:off x="606" y="2571"/>
              <a:ext cx="72" cy="0"/>
            </a:xfrm>
            <a:prstGeom prst="straightConnector1">
              <a:avLst/>
            </a:prstGeom>
            <a:noFill/>
            <a:ln cap="flat" cmpd="sng" w="19050">
              <a:solidFill>
                <a:schemeClr val="dk1"/>
              </a:solidFill>
              <a:prstDash val="solid"/>
              <a:round/>
              <a:headEnd len="med" w="med" type="none"/>
              <a:tailEnd len="med" w="med" type="none"/>
            </a:ln>
          </p:spPr>
        </p:cxnSp>
        <p:cxnSp>
          <p:nvCxnSpPr>
            <p:cNvPr id="8387" name="Google Shape;8387;p130"/>
            <p:cNvCxnSpPr/>
            <p:nvPr/>
          </p:nvCxnSpPr>
          <p:spPr>
            <a:xfrm>
              <a:off x="606" y="3117"/>
              <a:ext cx="72" cy="0"/>
            </a:xfrm>
            <a:prstGeom prst="straightConnector1">
              <a:avLst/>
            </a:prstGeom>
            <a:noFill/>
            <a:ln cap="flat" cmpd="sng" w="19050">
              <a:solidFill>
                <a:schemeClr val="dk1"/>
              </a:solidFill>
              <a:prstDash val="solid"/>
              <a:round/>
              <a:headEnd len="med" w="med" type="none"/>
              <a:tailEnd len="med" w="med" type="none"/>
            </a:ln>
          </p:spPr>
        </p:cxnSp>
        <p:sp>
          <p:nvSpPr>
            <p:cNvPr id="8388" name="Google Shape;8388;p130"/>
            <p:cNvSpPr txBox="1"/>
            <p:nvPr/>
          </p:nvSpPr>
          <p:spPr>
            <a:xfrm>
              <a:off x="171" y="2437"/>
              <a:ext cx="393"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r>
                <a:rPr b="0" baseline="-25000" i="0" lang="en-US" sz="1600" u="none" cap="none" strike="noStrike">
                  <a:solidFill>
                    <a:srgbClr val="000000"/>
                  </a:solidFill>
                  <a:latin typeface="Tahoma"/>
                  <a:ea typeface="Tahoma"/>
                  <a:cs typeface="Tahoma"/>
                  <a:sym typeface="Tahoma"/>
                </a:rPr>
                <a:t>max</a:t>
              </a:r>
              <a:endParaRPr b="0" baseline="-25000" i="0" sz="1600" u="none" cap="none" strike="noStrike">
                <a:solidFill>
                  <a:srgbClr val="000000"/>
                </a:solidFill>
                <a:latin typeface="Tahoma"/>
                <a:ea typeface="Tahoma"/>
                <a:cs typeface="Tahoma"/>
                <a:sym typeface="Tahoma"/>
              </a:endParaRPr>
            </a:p>
          </p:txBody>
        </p:sp>
        <p:sp>
          <p:nvSpPr>
            <p:cNvPr id="8389" name="Google Shape;8389;p130"/>
            <p:cNvSpPr txBox="1"/>
            <p:nvPr/>
          </p:nvSpPr>
          <p:spPr>
            <a:xfrm>
              <a:off x="73" y="2971"/>
              <a:ext cx="513"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r>
                <a:rPr b="0" baseline="-25000" i="0" lang="en-US" sz="1600" u="none" cap="none" strike="noStrike">
                  <a:solidFill>
                    <a:srgbClr val="000000"/>
                  </a:solidFill>
                  <a:latin typeface="Tahoma"/>
                  <a:ea typeface="Tahoma"/>
                  <a:cs typeface="Tahoma"/>
                  <a:sym typeface="Tahoma"/>
                </a:rPr>
                <a:t>max</a:t>
              </a:r>
              <a:r>
                <a:rPr b="0" i="0" lang="en-US" sz="1600" u="none" cap="none" strike="noStrike">
                  <a:solidFill>
                    <a:srgbClr val="000000"/>
                  </a:solidFill>
                  <a:latin typeface="Tahoma"/>
                  <a:ea typeface="Tahoma"/>
                  <a:cs typeface="Tahoma"/>
                  <a:sym typeface="Tahoma"/>
                </a:rPr>
                <a:t>/2</a:t>
              </a:r>
              <a:endParaRPr/>
            </a:p>
          </p:txBody>
        </p:sp>
      </p:grpSp>
      <p:grpSp>
        <p:nvGrpSpPr>
          <p:cNvPr id="8390" name="Google Shape;8390;p130"/>
          <p:cNvGrpSpPr/>
          <p:nvPr/>
        </p:nvGrpSpPr>
        <p:grpSpPr>
          <a:xfrm>
            <a:off x="2427206" y="4523647"/>
            <a:ext cx="842174" cy="851974"/>
            <a:chOff x="4111628" y="4803047"/>
            <a:chExt cx="842174" cy="851974"/>
          </a:xfrm>
        </p:grpSpPr>
        <p:sp>
          <p:nvSpPr>
            <p:cNvPr id="8391" name="Google Shape;8391;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392" name="Google Shape;8392;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393" name="Google Shape;8393;p130"/>
          <p:cNvGrpSpPr/>
          <p:nvPr/>
        </p:nvGrpSpPr>
        <p:grpSpPr>
          <a:xfrm>
            <a:off x="7913115" y="4293106"/>
            <a:ext cx="3050589" cy="1377579"/>
            <a:chOff x="7913115" y="4572506"/>
            <a:chExt cx="3050589" cy="1377579"/>
          </a:xfrm>
        </p:grpSpPr>
        <p:cxnSp>
          <p:nvCxnSpPr>
            <p:cNvPr id="8394" name="Google Shape;8394;p130"/>
            <p:cNvCxnSpPr/>
            <p:nvPr/>
          </p:nvCxnSpPr>
          <p:spPr>
            <a:xfrm>
              <a:off x="7913115" y="4779235"/>
              <a:ext cx="866274" cy="0"/>
            </a:xfrm>
            <a:prstGeom prst="straightConnector1">
              <a:avLst/>
            </a:prstGeom>
            <a:noFill/>
            <a:ln cap="flat" cmpd="sng" w="38100">
              <a:solidFill>
                <a:srgbClr val="C00000"/>
              </a:solidFill>
              <a:prstDash val="solid"/>
              <a:miter lim="800000"/>
              <a:headEnd len="sm" w="sm" type="none"/>
              <a:tailEnd len="sm" w="sm" type="none"/>
            </a:ln>
          </p:spPr>
        </p:cxnSp>
        <p:cxnSp>
          <p:nvCxnSpPr>
            <p:cNvPr id="8395" name="Google Shape;8395;p130"/>
            <p:cNvCxnSpPr/>
            <p:nvPr/>
          </p:nvCxnSpPr>
          <p:spPr>
            <a:xfrm>
              <a:off x="7913115" y="5243961"/>
              <a:ext cx="866274" cy="0"/>
            </a:xfrm>
            <a:prstGeom prst="straightConnector1">
              <a:avLst/>
            </a:prstGeom>
            <a:noFill/>
            <a:ln cap="flat" cmpd="sng" w="38100">
              <a:solidFill>
                <a:srgbClr val="0000A3"/>
              </a:solidFill>
              <a:prstDash val="dash"/>
              <a:miter lim="800000"/>
              <a:headEnd len="sm" w="sm" type="none"/>
              <a:tailEnd len="sm" w="sm" type="none"/>
            </a:ln>
          </p:spPr>
        </p:cxnSp>
        <p:sp>
          <p:nvSpPr>
            <p:cNvPr id="8396" name="Google Shape;8396;p130"/>
            <p:cNvSpPr txBox="1"/>
            <p:nvPr/>
          </p:nvSpPr>
          <p:spPr>
            <a:xfrm>
              <a:off x="8779389" y="4572506"/>
              <a:ext cx="11785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classic TCP</a:t>
              </a:r>
              <a:endParaRPr/>
            </a:p>
          </p:txBody>
        </p:sp>
        <p:sp>
          <p:nvSpPr>
            <p:cNvPr id="8397" name="Google Shape;8397;p130"/>
            <p:cNvSpPr txBox="1"/>
            <p:nvPr/>
          </p:nvSpPr>
          <p:spPr>
            <a:xfrm>
              <a:off x="8779390" y="5109855"/>
              <a:ext cx="2184314"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CUBIC - higher throughput in this example</a:t>
              </a:r>
              <a:endParaRPr/>
            </a:p>
          </p:txBody>
        </p:sp>
      </p:grpSp>
      <p:sp>
        <p:nvSpPr>
          <p:cNvPr id="8398" name="Google Shape;8398;p130"/>
          <p:cNvSpPr txBox="1"/>
          <p:nvPr/>
        </p:nvSpPr>
        <p:spPr>
          <a:xfrm>
            <a:off x="798690" y="1787378"/>
            <a:ext cx="11164126" cy="4648200"/>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Insight/intuition: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a:t>
            </a:r>
            <a:r>
              <a:rPr b="0" baseline="-25000" i="0" lang="en-US" sz="2400" u="none" cap="none" strike="noStrike">
                <a:solidFill>
                  <a:srgbClr val="000000"/>
                </a:solidFill>
                <a:latin typeface="Calibri"/>
                <a:ea typeface="Calibri"/>
                <a:cs typeface="Calibri"/>
                <a:sym typeface="Calibri"/>
              </a:rPr>
              <a:t>max</a:t>
            </a:r>
            <a:r>
              <a:rPr b="0" i="0" lang="en-US" sz="2400" u="none" cap="none" strike="noStrike">
                <a:solidFill>
                  <a:srgbClr val="000000"/>
                </a:solidFill>
                <a:latin typeface="Calibri"/>
                <a:ea typeface="Calibri"/>
                <a:cs typeface="Calibri"/>
                <a:sym typeface="Calibri"/>
              </a:rPr>
              <a:t>: sending rate at which congestion loss was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congestion state of bottleneck link probably (?) hasn’t changed much</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8399" name="Google Shape;8399;p130"/>
          <p:cNvGrpSpPr/>
          <p:nvPr/>
        </p:nvGrpSpPr>
        <p:grpSpPr>
          <a:xfrm>
            <a:off x="3268173" y="4514248"/>
            <a:ext cx="4263455" cy="882027"/>
            <a:chOff x="4952595" y="4780948"/>
            <a:chExt cx="4263455" cy="882027"/>
          </a:xfrm>
        </p:grpSpPr>
        <p:grpSp>
          <p:nvGrpSpPr>
            <p:cNvPr id="8400" name="Google Shape;8400;p130"/>
            <p:cNvGrpSpPr/>
            <p:nvPr/>
          </p:nvGrpSpPr>
          <p:grpSpPr>
            <a:xfrm>
              <a:off x="4952595" y="4811001"/>
              <a:ext cx="842174" cy="851974"/>
              <a:chOff x="4111628" y="4803047"/>
              <a:chExt cx="842174" cy="851974"/>
            </a:xfrm>
          </p:grpSpPr>
          <p:sp>
            <p:nvSpPr>
              <p:cNvPr id="8401" name="Google Shape;8401;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02" name="Google Shape;8402;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403" name="Google Shape;8403;p130"/>
            <p:cNvGrpSpPr/>
            <p:nvPr/>
          </p:nvGrpSpPr>
          <p:grpSpPr>
            <a:xfrm>
              <a:off x="5815757" y="4805638"/>
              <a:ext cx="842174" cy="851974"/>
              <a:chOff x="4111628" y="4803047"/>
              <a:chExt cx="842174" cy="851974"/>
            </a:xfrm>
          </p:grpSpPr>
          <p:sp>
            <p:nvSpPr>
              <p:cNvPr id="8404" name="Google Shape;8404;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05" name="Google Shape;8405;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406" name="Google Shape;8406;p130"/>
            <p:cNvGrpSpPr/>
            <p:nvPr/>
          </p:nvGrpSpPr>
          <p:grpSpPr>
            <a:xfrm>
              <a:off x="6678918" y="4793293"/>
              <a:ext cx="828566" cy="851974"/>
              <a:chOff x="4111628" y="4803047"/>
              <a:chExt cx="842174" cy="851974"/>
            </a:xfrm>
          </p:grpSpPr>
          <p:sp>
            <p:nvSpPr>
              <p:cNvPr id="8407" name="Google Shape;8407;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08" name="Google Shape;8408;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8409" name="Google Shape;8409;p130"/>
            <p:cNvGrpSpPr/>
            <p:nvPr/>
          </p:nvGrpSpPr>
          <p:grpSpPr>
            <a:xfrm>
              <a:off x="7533201" y="4780948"/>
              <a:ext cx="828566" cy="851974"/>
              <a:chOff x="4111628" y="4803047"/>
              <a:chExt cx="842174" cy="851974"/>
            </a:xfrm>
          </p:grpSpPr>
          <p:sp>
            <p:nvSpPr>
              <p:cNvPr id="8410" name="Google Shape;8410;p130"/>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11" name="Google Shape;8411;p130"/>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sp>
          <p:nvSpPr>
            <p:cNvPr id="8412" name="Google Shape;8412;p130"/>
            <p:cNvSpPr/>
            <p:nvPr/>
          </p:nvSpPr>
          <p:spPr>
            <a:xfrm>
              <a:off x="8387484" y="4790798"/>
              <a:ext cx="828566"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413" name="Google Shape;8413;p130"/>
          <p:cNvSpPr txBox="1"/>
          <p:nvPr/>
        </p:nvSpPr>
        <p:spPr>
          <a:xfrm>
            <a:off x="785990" y="3009900"/>
            <a:ext cx="11164126" cy="898378"/>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after cutting rate/window in half on loss, initially ramp to to W</a:t>
            </a:r>
            <a:r>
              <a:rPr b="0" baseline="-25000" i="0" lang="en-US" sz="2400" u="none" cap="none" strike="noStrike">
                <a:solidFill>
                  <a:srgbClr val="000000"/>
                </a:solidFill>
                <a:latin typeface="Calibri"/>
                <a:ea typeface="Calibri"/>
                <a:cs typeface="Calibri"/>
                <a:sym typeface="Calibri"/>
              </a:rPr>
              <a:t>max</a:t>
            </a:r>
            <a:r>
              <a:rPr b="0" i="0" lang="en-US" sz="2400" u="none" cap="none" strike="noStrike">
                <a:solidFill>
                  <a:srgbClr val="000000"/>
                </a:solidFill>
                <a:latin typeface="Calibri"/>
                <a:ea typeface="Calibri"/>
                <a:cs typeface="Calibri"/>
                <a:sym typeface="Calibri"/>
              </a:rPr>
              <a:t> </a:t>
            </a:r>
            <a:r>
              <a:rPr b="0" i="1" lang="en-US" sz="2400" u="none" cap="none" strike="noStrike">
                <a:solidFill>
                  <a:srgbClr val="0013A3"/>
                </a:solidFill>
                <a:latin typeface="Calibri"/>
                <a:ea typeface="Calibri"/>
                <a:cs typeface="Calibri"/>
                <a:sym typeface="Calibri"/>
              </a:rPr>
              <a:t>faster</a:t>
            </a:r>
            <a:r>
              <a:rPr b="0" i="0" lang="en-US" sz="2400" u="none" cap="none" strike="noStrike">
                <a:solidFill>
                  <a:srgbClr val="000000"/>
                </a:solidFill>
                <a:latin typeface="Calibri"/>
                <a:ea typeface="Calibri"/>
                <a:cs typeface="Calibri"/>
                <a:sym typeface="Calibri"/>
              </a:rPr>
              <a:t>, but then approach W</a:t>
            </a:r>
            <a:r>
              <a:rPr b="0" baseline="-25000" i="0" lang="en-US" sz="2400" u="none" cap="none" strike="noStrike">
                <a:solidFill>
                  <a:srgbClr val="000000"/>
                </a:solidFill>
                <a:latin typeface="Calibri"/>
                <a:ea typeface="Calibri"/>
                <a:cs typeface="Calibri"/>
                <a:sym typeface="Calibri"/>
              </a:rPr>
              <a:t>max </a:t>
            </a:r>
            <a:r>
              <a:rPr b="0" i="0" lang="en-US" sz="2400" u="none" cap="none" strike="noStrike">
                <a:solidFill>
                  <a:srgbClr val="000000"/>
                </a:solidFill>
                <a:latin typeface="Calibri"/>
                <a:ea typeface="Calibri"/>
                <a:cs typeface="Calibri"/>
                <a:sym typeface="Calibri"/>
              </a:rPr>
              <a:t>more </a:t>
            </a:r>
            <a:r>
              <a:rPr b="0" i="1" lang="en-US" sz="2400" u="none" cap="none" strike="noStrike">
                <a:solidFill>
                  <a:srgbClr val="0013A3"/>
                </a:solidFill>
                <a:latin typeface="Calibri"/>
                <a:ea typeface="Calibri"/>
                <a:cs typeface="Calibri"/>
                <a:sym typeface="Calibri"/>
              </a:rPr>
              <a:t>slowly</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14" name="Google Shape;8414;p1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8"/>
                                        </p:tgtEl>
                                        <p:attrNameLst>
                                          <p:attrName>style.visibility</p:attrName>
                                        </p:attrNameLst>
                                      </p:cBhvr>
                                      <p:to>
                                        <p:strVal val="visible"/>
                                      </p:to>
                                    </p:set>
                                    <p:animEffect filter="fade" transition="in">
                                      <p:cBhvr>
                                        <p:cTn dur="500"/>
                                        <p:tgtEl>
                                          <p:spTgt spid="8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3"/>
                                        </p:tgtEl>
                                        <p:attrNameLst>
                                          <p:attrName>style.visibility</p:attrName>
                                        </p:attrNameLst>
                                      </p:cBhvr>
                                      <p:to>
                                        <p:strVal val="visible"/>
                                      </p:to>
                                    </p:set>
                                    <p:animEffect filter="fade" transition="in">
                                      <p:cBhvr>
                                        <p:cTn dur="500"/>
                                        <p:tgtEl>
                                          <p:spTgt spid="8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0"/>
                                        </p:tgtEl>
                                        <p:attrNameLst>
                                          <p:attrName>style.visibility</p:attrName>
                                        </p:attrNameLst>
                                      </p:cBhvr>
                                      <p:to>
                                        <p:strVal val="visible"/>
                                      </p:to>
                                    </p:set>
                                    <p:animEffect filter="fade" transition="in">
                                      <p:cBhvr>
                                        <p:cTn dur="500"/>
                                        <p:tgtEl>
                                          <p:spTgt spid="83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393"/>
                                        </p:tgtEl>
                                        <p:attrNameLst>
                                          <p:attrName>style.visibility</p:attrName>
                                        </p:attrNameLst>
                                      </p:cBhvr>
                                      <p:to>
                                        <p:strVal val="visible"/>
                                      </p:to>
                                    </p:set>
                                    <p:animEffect filter="fade" transition="in">
                                      <p:cBhvr>
                                        <p:cTn dur="500"/>
                                        <p:tgtEl>
                                          <p:spTgt spid="8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9"/>
                                        </p:tgtEl>
                                        <p:attrNameLst>
                                          <p:attrName>style.visibility</p:attrName>
                                        </p:attrNameLst>
                                      </p:cBhvr>
                                      <p:to>
                                        <p:strVal val="visible"/>
                                      </p:to>
                                    </p:set>
                                    <p:animEffect filter="fade" transition="in">
                                      <p:cBhvr>
                                        <p:cTn dur="2000"/>
                                        <p:tgtEl>
                                          <p:spTgt spid="8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9" name="Shape 8419"/>
        <p:cNvGrpSpPr/>
        <p:nvPr/>
      </p:nvGrpSpPr>
      <p:grpSpPr>
        <a:xfrm>
          <a:off x="0" y="0"/>
          <a:ext cx="0" cy="0"/>
          <a:chOff x="0" y="0"/>
          <a:chExt cx="0" cy="0"/>
        </a:xfrm>
      </p:grpSpPr>
      <p:sp>
        <p:nvSpPr>
          <p:cNvPr id="8420" name="Google Shape;8420;p131"/>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CUBIC</a:t>
            </a:r>
            <a:endParaRPr b="0" sz="4400"/>
          </a:p>
        </p:txBody>
      </p:sp>
      <p:sp>
        <p:nvSpPr>
          <p:cNvPr id="8421" name="Google Shape;8421;p131"/>
          <p:cNvSpPr txBox="1"/>
          <p:nvPr/>
        </p:nvSpPr>
        <p:spPr>
          <a:xfrm>
            <a:off x="798690" y="1308101"/>
            <a:ext cx="11164126" cy="952500"/>
          </a:xfrm>
          <a:prstGeom prst="rect">
            <a:avLst/>
          </a:prstGeom>
          <a:noFill/>
          <a:ln>
            <a:noFill/>
          </a:ln>
        </p:spPr>
        <p:txBody>
          <a:bodyPr anchorCtr="0" anchor="t" bIns="45700" lIns="91425" spcFirstLastPara="1" rIns="91425" wrap="square" tIns="45700">
            <a:normAutofit/>
          </a:bodyPr>
          <a:lstStyle/>
          <a:p>
            <a:pPr indent="-285750" lvl="0" marL="41275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K: point in time when TCP window size will reach W</a:t>
            </a:r>
            <a:r>
              <a:rPr b="0" baseline="-25000" i="0" lang="en-US" sz="2800" u="none" cap="none" strike="noStrike">
                <a:solidFill>
                  <a:srgbClr val="000000"/>
                </a:solidFill>
                <a:latin typeface="Calibri"/>
                <a:ea typeface="Calibri"/>
                <a:cs typeface="Calibri"/>
                <a:sym typeface="Calibri"/>
              </a:rPr>
              <a:t>max</a:t>
            </a:r>
            <a:endParaRPr b="0" baseline="-25000" i="0" sz="2800" u="none" cap="none" strike="noStrike">
              <a:solidFill>
                <a:srgbClr val="000000"/>
              </a:solidFill>
              <a:latin typeface="Calibri"/>
              <a:ea typeface="Calibri"/>
              <a:cs typeface="Calibri"/>
              <a:sym typeface="Calibri"/>
            </a:endParaRPr>
          </a:p>
          <a:p>
            <a:pPr indent="-295275" lvl="1" marL="80327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K itself is tuneable</a:t>
            </a:r>
            <a:endParaRPr b="0" i="0" sz="2400" u="none" cap="none" strike="noStrike">
              <a:solidFill>
                <a:srgbClr val="000000"/>
              </a:solidFill>
              <a:latin typeface="Calibri"/>
              <a:ea typeface="Calibri"/>
              <a:cs typeface="Calibri"/>
              <a:sym typeface="Calibri"/>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22" name="Google Shape;8422;p131"/>
          <p:cNvSpPr txBox="1"/>
          <p:nvPr/>
        </p:nvSpPr>
        <p:spPr>
          <a:xfrm>
            <a:off x="952087" y="3043946"/>
            <a:ext cx="10287826" cy="995925"/>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larger increases when further away from 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smaller increases (cautious) when nearer K</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8423" name="Google Shape;8423;p131"/>
          <p:cNvGrpSpPr/>
          <p:nvPr/>
        </p:nvGrpSpPr>
        <p:grpSpPr>
          <a:xfrm>
            <a:off x="5030365" y="2893914"/>
            <a:ext cx="5714572" cy="3644759"/>
            <a:chOff x="5030365" y="2893914"/>
            <a:chExt cx="5714572" cy="3644759"/>
          </a:xfrm>
        </p:grpSpPr>
        <p:sp>
          <p:nvSpPr>
            <p:cNvPr id="8424" name="Google Shape;8424;p131"/>
            <p:cNvSpPr txBox="1"/>
            <p:nvPr/>
          </p:nvSpPr>
          <p:spPr>
            <a:xfrm>
              <a:off x="5030365" y="5185258"/>
              <a:ext cx="808134" cy="88793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TCP</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sending </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rate</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cxnSp>
          <p:nvCxnSpPr>
            <p:cNvPr id="8425" name="Google Shape;8425;p131"/>
            <p:cNvCxnSpPr/>
            <p:nvPr/>
          </p:nvCxnSpPr>
          <p:spPr>
            <a:xfrm>
              <a:off x="5801903" y="6262085"/>
              <a:ext cx="4597974" cy="0"/>
            </a:xfrm>
            <a:prstGeom prst="straightConnector1">
              <a:avLst/>
            </a:prstGeom>
            <a:noFill/>
            <a:ln cap="flat" cmpd="sng" w="12700">
              <a:solidFill>
                <a:schemeClr val="dk1"/>
              </a:solidFill>
              <a:prstDash val="solid"/>
              <a:miter lim="800000"/>
              <a:headEnd len="sm" w="sm" type="none"/>
              <a:tailEnd len="med" w="med" type="triangle"/>
            </a:ln>
          </p:spPr>
        </p:cxnSp>
        <p:cxnSp>
          <p:nvCxnSpPr>
            <p:cNvPr id="8426" name="Google Shape;8426;p131"/>
            <p:cNvCxnSpPr/>
            <p:nvPr/>
          </p:nvCxnSpPr>
          <p:spPr>
            <a:xfrm rot="10800000">
              <a:off x="5801904" y="4039871"/>
              <a:ext cx="0" cy="2222517"/>
            </a:xfrm>
            <a:prstGeom prst="straightConnector1">
              <a:avLst/>
            </a:prstGeom>
            <a:noFill/>
            <a:ln cap="flat" cmpd="sng" w="12700">
              <a:solidFill>
                <a:schemeClr val="dk1"/>
              </a:solidFill>
              <a:prstDash val="solid"/>
              <a:miter lim="800000"/>
              <a:headEnd len="sm" w="sm" type="none"/>
              <a:tailEnd len="med" w="med" type="triangle"/>
            </a:ln>
          </p:spPr>
        </p:cxnSp>
        <p:sp>
          <p:nvSpPr>
            <p:cNvPr id="8427" name="Google Shape;8427;p131"/>
            <p:cNvSpPr/>
            <p:nvPr/>
          </p:nvSpPr>
          <p:spPr>
            <a:xfrm>
              <a:off x="5815989" y="4445300"/>
              <a:ext cx="480875" cy="1811260"/>
            </a:xfrm>
            <a:custGeom>
              <a:rect b="b" l="l" r="r" t="t"/>
              <a:pathLst>
                <a:path extrusionOk="0" h="3160756" w="892239">
                  <a:moveTo>
                    <a:pt x="892239" y="0"/>
                  </a:moveTo>
                  <a:cubicBezTo>
                    <a:pt x="857076" y="951096"/>
                    <a:pt x="829323" y="1859859"/>
                    <a:pt x="793426" y="2355915"/>
                  </a:cubicBezTo>
                  <a:cubicBezTo>
                    <a:pt x="757529" y="2851971"/>
                    <a:pt x="751946" y="2746980"/>
                    <a:pt x="676858" y="2976336"/>
                  </a:cubicBezTo>
                  <a:cubicBezTo>
                    <a:pt x="601770" y="3205692"/>
                    <a:pt x="160327" y="3152732"/>
                    <a:pt x="0" y="3160551"/>
                  </a:cubicBezTo>
                </a:path>
              </a:pathLst>
            </a:custGeom>
            <a:noFill/>
            <a:ln cap="flat" cmpd="sng" w="12700">
              <a:solidFill>
                <a:srgbClr val="7B7B7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8428" name="Google Shape;8428;p131"/>
            <p:cNvCxnSpPr/>
            <p:nvPr/>
          </p:nvCxnSpPr>
          <p:spPr>
            <a:xfrm>
              <a:off x="6296864" y="4404648"/>
              <a:ext cx="2774587" cy="0"/>
            </a:xfrm>
            <a:prstGeom prst="straightConnector1">
              <a:avLst/>
            </a:prstGeom>
            <a:noFill/>
            <a:ln cap="flat" cmpd="sng" w="12700">
              <a:solidFill>
                <a:schemeClr val="dk1"/>
              </a:solidFill>
              <a:prstDash val="dash"/>
              <a:miter lim="800000"/>
              <a:headEnd len="sm" w="sm" type="none"/>
              <a:tailEnd len="sm" w="sm" type="none"/>
            </a:ln>
          </p:spPr>
        </p:cxnSp>
        <p:grpSp>
          <p:nvGrpSpPr>
            <p:cNvPr id="8429" name="Google Shape;8429;p131"/>
            <p:cNvGrpSpPr/>
            <p:nvPr/>
          </p:nvGrpSpPr>
          <p:grpSpPr>
            <a:xfrm>
              <a:off x="6350326" y="4445306"/>
              <a:ext cx="795772" cy="900465"/>
              <a:chOff x="1257299" y="2448186"/>
              <a:chExt cx="919846" cy="1571364"/>
            </a:xfrm>
          </p:grpSpPr>
          <p:cxnSp>
            <p:nvCxnSpPr>
              <p:cNvPr id="8430" name="Google Shape;8430;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31" name="Google Shape;8431;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32" name="Google Shape;8432;p131"/>
            <p:cNvGrpSpPr/>
            <p:nvPr/>
          </p:nvGrpSpPr>
          <p:grpSpPr>
            <a:xfrm>
              <a:off x="7112500" y="4441667"/>
              <a:ext cx="795772" cy="900465"/>
              <a:chOff x="1257299" y="2448186"/>
              <a:chExt cx="919846" cy="1571364"/>
            </a:xfrm>
          </p:grpSpPr>
          <p:cxnSp>
            <p:nvCxnSpPr>
              <p:cNvPr id="8433" name="Google Shape;8433;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34" name="Google Shape;8434;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35" name="Google Shape;8435;p131"/>
            <p:cNvGrpSpPr/>
            <p:nvPr/>
          </p:nvGrpSpPr>
          <p:grpSpPr>
            <a:xfrm>
              <a:off x="7915954" y="4439699"/>
              <a:ext cx="795772" cy="900465"/>
              <a:chOff x="1257299" y="2448186"/>
              <a:chExt cx="919846" cy="1571364"/>
            </a:xfrm>
          </p:grpSpPr>
          <p:cxnSp>
            <p:nvCxnSpPr>
              <p:cNvPr id="8436" name="Google Shape;8436;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37" name="Google Shape;8437;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38" name="Google Shape;8438;p131"/>
            <p:cNvGrpSpPr/>
            <p:nvPr/>
          </p:nvGrpSpPr>
          <p:grpSpPr>
            <a:xfrm>
              <a:off x="8750371" y="4432898"/>
              <a:ext cx="795772" cy="900465"/>
              <a:chOff x="1257299" y="2448186"/>
              <a:chExt cx="919846" cy="1571364"/>
            </a:xfrm>
          </p:grpSpPr>
          <p:cxnSp>
            <p:nvCxnSpPr>
              <p:cNvPr id="8439" name="Google Shape;8439;p131"/>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8440" name="Google Shape;8440;p131"/>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41" name="Google Shape;8441;p131"/>
            <p:cNvGrpSpPr/>
            <p:nvPr/>
          </p:nvGrpSpPr>
          <p:grpSpPr>
            <a:xfrm rot="10800000">
              <a:off x="9544542" y="3096950"/>
              <a:ext cx="1128132" cy="1337145"/>
              <a:chOff x="873118" y="2448184"/>
              <a:chExt cx="1304027" cy="2333396"/>
            </a:xfrm>
          </p:grpSpPr>
          <p:cxnSp>
            <p:nvCxnSpPr>
              <p:cNvPr id="8442" name="Google Shape;8442;p131"/>
              <p:cNvCxnSpPr/>
              <p:nvPr/>
            </p:nvCxnSpPr>
            <p:spPr>
              <a:xfrm flipH="1">
                <a:off x="873118" y="2448184"/>
                <a:ext cx="1304027" cy="2333396"/>
              </a:xfrm>
              <a:prstGeom prst="straightConnector1">
                <a:avLst/>
              </a:prstGeom>
              <a:noFill/>
              <a:ln cap="flat" cmpd="sng" w="25400">
                <a:solidFill>
                  <a:srgbClr val="C00000"/>
                </a:solidFill>
                <a:prstDash val="solid"/>
                <a:miter lim="800000"/>
                <a:headEnd len="sm" w="sm" type="none"/>
                <a:tailEnd len="sm" w="sm" type="none"/>
              </a:ln>
            </p:spPr>
          </p:cxnSp>
          <p:sp>
            <p:nvSpPr>
              <p:cNvPr id="8443" name="Google Shape;8443;p131"/>
              <p:cNvSpPr/>
              <p:nvPr/>
            </p:nvSpPr>
            <p:spPr>
              <a:xfrm>
                <a:off x="1252647" y="2450273"/>
                <a:ext cx="858729" cy="1600620"/>
              </a:xfrm>
              <a:custGeom>
                <a:rect b="b" l="l" r="r" t="t"/>
                <a:pathLst>
                  <a:path extrusionOk="0" h="2154669" w="1153813">
                    <a:moveTo>
                      <a:pt x="1153813" y="0"/>
                    </a:moveTo>
                    <a:cubicBezTo>
                      <a:pt x="-31946" y="56892"/>
                      <a:pt x="50361" y="598465"/>
                      <a:pt x="0" y="2154669"/>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8444" name="Google Shape;8444;p131"/>
            <p:cNvCxnSpPr/>
            <p:nvPr/>
          </p:nvCxnSpPr>
          <p:spPr>
            <a:xfrm flipH="1">
              <a:off x="10340170" y="2893914"/>
              <a:ext cx="30503" cy="717091"/>
            </a:xfrm>
            <a:prstGeom prst="straightConnector1">
              <a:avLst/>
            </a:prstGeom>
            <a:noFill/>
            <a:ln cap="flat" cmpd="sng" w="25400">
              <a:solidFill>
                <a:srgbClr val="0000A3"/>
              </a:solidFill>
              <a:prstDash val="dash"/>
              <a:miter lim="800000"/>
              <a:headEnd len="sm" w="sm" type="none"/>
              <a:tailEnd len="sm" w="sm" type="none"/>
            </a:ln>
          </p:spPr>
        </p:cxnSp>
        <p:sp>
          <p:nvSpPr>
            <p:cNvPr id="8445" name="Google Shape;8445;p131"/>
            <p:cNvSpPr txBox="1"/>
            <p:nvPr/>
          </p:nvSpPr>
          <p:spPr>
            <a:xfrm>
              <a:off x="9881790" y="5941210"/>
              <a:ext cx="51809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time</a:t>
              </a:r>
              <a:endParaRPr b="0" i="0" sz="1600" u="none" cap="none" strike="noStrike">
                <a:solidFill>
                  <a:srgbClr val="000000"/>
                </a:solidFill>
                <a:latin typeface="Calibri"/>
                <a:ea typeface="Calibri"/>
                <a:cs typeface="Calibri"/>
                <a:sym typeface="Calibri"/>
              </a:endParaRPr>
            </a:p>
          </p:txBody>
        </p:sp>
        <p:sp>
          <p:nvSpPr>
            <p:cNvPr id="8446" name="Google Shape;8446;p131"/>
            <p:cNvSpPr txBox="1"/>
            <p:nvPr/>
          </p:nvSpPr>
          <p:spPr>
            <a:xfrm>
              <a:off x="9472281" y="4611687"/>
              <a:ext cx="1272656" cy="93871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TCP Reno</a:t>
              </a:r>
              <a:endParaRPr b="0" i="0" sz="2000" u="none" cap="none" strike="noStrike">
                <a:solidFill>
                  <a:srgbClr val="000000"/>
                </a:solidFill>
                <a:latin typeface="Calibri"/>
                <a:ea typeface="Calibri"/>
                <a:cs typeface="Calibri"/>
                <a:sym typeface="Calibri"/>
              </a:endParaRPr>
            </a:p>
            <a:p>
              <a:pPr indent="0" lvl="0" marL="0" marR="0" rtl="0" algn="l">
                <a:lnSpc>
                  <a:spcPct val="85000"/>
                </a:lnSpc>
                <a:spcBef>
                  <a:spcPts val="60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TCP CUBIC</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8447" name="Google Shape;8447;p131"/>
            <p:cNvSpPr txBox="1"/>
            <p:nvPr/>
          </p:nvSpPr>
          <p:spPr>
            <a:xfrm>
              <a:off x="5297976" y="4213131"/>
              <a:ext cx="549173"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t>
              </a:r>
              <a:r>
                <a:rPr b="0" baseline="-25000" i="0" lang="en-US" sz="1400" u="none" cap="none" strike="noStrike">
                  <a:solidFill>
                    <a:srgbClr val="000000"/>
                  </a:solidFill>
                  <a:latin typeface="Calibri"/>
                  <a:ea typeface="Calibri"/>
                  <a:cs typeface="Calibri"/>
                  <a:sym typeface="Calibri"/>
                </a:rPr>
                <a:t>max</a:t>
              </a:r>
              <a:endParaRPr b="0" baseline="-25000" i="0" sz="1600" u="none" cap="none" strike="noStrike">
                <a:solidFill>
                  <a:srgbClr val="000000"/>
                </a:solidFill>
                <a:latin typeface="Calibri"/>
                <a:ea typeface="Calibri"/>
                <a:cs typeface="Calibri"/>
                <a:sym typeface="Calibri"/>
              </a:endParaRPr>
            </a:p>
          </p:txBody>
        </p:sp>
        <p:sp>
          <p:nvSpPr>
            <p:cNvPr id="8448" name="Google Shape;8448;p131"/>
            <p:cNvSpPr txBox="1"/>
            <p:nvPr/>
          </p:nvSpPr>
          <p:spPr>
            <a:xfrm>
              <a:off x="6180953" y="6255332"/>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0</a:t>
              </a:r>
              <a:endParaRPr b="0" baseline="-25000" i="0" sz="1600" u="none" cap="none" strike="noStrike">
                <a:solidFill>
                  <a:srgbClr val="000000"/>
                </a:solidFill>
                <a:latin typeface="Calibri"/>
                <a:ea typeface="Calibri"/>
                <a:cs typeface="Calibri"/>
                <a:sym typeface="Calibri"/>
              </a:endParaRPr>
            </a:p>
          </p:txBody>
        </p:sp>
        <p:sp>
          <p:nvSpPr>
            <p:cNvPr id="8449" name="Google Shape;8449;p131"/>
            <p:cNvSpPr txBox="1"/>
            <p:nvPr/>
          </p:nvSpPr>
          <p:spPr>
            <a:xfrm>
              <a:off x="6997088" y="6257827"/>
              <a:ext cx="305467"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1 </a:t>
              </a:r>
              <a:endParaRPr b="0" baseline="-25000" i="0" sz="1600" u="none" cap="none" strike="noStrike">
                <a:solidFill>
                  <a:srgbClr val="000000"/>
                </a:solidFill>
                <a:latin typeface="Calibri"/>
                <a:ea typeface="Calibri"/>
                <a:cs typeface="Calibri"/>
                <a:sym typeface="Calibri"/>
              </a:endParaRPr>
            </a:p>
          </p:txBody>
        </p:sp>
        <p:sp>
          <p:nvSpPr>
            <p:cNvPr id="8450" name="Google Shape;8450;p131"/>
            <p:cNvSpPr txBox="1"/>
            <p:nvPr/>
          </p:nvSpPr>
          <p:spPr>
            <a:xfrm>
              <a:off x="7796251" y="6257147"/>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2 </a:t>
              </a:r>
              <a:endParaRPr b="0" baseline="-25000" i="0" sz="1600" u="none" cap="none" strike="noStrike">
                <a:solidFill>
                  <a:srgbClr val="000000"/>
                </a:solidFill>
                <a:latin typeface="Calibri"/>
                <a:ea typeface="Calibri"/>
                <a:cs typeface="Calibri"/>
                <a:sym typeface="Calibri"/>
              </a:endParaRPr>
            </a:p>
          </p:txBody>
        </p:sp>
        <p:sp>
          <p:nvSpPr>
            <p:cNvPr id="8451" name="Google Shape;8451;p131"/>
            <p:cNvSpPr txBox="1"/>
            <p:nvPr/>
          </p:nvSpPr>
          <p:spPr>
            <a:xfrm>
              <a:off x="8625086" y="6256467"/>
              <a:ext cx="305467"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3 </a:t>
              </a:r>
              <a:endParaRPr b="0" baseline="-25000" i="0" sz="1600" u="none" cap="none" strike="noStrike">
                <a:solidFill>
                  <a:srgbClr val="000000"/>
                </a:solidFill>
                <a:latin typeface="Calibri"/>
                <a:ea typeface="Calibri"/>
                <a:cs typeface="Calibri"/>
                <a:sym typeface="Calibri"/>
              </a:endParaRPr>
            </a:p>
          </p:txBody>
        </p:sp>
        <p:sp>
          <p:nvSpPr>
            <p:cNvPr id="8452" name="Google Shape;8452;p131"/>
            <p:cNvSpPr txBox="1"/>
            <p:nvPr/>
          </p:nvSpPr>
          <p:spPr>
            <a:xfrm>
              <a:off x="9424249" y="6256467"/>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4 </a:t>
              </a:r>
              <a:endParaRPr b="0" baseline="-25000" i="0" sz="1600" u="none" cap="none" strike="noStrike">
                <a:solidFill>
                  <a:srgbClr val="000000"/>
                </a:solidFill>
                <a:latin typeface="Calibri"/>
                <a:ea typeface="Calibri"/>
                <a:cs typeface="Calibri"/>
                <a:sym typeface="Calibri"/>
              </a:endParaRPr>
            </a:p>
          </p:txBody>
        </p:sp>
      </p:grpSp>
      <p:sp>
        <p:nvSpPr>
          <p:cNvPr id="8453" name="Google Shape;8453;p131"/>
          <p:cNvSpPr txBox="1"/>
          <p:nvPr/>
        </p:nvSpPr>
        <p:spPr>
          <a:xfrm>
            <a:off x="797674" y="3941197"/>
            <a:ext cx="3455844" cy="2024199"/>
          </a:xfrm>
          <a:prstGeom prst="rect">
            <a:avLst/>
          </a:prstGeom>
          <a:noFill/>
          <a:ln>
            <a:noFill/>
          </a:ln>
        </p:spPr>
        <p:txBody>
          <a:bodyPr anchorCtr="0" anchor="t" bIns="45700" lIns="91425" spcFirstLastPara="1" rIns="91425" wrap="square" tIns="45700">
            <a:normAutofit/>
          </a:bodyPr>
          <a:lstStyle/>
          <a:p>
            <a:pPr indent="-295275"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CUBIC default in Linux, most popular TCP for popular Web servers</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54" name="Google Shape;8454;p131"/>
          <p:cNvSpPr txBox="1"/>
          <p:nvPr/>
        </p:nvSpPr>
        <p:spPr>
          <a:xfrm>
            <a:off x="785990" y="2146300"/>
            <a:ext cx="11164126" cy="2024199"/>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increase W as a function of the </a:t>
            </a:r>
            <a:r>
              <a:rPr b="0" i="1" lang="en-US" sz="2800" u="none" cap="none" strike="noStrike">
                <a:solidFill>
                  <a:srgbClr val="C00000"/>
                </a:solidFill>
                <a:latin typeface="Calibri"/>
                <a:ea typeface="Calibri"/>
                <a:cs typeface="Calibri"/>
                <a:sym typeface="Calibri"/>
              </a:rPr>
              <a:t>cube</a:t>
            </a:r>
            <a:r>
              <a:rPr b="0" i="0" lang="en-US" sz="2800" u="none" cap="none" strike="noStrike">
                <a:solidFill>
                  <a:srgbClr val="000000"/>
                </a:solidFill>
                <a:latin typeface="Calibri"/>
                <a:ea typeface="Calibri"/>
                <a:cs typeface="Calibri"/>
                <a:sym typeface="Calibri"/>
              </a:rPr>
              <a:t> of the distance between current time  and K</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455" name="Google Shape;8455;p1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4"/>
                                        </p:tgtEl>
                                        <p:attrNameLst>
                                          <p:attrName>style.visibility</p:attrName>
                                        </p:attrNameLst>
                                      </p:cBhvr>
                                      <p:to>
                                        <p:strVal val="visible"/>
                                      </p:to>
                                    </p:set>
                                    <p:animEffect filter="fade" transition="in">
                                      <p:cBhvr>
                                        <p:cTn dur="500"/>
                                        <p:tgtEl>
                                          <p:spTgt spid="8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2"/>
                                        </p:tgtEl>
                                        <p:attrNameLst>
                                          <p:attrName>style.visibility</p:attrName>
                                        </p:attrNameLst>
                                      </p:cBhvr>
                                      <p:to>
                                        <p:strVal val="visible"/>
                                      </p:to>
                                    </p:set>
                                    <p:animEffect filter="fade" transition="in">
                                      <p:cBhvr>
                                        <p:cTn dur="500"/>
                                        <p:tgtEl>
                                          <p:spTgt spid="8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3"/>
                                        </p:tgtEl>
                                        <p:attrNameLst>
                                          <p:attrName>style.visibility</p:attrName>
                                        </p:attrNameLst>
                                      </p:cBhvr>
                                      <p:to>
                                        <p:strVal val="visible"/>
                                      </p:to>
                                    </p:set>
                                    <p:animEffect filter="fade" transition="in">
                                      <p:cBhvr>
                                        <p:cTn dur="500"/>
                                        <p:tgtEl>
                                          <p:spTgt spid="8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3"/>
                                        </p:tgtEl>
                                        <p:attrNameLst>
                                          <p:attrName>style.visibility</p:attrName>
                                        </p:attrNameLst>
                                      </p:cBhvr>
                                      <p:to>
                                        <p:strVal val="visible"/>
                                      </p:to>
                                    </p:set>
                                    <p:animEffect filter="fade" transition="in">
                                      <p:cBhvr>
                                        <p:cTn dur="500"/>
                                        <p:tgtEl>
                                          <p:spTgt spid="8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0" name="Shape 8460"/>
        <p:cNvGrpSpPr/>
        <p:nvPr/>
      </p:nvGrpSpPr>
      <p:grpSpPr>
        <a:xfrm>
          <a:off x="0" y="0"/>
          <a:ext cx="0" cy="0"/>
          <a:chOff x="0" y="0"/>
          <a:chExt cx="0" cy="0"/>
        </a:xfrm>
      </p:grpSpPr>
      <p:grpSp>
        <p:nvGrpSpPr>
          <p:cNvPr id="8461" name="Google Shape;8461;p132"/>
          <p:cNvGrpSpPr/>
          <p:nvPr/>
        </p:nvGrpSpPr>
        <p:grpSpPr>
          <a:xfrm>
            <a:off x="4094463" y="4663823"/>
            <a:ext cx="2885057" cy="1508681"/>
            <a:chOff x="4094463" y="4663823"/>
            <a:chExt cx="2885057" cy="1508681"/>
          </a:xfrm>
        </p:grpSpPr>
        <p:sp>
          <p:nvSpPr>
            <p:cNvPr id="8462" name="Google Shape;8462;p132"/>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63" name="Google Shape;8463;p132"/>
            <p:cNvGrpSpPr/>
            <p:nvPr/>
          </p:nvGrpSpPr>
          <p:grpSpPr>
            <a:xfrm>
              <a:off x="5035264" y="5554092"/>
              <a:ext cx="496248" cy="260542"/>
              <a:chOff x="7141236" y="6068702"/>
              <a:chExt cx="496248" cy="260542"/>
            </a:xfrm>
          </p:grpSpPr>
          <p:sp>
            <p:nvSpPr>
              <p:cNvPr id="8464" name="Google Shape;8464;p132"/>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65" name="Google Shape;8465;p132"/>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66" name="Google Shape;8466;p132"/>
              <p:cNvGrpSpPr/>
              <p:nvPr/>
            </p:nvGrpSpPr>
            <p:grpSpPr>
              <a:xfrm>
                <a:off x="7214834" y="6090139"/>
                <a:ext cx="348960" cy="123931"/>
                <a:chOff x="7786941" y="2884917"/>
                <a:chExt cx="897649" cy="353919"/>
              </a:xfrm>
            </p:grpSpPr>
            <p:sp>
              <p:nvSpPr>
                <p:cNvPr id="8467" name="Google Shape;8467;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68" name="Google Shape;8468;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69" name="Google Shape;8469;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0" name="Google Shape;8470;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71" name="Google Shape;8471;p132"/>
            <p:cNvGrpSpPr/>
            <p:nvPr/>
          </p:nvGrpSpPr>
          <p:grpSpPr>
            <a:xfrm>
              <a:off x="6131364" y="5156690"/>
              <a:ext cx="496248" cy="260542"/>
              <a:chOff x="7493876" y="2774731"/>
              <a:chExt cx="1481958" cy="894622"/>
            </a:xfrm>
          </p:grpSpPr>
          <p:sp>
            <p:nvSpPr>
              <p:cNvPr id="8472" name="Google Shape;8472;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73" name="Google Shape;8473;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74" name="Google Shape;8474;p132"/>
              <p:cNvGrpSpPr/>
              <p:nvPr/>
            </p:nvGrpSpPr>
            <p:grpSpPr>
              <a:xfrm>
                <a:off x="7713663" y="2848339"/>
                <a:ext cx="1042107" cy="425543"/>
                <a:chOff x="7786941" y="2884917"/>
                <a:chExt cx="897649" cy="353919"/>
              </a:xfrm>
            </p:grpSpPr>
            <p:sp>
              <p:nvSpPr>
                <p:cNvPr id="8475" name="Google Shape;8475;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6" name="Google Shape;8476;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7" name="Google Shape;8477;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78" name="Google Shape;8478;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79" name="Google Shape;8479;p132"/>
            <p:cNvGrpSpPr/>
            <p:nvPr/>
          </p:nvGrpSpPr>
          <p:grpSpPr>
            <a:xfrm>
              <a:off x="5122533" y="4861037"/>
              <a:ext cx="496248" cy="260542"/>
              <a:chOff x="7493876" y="2774731"/>
              <a:chExt cx="1481958" cy="894622"/>
            </a:xfrm>
          </p:grpSpPr>
          <p:sp>
            <p:nvSpPr>
              <p:cNvPr id="8480" name="Google Shape;8480;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81" name="Google Shape;8481;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82" name="Google Shape;8482;p132"/>
              <p:cNvGrpSpPr/>
              <p:nvPr/>
            </p:nvGrpSpPr>
            <p:grpSpPr>
              <a:xfrm>
                <a:off x="7713663" y="2848339"/>
                <a:ext cx="1042107" cy="425543"/>
                <a:chOff x="7786941" y="2884917"/>
                <a:chExt cx="897649" cy="353919"/>
              </a:xfrm>
            </p:grpSpPr>
            <p:sp>
              <p:nvSpPr>
                <p:cNvPr id="8483" name="Google Shape;8483;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84" name="Google Shape;8484;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85" name="Google Shape;8485;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86" name="Google Shape;8486;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87" name="Google Shape;8487;p132"/>
            <p:cNvGrpSpPr/>
            <p:nvPr/>
          </p:nvGrpSpPr>
          <p:grpSpPr>
            <a:xfrm>
              <a:off x="4450588" y="5823254"/>
              <a:ext cx="496248" cy="260542"/>
              <a:chOff x="7493876" y="2774731"/>
              <a:chExt cx="1481958" cy="894622"/>
            </a:xfrm>
          </p:grpSpPr>
          <p:sp>
            <p:nvSpPr>
              <p:cNvPr id="8488" name="Google Shape;8488;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89" name="Google Shape;8489;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90" name="Google Shape;8490;p132"/>
              <p:cNvGrpSpPr/>
              <p:nvPr/>
            </p:nvGrpSpPr>
            <p:grpSpPr>
              <a:xfrm>
                <a:off x="7713663" y="2848339"/>
                <a:ext cx="1042107" cy="425543"/>
                <a:chOff x="7786941" y="2884917"/>
                <a:chExt cx="897649" cy="353919"/>
              </a:xfrm>
            </p:grpSpPr>
            <p:sp>
              <p:nvSpPr>
                <p:cNvPr id="8491" name="Google Shape;8491;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2" name="Google Shape;8492;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3" name="Google Shape;8493;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94" name="Google Shape;8494;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95" name="Google Shape;8495;p132"/>
            <p:cNvGrpSpPr/>
            <p:nvPr/>
          </p:nvGrpSpPr>
          <p:grpSpPr>
            <a:xfrm>
              <a:off x="4094463" y="5164346"/>
              <a:ext cx="496248" cy="260542"/>
              <a:chOff x="7493876" y="2774731"/>
              <a:chExt cx="1481958" cy="894622"/>
            </a:xfrm>
          </p:grpSpPr>
          <p:sp>
            <p:nvSpPr>
              <p:cNvPr id="8496" name="Google Shape;8496;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97" name="Google Shape;8497;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98" name="Google Shape;8498;p132"/>
              <p:cNvGrpSpPr/>
              <p:nvPr/>
            </p:nvGrpSpPr>
            <p:grpSpPr>
              <a:xfrm>
                <a:off x="7713663" y="2848339"/>
                <a:ext cx="1042107" cy="425543"/>
                <a:chOff x="7786941" y="2884917"/>
                <a:chExt cx="897649" cy="353919"/>
              </a:xfrm>
            </p:grpSpPr>
            <p:sp>
              <p:nvSpPr>
                <p:cNvPr id="8499" name="Google Shape;8499;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0" name="Google Shape;8500;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1" name="Google Shape;8501;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2" name="Google Shape;8502;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503" name="Google Shape;8503;p132"/>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4" name="Google Shape;8504;p132"/>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5" name="Google Shape;8505;p132"/>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6" name="Google Shape;8506;p132"/>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7" name="Google Shape;8507;p132"/>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8" name="Google Shape;8508;p132"/>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09" name="Google Shape;8509;p132"/>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10" name="Google Shape;8510;p132"/>
            <p:cNvGrpSpPr/>
            <p:nvPr/>
          </p:nvGrpSpPr>
          <p:grpSpPr>
            <a:xfrm>
              <a:off x="5868328" y="5862061"/>
              <a:ext cx="496248" cy="260542"/>
              <a:chOff x="7493876" y="2774731"/>
              <a:chExt cx="1481958" cy="894622"/>
            </a:xfrm>
          </p:grpSpPr>
          <p:sp>
            <p:nvSpPr>
              <p:cNvPr id="8511" name="Google Shape;8511;p13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512" name="Google Shape;8512;p13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513" name="Google Shape;8513;p132"/>
              <p:cNvGrpSpPr/>
              <p:nvPr/>
            </p:nvGrpSpPr>
            <p:grpSpPr>
              <a:xfrm>
                <a:off x="7713663" y="2848339"/>
                <a:ext cx="1042107" cy="425543"/>
                <a:chOff x="7786941" y="2884917"/>
                <a:chExt cx="897649" cy="353919"/>
              </a:xfrm>
            </p:grpSpPr>
            <p:sp>
              <p:nvSpPr>
                <p:cNvPr id="8514" name="Google Shape;8514;p13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5" name="Google Shape;8515;p13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6" name="Google Shape;8516;p13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7" name="Google Shape;8517;p13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518" name="Google Shape;8518;p132"/>
            <p:cNvSpPr/>
            <p:nvPr/>
          </p:nvSpPr>
          <p:spPr>
            <a:xfrm flipH="1" rot="10800000">
              <a:off x="4860724" y="5735086"/>
              <a:ext cx="178041" cy="104043"/>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19" name="Google Shape;8519;p132"/>
            <p:cNvSpPr/>
            <p:nvPr/>
          </p:nvSpPr>
          <p:spPr>
            <a:xfrm flipH="1" rot="10800000">
              <a:off x="5445456" y="4663823"/>
              <a:ext cx="45719" cy="202880"/>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0" name="Google Shape;8520;p132"/>
            <p:cNvSpPr/>
            <p:nvPr/>
          </p:nvSpPr>
          <p:spPr>
            <a:xfrm>
              <a:off x="5532311" y="5746564"/>
              <a:ext cx="336683" cy="244860"/>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21" name="Google Shape;8521;p132"/>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and the congested “bottleneck link”</a:t>
            </a:r>
            <a:endParaRPr b="0" sz="4400"/>
          </a:p>
        </p:txBody>
      </p:sp>
      <p:sp>
        <p:nvSpPr>
          <p:cNvPr id="8522" name="Google Shape;8522;p132"/>
          <p:cNvSpPr txBox="1"/>
          <p:nvPr/>
        </p:nvSpPr>
        <p:spPr>
          <a:xfrm>
            <a:off x="667043" y="1366203"/>
            <a:ext cx="11177587" cy="2190750"/>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(classic, CUBIC) increase TCP’s sending rate until packet loss occurs at some router’s output: the </a:t>
            </a:r>
            <a:r>
              <a:rPr b="0" i="1" lang="en-US" sz="2800" u="none" cap="none" strike="noStrike">
                <a:solidFill>
                  <a:srgbClr val="C00000"/>
                </a:solidFill>
                <a:latin typeface="Calibri"/>
                <a:ea typeface="Calibri"/>
                <a:cs typeface="Calibri"/>
                <a:sym typeface="Calibri"/>
              </a:rPr>
              <a:t>bottleneck link</a:t>
            </a:r>
            <a:endParaRPr b="0" i="0" sz="2800" u="none" cap="none" strike="noStrike">
              <a:solidFill>
                <a:srgbClr val="000000"/>
              </a:solidFill>
              <a:latin typeface="Calibri"/>
              <a:ea typeface="Calibri"/>
              <a:cs typeface="Calibri"/>
              <a:sym typeface="Calibri"/>
            </a:endParaRPr>
          </a:p>
        </p:txBody>
      </p:sp>
      <p:sp>
        <p:nvSpPr>
          <p:cNvPr id="8523" name="Google Shape;8523;p132"/>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524" name="Google Shape;8524;p132"/>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5" name="Google Shape;8525;p132"/>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526" name="Google Shape;8526;p132"/>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527" name="Google Shape;8527;p132"/>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528" name="Google Shape;8528;p132"/>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529" name="Google Shape;8529;p132"/>
          <p:cNvGrpSpPr/>
          <p:nvPr/>
        </p:nvGrpSpPr>
        <p:grpSpPr>
          <a:xfrm flipH="1">
            <a:off x="2151063" y="4424307"/>
            <a:ext cx="673100" cy="701675"/>
            <a:chOff x="-44" y="1473"/>
            <a:chExt cx="981" cy="1105"/>
          </a:xfrm>
        </p:grpSpPr>
        <p:pic>
          <p:nvPicPr>
            <p:cNvPr descr="desktop_computer_stylized_medium" id="8530" name="Google Shape;8530;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31" name="Google Shape;8531;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532" name="Google Shape;8532;p132"/>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533" name="Google Shape;8533;p132"/>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534" name="Google Shape;8534;p132"/>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535" name="Google Shape;8535;p132"/>
          <p:cNvGrpSpPr/>
          <p:nvPr/>
        </p:nvGrpSpPr>
        <p:grpSpPr>
          <a:xfrm>
            <a:off x="7794625" y="3673978"/>
            <a:ext cx="2047875" cy="1620287"/>
            <a:chOff x="4882752" y="4007261"/>
            <a:chExt cx="2046816" cy="1619544"/>
          </a:xfrm>
        </p:grpSpPr>
        <p:sp>
          <p:nvSpPr>
            <p:cNvPr id="8536" name="Google Shape;8536;p132"/>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537" name="Google Shape;8537;p132"/>
            <p:cNvGrpSpPr/>
            <p:nvPr/>
          </p:nvGrpSpPr>
          <p:grpSpPr>
            <a:xfrm>
              <a:off x="4927179" y="4319856"/>
              <a:ext cx="2002389" cy="1306949"/>
              <a:chOff x="1305623" y="4714561"/>
              <a:chExt cx="2002389" cy="1306949"/>
            </a:xfrm>
          </p:grpSpPr>
          <p:sp>
            <p:nvSpPr>
              <p:cNvPr id="8538" name="Google Shape;8538;p132"/>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39" name="Google Shape;8539;p132"/>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540" name="Google Shape;8540;p132"/>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541" name="Google Shape;8541;p132"/>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542" name="Google Shape;8542;p132"/>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543" name="Google Shape;8543;p132"/>
              <p:cNvGrpSpPr/>
              <p:nvPr/>
            </p:nvGrpSpPr>
            <p:grpSpPr>
              <a:xfrm flipH="1">
                <a:off x="2634682" y="5076164"/>
                <a:ext cx="673330" cy="701684"/>
                <a:chOff x="-44" y="1473"/>
                <a:chExt cx="981" cy="1105"/>
              </a:xfrm>
            </p:grpSpPr>
            <p:pic>
              <p:nvPicPr>
                <p:cNvPr descr="desktop_computer_stylized_medium" id="8544" name="Google Shape;8544;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45" name="Google Shape;8545;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546" name="Google Shape;8546;p132"/>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547" name="Google Shape;8547;p132"/>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548" name="Google Shape;8548;p132"/>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549" name="Google Shape;8549;p132"/>
          <p:cNvSpPr/>
          <p:nvPr/>
        </p:nvSpPr>
        <p:spPr>
          <a:xfrm>
            <a:off x="3329610" y="4423976"/>
            <a:ext cx="5073926" cy="1202035"/>
          </a:xfrm>
          <a:custGeom>
            <a:rect b="b" l="l" r="r" t="t"/>
            <a:pathLst>
              <a:path extrusionOk="0" h="1443677" w="5156094">
                <a:moveTo>
                  <a:pt x="0" y="0"/>
                </a:moveTo>
                <a:cubicBezTo>
                  <a:pt x="2320" y="388965"/>
                  <a:pt x="4641" y="777929"/>
                  <a:pt x="6961" y="1166894"/>
                </a:cubicBezTo>
                <a:lnTo>
                  <a:pt x="1387547" y="1150854"/>
                </a:lnTo>
                <a:lnTo>
                  <a:pt x="1832629" y="1440196"/>
                </a:lnTo>
                <a:lnTo>
                  <a:pt x="2063570" y="1443677"/>
                </a:lnTo>
                <a:lnTo>
                  <a:pt x="2809732" y="1093074"/>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50" name="Google Shape;8550;p132"/>
          <p:cNvSpPr txBox="1"/>
          <p:nvPr/>
        </p:nvSpPr>
        <p:spPr>
          <a:xfrm>
            <a:off x="4692557" y="6277338"/>
            <a:ext cx="318138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bottleneck link (almost always busy)</a:t>
            </a:r>
            <a:endParaRPr b="0" i="0" sz="1800" u="none" cap="none" strike="noStrike">
              <a:solidFill>
                <a:srgbClr val="C00000"/>
              </a:solidFill>
              <a:latin typeface="Calibri"/>
              <a:ea typeface="Calibri"/>
              <a:cs typeface="Calibri"/>
              <a:sym typeface="Calibri"/>
            </a:endParaRPr>
          </a:p>
        </p:txBody>
      </p:sp>
      <p:cxnSp>
        <p:nvCxnSpPr>
          <p:cNvPr id="8551" name="Google Shape;8551;p132"/>
          <p:cNvCxnSpPr/>
          <p:nvPr/>
        </p:nvCxnSpPr>
        <p:spPr>
          <a:xfrm>
            <a:off x="5609507" y="5767851"/>
            <a:ext cx="0" cy="566274"/>
          </a:xfrm>
          <a:prstGeom prst="straightConnector1">
            <a:avLst/>
          </a:prstGeom>
          <a:noFill/>
          <a:ln cap="flat" cmpd="sng" w="19050">
            <a:solidFill>
              <a:srgbClr val="FF0000"/>
            </a:solidFill>
            <a:prstDash val="solid"/>
            <a:miter lim="800000"/>
            <a:headEnd len="sm" w="sm" type="none"/>
            <a:tailEnd len="sm" w="sm" type="none"/>
          </a:ln>
        </p:spPr>
      </p:cxnSp>
      <p:grpSp>
        <p:nvGrpSpPr>
          <p:cNvPr id="8552" name="Google Shape;8552;p132"/>
          <p:cNvGrpSpPr/>
          <p:nvPr/>
        </p:nvGrpSpPr>
        <p:grpSpPr>
          <a:xfrm>
            <a:off x="860107" y="5151058"/>
            <a:ext cx="4764459" cy="830997"/>
            <a:chOff x="703842" y="5262044"/>
            <a:chExt cx="4764459" cy="830997"/>
          </a:xfrm>
        </p:grpSpPr>
        <p:sp>
          <p:nvSpPr>
            <p:cNvPr id="8553" name="Google Shape;8553;p132"/>
            <p:cNvSpPr txBox="1"/>
            <p:nvPr/>
          </p:nvSpPr>
          <p:spPr>
            <a:xfrm>
              <a:off x="703842" y="5262044"/>
              <a:ext cx="2330267"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packet queue almost never empty, sometimes overflows packet (loss)</a:t>
              </a:r>
              <a:endParaRPr b="0" i="0" sz="1800" u="none" cap="none" strike="noStrike">
                <a:solidFill>
                  <a:srgbClr val="C00000"/>
                </a:solidFill>
                <a:latin typeface="Calibri"/>
                <a:ea typeface="Calibri"/>
                <a:cs typeface="Calibri"/>
                <a:sym typeface="Calibri"/>
              </a:endParaRPr>
            </a:p>
          </p:txBody>
        </p:sp>
        <p:grpSp>
          <p:nvGrpSpPr>
            <p:cNvPr id="8554" name="Google Shape;8554;p132"/>
            <p:cNvGrpSpPr/>
            <p:nvPr/>
          </p:nvGrpSpPr>
          <p:grpSpPr>
            <a:xfrm>
              <a:off x="4921820" y="5505951"/>
              <a:ext cx="546481" cy="385934"/>
              <a:chOff x="4621648" y="3046041"/>
              <a:chExt cx="1120964" cy="768758"/>
            </a:xfrm>
          </p:grpSpPr>
          <p:grpSp>
            <p:nvGrpSpPr>
              <p:cNvPr id="8555" name="Google Shape;8555;p132"/>
              <p:cNvGrpSpPr/>
              <p:nvPr/>
            </p:nvGrpSpPr>
            <p:grpSpPr>
              <a:xfrm>
                <a:off x="5247312" y="3046041"/>
                <a:ext cx="495300" cy="760413"/>
                <a:chOff x="333961" y="4406169"/>
                <a:chExt cx="1255305" cy="2136353"/>
              </a:xfrm>
            </p:grpSpPr>
            <p:sp>
              <p:nvSpPr>
                <p:cNvPr id="8556" name="Google Shape;8556;p132"/>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57" name="Google Shape;8557;p132"/>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58" name="Google Shape;8558;p132"/>
                <p:cNvSpPr/>
                <p:nvPr/>
              </p:nvSpPr>
              <p:spPr>
                <a:xfrm>
                  <a:off x="1289719" y="5166823"/>
                  <a:ext cx="289686" cy="1351386"/>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559" name="Google Shape;8559;p132"/>
              <p:cNvGrpSpPr/>
              <p:nvPr/>
            </p:nvGrpSpPr>
            <p:grpSpPr>
              <a:xfrm>
                <a:off x="5041006" y="3051076"/>
                <a:ext cx="495300" cy="760413"/>
                <a:chOff x="333961" y="4406169"/>
                <a:chExt cx="1255305" cy="2136353"/>
              </a:xfrm>
            </p:grpSpPr>
            <p:sp>
              <p:nvSpPr>
                <p:cNvPr id="8560" name="Google Shape;8560;p132"/>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1" name="Google Shape;8561;p132"/>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2" name="Google Shape;8562;p132"/>
                <p:cNvSpPr/>
                <p:nvPr/>
              </p:nvSpPr>
              <p:spPr>
                <a:xfrm>
                  <a:off x="1289719" y="5166823"/>
                  <a:ext cx="289686" cy="1351386"/>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563" name="Google Shape;8563;p132"/>
              <p:cNvGrpSpPr/>
              <p:nvPr/>
            </p:nvGrpSpPr>
            <p:grpSpPr>
              <a:xfrm>
                <a:off x="4816091" y="3050224"/>
                <a:ext cx="493712" cy="760412"/>
                <a:chOff x="335231" y="4406992"/>
                <a:chExt cx="1251280" cy="2136350"/>
              </a:xfrm>
            </p:grpSpPr>
            <p:sp>
              <p:nvSpPr>
                <p:cNvPr id="8564" name="Google Shape;8564;p132"/>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5" name="Google Shape;8565;p132"/>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6" name="Google Shape;8566;p132"/>
                <p:cNvSpPr/>
                <p:nvPr/>
              </p:nvSpPr>
              <p:spPr>
                <a:xfrm>
                  <a:off x="1296825" y="5178575"/>
                  <a:ext cx="289686" cy="1351389"/>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567" name="Google Shape;8567;p132"/>
              <p:cNvGrpSpPr/>
              <p:nvPr/>
            </p:nvGrpSpPr>
            <p:grpSpPr>
              <a:xfrm>
                <a:off x="4621648" y="3054387"/>
                <a:ext cx="493712" cy="760412"/>
                <a:chOff x="335231" y="4406992"/>
                <a:chExt cx="1251280" cy="2136350"/>
              </a:xfrm>
            </p:grpSpPr>
            <p:sp>
              <p:nvSpPr>
                <p:cNvPr id="8568" name="Google Shape;8568;p132"/>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9" name="Google Shape;8569;p132"/>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70" name="Google Shape;8570;p132"/>
                <p:cNvSpPr/>
                <p:nvPr/>
              </p:nvSpPr>
              <p:spPr>
                <a:xfrm>
                  <a:off x="1296825" y="5178575"/>
                  <a:ext cx="289686" cy="1351389"/>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cxnSp>
          <p:nvCxnSpPr>
            <p:cNvPr id="8571" name="Google Shape;8571;p132"/>
            <p:cNvCxnSpPr/>
            <p:nvPr/>
          </p:nvCxnSpPr>
          <p:spPr>
            <a:xfrm rot="10800000">
              <a:off x="2972773" y="5696183"/>
              <a:ext cx="1931633"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72" name="Google Shape;8572;p132"/>
          <p:cNvGrpSpPr/>
          <p:nvPr/>
        </p:nvGrpSpPr>
        <p:grpSpPr>
          <a:xfrm>
            <a:off x="5397500" y="4063641"/>
            <a:ext cx="609600" cy="628987"/>
            <a:chOff x="5486400" y="4101741"/>
            <a:chExt cx="609600" cy="628987"/>
          </a:xfrm>
        </p:grpSpPr>
        <p:sp>
          <p:nvSpPr>
            <p:cNvPr id="8573" name="Google Shape;8573;p132"/>
            <p:cNvSpPr/>
            <p:nvPr/>
          </p:nvSpPr>
          <p:spPr>
            <a:xfrm flipH="1">
              <a:off x="5658360" y="4102100"/>
              <a:ext cx="176916" cy="454025"/>
            </a:xfrm>
            <a:custGeom>
              <a:rect b="b" l="l" r="r" t="t"/>
              <a:pathLst>
                <a:path extrusionOk="0" h="7743" w="12711">
                  <a:moveTo>
                    <a:pt x="12224" y="4661"/>
                  </a:moveTo>
                  <a:lnTo>
                    <a:pt x="498" y="0"/>
                  </a:lnTo>
                  <a:lnTo>
                    <a:pt x="0" y="7743"/>
                  </a:lnTo>
                  <a:lnTo>
                    <a:pt x="12711" y="6473"/>
                  </a:lnTo>
                  <a:lnTo>
                    <a:pt x="12224"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nvGrpSpPr>
            <p:cNvPr id="8574" name="Google Shape;8574;p132"/>
            <p:cNvGrpSpPr/>
            <p:nvPr/>
          </p:nvGrpSpPr>
          <p:grpSpPr>
            <a:xfrm flipH="1">
              <a:off x="5486400" y="4355542"/>
              <a:ext cx="350533" cy="375186"/>
              <a:chOff x="-44" y="1473"/>
              <a:chExt cx="981" cy="1105"/>
            </a:xfrm>
          </p:grpSpPr>
          <p:pic>
            <p:nvPicPr>
              <p:cNvPr descr="desktop_computer_stylized_medium" id="8575" name="Google Shape;8575;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76" name="Google Shape;8576;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grpSp>
          <p:nvGrpSpPr>
            <p:cNvPr id="8577" name="Google Shape;8577;p132"/>
            <p:cNvGrpSpPr/>
            <p:nvPr/>
          </p:nvGrpSpPr>
          <p:grpSpPr>
            <a:xfrm>
              <a:off x="5831973" y="4101741"/>
              <a:ext cx="264027" cy="451210"/>
              <a:chOff x="5831973" y="4101740"/>
              <a:chExt cx="295777" cy="502587"/>
            </a:xfrm>
          </p:grpSpPr>
          <p:sp>
            <p:nvSpPr>
              <p:cNvPr id="8578" name="Google Shape;8578;p132"/>
              <p:cNvSpPr/>
              <p:nvPr/>
            </p:nvSpPr>
            <p:spPr>
              <a:xfrm>
                <a:off x="5831973" y="4101740"/>
                <a:ext cx="295777" cy="5025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Tahoma"/>
                  <a:buNone/>
                </a:pPr>
                <a:r>
                  <a:t/>
                </a:r>
                <a:endParaRPr b="0" i="0" sz="400" u="none" cap="none" strike="noStrike">
                  <a:solidFill>
                    <a:srgbClr val="000000"/>
                  </a:solidFill>
                  <a:latin typeface="Tahoma"/>
                  <a:ea typeface="Tahoma"/>
                  <a:cs typeface="Tahoma"/>
                  <a:sym typeface="Tahoma"/>
                </a:endParaRPr>
              </a:p>
            </p:txBody>
          </p:sp>
          <p:grpSp>
            <p:nvGrpSpPr>
              <p:cNvPr id="8579" name="Google Shape;8579;p132"/>
              <p:cNvGrpSpPr/>
              <p:nvPr/>
            </p:nvGrpSpPr>
            <p:grpSpPr>
              <a:xfrm>
                <a:off x="5832475" y="4197350"/>
                <a:ext cx="295275" cy="307975"/>
                <a:chOff x="5832475" y="4197350"/>
                <a:chExt cx="295275" cy="307975"/>
              </a:xfrm>
            </p:grpSpPr>
            <p:cxnSp>
              <p:nvCxnSpPr>
                <p:cNvPr id="8580" name="Google Shape;8580;p132"/>
                <p:cNvCxnSpPr/>
                <p:nvPr/>
              </p:nvCxnSpPr>
              <p:spPr>
                <a:xfrm>
                  <a:off x="5835650" y="430530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81" name="Google Shape;8581;p132"/>
                <p:cNvCxnSpPr/>
                <p:nvPr/>
              </p:nvCxnSpPr>
              <p:spPr>
                <a:xfrm>
                  <a:off x="5835650" y="41973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82" name="Google Shape;8582;p132"/>
                <p:cNvCxnSpPr/>
                <p:nvPr/>
              </p:nvCxnSpPr>
              <p:spPr>
                <a:xfrm>
                  <a:off x="5832475" y="44132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83" name="Google Shape;8583;p132"/>
                <p:cNvCxnSpPr/>
                <p:nvPr/>
              </p:nvCxnSpPr>
              <p:spPr>
                <a:xfrm>
                  <a:off x="5832475" y="4505325"/>
                  <a:ext cx="292100" cy="0"/>
                </a:xfrm>
                <a:prstGeom prst="straightConnector1">
                  <a:avLst/>
                </a:prstGeom>
                <a:noFill/>
                <a:ln cap="flat" cmpd="sng" w="9525">
                  <a:solidFill>
                    <a:schemeClr val="dk1"/>
                  </a:solidFill>
                  <a:prstDash val="solid"/>
                  <a:miter lim="800000"/>
                  <a:headEnd len="sm" w="sm" type="none"/>
                  <a:tailEnd len="sm" w="sm" type="none"/>
                </a:ln>
              </p:spPr>
            </p:cxnSp>
          </p:grpSp>
        </p:grpSp>
      </p:grpSp>
      <p:grpSp>
        <p:nvGrpSpPr>
          <p:cNvPr id="8584" name="Google Shape;8584;p132"/>
          <p:cNvGrpSpPr/>
          <p:nvPr/>
        </p:nvGrpSpPr>
        <p:grpSpPr>
          <a:xfrm>
            <a:off x="3630569" y="5751891"/>
            <a:ext cx="719335" cy="546078"/>
            <a:chOff x="6454273" y="3133725"/>
            <a:chExt cx="719335" cy="546078"/>
          </a:xfrm>
        </p:grpSpPr>
        <p:sp>
          <p:nvSpPr>
            <p:cNvPr id="8585" name="Google Shape;8585;p132"/>
            <p:cNvSpPr/>
            <p:nvPr/>
          </p:nvSpPr>
          <p:spPr>
            <a:xfrm>
              <a:off x="6709285" y="3133725"/>
              <a:ext cx="176916" cy="454025"/>
            </a:xfrm>
            <a:custGeom>
              <a:rect b="b" l="l" r="r" t="t"/>
              <a:pathLst>
                <a:path extrusionOk="0" h="7743" w="12711">
                  <a:moveTo>
                    <a:pt x="12224" y="4661"/>
                  </a:moveTo>
                  <a:lnTo>
                    <a:pt x="498" y="0"/>
                  </a:lnTo>
                  <a:lnTo>
                    <a:pt x="0" y="7743"/>
                  </a:lnTo>
                  <a:lnTo>
                    <a:pt x="12711" y="6473"/>
                  </a:lnTo>
                  <a:lnTo>
                    <a:pt x="12224"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nvGrpSpPr>
            <p:cNvPr id="8586" name="Google Shape;8586;p132"/>
            <p:cNvGrpSpPr/>
            <p:nvPr/>
          </p:nvGrpSpPr>
          <p:grpSpPr>
            <a:xfrm flipH="1">
              <a:off x="6823075" y="3304617"/>
              <a:ext cx="350533" cy="375186"/>
              <a:chOff x="-44" y="1473"/>
              <a:chExt cx="981" cy="1105"/>
            </a:xfrm>
          </p:grpSpPr>
          <p:pic>
            <p:nvPicPr>
              <p:cNvPr descr="desktop_computer_stylized_medium" id="8587" name="Google Shape;8587;p1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88" name="Google Shape;8588;p1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grpSp>
          <p:nvGrpSpPr>
            <p:cNvPr id="8589" name="Google Shape;8589;p132"/>
            <p:cNvGrpSpPr/>
            <p:nvPr/>
          </p:nvGrpSpPr>
          <p:grpSpPr>
            <a:xfrm>
              <a:off x="6454273" y="3142891"/>
              <a:ext cx="264027" cy="451210"/>
              <a:chOff x="5831973" y="4101740"/>
              <a:chExt cx="295777" cy="502587"/>
            </a:xfrm>
          </p:grpSpPr>
          <p:sp>
            <p:nvSpPr>
              <p:cNvPr id="8590" name="Google Shape;8590;p132"/>
              <p:cNvSpPr/>
              <p:nvPr/>
            </p:nvSpPr>
            <p:spPr>
              <a:xfrm>
                <a:off x="5831973" y="4101740"/>
                <a:ext cx="295777" cy="5025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Tahoma"/>
                  <a:buNone/>
                </a:pPr>
                <a:r>
                  <a:t/>
                </a:r>
                <a:endParaRPr b="0" i="0" sz="400" u="none" cap="none" strike="noStrike">
                  <a:solidFill>
                    <a:srgbClr val="000000"/>
                  </a:solidFill>
                  <a:latin typeface="Tahoma"/>
                  <a:ea typeface="Tahoma"/>
                  <a:cs typeface="Tahoma"/>
                  <a:sym typeface="Tahoma"/>
                </a:endParaRPr>
              </a:p>
            </p:txBody>
          </p:sp>
          <p:grpSp>
            <p:nvGrpSpPr>
              <p:cNvPr id="8591" name="Google Shape;8591;p132"/>
              <p:cNvGrpSpPr/>
              <p:nvPr/>
            </p:nvGrpSpPr>
            <p:grpSpPr>
              <a:xfrm>
                <a:off x="5832475" y="4197350"/>
                <a:ext cx="295275" cy="307975"/>
                <a:chOff x="5832475" y="4197350"/>
                <a:chExt cx="295275" cy="307975"/>
              </a:xfrm>
            </p:grpSpPr>
            <p:cxnSp>
              <p:nvCxnSpPr>
                <p:cNvPr id="8592" name="Google Shape;8592;p132"/>
                <p:cNvCxnSpPr/>
                <p:nvPr/>
              </p:nvCxnSpPr>
              <p:spPr>
                <a:xfrm>
                  <a:off x="5835650" y="430530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93" name="Google Shape;8593;p132"/>
                <p:cNvCxnSpPr/>
                <p:nvPr/>
              </p:nvCxnSpPr>
              <p:spPr>
                <a:xfrm>
                  <a:off x="5835650" y="41973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94" name="Google Shape;8594;p132"/>
                <p:cNvCxnSpPr/>
                <p:nvPr/>
              </p:nvCxnSpPr>
              <p:spPr>
                <a:xfrm>
                  <a:off x="5832475" y="44132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8595" name="Google Shape;8595;p132"/>
                <p:cNvCxnSpPr/>
                <p:nvPr/>
              </p:nvCxnSpPr>
              <p:spPr>
                <a:xfrm>
                  <a:off x="5832475" y="4505325"/>
                  <a:ext cx="292100" cy="0"/>
                </a:xfrm>
                <a:prstGeom prst="straightConnector1">
                  <a:avLst/>
                </a:prstGeom>
                <a:noFill/>
                <a:ln cap="flat" cmpd="sng" w="9525">
                  <a:solidFill>
                    <a:schemeClr val="dk1"/>
                  </a:solidFill>
                  <a:prstDash val="solid"/>
                  <a:miter lim="800000"/>
                  <a:headEnd len="sm" w="sm" type="none"/>
                  <a:tailEnd len="sm" w="sm" type="none"/>
                </a:ln>
              </p:spPr>
            </p:cxnSp>
          </p:grpSp>
        </p:grpSp>
      </p:grpSp>
      <p:sp>
        <p:nvSpPr>
          <p:cNvPr id="8596" name="Google Shape;8596;p132"/>
          <p:cNvSpPr/>
          <p:nvPr/>
        </p:nvSpPr>
        <p:spPr>
          <a:xfrm>
            <a:off x="4223838" y="4617911"/>
            <a:ext cx="1958882" cy="1476814"/>
          </a:xfrm>
          <a:custGeom>
            <a:rect b="b" l="l" r="r" t="t"/>
            <a:pathLst>
              <a:path extrusionOk="0" h="1476814" w="1958882">
                <a:moveTo>
                  <a:pt x="0" y="1476814"/>
                </a:moveTo>
                <a:cubicBezTo>
                  <a:pt x="192094" y="1377658"/>
                  <a:pt x="706525" y="1132479"/>
                  <a:pt x="887619" y="1048308"/>
                </a:cubicBezTo>
                <a:lnTo>
                  <a:pt x="1235779" y="1055960"/>
                </a:lnTo>
                <a:lnTo>
                  <a:pt x="1947405" y="780492"/>
                </a:lnTo>
                <a:lnTo>
                  <a:pt x="1958882" y="623629"/>
                </a:lnTo>
                <a:lnTo>
                  <a:pt x="1285517" y="218079"/>
                </a:lnTo>
                <a:lnTo>
                  <a:pt x="1327602" y="0"/>
                </a:lnTo>
              </a:path>
            </a:pathLst>
          </a:custGeom>
          <a:noFill/>
          <a:ln cap="flat" cmpd="sng" w="19050">
            <a:solidFill>
              <a:srgbClr val="75707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97" name="Google Shape;8597;p132"/>
          <p:cNvSpPr/>
          <p:nvPr/>
        </p:nvSpPr>
        <p:spPr>
          <a:xfrm>
            <a:off x="5543550" y="5391150"/>
            <a:ext cx="133350" cy="371475"/>
          </a:xfrm>
          <a:prstGeom prst="ellipse">
            <a:avLst/>
          </a:prstGeom>
          <a:no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98" name="Google Shape;8598;p1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2"/>
                                        </p:tgtEl>
                                        <p:attrNameLst>
                                          <p:attrName>style.visibility</p:attrName>
                                        </p:attrNameLst>
                                      </p:cBhvr>
                                      <p:to>
                                        <p:strVal val="visible"/>
                                      </p:to>
                                    </p:set>
                                    <p:animEffect filter="fade" transition="in">
                                      <p:cBhvr>
                                        <p:cTn dur="500"/>
                                        <p:tgtEl>
                                          <p:spTgt spid="8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3" name="Shape 8603"/>
        <p:cNvGrpSpPr/>
        <p:nvPr/>
      </p:nvGrpSpPr>
      <p:grpSpPr>
        <a:xfrm>
          <a:off x="0" y="0"/>
          <a:ext cx="0" cy="0"/>
          <a:chOff x="0" y="0"/>
          <a:chExt cx="0" cy="0"/>
        </a:xfrm>
      </p:grpSpPr>
      <p:grpSp>
        <p:nvGrpSpPr>
          <p:cNvPr id="8604" name="Google Shape;8604;p133"/>
          <p:cNvGrpSpPr/>
          <p:nvPr/>
        </p:nvGrpSpPr>
        <p:grpSpPr>
          <a:xfrm>
            <a:off x="4094463" y="4691367"/>
            <a:ext cx="2885057" cy="1481137"/>
            <a:chOff x="4094463" y="4691367"/>
            <a:chExt cx="2885057" cy="1481137"/>
          </a:xfrm>
        </p:grpSpPr>
        <p:sp>
          <p:nvSpPr>
            <p:cNvPr id="8605" name="Google Shape;8605;p133"/>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06" name="Google Shape;8606;p133"/>
            <p:cNvGrpSpPr/>
            <p:nvPr/>
          </p:nvGrpSpPr>
          <p:grpSpPr>
            <a:xfrm>
              <a:off x="5035264" y="5554092"/>
              <a:ext cx="496248" cy="260542"/>
              <a:chOff x="7141236" y="6068702"/>
              <a:chExt cx="496248" cy="260542"/>
            </a:xfrm>
          </p:grpSpPr>
          <p:sp>
            <p:nvSpPr>
              <p:cNvPr id="8607" name="Google Shape;8607;p133"/>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08" name="Google Shape;8608;p133"/>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09" name="Google Shape;8609;p133"/>
              <p:cNvGrpSpPr/>
              <p:nvPr/>
            </p:nvGrpSpPr>
            <p:grpSpPr>
              <a:xfrm>
                <a:off x="7214834" y="6090139"/>
                <a:ext cx="348960" cy="123931"/>
                <a:chOff x="7786941" y="2884917"/>
                <a:chExt cx="897649" cy="353919"/>
              </a:xfrm>
            </p:grpSpPr>
            <p:sp>
              <p:nvSpPr>
                <p:cNvPr id="8610" name="Google Shape;8610;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1" name="Google Shape;8611;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2" name="Google Shape;8612;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3" name="Google Shape;8613;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14" name="Google Shape;8614;p133"/>
            <p:cNvGrpSpPr/>
            <p:nvPr/>
          </p:nvGrpSpPr>
          <p:grpSpPr>
            <a:xfrm>
              <a:off x="6131364" y="5156690"/>
              <a:ext cx="496248" cy="260542"/>
              <a:chOff x="7493876" y="2774731"/>
              <a:chExt cx="1481958" cy="894622"/>
            </a:xfrm>
          </p:grpSpPr>
          <p:sp>
            <p:nvSpPr>
              <p:cNvPr id="8615" name="Google Shape;8615;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16" name="Google Shape;8616;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17" name="Google Shape;8617;p133"/>
              <p:cNvGrpSpPr/>
              <p:nvPr/>
            </p:nvGrpSpPr>
            <p:grpSpPr>
              <a:xfrm>
                <a:off x="7713663" y="2848339"/>
                <a:ext cx="1042107" cy="425543"/>
                <a:chOff x="7786941" y="2884917"/>
                <a:chExt cx="897649" cy="353919"/>
              </a:xfrm>
            </p:grpSpPr>
            <p:sp>
              <p:nvSpPr>
                <p:cNvPr id="8618" name="Google Shape;8618;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9" name="Google Shape;8619;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0" name="Google Shape;8620;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1" name="Google Shape;8621;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22" name="Google Shape;8622;p133"/>
            <p:cNvGrpSpPr/>
            <p:nvPr/>
          </p:nvGrpSpPr>
          <p:grpSpPr>
            <a:xfrm>
              <a:off x="5122533" y="4861037"/>
              <a:ext cx="496248" cy="260542"/>
              <a:chOff x="7493876" y="2774731"/>
              <a:chExt cx="1481958" cy="894622"/>
            </a:xfrm>
          </p:grpSpPr>
          <p:sp>
            <p:nvSpPr>
              <p:cNvPr id="8623" name="Google Shape;8623;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24" name="Google Shape;8624;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25" name="Google Shape;8625;p133"/>
              <p:cNvGrpSpPr/>
              <p:nvPr/>
            </p:nvGrpSpPr>
            <p:grpSpPr>
              <a:xfrm>
                <a:off x="7713663" y="2848339"/>
                <a:ext cx="1042107" cy="425543"/>
                <a:chOff x="7786941" y="2884917"/>
                <a:chExt cx="897649" cy="353919"/>
              </a:xfrm>
            </p:grpSpPr>
            <p:sp>
              <p:nvSpPr>
                <p:cNvPr id="8626" name="Google Shape;8626;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7" name="Google Shape;8627;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8" name="Google Shape;8628;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29" name="Google Shape;8629;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30" name="Google Shape;8630;p133"/>
            <p:cNvGrpSpPr/>
            <p:nvPr/>
          </p:nvGrpSpPr>
          <p:grpSpPr>
            <a:xfrm>
              <a:off x="4450588" y="5823254"/>
              <a:ext cx="496248" cy="260542"/>
              <a:chOff x="7493876" y="2774731"/>
              <a:chExt cx="1481958" cy="894622"/>
            </a:xfrm>
          </p:grpSpPr>
          <p:sp>
            <p:nvSpPr>
              <p:cNvPr id="8631" name="Google Shape;8631;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32" name="Google Shape;8632;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33" name="Google Shape;8633;p133"/>
              <p:cNvGrpSpPr/>
              <p:nvPr/>
            </p:nvGrpSpPr>
            <p:grpSpPr>
              <a:xfrm>
                <a:off x="7713663" y="2848339"/>
                <a:ext cx="1042107" cy="425543"/>
                <a:chOff x="7786941" y="2884917"/>
                <a:chExt cx="897649" cy="353919"/>
              </a:xfrm>
            </p:grpSpPr>
            <p:sp>
              <p:nvSpPr>
                <p:cNvPr id="8634" name="Google Shape;8634;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5" name="Google Shape;8635;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6" name="Google Shape;8636;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7" name="Google Shape;8637;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638" name="Google Shape;8638;p133"/>
            <p:cNvGrpSpPr/>
            <p:nvPr/>
          </p:nvGrpSpPr>
          <p:grpSpPr>
            <a:xfrm>
              <a:off x="4094463" y="5164346"/>
              <a:ext cx="496248" cy="260542"/>
              <a:chOff x="7493876" y="2774731"/>
              <a:chExt cx="1481958" cy="894622"/>
            </a:xfrm>
          </p:grpSpPr>
          <p:sp>
            <p:nvSpPr>
              <p:cNvPr id="8639" name="Google Shape;8639;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40" name="Google Shape;8640;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41" name="Google Shape;8641;p133"/>
              <p:cNvGrpSpPr/>
              <p:nvPr/>
            </p:nvGrpSpPr>
            <p:grpSpPr>
              <a:xfrm>
                <a:off x="7713663" y="2848339"/>
                <a:ext cx="1042107" cy="425543"/>
                <a:chOff x="7786941" y="2884917"/>
                <a:chExt cx="897649" cy="353919"/>
              </a:xfrm>
            </p:grpSpPr>
            <p:sp>
              <p:nvSpPr>
                <p:cNvPr id="8642" name="Google Shape;8642;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3" name="Google Shape;8643;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4" name="Google Shape;8644;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5" name="Google Shape;8645;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646" name="Google Shape;8646;p133"/>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7" name="Google Shape;8647;p133"/>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8" name="Google Shape;8648;p133"/>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9" name="Google Shape;8649;p133"/>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0" name="Google Shape;8650;p133"/>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1" name="Google Shape;8651;p133"/>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2" name="Google Shape;8652;p133"/>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53" name="Google Shape;8653;p133"/>
            <p:cNvGrpSpPr/>
            <p:nvPr/>
          </p:nvGrpSpPr>
          <p:grpSpPr>
            <a:xfrm>
              <a:off x="5868328" y="5862061"/>
              <a:ext cx="496248" cy="260542"/>
              <a:chOff x="7493876" y="2774731"/>
              <a:chExt cx="1481958" cy="894622"/>
            </a:xfrm>
          </p:grpSpPr>
          <p:sp>
            <p:nvSpPr>
              <p:cNvPr id="8654" name="Google Shape;8654;p1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655" name="Google Shape;8655;p1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656" name="Google Shape;8656;p133"/>
              <p:cNvGrpSpPr/>
              <p:nvPr/>
            </p:nvGrpSpPr>
            <p:grpSpPr>
              <a:xfrm>
                <a:off x="7713663" y="2848339"/>
                <a:ext cx="1042107" cy="425543"/>
                <a:chOff x="7786941" y="2884917"/>
                <a:chExt cx="897649" cy="353919"/>
              </a:xfrm>
            </p:grpSpPr>
            <p:sp>
              <p:nvSpPr>
                <p:cNvPr id="8657" name="Google Shape;8657;p1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8" name="Google Shape;8658;p1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9" name="Google Shape;8659;p1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60" name="Google Shape;8660;p1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661" name="Google Shape;8661;p133"/>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and the congested “bottleneck link”</a:t>
            </a:r>
            <a:endParaRPr b="0" sz="4400"/>
          </a:p>
        </p:txBody>
      </p:sp>
      <p:sp>
        <p:nvSpPr>
          <p:cNvPr id="8662" name="Google Shape;8662;p133"/>
          <p:cNvSpPr txBox="1"/>
          <p:nvPr/>
        </p:nvSpPr>
        <p:spPr>
          <a:xfrm>
            <a:off x="667043" y="1366203"/>
            <a:ext cx="11177587" cy="915177"/>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(classic, CUBIC) increase TCP’s sending rate until packet loss occurs at some router’s output: the </a:t>
            </a:r>
            <a:r>
              <a:rPr b="0" i="1" lang="en-US" sz="2800" u="none" cap="none" strike="noStrike">
                <a:solidFill>
                  <a:srgbClr val="C00000"/>
                </a:solidFill>
                <a:latin typeface="Calibri"/>
                <a:ea typeface="Calibri"/>
                <a:cs typeface="Calibri"/>
                <a:sym typeface="Calibri"/>
              </a:rPr>
              <a:t>bottleneck link</a:t>
            </a:r>
            <a:endParaRPr/>
          </a:p>
        </p:txBody>
      </p:sp>
      <p:sp>
        <p:nvSpPr>
          <p:cNvPr id="8663" name="Google Shape;8663;p133"/>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664" name="Google Shape;8664;p133"/>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65" name="Google Shape;8665;p133"/>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666" name="Google Shape;8666;p133"/>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667" name="Google Shape;8667;p133"/>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668" name="Google Shape;8668;p133"/>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669" name="Google Shape;8669;p133"/>
          <p:cNvGrpSpPr/>
          <p:nvPr/>
        </p:nvGrpSpPr>
        <p:grpSpPr>
          <a:xfrm flipH="1">
            <a:off x="2151063" y="4424307"/>
            <a:ext cx="673100" cy="701675"/>
            <a:chOff x="-44" y="1473"/>
            <a:chExt cx="981" cy="1105"/>
          </a:xfrm>
        </p:grpSpPr>
        <p:pic>
          <p:nvPicPr>
            <p:cNvPr descr="desktop_computer_stylized_medium" id="8670" name="Google Shape;8670;p13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71" name="Google Shape;8671;p13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672" name="Google Shape;8672;p133"/>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673" name="Google Shape;8673;p133"/>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674" name="Google Shape;8674;p133"/>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675" name="Google Shape;8675;p133"/>
          <p:cNvGrpSpPr/>
          <p:nvPr/>
        </p:nvGrpSpPr>
        <p:grpSpPr>
          <a:xfrm>
            <a:off x="7794625" y="3673978"/>
            <a:ext cx="2047875" cy="1620287"/>
            <a:chOff x="4882752" y="4007261"/>
            <a:chExt cx="2046816" cy="1619544"/>
          </a:xfrm>
        </p:grpSpPr>
        <p:sp>
          <p:nvSpPr>
            <p:cNvPr id="8676" name="Google Shape;8676;p133"/>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677" name="Google Shape;8677;p133"/>
            <p:cNvGrpSpPr/>
            <p:nvPr/>
          </p:nvGrpSpPr>
          <p:grpSpPr>
            <a:xfrm>
              <a:off x="4927179" y="4319856"/>
              <a:ext cx="2002389" cy="1306949"/>
              <a:chOff x="1305623" y="4714561"/>
              <a:chExt cx="2002389" cy="1306949"/>
            </a:xfrm>
          </p:grpSpPr>
          <p:sp>
            <p:nvSpPr>
              <p:cNvPr id="8678" name="Google Shape;8678;p133"/>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79" name="Google Shape;8679;p133"/>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680" name="Google Shape;8680;p133"/>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681" name="Google Shape;8681;p133"/>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682" name="Google Shape;8682;p133"/>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683" name="Google Shape;8683;p133"/>
              <p:cNvGrpSpPr/>
              <p:nvPr/>
            </p:nvGrpSpPr>
            <p:grpSpPr>
              <a:xfrm flipH="1">
                <a:off x="2634682" y="5076164"/>
                <a:ext cx="673330" cy="701684"/>
                <a:chOff x="-44" y="1473"/>
                <a:chExt cx="981" cy="1105"/>
              </a:xfrm>
            </p:grpSpPr>
            <p:pic>
              <p:nvPicPr>
                <p:cNvPr descr="desktop_computer_stylized_medium" id="8684" name="Google Shape;8684;p13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85" name="Google Shape;8685;p13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686" name="Google Shape;8686;p133"/>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687" name="Google Shape;8687;p133"/>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688" name="Google Shape;8688;p133"/>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689" name="Google Shape;8689;p133"/>
          <p:cNvSpPr/>
          <p:nvPr/>
        </p:nvSpPr>
        <p:spPr>
          <a:xfrm>
            <a:off x="3329610" y="4423977"/>
            <a:ext cx="5073926" cy="1298611"/>
          </a:xfrm>
          <a:custGeom>
            <a:rect b="b" l="l" r="r" t="t"/>
            <a:pathLst>
              <a:path extrusionOk="0" h="1559667" w="5156094">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90" name="Google Shape;8690;p133"/>
          <p:cNvSpPr txBox="1"/>
          <p:nvPr/>
        </p:nvSpPr>
        <p:spPr>
          <a:xfrm>
            <a:off x="640467" y="2288196"/>
            <a:ext cx="11177587" cy="915177"/>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understanding congestion: useful to focus on congested bottleneck link</a:t>
            </a:r>
            <a:endParaRPr/>
          </a:p>
        </p:txBody>
      </p:sp>
      <p:grpSp>
        <p:nvGrpSpPr>
          <p:cNvPr id="8691" name="Google Shape;8691;p133"/>
          <p:cNvGrpSpPr/>
          <p:nvPr/>
        </p:nvGrpSpPr>
        <p:grpSpPr>
          <a:xfrm>
            <a:off x="4839045" y="5517878"/>
            <a:ext cx="876995" cy="403711"/>
            <a:chOff x="5033182" y="4091488"/>
            <a:chExt cx="876995" cy="403711"/>
          </a:xfrm>
        </p:grpSpPr>
        <p:cxnSp>
          <p:nvCxnSpPr>
            <p:cNvPr id="8692" name="Google Shape;8692;p133"/>
            <p:cNvCxnSpPr/>
            <p:nvPr/>
          </p:nvCxnSpPr>
          <p:spPr>
            <a:xfrm>
              <a:off x="5518407" y="4289261"/>
              <a:ext cx="86950" cy="0"/>
            </a:xfrm>
            <a:prstGeom prst="straightConnector1">
              <a:avLst/>
            </a:prstGeom>
            <a:noFill/>
            <a:ln cap="flat" cmpd="sng" w="19050">
              <a:solidFill>
                <a:schemeClr val="dk1"/>
              </a:solidFill>
              <a:prstDash val="solid"/>
              <a:miter lim="800000"/>
              <a:headEnd len="sm" w="sm" type="none"/>
              <a:tailEnd len="sm" w="sm" type="none"/>
            </a:ln>
          </p:spPr>
        </p:cxnSp>
        <p:sp>
          <p:nvSpPr>
            <p:cNvPr id="8693" name="Google Shape;8693;p133"/>
            <p:cNvSpPr/>
            <p:nvPr/>
          </p:nvSpPr>
          <p:spPr>
            <a:xfrm>
              <a:off x="5150875" y="4091488"/>
              <a:ext cx="382771" cy="403711"/>
            </a:xfrm>
            <a:prstGeom prst="rect">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94" name="Google Shape;8694;p133"/>
            <p:cNvSpPr/>
            <p:nvPr/>
          </p:nvSpPr>
          <p:spPr>
            <a:xfrm>
              <a:off x="5565439" y="4115310"/>
              <a:ext cx="344738" cy="344738"/>
            </a:xfrm>
            <a:prstGeom prst="ellipse">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695" name="Google Shape;8695;p133"/>
            <p:cNvCxnSpPr/>
            <p:nvPr/>
          </p:nvCxnSpPr>
          <p:spPr>
            <a:xfrm>
              <a:off x="5427947"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696" name="Google Shape;8696;p133"/>
            <p:cNvCxnSpPr/>
            <p:nvPr/>
          </p:nvCxnSpPr>
          <p:spPr>
            <a:xfrm>
              <a:off x="5330094"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697" name="Google Shape;8697;p133"/>
            <p:cNvCxnSpPr/>
            <p:nvPr/>
          </p:nvCxnSpPr>
          <p:spPr>
            <a:xfrm>
              <a:off x="5238591" y="4125482"/>
              <a:ext cx="0" cy="328557"/>
            </a:xfrm>
            <a:prstGeom prst="straightConnector1">
              <a:avLst/>
            </a:prstGeom>
            <a:noFill/>
            <a:ln cap="flat" cmpd="sng" w="15875">
              <a:solidFill>
                <a:schemeClr val="dk1"/>
              </a:solidFill>
              <a:prstDash val="solid"/>
              <a:miter lim="800000"/>
              <a:headEnd len="sm" w="sm" type="none"/>
              <a:tailEnd len="sm" w="sm" type="none"/>
            </a:ln>
          </p:spPr>
        </p:cxnSp>
        <p:sp>
          <p:nvSpPr>
            <p:cNvPr id="8698" name="Google Shape;8698;p133"/>
            <p:cNvSpPr/>
            <p:nvPr/>
          </p:nvSpPr>
          <p:spPr>
            <a:xfrm>
              <a:off x="5033182" y="4091488"/>
              <a:ext cx="112907" cy="40371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699" name="Google Shape;8699;p133"/>
          <p:cNvGrpSpPr/>
          <p:nvPr/>
        </p:nvGrpSpPr>
        <p:grpSpPr>
          <a:xfrm>
            <a:off x="3613959" y="3330565"/>
            <a:ext cx="4288552" cy="1038257"/>
            <a:chOff x="3613959" y="3330565"/>
            <a:chExt cx="4288552" cy="1038257"/>
          </a:xfrm>
        </p:grpSpPr>
        <p:sp>
          <p:nvSpPr>
            <p:cNvPr id="8700" name="Google Shape;8700;p133"/>
            <p:cNvSpPr txBox="1"/>
            <p:nvPr/>
          </p:nvSpPr>
          <p:spPr>
            <a:xfrm>
              <a:off x="3932559" y="3330565"/>
              <a:ext cx="3969952" cy="840230"/>
            </a:xfrm>
            <a:prstGeom prst="rect">
              <a:avLst/>
            </a:prstGeom>
            <a:noFill/>
            <a:ln>
              <a:noFill/>
            </a:ln>
          </p:spPr>
          <p:txBody>
            <a:bodyPr anchorCtr="0" anchor="t" bIns="45700" lIns="91425" spcFirstLastPara="1" rIns="91425" wrap="square" tIns="45700">
              <a:spAutoFit/>
            </a:bodyPr>
            <a:lstStyle/>
            <a:p>
              <a:pPr indent="-460375" lvl="0" marL="460375" marR="0" rtl="0" algn="l">
                <a:lnSpc>
                  <a:spcPct val="90000"/>
                </a:lnSpc>
                <a:spcBef>
                  <a:spcPts val="0"/>
                </a:spcBef>
                <a:spcAft>
                  <a:spcPts val="0"/>
                </a:spcAft>
                <a:buClr>
                  <a:srgbClr val="0000A3"/>
                </a:buClr>
                <a:buSzPts val="1800"/>
                <a:buFont typeface="Calibri"/>
                <a:buNone/>
              </a:pPr>
              <a:r>
                <a:rPr b="1" i="0" lang="en-US" sz="1800" u="none" cap="none" strike="noStrike">
                  <a:solidFill>
                    <a:srgbClr val="0000A3"/>
                  </a:solidFill>
                  <a:latin typeface="Calibri"/>
                  <a:ea typeface="Calibri"/>
                  <a:cs typeface="Calibri"/>
                  <a:sym typeface="Calibri"/>
                </a:rPr>
                <a:t>insight: </a:t>
              </a:r>
              <a:r>
                <a:rPr b="0" i="0" lang="en-US" sz="1800" u="none" cap="none" strike="noStrike">
                  <a:solidFill>
                    <a:srgbClr val="000000"/>
                  </a:solidFill>
                  <a:latin typeface="Calibri"/>
                  <a:ea typeface="Calibri"/>
                  <a:cs typeface="Calibri"/>
                  <a:sym typeface="Calibri"/>
                </a:rPr>
                <a:t>increasing TCP sending rate will </a:t>
              </a:r>
              <a:r>
                <a:rPr b="0" i="1" lang="en-US" sz="1800" u="none" cap="none" strike="noStrike">
                  <a:solidFill>
                    <a:srgbClr val="000000"/>
                  </a:solidFill>
                  <a:latin typeface="Calibri"/>
                  <a:ea typeface="Calibri"/>
                  <a:cs typeface="Calibri"/>
                  <a:sym typeface="Calibri"/>
                </a:rPr>
                <a:t>not</a:t>
              </a:r>
              <a:r>
                <a:rPr b="0" i="0" lang="en-US" sz="1800" u="none" cap="none" strike="noStrike">
                  <a:solidFill>
                    <a:srgbClr val="000000"/>
                  </a:solidFill>
                  <a:latin typeface="Calibri"/>
                  <a:ea typeface="Calibri"/>
                  <a:cs typeface="Calibri"/>
                  <a:sym typeface="Calibri"/>
                </a:rPr>
                <a:t> increase end-end throughout with congested bottleneck</a:t>
              </a:r>
              <a:endParaRPr/>
            </a:p>
          </p:txBody>
        </p:sp>
        <p:cxnSp>
          <p:nvCxnSpPr>
            <p:cNvPr id="8701" name="Google Shape;8701;p133"/>
            <p:cNvCxnSpPr/>
            <p:nvPr/>
          </p:nvCxnSpPr>
          <p:spPr>
            <a:xfrm flipH="1">
              <a:off x="3613959" y="3751185"/>
              <a:ext cx="738967" cy="617637"/>
            </a:xfrm>
            <a:prstGeom prst="straightConnector1">
              <a:avLst/>
            </a:prstGeom>
            <a:noFill/>
            <a:ln cap="flat" cmpd="sng" w="9525">
              <a:solidFill>
                <a:schemeClr val="dk1"/>
              </a:solidFill>
              <a:prstDash val="solid"/>
              <a:miter lim="800000"/>
              <a:headEnd len="sm" w="sm" type="none"/>
              <a:tailEnd len="sm" w="sm" type="none"/>
            </a:ln>
          </p:spPr>
        </p:cxnSp>
      </p:grpSp>
      <p:grpSp>
        <p:nvGrpSpPr>
          <p:cNvPr id="8702" name="Google Shape;8702;p133"/>
          <p:cNvGrpSpPr/>
          <p:nvPr/>
        </p:nvGrpSpPr>
        <p:grpSpPr>
          <a:xfrm>
            <a:off x="477143" y="5329279"/>
            <a:ext cx="4243986" cy="840230"/>
            <a:chOff x="477143" y="5329279"/>
            <a:chExt cx="4243986" cy="840230"/>
          </a:xfrm>
        </p:grpSpPr>
        <p:sp>
          <p:nvSpPr>
            <p:cNvPr id="8703" name="Google Shape;8703;p133"/>
            <p:cNvSpPr txBox="1"/>
            <p:nvPr/>
          </p:nvSpPr>
          <p:spPr>
            <a:xfrm>
              <a:off x="477143" y="5329279"/>
              <a:ext cx="2818708" cy="840230"/>
            </a:xfrm>
            <a:prstGeom prst="rect">
              <a:avLst/>
            </a:prstGeom>
            <a:noFill/>
            <a:ln>
              <a:noFill/>
            </a:ln>
          </p:spPr>
          <p:txBody>
            <a:bodyPr anchorCtr="0" anchor="t" bIns="45700" lIns="91425" spcFirstLastPara="1" rIns="91425" wrap="square" tIns="45700">
              <a:spAutoFit/>
            </a:bodyPr>
            <a:lstStyle/>
            <a:p>
              <a:pPr indent="-460375" lvl="0" marL="460375" marR="0" rtl="0" algn="r">
                <a:lnSpc>
                  <a:spcPct val="90000"/>
                </a:lnSpc>
                <a:spcBef>
                  <a:spcPts val="0"/>
                </a:spcBef>
                <a:spcAft>
                  <a:spcPts val="0"/>
                </a:spcAft>
                <a:buClr>
                  <a:srgbClr val="0000A3"/>
                </a:buClr>
                <a:buSzPts val="1800"/>
                <a:buFont typeface="Calibri"/>
                <a:buNone/>
              </a:pPr>
              <a:r>
                <a:rPr b="1" i="0" lang="en-US" sz="1800" u="none" cap="none" strike="noStrike">
                  <a:solidFill>
                    <a:srgbClr val="0000A3"/>
                  </a:solidFill>
                  <a:latin typeface="Calibri"/>
                  <a:ea typeface="Calibri"/>
                  <a:cs typeface="Calibri"/>
                  <a:sym typeface="Calibri"/>
                </a:rPr>
                <a:t>insight: </a:t>
              </a:r>
              <a:r>
                <a:rPr b="0" i="0" lang="en-US" sz="1800" u="none" cap="none" strike="noStrike">
                  <a:solidFill>
                    <a:srgbClr val="000000"/>
                  </a:solidFill>
                  <a:latin typeface="Calibri"/>
                  <a:ea typeface="Calibri"/>
                  <a:cs typeface="Calibri"/>
                  <a:sym typeface="Calibri"/>
                </a:rPr>
                <a:t>increasing TCP sending rate </a:t>
              </a:r>
              <a:r>
                <a:rPr b="0" i="1" lang="en-US" sz="1800" u="none" cap="none" strike="noStrike">
                  <a:solidFill>
                    <a:srgbClr val="000000"/>
                  </a:solidFill>
                  <a:latin typeface="Calibri"/>
                  <a:ea typeface="Calibri"/>
                  <a:cs typeface="Calibri"/>
                  <a:sym typeface="Calibri"/>
                </a:rPr>
                <a:t>will</a:t>
              </a:r>
              <a:r>
                <a:rPr b="0" i="0" lang="en-US" sz="1800" u="none" cap="none" strike="noStrike">
                  <a:solidFill>
                    <a:srgbClr val="000000"/>
                  </a:solidFill>
                  <a:latin typeface="Calibri"/>
                  <a:ea typeface="Calibri"/>
                  <a:cs typeface="Calibri"/>
                  <a:sym typeface="Calibri"/>
                </a:rPr>
                <a:t> increase measured RTT</a:t>
              </a:r>
              <a:endParaRPr/>
            </a:p>
          </p:txBody>
        </p:sp>
        <p:cxnSp>
          <p:nvCxnSpPr>
            <p:cNvPr id="8704" name="Google Shape;8704;p133"/>
            <p:cNvCxnSpPr/>
            <p:nvPr/>
          </p:nvCxnSpPr>
          <p:spPr>
            <a:xfrm>
              <a:off x="3375025" y="5714069"/>
              <a:ext cx="1346104" cy="0"/>
            </a:xfrm>
            <a:prstGeom prst="straightConnector1">
              <a:avLst/>
            </a:prstGeom>
            <a:noFill/>
            <a:ln cap="flat" cmpd="sng" w="9525">
              <a:solidFill>
                <a:schemeClr val="dk1"/>
              </a:solidFill>
              <a:prstDash val="solid"/>
              <a:miter lim="800000"/>
              <a:headEnd len="sm" w="sm" type="none"/>
              <a:tailEnd len="sm" w="sm" type="none"/>
            </a:ln>
          </p:spPr>
        </p:cxnSp>
      </p:grpSp>
      <p:cxnSp>
        <p:nvCxnSpPr>
          <p:cNvPr id="8705" name="Google Shape;8705;p133"/>
          <p:cNvCxnSpPr/>
          <p:nvPr/>
        </p:nvCxnSpPr>
        <p:spPr>
          <a:xfrm>
            <a:off x="3375025" y="6443089"/>
            <a:ext cx="5028511" cy="0"/>
          </a:xfrm>
          <a:prstGeom prst="straightConnector1">
            <a:avLst/>
          </a:prstGeom>
          <a:noFill/>
          <a:ln cap="flat" cmpd="sng" w="15875">
            <a:solidFill>
              <a:schemeClr val="dk1"/>
            </a:solidFill>
            <a:prstDash val="solid"/>
            <a:miter lim="800000"/>
            <a:headEnd len="med" w="med" type="triangle"/>
            <a:tailEnd len="med" w="med" type="triangle"/>
          </a:ln>
        </p:spPr>
      </p:cxnSp>
      <p:sp>
        <p:nvSpPr>
          <p:cNvPr id="8706" name="Google Shape;8706;p133"/>
          <p:cNvSpPr txBox="1"/>
          <p:nvPr/>
        </p:nvSpPr>
        <p:spPr>
          <a:xfrm>
            <a:off x="4970635" y="6269341"/>
            <a:ext cx="535018"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RTT</a:t>
            </a:r>
            <a:endParaRPr/>
          </a:p>
        </p:txBody>
      </p:sp>
      <p:sp>
        <p:nvSpPr>
          <p:cNvPr id="8707" name="Google Shape;8707;p133"/>
          <p:cNvSpPr txBox="1"/>
          <p:nvPr/>
        </p:nvSpPr>
        <p:spPr>
          <a:xfrm>
            <a:off x="5618466" y="5874964"/>
            <a:ext cx="7584409" cy="424732"/>
          </a:xfrm>
          <a:prstGeom prst="rect">
            <a:avLst/>
          </a:prstGeom>
          <a:noFill/>
          <a:ln>
            <a:noFill/>
          </a:ln>
        </p:spPr>
        <p:txBody>
          <a:bodyPr anchorCtr="0" anchor="t" bIns="45700" lIns="91425" spcFirstLastPara="1" rIns="91425" wrap="square" tIns="45700">
            <a:spAutoFit/>
          </a:bodyPr>
          <a:lstStyle/>
          <a:p>
            <a:pPr indent="-587375" lvl="0" marL="587375" marR="0" rtl="0" algn="l">
              <a:lnSpc>
                <a:spcPct val="90000"/>
              </a:lnSpc>
              <a:spcBef>
                <a:spcPts val="0"/>
              </a:spcBef>
              <a:spcAft>
                <a:spcPts val="0"/>
              </a:spcAft>
              <a:buClr>
                <a:srgbClr val="0000A3"/>
              </a:buClr>
              <a:buSzPts val="2400"/>
              <a:buFont typeface="Calibri"/>
              <a:buNone/>
            </a:pPr>
            <a:r>
              <a:rPr b="1" i="1" lang="en-US" sz="2400" u="none" cap="none" strike="noStrike">
                <a:solidFill>
                  <a:srgbClr val="0000A3"/>
                </a:solidFill>
                <a:latin typeface="Calibri"/>
                <a:ea typeface="Calibri"/>
                <a:cs typeface="Calibri"/>
                <a:sym typeface="Calibri"/>
              </a:rPr>
              <a:t>Goal: </a:t>
            </a:r>
            <a:r>
              <a:rPr b="0" i="1" lang="en-US" sz="2200" u="none" cap="none" strike="noStrike">
                <a:solidFill>
                  <a:srgbClr val="000000"/>
                </a:solidFill>
                <a:latin typeface="Calibri"/>
                <a:ea typeface="Calibri"/>
                <a:cs typeface="Calibri"/>
                <a:sym typeface="Calibri"/>
              </a:rPr>
              <a:t>“keep the end-end pipe just full, but not fuller”</a:t>
            </a:r>
            <a:endParaRPr/>
          </a:p>
        </p:txBody>
      </p:sp>
      <p:sp>
        <p:nvSpPr>
          <p:cNvPr id="8708" name="Google Shape;8708;p1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690"/>
                                        </p:tgtEl>
                                        <p:attrNameLst>
                                          <p:attrName>style.visibility</p:attrName>
                                        </p:attrNameLst>
                                      </p:cBhvr>
                                      <p:to>
                                        <p:strVal val="visible"/>
                                      </p:to>
                                    </p:set>
                                    <p:animEffect filter="fade" transition="in">
                                      <p:cBhvr>
                                        <p:cTn dur="500"/>
                                        <p:tgtEl>
                                          <p:spTgt spid="8690"/>
                                        </p:tgtEl>
                                      </p:cBhvr>
                                    </p:animEffect>
                                  </p:childTnLst>
                                </p:cTn>
                              </p:par>
                              <p:par>
                                <p:cTn fill="hold" nodeType="withEffect" presetClass="exit" presetID="10" presetSubtype="0">
                                  <p:stCondLst>
                                    <p:cond delay="0"/>
                                  </p:stCondLst>
                                  <p:childTnLst>
                                    <p:animEffect filter="fade" transition="out">
                                      <p:cBhvr>
                                        <p:cTn dur="500"/>
                                        <p:tgtEl>
                                          <p:spTgt spid="8604"/>
                                        </p:tgtEl>
                                      </p:cBhvr>
                                    </p:animEffect>
                                    <p:set>
                                      <p:cBhvr>
                                        <p:cTn dur="1" fill="hold">
                                          <p:stCondLst>
                                            <p:cond delay="500"/>
                                          </p:stCondLst>
                                        </p:cTn>
                                        <p:tgtEl>
                                          <p:spTgt spid="86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99"/>
                                        </p:tgtEl>
                                        <p:attrNameLst>
                                          <p:attrName>style.visibility</p:attrName>
                                        </p:attrNameLst>
                                      </p:cBhvr>
                                      <p:to>
                                        <p:strVal val="visible"/>
                                      </p:to>
                                    </p:set>
                                    <p:animEffect filter="fade" transition="in">
                                      <p:cBhvr>
                                        <p:cTn dur="500"/>
                                        <p:tgtEl>
                                          <p:spTgt spid="8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2"/>
                                        </p:tgtEl>
                                        <p:attrNameLst>
                                          <p:attrName>style.visibility</p:attrName>
                                        </p:attrNameLst>
                                      </p:cBhvr>
                                      <p:to>
                                        <p:strVal val="visible"/>
                                      </p:to>
                                    </p:set>
                                    <p:animEffect filter="fade" transition="in">
                                      <p:cBhvr>
                                        <p:cTn dur="500"/>
                                        <p:tgtEl>
                                          <p:spTgt spid="87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7"/>
                                        </p:tgtEl>
                                        <p:attrNameLst>
                                          <p:attrName>style.visibility</p:attrName>
                                        </p:attrNameLst>
                                      </p:cBhvr>
                                      <p:to>
                                        <p:strVal val="visible"/>
                                      </p:to>
                                    </p:set>
                                    <p:animEffect filter="fade" transition="in">
                                      <p:cBhvr>
                                        <p:cTn dur="500"/>
                                        <p:tgtEl>
                                          <p:spTgt spid="8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3" name="Shape 8713"/>
        <p:cNvGrpSpPr/>
        <p:nvPr/>
      </p:nvGrpSpPr>
      <p:grpSpPr>
        <a:xfrm>
          <a:off x="0" y="0"/>
          <a:ext cx="0" cy="0"/>
          <a:chOff x="0" y="0"/>
          <a:chExt cx="0" cy="0"/>
        </a:xfrm>
      </p:grpSpPr>
      <p:sp>
        <p:nvSpPr>
          <p:cNvPr id="8714" name="Google Shape;8714;p134"/>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Delay-based TCP </a:t>
            </a:r>
            <a:r>
              <a:rPr lang="en-US"/>
              <a:t>c</a:t>
            </a:r>
            <a:r>
              <a:rPr lang="en-US" sz="4400"/>
              <a:t>ongestion </a:t>
            </a:r>
            <a:r>
              <a:rPr lang="en-US"/>
              <a:t>c</a:t>
            </a:r>
            <a:r>
              <a:rPr lang="en-US" sz="4400"/>
              <a:t>ontrol</a:t>
            </a:r>
            <a:endParaRPr b="0" sz="4400"/>
          </a:p>
        </p:txBody>
      </p:sp>
      <p:sp>
        <p:nvSpPr>
          <p:cNvPr id="8715" name="Google Shape;8715;p134"/>
          <p:cNvSpPr txBox="1"/>
          <p:nvPr/>
        </p:nvSpPr>
        <p:spPr>
          <a:xfrm>
            <a:off x="630271" y="1334752"/>
            <a:ext cx="11639957" cy="2190750"/>
          </a:xfrm>
          <a:prstGeom prst="rect">
            <a:avLst/>
          </a:prstGeom>
          <a:noFill/>
          <a:ln>
            <a:noFill/>
          </a:ln>
        </p:spPr>
        <p:txBody>
          <a:bodyPr anchorCtr="0" anchor="t" bIns="45700" lIns="91425" spcFirstLastPara="1" rIns="91425" wrap="square" tIns="45700">
            <a:normAutofit/>
          </a:bodyPr>
          <a:lstStyle/>
          <a:p>
            <a:pPr indent="0" lvl="0" marL="241300" marR="0" rtl="0" algn="l">
              <a:lnSpc>
                <a:spcPct val="10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Keeping sender-to-receiver pipe “just full enough, but no fuller”: keep bottleneck link busy transmitting, but avoid high delays/buffering</a:t>
            </a:r>
            <a:endParaRPr/>
          </a:p>
        </p:txBody>
      </p:sp>
      <p:grpSp>
        <p:nvGrpSpPr>
          <p:cNvPr id="8716" name="Google Shape;8716;p134"/>
          <p:cNvGrpSpPr/>
          <p:nvPr/>
        </p:nvGrpSpPr>
        <p:grpSpPr>
          <a:xfrm>
            <a:off x="1216626" y="2508955"/>
            <a:ext cx="5802008" cy="918937"/>
            <a:chOff x="2365663" y="2430127"/>
            <a:chExt cx="5802008" cy="918937"/>
          </a:xfrm>
        </p:grpSpPr>
        <p:grpSp>
          <p:nvGrpSpPr>
            <p:cNvPr id="8717" name="Google Shape;8717;p134"/>
            <p:cNvGrpSpPr/>
            <p:nvPr/>
          </p:nvGrpSpPr>
          <p:grpSpPr>
            <a:xfrm flipH="1">
              <a:off x="2365663" y="2430127"/>
              <a:ext cx="673100" cy="701675"/>
              <a:chOff x="-44" y="1473"/>
              <a:chExt cx="981" cy="1105"/>
            </a:xfrm>
          </p:grpSpPr>
          <p:pic>
            <p:nvPicPr>
              <p:cNvPr descr="desktop_computer_stylized_medium" id="8718" name="Google Shape;8718;p13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19" name="Google Shape;8719;p1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720" name="Google Shape;8720;p134"/>
            <p:cNvGrpSpPr/>
            <p:nvPr/>
          </p:nvGrpSpPr>
          <p:grpSpPr>
            <a:xfrm flipH="1">
              <a:off x="7493993" y="2467744"/>
              <a:ext cx="673678" cy="702006"/>
              <a:chOff x="-44" y="1473"/>
              <a:chExt cx="981" cy="1105"/>
            </a:xfrm>
          </p:grpSpPr>
          <p:pic>
            <p:nvPicPr>
              <p:cNvPr descr="desktop_computer_stylized_medium" id="8721" name="Google Shape;8721;p13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22" name="Google Shape;8722;p1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723" name="Google Shape;8723;p134"/>
            <p:cNvGrpSpPr/>
            <p:nvPr/>
          </p:nvGrpSpPr>
          <p:grpSpPr>
            <a:xfrm>
              <a:off x="5227521" y="2574515"/>
              <a:ext cx="876995" cy="403711"/>
              <a:chOff x="5033182" y="4091488"/>
              <a:chExt cx="876995" cy="403711"/>
            </a:xfrm>
          </p:grpSpPr>
          <p:cxnSp>
            <p:nvCxnSpPr>
              <p:cNvPr id="8724" name="Google Shape;8724;p134"/>
              <p:cNvCxnSpPr/>
              <p:nvPr/>
            </p:nvCxnSpPr>
            <p:spPr>
              <a:xfrm>
                <a:off x="5518407" y="4289261"/>
                <a:ext cx="86950" cy="0"/>
              </a:xfrm>
              <a:prstGeom prst="straightConnector1">
                <a:avLst/>
              </a:prstGeom>
              <a:noFill/>
              <a:ln cap="flat" cmpd="sng" w="19050">
                <a:solidFill>
                  <a:schemeClr val="dk1"/>
                </a:solidFill>
                <a:prstDash val="solid"/>
                <a:miter lim="800000"/>
                <a:headEnd len="sm" w="sm" type="none"/>
                <a:tailEnd len="sm" w="sm" type="none"/>
              </a:ln>
            </p:spPr>
          </p:cxnSp>
          <p:sp>
            <p:nvSpPr>
              <p:cNvPr id="8725" name="Google Shape;8725;p134"/>
              <p:cNvSpPr/>
              <p:nvPr/>
            </p:nvSpPr>
            <p:spPr>
              <a:xfrm>
                <a:off x="5150875" y="4091488"/>
                <a:ext cx="382771" cy="403711"/>
              </a:xfrm>
              <a:prstGeom prst="rect">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26" name="Google Shape;8726;p134"/>
              <p:cNvSpPr/>
              <p:nvPr/>
            </p:nvSpPr>
            <p:spPr>
              <a:xfrm>
                <a:off x="5565439" y="4115310"/>
                <a:ext cx="344738" cy="344738"/>
              </a:xfrm>
              <a:prstGeom prst="ellipse">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727" name="Google Shape;8727;p134"/>
              <p:cNvCxnSpPr/>
              <p:nvPr/>
            </p:nvCxnSpPr>
            <p:spPr>
              <a:xfrm>
                <a:off x="5427947"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728" name="Google Shape;8728;p134"/>
              <p:cNvCxnSpPr/>
              <p:nvPr/>
            </p:nvCxnSpPr>
            <p:spPr>
              <a:xfrm>
                <a:off x="5330094"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729" name="Google Shape;8729;p134"/>
              <p:cNvCxnSpPr/>
              <p:nvPr/>
            </p:nvCxnSpPr>
            <p:spPr>
              <a:xfrm>
                <a:off x="5238591" y="4125482"/>
                <a:ext cx="0" cy="328557"/>
              </a:xfrm>
              <a:prstGeom prst="straightConnector1">
                <a:avLst/>
              </a:prstGeom>
              <a:noFill/>
              <a:ln cap="flat" cmpd="sng" w="15875">
                <a:solidFill>
                  <a:schemeClr val="dk1"/>
                </a:solidFill>
                <a:prstDash val="solid"/>
                <a:miter lim="800000"/>
                <a:headEnd len="sm" w="sm" type="none"/>
                <a:tailEnd len="sm" w="sm" type="none"/>
              </a:ln>
            </p:spPr>
          </p:cxnSp>
          <p:sp>
            <p:nvSpPr>
              <p:cNvPr id="8730" name="Google Shape;8730;p134"/>
              <p:cNvSpPr/>
              <p:nvPr/>
            </p:nvSpPr>
            <p:spPr>
              <a:xfrm>
                <a:off x="5033182" y="4091488"/>
                <a:ext cx="112907" cy="40371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731" name="Google Shape;8731;p134"/>
            <p:cNvGrpSpPr/>
            <p:nvPr/>
          </p:nvGrpSpPr>
          <p:grpSpPr>
            <a:xfrm>
              <a:off x="3067072" y="2776371"/>
              <a:ext cx="4456450" cy="344905"/>
              <a:chOff x="3391522" y="3946678"/>
              <a:chExt cx="4456450" cy="344905"/>
            </a:xfrm>
          </p:grpSpPr>
          <p:cxnSp>
            <p:nvCxnSpPr>
              <p:cNvPr id="8732" name="Google Shape;8732;p134"/>
              <p:cNvCxnSpPr/>
              <p:nvPr/>
            </p:nvCxnSpPr>
            <p:spPr>
              <a:xfrm>
                <a:off x="3391522" y="3946678"/>
                <a:ext cx="4456450" cy="0"/>
              </a:xfrm>
              <a:prstGeom prst="straightConnector1">
                <a:avLst/>
              </a:prstGeom>
              <a:noFill/>
              <a:ln cap="flat" cmpd="sng" w="15875">
                <a:solidFill>
                  <a:schemeClr val="dk1"/>
                </a:solidFill>
                <a:prstDash val="solid"/>
                <a:miter lim="800000"/>
                <a:headEnd len="sm" w="sm" type="none"/>
                <a:tailEnd len="med" w="med" type="triangle"/>
              </a:ln>
            </p:spPr>
          </p:cxnSp>
          <p:cxnSp>
            <p:nvCxnSpPr>
              <p:cNvPr id="8733" name="Google Shape;8733;p134"/>
              <p:cNvCxnSpPr/>
              <p:nvPr/>
            </p:nvCxnSpPr>
            <p:spPr>
              <a:xfrm>
                <a:off x="3391522" y="4291583"/>
                <a:ext cx="4456450" cy="0"/>
              </a:xfrm>
              <a:prstGeom prst="straightConnector1">
                <a:avLst/>
              </a:prstGeom>
              <a:noFill/>
              <a:ln cap="flat" cmpd="sng" w="15875">
                <a:solidFill>
                  <a:schemeClr val="dk1"/>
                </a:solidFill>
                <a:prstDash val="solid"/>
                <a:miter lim="800000"/>
                <a:headEnd len="med" w="med" type="triangle"/>
                <a:tailEnd len="sm" w="sm" type="none"/>
              </a:ln>
            </p:spPr>
          </p:cxnSp>
          <p:cxnSp>
            <p:nvCxnSpPr>
              <p:cNvPr id="8734" name="Google Shape;8734;p134"/>
              <p:cNvCxnSpPr/>
              <p:nvPr/>
            </p:nvCxnSpPr>
            <p:spPr>
              <a:xfrm>
                <a:off x="7847972" y="3946678"/>
                <a:ext cx="0" cy="344905"/>
              </a:xfrm>
              <a:prstGeom prst="straightConnector1">
                <a:avLst/>
              </a:prstGeom>
              <a:noFill/>
              <a:ln cap="flat" cmpd="sng" w="15875">
                <a:solidFill>
                  <a:schemeClr val="dk1"/>
                </a:solidFill>
                <a:prstDash val="solid"/>
                <a:miter lim="800000"/>
                <a:headEnd len="sm" w="sm" type="none"/>
                <a:tailEnd len="sm" w="sm" type="none"/>
              </a:ln>
            </p:spPr>
          </p:cxnSp>
        </p:grpSp>
        <p:sp>
          <p:nvSpPr>
            <p:cNvPr id="8735" name="Google Shape;8735;p134"/>
            <p:cNvSpPr txBox="1"/>
            <p:nvPr/>
          </p:nvSpPr>
          <p:spPr>
            <a:xfrm>
              <a:off x="3454066" y="2887399"/>
              <a:ext cx="1465722"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RTT</a:t>
              </a:r>
              <a:r>
                <a:rPr b="0" baseline="-25000" i="0" lang="en-US" sz="2400" u="none" cap="none" strike="noStrike">
                  <a:solidFill>
                    <a:srgbClr val="000000"/>
                  </a:solidFill>
                  <a:latin typeface="Calibri"/>
                  <a:ea typeface="Calibri"/>
                  <a:cs typeface="Calibri"/>
                  <a:sym typeface="Calibri"/>
                </a:rPr>
                <a:t>measured</a:t>
              </a:r>
              <a:endParaRPr b="0" baseline="-25000" i="0" sz="1800" u="none" cap="none" strike="noStrike">
                <a:solidFill>
                  <a:srgbClr val="000000"/>
                </a:solidFill>
                <a:latin typeface="Calibri"/>
                <a:ea typeface="Calibri"/>
                <a:cs typeface="Calibri"/>
                <a:sym typeface="Calibri"/>
              </a:endParaRPr>
            </a:p>
          </p:txBody>
        </p:sp>
      </p:grpSp>
      <p:sp>
        <p:nvSpPr>
          <p:cNvPr id="8736" name="Google Shape;8736;p134"/>
          <p:cNvSpPr txBox="1"/>
          <p:nvPr/>
        </p:nvSpPr>
        <p:spPr>
          <a:xfrm>
            <a:off x="750855" y="3728780"/>
            <a:ext cx="11639957" cy="2190750"/>
          </a:xfrm>
          <a:prstGeom prst="rect">
            <a:avLst/>
          </a:prstGeom>
          <a:noFill/>
          <a:ln>
            <a:noFill/>
          </a:ln>
        </p:spPr>
        <p:txBody>
          <a:bodyPr anchorCtr="0" anchor="t" bIns="45700" lIns="91425" spcFirstLastPara="1" rIns="91425" wrap="square" tIns="45700">
            <a:normAutofit/>
          </a:bodyPr>
          <a:lstStyle/>
          <a:p>
            <a:pPr indent="0" lvl="0" marL="508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00000"/>
                </a:solidFill>
                <a:latin typeface="Calibri"/>
                <a:ea typeface="Calibri"/>
                <a:cs typeface="Calibri"/>
                <a:sym typeface="Calibri"/>
              </a:rPr>
              <a:t>Delay-based approach:</a:t>
            </a:r>
            <a:endParaRPr/>
          </a:p>
          <a:p>
            <a:pPr indent="-282575" lvl="0" marL="5238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RTT</a:t>
            </a:r>
            <a:r>
              <a:rPr b="0" baseline="-25000" i="0" lang="en-US" sz="2400" u="none" cap="none" strike="noStrike">
                <a:solidFill>
                  <a:srgbClr val="000000"/>
                </a:solidFill>
                <a:latin typeface="Calibri"/>
                <a:ea typeface="Calibri"/>
                <a:cs typeface="Calibri"/>
                <a:sym typeface="Calibri"/>
              </a:rPr>
              <a:t>min</a:t>
            </a:r>
            <a:r>
              <a:rPr b="0" i="0" lang="en-US" sz="2400" u="none" cap="none" strike="noStrike">
                <a:solidFill>
                  <a:srgbClr val="000000"/>
                </a:solidFill>
                <a:latin typeface="Calibri"/>
                <a:ea typeface="Calibri"/>
                <a:cs typeface="Calibri"/>
                <a:sym typeface="Calibri"/>
              </a:rPr>
              <a:t> - minimum observed RTT (uncongested path)</a:t>
            </a:r>
            <a:endParaRPr b="0" i="0" sz="2400" u="none" cap="none" strike="noStrike">
              <a:solidFill>
                <a:srgbClr val="000000"/>
              </a:solidFill>
              <a:latin typeface="Calibri"/>
              <a:ea typeface="Calibri"/>
              <a:cs typeface="Calibri"/>
              <a:sym typeface="Calibri"/>
            </a:endParaRPr>
          </a:p>
          <a:p>
            <a:pPr indent="-282575" lvl="0" marL="5238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uncongested throughput with congestion window </a:t>
            </a:r>
            <a:r>
              <a:rPr b="0" i="0" lang="en-US" sz="2400" u="none" cap="none" strike="noStrike">
                <a:solidFill>
                  <a:srgbClr val="000000"/>
                </a:solidFill>
                <a:latin typeface="Courier"/>
                <a:ea typeface="Courier"/>
                <a:cs typeface="Courier"/>
                <a:sym typeface="Courier"/>
              </a:rPr>
              <a:t>cwnd </a:t>
            </a:r>
            <a:r>
              <a:rPr b="0" i="0" lang="en-US" sz="2400" u="none" cap="none" strike="noStrike">
                <a:solidFill>
                  <a:srgbClr val="000000"/>
                </a:solidFill>
                <a:latin typeface="Calibri"/>
                <a:ea typeface="Calibri"/>
                <a:cs typeface="Calibri"/>
                <a:sym typeface="Calibri"/>
              </a:rPr>
              <a:t>is cwnd/RTT</a:t>
            </a:r>
            <a:r>
              <a:rPr b="0" baseline="-25000" i="0" lang="en-US" sz="2400" u="none" cap="none" strike="noStrike">
                <a:solidFill>
                  <a:srgbClr val="000000"/>
                </a:solidFill>
                <a:latin typeface="Calibri"/>
                <a:ea typeface="Calibri"/>
                <a:cs typeface="Calibri"/>
                <a:sym typeface="Calibri"/>
              </a:rPr>
              <a:t>min</a:t>
            </a:r>
            <a:endParaRPr b="0" baseline="-25000" i="0" sz="2400" u="none" cap="none" strike="noStrike">
              <a:solidFill>
                <a:srgbClr val="000000"/>
              </a:solidFill>
              <a:latin typeface="Calibri"/>
              <a:ea typeface="Calibri"/>
              <a:cs typeface="Calibri"/>
              <a:sym typeface="Calibri"/>
            </a:endParaRPr>
          </a:p>
        </p:txBody>
      </p:sp>
      <p:sp>
        <p:nvSpPr>
          <p:cNvPr id="8737" name="Google Shape;8737;p134"/>
          <p:cNvSpPr txBox="1"/>
          <p:nvPr/>
        </p:nvSpPr>
        <p:spPr>
          <a:xfrm>
            <a:off x="2305029" y="5206661"/>
            <a:ext cx="755583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if measured throughput “very close” to  uncongested throughput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increase </a:t>
            </a:r>
            <a:r>
              <a:rPr b="0" i="0" lang="en-US" sz="2000" u="none" cap="none" strike="noStrike">
                <a:solidFill>
                  <a:srgbClr val="000000"/>
                </a:solidFill>
                <a:latin typeface="Courier"/>
                <a:ea typeface="Courier"/>
                <a:cs typeface="Courier"/>
                <a:sym typeface="Courier"/>
              </a:rPr>
              <a:t>cwnd</a:t>
            </a:r>
            <a:r>
              <a:rPr b="0" i="0" lang="en-US" sz="2000" u="none" cap="none" strike="noStrike">
                <a:solidFill>
                  <a:srgbClr val="000000"/>
                </a:solidFill>
                <a:latin typeface="Calibri"/>
                <a:ea typeface="Calibri"/>
                <a:cs typeface="Calibri"/>
                <a:sym typeface="Calibri"/>
              </a:rPr>
              <a:t> linearly                /* since path not congested */ </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else if measured throughput “far below” uncongested throughout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decrease </a:t>
            </a:r>
            <a:r>
              <a:rPr b="0" i="0" lang="en-US" sz="2000" u="none" cap="none" strike="noStrike">
                <a:solidFill>
                  <a:srgbClr val="000000"/>
                </a:solidFill>
                <a:latin typeface="Courier"/>
                <a:ea typeface="Courier"/>
                <a:cs typeface="Courier"/>
                <a:sym typeface="Courier"/>
              </a:rPr>
              <a:t>cwnd </a:t>
            </a:r>
            <a:r>
              <a:rPr b="0" i="0" lang="en-US" sz="2000" u="none" cap="none" strike="noStrike">
                <a:solidFill>
                  <a:srgbClr val="000000"/>
                </a:solidFill>
                <a:latin typeface="Calibri"/>
                <a:ea typeface="Calibri"/>
                <a:cs typeface="Calibri"/>
                <a:sym typeface="Calibri"/>
              </a:rPr>
              <a:t>linearly </a:t>
            </a:r>
            <a:r>
              <a:rPr b="0" i="0" lang="en-US" sz="2000" u="none" cap="none" strike="noStrike">
                <a:solidFill>
                  <a:srgbClr val="000000"/>
                </a:solidFill>
                <a:latin typeface="Courier"/>
                <a:ea typeface="Courier"/>
                <a:cs typeface="Courier"/>
                <a:sym typeface="Courier"/>
              </a:rPr>
              <a:t>     </a:t>
            </a:r>
            <a:r>
              <a:rPr b="0" i="0" lang="en-US" sz="2000" u="none" cap="none" strike="noStrike">
                <a:solidFill>
                  <a:srgbClr val="000000"/>
                </a:solidFill>
                <a:latin typeface="Calibri"/>
                <a:ea typeface="Calibri"/>
                <a:cs typeface="Calibri"/>
                <a:sym typeface="Calibri"/>
              </a:rPr>
              <a:t>/* since path is congested */</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738" name="Google Shape;8738;p134"/>
          <p:cNvGrpSpPr/>
          <p:nvPr/>
        </p:nvGrpSpPr>
        <p:grpSpPr>
          <a:xfrm>
            <a:off x="7368304" y="2588834"/>
            <a:ext cx="3548062" cy="1114151"/>
            <a:chOff x="7481866" y="2350865"/>
            <a:chExt cx="3548062" cy="1114151"/>
          </a:xfrm>
        </p:grpSpPr>
        <p:sp>
          <p:nvSpPr>
            <p:cNvPr id="8739" name="Google Shape;8739;p134"/>
            <p:cNvSpPr txBox="1"/>
            <p:nvPr/>
          </p:nvSpPr>
          <p:spPr>
            <a:xfrm>
              <a:off x="9172199" y="2941796"/>
              <a:ext cx="1675523"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r>
                <a:rPr b="0" baseline="-25000" i="0" lang="en-US" sz="2800" u="none" cap="none" strike="noStrike">
                  <a:solidFill>
                    <a:srgbClr val="000000"/>
                  </a:solidFill>
                  <a:latin typeface="Calibri"/>
                  <a:ea typeface="Calibri"/>
                  <a:cs typeface="Calibri"/>
                  <a:sym typeface="Calibri"/>
                </a:rPr>
                <a:t>measured</a:t>
              </a:r>
              <a:endParaRPr b="0" baseline="-25000" i="0" sz="2000" u="none" cap="none" strike="noStrike">
                <a:solidFill>
                  <a:srgbClr val="000000"/>
                </a:solidFill>
                <a:latin typeface="Calibri"/>
                <a:ea typeface="Calibri"/>
                <a:cs typeface="Calibri"/>
                <a:sym typeface="Calibri"/>
              </a:endParaRPr>
            </a:p>
          </p:txBody>
        </p:sp>
        <p:grpSp>
          <p:nvGrpSpPr>
            <p:cNvPr id="8740" name="Google Shape;8740;p134"/>
            <p:cNvGrpSpPr/>
            <p:nvPr/>
          </p:nvGrpSpPr>
          <p:grpSpPr>
            <a:xfrm>
              <a:off x="7481866" y="2350865"/>
              <a:ext cx="3548062" cy="923986"/>
              <a:chOff x="7519640" y="2453981"/>
              <a:chExt cx="3548062" cy="923986"/>
            </a:xfrm>
          </p:grpSpPr>
          <p:sp>
            <p:nvSpPr>
              <p:cNvPr id="8741" name="Google Shape;8741;p134"/>
              <p:cNvSpPr txBox="1"/>
              <p:nvPr/>
            </p:nvSpPr>
            <p:spPr>
              <a:xfrm>
                <a:off x="7519640" y="2731636"/>
                <a:ext cx="1371594" cy="6463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measured </a:t>
                </a:r>
                <a:endParaRPr/>
              </a:p>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throughput</a:t>
                </a:r>
                <a:endParaRPr/>
              </a:p>
            </p:txBody>
          </p:sp>
          <p:cxnSp>
            <p:nvCxnSpPr>
              <p:cNvPr id="8742" name="Google Shape;8742;p134"/>
              <p:cNvCxnSpPr/>
              <p:nvPr/>
            </p:nvCxnSpPr>
            <p:spPr>
              <a:xfrm>
                <a:off x="9284574" y="3075516"/>
                <a:ext cx="914400" cy="0"/>
              </a:xfrm>
              <a:prstGeom prst="straightConnector1">
                <a:avLst/>
              </a:prstGeom>
              <a:noFill/>
              <a:ln cap="flat" cmpd="sng" w="22225">
                <a:solidFill>
                  <a:schemeClr val="dk1"/>
                </a:solidFill>
                <a:prstDash val="solid"/>
                <a:miter lim="800000"/>
                <a:headEnd len="sm" w="sm" type="none"/>
                <a:tailEnd len="sm" w="sm" type="none"/>
              </a:ln>
            </p:spPr>
          </p:cxnSp>
          <p:sp>
            <p:nvSpPr>
              <p:cNvPr id="8743" name="Google Shape;8743;p134"/>
              <p:cNvSpPr txBox="1"/>
              <p:nvPr/>
            </p:nvSpPr>
            <p:spPr>
              <a:xfrm>
                <a:off x="8852626" y="2855966"/>
                <a:ext cx="31290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a:p>
            </p:txBody>
          </p:sp>
          <p:sp>
            <p:nvSpPr>
              <p:cNvPr id="8744" name="Google Shape;8744;p134"/>
              <p:cNvSpPr txBox="1"/>
              <p:nvPr/>
            </p:nvSpPr>
            <p:spPr>
              <a:xfrm>
                <a:off x="9209973" y="2453981"/>
                <a:ext cx="1857729" cy="6463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bytes sent in last RTT interval</a:t>
                </a:r>
                <a:endParaRPr/>
              </a:p>
            </p:txBody>
          </p:sp>
        </p:grpSp>
      </p:grpSp>
      <p:sp>
        <p:nvSpPr>
          <p:cNvPr id="8745" name="Google Shape;8745;p1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6"/>
                                        </p:tgtEl>
                                        <p:attrNameLst>
                                          <p:attrName>style.visibility</p:attrName>
                                        </p:attrNameLst>
                                      </p:cBhvr>
                                      <p:to>
                                        <p:strVal val="visible"/>
                                      </p:to>
                                    </p:set>
                                    <p:animEffect filter="fade" transition="in">
                                      <p:cBhvr>
                                        <p:cTn dur="500"/>
                                        <p:tgtEl>
                                          <p:spTgt spid="8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8"/>
                                        </p:tgtEl>
                                        <p:attrNameLst>
                                          <p:attrName>style.visibility</p:attrName>
                                        </p:attrNameLst>
                                      </p:cBhvr>
                                      <p:to>
                                        <p:strVal val="visible"/>
                                      </p:to>
                                    </p:set>
                                    <p:animEffect filter="fade" transition="in">
                                      <p:cBhvr>
                                        <p:cTn dur="500"/>
                                        <p:tgtEl>
                                          <p:spTgt spid="8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7"/>
                                        </p:tgtEl>
                                        <p:attrNameLst>
                                          <p:attrName>style.visibility</p:attrName>
                                        </p:attrNameLst>
                                      </p:cBhvr>
                                      <p:to>
                                        <p:strVal val="visible"/>
                                      </p:to>
                                    </p:set>
                                    <p:animEffect filter="fade" transition="in">
                                      <p:cBhvr>
                                        <p:cTn dur="500"/>
                                        <p:tgtEl>
                                          <p:spTgt spid="87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0" name="Shape 8750"/>
        <p:cNvGrpSpPr/>
        <p:nvPr/>
      </p:nvGrpSpPr>
      <p:grpSpPr>
        <a:xfrm>
          <a:off x="0" y="0"/>
          <a:ext cx="0" cy="0"/>
          <a:chOff x="0" y="0"/>
          <a:chExt cx="0" cy="0"/>
        </a:xfrm>
      </p:grpSpPr>
      <p:sp>
        <p:nvSpPr>
          <p:cNvPr id="8751" name="Google Shape;8751;p135"/>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Delay-based TCP </a:t>
            </a:r>
            <a:r>
              <a:rPr lang="en-US"/>
              <a:t>c</a:t>
            </a:r>
            <a:r>
              <a:rPr lang="en-US" sz="4400"/>
              <a:t>ongestion </a:t>
            </a:r>
            <a:r>
              <a:rPr lang="en-US"/>
              <a:t>c</a:t>
            </a:r>
            <a:r>
              <a:rPr lang="en-US" sz="4400"/>
              <a:t>ontrol</a:t>
            </a:r>
            <a:endParaRPr b="0" sz="4400"/>
          </a:p>
        </p:txBody>
      </p:sp>
      <p:sp>
        <p:nvSpPr>
          <p:cNvPr id="8752" name="Google Shape;8752;p135"/>
          <p:cNvSpPr txBox="1"/>
          <p:nvPr/>
        </p:nvSpPr>
        <p:spPr>
          <a:xfrm>
            <a:off x="574392" y="1614177"/>
            <a:ext cx="11388423" cy="2190750"/>
          </a:xfrm>
          <a:prstGeom prst="rect">
            <a:avLst/>
          </a:prstGeom>
          <a:noFill/>
          <a:ln>
            <a:noFill/>
          </a:ln>
        </p:spPr>
        <p:txBody>
          <a:bodyPr anchorCtr="0" anchor="t" bIns="45700" lIns="91425" spcFirstLastPara="1" rIns="91425" wrap="square" tIns="45700">
            <a:normAutofit/>
          </a:bodyPr>
          <a:lstStyle/>
          <a:p>
            <a:pPr indent="-282575" lvl="0" marL="5238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congestion control without inducing/forcing loss</a:t>
            </a:r>
            <a:endParaRPr/>
          </a:p>
          <a:p>
            <a:pPr indent="-282575" lvl="0" marL="5238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maximizing throughout (“keeping the just pipe full… ”) while keeping delay low (“…but not fuller”)</a:t>
            </a:r>
            <a:endParaRPr/>
          </a:p>
        </p:txBody>
      </p:sp>
      <p:sp>
        <p:nvSpPr>
          <p:cNvPr id="8753" name="Google Shape;8753;p135"/>
          <p:cNvSpPr txBox="1"/>
          <p:nvPr/>
        </p:nvSpPr>
        <p:spPr>
          <a:xfrm>
            <a:off x="561692" y="2960377"/>
            <a:ext cx="11388423" cy="2190750"/>
          </a:xfrm>
          <a:prstGeom prst="rect">
            <a:avLst/>
          </a:prstGeom>
          <a:noFill/>
          <a:ln>
            <a:noFill/>
          </a:ln>
        </p:spPr>
        <p:txBody>
          <a:bodyPr anchorCtr="0" anchor="t" bIns="45700" lIns="91425" spcFirstLastPara="1" rIns="91425" wrap="square" tIns="45700">
            <a:normAutofit/>
          </a:bodyPr>
          <a:lstStyle/>
          <a:p>
            <a:pPr indent="-282575" lvl="0" marL="5238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number of deployed TCPs take a delay-based approach</a:t>
            </a:r>
            <a:endParaRPr/>
          </a:p>
          <a:p>
            <a:pPr indent="-282575" lvl="1" marL="86677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BBR</a:t>
            </a:r>
            <a:r>
              <a:rPr b="0" i="0" lang="en-US" sz="2400" u="none" cap="none" strike="noStrike">
                <a:solidFill>
                  <a:srgbClr val="000000"/>
                </a:solidFill>
                <a:latin typeface="Calibri"/>
                <a:ea typeface="Calibri"/>
                <a:cs typeface="Calibri"/>
                <a:sym typeface="Calibri"/>
              </a:rPr>
              <a:t> deployed on Google’s (internal) backbone network</a:t>
            </a:r>
            <a:endParaRPr/>
          </a:p>
        </p:txBody>
      </p:sp>
      <p:sp>
        <p:nvSpPr>
          <p:cNvPr id="8754" name="Google Shape;8754;p1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53"/>
                                        </p:tgtEl>
                                        <p:attrNameLst>
                                          <p:attrName>style.visibility</p:attrName>
                                        </p:attrNameLst>
                                      </p:cBhvr>
                                      <p:to>
                                        <p:strVal val="visible"/>
                                      </p:to>
                                    </p:set>
                                    <p:animEffect filter="fade" transition="in">
                                      <p:cBhvr>
                                        <p:cTn dur="500"/>
                                        <p:tgtEl>
                                          <p:spTgt spid="8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9" name="Shape 8759"/>
        <p:cNvGrpSpPr/>
        <p:nvPr/>
      </p:nvGrpSpPr>
      <p:grpSpPr>
        <a:xfrm>
          <a:off x="0" y="0"/>
          <a:ext cx="0" cy="0"/>
          <a:chOff x="0" y="0"/>
          <a:chExt cx="0" cy="0"/>
        </a:xfrm>
      </p:grpSpPr>
      <p:grpSp>
        <p:nvGrpSpPr>
          <p:cNvPr id="8760" name="Google Shape;8760;p136"/>
          <p:cNvGrpSpPr/>
          <p:nvPr/>
        </p:nvGrpSpPr>
        <p:grpSpPr>
          <a:xfrm>
            <a:off x="2250281" y="3864630"/>
            <a:ext cx="7691437" cy="2578459"/>
            <a:chOff x="2151063" y="3594045"/>
            <a:chExt cx="7691437" cy="2578459"/>
          </a:xfrm>
        </p:grpSpPr>
        <p:sp>
          <p:nvSpPr>
            <p:cNvPr id="8761" name="Google Shape;8761;p136"/>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762" name="Google Shape;8762;p136"/>
            <p:cNvGrpSpPr/>
            <p:nvPr/>
          </p:nvGrpSpPr>
          <p:grpSpPr>
            <a:xfrm>
              <a:off x="5035264" y="5554092"/>
              <a:ext cx="496248" cy="260542"/>
              <a:chOff x="7141236" y="6068702"/>
              <a:chExt cx="496248" cy="260542"/>
            </a:xfrm>
          </p:grpSpPr>
          <p:sp>
            <p:nvSpPr>
              <p:cNvPr id="8763" name="Google Shape;8763;p136"/>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64" name="Google Shape;8764;p136"/>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65" name="Google Shape;8765;p136"/>
              <p:cNvGrpSpPr/>
              <p:nvPr/>
            </p:nvGrpSpPr>
            <p:grpSpPr>
              <a:xfrm>
                <a:off x="7214834" y="6090139"/>
                <a:ext cx="348960" cy="123931"/>
                <a:chOff x="7786941" y="2884917"/>
                <a:chExt cx="897649" cy="353919"/>
              </a:xfrm>
            </p:grpSpPr>
            <p:sp>
              <p:nvSpPr>
                <p:cNvPr id="8766" name="Google Shape;8766;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67" name="Google Shape;8767;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68" name="Google Shape;8768;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69" name="Google Shape;8769;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70" name="Google Shape;8770;p136"/>
            <p:cNvGrpSpPr/>
            <p:nvPr/>
          </p:nvGrpSpPr>
          <p:grpSpPr>
            <a:xfrm>
              <a:off x="6131364" y="5156690"/>
              <a:ext cx="496248" cy="260542"/>
              <a:chOff x="7493876" y="2774731"/>
              <a:chExt cx="1481958" cy="894622"/>
            </a:xfrm>
          </p:grpSpPr>
          <p:sp>
            <p:nvSpPr>
              <p:cNvPr id="8771" name="Google Shape;8771;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72" name="Google Shape;8772;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73" name="Google Shape;8773;p136"/>
              <p:cNvGrpSpPr/>
              <p:nvPr/>
            </p:nvGrpSpPr>
            <p:grpSpPr>
              <a:xfrm>
                <a:off x="7713663" y="2848339"/>
                <a:ext cx="1042107" cy="425543"/>
                <a:chOff x="7786941" y="2884917"/>
                <a:chExt cx="897649" cy="353919"/>
              </a:xfrm>
            </p:grpSpPr>
            <p:sp>
              <p:nvSpPr>
                <p:cNvPr id="8774" name="Google Shape;8774;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5" name="Google Shape;8775;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6" name="Google Shape;8776;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7" name="Google Shape;8777;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78" name="Google Shape;8778;p136"/>
            <p:cNvGrpSpPr/>
            <p:nvPr/>
          </p:nvGrpSpPr>
          <p:grpSpPr>
            <a:xfrm>
              <a:off x="5122533" y="4861037"/>
              <a:ext cx="496248" cy="260542"/>
              <a:chOff x="7493876" y="2774731"/>
              <a:chExt cx="1481958" cy="894622"/>
            </a:xfrm>
          </p:grpSpPr>
          <p:sp>
            <p:nvSpPr>
              <p:cNvPr id="8779" name="Google Shape;8779;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80" name="Google Shape;8780;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81" name="Google Shape;8781;p136"/>
              <p:cNvGrpSpPr/>
              <p:nvPr/>
            </p:nvGrpSpPr>
            <p:grpSpPr>
              <a:xfrm>
                <a:off x="7713663" y="2848339"/>
                <a:ext cx="1042107" cy="425543"/>
                <a:chOff x="7786941" y="2884917"/>
                <a:chExt cx="897649" cy="353919"/>
              </a:xfrm>
            </p:grpSpPr>
            <p:sp>
              <p:nvSpPr>
                <p:cNvPr id="8782" name="Google Shape;8782;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3" name="Google Shape;8783;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4" name="Google Shape;8784;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5" name="Google Shape;8785;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86" name="Google Shape;8786;p136"/>
            <p:cNvGrpSpPr/>
            <p:nvPr/>
          </p:nvGrpSpPr>
          <p:grpSpPr>
            <a:xfrm>
              <a:off x="4450588" y="5823254"/>
              <a:ext cx="496248" cy="260542"/>
              <a:chOff x="7493876" y="2774731"/>
              <a:chExt cx="1481958" cy="894622"/>
            </a:xfrm>
          </p:grpSpPr>
          <p:sp>
            <p:nvSpPr>
              <p:cNvPr id="8787" name="Google Shape;8787;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88" name="Google Shape;8788;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89" name="Google Shape;8789;p136"/>
              <p:cNvGrpSpPr/>
              <p:nvPr/>
            </p:nvGrpSpPr>
            <p:grpSpPr>
              <a:xfrm>
                <a:off x="7713663" y="2848339"/>
                <a:ext cx="1042107" cy="425543"/>
                <a:chOff x="7786941" y="2884917"/>
                <a:chExt cx="897649" cy="353919"/>
              </a:xfrm>
            </p:grpSpPr>
            <p:sp>
              <p:nvSpPr>
                <p:cNvPr id="8790" name="Google Shape;8790;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1" name="Google Shape;8791;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2" name="Google Shape;8792;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3" name="Google Shape;8793;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94" name="Google Shape;8794;p136"/>
            <p:cNvGrpSpPr/>
            <p:nvPr/>
          </p:nvGrpSpPr>
          <p:grpSpPr>
            <a:xfrm>
              <a:off x="4094463" y="5164346"/>
              <a:ext cx="496248" cy="260542"/>
              <a:chOff x="7493876" y="2774731"/>
              <a:chExt cx="1481958" cy="894622"/>
            </a:xfrm>
          </p:grpSpPr>
          <p:sp>
            <p:nvSpPr>
              <p:cNvPr id="8795" name="Google Shape;8795;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796" name="Google Shape;8796;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797" name="Google Shape;8797;p136"/>
              <p:cNvGrpSpPr/>
              <p:nvPr/>
            </p:nvGrpSpPr>
            <p:grpSpPr>
              <a:xfrm>
                <a:off x="7713663" y="2848339"/>
                <a:ext cx="1042107" cy="425543"/>
                <a:chOff x="7786941" y="2884917"/>
                <a:chExt cx="897649" cy="353919"/>
              </a:xfrm>
            </p:grpSpPr>
            <p:sp>
              <p:nvSpPr>
                <p:cNvPr id="8798" name="Google Shape;8798;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9" name="Google Shape;8799;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00" name="Google Shape;8800;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01" name="Google Shape;8801;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802" name="Google Shape;8802;p136"/>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803" name="Google Shape;8803;p136"/>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04" name="Google Shape;8804;p136"/>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05" name="Google Shape;8805;p136"/>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806" name="Google Shape;8806;p136"/>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807" name="Google Shape;8807;p136"/>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808" name="Google Shape;8808;p136"/>
            <p:cNvGrpSpPr/>
            <p:nvPr/>
          </p:nvGrpSpPr>
          <p:grpSpPr>
            <a:xfrm flipH="1">
              <a:off x="2151063" y="4424307"/>
              <a:ext cx="673100" cy="701675"/>
              <a:chOff x="-44" y="1473"/>
              <a:chExt cx="981" cy="1105"/>
            </a:xfrm>
          </p:grpSpPr>
          <p:pic>
            <p:nvPicPr>
              <p:cNvPr descr="desktop_computer_stylized_medium" id="8809" name="Google Shape;8809;p13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810" name="Google Shape;8810;p1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811" name="Google Shape;8811;p136"/>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812" name="Google Shape;8812;p136"/>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813" name="Google Shape;8813;p136"/>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814" name="Google Shape;8814;p136"/>
            <p:cNvGrpSpPr/>
            <p:nvPr/>
          </p:nvGrpSpPr>
          <p:grpSpPr>
            <a:xfrm>
              <a:off x="7794625" y="3673978"/>
              <a:ext cx="2047875" cy="1620287"/>
              <a:chOff x="4882752" y="4007261"/>
              <a:chExt cx="2046816" cy="1619544"/>
            </a:xfrm>
          </p:grpSpPr>
          <p:sp>
            <p:nvSpPr>
              <p:cNvPr id="8815" name="Google Shape;8815;p136"/>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816" name="Google Shape;8816;p136"/>
              <p:cNvGrpSpPr/>
              <p:nvPr/>
            </p:nvGrpSpPr>
            <p:grpSpPr>
              <a:xfrm>
                <a:off x="4927179" y="4319856"/>
                <a:ext cx="2002389" cy="1306949"/>
                <a:chOff x="1305623" y="4714561"/>
                <a:chExt cx="2002389" cy="1306949"/>
              </a:xfrm>
            </p:grpSpPr>
            <p:sp>
              <p:nvSpPr>
                <p:cNvPr id="8817" name="Google Shape;8817;p136"/>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18" name="Google Shape;8818;p136"/>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19" name="Google Shape;8819;p136"/>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820" name="Google Shape;8820;p136"/>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821" name="Google Shape;8821;p136"/>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822" name="Google Shape;8822;p136"/>
                <p:cNvGrpSpPr/>
                <p:nvPr/>
              </p:nvGrpSpPr>
              <p:grpSpPr>
                <a:xfrm flipH="1">
                  <a:off x="2634682" y="5076164"/>
                  <a:ext cx="673330" cy="701684"/>
                  <a:chOff x="-44" y="1473"/>
                  <a:chExt cx="981" cy="1105"/>
                </a:xfrm>
              </p:grpSpPr>
              <p:pic>
                <p:nvPicPr>
                  <p:cNvPr descr="desktop_computer_stylized_medium" id="8823" name="Google Shape;8823;p13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824" name="Google Shape;8824;p1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825" name="Google Shape;8825;p136"/>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826" name="Google Shape;8826;p136"/>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827" name="Google Shape;8827;p136"/>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828" name="Google Shape;8828;p136"/>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29" name="Google Shape;8829;p136"/>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0" name="Google Shape;8830;p136"/>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1" name="Google Shape;8831;p136"/>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2" name="Google Shape;8832;p136"/>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3" name="Google Shape;8833;p136"/>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4" name="Google Shape;8834;p136"/>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35" name="Google Shape;8835;p136"/>
            <p:cNvSpPr/>
            <p:nvPr/>
          </p:nvSpPr>
          <p:spPr>
            <a:xfrm>
              <a:off x="3329610" y="4423977"/>
              <a:ext cx="5073926" cy="1298611"/>
            </a:xfrm>
            <a:custGeom>
              <a:rect b="b" l="l" r="r" t="t"/>
              <a:pathLst>
                <a:path extrusionOk="0" h="1559667" w="5156094">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836" name="Google Shape;8836;p136"/>
            <p:cNvGrpSpPr/>
            <p:nvPr/>
          </p:nvGrpSpPr>
          <p:grpSpPr>
            <a:xfrm>
              <a:off x="5868328" y="5862061"/>
              <a:ext cx="496248" cy="260542"/>
              <a:chOff x="7493876" y="2774731"/>
              <a:chExt cx="1481958" cy="894622"/>
            </a:xfrm>
          </p:grpSpPr>
          <p:sp>
            <p:nvSpPr>
              <p:cNvPr id="8837" name="Google Shape;8837;p1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38" name="Google Shape;8838;p1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839" name="Google Shape;8839;p136"/>
              <p:cNvGrpSpPr/>
              <p:nvPr/>
            </p:nvGrpSpPr>
            <p:grpSpPr>
              <a:xfrm>
                <a:off x="7713663" y="2848339"/>
                <a:ext cx="1042107" cy="425543"/>
                <a:chOff x="7786941" y="2884917"/>
                <a:chExt cx="897649" cy="353919"/>
              </a:xfrm>
            </p:grpSpPr>
            <p:sp>
              <p:nvSpPr>
                <p:cNvPr id="8840" name="Google Shape;8840;p1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41" name="Google Shape;8841;p1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42" name="Google Shape;8842;p1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43" name="Google Shape;8843;p1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844" name="Google Shape;8844;p136"/>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Explicit congestion notification </a:t>
            </a:r>
            <a:r>
              <a:rPr lang="en-US" sz="3600"/>
              <a:t>(ECN)</a:t>
            </a:r>
            <a:endParaRPr b="0" sz="4400"/>
          </a:p>
        </p:txBody>
      </p:sp>
      <p:sp>
        <p:nvSpPr>
          <p:cNvPr id="8845" name="Google Shape;8845;p136"/>
          <p:cNvSpPr txBox="1"/>
          <p:nvPr/>
        </p:nvSpPr>
        <p:spPr>
          <a:xfrm>
            <a:off x="719638" y="1274465"/>
            <a:ext cx="11177587" cy="2620218"/>
          </a:xfrm>
          <a:prstGeom prst="rect">
            <a:avLst/>
          </a:prstGeom>
          <a:noFill/>
          <a:ln>
            <a:noFill/>
          </a:ln>
        </p:spPr>
        <p:txBody>
          <a:bodyPr anchorCtr="0" anchor="t" bIns="45700" lIns="91425" spcFirstLastPara="1" rIns="91425" wrap="square" tIns="45700">
            <a:normAutofit/>
          </a:bodyPr>
          <a:lstStyle/>
          <a:p>
            <a:pPr indent="0" lvl="0" marL="508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TCP deployments often implement </a:t>
            </a:r>
            <a:r>
              <a:rPr b="0" i="1" lang="en-US" sz="2800" u="none" cap="none" strike="noStrike">
                <a:solidFill>
                  <a:srgbClr val="C00000"/>
                </a:solidFill>
                <a:latin typeface="Calibri"/>
                <a:ea typeface="Calibri"/>
                <a:cs typeface="Calibri"/>
                <a:sym typeface="Calibri"/>
              </a:rPr>
              <a:t>network-assisted </a:t>
            </a:r>
            <a:r>
              <a:rPr b="0" i="0" lang="en-US" sz="2800" u="none" cap="none" strike="noStrike">
                <a:solidFill>
                  <a:srgbClr val="000000"/>
                </a:solidFill>
                <a:latin typeface="Calibri"/>
                <a:ea typeface="Calibri"/>
                <a:cs typeface="Calibri"/>
                <a:sym typeface="Calibri"/>
              </a:rPr>
              <a:t>congestion control:</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two bits in IP header (ToS field) marked </a:t>
            </a:r>
            <a:r>
              <a:rPr b="0" i="1" lang="en-US" sz="2400" u="none" cap="none" strike="noStrike">
                <a:solidFill>
                  <a:srgbClr val="C00000"/>
                </a:solidFill>
                <a:latin typeface="Calibri"/>
                <a:ea typeface="Calibri"/>
                <a:cs typeface="Calibri"/>
                <a:sym typeface="Calibri"/>
              </a:rPr>
              <a:t>by network router</a:t>
            </a:r>
            <a:r>
              <a:rPr b="0" i="0" lang="en-US" sz="2400" u="none" cap="none" strike="noStrike">
                <a:solidFill>
                  <a:srgbClr val="C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to indicate congestion</a:t>
            </a:r>
            <a:endParaRPr/>
          </a:p>
          <a:p>
            <a:pPr indent="-215900" lvl="1" marL="800100" marR="0" rtl="0" algn="l">
              <a:lnSpc>
                <a:spcPct val="90000"/>
              </a:lnSpc>
              <a:spcBef>
                <a:spcPts val="400"/>
              </a:spcBef>
              <a:spcAft>
                <a:spcPts val="0"/>
              </a:spcAft>
              <a:buClr>
                <a:srgbClr val="0000A3"/>
              </a:buClr>
              <a:buSzPts val="2400"/>
              <a:buFont typeface="Arial"/>
              <a:buChar char="•"/>
            </a:pPr>
            <a:r>
              <a:rPr b="0" i="1" lang="en-US" sz="2400" u="none" cap="none" strike="noStrike">
                <a:solidFill>
                  <a:srgbClr val="000000"/>
                </a:solidFill>
                <a:latin typeface="Calibri"/>
                <a:ea typeface="Calibri"/>
                <a:cs typeface="Calibri"/>
                <a:sym typeface="Calibri"/>
              </a:rPr>
              <a:t>policy </a:t>
            </a:r>
            <a:r>
              <a:rPr b="0" i="0" lang="en-US" sz="2400" u="none" cap="none" strike="noStrike">
                <a:solidFill>
                  <a:srgbClr val="000000"/>
                </a:solidFill>
                <a:latin typeface="Calibri"/>
                <a:ea typeface="Calibri"/>
                <a:cs typeface="Calibri"/>
                <a:sym typeface="Calibri"/>
              </a:rPr>
              <a:t>to determine marking chosen by network operator</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congestion indication carried to destination</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destination sets ECE bit on ACK segment to notify sender of congestion</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involves both IP </a:t>
            </a:r>
            <a:r>
              <a:rPr b="0" i="0" lang="en-US" sz="2000" u="none" cap="none" strike="noStrike">
                <a:solidFill>
                  <a:srgbClr val="000000"/>
                </a:solidFill>
                <a:latin typeface="Calibri"/>
                <a:ea typeface="Calibri"/>
                <a:cs typeface="Calibri"/>
                <a:sym typeface="Calibri"/>
              </a:rPr>
              <a:t>(IP header ECN bit marking) </a:t>
            </a:r>
            <a:r>
              <a:rPr b="0" i="0" lang="en-US" sz="2400" u="none" cap="none" strike="noStrike">
                <a:solidFill>
                  <a:srgbClr val="000000"/>
                </a:solidFill>
                <a:latin typeface="Calibri"/>
                <a:ea typeface="Calibri"/>
                <a:cs typeface="Calibri"/>
                <a:sym typeface="Calibri"/>
              </a:rPr>
              <a:t>and TCP </a:t>
            </a:r>
            <a:r>
              <a:rPr b="0" i="0" lang="en-US" sz="2000" u="none" cap="none" strike="noStrike">
                <a:solidFill>
                  <a:srgbClr val="000000"/>
                </a:solidFill>
                <a:latin typeface="Calibri"/>
                <a:ea typeface="Calibri"/>
                <a:cs typeface="Calibri"/>
                <a:sym typeface="Calibri"/>
              </a:rPr>
              <a:t>(TCP header C,E bit marking)</a:t>
            </a:r>
            <a:endParaRPr b="0" i="0" sz="2400" u="none" cap="none" strike="noStrike">
              <a:solidFill>
                <a:srgbClr val="000000"/>
              </a:solidFill>
              <a:latin typeface="Calibri"/>
              <a:ea typeface="Calibri"/>
              <a:cs typeface="Calibri"/>
              <a:sym typeface="Calibri"/>
            </a:endParaRPr>
          </a:p>
        </p:txBody>
      </p:sp>
      <p:grpSp>
        <p:nvGrpSpPr>
          <p:cNvPr id="8846" name="Google Shape;8846;p136"/>
          <p:cNvGrpSpPr/>
          <p:nvPr/>
        </p:nvGrpSpPr>
        <p:grpSpPr>
          <a:xfrm>
            <a:off x="3226593" y="5686054"/>
            <a:ext cx="1493838" cy="307975"/>
            <a:chOff x="1502428" y="5844331"/>
            <a:chExt cx="1493249" cy="307777"/>
          </a:xfrm>
        </p:grpSpPr>
        <p:grpSp>
          <p:nvGrpSpPr>
            <p:cNvPr id="8847" name="Google Shape;8847;p136"/>
            <p:cNvGrpSpPr/>
            <p:nvPr/>
          </p:nvGrpSpPr>
          <p:grpSpPr>
            <a:xfrm>
              <a:off x="1502428" y="5844331"/>
              <a:ext cx="1493249" cy="307777"/>
              <a:chOff x="3621632" y="5775938"/>
              <a:chExt cx="1493249" cy="307777"/>
            </a:xfrm>
          </p:grpSpPr>
          <p:grpSp>
            <p:nvGrpSpPr>
              <p:cNvPr id="8848" name="Google Shape;8848;p136"/>
              <p:cNvGrpSpPr/>
              <p:nvPr/>
            </p:nvGrpSpPr>
            <p:grpSpPr>
              <a:xfrm>
                <a:off x="3999308" y="5783870"/>
                <a:ext cx="821517" cy="260606"/>
                <a:chOff x="-2975522" y="4129762"/>
                <a:chExt cx="1281721" cy="456281"/>
              </a:xfrm>
            </p:grpSpPr>
            <p:sp>
              <p:nvSpPr>
                <p:cNvPr id="8849" name="Google Shape;8849;p136"/>
                <p:cNvSpPr/>
                <p:nvPr/>
              </p:nvSpPr>
              <p:spPr>
                <a:xfrm>
                  <a:off x="-2903722" y="4135317"/>
                  <a:ext cx="1151258" cy="341655"/>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0" name="Google Shape;8850;p136"/>
                <p:cNvSpPr/>
                <p:nvPr/>
              </p:nvSpPr>
              <p:spPr>
                <a:xfrm>
                  <a:off x="-2968093" y="4221426"/>
                  <a:ext cx="1148783" cy="344432"/>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1" name="Google Shape;8851;p136"/>
                <p:cNvSpPr/>
                <p:nvPr/>
              </p:nvSpPr>
              <p:spPr>
                <a:xfrm>
                  <a:off x="-2975522" y="4129762"/>
                  <a:ext cx="1223057" cy="94441"/>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2" name="Google Shape;8852;p136"/>
                <p:cNvSpPr/>
                <p:nvPr/>
              </p:nvSpPr>
              <p:spPr>
                <a:xfrm flipH="1" rot="10411447">
                  <a:off x="-1853972" y="4146428"/>
                  <a:ext cx="136170" cy="433318"/>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53" name="Google Shape;8853;p136"/>
              <p:cNvSpPr txBox="1"/>
              <p:nvPr/>
            </p:nvSpPr>
            <p:spPr>
              <a:xfrm>
                <a:off x="3621632" y="577593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ECN=10</a:t>
                </a:r>
                <a:endParaRPr/>
              </a:p>
            </p:txBody>
          </p:sp>
        </p:grpSp>
        <p:cxnSp>
          <p:nvCxnSpPr>
            <p:cNvPr id="8854" name="Google Shape;8854;p136"/>
            <p:cNvCxnSpPr/>
            <p:nvPr/>
          </p:nvCxnSpPr>
          <p:spPr>
            <a:xfrm flipH="1" rot="10800000">
              <a:off x="2150568" y="6133267"/>
              <a:ext cx="612066" cy="1"/>
            </a:xfrm>
            <a:prstGeom prst="straightConnector1">
              <a:avLst/>
            </a:prstGeom>
            <a:noFill/>
            <a:ln cap="flat" cmpd="sng" w="9525">
              <a:solidFill>
                <a:srgbClr val="008000"/>
              </a:solidFill>
              <a:prstDash val="solid"/>
              <a:round/>
              <a:headEnd len="med" w="med" type="none"/>
              <a:tailEnd len="med" w="med" type="triangle"/>
            </a:ln>
          </p:spPr>
        </p:cxnSp>
      </p:grpSp>
      <p:grpSp>
        <p:nvGrpSpPr>
          <p:cNvPr id="8855" name="Google Shape;8855;p136"/>
          <p:cNvGrpSpPr/>
          <p:nvPr/>
        </p:nvGrpSpPr>
        <p:grpSpPr>
          <a:xfrm>
            <a:off x="5345906" y="5617791"/>
            <a:ext cx="1493837" cy="358775"/>
            <a:chOff x="3621632" y="5775938"/>
            <a:chExt cx="1493249" cy="357723"/>
          </a:xfrm>
        </p:grpSpPr>
        <p:grpSp>
          <p:nvGrpSpPr>
            <p:cNvPr id="8856" name="Google Shape;8856;p136"/>
            <p:cNvGrpSpPr/>
            <p:nvPr/>
          </p:nvGrpSpPr>
          <p:grpSpPr>
            <a:xfrm>
              <a:off x="3621632" y="5775938"/>
              <a:ext cx="1493249" cy="307777"/>
              <a:chOff x="3621632" y="5775938"/>
              <a:chExt cx="1493249" cy="307777"/>
            </a:xfrm>
          </p:grpSpPr>
          <p:grpSp>
            <p:nvGrpSpPr>
              <p:cNvPr id="8857" name="Google Shape;8857;p136"/>
              <p:cNvGrpSpPr/>
              <p:nvPr/>
            </p:nvGrpSpPr>
            <p:grpSpPr>
              <a:xfrm>
                <a:off x="3999308" y="5783852"/>
                <a:ext cx="821480" cy="260019"/>
                <a:chOff x="-2975522" y="4129732"/>
                <a:chExt cx="1281665" cy="455254"/>
              </a:xfrm>
            </p:grpSpPr>
            <p:sp>
              <p:nvSpPr>
                <p:cNvPr id="8858" name="Google Shape;8858;p136"/>
                <p:cNvSpPr/>
                <p:nvPr/>
              </p:nvSpPr>
              <p:spPr>
                <a:xfrm>
                  <a:off x="-2903723" y="4135274"/>
                  <a:ext cx="1151259" cy="340871"/>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9" name="Google Shape;8859;p136"/>
                <p:cNvSpPr/>
                <p:nvPr/>
              </p:nvSpPr>
              <p:spPr>
                <a:xfrm>
                  <a:off x="-2968095" y="4221184"/>
                  <a:ext cx="1148783" cy="343644"/>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0" name="Google Shape;8860;p136"/>
                <p:cNvSpPr/>
                <p:nvPr/>
              </p:nvSpPr>
              <p:spPr>
                <a:xfrm>
                  <a:off x="-2975522" y="4129732"/>
                  <a:ext cx="1223057" cy="94225"/>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1" name="Google Shape;8861;p136"/>
                <p:cNvSpPr/>
                <p:nvPr/>
              </p:nvSpPr>
              <p:spPr>
                <a:xfrm flipH="1" rot="10411447">
                  <a:off x="-1853974" y="4146360"/>
                  <a:ext cx="136171" cy="432326"/>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62" name="Google Shape;8862;p136"/>
              <p:cNvSpPr txBox="1"/>
              <p:nvPr/>
            </p:nvSpPr>
            <p:spPr>
              <a:xfrm>
                <a:off x="3621632" y="577593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ECN=</a:t>
                </a:r>
                <a:r>
                  <a:rPr b="0" i="0" lang="en-US" sz="1400" u="none" cap="none" strike="noStrike">
                    <a:solidFill>
                      <a:srgbClr val="FF0000"/>
                    </a:solidFill>
                    <a:latin typeface="Tahoma"/>
                    <a:ea typeface="Tahoma"/>
                    <a:cs typeface="Tahoma"/>
                    <a:sym typeface="Tahoma"/>
                  </a:rPr>
                  <a:t>11</a:t>
                </a:r>
                <a:endParaRPr/>
              </a:p>
            </p:txBody>
          </p:sp>
        </p:grpSp>
        <p:cxnSp>
          <p:nvCxnSpPr>
            <p:cNvPr id="8863" name="Google Shape;8863;p136"/>
            <p:cNvCxnSpPr/>
            <p:nvPr/>
          </p:nvCxnSpPr>
          <p:spPr>
            <a:xfrm flipH="1" rot="10800000">
              <a:off x="4483694" y="5949896"/>
              <a:ext cx="457353" cy="183765"/>
            </a:xfrm>
            <a:prstGeom prst="straightConnector1">
              <a:avLst/>
            </a:prstGeom>
            <a:noFill/>
            <a:ln cap="flat" cmpd="sng" w="9525">
              <a:solidFill>
                <a:srgbClr val="008000"/>
              </a:solidFill>
              <a:prstDash val="solid"/>
              <a:round/>
              <a:headEnd len="med" w="med" type="none"/>
              <a:tailEnd len="med" w="med" type="triangle"/>
            </a:ln>
          </p:spPr>
        </p:cxnSp>
      </p:grpSp>
      <p:grpSp>
        <p:nvGrpSpPr>
          <p:cNvPr id="8864" name="Google Shape;8864;p136"/>
          <p:cNvGrpSpPr/>
          <p:nvPr/>
        </p:nvGrpSpPr>
        <p:grpSpPr>
          <a:xfrm>
            <a:off x="4058443" y="4376366"/>
            <a:ext cx="3983038" cy="379413"/>
            <a:chOff x="2334273" y="4534486"/>
            <a:chExt cx="3981995" cy="378689"/>
          </a:xfrm>
        </p:grpSpPr>
        <p:grpSp>
          <p:nvGrpSpPr>
            <p:cNvPr id="8865" name="Google Shape;8865;p136"/>
            <p:cNvGrpSpPr/>
            <p:nvPr/>
          </p:nvGrpSpPr>
          <p:grpSpPr>
            <a:xfrm>
              <a:off x="3508876" y="4534486"/>
              <a:ext cx="1493249" cy="307777"/>
              <a:chOff x="3508876" y="4414358"/>
              <a:chExt cx="1493249" cy="307777"/>
            </a:xfrm>
          </p:grpSpPr>
          <p:sp>
            <p:nvSpPr>
              <p:cNvPr id="8866" name="Google Shape;8866;p136"/>
              <p:cNvSpPr/>
              <p:nvPr/>
            </p:nvSpPr>
            <p:spPr>
              <a:xfrm>
                <a:off x="3907074" y="4428619"/>
                <a:ext cx="736407" cy="194890"/>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7" name="Google Shape;8867;p136"/>
              <p:cNvSpPr/>
              <p:nvPr/>
            </p:nvSpPr>
            <p:spPr>
              <a:xfrm>
                <a:off x="3863891" y="4478563"/>
                <a:ext cx="737073" cy="196032"/>
              </a:xfrm>
              <a:prstGeom prst="rect">
                <a:avLst/>
              </a:prstGeom>
              <a:solidFill>
                <a:srgbClr val="0000FF"/>
              </a:solidFill>
              <a:ln cap="flat" cmpd="sng" w="12700">
                <a:solidFill>
                  <a:srgbClr val="00009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68" name="Google Shape;8868;p136"/>
              <p:cNvSpPr/>
              <p:nvPr/>
            </p:nvSpPr>
            <p:spPr>
              <a:xfrm>
                <a:off x="3859775" y="4425511"/>
                <a:ext cx="783947" cy="53534"/>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366FF"/>
              </a:solidFill>
              <a:ln cap="flat" cmpd="sng" w="95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69" name="Google Shape;8869;p136"/>
              <p:cNvSpPr/>
              <p:nvPr/>
            </p:nvSpPr>
            <p:spPr>
              <a:xfrm flipH="1" rot="10411447">
                <a:off x="4579084" y="4434448"/>
                <a:ext cx="87388" cy="248479"/>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366FF"/>
              </a:solidFill>
              <a:ln cap="flat" cmpd="sng" w="95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70" name="Google Shape;8870;p136"/>
              <p:cNvSpPr txBox="1"/>
              <p:nvPr/>
            </p:nvSpPr>
            <p:spPr>
              <a:xfrm>
                <a:off x="3508876" y="441435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ECE=</a:t>
                </a:r>
                <a:r>
                  <a:rPr b="0" i="0" lang="en-US" sz="1400" u="none" cap="none" strike="noStrike">
                    <a:solidFill>
                      <a:srgbClr val="FF0000"/>
                    </a:solidFill>
                    <a:latin typeface="Tahoma"/>
                    <a:ea typeface="Tahoma"/>
                    <a:cs typeface="Tahoma"/>
                    <a:sym typeface="Tahoma"/>
                  </a:rPr>
                  <a:t>1</a:t>
                </a:r>
                <a:endParaRPr/>
              </a:p>
            </p:txBody>
          </p:sp>
        </p:grpSp>
        <p:cxnSp>
          <p:nvCxnSpPr>
            <p:cNvPr id="8871" name="Google Shape;8871;p136"/>
            <p:cNvCxnSpPr/>
            <p:nvPr/>
          </p:nvCxnSpPr>
          <p:spPr>
            <a:xfrm rot="10800000">
              <a:off x="3801047" y="4905427"/>
              <a:ext cx="697737" cy="7748"/>
            </a:xfrm>
            <a:prstGeom prst="straightConnector1">
              <a:avLst/>
            </a:prstGeom>
            <a:noFill/>
            <a:ln cap="flat" cmpd="sng" w="9525">
              <a:solidFill>
                <a:srgbClr val="0000FF"/>
              </a:solidFill>
              <a:prstDash val="solid"/>
              <a:round/>
              <a:headEnd len="med" w="med" type="none"/>
              <a:tailEnd len="med" w="med" type="triangle"/>
            </a:ln>
          </p:spPr>
        </p:cxnSp>
        <p:cxnSp>
          <p:nvCxnSpPr>
            <p:cNvPr id="8872" name="Google Shape;8872;p136"/>
            <p:cNvCxnSpPr/>
            <p:nvPr/>
          </p:nvCxnSpPr>
          <p:spPr>
            <a:xfrm rot="10800000">
              <a:off x="2334273" y="4839428"/>
              <a:ext cx="3981995" cy="0"/>
            </a:xfrm>
            <a:prstGeom prst="straightConnector1">
              <a:avLst/>
            </a:prstGeom>
            <a:noFill/>
            <a:ln cap="flat" cmpd="sng" w="12700">
              <a:solidFill>
                <a:srgbClr val="0000FF"/>
              </a:solidFill>
              <a:prstDash val="solid"/>
              <a:round/>
              <a:headEnd len="med" w="med" type="none"/>
              <a:tailEnd len="med" w="med" type="triangle"/>
            </a:ln>
          </p:spPr>
        </p:cxnSp>
      </p:grpSp>
      <p:grpSp>
        <p:nvGrpSpPr>
          <p:cNvPr id="8873" name="Google Shape;8873;p136"/>
          <p:cNvGrpSpPr/>
          <p:nvPr/>
        </p:nvGrpSpPr>
        <p:grpSpPr>
          <a:xfrm>
            <a:off x="2626518" y="6003554"/>
            <a:ext cx="1160463" cy="461962"/>
            <a:chOff x="902416" y="6160831"/>
            <a:chExt cx="1160369" cy="462226"/>
          </a:xfrm>
        </p:grpSpPr>
        <p:sp>
          <p:nvSpPr>
            <p:cNvPr id="8874" name="Google Shape;8874;p136"/>
            <p:cNvSpPr txBox="1"/>
            <p:nvPr/>
          </p:nvSpPr>
          <p:spPr>
            <a:xfrm>
              <a:off x="902416" y="6315280"/>
              <a:ext cx="116036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 datagram</a:t>
              </a:r>
              <a:endParaRPr/>
            </a:p>
          </p:txBody>
        </p:sp>
        <p:cxnSp>
          <p:nvCxnSpPr>
            <p:cNvPr id="8875" name="Google Shape;8875;p136"/>
            <p:cNvCxnSpPr/>
            <p:nvPr/>
          </p:nvCxnSpPr>
          <p:spPr>
            <a:xfrm flipH="1">
              <a:off x="1785033" y="6160831"/>
              <a:ext cx="274620" cy="240255"/>
            </a:xfrm>
            <a:prstGeom prst="straightConnector1">
              <a:avLst/>
            </a:prstGeom>
            <a:noFill/>
            <a:ln cap="flat" cmpd="sng" w="9525">
              <a:solidFill>
                <a:srgbClr val="000000"/>
              </a:solidFill>
              <a:prstDash val="solid"/>
              <a:round/>
              <a:headEnd len="med" w="med" type="none"/>
              <a:tailEnd len="med" w="med" type="none"/>
            </a:ln>
          </p:spPr>
        </p:cxnSp>
      </p:grpSp>
      <p:grpSp>
        <p:nvGrpSpPr>
          <p:cNvPr id="8876" name="Google Shape;8876;p136"/>
          <p:cNvGrpSpPr/>
          <p:nvPr/>
        </p:nvGrpSpPr>
        <p:grpSpPr>
          <a:xfrm>
            <a:off x="6257131" y="3838204"/>
            <a:ext cx="1620837" cy="515937"/>
            <a:chOff x="4531899" y="3996483"/>
            <a:chExt cx="1620957" cy="514832"/>
          </a:xfrm>
        </p:grpSpPr>
        <p:sp>
          <p:nvSpPr>
            <p:cNvPr id="8877" name="Google Shape;8877;p136"/>
            <p:cNvSpPr txBox="1"/>
            <p:nvPr/>
          </p:nvSpPr>
          <p:spPr>
            <a:xfrm>
              <a:off x="4531899" y="3996483"/>
              <a:ext cx="162095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 ACK segment</a:t>
              </a:r>
              <a:endParaRPr/>
            </a:p>
          </p:txBody>
        </p:sp>
        <p:cxnSp>
          <p:nvCxnSpPr>
            <p:cNvPr id="8878" name="Google Shape;8878;p136"/>
            <p:cNvCxnSpPr/>
            <p:nvPr/>
          </p:nvCxnSpPr>
          <p:spPr>
            <a:xfrm flipH="1">
              <a:off x="4632144" y="4271060"/>
              <a:ext cx="274620" cy="240255"/>
            </a:xfrm>
            <a:prstGeom prst="straightConnector1">
              <a:avLst/>
            </a:prstGeom>
            <a:noFill/>
            <a:ln cap="flat" cmpd="sng" w="9525">
              <a:solidFill>
                <a:srgbClr val="000000"/>
              </a:solidFill>
              <a:prstDash val="solid"/>
              <a:round/>
              <a:headEnd len="med" w="med" type="none"/>
              <a:tailEnd len="med" w="med" type="none"/>
            </a:ln>
          </p:spPr>
        </p:cxnSp>
      </p:grpSp>
      <p:sp>
        <p:nvSpPr>
          <p:cNvPr id="8879" name="Google Shape;8879;p1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6"/>
                                        </p:tgtEl>
                                        <p:attrNameLst>
                                          <p:attrName>style.visibility</p:attrName>
                                        </p:attrNameLst>
                                      </p:cBhvr>
                                      <p:to>
                                        <p:strVal val="visible"/>
                                      </p:to>
                                    </p:set>
                                    <p:animEffect filter="fade" transition="in">
                                      <p:cBhvr>
                                        <p:cTn dur="500"/>
                                        <p:tgtEl>
                                          <p:spTgt spid="884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873"/>
                                        </p:tgtEl>
                                        <p:attrNameLst>
                                          <p:attrName>style.visibility</p:attrName>
                                        </p:attrNameLst>
                                      </p:cBhvr>
                                      <p:to>
                                        <p:strVal val="visible"/>
                                      </p:to>
                                    </p:set>
                                    <p:animEffect filter="fade" transition="in">
                                      <p:cBhvr>
                                        <p:cTn dur="500"/>
                                        <p:tgtEl>
                                          <p:spTgt spid="88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55"/>
                                        </p:tgtEl>
                                        <p:attrNameLst>
                                          <p:attrName>style.visibility</p:attrName>
                                        </p:attrNameLst>
                                      </p:cBhvr>
                                      <p:to>
                                        <p:strVal val="visible"/>
                                      </p:to>
                                    </p:set>
                                    <p:animEffect filter="fade" transition="in">
                                      <p:cBhvr>
                                        <p:cTn dur="500"/>
                                        <p:tgtEl>
                                          <p:spTgt spid="885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864"/>
                                        </p:tgtEl>
                                        <p:attrNameLst>
                                          <p:attrName>style.visibility</p:attrName>
                                        </p:attrNameLst>
                                      </p:cBhvr>
                                      <p:to>
                                        <p:strVal val="visible"/>
                                      </p:to>
                                    </p:set>
                                    <p:animEffect filter="fade" transition="in">
                                      <p:cBhvr>
                                        <p:cTn dur="500"/>
                                        <p:tgtEl>
                                          <p:spTgt spid="8864"/>
                                        </p:tgtEl>
                                      </p:cBhvr>
                                    </p:animEffect>
                                  </p:childTnLst>
                                </p:cTn>
                              </p:par>
                              <p:par>
                                <p:cTn fill="hold" nodeType="withEffect" presetClass="entr" presetID="10" presetSubtype="0">
                                  <p:stCondLst>
                                    <p:cond delay="0"/>
                                  </p:stCondLst>
                                  <p:childTnLst>
                                    <p:set>
                                      <p:cBhvr>
                                        <p:cTn dur="1" fill="hold">
                                          <p:stCondLst>
                                            <p:cond delay="0"/>
                                          </p:stCondLst>
                                        </p:cTn>
                                        <p:tgtEl>
                                          <p:spTgt spid="8876"/>
                                        </p:tgtEl>
                                        <p:attrNameLst>
                                          <p:attrName>style.visibility</p:attrName>
                                        </p:attrNameLst>
                                      </p:cBhvr>
                                      <p:to>
                                        <p:strVal val="visible"/>
                                      </p:to>
                                    </p:set>
                                    <p:animEffect filter="fade" transition="in">
                                      <p:cBhvr>
                                        <p:cTn dur="500"/>
                                        <p:tgtEl>
                                          <p:spTgt spid="88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4" name="Shape 8884"/>
        <p:cNvGrpSpPr/>
        <p:nvPr/>
      </p:nvGrpSpPr>
      <p:grpSpPr>
        <a:xfrm>
          <a:off x="0" y="0"/>
          <a:ext cx="0" cy="0"/>
          <a:chOff x="0" y="0"/>
          <a:chExt cx="0" cy="0"/>
        </a:xfrm>
      </p:grpSpPr>
      <p:grpSp>
        <p:nvGrpSpPr>
          <p:cNvPr id="8885" name="Google Shape;8885;p137"/>
          <p:cNvGrpSpPr/>
          <p:nvPr/>
        </p:nvGrpSpPr>
        <p:grpSpPr>
          <a:xfrm>
            <a:off x="7593761" y="3434252"/>
            <a:ext cx="1100814" cy="719137"/>
            <a:chOff x="7493876" y="2774731"/>
            <a:chExt cx="1481958" cy="894622"/>
          </a:xfrm>
        </p:grpSpPr>
        <p:sp>
          <p:nvSpPr>
            <p:cNvPr id="8886" name="Google Shape;8886;p1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87" name="Google Shape;8887;p1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888" name="Google Shape;8888;p137"/>
            <p:cNvGrpSpPr/>
            <p:nvPr/>
          </p:nvGrpSpPr>
          <p:grpSpPr>
            <a:xfrm>
              <a:off x="7713663" y="2848339"/>
              <a:ext cx="1042107" cy="425543"/>
              <a:chOff x="7786941" y="2884917"/>
              <a:chExt cx="897649" cy="353919"/>
            </a:xfrm>
          </p:grpSpPr>
          <p:sp>
            <p:nvSpPr>
              <p:cNvPr id="8889" name="Google Shape;8889;p1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0" name="Google Shape;8890;p1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1" name="Google Shape;8891;p1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2" name="Google Shape;8892;p1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893" name="Google Shape;8893;p137"/>
          <p:cNvGrpSpPr/>
          <p:nvPr/>
        </p:nvGrpSpPr>
        <p:grpSpPr>
          <a:xfrm>
            <a:off x="5720127" y="3438633"/>
            <a:ext cx="1100814" cy="719137"/>
            <a:chOff x="7493876" y="2774731"/>
            <a:chExt cx="1481958" cy="894622"/>
          </a:xfrm>
        </p:grpSpPr>
        <p:sp>
          <p:nvSpPr>
            <p:cNvPr id="8894" name="Google Shape;8894;p1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95" name="Google Shape;8895;p1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896" name="Google Shape;8896;p137"/>
            <p:cNvGrpSpPr/>
            <p:nvPr/>
          </p:nvGrpSpPr>
          <p:grpSpPr>
            <a:xfrm>
              <a:off x="7713663" y="2848339"/>
              <a:ext cx="1042107" cy="425543"/>
              <a:chOff x="7786941" y="2884917"/>
              <a:chExt cx="897649" cy="353919"/>
            </a:xfrm>
          </p:grpSpPr>
          <p:sp>
            <p:nvSpPr>
              <p:cNvPr id="8897" name="Google Shape;8897;p1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8" name="Google Shape;8898;p1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9" name="Google Shape;8899;p1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00" name="Google Shape;8900;p1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901" name="Google Shape;8901;p137"/>
          <p:cNvSpPr txBox="1"/>
          <p:nvPr>
            <p:ph type="title"/>
          </p:nvPr>
        </p:nvSpPr>
        <p:spPr>
          <a:xfrm>
            <a:off x="798719" y="27175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fairness</a:t>
            </a:r>
            <a:endParaRPr b="0" sz="4400"/>
          </a:p>
        </p:txBody>
      </p:sp>
      <p:sp>
        <p:nvSpPr>
          <p:cNvPr id="8902" name="Google Shape;8902;p137"/>
          <p:cNvSpPr txBox="1"/>
          <p:nvPr/>
        </p:nvSpPr>
        <p:spPr>
          <a:xfrm>
            <a:off x="876300" y="1271325"/>
            <a:ext cx="10174288" cy="108902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Fairness goal:</a:t>
            </a:r>
            <a:r>
              <a:rPr b="0" i="0" lang="en-US" sz="3200" u="none" cap="none" strike="noStrike">
                <a:solidFill>
                  <a:srgbClr val="000000"/>
                </a:solidFill>
                <a:latin typeface="Calibri"/>
                <a:ea typeface="Calibri"/>
                <a:cs typeface="Calibri"/>
                <a:sym typeface="Calibri"/>
              </a:rPr>
              <a:t> if</a:t>
            </a:r>
            <a:r>
              <a:rPr b="0" i="1" lang="en-US" sz="3200" u="none" cap="none" strike="noStrike">
                <a:solidFill>
                  <a:srgbClr val="000000"/>
                </a:solidFill>
                <a:latin typeface="Calibri"/>
                <a:ea typeface="Calibri"/>
                <a:cs typeface="Calibri"/>
                <a:sym typeface="Calibri"/>
              </a:rPr>
              <a:t> K </a:t>
            </a:r>
            <a:r>
              <a:rPr b="0" i="0" lang="en-US" sz="3200" u="none" cap="none" strike="noStrike">
                <a:solidFill>
                  <a:srgbClr val="000000"/>
                </a:solidFill>
                <a:latin typeface="Calibri"/>
                <a:ea typeface="Calibri"/>
                <a:cs typeface="Calibri"/>
                <a:sym typeface="Calibri"/>
              </a:rPr>
              <a:t>TCP sessions share same bottleneck link of bandwidth </a:t>
            </a:r>
            <a:r>
              <a:rPr b="0" i="1" lang="en-US" sz="3200" u="none" cap="none" strike="noStrike">
                <a:solidFill>
                  <a:srgbClr val="000000"/>
                </a:solidFill>
                <a:latin typeface="Calibri"/>
                <a:ea typeface="Calibri"/>
                <a:cs typeface="Calibri"/>
                <a:sym typeface="Calibri"/>
              </a:rPr>
              <a:t>R</a:t>
            </a:r>
            <a:r>
              <a:rPr b="0" i="0" lang="en-US" sz="3200" u="none" cap="none" strike="noStrike">
                <a:solidFill>
                  <a:srgbClr val="000000"/>
                </a:solidFill>
                <a:latin typeface="Calibri"/>
                <a:ea typeface="Calibri"/>
                <a:cs typeface="Calibri"/>
                <a:sym typeface="Calibri"/>
              </a:rPr>
              <a:t>, each should have average rate of </a:t>
            </a:r>
            <a:r>
              <a:rPr b="0" i="1" lang="en-US" sz="3200" u="none" cap="none" strike="noStrike">
                <a:solidFill>
                  <a:srgbClr val="000000"/>
                </a:solidFill>
                <a:latin typeface="Calibri"/>
                <a:ea typeface="Calibri"/>
                <a:cs typeface="Calibri"/>
                <a:sym typeface="Calibri"/>
              </a:rPr>
              <a:t>R/K</a:t>
            </a:r>
            <a:endParaRPr/>
          </a:p>
        </p:txBody>
      </p:sp>
      <p:cxnSp>
        <p:nvCxnSpPr>
          <p:cNvPr id="8903" name="Google Shape;8903;p137"/>
          <p:cNvCxnSpPr/>
          <p:nvPr/>
        </p:nvCxnSpPr>
        <p:spPr>
          <a:xfrm flipH="1" rot="10800000">
            <a:off x="6816123" y="3752849"/>
            <a:ext cx="819151" cy="8919"/>
          </a:xfrm>
          <a:prstGeom prst="straightConnector1">
            <a:avLst/>
          </a:prstGeom>
          <a:noFill/>
          <a:ln cap="flat" cmpd="sng" w="28575">
            <a:solidFill>
              <a:srgbClr val="000000"/>
            </a:solidFill>
            <a:prstDash val="solid"/>
            <a:round/>
            <a:headEnd len="med" w="med" type="none"/>
            <a:tailEnd len="med" w="med" type="none"/>
          </a:ln>
        </p:spPr>
      </p:cxnSp>
      <p:sp>
        <p:nvSpPr>
          <p:cNvPr id="8904" name="Google Shape;8904;p137"/>
          <p:cNvSpPr/>
          <p:nvPr/>
        </p:nvSpPr>
        <p:spPr>
          <a:xfrm>
            <a:off x="6986588" y="3552825"/>
            <a:ext cx="147637"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05" name="Google Shape;8905;p137"/>
          <p:cNvSpPr/>
          <p:nvPr/>
        </p:nvSpPr>
        <p:spPr>
          <a:xfrm>
            <a:off x="6296025" y="3614738"/>
            <a:ext cx="147638"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06" name="Google Shape;8906;p137"/>
          <p:cNvSpPr/>
          <p:nvPr/>
        </p:nvSpPr>
        <p:spPr>
          <a:xfrm>
            <a:off x="6586538" y="3552825"/>
            <a:ext cx="147637"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07" name="Google Shape;8907;p137"/>
          <p:cNvSpPr txBox="1"/>
          <p:nvPr/>
        </p:nvSpPr>
        <p:spPr>
          <a:xfrm>
            <a:off x="2370566" y="2468215"/>
            <a:ext cx="23382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connection 1</a:t>
            </a:r>
            <a:endParaRPr/>
          </a:p>
        </p:txBody>
      </p:sp>
      <p:sp>
        <p:nvSpPr>
          <p:cNvPr id="8908" name="Google Shape;8908;p137"/>
          <p:cNvSpPr txBox="1"/>
          <p:nvPr/>
        </p:nvSpPr>
        <p:spPr>
          <a:xfrm>
            <a:off x="5510979" y="4275418"/>
            <a:ext cx="151881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bottleneck</a:t>
            </a:r>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router</a:t>
            </a:r>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capacity R</a:t>
            </a:r>
            <a:endParaRPr/>
          </a:p>
        </p:txBody>
      </p:sp>
      <p:sp>
        <p:nvSpPr>
          <p:cNvPr id="8909" name="Google Shape;8909;p137"/>
          <p:cNvSpPr/>
          <p:nvPr/>
        </p:nvSpPr>
        <p:spPr>
          <a:xfrm>
            <a:off x="4765675" y="2967952"/>
            <a:ext cx="4227323" cy="719138"/>
          </a:xfrm>
          <a:custGeom>
            <a:rect b="b" l="l" r="r" t="t"/>
            <a:pathLst>
              <a:path extrusionOk="0" h="453" w="2412">
                <a:moveTo>
                  <a:pt x="0" y="0"/>
                </a:moveTo>
                <a:cubicBezTo>
                  <a:pt x="93" y="65"/>
                  <a:pt x="156" y="318"/>
                  <a:pt x="558" y="390"/>
                </a:cubicBezTo>
                <a:cubicBezTo>
                  <a:pt x="959" y="453"/>
                  <a:pt x="2026" y="423"/>
                  <a:pt x="2412" y="432"/>
                </a:cubicBezTo>
              </a:path>
            </a:pathLst>
          </a:custGeom>
          <a:noFill/>
          <a:ln cap="flat" cmpd="sng" w="38100">
            <a:solidFill>
              <a:srgbClr val="009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10" name="Google Shape;8910;p137"/>
          <p:cNvSpPr/>
          <p:nvPr/>
        </p:nvSpPr>
        <p:spPr>
          <a:xfrm>
            <a:off x="6457950" y="3614738"/>
            <a:ext cx="147638"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11" name="Google Shape;8911;p137"/>
          <p:cNvSpPr/>
          <p:nvPr/>
        </p:nvSpPr>
        <p:spPr>
          <a:xfrm>
            <a:off x="4724400" y="3763963"/>
            <a:ext cx="4268598" cy="719137"/>
          </a:xfrm>
          <a:custGeom>
            <a:rect b="b" l="l" r="r" t="t"/>
            <a:pathLst>
              <a:path extrusionOk="0" h="453" w="2412">
                <a:moveTo>
                  <a:pt x="0" y="453"/>
                </a:moveTo>
                <a:cubicBezTo>
                  <a:pt x="93" y="388"/>
                  <a:pt x="156" y="134"/>
                  <a:pt x="558" y="63"/>
                </a:cubicBezTo>
                <a:cubicBezTo>
                  <a:pt x="959" y="0"/>
                  <a:pt x="2026" y="36"/>
                  <a:pt x="2412" y="29"/>
                </a:cubicBezTo>
              </a:path>
            </a:pathLst>
          </a:custGeom>
          <a:noFill/>
          <a:ln cap="flat" cmpd="sng" w="381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912" name="Google Shape;8912;p137"/>
          <p:cNvSpPr txBox="1"/>
          <p:nvPr/>
        </p:nvSpPr>
        <p:spPr>
          <a:xfrm>
            <a:off x="2354381" y="4692948"/>
            <a:ext cx="23382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connection 2</a:t>
            </a:r>
            <a:endParaRPr/>
          </a:p>
        </p:txBody>
      </p:sp>
      <p:grpSp>
        <p:nvGrpSpPr>
          <p:cNvPr id="8913" name="Google Shape;8913;p137"/>
          <p:cNvGrpSpPr/>
          <p:nvPr/>
        </p:nvGrpSpPr>
        <p:grpSpPr>
          <a:xfrm>
            <a:off x="3975100" y="2860675"/>
            <a:ext cx="766763" cy="704850"/>
            <a:chOff x="-44" y="1473"/>
            <a:chExt cx="981" cy="1105"/>
          </a:xfrm>
        </p:grpSpPr>
        <p:pic>
          <p:nvPicPr>
            <p:cNvPr descr="desktop_computer_stylized_medium" id="8914" name="Google Shape;8914;p1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15" name="Google Shape;8915;p1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916" name="Google Shape;8916;p137"/>
          <p:cNvGrpSpPr/>
          <p:nvPr/>
        </p:nvGrpSpPr>
        <p:grpSpPr>
          <a:xfrm>
            <a:off x="3978275" y="4106863"/>
            <a:ext cx="766763" cy="704850"/>
            <a:chOff x="-44" y="1473"/>
            <a:chExt cx="981" cy="1105"/>
          </a:xfrm>
        </p:grpSpPr>
        <p:pic>
          <p:nvPicPr>
            <p:cNvPr descr="desktop_computer_stylized_medium" id="8917" name="Google Shape;8917;p1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18" name="Google Shape;8918;p1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8919" name="Google Shape;8919;p1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4" name="Shape 8924"/>
        <p:cNvGrpSpPr/>
        <p:nvPr/>
      </p:nvGrpSpPr>
      <p:grpSpPr>
        <a:xfrm>
          <a:off x="0" y="0"/>
          <a:ext cx="0" cy="0"/>
          <a:chOff x="0" y="0"/>
          <a:chExt cx="0" cy="0"/>
        </a:xfrm>
      </p:grpSpPr>
      <p:sp>
        <p:nvSpPr>
          <p:cNvPr id="8925" name="Google Shape;8925;p138"/>
          <p:cNvSpPr txBox="1"/>
          <p:nvPr>
            <p:ph type="title"/>
          </p:nvPr>
        </p:nvSpPr>
        <p:spPr>
          <a:xfrm>
            <a:off x="798690" y="234526"/>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 is TCP Fair?</a:t>
            </a:r>
            <a:endParaRPr b="0" sz="4400"/>
          </a:p>
        </p:txBody>
      </p:sp>
      <p:sp>
        <p:nvSpPr>
          <p:cNvPr id="8926" name="Google Shape;8926;p138"/>
          <p:cNvSpPr txBox="1"/>
          <p:nvPr/>
        </p:nvSpPr>
        <p:spPr>
          <a:xfrm>
            <a:off x="1028116" y="1209675"/>
            <a:ext cx="1064318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Example: two competing TCP sessions:</a:t>
            </a:r>
            <a:endParaRPr/>
          </a:p>
          <a:p>
            <a:pPr indent="-21590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additive increase gives slope of 1, as throughout increases</a:t>
            </a:r>
            <a:endParaRPr/>
          </a:p>
          <a:p>
            <a:pPr indent="-21590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multiplicative decrease decreases throughput proportionally </a:t>
            </a:r>
            <a:endParaRPr/>
          </a:p>
        </p:txBody>
      </p:sp>
      <p:cxnSp>
        <p:nvCxnSpPr>
          <p:cNvPr id="8927" name="Google Shape;8927;p138"/>
          <p:cNvCxnSpPr/>
          <p:nvPr/>
        </p:nvCxnSpPr>
        <p:spPr>
          <a:xfrm>
            <a:off x="1701800" y="6091237"/>
            <a:ext cx="3638550" cy="0"/>
          </a:xfrm>
          <a:prstGeom prst="straightConnector1">
            <a:avLst/>
          </a:prstGeom>
          <a:noFill/>
          <a:ln cap="flat" cmpd="sng" w="38100">
            <a:solidFill>
              <a:srgbClr val="000000"/>
            </a:solidFill>
            <a:prstDash val="solid"/>
            <a:round/>
            <a:headEnd len="med" w="med" type="none"/>
            <a:tailEnd len="med" w="med" type="none"/>
          </a:ln>
        </p:spPr>
      </p:cxnSp>
      <p:cxnSp>
        <p:nvCxnSpPr>
          <p:cNvPr id="8928" name="Google Shape;8928;p138"/>
          <p:cNvCxnSpPr/>
          <p:nvPr/>
        </p:nvCxnSpPr>
        <p:spPr>
          <a:xfrm rot="10800000">
            <a:off x="1701800" y="2995612"/>
            <a:ext cx="0" cy="3086100"/>
          </a:xfrm>
          <a:prstGeom prst="straightConnector1">
            <a:avLst/>
          </a:prstGeom>
          <a:noFill/>
          <a:ln cap="flat" cmpd="sng" w="38100">
            <a:solidFill>
              <a:srgbClr val="000000"/>
            </a:solidFill>
            <a:prstDash val="solid"/>
            <a:round/>
            <a:headEnd len="med" w="med" type="none"/>
            <a:tailEnd len="med" w="med" type="none"/>
          </a:ln>
        </p:spPr>
      </p:cxnSp>
      <p:cxnSp>
        <p:nvCxnSpPr>
          <p:cNvPr id="8929" name="Google Shape;8929;p138"/>
          <p:cNvCxnSpPr/>
          <p:nvPr/>
        </p:nvCxnSpPr>
        <p:spPr>
          <a:xfrm rot="7861895">
            <a:off x="1095375" y="4730750"/>
            <a:ext cx="3560763" cy="14287"/>
          </a:xfrm>
          <a:prstGeom prst="straightConnector1">
            <a:avLst/>
          </a:prstGeom>
          <a:noFill/>
          <a:ln cap="flat" cmpd="sng" w="19050">
            <a:solidFill>
              <a:srgbClr val="000000"/>
            </a:solidFill>
            <a:prstDash val="dash"/>
            <a:round/>
            <a:headEnd len="med" w="med" type="none"/>
            <a:tailEnd len="med" w="med" type="none"/>
          </a:ln>
        </p:spPr>
      </p:cxnSp>
      <p:cxnSp>
        <p:nvCxnSpPr>
          <p:cNvPr id="8930" name="Google Shape;8930;p138"/>
          <p:cNvCxnSpPr/>
          <p:nvPr/>
        </p:nvCxnSpPr>
        <p:spPr>
          <a:xfrm>
            <a:off x="1682750" y="3243262"/>
            <a:ext cx="2819400" cy="2809875"/>
          </a:xfrm>
          <a:prstGeom prst="straightConnector1">
            <a:avLst/>
          </a:prstGeom>
          <a:noFill/>
          <a:ln cap="flat" cmpd="sng" w="38100">
            <a:solidFill>
              <a:srgbClr val="3333CC"/>
            </a:solidFill>
            <a:prstDash val="solid"/>
            <a:round/>
            <a:headEnd len="med" w="med" type="none"/>
            <a:tailEnd len="med" w="med" type="none"/>
          </a:ln>
        </p:spPr>
      </p:cxnSp>
      <p:sp>
        <p:nvSpPr>
          <p:cNvPr id="8931" name="Google Shape;8931;p138"/>
          <p:cNvSpPr txBox="1"/>
          <p:nvPr/>
        </p:nvSpPr>
        <p:spPr>
          <a:xfrm>
            <a:off x="1331913" y="3071812"/>
            <a:ext cx="4032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a:t>
            </a:r>
            <a:endParaRPr b="0" i="0" sz="1000" u="none" cap="none" strike="noStrike">
              <a:solidFill>
                <a:srgbClr val="000000"/>
              </a:solidFill>
              <a:latin typeface="Arial"/>
              <a:ea typeface="Arial"/>
              <a:cs typeface="Arial"/>
              <a:sym typeface="Arial"/>
            </a:endParaRPr>
          </a:p>
        </p:txBody>
      </p:sp>
      <p:sp>
        <p:nvSpPr>
          <p:cNvPr id="8932" name="Google Shape;8932;p138"/>
          <p:cNvSpPr txBox="1"/>
          <p:nvPr/>
        </p:nvSpPr>
        <p:spPr>
          <a:xfrm>
            <a:off x="4284663" y="6119812"/>
            <a:ext cx="4032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a:t>
            </a:r>
            <a:endParaRPr b="0" i="0" sz="1000" u="none" cap="none" strike="noStrike">
              <a:solidFill>
                <a:srgbClr val="000000"/>
              </a:solidFill>
              <a:latin typeface="Arial"/>
              <a:ea typeface="Arial"/>
              <a:cs typeface="Arial"/>
              <a:sym typeface="Arial"/>
            </a:endParaRPr>
          </a:p>
        </p:txBody>
      </p:sp>
      <p:sp>
        <p:nvSpPr>
          <p:cNvPr id="8933" name="Google Shape;8933;p138"/>
          <p:cNvSpPr txBox="1"/>
          <p:nvPr/>
        </p:nvSpPr>
        <p:spPr>
          <a:xfrm>
            <a:off x="2560638" y="3062287"/>
            <a:ext cx="35464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equal bandwidth share</a:t>
            </a:r>
            <a:endParaRPr b="0" i="0" sz="1000" u="none" cap="none" strike="noStrike">
              <a:solidFill>
                <a:srgbClr val="000000"/>
              </a:solidFill>
              <a:latin typeface="Arial"/>
              <a:ea typeface="Arial"/>
              <a:cs typeface="Arial"/>
              <a:sym typeface="Arial"/>
            </a:endParaRPr>
          </a:p>
        </p:txBody>
      </p:sp>
      <p:sp>
        <p:nvSpPr>
          <p:cNvPr id="8934" name="Google Shape;8934;p138"/>
          <p:cNvSpPr txBox="1"/>
          <p:nvPr/>
        </p:nvSpPr>
        <p:spPr>
          <a:xfrm>
            <a:off x="1141413" y="6100762"/>
            <a:ext cx="35464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Connection 1 throughput</a:t>
            </a:r>
            <a:endParaRPr b="0" i="0" sz="1000" u="none" cap="none" strike="noStrike">
              <a:solidFill>
                <a:srgbClr val="000000"/>
              </a:solidFill>
              <a:latin typeface="Arial"/>
              <a:ea typeface="Arial"/>
              <a:cs typeface="Arial"/>
              <a:sym typeface="Arial"/>
            </a:endParaRPr>
          </a:p>
        </p:txBody>
      </p:sp>
      <p:sp>
        <p:nvSpPr>
          <p:cNvPr id="8935" name="Google Shape;8935;p138"/>
          <p:cNvSpPr txBox="1"/>
          <p:nvPr/>
        </p:nvSpPr>
        <p:spPr>
          <a:xfrm rot="-5396642">
            <a:off x="-273844" y="4639469"/>
            <a:ext cx="35464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Connection 2 throughput</a:t>
            </a:r>
            <a:endParaRPr b="0" i="0" sz="1000" u="none" cap="none" strike="noStrike">
              <a:solidFill>
                <a:srgbClr val="000000"/>
              </a:solidFill>
              <a:latin typeface="Arial"/>
              <a:ea typeface="Arial"/>
              <a:cs typeface="Arial"/>
              <a:sym typeface="Arial"/>
            </a:endParaRPr>
          </a:p>
        </p:txBody>
      </p:sp>
      <p:cxnSp>
        <p:nvCxnSpPr>
          <p:cNvPr id="8936" name="Google Shape;8936;p138"/>
          <p:cNvCxnSpPr/>
          <p:nvPr/>
        </p:nvCxnSpPr>
        <p:spPr>
          <a:xfrm rot="7861895">
            <a:off x="2805112" y="5348288"/>
            <a:ext cx="1293813" cy="4762"/>
          </a:xfrm>
          <a:prstGeom prst="straightConnector1">
            <a:avLst/>
          </a:prstGeom>
          <a:noFill/>
          <a:ln cap="flat" cmpd="sng" w="19050">
            <a:solidFill>
              <a:srgbClr val="C00000"/>
            </a:solidFill>
            <a:prstDash val="solid"/>
            <a:round/>
            <a:headEnd len="med" w="med" type="triangle"/>
            <a:tailEnd len="med" w="med" type="none"/>
          </a:ln>
        </p:spPr>
      </p:cxnSp>
      <p:sp>
        <p:nvSpPr>
          <p:cNvPr id="8937" name="Google Shape;8937;p138"/>
          <p:cNvSpPr txBox="1"/>
          <p:nvPr/>
        </p:nvSpPr>
        <p:spPr>
          <a:xfrm>
            <a:off x="3475038" y="4919662"/>
            <a:ext cx="45370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congestion avoidance: additive increase</a:t>
            </a:r>
            <a:endParaRPr b="0" i="0" sz="1000" u="none" cap="none" strike="noStrike">
              <a:solidFill>
                <a:srgbClr val="000000"/>
              </a:solidFill>
              <a:latin typeface="Arial"/>
              <a:ea typeface="Arial"/>
              <a:cs typeface="Arial"/>
              <a:sym typeface="Arial"/>
            </a:endParaRPr>
          </a:p>
        </p:txBody>
      </p:sp>
      <p:cxnSp>
        <p:nvCxnSpPr>
          <p:cNvPr id="8938" name="Google Shape;8938;p138"/>
          <p:cNvCxnSpPr/>
          <p:nvPr/>
        </p:nvCxnSpPr>
        <p:spPr>
          <a:xfrm flipH="1">
            <a:off x="2692400" y="4881562"/>
            <a:ext cx="1171575" cy="631825"/>
          </a:xfrm>
          <a:prstGeom prst="straightConnector1">
            <a:avLst/>
          </a:prstGeom>
          <a:noFill/>
          <a:ln cap="flat" cmpd="sng" w="19050">
            <a:solidFill>
              <a:srgbClr val="C00000"/>
            </a:solidFill>
            <a:prstDash val="solid"/>
            <a:round/>
            <a:headEnd len="med" w="med" type="none"/>
            <a:tailEnd len="med" w="med" type="triangle"/>
          </a:ln>
        </p:spPr>
      </p:cxnSp>
      <p:sp>
        <p:nvSpPr>
          <p:cNvPr id="8939" name="Google Shape;8939;p138"/>
          <p:cNvSpPr txBox="1"/>
          <p:nvPr/>
        </p:nvSpPr>
        <p:spPr>
          <a:xfrm>
            <a:off x="4006850" y="4675187"/>
            <a:ext cx="34607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loss: decrease window by factor of 2</a:t>
            </a:r>
            <a:endParaRPr b="0" i="0" sz="1000" u="none" cap="none" strike="noStrike">
              <a:solidFill>
                <a:srgbClr val="000000"/>
              </a:solidFill>
              <a:latin typeface="Arial"/>
              <a:ea typeface="Arial"/>
              <a:cs typeface="Arial"/>
              <a:sym typeface="Arial"/>
            </a:endParaRPr>
          </a:p>
        </p:txBody>
      </p:sp>
      <p:cxnSp>
        <p:nvCxnSpPr>
          <p:cNvPr id="8940" name="Google Shape;8940;p138"/>
          <p:cNvCxnSpPr/>
          <p:nvPr/>
        </p:nvCxnSpPr>
        <p:spPr>
          <a:xfrm rot="7861895">
            <a:off x="2484438" y="5021262"/>
            <a:ext cx="1303337" cy="23813"/>
          </a:xfrm>
          <a:prstGeom prst="straightConnector1">
            <a:avLst/>
          </a:prstGeom>
          <a:noFill/>
          <a:ln cap="flat" cmpd="sng" w="19050">
            <a:solidFill>
              <a:srgbClr val="C00000"/>
            </a:solidFill>
            <a:prstDash val="solid"/>
            <a:round/>
            <a:headEnd len="med" w="med" type="triangle"/>
            <a:tailEnd len="med" w="med" type="none"/>
          </a:ln>
        </p:spPr>
      </p:cxnSp>
      <p:sp>
        <p:nvSpPr>
          <p:cNvPr id="8941" name="Google Shape;8941;p138"/>
          <p:cNvSpPr txBox="1"/>
          <p:nvPr/>
        </p:nvSpPr>
        <p:spPr>
          <a:xfrm>
            <a:off x="3189288" y="4433887"/>
            <a:ext cx="45370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congestion avoidance: additive increase</a:t>
            </a:r>
            <a:endParaRPr b="0" i="0" sz="1000" u="none" cap="none" strike="noStrike">
              <a:solidFill>
                <a:srgbClr val="000000"/>
              </a:solidFill>
              <a:latin typeface="Arial"/>
              <a:ea typeface="Arial"/>
              <a:cs typeface="Arial"/>
              <a:sym typeface="Arial"/>
            </a:endParaRPr>
          </a:p>
        </p:txBody>
      </p:sp>
      <p:cxnSp>
        <p:nvCxnSpPr>
          <p:cNvPr id="8942" name="Google Shape;8942;p138"/>
          <p:cNvCxnSpPr/>
          <p:nvPr/>
        </p:nvCxnSpPr>
        <p:spPr>
          <a:xfrm flipH="1">
            <a:off x="2549525" y="4595812"/>
            <a:ext cx="981075" cy="765175"/>
          </a:xfrm>
          <a:prstGeom prst="straightConnector1">
            <a:avLst/>
          </a:prstGeom>
          <a:noFill/>
          <a:ln cap="flat" cmpd="sng" w="19050">
            <a:solidFill>
              <a:srgbClr val="C00000"/>
            </a:solidFill>
            <a:prstDash val="solid"/>
            <a:round/>
            <a:headEnd len="med" w="med" type="none"/>
            <a:tailEnd len="med" w="med" type="triangle"/>
          </a:ln>
        </p:spPr>
      </p:cxnSp>
      <p:sp>
        <p:nvSpPr>
          <p:cNvPr id="8943" name="Google Shape;8943;p138"/>
          <p:cNvSpPr txBox="1"/>
          <p:nvPr/>
        </p:nvSpPr>
        <p:spPr>
          <a:xfrm>
            <a:off x="3606800" y="4227512"/>
            <a:ext cx="34607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loss: decrease window by factor of 2</a:t>
            </a:r>
            <a:endParaRPr b="0" i="0" sz="1000" u="none" cap="none" strike="noStrike">
              <a:solidFill>
                <a:srgbClr val="000000"/>
              </a:solidFill>
              <a:latin typeface="Arial"/>
              <a:ea typeface="Arial"/>
              <a:cs typeface="Arial"/>
              <a:sym typeface="Arial"/>
            </a:endParaRPr>
          </a:p>
        </p:txBody>
      </p:sp>
      <p:cxnSp>
        <p:nvCxnSpPr>
          <p:cNvPr id="8944" name="Google Shape;8944;p138"/>
          <p:cNvCxnSpPr/>
          <p:nvPr/>
        </p:nvCxnSpPr>
        <p:spPr>
          <a:xfrm rot="7861895">
            <a:off x="2340769" y="4874419"/>
            <a:ext cx="1279525" cy="14287"/>
          </a:xfrm>
          <a:prstGeom prst="straightConnector1">
            <a:avLst/>
          </a:prstGeom>
          <a:noFill/>
          <a:ln cap="flat" cmpd="sng" w="19050">
            <a:solidFill>
              <a:srgbClr val="C00000"/>
            </a:solidFill>
            <a:prstDash val="solid"/>
            <a:round/>
            <a:headEnd len="med" w="med" type="triangle"/>
            <a:tailEnd len="med" w="med" type="none"/>
          </a:ln>
        </p:spPr>
      </p:cxnSp>
      <p:cxnSp>
        <p:nvCxnSpPr>
          <p:cNvPr id="8945" name="Google Shape;8945;p138"/>
          <p:cNvCxnSpPr/>
          <p:nvPr/>
        </p:nvCxnSpPr>
        <p:spPr>
          <a:xfrm flipH="1">
            <a:off x="2482850" y="4414837"/>
            <a:ext cx="911225" cy="889000"/>
          </a:xfrm>
          <a:prstGeom prst="straightConnector1">
            <a:avLst/>
          </a:prstGeom>
          <a:noFill/>
          <a:ln cap="flat" cmpd="sng" w="19050">
            <a:solidFill>
              <a:srgbClr val="C00000"/>
            </a:solidFill>
            <a:prstDash val="solid"/>
            <a:round/>
            <a:headEnd len="med" w="med" type="none"/>
            <a:tailEnd len="med" w="med" type="triangle"/>
          </a:ln>
        </p:spPr>
      </p:cxnSp>
      <p:cxnSp>
        <p:nvCxnSpPr>
          <p:cNvPr id="8946" name="Google Shape;8946;p138"/>
          <p:cNvCxnSpPr/>
          <p:nvPr/>
        </p:nvCxnSpPr>
        <p:spPr>
          <a:xfrm rot="7861895">
            <a:off x="2261394" y="4810919"/>
            <a:ext cx="1279525" cy="14287"/>
          </a:xfrm>
          <a:prstGeom prst="straightConnector1">
            <a:avLst/>
          </a:prstGeom>
          <a:noFill/>
          <a:ln cap="flat" cmpd="sng" w="19050">
            <a:solidFill>
              <a:srgbClr val="C00000"/>
            </a:solidFill>
            <a:prstDash val="solid"/>
            <a:round/>
            <a:headEnd len="med" w="med" type="triangle"/>
            <a:tailEnd len="med" w="med" type="none"/>
          </a:ln>
        </p:spPr>
      </p:cxnSp>
      <p:grpSp>
        <p:nvGrpSpPr>
          <p:cNvPr id="8947" name="Google Shape;8947;p138"/>
          <p:cNvGrpSpPr/>
          <p:nvPr/>
        </p:nvGrpSpPr>
        <p:grpSpPr>
          <a:xfrm>
            <a:off x="7983110" y="3205277"/>
            <a:ext cx="3864041" cy="2713458"/>
            <a:chOff x="7983110" y="3205277"/>
            <a:chExt cx="3864041" cy="2713458"/>
          </a:xfrm>
        </p:grpSpPr>
        <p:sp>
          <p:nvSpPr>
            <p:cNvPr id="8948" name="Google Shape;8948;p138"/>
            <p:cNvSpPr txBox="1"/>
            <p:nvPr/>
          </p:nvSpPr>
          <p:spPr>
            <a:xfrm>
              <a:off x="8130707" y="3671674"/>
              <a:ext cx="3703160" cy="219752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Yes, under idealized assumptions:</a:t>
              </a:r>
              <a:endParaRPr/>
            </a:p>
            <a:p>
              <a:pPr indent="-228600" lvl="0" marL="342900"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same RTT</a:t>
              </a:r>
              <a:endParaRPr/>
            </a:p>
            <a:p>
              <a:pPr indent="-228600" lvl="0" marL="342900"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fixed number of sessions only in congestion avoidance </a:t>
              </a:r>
              <a:endParaRPr/>
            </a:p>
          </p:txBody>
        </p:sp>
        <p:sp>
          <p:nvSpPr>
            <p:cNvPr id="8949" name="Google Shape;8949;p138"/>
            <p:cNvSpPr/>
            <p:nvPr/>
          </p:nvSpPr>
          <p:spPr>
            <a:xfrm>
              <a:off x="7983110" y="3468687"/>
              <a:ext cx="3864041" cy="2450048"/>
            </a:xfrm>
            <a:prstGeom prst="rect">
              <a:avLst/>
            </a:prstGeom>
            <a:noFill/>
            <a:ln cap="flat" cmpd="sng" w="222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50" name="Google Shape;8950;p138"/>
            <p:cNvSpPr/>
            <p:nvPr/>
          </p:nvSpPr>
          <p:spPr>
            <a:xfrm>
              <a:off x="8338252" y="3328994"/>
              <a:ext cx="1762727" cy="25558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51" name="Google Shape;8951;p138"/>
            <p:cNvSpPr txBox="1"/>
            <p:nvPr/>
          </p:nvSpPr>
          <p:spPr>
            <a:xfrm>
              <a:off x="8332482" y="3205277"/>
              <a:ext cx="176849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Is</a:t>
              </a:r>
              <a:r>
                <a:rPr b="0" i="0" lang="en-US" sz="2800" u="none" cap="none" strike="noStrike">
                  <a:solidFill>
                    <a:srgbClr val="C00000"/>
                  </a:solidFill>
                  <a:latin typeface="Calibri"/>
                  <a:ea typeface="Calibri"/>
                  <a:cs typeface="Calibri"/>
                  <a:sym typeface="Calibri"/>
                </a:rPr>
                <a:t> TCP fair?</a:t>
              </a:r>
              <a:endParaRPr/>
            </a:p>
          </p:txBody>
        </p:sp>
      </p:grpSp>
      <p:sp>
        <p:nvSpPr>
          <p:cNvPr id="8952" name="Google Shape;8952;p138"/>
          <p:cNvSpPr/>
          <p:nvPr/>
        </p:nvSpPr>
        <p:spPr>
          <a:xfrm>
            <a:off x="2998274" y="5695379"/>
            <a:ext cx="166255" cy="166255"/>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53" name="Google Shape;8953;p1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6"/>
                                        </p:tgtEl>
                                        <p:attrNameLst>
                                          <p:attrName>style.visibility</p:attrName>
                                        </p:attrNameLst>
                                      </p:cBhvr>
                                      <p:to>
                                        <p:strVal val="visible"/>
                                      </p:to>
                                    </p:set>
                                    <p:animEffect filter="fade" transition="in">
                                      <p:cBhvr>
                                        <p:cTn dur="500"/>
                                        <p:tgtEl>
                                          <p:spTgt spid="8936"/>
                                        </p:tgtEl>
                                      </p:cBhvr>
                                    </p:animEffect>
                                  </p:childTnLst>
                                </p:cTn>
                              </p:par>
                              <p:par>
                                <p:cTn fill="hold" nodeType="withEffect" presetClass="exit" presetID="10" presetSubtype="0">
                                  <p:stCondLst>
                                    <p:cond delay="0"/>
                                  </p:stCondLst>
                                  <p:childTnLst>
                                    <p:animEffect filter="fade" transition="out">
                                      <p:cBhvr>
                                        <p:cTn dur="500"/>
                                        <p:tgtEl>
                                          <p:spTgt spid="8952"/>
                                        </p:tgtEl>
                                      </p:cBhvr>
                                    </p:animEffect>
                                    <p:set>
                                      <p:cBhvr>
                                        <p:cTn dur="1" fill="hold">
                                          <p:stCondLst>
                                            <p:cond delay="500"/>
                                          </p:stCondLst>
                                        </p:cTn>
                                        <p:tgtEl>
                                          <p:spTgt spid="895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37"/>
                                        </p:tgtEl>
                                        <p:attrNameLst>
                                          <p:attrName>style.visibility</p:attrName>
                                        </p:attrNameLst>
                                      </p:cBhvr>
                                      <p:to>
                                        <p:strVal val="visible"/>
                                      </p:to>
                                    </p:set>
                                    <p:animEffect filter="fade" transition="in">
                                      <p:cBhvr>
                                        <p:cTn dur="500"/>
                                        <p:tgtEl>
                                          <p:spTgt spid="8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8"/>
                                        </p:tgtEl>
                                        <p:attrNameLst>
                                          <p:attrName>style.visibility</p:attrName>
                                        </p:attrNameLst>
                                      </p:cBhvr>
                                      <p:to>
                                        <p:strVal val="visible"/>
                                      </p:to>
                                    </p:set>
                                    <p:animEffect filter="fade" transition="in">
                                      <p:cBhvr>
                                        <p:cTn dur="500"/>
                                        <p:tgtEl>
                                          <p:spTgt spid="893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39"/>
                                        </p:tgtEl>
                                        <p:attrNameLst>
                                          <p:attrName>style.visibility</p:attrName>
                                        </p:attrNameLst>
                                      </p:cBhvr>
                                      <p:to>
                                        <p:strVal val="visible"/>
                                      </p:to>
                                    </p:set>
                                    <p:animEffect filter="fade" transition="in">
                                      <p:cBhvr>
                                        <p:cTn dur="500"/>
                                        <p:tgtEl>
                                          <p:spTgt spid="89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0"/>
                                        </p:tgtEl>
                                        <p:attrNameLst>
                                          <p:attrName>style.visibility</p:attrName>
                                        </p:attrNameLst>
                                      </p:cBhvr>
                                      <p:to>
                                        <p:strVal val="visible"/>
                                      </p:to>
                                    </p:set>
                                    <p:animEffect filter="fade" transition="in">
                                      <p:cBhvr>
                                        <p:cTn dur="500"/>
                                        <p:tgtEl>
                                          <p:spTgt spid="89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41"/>
                                        </p:tgtEl>
                                        <p:attrNameLst>
                                          <p:attrName>style.visibility</p:attrName>
                                        </p:attrNameLst>
                                      </p:cBhvr>
                                      <p:to>
                                        <p:strVal val="visible"/>
                                      </p:to>
                                    </p:set>
                                    <p:animEffect filter="fade" transition="in">
                                      <p:cBhvr>
                                        <p:cTn dur="500"/>
                                        <p:tgtEl>
                                          <p:spTgt spid="89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2"/>
                                        </p:tgtEl>
                                        <p:attrNameLst>
                                          <p:attrName>style.visibility</p:attrName>
                                        </p:attrNameLst>
                                      </p:cBhvr>
                                      <p:to>
                                        <p:strVal val="visible"/>
                                      </p:to>
                                    </p:set>
                                    <p:animEffect filter="fade" transition="in">
                                      <p:cBhvr>
                                        <p:cTn dur="500"/>
                                        <p:tgtEl>
                                          <p:spTgt spid="89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43"/>
                                        </p:tgtEl>
                                        <p:attrNameLst>
                                          <p:attrName>style.visibility</p:attrName>
                                        </p:attrNameLst>
                                      </p:cBhvr>
                                      <p:to>
                                        <p:strVal val="visible"/>
                                      </p:to>
                                    </p:set>
                                    <p:animEffect filter="fade" transition="in">
                                      <p:cBhvr>
                                        <p:cTn dur="500"/>
                                        <p:tgtEl>
                                          <p:spTgt spid="89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4"/>
                                        </p:tgtEl>
                                        <p:attrNameLst>
                                          <p:attrName>style.visibility</p:attrName>
                                        </p:attrNameLst>
                                      </p:cBhvr>
                                      <p:to>
                                        <p:strVal val="visible"/>
                                      </p:to>
                                    </p:set>
                                    <p:animEffect filter="fade" transition="in">
                                      <p:cBhvr>
                                        <p:cTn dur="500"/>
                                        <p:tgtEl>
                                          <p:spTgt spid="8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5"/>
                                        </p:tgtEl>
                                        <p:attrNameLst>
                                          <p:attrName>style.visibility</p:attrName>
                                        </p:attrNameLst>
                                      </p:cBhvr>
                                      <p:to>
                                        <p:strVal val="visible"/>
                                      </p:to>
                                    </p:set>
                                    <p:animEffect filter="fade" transition="in">
                                      <p:cBhvr>
                                        <p:cTn dur="500"/>
                                        <p:tgtEl>
                                          <p:spTgt spid="89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6"/>
                                        </p:tgtEl>
                                        <p:attrNameLst>
                                          <p:attrName>style.visibility</p:attrName>
                                        </p:attrNameLst>
                                      </p:cBhvr>
                                      <p:to>
                                        <p:strVal val="visible"/>
                                      </p:to>
                                    </p:set>
                                    <p:animEffect filter="fade" transition="in">
                                      <p:cBhvr>
                                        <p:cTn dur="500"/>
                                        <p:tgtEl>
                                          <p:spTgt spid="89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7"/>
                                        </p:tgtEl>
                                        <p:attrNameLst>
                                          <p:attrName>style.visibility</p:attrName>
                                        </p:attrNameLst>
                                      </p:cBhvr>
                                      <p:to>
                                        <p:strVal val="visible"/>
                                      </p:to>
                                    </p:set>
                                    <p:animEffect filter="fade" transition="in">
                                      <p:cBhvr>
                                        <p:cTn dur="500"/>
                                        <p:tgtEl>
                                          <p:spTgt spid="89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8" name="Shape 8958"/>
        <p:cNvGrpSpPr/>
        <p:nvPr/>
      </p:nvGrpSpPr>
      <p:grpSpPr>
        <a:xfrm>
          <a:off x="0" y="0"/>
          <a:ext cx="0" cy="0"/>
          <a:chOff x="0" y="0"/>
          <a:chExt cx="0" cy="0"/>
        </a:xfrm>
      </p:grpSpPr>
      <p:sp>
        <p:nvSpPr>
          <p:cNvPr id="8959" name="Google Shape;8959;p139"/>
          <p:cNvSpPr txBox="1"/>
          <p:nvPr>
            <p:ph type="title"/>
          </p:nvPr>
        </p:nvSpPr>
        <p:spPr>
          <a:xfrm>
            <a:off x="780345" y="261078"/>
            <a:ext cx="108345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Fairness: must all network apps be “fair”?</a:t>
            </a:r>
            <a:endParaRPr b="0" sz="4400"/>
          </a:p>
        </p:txBody>
      </p:sp>
      <p:sp>
        <p:nvSpPr>
          <p:cNvPr id="8960" name="Google Shape;8960;p139"/>
          <p:cNvSpPr txBox="1"/>
          <p:nvPr/>
        </p:nvSpPr>
        <p:spPr>
          <a:xfrm>
            <a:off x="749300" y="1219200"/>
            <a:ext cx="5207000" cy="4648200"/>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Fairness and UDP</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multimedia apps often do not use TCP</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do not want rate throttled by congestion control</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instead use UDP:</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audio/video at constant rate, tolerate packet loss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there is no “Internet police” policing use of congestion control</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961" name="Google Shape;8961;p139"/>
          <p:cNvSpPr txBox="1"/>
          <p:nvPr/>
        </p:nvSpPr>
        <p:spPr>
          <a:xfrm>
            <a:off x="6210301" y="1193800"/>
            <a:ext cx="5575300" cy="50673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Fairness, parallel TCP connections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application can open </a:t>
            </a:r>
            <a:r>
              <a:rPr b="0" i="1" lang="en-US" sz="2800" u="none" cap="none" strike="noStrike">
                <a:solidFill>
                  <a:srgbClr val="000000"/>
                </a:solidFill>
                <a:latin typeface="Calibri"/>
                <a:ea typeface="Calibri"/>
                <a:cs typeface="Calibri"/>
                <a:sym typeface="Calibri"/>
              </a:rPr>
              <a:t>multiple</a:t>
            </a:r>
            <a:r>
              <a:rPr b="0" i="0" lang="en-US" sz="2800" u="none" cap="none" strike="noStrike">
                <a:solidFill>
                  <a:srgbClr val="000000"/>
                </a:solidFill>
                <a:latin typeface="Calibri"/>
                <a:ea typeface="Calibri"/>
                <a:cs typeface="Calibri"/>
                <a:sym typeface="Calibri"/>
              </a:rPr>
              <a:t> parallel connections between two hosts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web browsers do this , e.g., link of rate R with 9 existing connections: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new app asks for 1 TCP, gets rate R/10</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new app asks for 11 TCPs, gets R/2 </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962" name="Google Shape;8962;p1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1"/>
                                        </p:tgtEl>
                                        <p:attrNameLst>
                                          <p:attrName>style.visibility</p:attrName>
                                        </p:attrNameLst>
                                      </p:cBhvr>
                                      <p:to>
                                        <p:strVal val="visible"/>
                                      </p:to>
                                    </p:set>
                                    <p:animEffect filter="fade" transition="in">
                                      <p:cBhvr>
                                        <p:cTn dur="500"/>
                                        <p:tgtEl>
                                          <p:spTgt spid="8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7" name="Shape 8967"/>
        <p:cNvGrpSpPr/>
        <p:nvPr/>
      </p:nvGrpSpPr>
      <p:grpSpPr>
        <a:xfrm>
          <a:off x="0" y="0"/>
          <a:ext cx="0" cy="0"/>
          <a:chOff x="0" y="0"/>
          <a:chExt cx="0" cy="0"/>
        </a:xfrm>
      </p:grpSpPr>
      <p:sp>
        <p:nvSpPr>
          <p:cNvPr id="8968" name="Google Shape;8968;p14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8969" name="Google Shape;8969;p140"/>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SzPts val="3200"/>
              <a:buChar char="▪"/>
            </a:pPr>
            <a:r>
              <a:rPr lang="en-US" sz="3200"/>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8970" name="Google Shape;8970;p1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8971" name="Google Shape;8971;p140"/>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6" name="Shape 8976"/>
        <p:cNvGrpSpPr/>
        <p:nvPr/>
      </p:nvGrpSpPr>
      <p:grpSpPr>
        <a:xfrm>
          <a:off x="0" y="0"/>
          <a:ext cx="0" cy="0"/>
          <a:chOff x="0" y="0"/>
          <a:chExt cx="0" cy="0"/>
        </a:xfrm>
      </p:grpSpPr>
      <p:sp>
        <p:nvSpPr>
          <p:cNvPr id="8977" name="Google Shape;8977;p141"/>
          <p:cNvSpPr txBox="1"/>
          <p:nvPr>
            <p:ph idx="1" type="body"/>
          </p:nvPr>
        </p:nvSpPr>
        <p:spPr>
          <a:xfrm>
            <a:off x="825500" y="1489243"/>
            <a:ext cx="10515600" cy="9872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TCP, UDP: principal transport protocols for 40 years</a:t>
            </a:r>
            <a:endParaRPr sz="2600"/>
          </a:p>
          <a:p>
            <a:pPr indent="-222250" lvl="0" marL="352425" rtl="0" algn="l">
              <a:lnSpc>
                <a:spcPct val="90000"/>
              </a:lnSpc>
              <a:spcBef>
                <a:spcPts val="600"/>
              </a:spcBef>
              <a:spcAft>
                <a:spcPts val="0"/>
              </a:spcAft>
              <a:buSzPts val="2800"/>
              <a:buChar char="▪"/>
            </a:pPr>
            <a:r>
              <a:rPr lang="en-US"/>
              <a:t>different “flavors” of TCP developed, for specific scenarios:</a:t>
            </a:r>
            <a:endParaRPr sz="2600"/>
          </a:p>
          <a:p>
            <a:pPr indent="0" lvl="1" marL="463550" rtl="0" algn="l">
              <a:lnSpc>
                <a:spcPct val="90000"/>
              </a:lnSpc>
              <a:spcBef>
                <a:spcPts val="500"/>
              </a:spcBef>
              <a:spcAft>
                <a:spcPts val="0"/>
              </a:spcAft>
              <a:buSzPts val="2400"/>
              <a:buNone/>
            </a:pPr>
            <a:r>
              <a:t/>
            </a:r>
            <a:endParaRPr/>
          </a:p>
        </p:txBody>
      </p:sp>
      <p:sp>
        <p:nvSpPr>
          <p:cNvPr id="8978" name="Google Shape;8978;p14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b="0" lang="en-US" sz="4800"/>
              <a:t>Evolving transport-layer functionality</a:t>
            </a:r>
            <a:endParaRPr b="0" sz="4400"/>
          </a:p>
        </p:txBody>
      </p:sp>
      <p:sp>
        <p:nvSpPr>
          <p:cNvPr id="8979" name="Google Shape;8979;p141"/>
          <p:cNvSpPr txBox="1"/>
          <p:nvPr/>
        </p:nvSpPr>
        <p:spPr>
          <a:xfrm>
            <a:off x="787400" y="4953000"/>
            <a:ext cx="10515600" cy="1485900"/>
          </a:xfrm>
          <a:prstGeom prst="rect">
            <a:avLst/>
          </a:prstGeom>
          <a:noFill/>
          <a:ln>
            <a:noFill/>
          </a:ln>
        </p:spPr>
        <p:txBody>
          <a:bodyPr anchorCtr="0" anchor="t" bIns="45700" lIns="91425" spcFirstLastPara="1" rIns="91425" wrap="square" tIns="45700">
            <a:normAutofit/>
          </a:bodyPr>
          <a:lstStyle/>
          <a:p>
            <a:pPr indent="0" lvl="1" marL="463550" marR="0" rtl="0" algn="l">
              <a:lnSpc>
                <a:spcPct val="90000"/>
              </a:lnSpc>
              <a:spcBef>
                <a:spcPts val="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moving transport–layer functions to application layer, on top of UDP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HTTP/3: QUIC</a:t>
            </a:r>
            <a:endParaRPr/>
          </a:p>
        </p:txBody>
      </p:sp>
      <p:graphicFrame>
        <p:nvGraphicFramePr>
          <p:cNvPr id="8980" name="Google Shape;8980;p141"/>
          <p:cNvGraphicFramePr/>
          <p:nvPr/>
        </p:nvGraphicFramePr>
        <p:xfrm>
          <a:off x="2124074" y="2591594"/>
          <a:ext cx="3000000" cy="3000000"/>
        </p:xfrm>
        <a:graphic>
          <a:graphicData uri="http://schemas.openxmlformats.org/drawingml/2006/table">
            <a:tbl>
              <a:tblPr>
                <a:noFill/>
                <a:tableStyleId>{84C1E676-E774-44E0-855D-16EF92FE579D}</a:tableStyleId>
              </a:tblPr>
              <a:tblGrid>
                <a:gridCol w="3451225"/>
                <a:gridCol w="4470400"/>
              </a:tblGrid>
              <a:tr h="254000">
                <a:tc>
                  <a:txBody>
                    <a:bodyPr/>
                    <a:lstStyle/>
                    <a:p>
                      <a:pPr indent="0" lvl="0" marL="0" marR="0" rtl="0" algn="l">
                        <a:spcBef>
                          <a:spcPts val="0"/>
                        </a:spcBef>
                        <a:spcAft>
                          <a:spcPts val="0"/>
                        </a:spcAft>
                        <a:buNone/>
                      </a:pPr>
                      <a:r>
                        <a:rPr lang="en-US" sz="2000" u="none" cap="none" strike="noStrike">
                          <a:solidFill>
                            <a:schemeClr val="lt1"/>
                          </a:solidFill>
                          <a:latin typeface="Calibri"/>
                          <a:ea typeface="Calibri"/>
                          <a:cs typeface="Calibri"/>
                          <a:sym typeface="Calibri"/>
                        </a:rPr>
                        <a:t>Scenario</a:t>
                      </a:r>
                      <a:endParaRPr sz="1200" u="none" cap="none" strike="noStrike">
                        <a:solidFill>
                          <a:schemeClr val="lt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lang="en-US" sz="2000" u="none" cap="none" strike="noStrike">
                          <a:solidFill>
                            <a:srgbClr val="FFFFFF"/>
                          </a:solidFill>
                          <a:latin typeface="Calibri"/>
                          <a:ea typeface="Calibri"/>
                          <a:cs typeface="Calibri"/>
                          <a:sym typeface="Calibri"/>
                        </a:rPr>
                        <a:t>Challenges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Long, fat pipes (large data transfers)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Many packets “in flight”; loss shuts down pipeline</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Wireless networks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Loss due to noisy wireless links, mobility; TCP treat this as congestion loss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Long-delay links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Extremely long RTTs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Data center networks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Latency sensitive</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Background traffic flows</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u="none" cap="none" strike="noStrike">
                          <a:latin typeface="Calibri"/>
                          <a:ea typeface="Calibri"/>
                          <a:cs typeface="Calibri"/>
                          <a:sym typeface="Calibri"/>
                        </a:rPr>
                        <a:t>Low priority, “background” TCP flows </a:t>
                      </a:r>
                      <a:endParaRPr sz="12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8981" name="Google Shape;8981;p1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7">
                                            <p:txEl>
                                              <p:pRg end="0" st="0"/>
                                            </p:txEl>
                                          </p:spTgt>
                                        </p:tgtEl>
                                        <p:attrNameLst>
                                          <p:attrName>style.visibility</p:attrName>
                                        </p:attrNameLst>
                                      </p:cBhvr>
                                      <p:to>
                                        <p:strVal val="visible"/>
                                      </p:to>
                                    </p:set>
                                    <p:animEffect filter="fade" transition="in">
                                      <p:cBhvr>
                                        <p:cTn dur="500"/>
                                        <p:tgtEl>
                                          <p:spTgt spid="89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7">
                                            <p:txEl>
                                              <p:pRg end="1" st="1"/>
                                            </p:txEl>
                                          </p:spTgt>
                                        </p:tgtEl>
                                        <p:attrNameLst>
                                          <p:attrName>style.visibility</p:attrName>
                                        </p:attrNameLst>
                                      </p:cBhvr>
                                      <p:to>
                                        <p:strVal val="visible"/>
                                      </p:to>
                                    </p:set>
                                    <p:animEffect filter="fade" transition="in">
                                      <p:cBhvr>
                                        <p:cTn dur="500"/>
                                        <p:tgtEl>
                                          <p:spTgt spid="89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7">
                                            <p:txEl>
                                              <p:pRg end="2" st="2"/>
                                            </p:txEl>
                                          </p:spTgt>
                                        </p:tgtEl>
                                        <p:attrNameLst>
                                          <p:attrName>style.visibility</p:attrName>
                                        </p:attrNameLst>
                                      </p:cBhvr>
                                      <p:to>
                                        <p:strVal val="visible"/>
                                      </p:to>
                                    </p:set>
                                    <p:animEffect filter="fade" transition="in">
                                      <p:cBhvr>
                                        <p:cTn dur="500"/>
                                        <p:tgtEl>
                                          <p:spTgt spid="8977">
                                            <p:txEl>
                                              <p:pRg end="2" st="2"/>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80"/>
                                        </p:tgtEl>
                                        <p:attrNameLst>
                                          <p:attrName>style.visibility</p:attrName>
                                        </p:attrNameLst>
                                      </p:cBhvr>
                                      <p:to>
                                        <p:strVal val="visible"/>
                                      </p:to>
                                    </p:set>
                                    <p:animEffect filter="fade" transition="in">
                                      <p:cBhvr>
                                        <p:cTn dur="500"/>
                                        <p:tgtEl>
                                          <p:spTgt spid="8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9"/>
                                        </p:tgtEl>
                                        <p:attrNameLst>
                                          <p:attrName>style.visibility</p:attrName>
                                        </p:attrNameLst>
                                      </p:cBhvr>
                                      <p:to>
                                        <p:strVal val="visible"/>
                                      </p:to>
                                    </p:set>
                                    <p:animEffect filter="fade" transition="in">
                                      <p:cBhvr>
                                        <p:cTn dur="500"/>
                                        <p:tgtEl>
                                          <p:spTgt spid="89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6" name="Shape 8986"/>
        <p:cNvGrpSpPr/>
        <p:nvPr/>
      </p:nvGrpSpPr>
      <p:grpSpPr>
        <a:xfrm>
          <a:off x="0" y="0"/>
          <a:ext cx="0" cy="0"/>
          <a:chOff x="0" y="0"/>
          <a:chExt cx="0" cy="0"/>
        </a:xfrm>
      </p:grpSpPr>
      <p:sp>
        <p:nvSpPr>
          <p:cNvPr id="8987" name="Google Shape;8987;p142"/>
          <p:cNvSpPr txBox="1"/>
          <p:nvPr>
            <p:ph idx="1" type="body"/>
          </p:nvPr>
        </p:nvSpPr>
        <p:spPr>
          <a:xfrm>
            <a:off x="838200" y="1540043"/>
            <a:ext cx="10515600" cy="14190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application-layer protocol, on top of UDP</a:t>
            </a:r>
            <a:endParaRPr/>
          </a:p>
          <a:p>
            <a:pPr indent="-231775" lvl="1" marL="695325" rtl="0" algn="l">
              <a:lnSpc>
                <a:spcPct val="90000"/>
              </a:lnSpc>
              <a:spcBef>
                <a:spcPts val="500"/>
              </a:spcBef>
              <a:spcAft>
                <a:spcPts val="0"/>
              </a:spcAft>
              <a:buSzPts val="2600"/>
              <a:buChar char="•"/>
            </a:pPr>
            <a:r>
              <a:rPr lang="en-US" sz="2600"/>
              <a:t>increase performance of HTTP</a:t>
            </a:r>
            <a:endParaRPr/>
          </a:p>
          <a:p>
            <a:pPr indent="-231775" lvl="1" marL="695325" rtl="0" algn="l">
              <a:lnSpc>
                <a:spcPct val="90000"/>
              </a:lnSpc>
              <a:spcBef>
                <a:spcPts val="500"/>
              </a:spcBef>
              <a:spcAft>
                <a:spcPts val="0"/>
              </a:spcAft>
              <a:buSzPts val="2600"/>
              <a:buChar char="•"/>
            </a:pPr>
            <a:r>
              <a:rPr lang="en-US" sz="2600"/>
              <a:t>deployed on many Google servers, apps (Chrome, mobile YouTube app) </a:t>
            </a:r>
            <a:endParaRPr/>
          </a:p>
          <a:p>
            <a:pPr indent="0" lvl="0" marL="130175" rtl="0" algn="l">
              <a:lnSpc>
                <a:spcPct val="90000"/>
              </a:lnSpc>
              <a:spcBef>
                <a:spcPts val="1000"/>
              </a:spcBef>
              <a:spcAft>
                <a:spcPts val="0"/>
              </a:spcAft>
              <a:buSzPts val="2800"/>
              <a:buNone/>
            </a:pPr>
            <a:r>
              <a:t/>
            </a:r>
            <a:endParaRPr/>
          </a:p>
        </p:txBody>
      </p:sp>
      <p:sp>
        <p:nvSpPr>
          <p:cNvPr id="8988" name="Google Shape;8988;p14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Quick UDP Internet Connections</a:t>
            </a:r>
            <a:endParaRPr b="0" sz="4400"/>
          </a:p>
        </p:txBody>
      </p:sp>
      <p:grpSp>
        <p:nvGrpSpPr>
          <p:cNvPr id="8989" name="Google Shape;8989;p142"/>
          <p:cNvGrpSpPr/>
          <p:nvPr/>
        </p:nvGrpSpPr>
        <p:grpSpPr>
          <a:xfrm>
            <a:off x="2484036" y="3362958"/>
            <a:ext cx="6857901" cy="2748783"/>
            <a:chOff x="2217336" y="1877058"/>
            <a:chExt cx="6857901" cy="2748783"/>
          </a:xfrm>
        </p:grpSpPr>
        <p:sp>
          <p:nvSpPr>
            <p:cNvPr id="8990" name="Google Shape;8990;p142"/>
            <p:cNvSpPr/>
            <p:nvPr/>
          </p:nvSpPr>
          <p:spPr>
            <a:xfrm>
              <a:off x="3743058" y="3625405"/>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1" name="Google Shape;8991;p142"/>
            <p:cNvSpPr txBox="1"/>
            <p:nvPr/>
          </p:nvSpPr>
          <p:spPr>
            <a:xfrm>
              <a:off x="4518545" y="3668766"/>
              <a:ext cx="364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a:t>
              </a:r>
              <a:endParaRPr/>
            </a:p>
          </p:txBody>
        </p:sp>
        <p:sp>
          <p:nvSpPr>
            <p:cNvPr id="8992" name="Google Shape;8992;p142"/>
            <p:cNvSpPr/>
            <p:nvPr/>
          </p:nvSpPr>
          <p:spPr>
            <a:xfrm>
              <a:off x="3744927" y="3054009"/>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3" name="Google Shape;8993;p142"/>
            <p:cNvSpPr txBox="1"/>
            <p:nvPr/>
          </p:nvSpPr>
          <p:spPr>
            <a:xfrm>
              <a:off x="4434744" y="3100445"/>
              <a:ext cx="5394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a:t>
              </a:r>
              <a:endParaRPr/>
            </a:p>
          </p:txBody>
        </p:sp>
        <p:sp>
          <p:nvSpPr>
            <p:cNvPr id="8994" name="Google Shape;8994;p142"/>
            <p:cNvSpPr/>
            <p:nvPr/>
          </p:nvSpPr>
          <p:spPr>
            <a:xfrm>
              <a:off x="3745776" y="2472222"/>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5" name="Google Shape;8995;p142"/>
            <p:cNvSpPr txBox="1"/>
            <p:nvPr/>
          </p:nvSpPr>
          <p:spPr>
            <a:xfrm>
              <a:off x="4435593" y="2518658"/>
              <a:ext cx="50025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TLS</a:t>
              </a:r>
              <a:endParaRPr/>
            </a:p>
          </p:txBody>
        </p:sp>
        <p:grpSp>
          <p:nvGrpSpPr>
            <p:cNvPr id="8996" name="Google Shape;8996;p142"/>
            <p:cNvGrpSpPr/>
            <p:nvPr/>
          </p:nvGrpSpPr>
          <p:grpSpPr>
            <a:xfrm>
              <a:off x="3743058" y="1887725"/>
              <a:ext cx="1905057" cy="455283"/>
              <a:chOff x="975444" y="4703759"/>
              <a:chExt cx="2128813" cy="498521"/>
            </a:xfrm>
          </p:grpSpPr>
          <p:sp>
            <p:nvSpPr>
              <p:cNvPr id="8997" name="Google Shape;8997;p142"/>
              <p:cNvSpPr/>
              <p:nvPr/>
            </p:nvSpPr>
            <p:spPr>
              <a:xfrm>
                <a:off x="975444" y="4703759"/>
                <a:ext cx="2128813" cy="498521"/>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98" name="Google Shape;8998;p142"/>
              <p:cNvSpPr txBox="1"/>
              <p:nvPr/>
            </p:nvSpPr>
            <p:spPr>
              <a:xfrm>
                <a:off x="1576949" y="4754605"/>
                <a:ext cx="982079" cy="404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a:t>
                </a:r>
                <a:endParaRPr/>
              </a:p>
            </p:txBody>
          </p:sp>
        </p:grpSp>
        <p:sp>
          <p:nvSpPr>
            <p:cNvPr id="8999" name="Google Shape;8999;p142"/>
            <p:cNvSpPr/>
            <p:nvPr/>
          </p:nvSpPr>
          <p:spPr>
            <a:xfrm>
              <a:off x="6229839" y="3627880"/>
              <a:ext cx="1905057" cy="455279"/>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0" name="Google Shape;9000;p142"/>
            <p:cNvSpPr txBox="1"/>
            <p:nvPr/>
          </p:nvSpPr>
          <p:spPr>
            <a:xfrm>
              <a:off x="7005326" y="3671238"/>
              <a:ext cx="364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a:t>
              </a:r>
              <a:endParaRPr/>
            </a:p>
          </p:txBody>
        </p:sp>
        <p:sp>
          <p:nvSpPr>
            <p:cNvPr id="9001" name="Google Shape;9001;p142"/>
            <p:cNvSpPr/>
            <p:nvPr/>
          </p:nvSpPr>
          <p:spPr>
            <a:xfrm>
              <a:off x="6231708" y="3143406"/>
              <a:ext cx="1905057" cy="368352"/>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2" name="Google Shape;9002;p142"/>
            <p:cNvSpPr txBox="1"/>
            <p:nvPr/>
          </p:nvSpPr>
          <p:spPr>
            <a:xfrm>
              <a:off x="6908533" y="3132142"/>
              <a:ext cx="59503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UDP</a:t>
              </a:r>
              <a:endParaRPr/>
            </a:p>
          </p:txBody>
        </p:sp>
        <p:sp>
          <p:nvSpPr>
            <p:cNvPr id="9003" name="Google Shape;9003;p142"/>
            <p:cNvSpPr/>
            <p:nvPr/>
          </p:nvSpPr>
          <p:spPr>
            <a:xfrm>
              <a:off x="6232557" y="2348686"/>
              <a:ext cx="1905057" cy="574888"/>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4" name="Google Shape;9004;p142"/>
            <p:cNvSpPr txBox="1"/>
            <p:nvPr/>
          </p:nvSpPr>
          <p:spPr>
            <a:xfrm>
              <a:off x="6790903" y="2455138"/>
              <a:ext cx="6719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p:txBody>
        </p:sp>
        <p:sp>
          <p:nvSpPr>
            <p:cNvPr id="9005" name="Google Shape;9005;p142"/>
            <p:cNvSpPr/>
            <p:nvPr/>
          </p:nvSpPr>
          <p:spPr>
            <a:xfrm>
              <a:off x="6229839" y="1877061"/>
              <a:ext cx="1905057" cy="397789"/>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06" name="Google Shape;9006;p142"/>
            <p:cNvSpPr txBox="1"/>
            <p:nvPr/>
          </p:nvSpPr>
          <p:spPr>
            <a:xfrm>
              <a:off x="6351472" y="1877058"/>
              <a:ext cx="17676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a:t>
              </a:r>
              <a:r>
                <a:rPr b="0" i="0" lang="en-US" sz="1600" u="none" cap="none" strike="noStrike">
                  <a:solidFill>
                    <a:srgbClr val="000000"/>
                  </a:solidFill>
                  <a:latin typeface="Calibri"/>
                  <a:ea typeface="Calibri"/>
                  <a:cs typeface="Calibri"/>
                  <a:sym typeface="Calibri"/>
                </a:rPr>
                <a:t>(slimmed)</a:t>
              </a:r>
              <a:endParaRPr/>
            </a:p>
          </p:txBody>
        </p:sp>
        <p:cxnSp>
          <p:nvCxnSpPr>
            <p:cNvPr id="9007" name="Google Shape;9007;p142"/>
            <p:cNvCxnSpPr/>
            <p:nvPr/>
          </p:nvCxnSpPr>
          <p:spPr>
            <a:xfrm>
              <a:off x="3333329" y="3569813"/>
              <a:ext cx="5147262" cy="0"/>
            </a:xfrm>
            <a:prstGeom prst="straightConnector1">
              <a:avLst/>
            </a:prstGeom>
            <a:noFill/>
            <a:ln cap="flat" cmpd="sng" w="12700">
              <a:solidFill>
                <a:srgbClr val="000000"/>
              </a:solidFill>
              <a:prstDash val="dash"/>
              <a:round/>
              <a:headEnd len="sm" w="sm" type="none"/>
              <a:tailEnd len="sm" w="sm" type="none"/>
            </a:ln>
          </p:spPr>
        </p:cxnSp>
        <p:cxnSp>
          <p:nvCxnSpPr>
            <p:cNvPr id="9008" name="Google Shape;9008;p142"/>
            <p:cNvCxnSpPr/>
            <p:nvPr/>
          </p:nvCxnSpPr>
          <p:spPr>
            <a:xfrm>
              <a:off x="3352451" y="2994658"/>
              <a:ext cx="5147262" cy="0"/>
            </a:xfrm>
            <a:prstGeom prst="straightConnector1">
              <a:avLst/>
            </a:prstGeom>
            <a:noFill/>
            <a:ln cap="flat" cmpd="sng" w="12700">
              <a:solidFill>
                <a:srgbClr val="000000"/>
              </a:solidFill>
              <a:prstDash val="dash"/>
              <a:round/>
              <a:headEnd len="sm" w="sm" type="none"/>
              <a:tailEnd len="sm" w="sm" type="none"/>
            </a:ln>
          </p:spPr>
        </p:cxnSp>
        <p:sp>
          <p:nvSpPr>
            <p:cNvPr id="9009" name="Google Shape;9009;p142"/>
            <p:cNvSpPr txBox="1"/>
            <p:nvPr/>
          </p:nvSpPr>
          <p:spPr>
            <a:xfrm>
              <a:off x="2349067" y="3671237"/>
              <a:ext cx="1224388"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a:t>
              </a:r>
              <a:endParaRPr/>
            </a:p>
          </p:txBody>
        </p:sp>
        <p:sp>
          <p:nvSpPr>
            <p:cNvPr id="9010" name="Google Shape;9010;p142"/>
            <p:cNvSpPr txBox="1"/>
            <p:nvPr/>
          </p:nvSpPr>
          <p:spPr>
            <a:xfrm>
              <a:off x="2355238" y="3077264"/>
              <a:ext cx="1224388"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a:t>
              </a:r>
              <a:endParaRPr/>
            </a:p>
          </p:txBody>
        </p:sp>
        <p:sp>
          <p:nvSpPr>
            <p:cNvPr id="9011" name="Google Shape;9011;p142"/>
            <p:cNvSpPr txBox="1"/>
            <p:nvPr/>
          </p:nvSpPr>
          <p:spPr>
            <a:xfrm>
              <a:off x="2217336" y="2204824"/>
              <a:ext cx="1379850"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a:t>
              </a:r>
              <a:endParaRPr/>
            </a:p>
          </p:txBody>
        </p:sp>
        <p:sp>
          <p:nvSpPr>
            <p:cNvPr id="9012" name="Google Shape;9012;p142"/>
            <p:cNvSpPr txBox="1"/>
            <p:nvPr/>
          </p:nvSpPr>
          <p:spPr>
            <a:xfrm>
              <a:off x="3887697" y="4256509"/>
              <a:ext cx="17604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over TCP</a:t>
              </a:r>
              <a:endParaRPr/>
            </a:p>
          </p:txBody>
        </p:sp>
        <p:sp>
          <p:nvSpPr>
            <p:cNvPr id="9013" name="Google Shape;9013;p142"/>
            <p:cNvSpPr/>
            <p:nvPr/>
          </p:nvSpPr>
          <p:spPr>
            <a:xfrm>
              <a:off x="8194669" y="1877058"/>
              <a:ext cx="155448" cy="1050444"/>
            </a:xfrm>
            <a:prstGeom prst="rightBrace">
              <a:avLst>
                <a:gd fmla="val 8333" name="adj1"/>
                <a:gd fmla="val 50000" name="adj2"/>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14" name="Google Shape;9014;p142"/>
            <p:cNvSpPr txBox="1"/>
            <p:nvPr/>
          </p:nvSpPr>
          <p:spPr>
            <a:xfrm>
              <a:off x="8175178" y="2220885"/>
              <a:ext cx="900059"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HTTP/3</a:t>
              </a:r>
              <a:endParaRPr/>
            </a:p>
          </p:txBody>
        </p:sp>
        <p:sp>
          <p:nvSpPr>
            <p:cNvPr id="9015" name="Google Shape;9015;p142"/>
            <p:cNvSpPr txBox="1"/>
            <p:nvPr/>
          </p:nvSpPr>
          <p:spPr>
            <a:xfrm>
              <a:off x="6183312" y="4220148"/>
              <a:ext cx="28264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over QUIC over UDP</a:t>
              </a:r>
              <a:endParaRPr/>
            </a:p>
          </p:txBody>
        </p:sp>
      </p:grpSp>
      <p:sp>
        <p:nvSpPr>
          <p:cNvPr id="9016" name="Google Shape;9016;p142"/>
          <p:cNvSpPr/>
          <p:nvPr/>
        </p:nvSpPr>
        <p:spPr>
          <a:xfrm>
            <a:off x="6134100" y="3060700"/>
            <a:ext cx="4940300" cy="3492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17" name="Google Shape;9017;p1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89"/>
                                        </p:tgtEl>
                                        <p:attrNameLst>
                                          <p:attrName>style.visibility</p:attrName>
                                        </p:attrNameLst>
                                      </p:cBhvr>
                                      <p:to>
                                        <p:strVal val="visible"/>
                                      </p:to>
                                    </p:set>
                                    <p:animEffect filter="fade" transition="in">
                                      <p:cBhvr>
                                        <p:cTn dur="500"/>
                                        <p:tgtEl>
                                          <p:spTgt spid="8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016"/>
                                        </p:tgtEl>
                                      </p:cBhvr>
                                    </p:animEffect>
                                    <p:set>
                                      <p:cBhvr>
                                        <p:cTn dur="1" fill="hold">
                                          <p:stCondLst>
                                            <p:cond delay="500"/>
                                          </p:stCondLst>
                                        </p:cTn>
                                        <p:tgtEl>
                                          <p:spTgt spid="901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2" name="Shape 9022"/>
        <p:cNvGrpSpPr/>
        <p:nvPr/>
      </p:nvGrpSpPr>
      <p:grpSpPr>
        <a:xfrm>
          <a:off x="0" y="0"/>
          <a:ext cx="0" cy="0"/>
          <a:chOff x="0" y="0"/>
          <a:chExt cx="0" cy="0"/>
        </a:xfrm>
      </p:grpSpPr>
      <p:sp>
        <p:nvSpPr>
          <p:cNvPr id="9023" name="Google Shape;9023;p14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Quick UDP Internet Connections</a:t>
            </a:r>
            <a:endParaRPr b="0" sz="4400"/>
          </a:p>
        </p:txBody>
      </p:sp>
      <p:sp>
        <p:nvSpPr>
          <p:cNvPr id="9024" name="Google Shape;9024;p143"/>
          <p:cNvSpPr txBox="1"/>
          <p:nvPr/>
        </p:nvSpPr>
        <p:spPr>
          <a:xfrm>
            <a:off x="723900" y="1498601"/>
            <a:ext cx="10515600" cy="1028699"/>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adopts approaches we’ve studied in this chapter for connection establishment, error control, congestion control</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9025" name="Google Shape;9025;p143"/>
          <p:cNvSpPr txBox="1"/>
          <p:nvPr>
            <p:ph idx="1" type="body"/>
          </p:nvPr>
        </p:nvSpPr>
        <p:spPr>
          <a:xfrm>
            <a:off x="806805" y="4750865"/>
            <a:ext cx="10651413" cy="167533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 multiple application-level “streams” multiplexed over single QUIC connection</a:t>
            </a:r>
            <a:endParaRPr/>
          </a:p>
          <a:p>
            <a:pPr indent="-231775" lvl="1" marL="695325" rtl="0" algn="l">
              <a:lnSpc>
                <a:spcPct val="90000"/>
              </a:lnSpc>
              <a:spcBef>
                <a:spcPts val="500"/>
              </a:spcBef>
              <a:spcAft>
                <a:spcPts val="0"/>
              </a:spcAft>
              <a:buSzPts val="2400"/>
              <a:buChar char="•"/>
            </a:pPr>
            <a:r>
              <a:rPr lang="en-US"/>
              <a:t>separate reliable data transfer, security</a:t>
            </a:r>
            <a:endParaRPr/>
          </a:p>
          <a:p>
            <a:pPr indent="-231775" lvl="1" marL="695325" rtl="0" algn="l">
              <a:lnSpc>
                <a:spcPct val="90000"/>
              </a:lnSpc>
              <a:spcBef>
                <a:spcPts val="500"/>
              </a:spcBef>
              <a:spcAft>
                <a:spcPts val="0"/>
              </a:spcAft>
              <a:buSzPts val="2400"/>
              <a:buChar char="•"/>
            </a:pPr>
            <a:r>
              <a:rPr lang="en-US"/>
              <a:t>common congestion control</a:t>
            </a:r>
            <a:endParaRPr/>
          </a:p>
          <a:p>
            <a:pPr indent="-44450" lvl="0" marL="352425" rtl="0" algn="l">
              <a:lnSpc>
                <a:spcPct val="90000"/>
              </a:lnSpc>
              <a:spcBef>
                <a:spcPts val="1000"/>
              </a:spcBef>
              <a:spcAft>
                <a:spcPts val="0"/>
              </a:spcAft>
              <a:buSzPts val="2800"/>
              <a:buNone/>
            </a:pPr>
            <a:r>
              <a:t/>
            </a:r>
            <a:endParaRPr/>
          </a:p>
        </p:txBody>
      </p:sp>
      <p:sp>
        <p:nvSpPr>
          <p:cNvPr id="9026" name="Google Shape;9026;p143"/>
          <p:cNvSpPr txBox="1"/>
          <p:nvPr/>
        </p:nvSpPr>
        <p:spPr>
          <a:xfrm>
            <a:off x="673100" y="2565401"/>
            <a:ext cx="10515600" cy="2095499"/>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600"/>
              <a:buFont typeface="Arial"/>
              <a:buChar char="•"/>
            </a:pPr>
            <a:r>
              <a:rPr b="1" i="0" lang="en-US" sz="2600" u="none" cap="none" strike="noStrike">
                <a:solidFill>
                  <a:srgbClr val="0000A3"/>
                </a:solidFill>
                <a:latin typeface="Calibri"/>
                <a:ea typeface="Calibri"/>
                <a:cs typeface="Calibri"/>
                <a:sym typeface="Calibri"/>
              </a:rPr>
              <a:t>error and congestion control: </a:t>
            </a:r>
            <a:r>
              <a:rPr b="0" i="0" lang="en-US" sz="2600" u="none" cap="none" strike="noStrike">
                <a:solidFill>
                  <a:srgbClr val="000000"/>
                </a:solidFill>
                <a:latin typeface="Calibri"/>
                <a:ea typeface="Calibri"/>
                <a:cs typeface="Calibri"/>
                <a:sym typeface="Calibri"/>
              </a:rPr>
              <a:t>“Readers familiar with TCP’s loss detection and congestion control will find algorithms here that parallel well-known TCP ones.” </a:t>
            </a:r>
            <a:r>
              <a:rPr b="0" i="0" lang="en-US" sz="1800" u="none" cap="none" strike="noStrike">
                <a:solidFill>
                  <a:srgbClr val="000000"/>
                </a:solidFill>
                <a:latin typeface="Calibri"/>
                <a:ea typeface="Calibri"/>
                <a:cs typeface="Calibri"/>
                <a:sym typeface="Calibri"/>
              </a:rPr>
              <a:t>[from QUIC specification]</a:t>
            </a:r>
            <a:endParaRPr/>
          </a:p>
          <a:p>
            <a:pPr indent="-231775" lvl="1" marL="695325" marR="0" rtl="0" algn="l">
              <a:lnSpc>
                <a:spcPct val="90000"/>
              </a:lnSpc>
              <a:spcBef>
                <a:spcPts val="500"/>
              </a:spcBef>
              <a:spcAft>
                <a:spcPts val="0"/>
              </a:spcAft>
              <a:buClr>
                <a:srgbClr val="0000A8"/>
              </a:buClr>
              <a:buSzPts val="2600"/>
              <a:buFont typeface="Arial"/>
              <a:buChar char="•"/>
            </a:pPr>
            <a:r>
              <a:rPr b="1" i="0" lang="en-US" sz="2600" u="none" cap="none" strike="noStrike">
                <a:solidFill>
                  <a:srgbClr val="0000A3"/>
                </a:solidFill>
                <a:latin typeface="Calibri"/>
                <a:ea typeface="Calibri"/>
                <a:cs typeface="Calibri"/>
                <a:sym typeface="Calibri"/>
              </a:rPr>
              <a:t>connection establishment: </a:t>
            </a:r>
            <a:r>
              <a:rPr b="0" i="0" lang="en-US" sz="2600" u="none" cap="none" strike="noStrike">
                <a:solidFill>
                  <a:srgbClr val="000000"/>
                </a:solidFill>
                <a:latin typeface="Calibri"/>
                <a:ea typeface="Calibri"/>
                <a:cs typeface="Calibri"/>
                <a:sym typeface="Calibri"/>
              </a:rPr>
              <a:t>reliability, congestion control, authentication, encryption, state established in one RTT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9027" name="Google Shape;9027;p1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0" st="0"/>
                                            </p:txEl>
                                          </p:spTgt>
                                        </p:tgtEl>
                                        <p:attrNameLst>
                                          <p:attrName>style.visibility</p:attrName>
                                        </p:attrNameLst>
                                      </p:cBhvr>
                                      <p:to>
                                        <p:strVal val="visible"/>
                                      </p:to>
                                    </p:set>
                                    <p:animEffect filter="fade" transition="in">
                                      <p:cBhvr>
                                        <p:cTn dur="500"/>
                                        <p:tgtEl>
                                          <p:spTgt spid="90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1" st="1"/>
                                            </p:txEl>
                                          </p:spTgt>
                                        </p:tgtEl>
                                        <p:attrNameLst>
                                          <p:attrName>style.visibility</p:attrName>
                                        </p:attrNameLst>
                                      </p:cBhvr>
                                      <p:to>
                                        <p:strVal val="visible"/>
                                      </p:to>
                                    </p:set>
                                    <p:animEffect filter="fade" transition="in">
                                      <p:cBhvr>
                                        <p:cTn dur="500"/>
                                        <p:tgtEl>
                                          <p:spTgt spid="90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2" st="2"/>
                                            </p:txEl>
                                          </p:spTgt>
                                        </p:tgtEl>
                                        <p:attrNameLst>
                                          <p:attrName>style.visibility</p:attrName>
                                        </p:attrNameLst>
                                      </p:cBhvr>
                                      <p:to>
                                        <p:strVal val="visible"/>
                                      </p:to>
                                    </p:set>
                                    <p:animEffect filter="fade" transition="in">
                                      <p:cBhvr>
                                        <p:cTn dur="500"/>
                                        <p:tgtEl>
                                          <p:spTgt spid="90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6">
                                            <p:txEl>
                                              <p:pRg end="3" st="3"/>
                                            </p:txEl>
                                          </p:spTgt>
                                        </p:tgtEl>
                                        <p:attrNameLst>
                                          <p:attrName>style.visibility</p:attrName>
                                        </p:attrNameLst>
                                      </p:cBhvr>
                                      <p:to>
                                        <p:strVal val="visible"/>
                                      </p:to>
                                    </p:set>
                                    <p:animEffect filter="fade" transition="in">
                                      <p:cBhvr>
                                        <p:cTn dur="500"/>
                                        <p:tgtEl>
                                          <p:spTgt spid="902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0" st="0"/>
                                            </p:txEl>
                                          </p:spTgt>
                                        </p:tgtEl>
                                        <p:attrNameLst>
                                          <p:attrName>style.visibility</p:attrName>
                                        </p:attrNameLst>
                                      </p:cBhvr>
                                      <p:to>
                                        <p:strVal val="visible"/>
                                      </p:to>
                                    </p:set>
                                    <p:animEffect filter="fade" transition="in">
                                      <p:cBhvr>
                                        <p:cTn dur="500"/>
                                        <p:tgtEl>
                                          <p:spTgt spid="90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1" st="1"/>
                                            </p:txEl>
                                          </p:spTgt>
                                        </p:tgtEl>
                                        <p:attrNameLst>
                                          <p:attrName>style.visibility</p:attrName>
                                        </p:attrNameLst>
                                      </p:cBhvr>
                                      <p:to>
                                        <p:strVal val="visible"/>
                                      </p:to>
                                    </p:set>
                                    <p:animEffect filter="fade" transition="in">
                                      <p:cBhvr>
                                        <p:cTn dur="500"/>
                                        <p:tgtEl>
                                          <p:spTgt spid="90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2" st="2"/>
                                            </p:txEl>
                                          </p:spTgt>
                                        </p:tgtEl>
                                        <p:attrNameLst>
                                          <p:attrName>style.visibility</p:attrName>
                                        </p:attrNameLst>
                                      </p:cBhvr>
                                      <p:to>
                                        <p:strVal val="visible"/>
                                      </p:to>
                                    </p:set>
                                    <p:animEffect filter="fade" transition="in">
                                      <p:cBhvr>
                                        <p:cTn dur="500"/>
                                        <p:tgtEl>
                                          <p:spTgt spid="90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5">
                                            <p:txEl>
                                              <p:pRg end="3" st="3"/>
                                            </p:txEl>
                                          </p:spTgt>
                                        </p:tgtEl>
                                        <p:attrNameLst>
                                          <p:attrName>style.visibility</p:attrName>
                                        </p:attrNameLst>
                                      </p:cBhvr>
                                      <p:to>
                                        <p:strVal val="visible"/>
                                      </p:to>
                                    </p:set>
                                    <p:animEffect filter="fade" transition="in">
                                      <p:cBhvr>
                                        <p:cTn dur="500"/>
                                        <p:tgtEl>
                                          <p:spTgt spid="902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2" name="Shape 9032"/>
        <p:cNvGrpSpPr/>
        <p:nvPr/>
      </p:nvGrpSpPr>
      <p:grpSpPr>
        <a:xfrm>
          <a:off x="0" y="0"/>
          <a:ext cx="0" cy="0"/>
          <a:chOff x="0" y="0"/>
          <a:chExt cx="0" cy="0"/>
        </a:xfrm>
      </p:grpSpPr>
      <p:sp>
        <p:nvSpPr>
          <p:cNvPr id="9033" name="Google Shape;9033;p14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Connection establishment</a:t>
            </a:r>
            <a:endParaRPr b="0" sz="4400"/>
          </a:p>
        </p:txBody>
      </p:sp>
      <p:cxnSp>
        <p:nvCxnSpPr>
          <p:cNvPr id="9034" name="Google Shape;9034;p144"/>
          <p:cNvCxnSpPr/>
          <p:nvPr/>
        </p:nvCxnSpPr>
        <p:spPr>
          <a:xfrm>
            <a:off x="3068451" y="2380850"/>
            <a:ext cx="11746" cy="1766326"/>
          </a:xfrm>
          <a:prstGeom prst="straightConnector1">
            <a:avLst/>
          </a:prstGeom>
          <a:noFill/>
          <a:ln cap="flat" cmpd="sng" w="9525">
            <a:solidFill>
              <a:srgbClr val="777777"/>
            </a:solidFill>
            <a:prstDash val="solid"/>
            <a:round/>
            <a:headEnd len="med" w="med" type="none"/>
            <a:tailEnd len="med" w="med" type="none"/>
          </a:ln>
        </p:spPr>
      </p:cxnSp>
      <p:cxnSp>
        <p:nvCxnSpPr>
          <p:cNvPr id="9035" name="Google Shape;9035;p144"/>
          <p:cNvCxnSpPr/>
          <p:nvPr/>
        </p:nvCxnSpPr>
        <p:spPr>
          <a:xfrm flipH="1">
            <a:off x="4567707" y="2453875"/>
            <a:ext cx="29506" cy="1738377"/>
          </a:xfrm>
          <a:prstGeom prst="straightConnector1">
            <a:avLst/>
          </a:prstGeom>
          <a:noFill/>
          <a:ln cap="flat" cmpd="sng" w="9525">
            <a:solidFill>
              <a:srgbClr val="777777"/>
            </a:solidFill>
            <a:prstDash val="solid"/>
            <a:round/>
            <a:headEnd len="med" w="med" type="none"/>
            <a:tailEnd len="med" w="med" type="none"/>
          </a:ln>
        </p:spPr>
      </p:cxnSp>
      <p:cxnSp>
        <p:nvCxnSpPr>
          <p:cNvPr id="9036" name="Google Shape;9036;p144"/>
          <p:cNvCxnSpPr/>
          <p:nvPr/>
        </p:nvCxnSpPr>
        <p:spPr>
          <a:xfrm>
            <a:off x="3112900" y="2485625"/>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37" name="Google Shape;9037;p144"/>
          <p:cNvSpPr txBox="1"/>
          <p:nvPr/>
        </p:nvSpPr>
        <p:spPr>
          <a:xfrm>
            <a:off x="1411272" y="2446164"/>
            <a:ext cx="166744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TCP handshake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(transport layer)</a:t>
            </a:r>
            <a:endParaRPr/>
          </a:p>
        </p:txBody>
      </p:sp>
      <p:grpSp>
        <p:nvGrpSpPr>
          <p:cNvPr id="9038" name="Google Shape;9038;p144"/>
          <p:cNvGrpSpPr/>
          <p:nvPr/>
        </p:nvGrpSpPr>
        <p:grpSpPr>
          <a:xfrm>
            <a:off x="2596963" y="1844275"/>
            <a:ext cx="620713" cy="487363"/>
            <a:chOff x="-44" y="1473"/>
            <a:chExt cx="981" cy="1105"/>
          </a:xfrm>
        </p:grpSpPr>
        <p:pic>
          <p:nvPicPr>
            <p:cNvPr descr="desktop_computer_stylized_medium" id="9039" name="Google Shape;9039;p1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040" name="Google Shape;9040;p1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041" name="Google Shape;9041;p144"/>
          <p:cNvGrpSpPr/>
          <p:nvPr/>
        </p:nvGrpSpPr>
        <p:grpSpPr>
          <a:xfrm>
            <a:off x="4405125" y="1825225"/>
            <a:ext cx="336550" cy="512763"/>
            <a:chOff x="4140" y="429"/>
            <a:chExt cx="1425" cy="2396"/>
          </a:xfrm>
        </p:grpSpPr>
        <p:sp>
          <p:nvSpPr>
            <p:cNvPr id="9042" name="Google Shape;9042;p1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3" name="Google Shape;9043;p14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4" name="Google Shape;9044;p1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5" name="Google Shape;9045;p1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6" name="Google Shape;9046;p14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47" name="Google Shape;9047;p144"/>
            <p:cNvGrpSpPr/>
            <p:nvPr/>
          </p:nvGrpSpPr>
          <p:grpSpPr>
            <a:xfrm>
              <a:off x="4751" y="666"/>
              <a:ext cx="578" cy="148"/>
              <a:chOff x="617" y="2566"/>
              <a:chExt cx="721" cy="142"/>
            </a:xfrm>
          </p:grpSpPr>
          <p:sp>
            <p:nvSpPr>
              <p:cNvPr id="9048" name="Google Shape;9048;p14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49" name="Google Shape;9049;p14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50" name="Google Shape;9050;p14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51" name="Google Shape;9051;p144"/>
            <p:cNvGrpSpPr/>
            <p:nvPr/>
          </p:nvGrpSpPr>
          <p:grpSpPr>
            <a:xfrm>
              <a:off x="4745" y="993"/>
              <a:ext cx="585" cy="134"/>
              <a:chOff x="611" y="2567"/>
              <a:chExt cx="730" cy="139"/>
            </a:xfrm>
          </p:grpSpPr>
          <p:sp>
            <p:nvSpPr>
              <p:cNvPr id="9052" name="Google Shape;9052;p14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3" name="Google Shape;9053;p14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54" name="Google Shape;9054;p14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5" name="Google Shape;9055;p14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56" name="Google Shape;9056;p144"/>
            <p:cNvGrpSpPr/>
            <p:nvPr/>
          </p:nvGrpSpPr>
          <p:grpSpPr>
            <a:xfrm>
              <a:off x="4738" y="1630"/>
              <a:ext cx="578" cy="149"/>
              <a:chOff x="618" y="2571"/>
              <a:chExt cx="720" cy="137"/>
            </a:xfrm>
          </p:grpSpPr>
          <p:sp>
            <p:nvSpPr>
              <p:cNvPr id="9057" name="Google Shape;9057;p14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58" name="Google Shape;9058;p14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59" name="Google Shape;9059;p1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60" name="Google Shape;9060;p144"/>
            <p:cNvGrpSpPr/>
            <p:nvPr/>
          </p:nvGrpSpPr>
          <p:grpSpPr>
            <a:xfrm>
              <a:off x="4738" y="1327"/>
              <a:ext cx="584" cy="141"/>
              <a:chOff x="613" y="2568"/>
              <a:chExt cx="728" cy="141"/>
            </a:xfrm>
          </p:grpSpPr>
          <p:sp>
            <p:nvSpPr>
              <p:cNvPr id="9061" name="Google Shape;9061;p14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2" name="Google Shape;9062;p14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63" name="Google Shape;9063;p14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4" name="Google Shape;9064;p1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5" name="Google Shape;9065;p1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6" name="Google Shape;9066;p14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7" name="Google Shape;9067;p1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8" name="Google Shape;9068;p14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69" name="Google Shape;9069;p14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0" name="Google Shape;9070;p14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1" name="Google Shape;9071;p14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072" name="Google Shape;9072;p14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73" name="Google Shape;9073;p14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9074" name="Google Shape;9074;p144"/>
          <p:cNvCxnSpPr/>
          <p:nvPr/>
        </p:nvCxnSpPr>
        <p:spPr>
          <a:xfrm flipH="1">
            <a:off x="3079562" y="285233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9075" name="Google Shape;9075;p144"/>
          <p:cNvCxnSpPr/>
          <p:nvPr/>
        </p:nvCxnSpPr>
        <p:spPr>
          <a:xfrm>
            <a:off x="3091128" y="3182311"/>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76" name="Google Shape;9076;p144"/>
          <p:cNvSpPr txBox="1"/>
          <p:nvPr/>
        </p:nvSpPr>
        <p:spPr>
          <a:xfrm>
            <a:off x="1457504" y="3320650"/>
            <a:ext cx="1556836"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TLS handshake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(security)</a:t>
            </a:r>
            <a:endParaRPr/>
          </a:p>
        </p:txBody>
      </p:sp>
      <p:cxnSp>
        <p:nvCxnSpPr>
          <p:cNvPr id="9077" name="Google Shape;9077;p144"/>
          <p:cNvCxnSpPr/>
          <p:nvPr/>
        </p:nvCxnSpPr>
        <p:spPr>
          <a:xfrm flipH="1">
            <a:off x="3057790" y="354902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78" name="Google Shape;9078;p144"/>
          <p:cNvSpPr txBox="1"/>
          <p:nvPr/>
        </p:nvSpPr>
        <p:spPr>
          <a:xfrm>
            <a:off x="1198561" y="4421354"/>
            <a:ext cx="4452939" cy="209374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TCP </a:t>
            </a:r>
            <a:r>
              <a:rPr b="0" i="0" lang="en-US" sz="2000" u="none" cap="none" strike="noStrike">
                <a:solidFill>
                  <a:srgbClr val="000000"/>
                </a:solidFill>
                <a:latin typeface="Calibri"/>
                <a:ea typeface="Calibri"/>
                <a:cs typeface="Calibri"/>
                <a:sym typeface="Calibri"/>
              </a:rPr>
              <a:t>(reliability, congestion control state) </a:t>
            </a:r>
            <a:r>
              <a:rPr b="0" i="0" lang="en-US" sz="2800" u="none" cap="none" strike="noStrike">
                <a:solidFill>
                  <a:srgbClr val="000000"/>
                </a:solidFill>
                <a:latin typeface="Calibri"/>
                <a:ea typeface="Calibri"/>
                <a:cs typeface="Calibri"/>
                <a:sym typeface="Calibri"/>
              </a:rPr>
              <a:t>+ TLS </a:t>
            </a:r>
            <a:r>
              <a:rPr b="0" i="0" lang="en-US" sz="2000" u="none" cap="none" strike="noStrike">
                <a:solidFill>
                  <a:srgbClr val="000000"/>
                </a:solidFill>
                <a:latin typeface="Calibri"/>
                <a:ea typeface="Calibri"/>
                <a:cs typeface="Calibri"/>
                <a:sym typeface="Calibri"/>
              </a:rPr>
              <a:t>(authentication, crypto state)</a:t>
            </a:r>
            <a:endParaRPr/>
          </a:p>
          <a:p>
            <a:pPr indent="-215900" lvl="0" marL="5080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2 serial handshakes</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cxnSp>
        <p:nvCxnSpPr>
          <p:cNvPr id="9079" name="Google Shape;9079;p144"/>
          <p:cNvCxnSpPr/>
          <p:nvPr/>
        </p:nvCxnSpPr>
        <p:spPr>
          <a:xfrm>
            <a:off x="3087500" y="3908025"/>
            <a:ext cx="1479550" cy="315913"/>
          </a:xfrm>
          <a:prstGeom prst="straightConnector1">
            <a:avLst/>
          </a:prstGeom>
          <a:noFill/>
          <a:ln cap="flat" cmpd="sng" w="28575">
            <a:solidFill>
              <a:schemeClr val="dk1"/>
            </a:solidFill>
            <a:prstDash val="solid"/>
            <a:round/>
            <a:headEnd len="med" w="med" type="none"/>
            <a:tailEnd len="med" w="med" type="triangle"/>
          </a:ln>
        </p:spPr>
      </p:cxnSp>
      <p:sp>
        <p:nvSpPr>
          <p:cNvPr id="9080" name="Google Shape;9080;p144"/>
          <p:cNvSpPr txBox="1"/>
          <p:nvPr/>
        </p:nvSpPr>
        <p:spPr>
          <a:xfrm>
            <a:off x="3505200" y="3860800"/>
            <a:ext cx="59971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grpSp>
        <p:nvGrpSpPr>
          <p:cNvPr id="9081" name="Google Shape;9081;p144"/>
          <p:cNvGrpSpPr/>
          <p:nvPr/>
        </p:nvGrpSpPr>
        <p:grpSpPr>
          <a:xfrm>
            <a:off x="6354761" y="1850625"/>
            <a:ext cx="5087939" cy="4753374"/>
            <a:chOff x="6354761" y="1850625"/>
            <a:chExt cx="5087939" cy="4753374"/>
          </a:xfrm>
        </p:grpSpPr>
        <p:cxnSp>
          <p:nvCxnSpPr>
            <p:cNvPr id="9082" name="Google Shape;9082;p144"/>
            <p:cNvCxnSpPr/>
            <p:nvPr/>
          </p:nvCxnSpPr>
          <p:spPr>
            <a:xfrm>
              <a:off x="8046851" y="2406250"/>
              <a:ext cx="11746" cy="1766326"/>
            </a:xfrm>
            <a:prstGeom prst="straightConnector1">
              <a:avLst/>
            </a:prstGeom>
            <a:noFill/>
            <a:ln cap="flat" cmpd="sng" w="9525">
              <a:solidFill>
                <a:srgbClr val="777777"/>
              </a:solidFill>
              <a:prstDash val="solid"/>
              <a:round/>
              <a:headEnd len="med" w="med" type="none"/>
              <a:tailEnd len="med" w="med" type="none"/>
            </a:ln>
          </p:spPr>
        </p:cxnSp>
        <p:cxnSp>
          <p:nvCxnSpPr>
            <p:cNvPr id="9083" name="Google Shape;9083;p144"/>
            <p:cNvCxnSpPr/>
            <p:nvPr/>
          </p:nvCxnSpPr>
          <p:spPr>
            <a:xfrm flipH="1">
              <a:off x="9546107" y="2479275"/>
              <a:ext cx="29506" cy="1738377"/>
            </a:xfrm>
            <a:prstGeom prst="straightConnector1">
              <a:avLst/>
            </a:prstGeom>
            <a:noFill/>
            <a:ln cap="flat" cmpd="sng" w="9525">
              <a:solidFill>
                <a:srgbClr val="777777"/>
              </a:solidFill>
              <a:prstDash val="solid"/>
              <a:round/>
              <a:headEnd len="med" w="med" type="none"/>
              <a:tailEnd len="med" w="med" type="none"/>
            </a:ln>
          </p:spPr>
        </p:cxnSp>
        <p:cxnSp>
          <p:nvCxnSpPr>
            <p:cNvPr id="9084" name="Google Shape;9084;p144"/>
            <p:cNvCxnSpPr/>
            <p:nvPr/>
          </p:nvCxnSpPr>
          <p:spPr>
            <a:xfrm>
              <a:off x="8091300" y="2511025"/>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9085" name="Google Shape;9085;p144"/>
            <p:cNvSpPr txBox="1"/>
            <p:nvPr/>
          </p:nvSpPr>
          <p:spPr>
            <a:xfrm>
              <a:off x="6385541" y="2649364"/>
              <a:ext cx="170110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QUIC handshake</a:t>
              </a:r>
              <a:endParaRPr/>
            </a:p>
          </p:txBody>
        </p:sp>
        <p:grpSp>
          <p:nvGrpSpPr>
            <p:cNvPr id="9086" name="Google Shape;9086;p144"/>
            <p:cNvGrpSpPr/>
            <p:nvPr/>
          </p:nvGrpSpPr>
          <p:grpSpPr>
            <a:xfrm>
              <a:off x="7575363" y="1869675"/>
              <a:ext cx="620713" cy="487363"/>
              <a:chOff x="-44" y="1473"/>
              <a:chExt cx="981" cy="1105"/>
            </a:xfrm>
          </p:grpSpPr>
          <p:pic>
            <p:nvPicPr>
              <p:cNvPr descr="desktop_computer_stylized_medium" id="9087" name="Google Shape;9087;p1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088" name="Google Shape;9088;p1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089" name="Google Shape;9089;p144"/>
            <p:cNvGrpSpPr/>
            <p:nvPr/>
          </p:nvGrpSpPr>
          <p:grpSpPr>
            <a:xfrm>
              <a:off x="9383525" y="1850625"/>
              <a:ext cx="336550" cy="512763"/>
              <a:chOff x="4140" y="429"/>
              <a:chExt cx="1425" cy="2396"/>
            </a:xfrm>
          </p:grpSpPr>
          <p:sp>
            <p:nvSpPr>
              <p:cNvPr id="9090" name="Google Shape;9090;p1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1" name="Google Shape;9091;p14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2" name="Google Shape;9092;p1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3" name="Google Shape;9093;p1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4" name="Google Shape;9094;p14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95" name="Google Shape;9095;p144"/>
              <p:cNvGrpSpPr/>
              <p:nvPr/>
            </p:nvGrpSpPr>
            <p:grpSpPr>
              <a:xfrm>
                <a:off x="4751" y="666"/>
                <a:ext cx="578" cy="148"/>
                <a:chOff x="617" y="2566"/>
                <a:chExt cx="721" cy="142"/>
              </a:xfrm>
            </p:grpSpPr>
            <p:sp>
              <p:nvSpPr>
                <p:cNvPr id="9096" name="Google Shape;9096;p14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97" name="Google Shape;9097;p14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098" name="Google Shape;9098;p14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099" name="Google Shape;9099;p144"/>
              <p:cNvGrpSpPr/>
              <p:nvPr/>
            </p:nvGrpSpPr>
            <p:grpSpPr>
              <a:xfrm>
                <a:off x="4745" y="993"/>
                <a:ext cx="585" cy="134"/>
                <a:chOff x="611" y="2567"/>
                <a:chExt cx="730" cy="139"/>
              </a:xfrm>
            </p:grpSpPr>
            <p:sp>
              <p:nvSpPr>
                <p:cNvPr id="9100" name="Google Shape;9100;p14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01" name="Google Shape;9101;p14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02" name="Google Shape;9102;p14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03" name="Google Shape;9103;p14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04" name="Google Shape;9104;p144"/>
              <p:cNvGrpSpPr/>
              <p:nvPr/>
            </p:nvGrpSpPr>
            <p:grpSpPr>
              <a:xfrm>
                <a:off x="4738" y="1630"/>
                <a:ext cx="578" cy="149"/>
                <a:chOff x="618" y="2571"/>
                <a:chExt cx="720" cy="137"/>
              </a:xfrm>
            </p:grpSpPr>
            <p:sp>
              <p:nvSpPr>
                <p:cNvPr id="9105" name="Google Shape;9105;p14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06" name="Google Shape;9106;p14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07" name="Google Shape;9107;p1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08" name="Google Shape;9108;p144"/>
              <p:cNvGrpSpPr/>
              <p:nvPr/>
            </p:nvGrpSpPr>
            <p:grpSpPr>
              <a:xfrm>
                <a:off x="4738" y="1327"/>
                <a:ext cx="584" cy="141"/>
                <a:chOff x="613" y="2568"/>
                <a:chExt cx="728" cy="141"/>
              </a:xfrm>
            </p:grpSpPr>
            <p:sp>
              <p:nvSpPr>
                <p:cNvPr id="9109" name="Google Shape;9109;p14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0" name="Google Shape;9110;p14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11" name="Google Shape;9111;p14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2" name="Google Shape;9112;p1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3" name="Google Shape;9113;p1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4" name="Google Shape;9114;p14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5" name="Google Shape;9115;p1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6" name="Google Shape;9116;p14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7" name="Google Shape;9117;p14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8" name="Google Shape;9118;p14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19" name="Google Shape;9119;p14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120" name="Google Shape;9120;p14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21" name="Google Shape;9121;p14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9122" name="Google Shape;9122;p144"/>
            <p:cNvCxnSpPr/>
            <p:nvPr/>
          </p:nvCxnSpPr>
          <p:spPr>
            <a:xfrm flipH="1">
              <a:off x="8057962" y="287773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9123" name="Google Shape;9123;p144"/>
            <p:cNvCxnSpPr/>
            <p:nvPr/>
          </p:nvCxnSpPr>
          <p:spPr>
            <a:xfrm>
              <a:off x="8078600" y="3222225"/>
              <a:ext cx="1479550" cy="315913"/>
            </a:xfrm>
            <a:prstGeom prst="straightConnector1">
              <a:avLst/>
            </a:prstGeom>
            <a:noFill/>
            <a:ln cap="flat" cmpd="sng" w="28575">
              <a:solidFill>
                <a:schemeClr val="dk1"/>
              </a:solidFill>
              <a:prstDash val="solid"/>
              <a:round/>
              <a:headEnd len="med" w="med" type="none"/>
              <a:tailEnd len="med" w="med" type="triangle"/>
            </a:ln>
          </p:spPr>
        </p:cxnSp>
        <p:sp>
          <p:nvSpPr>
            <p:cNvPr id="9124" name="Google Shape;9124;p144"/>
            <p:cNvSpPr txBox="1"/>
            <p:nvPr/>
          </p:nvSpPr>
          <p:spPr>
            <a:xfrm>
              <a:off x="8496300" y="3175000"/>
              <a:ext cx="59971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sp>
          <p:nvSpPr>
            <p:cNvPr id="9125" name="Google Shape;9125;p144"/>
            <p:cNvSpPr txBox="1"/>
            <p:nvPr/>
          </p:nvSpPr>
          <p:spPr>
            <a:xfrm>
              <a:off x="6354761" y="4510254"/>
              <a:ext cx="5087939" cy="209374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QUIC:  </a:t>
              </a:r>
              <a:r>
                <a:rPr b="0" i="0" lang="en-US" sz="2400" u="none" cap="none" strike="noStrike">
                  <a:solidFill>
                    <a:srgbClr val="000000"/>
                  </a:solidFill>
                  <a:latin typeface="Calibri"/>
                  <a:ea typeface="Calibri"/>
                  <a:cs typeface="Calibri"/>
                  <a:sym typeface="Calibri"/>
                </a:rPr>
                <a:t>reliability, congestion control, authentication, crypto state</a:t>
              </a:r>
              <a:endParaRPr/>
            </a:p>
            <a:p>
              <a:pPr indent="-228600" lvl="0" marL="5080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1 handshake</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sp>
        <p:nvSpPr>
          <p:cNvPr id="9126" name="Google Shape;9126;p1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1"/>
                                        </p:tgtEl>
                                        <p:attrNameLst>
                                          <p:attrName>style.visibility</p:attrName>
                                        </p:attrNameLst>
                                      </p:cBhvr>
                                      <p:to>
                                        <p:strVal val="visible"/>
                                      </p:to>
                                    </p:set>
                                    <p:animEffect filter="fade" transition="in">
                                      <p:cBhvr>
                                        <p:cTn dur="500"/>
                                        <p:tgtEl>
                                          <p:spTgt spid="90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1" name="Shape 9131"/>
        <p:cNvGrpSpPr/>
        <p:nvPr/>
      </p:nvGrpSpPr>
      <p:grpSpPr>
        <a:xfrm>
          <a:off x="0" y="0"/>
          <a:ext cx="0" cy="0"/>
          <a:chOff x="0" y="0"/>
          <a:chExt cx="0" cy="0"/>
        </a:xfrm>
      </p:grpSpPr>
      <p:sp>
        <p:nvSpPr>
          <p:cNvPr id="9132" name="Google Shape;9132;p14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QUIC: streams: parallelism, no HOL blocking</a:t>
            </a:r>
            <a:endParaRPr b="0" sz="4400"/>
          </a:p>
        </p:txBody>
      </p:sp>
      <p:sp>
        <p:nvSpPr>
          <p:cNvPr id="9133" name="Google Shape;9133;p145"/>
          <p:cNvSpPr txBox="1"/>
          <p:nvPr/>
        </p:nvSpPr>
        <p:spPr>
          <a:xfrm>
            <a:off x="2543977" y="6035783"/>
            <a:ext cx="144783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 HTTP 1.1</a:t>
            </a:r>
            <a:endParaRPr/>
          </a:p>
        </p:txBody>
      </p:sp>
      <p:sp>
        <p:nvSpPr>
          <p:cNvPr id="9134" name="Google Shape;9134;p145"/>
          <p:cNvSpPr/>
          <p:nvPr/>
        </p:nvSpPr>
        <p:spPr>
          <a:xfrm>
            <a:off x="1054261" y="1578653"/>
            <a:ext cx="1965566" cy="2175203"/>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35" name="Google Shape;9135;p145"/>
          <p:cNvSpPr/>
          <p:nvPr/>
        </p:nvSpPr>
        <p:spPr>
          <a:xfrm>
            <a:off x="1036173" y="4019150"/>
            <a:ext cx="1965566" cy="127854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36" name="Google Shape;9136;p145"/>
          <p:cNvSpPr/>
          <p:nvPr/>
        </p:nvSpPr>
        <p:spPr>
          <a:xfrm>
            <a:off x="1115624" y="3255550"/>
            <a:ext cx="1829965" cy="449155"/>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37" name="Google Shape;9137;p145"/>
          <p:cNvSpPr txBox="1"/>
          <p:nvPr/>
        </p:nvSpPr>
        <p:spPr>
          <a:xfrm>
            <a:off x="1249008" y="3237350"/>
            <a:ext cx="1576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TLS </a:t>
            </a:r>
            <a:r>
              <a:rPr b="0" i="0" lang="en-US" sz="1600" u="none" cap="none" strike="noStrike">
                <a:solidFill>
                  <a:srgbClr val="000000"/>
                </a:solidFill>
                <a:latin typeface="Calibri"/>
                <a:ea typeface="Calibri"/>
                <a:cs typeface="Calibri"/>
                <a:sym typeface="Calibri"/>
              </a:rPr>
              <a:t>encryption</a:t>
            </a:r>
            <a:endParaRPr b="0" i="0" sz="2400" u="none" cap="none" strike="noStrike">
              <a:solidFill>
                <a:srgbClr val="000000"/>
              </a:solidFill>
              <a:latin typeface="Calibri"/>
              <a:ea typeface="Calibri"/>
              <a:cs typeface="Calibri"/>
              <a:sym typeface="Calibri"/>
            </a:endParaRPr>
          </a:p>
        </p:txBody>
      </p:sp>
      <p:grpSp>
        <p:nvGrpSpPr>
          <p:cNvPr id="9138" name="Google Shape;9138;p145"/>
          <p:cNvGrpSpPr/>
          <p:nvPr/>
        </p:nvGrpSpPr>
        <p:grpSpPr>
          <a:xfrm>
            <a:off x="1115626" y="4169906"/>
            <a:ext cx="1829965" cy="467357"/>
            <a:chOff x="985206" y="5016160"/>
            <a:chExt cx="1509130" cy="255065"/>
          </a:xfrm>
        </p:grpSpPr>
        <p:sp>
          <p:nvSpPr>
            <p:cNvPr id="9139" name="Google Shape;9139;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40" name="Google Shape;9140;p145"/>
            <p:cNvSpPr txBox="1"/>
            <p:nvPr/>
          </p:nvSpPr>
          <p:spPr>
            <a:xfrm>
              <a:off x="1170162" y="5019266"/>
              <a:ext cx="1016851" cy="25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RDT</a:t>
              </a:r>
              <a:endParaRPr/>
            </a:p>
          </p:txBody>
        </p:sp>
      </p:grpSp>
      <p:grpSp>
        <p:nvGrpSpPr>
          <p:cNvPr id="9141" name="Google Shape;9141;p145"/>
          <p:cNvGrpSpPr/>
          <p:nvPr/>
        </p:nvGrpSpPr>
        <p:grpSpPr>
          <a:xfrm>
            <a:off x="1054260" y="4684687"/>
            <a:ext cx="1925319" cy="467355"/>
            <a:chOff x="948938" y="5006227"/>
            <a:chExt cx="1587767" cy="255065"/>
          </a:xfrm>
        </p:grpSpPr>
        <p:sp>
          <p:nvSpPr>
            <p:cNvPr id="9142" name="Google Shape;9142;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43" name="Google Shape;9143;p145"/>
            <p:cNvSpPr txBox="1"/>
            <p:nvPr/>
          </p:nvSpPr>
          <p:spPr>
            <a:xfrm>
              <a:off x="948938" y="5006227"/>
              <a:ext cx="1587767" cy="251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a:t>
              </a:r>
              <a:r>
                <a:rPr b="0" i="0" lang="en-US" sz="1800" u="none" cap="none" strike="noStrike">
                  <a:solidFill>
                    <a:srgbClr val="000000"/>
                  </a:solidFill>
                  <a:latin typeface="Calibri"/>
                  <a:ea typeface="Calibri"/>
                  <a:cs typeface="Calibri"/>
                  <a:sym typeface="Calibri"/>
                </a:rPr>
                <a:t>Cong. Contr.</a:t>
              </a:r>
              <a:endParaRPr b="0" i="0" sz="1600" u="none" cap="none" strike="noStrike">
                <a:solidFill>
                  <a:srgbClr val="000000"/>
                </a:solidFill>
                <a:latin typeface="Calibri"/>
                <a:ea typeface="Calibri"/>
                <a:cs typeface="Calibri"/>
                <a:sym typeface="Calibri"/>
              </a:endParaRPr>
            </a:p>
          </p:txBody>
        </p:sp>
      </p:grpSp>
      <p:sp>
        <p:nvSpPr>
          <p:cNvPr id="9144" name="Google Shape;9144;p145"/>
          <p:cNvSpPr/>
          <p:nvPr/>
        </p:nvSpPr>
        <p:spPr>
          <a:xfrm>
            <a:off x="3680782" y="1557642"/>
            <a:ext cx="1965566" cy="2175203"/>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45" name="Google Shape;9145;p145"/>
          <p:cNvSpPr txBox="1"/>
          <p:nvPr/>
        </p:nvSpPr>
        <p:spPr>
          <a:xfrm rot="-5400000">
            <a:off x="-420574" y="4419208"/>
            <a:ext cx="1533142" cy="396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transport</a:t>
            </a:r>
            <a:endParaRPr/>
          </a:p>
        </p:txBody>
      </p:sp>
      <p:sp>
        <p:nvSpPr>
          <p:cNvPr id="9146" name="Google Shape;9146;p145"/>
          <p:cNvSpPr txBox="1"/>
          <p:nvPr/>
        </p:nvSpPr>
        <p:spPr>
          <a:xfrm rot="-5400000">
            <a:off x="-463312" y="2467817"/>
            <a:ext cx="1779056" cy="396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application</a:t>
            </a:r>
            <a:endParaRPr/>
          </a:p>
        </p:txBody>
      </p:sp>
      <p:cxnSp>
        <p:nvCxnSpPr>
          <p:cNvPr id="9147" name="Google Shape;9147;p145"/>
          <p:cNvCxnSpPr/>
          <p:nvPr/>
        </p:nvCxnSpPr>
        <p:spPr>
          <a:xfrm>
            <a:off x="1044294" y="3866601"/>
            <a:ext cx="4501961" cy="0"/>
          </a:xfrm>
          <a:prstGeom prst="straightConnector1">
            <a:avLst/>
          </a:prstGeom>
          <a:noFill/>
          <a:ln cap="flat" cmpd="sng" w="12700">
            <a:solidFill>
              <a:srgbClr val="000000"/>
            </a:solidFill>
            <a:prstDash val="dash"/>
            <a:round/>
            <a:headEnd len="sm" w="sm" type="none"/>
            <a:tailEnd len="sm" w="sm" type="none"/>
          </a:ln>
        </p:spPr>
      </p:cxnSp>
      <p:sp>
        <p:nvSpPr>
          <p:cNvPr id="9148" name="Google Shape;9148;p145"/>
          <p:cNvSpPr txBox="1"/>
          <p:nvPr/>
        </p:nvSpPr>
        <p:spPr>
          <a:xfrm>
            <a:off x="6775422" y="6025510"/>
            <a:ext cx="424186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 HTTP/2 with QUIC: no HOL blocking</a:t>
            </a:r>
            <a:endParaRPr/>
          </a:p>
        </p:txBody>
      </p:sp>
      <p:grpSp>
        <p:nvGrpSpPr>
          <p:cNvPr id="9149" name="Google Shape;9149;p145"/>
          <p:cNvGrpSpPr/>
          <p:nvPr/>
        </p:nvGrpSpPr>
        <p:grpSpPr>
          <a:xfrm>
            <a:off x="3654226" y="4021737"/>
            <a:ext cx="1965566" cy="1278547"/>
            <a:chOff x="3654226" y="3933249"/>
            <a:chExt cx="1965566" cy="1278547"/>
          </a:xfrm>
        </p:grpSpPr>
        <p:sp>
          <p:nvSpPr>
            <p:cNvPr id="9150" name="Google Shape;9150;p145"/>
            <p:cNvSpPr/>
            <p:nvPr/>
          </p:nvSpPr>
          <p:spPr>
            <a:xfrm>
              <a:off x="3654226" y="3933249"/>
              <a:ext cx="1965566" cy="127854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grpSp>
          <p:nvGrpSpPr>
            <p:cNvPr id="9151" name="Google Shape;9151;p145"/>
            <p:cNvGrpSpPr/>
            <p:nvPr/>
          </p:nvGrpSpPr>
          <p:grpSpPr>
            <a:xfrm>
              <a:off x="3733679" y="4084005"/>
              <a:ext cx="1829965" cy="467357"/>
              <a:chOff x="985206" y="5016160"/>
              <a:chExt cx="1509130" cy="255065"/>
            </a:xfrm>
          </p:grpSpPr>
          <p:sp>
            <p:nvSpPr>
              <p:cNvPr id="9152" name="Google Shape;9152;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53" name="Google Shape;9153;p145"/>
              <p:cNvSpPr txBox="1"/>
              <p:nvPr/>
            </p:nvSpPr>
            <p:spPr>
              <a:xfrm>
                <a:off x="1170162" y="5019266"/>
                <a:ext cx="1016851" cy="25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RDT</a:t>
                </a:r>
                <a:endParaRPr/>
              </a:p>
            </p:txBody>
          </p:sp>
        </p:grpSp>
        <p:grpSp>
          <p:nvGrpSpPr>
            <p:cNvPr id="9154" name="Google Shape;9154;p145"/>
            <p:cNvGrpSpPr/>
            <p:nvPr/>
          </p:nvGrpSpPr>
          <p:grpSpPr>
            <a:xfrm>
              <a:off x="3672313" y="4598786"/>
              <a:ext cx="1925319" cy="467355"/>
              <a:chOff x="948938" y="5006227"/>
              <a:chExt cx="1587767" cy="255065"/>
            </a:xfrm>
          </p:grpSpPr>
          <p:sp>
            <p:nvSpPr>
              <p:cNvPr id="9155" name="Google Shape;9155;p145"/>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56" name="Google Shape;9156;p145"/>
              <p:cNvSpPr txBox="1"/>
              <p:nvPr/>
            </p:nvSpPr>
            <p:spPr>
              <a:xfrm>
                <a:off x="948938" y="5006227"/>
                <a:ext cx="1587767" cy="251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a:t>
                </a:r>
                <a:r>
                  <a:rPr b="0" i="0" lang="en-US" sz="1800" u="none" cap="none" strike="noStrike">
                    <a:solidFill>
                      <a:srgbClr val="000000"/>
                    </a:solidFill>
                    <a:latin typeface="Calibri"/>
                    <a:ea typeface="Calibri"/>
                    <a:cs typeface="Calibri"/>
                    <a:sym typeface="Calibri"/>
                  </a:rPr>
                  <a:t>Cong. Contr.</a:t>
                </a:r>
                <a:endParaRPr b="0" i="0" sz="1600" u="none" cap="none" strike="noStrike">
                  <a:solidFill>
                    <a:srgbClr val="000000"/>
                  </a:solidFill>
                  <a:latin typeface="Calibri"/>
                  <a:ea typeface="Calibri"/>
                  <a:cs typeface="Calibri"/>
                  <a:sym typeface="Calibri"/>
                </a:endParaRPr>
              </a:p>
            </p:txBody>
          </p:sp>
        </p:grpSp>
      </p:grpSp>
      <p:sp>
        <p:nvSpPr>
          <p:cNvPr id="9157" name="Google Shape;9157;p145"/>
          <p:cNvSpPr/>
          <p:nvPr/>
        </p:nvSpPr>
        <p:spPr>
          <a:xfrm>
            <a:off x="3822817" y="3261240"/>
            <a:ext cx="1829965" cy="449155"/>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58" name="Google Shape;9158;p145"/>
          <p:cNvSpPr txBox="1"/>
          <p:nvPr/>
        </p:nvSpPr>
        <p:spPr>
          <a:xfrm>
            <a:off x="3948827" y="3243040"/>
            <a:ext cx="1576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TLS </a:t>
            </a:r>
            <a:r>
              <a:rPr b="0" i="0" lang="en-US" sz="1600" u="none" cap="none" strike="noStrike">
                <a:solidFill>
                  <a:srgbClr val="000000"/>
                </a:solidFill>
                <a:latin typeface="Calibri"/>
                <a:ea typeface="Calibri"/>
                <a:cs typeface="Calibri"/>
                <a:sym typeface="Calibri"/>
              </a:rPr>
              <a:t>encryption</a:t>
            </a:r>
            <a:endParaRPr b="0" i="0" sz="2400" u="none" cap="none" strike="noStrike">
              <a:solidFill>
                <a:srgbClr val="000000"/>
              </a:solidFill>
              <a:latin typeface="Calibri"/>
              <a:ea typeface="Calibri"/>
              <a:cs typeface="Calibri"/>
              <a:sym typeface="Calibri"/>
            </a:endParaRPr>
          </a:p>
        </p:txBody>
      </p:sp>
      <p:sp>
        <p:nvSpPr>
          <p:cNvPr id="9159" name="Google Shape;9159;p145"/>
          <p:cNvSpPr/>
          <p:nvPr/>
        </p:nvSpPr>
        <p:spPr>
          <a:xfrm>
            <a:off x="2308647" y="2654627"/>
            <a:ext cx="1710813" cy="2824317"/>
          </a:xfrm>
          <a:custGeom>
            <a:rect b="b" l="l" r="r" t="t"/>
            <a:pathLst>
              <a:path extrusionOk="0" h="2824317" w="1710813">
                <a:moveTo>
                  <a:pt x="0" y="376084"/>
                </a:moveTo>
                <a:lnTo>
                  <a:pt x="0" y="2824317"/>
                </a:lnTo>
                <a:lnTo>
                  <a:pt x="95865" y="2824317"/>
                </a:lnTo>
                <a:lnTo>
                  <a:pt x="1710813" y="2824317"/>
                </a:lnTo>
                <a:lnTo>
                  <a:pt x="1710813" y="2676833"/>
                </a:lnTo>
                <a:lnTo>
                  <a:pt x="1710813"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0" name="Google Shape;9160;p145"/>
          <p:cNvSpPr/>
          <p:nvPr/>
        </p:nvSpPr>
        <p:spPr>
          <a:xfrm>
            <a:off x="1947618" y="2410857"/>
            <a:ext cx="2329488" cy="3142699"/>
          </a:xfrm>
          <a:custGeom>
            <a:rect b="b" l="l" r="r" t="t"/>
            <a:pathLst>
              <a:path extrusionOk="0" h="2831690" w="2455606">
                <a:moveTo>
                  <a:pt x="0" y="0"/>
                </a:moveTo>
                <a:lnTo>
                  <a:pt x="0" y="2831690"/>
                </a:lnTo>
                <a:lnTo>
                  <a:pt x="88490" y="2831690"/>
                </a:lnTo>
                <a:lnTo>
                  <a:pt x="2455606" y="2831690"/>
                </a:lnTo>
                <a:lnTo>
                  <a:pt x="2455606" y="1755057"/>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1" name="Google Shape;9161;p145"/>
          <p:cNvSpPr/>
          <p:nvPr/>
        </p:nvSpPr>
        <p:spPr>
          <a:xfrm>
            <a:off x="2120129" y="4420139"/>
            <a:ext cx="2284794" cy="1091381"/>
          </a:xfrm>
          <a:custGeom>
            <a:rect b="b" l="l" r="r" t="t"/>
            <a:pathLst>
              <a:path extrusionOk="0" h="1091381" w="2558845">
                <a:moveTo>
                  <a:pt x="2558845" y="0"/>
                </a:moveTo>
                <a:lnTo>
                  <a:pt x="2558845" y="1091381"/>
                </a:lnTo>
                <a:lnTo>
                  <a:pt x="2485103" y="1091381"/>
                </a:lnTo>
                <a:lnTo>
                  <a:pt x="0" y="1091381"/>
                </a:lnTo>
                <a:lnTo>
                  <a:pt x="0" y="582562"/>
                </a:lnTo>
                <a:lnTo>
                  <a:pt x="0" y="14749"/>
                </a:lnTo>
              </a:path>
            </a:pathLst>
          </a:custGeom>
          <a:noFill/>
          <a:ln cap="flat" cmpd="sng" w="25400">
            <a:solidFill>
              <a:srgbClr val="31538F"/>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2" name="Google Shape;9162;p145"/>
          <p:cNvSpPr txBox="1"/>
          <p:nvPr/>
        </p:nvSpPr>
        <p:spPr>
          <a:xfrm>
            <a:off x="4018781" y="4262676"/>
            <a:ext cx="63844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error!</a:t>
            </a:r>
            <a:endParaRPr b="0" i="0" sz="1200" u="none" cap="none" strike="noStrike">
              <a:solidFill>
                <a:srgbClr val="FF0000"/>
              </a:solidFill>
              <a:latin typeface="Calibri"/>
              <a:ea typeface="Calibri"/>
              <a:cs typeface="Calibri"/>
              <a:sym typeface="Calibri"/>
            </a:endParaRPr>
          </a:p>
        </p:txBody>
      </p:sp>
      <p:sp>
        <p:nvSpPr>
          <p:cNvPr id="9163" name="Google Shape;9163;p145"/>
          <p:cNvSpPr/>
          <p:nvPr/>
        </p:nvSpPr>
        <p:spPr>
          <a:xfrm>
            <a:off x="2162632" y="2535607"/>
            <a:ext cx="2345388" cy="3023419"/>
          </a:xfrm>
          <a:custGeom>
            <a:rect b="b" l="l" r="r" t="t"/>
            <a:pathLst>
              <a:path extrusionOk="0" h="3023419" w="2573594">
                <a:moveTo>
                  <a:pt x="0" y="1976284"/>
                </a:moveTo>
                <a:lnTo>
                  <a:pt x="0" y="3023419"/>
                </a:lnTo>
                <a:lnTo>
                  <a:pt x="2573594" y="3023419"/>
                </a:lnTo>
                <a:lnTo>
                  <a:pt x="2573594"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4" name="Google Shape;9164;p145"/>
          <p:cNvSpPr/>
          <p:nvPr/>
        </p:nvSpPr>
        <p:spPr>
          <a:xfrm>
            <a:off x="1714500" y="2240280"/>
            <a:ext cx="3188970" cy="3314700"/>
          </a:xfrm>
          <a:custGeom>
            <a:rect b="b" l="l" r="r" t="t"/>
            <a:pathLst>
              <a:path extrusionOk="0" h="3314700" w="3188970">
                <a:moveTo>
                  <a:pt x="0" y="0"/>
                </a:moveTo>
                <a:lnTo>
                  <a:pt x="0" y="3314700"/>
                </a:lnTo>
                <a:lnTo>
                  <a:pt x="3188970" y="3314700"/>
                </a:lnTo>
                <a:lnTo>
                  <a:pt x="3188970" y="11430"/>
                </a:lnTo>
                <a:lnTo>
                  <a:pt x="3188970" y="1143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165" name="Google Shape;9165;p145"/>
          <p:cNvGrpSpPr/>
          <p:nvPr/>
        </p:nvGrpSpPr>
        <p:grpSpPr>
          <a:xfrm>
            <a:off x="1247868" y="1815620"/>
            <a:ext cx="1028924" cy="463979"/>
            <a:chOff x="1247868" y="1815620"/>
            <a:chExt cx="1028924" cy="463979"/>
          </a:xfrm>
        </p:grpSpPr>
        <p:sp>
          <p:nvSpPr>
            <p:cNvPr id="9166" name="Google Shape;9166;p145"/>
            <p:cNvSpPr/>
            <p:nvPr/>
          </p:nvSpPr>
          <p:spPr>
            <a:xfrm>
              <a:off x="1428787" y="1815620"/>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67" name="Google Shape;9167;p145"/>
            <p:cNvSpPr txBox="1"/>
            <p:nvPr/>
          </p:nvSpPr>
          <p:spPr>
            <a:xfrm>
              <a:off x="1247868" y="1838324"/>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168" name="Google Shape;9168;p145"/>
          <p:cNvGrpSpPr/>
          <p:nvPr/>
        </p:nvGrpSpPr>
        <p:grpSpPr>
          <a:xfrm>
            <a:off x="1510481" y="2208954"/>
            <a:ext cx="1028924" cy="463979"/>
            <a:chOff x="1549462" y="2216434"/>
            <a:chExt cx="1028924" cy="463979"/>
          </a:xfrm>
        </p:grpSpPr>
        <p:sp>
          <p:nvSpPr>
            <p:cNvPr id="9169" name="Google Shape;9169;p145"/>
            <p:cNvSpPr/>
            <p:nvPr/>
          </p:nvSpPr>
          <p:spPr>
            <a:xfrm>
              <a:off x="1709684" y="2216434"/>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170" name="Google Shape;9170;p145"/>
            <p:cNvSpPr txBox="1"/>
            <p:nvPr/>
          </p:nvSpPr>
          <p:spPr>
            <a:xfrm>
              <a:off x="1549462" y="2239138"/>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171" name="Google Shape;9171;p145"/>
          <p:cNvGrpSpPr/>
          <p:nvPr/>
        </p:nvGrpSpPr>
        <p:grpSpPr>
          <a:xfrm>
            <a:off x="5386202" y="1360556"/>
            <a:ext cx="310294" cy="628857"/>
            <a:chOff x="4140" y="429"/>
            <a:chExt cx="1425" cy="2396"/>
          </a:xfrm>
        </p:grpSpPr>
        <p:sp>
          <p:nvSpPr>
            <p:cNvPr id="9172" name="Google Shape;9172;p1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3" name="Google Shape;9173;p14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4" name="Google Shape;9174;p1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5" name="Google Shape;9175;p1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6" name="Google Shape;9176;p14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77" name="Google Shape;9177;p145"/>
            <p:cNvGrpSpPr/>
            <p:nvPr/>
          </p:nvGrpSpPr>
          <p:grpSpPr>
            <a:xfrm>
              <a:off x="4745" y="670"/>
              <a:ext cx="586" cy="146"/>
              <a:chOff x="609" y="2570"/>
              <a:chExt cx="731" cy="140"/>
            </a:xfrm>
          </p:grpSpPr>
          <p:sp>
            <p:nvSpPr>
              <p:cNvPr id="9178" name="Google Shape;9178;p14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79" name="Google Shape;9179;p14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80" name="Google Shape;9180;p14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81" name="Google Shape;9181;p145"/>
            <p:cNvGrpSpPr/>
            <p:nvPr/>
          </p:nvGrpSpPr>
          <p:grpSpPr>
            <a:xfrm>
              <a:off x="4745" y="998"/>
              <a:ext cx="586" cy="129"/>
              <a:chOff x="612" y="2572"/>
              <a:chExt cx="731" cy="134"/>
            </a:xfrm>
          </p:grpSpPr>
          <p:sp>
            <p:nvSpPr>
              <p:cNvPr id="9182" name="Google Shape;9182;p14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83" name="Google Shape;9183;p14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84" name="Google Shape;9184;p14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85" name="Google Shape;9185;p14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86" name="Google Shape;9186;p145"/>
            <p:cNvGrpSpPr/>
            <p:nvPr/>
          </p:nvGrpSpPr>
          <p:grpSpPr>
            <a:xfrm>
              <a:off x="4735" y="1627"/>
              <a:ext cx="586" cy="215"/>
              <a:chOff x="614" y="2568"/>
              <a:chExt cx="730" cy="198"/>
            </a:xfrm>
          </p:grpSpPr>
          <p:sp>
            <p:nvSpPr>
              <p:cNvPr id="9187" name="Google Shape;9187;p14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88" name="Google Shape;9188;p14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89" name="Google Shape;9189;p1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190" name="Google Shape;9190;p145"/>
            <p:cNvGrpSpPr/>
            <p:nvPr/>
          </p:nvGrpSpPr>
          <p:grpSpPr>
            <a:xfrm>
              <a:off x="4735" y="1325"/>
              <a:ext cx="586" cy="138"/>
              <a:chOff x="609" y="2566"/>
              <a:chExt cx="730" cy="138"/>
            </a:xfrm>
          </p:grpSpPr>
          <p:sp>
            <p:nvSpPr>
              <p:cNvPr id="9191" name="Google Shape;9191;p14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2" name="Google Shape;9192;p14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193" name="Google Shape;9193;p14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4" name="Google Shape;9194;p1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5" name="Google Shape;9195;p1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6" name="Google Shape;9196;p14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7" name="Google Shape;9197;p1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8" name="Google Shape;9198;p14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9" name="Google Shape;9199;p14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00" name="Google Shape;9200;p14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01" name="Google Shape;9201;p14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202" name="Google Shape;9202;p14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03" name="Google Shape;9203;p14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204" name="Google Shape;9204;p145"/>
          <p:cNvGrpSpPr/>
          <p:nvPr/>
        </p:nvGrpSpPr>
        <p:grpSpPr>
          <a:xfrm>
            <a:off x="773442" y="1418426"/>
            <a:ext cx="525462" cy="434975"/>
            <a:chOff x="-44" y="1473"/>
            <a:chExt cx="981" cy="1105"/>
          </a:xfrm>
        </p:grpSpPr>
        <p:pic>
          <p:nvPicPr>
            <p:cNvPr descr="desktop_computer_stylized_medium" id="9205" name="Google Shape;9205;p1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206" name="Google Shape;9206;p1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207" name="Google Shape;9207;p145"/>
          <p:cNvGrpSpPr/>
          <p:nvPr/>
        </p:nvGrpSpPr>
        <p:grpSpPr>
          <a:xfrm>
            <a:off x="1830370" y="2617249"/>
            <a:ext cx="1028924" cy="463397"/>
            <a:chOff x="1830370" y="2617249"/>
            <a:chExt cx="1028924" cy="463397"/>
          </a:xfrm>
        </p:grpSpPr>
        <p:sp>
          <p:nvSpPr>
            <p:cNvPr id="9208" name="Google Shape;9208;p145"/>
            <p:cNvSpPr/>
            <p:nvPr/>
          </p:nvSpPr>
          <p:spPr>
            <a:xfrm>
              <a:off x="1990582" y="2617249"/>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09" name="Google Shape;9209;p145"/>
            <p:cNvSpPr txBox="1"/>
            <p:nvPr/>
          </p:nvSpPr>
          <p:spPr>
            <a:xfrm>
              <a:off x="1830370" y="2639371"/>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10" name="Google Shape;9210;p145"/>
          <p:cNvGrpSpPr/>
          <p:nvPr/>
        </p:nvGrpSpPr>
        <p:grpSpPr>
          <a:xfrm>
            <a:off x="6475440" y="1528391"/>
            <a:ext cx="5173835" cy="3801217"/>
            <a:chOff x="6493941" y="1557642"/>
            <a:chExt cx="5173835" cy="3801217"/>
          </a:xfrm>
        </p:grpSpPr>
        <p:sp>
          <p:nvSpPr>
            <p:cNvPr id="9211" name="Google Shape;9211;p145"/>
            <p:cNvSpPr/>
            <p:nvPr/>
          </p:nvSpPr>
          <p:spPr>
            <a:xfrm>
              <a:off x="6573113" y="1557642"/>
              <a:ext cx="2247142" cy="272640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12" name="Google Shape;9212;p145"/>
            <p:cNvSpPr/>
            <p:nvPr/>
          </p:nvSpPr>
          <p:spPr>
            <a:xfrm>
              <a:off x="6662258" y="3758046"/>
              <a:ext cx="2070591" cy="409168"/>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13" name="Google Shape;9213;p145"/>
            <p:cNvSpPr txBox="1"/>
            <p:nvPr/>
          </p:nvSpPr>
          <p:spPr>
            <a:xfrm>
              <a:off x="6493941" y="3752006"/>
              <a:ext cx="2333805"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QUIC </a:t>
              </a:r>
              <a:r>
                <a:rPr b="0" i="0" lang="en-US" sz="2000" u="none" cap="none" strike="noStrike">
                  <a:solidFill>
                    <a:srgbClr val="000000"/>
                  </a:solidFill>
                  <a:latin typeface="Calibri"/>
                  <a:ea typeface="Calibri"/>
                  <a:cs typeface="Calibri"/>
                  <a:sym typeface="Calibri"/>
                </a:rPr>
                <a:t>Cong. Cont.</a:t>
              </a:r>
              <a:endParaRPr b="0" i="0" sz="1600" u="none" cap="none" strike="noStrike">
                <a:solidFill>
                  <a:srgbClr val="000000"/>
                </a:solidFill>
                <a:latin typeface="Calibri"/>
                <a:ea typeface="Calibri"/>
                <a:cs typeface="Calibri"/>
                <a:sym typeface="Calibri"/>
              </a:endParaRPr>
            </a:p>
          </p:txBody>
        </p:sp>
        <p:grpSp>
          <p:nvGrpSpPr>
            <p:cNvPr id="9214" name="Google Shape;9214;p145"/>
            <p:cNvGrpSpPr/>
            <p:nvPr/>
          </p:nvGrpSpPr>
          <p:grpSpPr>
            <a:xfrm>
              <a:off x="6549806" y="2804024"/>
              <a:ext cx="2147125" cy="968714"/>
              <a:chOff x="3786573" y="4781422"/>
              <a:chExt cx="1289919" cy="450478"/>
            </a:xfrm>
          </p:grpSpPr>
          <p:grpSp>
            <p:nvGrpSpPr>
              <p:cNvPr id="9215" name="Google Shape;9215;p145"/>
              <p:cNvGrpSpPr/>
              <p:nvPr/>
            </p:nvGrpSpPr>
            <p:grpSpPr>
              <a:xfrm>
                <a:off x="3786573" y="4781422"/>
                <a:ext cx="535512" cy="197065"/>
                <a:chOff x="3638004" y="4844056"/>
                <a:chExt cx="535512" cy="197065"/>
              </a:xfrm>
            </p:grpSpPr>
            <p:sp>
              <p:nvSpPr>
                <p:cNvPr id="9216" name="Google Shape;9216;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17" name="Google Shape;9217;p145"/>
                <p:cNvSpPr txBox="1"/>
                <p:nvPr/>
              </p:nvSpPr>
              <p:spPr>
                <a:xfrm>
                  <a:off x="3638004" y="4844056"/>
                  <a:ext cx="535512" cy="197065"/>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400" u="none" cap="none" strike="noStrike">
                    <a:solidFill>
                      <a:srgbClr val="000000"/>
                    </a:solidFill>
                    <a:latin typeface="Calibri"/>
                    <a:ea typeface="Calibri"/>
                    <a:cs typeface="Calibri"/>
                    <a:sym typeface="Calibri"/>
                  </a:endParaRPr>
                </a:p>
              </p:txBody>
            </p:sp>
          </p:grpSp>
          <p:grpSp>
            <p:nvGrpSpPr>
              <p:cNvPr id="9218" name="Google Shape;9218;p145"/>
              <p:cNvGrpSpPr/>
              <p:nvPr/>
            </p:nvGrpSpPr>
            <p:grpSpPr>
              <a:xfrm>
                <a:off x="3856579" y="4996013"/>
                <a:ext cx="1219913" cy="235887"/>
                <a:chOff x="3856579" y="4996013"/>
                <a:chExt cx="1219913" cy="235887"/>
              </a:xfrm>
            </p:grpSpPr>
            <p:sp>
              <p:nvSpPr>
                <p:cNvPr id="9219" name="Google Shape;9219;p145"/>
                <p:cNvSpPr txBox="1"/>
                <p:nvPr/>
              </p:nvSpPr>
              <p:spPr>
                <a:xfrm>
                  <a:off x="3856579" y="4996392"/>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20" name="Google Shape;9220;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21" name="Google Shape;9221;p145"/>
                <p:cNvSpPr txBox="1"/>
                <p:nvPr/>
              </p:nvSpPr>
              <p:spPr>
                <a:xfrm>
                  <a:off x="4263655" y="5002841"/>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22" name="Google Shape;9222;p145"/>
                <p:cNvSpPr txBox="1"/>
                <p:nvPr/>
              </p:nvSpPr>
              <p:spPr>
                <a:xfrm>
                  <a:off x="4674716" y="4996013"/>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grpSp>
        </p:grpSp>
        <p:grpSp>
          <p:nvGrpSpPr>
            <p:cNvPr id="9223" name="Google Shape;9223;p145"/>
            <p:cNvGrpSpPr/>
            <p:nvPr/>
          </p:nvGrpSpPr>
          <p:grpSpPr>
            <a:xfrm>
              <a:off x="7234288" y="2794928"/>
              <a:ext cx="891382" cy="875971"/>
              <a:chOff x="3774433" y="4781422"/>
              <a:chExt cx="535512" cy="407350"/>
            </a:xfrm>
          </p:grpSpPr>
          <p:grpSp>
            <p:nvGrpSpPr>
              <p:cNvPr id="9224" name="Google Shape;9224;p145"/>
              <p:cNvGrpSpPr/>
              <p:nvPr/>
            </p:nvGrpSpPr>
            <p:grpSpPr>
              <a:xfrm>
                <a:off x="3774433" y="4781422"/>
                <a:ext cx="535512" cy="207083"/>
                <a:chOff x="3625864" y="4844056"/>
                <a:chExt cx="535512" cy="207083"/>
              </a:xfrm>
            </p:grpSpPr>
            <p:sp>
              <p:nvSpPr>
                <p:cNvPr id="9225" name="Google Shape;9225;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26" name="Google Shape;9226;p145"/>
                <p:cNvSpPr txBox="1"/>
                <p:nvPr/>
              </p:nvSpPr>
              <p:spPr>
                <a:xfrm>
                  <a:off x="362586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27" name="Google Shape;9227;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9228" name="Google Shape;9228;p145"/>
            <p:cNvGrpSpPr/>
            <p:nvPr/>
          </p:nvGrpSpPr>
          <p:grpSpPr>
            <a:xfrm>
              <a:off x="7949081" y="2785831"/>
              <a:ext cx="891382" cy="875971"/>
              <a:chOff x="3780503" y="4781422"/>
              <a:chExt cx="535512" cy="407350"/>
            </a:xfrm>
          </p:grpSpPr>
          <p:grpSp>
            <p:nvGrpSpPr>
              <p:cNvPr id="9229" name="Google Shape;9229;p145"/>
              <p:cNvGrpSpPr/>
              <p:nvPr/>
            </p:nvGrpSpPr>
            <p:grpSpPr>
              <a:xfrm>
                <a:off x="3780503" y="4781422"/>
                <a:ext cx="535512" cy="207083"/>
                <a:chOff x="3631934" y="4844056"/>
                <a:chExt cx="535512" cy="207083"/>
              </a:xfrm>
            </p:grpSpPr>
            <p:sp>
              <p:nvSpPr>
                <p:cNvPr id="9230" name="Google Shape;9230;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1" name="Google Shape;9231;p145"/>
                <p:cNvSpPr txBox="1"/>
                <p:nvPr/>
              </p:nvSpPr>
              <p:spPr>
                <a:xfrm>
                  <a:off x="363193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32" name="Google Shape;9232;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9233" name="Google Shape;9233;p145"/>
            <p:cNvGrpSpPr/>
            <p:nvPr/>
          </p:nvGrpSpPr>
          <p:grpSpPr>
            <a:xfrm>
              <a:off x="6584985" y="4775942"/>
              <a:ext cx="2224498" cy="576373"/>
              <a:chOff x="3690830" y="5656622"/>
              <a:chExt cx="1336402" cy="268029"/>
            </a:xfrm>
          </p:grpSpPr>
          <p:sp>
            <p:nvSpPr>
              <p:cNvPr id="9234" name="Google Shape;9234;p145"/>
              <p:cNvSpPr/>
              <p:nvPr/>
            </p:nvSpPr>
            <p:spPr>
              <a:xfrm>
                <a:off x="3690830" y="5656622"/>
                <a:ext cx="1336402" cy="26802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5" name="Google Shape;9235;p145"/>
              <p:cNvSpPr/>
              <p:nvPr/>
            </p:nvSpPr>
            <p:spPr>
              <a:xfrm>
                <a:off x="3728029" y="5692526"/>
                <a:ext cx="1243940" cy="190274"/>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6" name="Google Shape;9236;p145"/>
              <p:cNvSpPr txBox="1"/>
              <p:nvPr/>
            </p:nvSpPr>
            <p:spPr>
              <a:xfrm>
                <a:off x="3722590" y="5683087"/>
                <a:ext cx="1258804" cy="214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UDP</a:t>
                </a:r>
                <a:endParaRPr b="0" i="0" sz="1600" u="none" cap="none" strike="noStrike">
                  <a:solidFill>
                    <a:srgbClr val="000000"/>
                  </a:solidFill>
                  <a:latin typeface="Calibri"/>
                  <a:ea typeface="Calibri"/>
                  <a:cs typeface="Calibri"/>
                  <a:sym typeface="Calibri"/>
                </a:endParaRPr>
              </a:p>
            </p:txBody>
          </p:sp>
        </p:grpSp>
        <p:grpSp>
          <p:nvGrpSpPr>
            <p:cNvPr id="9237" name="Google Shape;9237;p145"/>
            <p:cNvGrpSpPr/>
            <p:nvPr/>
          </p:nvGrpSpPr>
          <p:grpSpPr>
            <a:xfrm>
              <a:off x="9393371" y="4782486"/>
              <a:ext cx="2224498" cy="576373"/>
              <a:chOff x="3690830" y="5656622"/>
              <a:chExt cx="1336402" cy="268029"/>
            </a:xfrm>
          </p:grpSpPr>
          <p:sp>
            <p:nvSpPr>
              <p:cNvPr id="9238" name="Google Shape;9238;p145"/>
              <p:cNvSpPr/>
              <p:nvPr/>
            </p:nvSpPr>
            <p:spPr>
              <a:xfrm>
                <a:off x="3690830" y="5656622"/>
                <a:ext cx="1336402" cy="26802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39" name="Google Shape;9239;p145"/>
              <p:cNvSpPr/>
              <p:nvPr/>
            </p:nvSpPr>
            <p:spPr>
              <a:xfrm>
                <a:off x="3728029" y="5692526"/>
                <a:ext cx="1243940" cy="190274"/>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0" name="Google Shape;9240;p145"/>
              <p:cNvSpPr txBox="1"/>
              <p:nvPr/>
            </p:nvSpPr>
            <p:spPr>
              <a:xfrm>
                <a:off x="3722590" y="5689783"/>
                <a:ext cx="1258804" cy="214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UDP</a:t>
                </a:r>
                <a:endParaRPr b="0" i="0" sz="1600" u="none" cap="none" strike="noStrike">
                  <a:solidFill>
                    <a:srgbClr val="000000"/>
                  </a:solidFill>
                  <a:latin typeface="Calibri"/>
                  <a:ea typeface="Calibri"/>
                  <a:cs typeface="Calibri"/>
                  <a:sym typeface="Calibri"/>
                </a:endParaRPr>
              </a:p>
            </p:txBody>
          </p:sp>
        </p:grpSp>
        <p:cxnSp>
          <p:nvCxnSpPr>
            <p:cNvPr id="9241" name="Google Shape;9241;p145"/>
            <p:cNvCxnSpPr/>
            <p:nvPr/>
          </p:nvCxnSpPr>
          <p:spPr>
            <a:xfrm>
              <a:off x="6637851" y="4424382"/>
              <a:ext cx="5029925" cy="0"/>
            </a:xfrm>
            <a:prstGeom prst="straightConnector1">
              <a:avLst/>
            </a:prstGeom>
            <a:noFill/>
            <a:ln cap="flat" cmpd="sng" w="12700">
              <a:solidFill>
                <a:srgbClr val="000000"/>
              </a:solidFill>
              <a:prstDash val="dash"/>
              <a:round/>
              <a:headEnd len="sm" w="sm" type="none"/>
              <a:tailEnd len="sm" w="sm" type="none"/>
            </a:ln>
          </p:spPr>
        </p:cxnSp>
        <p:sp>
          <p:nvSpPr>
            <p:cNvPr id="9242" name="Google Shape;9242;p145"/>
            <p:cNvSpPr/>
            <p:nvPr/>
          </p:nvSpPr>
          <p:spPr>
            <a:xfrm>
              <a:off x="9372262" y="1612419"/>
              <a:ext cx="2247142" cy="272640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3" name="Google Shape;9243;p145"/>
            <p:cNvSpPr/>
            <p:nvPr/>
          </p:nvSpPr>
          <p:spPr>
            <a:xfrm>
              <a:off x="9461407" y="3812823"/>
              <a:ext cx="2070591" cy="409168"/>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4" name="Google Shape;9244;p145"/>
            <p:cNvSpPr txBox="1"/>
            <p:nvPr/>
          </p:nvSpPr>
          <p:spPr>
            <a:xfrm>
              <a:off x="9293090" y="3806783"/>
              <a:ext cx="2333805"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QUIC </a:t>
              </a:r>
              <a:r>
                <a:rPr b="0" i="0" lang="en-US" sz="2000" u="none" cap="none" strike="noStrike">
                  <a:solidFill>
                    <a:srgbClr val="000000"/>
                  </a:solidFill>
                  <a:latin typeface="Calibri"/>
                  <a:ea typeface="Calibri"/>
                  <a:cs typeface="Calibri"/>
                  <a:sym typeface="Calibri"/>
                </a:rPr>
                <a:t>Cong. Cont.</a:t>
              </a:r>
              <a:endParaRPr b="0" i="0" sz="1600" u="none" cap="none" strike="noStrike">
                <a:solidFill>
                  <a:srgbClr val="000000"/>
                </a:solidFill>
                <a:latin typeface="Calibri"/>
                <a:ea typeface="Calibri"/>
                <a:cs typeface="Calibri"/>
                <a:sym typeface="Calibri"/>
              </a:endParaRPr>
            </a:p>
          </p:txBody>
        </p:sp>
        <p:grpSp>
          <p:nvGrpSpPr>
            <p:cNvPr id="9245" name="Google Shape;9245;p145"/>
            <p:cNvGrpSpPr/>
            <p:nvPr/>
          </p:nvGrpSpPr>
          <p:grpSpPr>
            <a:xfrm>
              <a:off x="9348955" y="2858801"/>
              <a:ext cx="2147125" cy="968714"/>
              <a:chOff x="3786573" y="4781422"/>
              <a:chExt cx="1289919" cy="450478"/>
            </a:xfrm>
          </p:grpSpPr>
          <p:grpSp>
            <p:nvGrpSpPr>
              <p:cNvPr id="9246" name="Google Shape;9246;p145"/>
              <p:cNvGrpSpPr/>
              <p:nvPr/>
            </p:nvGrpSpPr>
            <p:grpSpPr>
              <a:xfrm>
                <a:off x="3786573" y="4781422"/>
                <a:ext cx="535512" cy="197065"/>
                <a:chOff x="3638004" y="4844056"/>
                <a:chExt cx="535512" cy="197065"/>
              </a:xfrm>
            </p:grpSpPr>
            <p:sp>
              <p:nvSpPr>
                <p:cNvPr id="9247" name="Google Shape;9247;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48" name="Google Shape;9248;p145"/>
                <p:cNvSpPr txBox="1"/>
                <p:nvPr/>
              </p:nvSpPr>
              <p:spPr>
                <a:xfrm>
                  <a:off x="3638004" y="4844056"/>
                  <a:ext cx="535512" cy="197065"/>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400" u="none" cap="none" strike="noStrike">
                    <a:solidFill>
                      <a:srgbClr val="000000"/>
                    </a:solidFill>
                    <a:latin typeface="Calibri"/>
                    <a:ea typeface="Calibri"/>
                    <a:cs typeface="Calibri"/>
                    <a:sym typeface="Calibri"/>
                  </a:endParaRPr>
                </a:p>
              </p:txBody>
            </p:sp>
          </p:grpSp>
          <p:grpSp>
            <p:nvGrpSpPr>
              <p:cNvPr id="9249" name="Google Shape;9249;p145"/>
              <p:cNvGrpSpPr/>
              <p:nvPr/>
            </p:nvGrpSpPr>
            <p:grpSpPr>
              <a:xfrm>
                <a:off x="3856579" y="4996013"/>
                <a:ext cx="1219913" cy="235887"/>
                <a:chOff x="3856579" y="4996013"/>
                <a:chExt cx="1219913" cy="235887"/>
              </a:xfrm>
            </p:grpSpPr>
            <p:sp>
              <p:nvSpPr>
                <p:cNvPr id="9250" name="Google Shape;9250;p145"/>
                <p:cNvSpPr txBox="1"/>
                <p:nvPr/>
              </p:nvSpPr>
              <p:spPr>
                <a:xfrm>
                  <a:off x="3856579" y="4996392"/>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51" name="Google Shape;9251;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52" name="Google Shape;9252;p145"/>
                <p:cNvSpPr txBox="1"/>
                <p:nvPr/>
              </p:nvSpPr>
              <p:spPr>
                <a:xfrm>
                  <a:off x="4263655" y="5002841"/>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9253" name="Google Shape;9253;p145"/>
                <p:cNvSpPr txBox="1"/>
                <p:nvPr/>
              </p:nvSpPr>
              <p:spPr>
                <a:xfrm>
                  <a:off x="4674716" y="4996013"/>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grpSp>
        </p:grpSp>
        <p:grpSp>
          <p:nvGrpSpPr>
            <p:cNvPr id="9254" name="Google Shape;9254;p145"/>
            <p:cNvGrpSpPr/>
            <p:nvPr/>
          </p:nvGrpSpPr>
          <p:grpSpPr>
            <a:xfrm>
              <a:off x="10033437" y="2849705"/>
              <a:ext cx="891382" cy="875971"/>
              <a:chOff x="3774433" y="4781422"/>
              <a:chExt cx="535512" cy="407350"/>
            </a:xfrm>
          </p:grpSpPr>
          <p:grpSp>
            <p:nvGrpSpPr>
              <p:cNvPr id="9255" name="Google Shape;9255;p145"/>
              <p:cNvGrpSpPr/>
              <p:nvPr/>
            </p:nvGrpSpPr>
            <p:grpSpPr>
              <a:xfrm>
                <a:off x="3774433" y="4781422"/>
                <a:ext cx="535512" cy="207083"/>
                <a:chOff x="3625864" y="4844056"/>
                <a:chExt cx="535512" cy="207083"/>
              </a:xfrm>
            </p:grpSpPr>
            <p:sp>
              <p:nvSpPr>
                <p:cNvPr id="9256" name="Google Shape;9256;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57" name="Google Shape;9257;p145"/>
                <p:cNvSpPr txBox="1"/>
                <p:nvPr/>
              </p:nvSpPr>
              <p:spPr>
                <a:xfrm>
                  <a:off x="362586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58" name="Google Shape;9258;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9259" name="Google Shape;9259;p145"/>
            <p:cNvGrpSpPr/>
            <p:nvPr/>
          </p:nvGrpSpPr>
          <p:grpSpPr>
            <a:xfrm>
              <a:off x="10748230" y="2840608"/>
              <a:ext cx="891382" cy="875971"/>
              <a:chOff x="3780503" y="4781422"/>
              <a:chExt cx="535512" cy="407350"/>
            </a:xfrm>
          </p:grpSpPr>
          <p:grpSp>
            <p:nvGrpSpPr>
              <p:cNvPr id="9260" name="Google Shape;9260;p145"/>
              <p:cNvGrpSpPr/>
              <p:nvPr/>
            </p:nvGrpSpPr>
            <p:grpSpPr>
              <a:xfrm>
                <a:off x="3780503" y="4781422"/>
                <a:ext cx="535512" cy="207083"/>
                <a:chOff x="3631934" y="4844056"/>
                <a:chExt cx="535512" cy="207083"/>
              </a:xfrm>
            </p:grpSpPr>
            <p:sp>
              <p:nvSpPr>
                <p:cNvPr id="9261" name="Google Shape;9261;p145"/>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9262" name="Google Shape;9262;p145"/>
                <p:cNvSpPr txBox="1"/>
                <p:nvPr/>
              </p:nvSpPr>
              <p:spPr>
                <a:xfrm>
                  <a:off x="363193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9263" name="Google Shape;9263;p145"/>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sp>
        <p:nvSpPr>
          <p:cNvPr id="9264" name="Google Shape;9264;p145"/>
          <p:cNvSpPr/>
          <p:nvPr/>
        </p:nvSpPr>
        <p:spPr>
          <a:xfrm>
            <a:off x="8348952" y="2170481"/>
            <a:ext cx="1435304" cy="3314700"/>
          </a:xfrm>
          <a:custGeom>
            <a:rect b="b" l="l" r="r" t="t"/>
            <a:pathLst>
              <a:path extrusionOk="0" h="2824317" w="1710813">
                <a:moveTo>
                  <a:pt x="0" y="376084"/>
                </a:moveTo>
                <a:lnTo>
                  <a:pt x="0" y="2824317"/>
                </a:lnTo>
                <a:lnTo>
                  <a:pt x="95865" y="2824317"/>
                </a:lnTo>
                <a:lnTo>
                  <a:pt x="1710813" y="2824317"/>
                </a:lnTo>
                <a:lnTo>
                  <a:pt x="1710813" y="2676833"/>
                </a:lnTo>
                <a:lnTo>
                  <a:pt x="1710813"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5" name="Google Shape;9265;p145"/>
          <p:cNvSpPr/>
          <p:nvPr/>
        </p:nvSpPr>
        <p:spPr>
          <a:xfrm>
            <a:off x="7544680" y="2246396"/>
            <a:ext cx="2790074" cy="3142699"/>
          </a:xfrm>
          <a:custGeom>
            <a:rect b="b" l="l" r="r" t="t"/>
            <a:pathLst>
              <a:path extrusionOk="0" h="2831690" w="2460587">
                <a:moveTo>
                  <a:pt x="0" y="0"/>
                </a:moveTo>
                <a:lnTo>
                  <a:pt x="0" y="2831690"/>
                </a:lnTo>
                <a:lnTo>
                  <a:pt x="88490" y="2831690"/>
                </a:lnTo>
                <a:lnTo>
                  <a:pt x="2455606" y="2831690"/>
                </a:lnTo>
                <a:cubicBezTo>
                  <a:pt x="2457266" y="2289473"/>
                  <a:pt x="2458927" y="1747257"/>
                  <a:pt x="2460587" y="1205040"/>
                </a:cubicBezTo>
              </a:path>
            </a:pathLst>
          </a:custGeom>
          <a:noFill/>
          <a:ln cap="flat" cmpd="sng" w="254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6" name="Google Shape;9266;p145"/>
          <p:cNvSpPr/>
          <p:nvPr/>
        </p:nvSpPr>
        <p:spPr>
          <a:xfrm>
            <a:off x="7766311" y="3553748"/>
            <a:ext cx="2615553" cy="1938327"/>
          </a:xfrm>
          <a:custGeom>
            <a:rect b="b" l="l" r="r" t="t"/>
            <a:pathLst>
              <a:path extrusionOk="0" h="1091381" w="2558845">
                <a:moveTo>
                  <a:pt x="2558845" y="0"/>
                </a:moveTo>
                <a:lnTo>
                  <a:pt x="2558845" y="1091381"/>
                </a:lnTo>
                <a:lnTo>
                  <a:pt x="2485103" y="1091381"/>
                </a:lnTo>
                <a:lnTo>
                  <a:pt x="0" y="1091381"/>
                </a:lnTo>
                <a:lnTo>
                  <a:pt x="0" y="582562"/>
                </a:lnTo>
                <a:lnTo>
                  <a:pt x="0" y="14749"/>
                </a:lnTo>
              </a:path>
            </a:pathLst>
          </a:custGeom>
          <a:noFill/>
          <a:ln cap="flat" cmpd="sng" w="25400">
            <a:solidFill>
              <a:srgbClr val="31538F"/>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7" name="Google Shape;9267;p145"/>
          <p:cNvSpPr txBox="1"/>
          <p:nvPr/>
        </p:nvSpPr>
        <p:spPr>
          <a:xfrm>
            <a:off x="10145437" y="3362319"/>
            <a:ext cx="63844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error!</a:t>
            </a:r>
            <a:endParaRPr b="0" i="0" sz="1200" u="none" cap="none" strike="noStrike">
              <a:solidFill>
                <a:srgbClr val="FF0000"/>
              </a:solidFill>
              <a:latin typeface="Calibri"/>
              <a:ea typeface="Calibri"/>
              <a:cs typeface="Calibri"/>
              <a:sym typeface="Calibri"/>
            </a:endParaRPr>
          </a:p>
        </p:txBody>
      </p:sp>
      <p:sp>
        <p:nvSpPr>
          <p:cNvPr id="9268" name="Google Shape;9268;p145"/>
          <p:cNvSpPr/>
          <p:nvPr/>
        </p:nvSpPr>
        <p:spPr>
          <a:xfrm>
            <a:off x="7650449" y="2146221"/>
            <a:ext cx="2613793" cy="3263616"/>
          </a:xfrm>
          <a:custGeom>
            <a:rect b="b" l="l" r="r" t="t"/>
            <a:pathLst>
              <a:path extrusionOk="0" h="2589048" w="2600836">
                <a:moveTo>
                  <a:pt x="23944" y="1037950"/>
                </a:moveTo>
                <a:lnTo>
                  <a:pt x="0" y="2589048"/>
                </a:lnTo>
                <a:lnTo>
                  <a:pt x="2573594" y="2589048"/>
                </a:lnTo>
                <a:lnTo>
                  <a:pt x="2600836"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9" name="Google Shape;9269;p145"/>
          <p:cNvSpPr/>
          <p:nvPr/>
        </p:nvSpPr>
        <p:spPr>
          <a:xfrm>
            <a:off x="6974900" y="2171905"/>
            <a:ext cx="4169952" cy="3314700"/>
          </a:xfrm>
          <a:custGeom>
            <a:rect b="b" l="l" r="r" t="t"/>
            <a:pathLst>
              <a:path extrusionOk="0" h="3314700" w="3188970">
                <a:moveTo>
                  <a:pt x="0" y="0"/>
                </a:moveTo>
                <a:lnTo>
                  <a:pt x="0" y="3314700"/>
                </a:lnTo>
                <a:lnTo>
                  <a:pt x="3188970" y="3314700"/>
                </a:lnTo>
                <a:lnTo>
                  <a:pt x="3188970" y="11430"/>
                </a:lnTo>
                <a:lnTo>
                  <a:pt x="3188970" y="1143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270" name="Google Shape;9270;p145"/>
          <p:cNvGrpSpPr/>
          <p:nvPr/>
        </p:nvGrpSpPr>
        <p:grpSpPr>
          <a:xfrm>
            <a:off x="6503169" y="1768807"/>
            <a:ext cx="1028924" cy="463979"/>
            <a:chOff x="1247868" y="1815620"/>
            <a:chExt cx="1028924" cy="463979"/>
          </a:xfrm>
        </p:grpSpPr>
        <p:sp>
          <p:nvSpPr>
            <p:cNvPr id="9271" name="Google Shape;9271;p145"/>
            <p:cNvSpPr/>
            <p:nvPr/>
          </p:nvSpPr>
          <p:spPr>
            <a:xfrm>
              <a:off x="1428787" y="1815620"/>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72" name="Google Shape;9272;p145"/>
            <p:cNvSpPr txBox="1"/>
            <p:nvPr/>
          </p:nvSpPr>
          <p:spPr>
            <a:xfrm>
              <a:off x="1247868" y="1838324"/>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73" name="Google Shape;9273;p145"/>
          <p:cNvGrpSpPr/>
          <p:nvPr/>
        </p:nvGrpSpPr>
        <p:grpSpPr>
          <a:xfrm>
            <a:off x="7197108" y="1926223"/>
            <a:ext cx="1028924" cy="463979"/>
            <a:chOff x="1549462" y="2216434"/>
            <a:chExt cx="1028924" cy="463979"/>
          </a:xfrm>
        </p:grpSpPr>
        <p:sp>
          <p:nvSpPr>
            <p:cNvPr id="9274" name="Google Shape;9274;p145"/>
            <p:cNvSpPr/>
            <p:nvPr/>
          </p:nvSpPr>
          <p:spPr>
            <a:xfrm>
              <a:off x="1709684" y="2216434"/>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75" name="Google Shape;9275;p145"/>
            <p:cNvSpPr txBox="1"/>
            <p:nvPr/>
          </p:nvSpPr>
          <p:spPr>
            <a:xfrm>
              <a:off x="1549462" y="2239138"/>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76" name="Google Shape;9276;p145"/>
          <p:cNvGrpSpPr/>
          <p:nvPr/>
        </p:nvGrpSpPr>
        <p:grpSpPr>
          <a:xfrm>
            <a:off x="7867432" y="2206258"/>
            <a:ext cx="1028924" cy="463397"/>
            <a:chOff x="1830370" y="2617249"/>
            <a:chExt cx="1028924" cy="463397"/>
          </a:xfrm>
        </p:grpSpPr>
        <p:sp>
          <p:nvSpPr>
            <p:cNvPr id="9277" name="Google Shape;9277;p145"/>
            <p:cNvSpPr/>
            <p:nvPr/>
          </p:nvSpPr>
          <p:spPr>
            <a:xfrm>
              <a:off x="1990582" y="2617249"/>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9278" name="Google Shape;9278;p145"/>
            <p:cNvSpPr txBox="1"/>
            <p:nvPr/>
          </p:nvSpPr>
          <p:spPr>
            <a:xfrm>
              <a:off x="1830370" y="2639371"/>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9279" name="Google Shape;9279;p145"/>
          <p:cNvGrpSpPr/>
          <p:nvPr/>
        </p:nvGrpSpPr>
        <p:grpSpPr>
          <a:xfrm>
            <a:off x="11407734" y="1304127"/>
            <a:ext cx="310294" cy="628857"/>
            <a:chOff x="4140" y="429"/>
            <a:chExt cx="1425" cy="2396"/>
          </a:xfrm>
        </p:grpSpPr>
        <p:sp>
          <p:nvSpPr>
            <p:cNvPr id="9280" name="Google Shape;9280;p1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1" name="Google Shape;9281;p145"/>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2" name="Google Shape;9282;p1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3" name="Google Shape;9283;p1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4" name="Google Shape;9284;p145"/>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85" name="Google Shape;9285;p145"/>
            <p:cNvGrpSpPr/>
            <p:nvPr/>
          </p:nvGrpSpPr>
          <p:grpSpPr>
            <a:xfrm>
              <a:off x="4745" y="670"/>
              <a:ext cx="586" cy="146"/>
              <a:chOff x="609" y="2570"/>
              <a:chExt cx="731" cy="140"/>
            </a:xfrm>
          </p:grpSpPr>
          <p:sp>
            <p:nvSpPr>
              <p:cNvPr id="9286" name="Google Shape;9286;p145"/>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87" name="Google Shape;9287;p145"/>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288" name="Google Shape;9288;p145"/>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89" name="Google Shape;9289;p145"/>
            <p:cNvGrpSpPr/>
            <p:nvPr/>
          </p:nvGrpSpPr>
          <p:grpSpPr>
            <a:xfrm>
              <a:off x="4745" y="998"/>
              <a:ext cx="586" cy="129"/>
              <a:chOff x="612" y="2572"/>
              <a:chExt cx="731" cy="134"/>
            </a:xfrm>
          </p:grpSpPr>
          <p:sp>
            <p:nvSpPr>
              <p:cNvPr id="9290" name="Google Shape;9290;p145"/>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91" name="Google Shape;9291;p145"/>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292" name="Google Shape;9292;p145"/>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93" name="Google Shape;9293;p145"/>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94" name="Google Shape;9294;p145"/>
            <p:cNvGrpSpPr/>
            <p:nvPr/>
          </p:nvGrpSpPr>
          <p:grpSpPr>
            <a:xfrm>
              <a:off x="4735" y="1627"/>
              <a:ext cx="586" cy="215"/>
              <a:chOff x="614" y="2568"/>
              <a:chExt cx="730" cy="198"/>
            </a:xfrm>
          </p:grpSpPr>
          <p:sp>
            <p:nvSpPr>
              <p:cNvPr id="9295" name="Google Shape;9295;p145"/>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96" name="Google Shape;9296;p145"/>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297" name="Google Shape;9297;p1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298" name="Google Shape;9298;p145"/>
            <p:cNvGrpSpPr/>
            <p:nvPr/>
          </p:nvGrpSpPr>
          <p:grpSpPr>
            <a:xfrm>
              <a:off x="4735" y="1325"/>
              <a:ext cx="586" cy="138"/>
              <a:chOff x="609" y="2566"/>
              <a:chExt cx="730" cy="138"/>
            </a:xfrm>
          </p:grpSpPr>
          <p:sp>
            <p:nvSpPr>
              <p:cNvPr id="9299" name="Google Shape;9299;p145"/>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0" name="Google Shape;9300;p145"/>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301" name="Google Shape;9301;p145"/>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2" name="Google Shape;9302;p1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3" name="Google Shape;9303;p1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4" name="Google Shape;9304;p145"/>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5" name="Google Shape;9305;p1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6" name="Google Shape;9306;p145"/>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7" name="Google Shape;9307;p145"/>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8" name="Google Shape;9308;p145"/>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09" name="Google Shape;9309;p145"/>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310" name="Google Shape;9310;p145"/>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11" name="Google Shape;9311;p145"/>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312" name="Google Shape;9312;p145"/>
          <p:cNvGrpSpPr/>
          <p:nvPr/>
        </p:nvGrpSpPr>
        <p:grpSpPr>
          <a:xfrm>
            <a:off x="6313356" y="1297050"/>
            <a:ext cx="525462" cy="434975"/>
            <a:chOff x="-44" y="1473"/>
            <a:chExt cx="981" cy="1105"/>
          </a:xfrm>
        </p:grpSpPr>
        <p:pic>
          <p:nvPicPr>
            <p:cNvPr descr="desktop_computer_stylized_medium" id="9313" name="Google Shape;9313;p1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314" name="Google Shape;9314;p1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315" name="Google Shape;9315;p145"/>
          <p:cNvSpPr/>
          <p:nvPr/>
        </p:nvSpPr>
        <p:spPr>
          <a:xfrm>
            <a:off x="6083300" y="1130300"/>
            <a:ext cx="5981700" cy="5422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16" name="Google Shape;9316;p1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315"/>
                                        </p:tgtEl>
                                      </p:cBhvr>
                                    </p:animEffect>
                                    <p:set>
                                      <p:cBhvr>
                                        <p:cTn dur="1" fill="hold">
                                          <p:stCondLst>
                                            <p:cond delay="500"/>
                                          </p:stCondLst>
                                        </p:cTn>
                                        <p:tgtEl>
                                          <p:spTgt spid="93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59"/>
                                        </p:tgtEl>
                                        <p:attrNameLst>
                                          <p:attrName>style.visibility</p:attrName>
                                        </p:attrNameLst>
                                      </p:cBhvr>
                                      <p:to>
                                        <p:strVal val="visible"/>
                                      </p:to>
                                    </p:set>
                                    <p:animEffect filter="fade" transition="in">
                                      <p:cBhvr>
                                        <p:cTn dur="500"/>
                                        <p:tgtEl>
                                          <p:spTgt spid="915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9159"/>
                                        </p:tgtEl>
                                      </p:cBhvr>
                                    </p:animEffect>
                                    <p:set>
                                      <p:cBhvr>
                                        <p:cTn dur="1" fill="hold">
                                          <p:stCondLst>
                                            <p:cond delay="500"/>
                                          </p:stCondLst>
                                        </p:cTn>
                                        <p:tgtEl>
                                          <p:spTgt spid="9159"/>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9207"/>
                                        </p:tgtEl>
                                      </p:cBhvr>
                                    </p:animEffect>
                                    <p:set>
                                      <p:cBhvr>
                                        <p:cTn dur="1" fill="hold">
                                          <p:stCondLst>
                                            <p:cond delay="500"/>
                                          </p:stCondLst>
                                        </p:cTn>
                                        <p:tgtEl>
                                          <p:spTgt spid="9207"/>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9160"/>
                                        </p:tgtEl>
                                        <p:attrNameLst>
                                          <p:attrName>style.visibility</p:attrName>
                                        </p:attrNameLst>
                                      </p:cBhvr>
                                      <p:to>
                                        <p:strVal val="visible"/>
                                      </p:to>
                                    </p:set>
                                    <p:animEffect filter="fade" transition="in">
                                      <p:cBhvr>
                                        <p:cTn dur="500"/>
                                        <p:tgtEl>
                                          <p:spTgt spid="916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162"/>
                                        </p:tgtEl>
                                        <p:attrNameLst>
                                          <p:attrName>style.visibility</p:attrName>
                                        </p:attrNameLst>
                                      </p:cBhvr>
                                      <p:to>
                                        <p:strVal val="visible"/>
                                      </p:to>
                                    </p:set>
                                    <p:animEffect filter="fade" transition="in">
                                      <p:cBhvr>
                                        <p:cTn dur="500"/>
                                        <p:tgtEl>
                                          <p:spTgt spid="9162"/>
                                        </p:tgtEl>
                                      </p:cBhvr>
                                    </p:animEffect>
                                  </p:childTnLst>
                                </p:cTn>
                              </p:par>
                            </p:childTnLst>
                          </p:cTn>
                        </p:par>
                        <p:par>
                          <p:cTn fill="hold">
                            <p:stCondLst>
                              <p:cond delay="2500"/>
                            </p:stCondLst>
                            <p:childTnLst>
                              <p:par>
                                <p:cTn fill="hold" nodeType="afterEffect" presetClass="entr" presetID="10" presetSubtype="0">
                                  <p:stCondLst>
                                    <p:cond delay="1000"/>
                                  </p:stCondLst>
                                  <p:childTnLst>
                                    <p:set>
                                      <p:cBhvr>
                                        <p:cTn dur="1" fill="hold">
                                          <p:stCondLst>
                                            <p:cond delay="0"/>
                                          </p:stCondLst>
                                        </p:cTn>
                                        <p:tgtEl>
                                          <p:spTgt spid="9161"/>
                                        </p:tgtEl>
                                        <p:attrNameLst>
                                          <p:attrName>style.visibility</p:attrName>
                                        </p:attrNameLst>
                                      </p:cBhvr>
                                      <p:to>
                                        <p:strVal val="visible"/>
                                      </p:to>
                                    </p:set>
                                    <p:animEffect filter="fade" transition="in">
                                      <p:cBhvr>
                                        <p:cTn dur="500"/>
                                        <p:tgtEl>
                                          <p:spTgt spid="9161"/>
                                        </p:tgtEl>
                                      </p:cBhvr>
                                    </p:animEffect>
                                  </p:childTnLst>
                                </p:cTn>
                              </p:par>
                            </p:childTnLst>
                          </p:cTn>
                        </p:par>
                        <p:par>
                          <p:cTn fill="hold">
                            <p:stCondLst>
                              <p:cond delay="3000"/>
                            </p:stCondLst>
                            <p:childTnLst>
                              <p:par>
                                <p:cTn fill="hold" nodeType="afterEffect" presetClass="entr" presetID="10" presetSubtype="0">
                                  <p:stCondLst>
                                    <p:cond delay="1000"/>
                                  </p:stCondLst>
                                  <p:childTnLst>
                                    <p:set>
                                      <p:cBhvr>
                                        <p:cTn dur="1" fill="hold">
                                          <p:stCondLst>
                                            <p:cond delay="0"/>
                                          </p:stCondLst>
                                        </p:cTn>
                                        <p:tgtEl>
                                          <p:spTgt spid="9163"/>
                                        </p:tgtEl>
                                        <p:attrNameLst>
                                          <p:attrName>style.visibility</p:attrName>
                                        </p:attrNameLst>
                                      </p:cBhvr>
                                      <p:to>
                                        <p:strVal val="visible"/>
                                      </p:to>
                                    </p:set>
                                    <p:animEffect filter="fade" transition="in">
                                      <p:cBhvr>
                                        <p:cTn dur="500"/>
                                        <p:tgtEl>
                                          <p:spTgt spid="9163"/>
                                        </p:tgtEl>
                                      </p:cBhvr>
                                    </p:animEffec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9162"/>
                                        </p:tgtEl>
                                      </p:cBhvr>
                                    </p:animEffect>
                                    <p:set>
                                      <p:cBhvr>
                                        <p:cTn dur="1" fill="hold">
                                          <p:stCondLst>
                                            <p:cond delay="500"/>
                                          </p:stCondLst>
                                        </p:cTn>
                                        <p:tgtEl>
                                          <p:spTgt spid="9162"/>
                                        </p:tgtEl>
                                        <p:attrNameLst>
                                          <p:attrName>style.visibility</p:attrName>
                                        </p:attrNameLst>
                                      </p:cBhvr>
                                      <p:to>
                                        <p:strVal val="hidden"/>
                                      </p:to>
                                    </p:set>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9161"/>
                                        </p:tgtEl>
                                      </p:cBhvr>
                                    </p:animEffect>
                                    <p:set>
                                      <p:cBhvr>
                                        <p:cTn dur="1" fill="hold">
                                          <p:stCondLst>
                                            <p:cond delay="500"/>
                                          </p:stCondLst>
                                        </p:cTn>
                                        <p:tgtEl>
                                          <p:spTgt spid="916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160"/>
                                        </p:tgtEl>
                                      </p:cBhvr>
                                    </p:animEffect>
                                    <p:set>
                                      <p:cBhvr>
                                        <p:cTn dur="1" fill="hold">
                                          <p:stCondLst>
                                            <p:cond delay="500"/>
                                          </p:stCondLst>
                                        </p:cTn>
                                        <p:tgtEl>
                                          <p:spTgt spid="916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163"/>
                                        </p:tgtEl>
                                      </p:cBhvr>
                                    </p:animEffect>
                                    <p:set>
                                      <p:cBhvr>
                                        <p:cTn dur="1" fill="hold">
                                          <p:stCondLst>
                                            <p:cond delay="500"/>
                                          </p:stCondLst>
                                        </p:cTn>
                                        <p:tgtEl>
                                          <p:spTgt spid="9163"/>
                                        </p:tgtEl>
                                        <p:attrNameLst>
                                          <p:attrName>style.visibility</p:attrName>
                                        </p:attrNameLst>
                                      </p:cBhvr>
                                      <p:to>
                                        <p:strVal val="hidden"/>
                                      </p:to>
                                    </p:set>
                                  </p:childTnLst>
                                </p:cTn>
                              </p:par>
                            </p:childTnLst>
                          </p:cTn>
                        </p:par>
                        <p:par>
                          <p:cTn fill="hold">
                            <p:stCondLst>
                              <p:cond delay="4500"/>
                            </p:stCondLst>
                            <p:childTnLst>
                              <p:par>
                                <p:cTn fill="hold" nodeType="afterEffect" presetClass="exit" presetID="10" presetSubtype="0">
                                  <p:stCondLst>
                                    <p:cond delay="0"/>
                                  </p:stCondLst>
                                  <p:childTnLst>
                                    <p:animEffect filter="fade" transition="out">
                                      <p:cBhvr>
                                        <p:cTn dur="500"/>
                                        <p:tgtEl>
                                          <p:spTgt spid="9168"/>
                                        </p:tgtEl>
                                      </p:cBhvr>
                                    </p:animEffect>
                                    <p:set>
                                      <p:cBhvr>
                                        <p:cTn dur="1" fill="hold">
                                          <p:stCondLst>
                                            <p:cond delay="500"/>
                                          </p:stCondLst>
                                        </p:cTn>
                                        <p:tgtEl>
                                          <p:spTgt spid="9168"/>
                                        </p:tgtEl>
                                        <p:attrNameLst>
                                          <p:attrName>style.visibility</p:attrName>
                                        </p:attrNameLst>
                                      </p:cBhvr>
                                      <p:to>
                                        <p:strVal val="hidden"/>
                                      </p:to>
                                    </p:set>
                                  </p:childTnLst>
                                </p:cTn>
                              </p:par>
                            </p:childTnLst>
                          </p:cTn>
                        </p:par>
                        <p:par>
                          <p:cTn fill="hold">
                            <p:stCondLst>
                              <p:cond delay="5000"/>
                            </p:stCondLst>
                            <p:childTnLst>
                              <p:par>
                                <p:cTn fill="hold" nodeType="afterEffect" presetClass="entr" presetID="10" presetSubtype="0">
                                  <p:stCondLst>
                                    <p:cond delay="1000"/>
                                  </p:stCondLst>
                                  <p:childTnLst>
                                    <p:set>
                                      <p:cBhvr>
                                        <p:cTn dur="1" fill="hold">
                                          <p:stCondLst>
                                            <p:cond delay="0"/>
                                          </p:stCondLst>
                                        </p:cTn>
                                        <p:tgtEl>
                                          <p:spTgt spid="9164"/>
                                        </p:tgtEl>
                                        <p:attrNameLst>
                                          <p:attrName>style.visibility</p:attrName>
                                        </p:attrNameLst>
                                      </p:cBhvr>
                                      <p:to>
                                        <p:strVal val="visible"/>
                                      </p:to>
                                    </p:set>
                                    <p:animEffect filter="fade" transition="in">
                                      <p:cBhvr>
                                        <p:cTn dur="500"/>
                                        <p:tgtEl>
                                          <p:spTgt spid="9164"/>
                                        </p:tgtEl>
                                      </p:cBhvr>
                                    </p:animEffect>
                                  </p:childTnLst>
                                </p:cTn>
                              </p:par>
                            </p:childTnLst>
                          </p:cTn>
                        </p:par>
                        <p:par>
                          <p:cTn fill="hold">
                            <p:stCondLst>
                              <p:cond delay="5500"/>
                            </p:stCondLst>
                            <p:childTnLst>
                              <p:par>
                                <p:cTn fill="hold" nodeType="afterEffect" presetClass="exit" presetID="10" presetSubtype="0">
                                  <p:stCondLst>
                                    <p:cond delay="0"/>
                                  </p:stCondLst>
                                  <p:childTnLst>
                                    <p:animEffect filter="fade" transition="out">
                                      <p:cBhvr>
                                        <p:cTn dur="500"/>
                                        <p:tgtEl>
                                          <p:spTgt spid="9164"/>
                                        </p:tgtEl>
                                      </p:cBhvr>
                                    </p:animEffect>
                                    <p:set>
                                      <p:cBhvr>
                                        <p:cTn dur="1" fill="hold">
                                          <p:stCondLst>
                                            <p:cond delay="500"/>
                                          </p:stCondLst>
                                        </p:cTn>
                                        <p:tgtEl>
                                          <p:spTgt spid="9164"/>
                                        </p:tgtEl>
                                        <p:attrNameLst>
                                          <p:attrName>style.visibility</p:attrName>
                                        </p:attrNameLst>
                                      </p:cBhvr>
                                      <p:to>
                                        <p:strVal val="hidden"/>
                                      </p:to>
                                    </p:set>
                                  </p:childTnLst>
                                </p:cTn>
                              </p:par>
                            </p:childTnLst>
                          </p:cTn>
                        </p:par>
                        <p:par>
                          <p:cTn fill="hold">
                            <p:stCondLst>
                              <p:cond delay="6000"/>
                            </p:stCondLst>
                            <p:childTnLst>
                              <p:par>
                                <p:cTn fill="hold" nodeType="afterEffect" presetClass="exit" presetID="10" presetSubtype="0">
                                  <p:stCondLst>
                                    <p:cond delay="0"/>
                                  </p:stCondLst>
                                  <p:childTnLst>
                                    <p:animEffect filter="fade" transition="out">
                                      <p:cBhvr>
                                        <p:cTn dur="500"/>
                                        <p:tgtEl>
                                          <p:spTgt spid="9165"/>
                                        </p:tgtEl>
                                      </p:cBhvr>
                                    </p:animEffect>
                                    <p:set>
                                      <p:cBhvr>
                                        <p:cTn dur="1" fill="hold">
                                          <p:stCondLst>
                                            <p:cond delay="500"/>
                                          </p:stCondLst>
                                        </p:cTn>
                                        <p:tgtEl>
                                          <p:spTgt spid="9165"/>
                                        </p:tgtEl>
                                        <p:attrNameLst>
                                          <p:attrName>style.visibility</p:attrName>
                                        </p:attrNameLst>
                                      </p:cBhvr>
                                      <p:to>
                                        <p:strVal val="hidden"/>
                                      </p:to>
                                    </p:set>
                                  </p:childTnLst>
                                </p:cTn>
                              </p:par>
                            </p:childTnLst>
                          </p:cTn>
                        </p:par>
                        <p:par>
                          <p:cTn fill="hold">
                            <p:stCondLst>
                              <p:cond delay="6500"/>
                            </p:stCondLst>
                            <p:childTnLst>
                              <p:par>
                                <p:cTn fill="hold" nodeType="afterEffect" presetClass="entr" presetID="10" presetSubtype="0">
                                  <p:stCondLst>
                                    <p:cond delay="1000"/>
                                  </p:stCondLst>
                                  <p:childTnLst>
                                    <p:set>
                                      <p:cBhvr>
                                        <p:cTn dur="1" fill="hold">
                                          <p:stCondLst>
                                            <p:cond delay="0"/>
                                          </p:stCondLst>
                                        </p:cTn>
                                        <p:tgtEl>
                                          <p:spTgt spid="9264"/>
                                        </p:tgtEl>
                                        <p:attrNameLst>
                                          <p:attrName>style.visibility</p:attrName>
                                        </p:attrNameLst>
                                      </p:cBhvr>
                                      <p:to>
                                        <p:strVal val="visible"/>
                                      </p:to>
                                    </p:set>
                                    <p:animEffect filter="fade" transition="in">
                                      <p:cBhvr>
                                        <p:cTn dur="500"/>
                                        <p:tgtEl>
                                          <p:spTgt spid="9264"/>
                                        </p:tgtEl>
                                      </p:cBhvr>
                                    </p:animEffect>
                                  </p:childTnLst>
                                </p:cTn>
                              </p:par>
                            </p:childTnLst>
                          </p:cTn>
                        </p:par>
                        <p:par>
                          <p:cTn fill="hold">
                            <p:stCondLst>
                              <p:cond delay="7000"/>
                            </p:stCondLst>
                            <p:childTnLst>
                              <p:par>
                                <p:cTn fill="hold" nodeType="afterEffect" presetClass="exit" presetID="10" presetSubtype="0">
                                  <p:stCondLst>
                                    <p:cond delay="0"/>
                                  </p:stCondLst>
                                  <p:childTnLst>
                                    <p:animEffect filter="fade" transition="out">
                                      <p:cBhvr>
                                        <p:cTn dur="500"/>
                                        <p:tgtEl>
                                          <p:spTgt spid="9264"/>
                                        </p:tgtEl>
                                      </p:cBhvr>
                                    </p:animEffect>
                                    <p:set>
                                      <p:cBhvr>
                                        <p:cTn dur="1" fill="hold">
                                          <p:stCondLst>
                                            <p:cond delay="500"/>
                                          </p:stCondLst>
                                        </p:cTn>
                                        <p:tgtEl>
                                          <p:spTgt spid="9264"/>
                                        </p:tgtEl>
                                        <p:attrNameLst>
                                          <p:attrName>style.visibility</p:attrName>
                                        </p:attrNameLst>
                                      </p:cBhvr>
                                      <p:to>
                                        <p:strVal val="hidden"/>
                                      </p:to>
                                    </p:set>
                                  </p:childTnLst>
                                </p:cTn>
                              </p:par>
                            </p:childTnLst>
                          </p:cTn>
                        </p:par>
                        <p:par>
                          <p:cTn fill="hold">
                            <p:stCondLst>
                              <p:cond delay="7500"/>
                            </p:stCondLst>
                            <p:childTnLst>
                              <p:par>
                                <p:cTn fill="hold" nodeType="afterEffect" presetClass="exit" presetID="10" presetSubtype="0">
                                  <p:stCondLst>
                                    <p:cond delay="0"/>
                                  </p:stCondLst>
                                  <p:childTnLst>
                                    <p:animEffect filter="fade" transition="out">
                                      <p:cBhvr>
                                        <p:cTn dur="500"/>
                                        <p:tgtEl>
                                          <p:spTgt spid="9276"/>
                                        </p:tgtEl>
                                      </p:cBhvr>
                                    </p:animEffect>
                                    <p:set>
                                      <p:cBhvr>
                                        <p:cTn dur="1" fill="hold">
                                          <p:stCondLst>
                                            <p:cond delay="500"/>
                                          </p:stCondLst>
                                        </p:cTn>
                                        <p:tgtEl>
                                          <p:spTgt spid="9276"/>
                                        </p:tgtEl>
                                        <p:attrNameLst>
                                          <p:attrName>style.visibility</p:attrName>
                                        </p:attrNameLst>
                                      </p:cBhvr>
                                      <p:to>
                                        <p:strVal val="hidden"/>
                                      </p:to>
                                    </p:set>
                                  </p:childTnLst>
                                </p:cTn>
                              </p:par>
                            </p:childTnLst>
                          </p:cTn>
                        </p:par>
                        <p:par>
                          <p:cTn fill="hold">
                            <p:stCondLst>
                              <p:cond delay="8000"/>
                            </p:stCondLst>
                            <p:childTnLst>
                              <p:par>
                                <p:cTn fill="hold" nodeType="afterEffect" presetClass="entr" presetID="10" presetSubtype="0">
                                  <p:stCondLst>
                                    <p:cond delay="1000"/>
                                  </p:stCondLst>
                                  <p:childTnLst>
                                    <p:set>
                                      <p:cBhvr>
                                        <p:cTn dur="1" fill="hold">
                                          <p:stCondLst>
                                            <p:cond delay="0"/>
                                          </p:stCondLst>
                                        </p:cTn>
                                        <p:tgtEl>
                                          <p:spTgt spid="9265"/>
                                        </p:tgtEl>
                                        <p:attrNameLst>
                                          <p:attrName>style.visibility</p:attrName>
                                        </p:attrNameLst>
                                      </p:cBhvr>
                                      <p:to>
                                        <p:strVal val="visible"/>
                                      </p:to>
                                    </p:set>
                                    <p:animEffect filter="fade" transition="in">
                                      <p:cBhvr>
                                        <p:cTn dur="500"/>
                                        <p:tgtEl>
                                          <p:spTgt spid="9265"/>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9267"/>
                                        </p:tgtEl>
                                        <p:attrNameLst>
                                          <p:attrName>style.visibility</p:attrName>
                                        </p:attrNameLst>
                                      </p:cBhvr>
                                      <p:to>
                                        <p:strVal val="visible"/>
                                      </p:to>
                                    </p:set>
                                    <p:animEffect filter="fade" transition="in">
                                      <p:cBhvr>
                                        <p:cTn dur="500"/>
                                        <p:tgtEl>
                                          <p:spTgt spid="9267"/>
                                        </p:tgtEl>
                                      </p:cBhvr>
                                    </p:animEffect>
                                  </p:childTnLst>
                                </p:cTn>
                              </p:par>
                            </p:childTnLst>
                          </p:cTn>
                        </p:par>
                        <p:par>
                          <p:cTn fill="hold">
                            <p:stCondLst>
                              <p:cond delay="9000"/>
                            </p:stCondLst>
                            <p:childTnLst>
                              <p:par>
                                <p:cTn fill="hold" nodeType="afterEffect" presetClass="entr" presetID="10" presetSubtype="0">
                                  <p:stCondLst>
                                    <p:cond delay="1000"/>
                                  </p:stCondLst>
                                  <p:childTnLst>
                                    <p:set>
                                      <p:cBhvr>
                                        <p:cTn dur="1" fill="hold">
                                          <p:stCondLst>
                                            <p:cond delay="0"/>
                                          </p:stCondLst>
                                        </p:cTn>
                                        <p:tgtEl>
                                          <p:spTgt spid="9266"/>
                                        </p:tgtEl>
                                        <p:attrNameLst>
                                          <p:attrName>style.visibility</p:attrName>
                                        </p:attrNameLst>
                                      </p:cBhvr>
                                      <p:to>
                                        <p:strVal val="visible"/>
                                      </p:to>
                                    </p:set>
                                    <p:animEffect filter="fade" transition="in">
                                      <p:cBhvr>
                                        <p:cTn dur="500"/>
                                        <p:tgtEl>
                                          <p:spTgt spid="9266"/>
                                        </p:tgtEl>
                                      </p:cBhvr>
                                    </p:animEffect>
                                  </p:childTnLst>
                                </p:cTn>
                              </p:par>
                            </p:childTnLst>
                          </p:cTn>
                        </p:par>
                        <p:par>
                          <p:cTn fill="hold">
                            <p:stCondLst>
                              <p:cond delay="9500"/>
                            </p:stCondLst>
                            <p:childTnLst>
                              <p:par>
                                <p:cTn fill="hold" nodeType="afterEffect" presetClass="exit" presetID="10" presetSubtype="0">
                                  <p:stCondLst>
                                    <p:cond delay="1000"/>
                                  </p:stCondLst>
                                  <p:childTnLst>
                                    <p:animEffect filter="fade" transition="out">
                                      <p:cBhvr>
                                        <p:cTn dur="500"/>
                                        <p:tgtEl>
                                          <p:spTgt spid="9267"/>
                                        </p:tgtEl>
                                      </p:cBhvr>
                                    </p:animEffect>
                                    <p:set>
                                      <p:cBhvr>
                                        <p:cTn dur="1" fill="hold">
                                          <p:stCondLst>
                                            <p:cond delay="500"/>
                                          </p:stCondLst>
                                        </p:cTn>
                                        <p:tgtEl>
                                          <p:spTgt spid="9267"/>
                                        </p:tgtEl>
                                        <p:attrNameLst>
                                          <p:attrName>style.visibility</p:attrName>
                                        </p:attrNameLst>
                                      </p:cBhvr>
                                      <p:to>
                                        <p:strVal val="hidden"/>
                                      </p:to>
                                    </p:set>
                                  </p:childTnLst>
                                </p:cTn>
                              </p:par>
                            </p:childTnLst>
                          </p:cTn>
                        </p:par>
                        <p:par>
                          <p:cTn fill="hold">
                            <p:stCondLst>
                              <p:cond delay="10000"/>
                            </p:stCondLst>
                            <p:childTnLst>
                              <p:par>
                                <p:cTn fill="hold" nodeType="afterEffect" presetClass="entr" presetID="10" presetSubtype="0">
                                  <p:stCondLst>
                                    <p:cond delay="1000"/>
                                  </p:stCondLst>
                                  <p:childTnLst>
                                    <p:set>
                                      <p:cBhvr>
                                        <p:cTn dur="1" fill="hold">
                                          <p:stCondLst>
                                            <p:cond delay="0"/>
                                          </p:stCondLst>
                                        </p:cTn>
                                        <p:tgtEl>
                                          <p:spTgt spid="9269"/>
                                        </p:tgtEl>
                                        <p:attrNameLst>
                                          <p:attrName>style.visibility</p:attrName>
                                        </p:attrNameLst>
                                      </p:cBhvr>
                                      <p:to>
                                        <p:strVal val="visible"/>
                                      </p:to>
                                    </p:set>
                                    <p:animEffect filter="fade" transition="in">
                                      <p:cBhvr>
                                        <p:cTn dur="500"/>
                                        <p:tgtEl>
                                          <p:spTgt spid="9269"/>
                                        </p:tgtEl>
                                      </p:cBhvr>
                                    </p:animEffect>
                                  </p:childTnLst>
                                </p:cTn>
                              </p:par>
                            </p:childTnLst>
                          </p:cTn>
                        </p:par>
                        <p:par>
                          <p:cTn fill="hold">
                            <p:stCondLst>
                              <p:cond delay="10500"/>
                            </p:stCondLst>
                            <p:childTnLst>
                              <p:par>
                                <p:cTn fill="hold" nodeType="afterEffect" presetClass="exit" presetID="10" presetSubtype="0">
                                  <p:stCondLst>
                                    <p:cond delay="0"/>
                                  </p:stCondLst>
                                  <p:childTnLst>
                                    <p:animEffect filter="fade" transition="out">
                                      <p:cBhvr>
                                        <p:cTn dur="500"/>
                                        <p:tgtEl>
                                          <p:spTgt spid="9269"/>
                                        </p:tgtEl>
                                      </p:cBhvr>
                                    </p:animEffect>
                                    <p:set>
                                      <p:cBhvr>
                                        <p:cTn dur="1" fill="hold">
                                          <p:stCondLst>
                                            <p:cond delay="500"/>
                                          </p:stCondLst>
                                        </p:cTn>
                                        <p:tgtEl>
                                          <p:spTgt spid="9269"/>
                                        </p:tgtEl>
                                        <p:attrNameLst>
                                          <p:attrName>style.visibility</p:attrName>
                                        </p:attrNameLst>
                                      </p:cBhvr>
                                      <p:to>
                                        <p:strVal val="hidden"/>
                                      </p:to>
                                    </p:set>
                                  </p:childTnLst>
                                </p:cTn>
                              </p:par>
                            </p:childTnLst>
                          </p:cTn>
                        </p:par>
                        <p:par>
                          <p:cTn fill="hold">
                            <p:stCondLst>
                              <p:cond delay="11000"/>
                            </p:stCondLst>
                            <p:childTnLst>
                              <p:par>
                                <p:cTn fill="hold" nodeType="afterEffect" presetClass="exit" presetID="10" presetSubtype="0">
                                  <p:stCondLst>
                                    <p:cond delay="0"/>
                                  </p:stCondLst>
                                  <p:childTnLst>
                                    <p:animEffect filter="fade" transition="out">
                                      <p:cBhvr>
                                        <p:cTn dur="500"/>
                                        <p:tgtEl>
                                          <p:spTgt spid="9270"/>
                                        </p:tgtEl>
                                      </p:cBhvr>
                                    </p:animEffect>
                                    <p:set>
                                      <p:cBhvr>
                                        <p:cTn dur="1" fill="hold">
                                          <p:stCondLst>
                                            <p:cond delay="500"/>
                                          </p:stCondLst>
                                        </p:cTn>
                                        <p:tgtEl>
                                          <p:spTgt spid="9270"/>
                                        </p:tgtEl>
                                        <p:attrNameLst>
                                          <p:attrName>style.visibility</p:attrName>
                                        </p:attrNameLst>
                                      </p:cBhvr>
                                      <p:to>
                                        <p:strVal val="hidden"/>
                                      </p:to>
                                    </p:set>
                                  </p:childTnLst>
                                </p:cTn>
                              </p:par>
                            </p:childTnLst>
                          </p:cTn>
                        </p:par>
                        <p:par>
                          <p:cTn fill="hold">
                            <p:stCondLst>
                              <p:cond delay="11500"/>
                            </p:stCondLst>
                            <p:childTnLst>
                              <p:par>
                                <p:cTn fill="hold" nodeType="afterEffect" presetClass="entr" presetID="10" presetSubtype="0">
                                  <p:stCondLst>
                                    <p:cond delay="1000"/>
                                  </p:stCondLst>
                                  <p:childTnLst>
                                    <p:set>
                                      <p:cBhvr>
                                        <p:cTn dur="1" fill="hold">
                                          <p:stCondLst>
                                            <p:cond delay="0"/>
                                          </p:stCondLst>
                                        </p:cTn>
                                        <p:tgtEl>
                                          <p:spTgt spid="9268"/>
                                        </p:tgtEl>
                                        <p:attrNameLst>
                                          <p:attrName>style.visibility</p:attrName>
                                        </p:attrNameLst>
                                      </p:cBhvr>
                                      <p:to>
                                        <p:strVal val="visible"/>
                                      </p:to>
                                    </p:set>
                                    <p:animEffect filter="fade" transition="in">
                                      <p:cBhvr>
                                        <p:cTn dur="500"/>
                                        <p:tgtEl>
                                          <p:spTgt spid="9268"/>
                                        </p:tgtEl>
                                      </p:cBhvr>
                                    </p:animEffect>
                                  </p:childTnLst>
                                </p:cTn>
                              </p:par>
                            </p:childTnLst>
                          </p:cTn>
                        </p:par>
                        <p:par>
                          <p:cTn fill="hold">
                            <p:stCondLst>
                              <p:cond delay="12000"/>
                            </p:stCondLst>
                            <p:childTnLst>
                              <p:par>
                                <p:cTn fill="hold" nodeType="afterEffect" presetClass="exit" presetID="10" presetSubtype="0">
                                  <p:stCondLst>
                                    <p:cond delay="0"/>
                                  </p:stCondLst>
                                  <p:childTnLst>
                                    <p:animEffect filter="fade" transition="out">
                                      <p:cBhvr>
                                        <p:cTn dur="500"/>
                                        <p:tgtEl>
                                          <p:spTgt spid="9266"/>
                                        </p:tgtEl>
                                      </p:cBhvr>
                                    </p:animEffect>
                                    <p:set>
                                      <p:cBhvr>
                                        <p:cTn dur="1" fill="hold">
                                          <p:stCondLst>
                                            <p:cond delay="500"/>
                                          </p:stCondLst>
                                        </p:cTn>
                                        <p:tgtEl>
                                          <p:spTgt spid="926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65"/>
                                        </p:tgtEl>
                                      </p:cBhvr>
                                    </p:animEffect>
                                    <p:set>
                                      <p:cBhvr>
                                        <p:cTn dur="1" fill="hold">
                                          <p:stCondLst>
                                            <p:cond delay="500"/>
                                          </p:stCondLst>
                                        </p:cTn>
                                        <p:tgtEl>
                                          <p:spTgt spid="926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68"/>
                                        </p:tgtEl>
                                      </p:cBhvr>
                                    </p:animEffect>
                                    <p:set>
                                      <p:cBhvr>
                                        <p:cTn dur="1" fill="hold">
                                          <p:stCondLst>
                                            <p:cond delay="500"/>
                                          </p:stCondLst>
                                        </p:cTn>
                                        <p:tgtEl>
                                          <p:spTgt spid="9268"/>
                                        </p:tgtEl>
                                        <p:attrNameLst>
                                          <p:attrName>style.visibility</p:attrName>
                                        </p:attrNameLst>
                                      </p:cBhvr>
                                      <p:to>
                                        <p:strVal val="hidden"/>
                                      </p:to>
                                    </p:set>
                                  </p:childTnLst>
                                </p:cTn>
                              </p:par>
                            </p:childTnLst>
                          </p:cTn>
                        </p:par>
                        <p:par>
                          <p:cTn fill="hold">
                            <p:stCondLst>
                              <p:cond delay="12500"/>
                            </p:stCondLst>
                            <p:childTnLst>
                              <p:par>
                                <p:cTn fill="hold" nodeType="afterEffect" presetClass="exit" presetID="10" presetSubtype="0">
                                  <p:stCondLst>
                                    <p:cond delay="0"/>
                                  </p:stCondLst>
                                  <p:childTnLst>
                                    <p:animEffect filter="fade" transition="out">
                                      <p:cBhvr>
                                        <p:cTn dur="500"/>
                                        <p:tgtEl>
                                          <p:spTgt spid="9273"/>
                                        </p:tgtEl>
                                      </p:cBhvr>
                                    </p:animEffect>
                                    <p:set>
                                      <p:cBhvr>
                                        <p:cTn dur="1" fill="hold">
                                          <p:stCondLst>
                                            <p:cond delay="500"/>
                                          </p:stCondLst>
                                        </p:cTn>
                                        <p:tgtEl>
                                          <p:spTgt spid="927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1" name="Shape 9321"/>
        <p:cNvGrpSpPr/>
        <p:nvPr/>
      </p:nvGrpSpPr>
      <p:grpSpPr>
        <a:xfrm>
          <a:off x="0" y="0"/>
          <a:ext cx="0" cy="0"/>
          <a:chOff x="0" y="0"/>
          <a:chExt cx="0" cy="0"/>
        </a:xfrm>
      </p:grpSpPr>
      <p:sp>
        <p:nvSpPr>
          <p:cNvPr id="9322" name="Google Shape;9322;p146"/>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Chapter 3: summary</a:t>
            </a:r>
            <a:endParaRPr b="0" sz="4400"/>
          </a:p>
        </p:txBody>
      </p:sp>
      <p:sp>
        <p:nvSpPr>
          <p:cNvPr id="9323" name="Google Shape;9323;p1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9324" name="Google Shape;9324;p146"/>
          <p:cNvSpPr txBox="1"/>
          <p:nvPr/>
        </p:nvSpPr>
        <p:spPr>
          <a:xfrm>
            <a:off x="876300" y="1295400"/>
            <a:ext cx="5626100" cy="5225369"/>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principles behind transport layer services: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multiplexing, demultiplexing</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reliable data transfer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flow control</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congestion control</a:t>
            </a:r>
            <a:endParaRPr/>
          </a:p>
          <a:p>
            <a:pPr indent="-263525"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instantiation, implementation in the Internet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UDP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TCP</a:t>
            </a:r>
            <a:endParaRPr/>
          </a:p>
        </p:txBody>
      </p:sp>
      <p:sp>
        <p:nvSpPr>
          <p:cNvPr id="9325" name="Google Shape;9325;p146"/>
          <p:cNvSpPr txBox="1"/>
          <p:nvPr/>
        </p:nvSpPr>
        <p:spPr>
          <a:xfrm>
            <a:off x="7065962" y="1270000"/>
            <a:ext cx="4732337" cy="4838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Up next:</a:t>
            </a:r>
            <a:endParaRPr/>
          </a:p>
          <a:p>
            <a:pPr indent="-266700"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leaving the network “edge” </a:t>
            </a:r>
            <a:r>
              <a:rPr b="0" i="0" lang="en-US" sz="2800" u="none" cap="none" strike="noStrike">
                <a:solidFill>
                  <a:schemeClr val="dk1"/>
                </a:solidFill>
                <a:latin typeface="Calibri"/>
                <a:ea typeface="Calibri"/>
                <a:cs typeface="Calibri"/>
                <a:sym typeface="Calibri"/>
              </a:rPr>
              <a:t>(application, transport layers)</a:t>
            </a:r>
            <a:endParaRPr/>
          </a:p>
          <a:p>
            <a:pPr indent="-266700"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into the network “core”</a:t>
            </a:r>
            <a:endParaRPr/>
          </a:p>
          <a:p>
            <a:pPr indent="-266700" lvl="0" marL="39370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two network-layer chapters</a:t>
            </a:r>
            <a:r>
              <a:rPr b="0" i="0" lang="en-US" sz="2800" u="none" cap="none" strike="noStrike">
                <a:solidFill>
                  <a:schemeClr val="dk1"/>
                </a:solidFill>
                <a:latin typeface="Calibri"/>
                <a:ea typeface="Calibri"/>
                <a:cs typeface="Calibri"/>
                <a:sym typeface="Calibri"/>
              </a:rPr>
              <a: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data plane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control plane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0" name="Shape 9330"/>
        <p:cNvGrpSpPr/>
        <p:nvPr/>
      </p:nvGrpSpPr>
      <p:grpSpPr>
        <a:xfrm>
          <a:off x="0" y="0"/>
          <a:ext cx="0" cy="0"/>
          <a:chOff x="0" y="0"/>
          <a:chExt cx="0" cy="0"/>
        </a:xfrm>
      </p:grpSpPr>
      <p:sp>
        <p:nvSpPr>
          <p:cNvPr id="9331" name="Google Shape;9331;p147"/>
          <p:cNvSpPr txBox="1"/>
          <p:nvPr>
            <p:ph type="title"/>
          </p:nvPr>
        </p:nvSpPr>
        <p:spPr>
          <a:xfrm>
            <a:off x="838200" y="2981689"/>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3 slides</a:t>
            </a:r>
            <a:endParaRPr sz="4400"/>
          </a:p>
        </p:txBody>
      </p:sp>
      <p:sp>
        <p:nvSpPr>
          <p:cNvPr id="9332" name="Google Shape;9332;p1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7" name="Shape 9337"/>
        <p:cNvGrpSpPr/>
        <p:nvPr/>
      </p:nvGrpSpPr>
      <p:grpSpPr>
        <a:xfrm>
          <a:off x="0" y="0"/>
          <a:ext cx="0" cy="0"/>
          <a:chOff x="0" y="0"/>
          <a:chExt cx="0" cy="0"/>
        </a:xfrm>
      </p:grpSpPr>
      <p:sp>
        <p:nvSpPr>
          <p:cNvPr id="9338" name="Google Shape;9338;p14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sender extended FSM</a:t>
            </a:r>
            <a:endParaRPr sz="4400"/>
          </a:p>
        </p:txBody>
      </p:sp>
      <p:sp>
        <p:nvSpPr>
          <p:cNvPr id="9339" name="Google Shape;9339;p1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9340" name="Google Shape;9340;p148"/>
          <p:cNvGrpSpPr/>
          <p:nvPr/>
        </p:nvGrpSpPr>
        <p:grpSpPr>
          <a:xfrm>
            <a:off x="4595813" y="3710668"/>
            <a:ext cx="800100" cy="657225"/>
            <a:chOff x="1959" y="2515"/>
            <a:chExt cx="504" cy="414"/>
          </a:xfrm>
        </p:grpSpPr>
        <p:sp>
          <p:nvSpPr>
            <p:cNvPr id="9341" name="Google Shape;9341;p148"/>
            <p:cNvSpPr/>
            <p:nvPr/>
          </p:nvSpPr>
          <p:spPr>
            <a:xfrm>
              <a:off x="2004" y="2515"/>
              <a:ext cx="420" cy="414"/>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342" name="Google Shape;9342;p148"/>
            <p:cNvSpPr txBox="1"/>
            <p:nvPr/>
          </p:nvSpPr>
          <p:spPr>
            <a:xfrm>
              <a:off x="1959" y="2611"/>
              <a:ext cx="504" cy="24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Wait</a:t>
              </a:r>
              <a:endParaRPr b="0" i="0" sz="1600" u="none" cap="none" strike="noStrike">
                <a:solidFill>
                  <a:srgbClr val="000000"/>
                </a:solidFill>
                <a:latin typeface="Times New Roman"/>
                <a:ea typeface="Times New Roman"/>
                <a:cs typeface="Times New Roman"/>
                <a:sym typeface="Times New Roman"/>
              </a:endParaRPr>
            </a:p>
          </p:txBody>
        </p:sp>
      </p:grpSp>
      <p:cxnSp>
        <p:nvCxnSpPr>
          <p:cNvPr id="9343" name="Google Shape;9343;p148"/>
          <p:cNvCxnSpPr/>
          <p:nvPr/>
        </p:nvCxnSpPr>
        <p:spPr>
          <a:xfrm>
            <a:off x="3057525" y="2797856"/>
            <a:ext cx="1624013" cy="1069975"/>
          </a:xfrm>
          <a:prstGeom prst="straightConnector1">
            <a:avLst/>
          </a:prstGeom>
          <a:noFill/>
          <a:ln cap="flat" cmpd="sng" w="28575">
            <a:solidFill>
              <a:srgbClr val="000000"/>
            </a:solidFill>
            <a:prstDash val="dot"/>
            <a:round/>
            <a:headEnd len="med" w="med" type="none"/>
            <a:tailEnd len="med" w="med" type="triangle"/>
          </a:ln>
        </p:spPr>
      </p:cxnSp>
      <p:grpSp>
        <p:nvGrpSpPr>
          <p:cNvPr id="9344" name="Google Shape;9344;p148"/>
          <p:cNvGrpSpPr/>
          <p:nvPr/>
        </p:nvGrpSpPr>
        <p:grpSpPr>
          <a:xfrm>
            <a:off x="5389563" y="3466193"/>
            <a:ext cx="3167062" cy="1152525"/>
            <a:chOff x="5389563" y="3466193"/>
            <a:chExt cx="3167062" cy="1152525"/>
          </a:xfrm>
        </p:grpSpPr>
        <p:sp>
          <p:nvSpPr>
            <p:cNvPr id="9345" name="Google Shape;9345;p148"/>
            <p:cNvSpPr txBox="1"/>
            <p:nvPr/>
          </p:nvSpPr>
          <p:spPr>
            <a:xfrm>
              <a:off x="5780088" y="3777343"/>
              <a:ext cx="2776537" cy="828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udt_send(sndpkt[base])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udt_send(sndpkt[base+1])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udt_send(sndpkt[nextseqnum-1])</a:t>
              </a:r>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9346" name="Google Shape;9346;p148"/>
            <p:cNvSpPr txBox="1"/>
            <p:nvPr/>
          </p:nvSpPr>
          <p:spPr>
            <a:xfrm>
              <a:off x="5802313" y="3542393"/>
              <a:ext cx="1100137" cy="2746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cxnSp>
          <p:nvCxnSpPr>
            <p:cNvPr id="9347" name="Google Shape;9347;p148"/>
            <p:cNvCxnSpPr/>
            <p:nvPr/>
          </p:nvCxnSpPr>
          <p:spPr>
            <a:xfrm>
              <a:off x="5886450" y="3818618"/>
              <a:ext cx="1619250" cy="0"/>
            </a:xfrm>
            <a:prstGeom prst="straightConnector1">
              <a:avLst/>
            </a:prstGeom>
            <a:noFill/>
            <a:ln cap="flat" cmpd="sng" w="19050">
              <a:solidFill>
                <a:srgbClr val="000000"/>
              </a:solidFill>
              <a:prstDash val="solid"/>
              <a:round/>
              <a:headEnd len="med" w="med" type="none"/>
              <a:tailEnd len="med" w="med" type="none"/>
            </a:ln>
          </p:spPr>
        </p:cxnSp>
        <p:sp>
          <p:nvSpPr>
            <p:cNvPr id="9348" name="Google Shape;9348;p148"/>
            <p:cNvSpPr/>
            <p:nvPr/>
          </p:nvSpPr>
          <p:spPr>
            <a:xfrm>
              <a:off x="5389563" y="3466193"/>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349" name="Google Shape;9349;p148"/>
          <p:cNvGrpSpPr/>
          <p:nvPr/>
        </p:nvGrpSpPr>
        <p:grpSpPr>
          <a:xfrm>
            <a:off x="4222750" y="1037318"/>
            <a:ext cx="5521325" cy="2679474"/>
            <a:chOff x="4222750" y="1037318"/>
            <a:chExt cx="5521325" cy="2679474"/>
          </a:xfrm>
        </p:grpSpPr>
        <p:sp>
          <p:nvSpPr>
            <p:cNvPr id="9350" name="Google Shape;9350;p148"/>
            <p:cNvSpPr txBox="1"/>
            <p:nvPr/>
          </p:nvSpPr>
          <p:spPr>
            <a:xfrm>
              <a:off x="4222750" y="1037318"/>
              <a:ext cx="2333625" cy="257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9351" name="Google Shape;9351;p148"/>
            <p:cNvCxnSpPr/>
            <p:nvPr/>
          </p:nvCxnSpPr>
          <p:spPr>
            <a:xfrm>
              <a:off x="4330700" y="1356406"/>
              <a:ext cx="1914525" cy="0"/>
            </a:xfrm>
            <a:prstGeom prst="straightConnector1">
              <a:avLst/>
            </a:prstGeom>
            <a:noFill/>
            <a:ln cap="flat" cmpd="sng" w="28575">
              <a:solidFill>
                <a:srgbClr val="000000"/>
              </a:solidFill>
              <a:prstDash val="solid"/>
              <a:round/>
              <a:headEnd len="med" w="med" type="none"/>
              <a:tailEnd len="med" w="med" type="none"/>
            </a:ln>
          </p:spPr>
        </p:cxnSp>
        <p:sp>
          <p:nvSpPr>
            <p:cNvPr id="9352" name="Google Shape;9352;p148"/>
            <p:cNvSpPr txBox="1"/>
            <p:nvPr/>
          </p:nvSpPr>
          <p:spPr>
            <a:xfrm>
              <a:off x="4222750" y="1378631"/>
              <a:ext cx="5521325" cy="1466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if (nextseqnum &lt; base+N)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sndpkt[nextseqnum] = make_pkt(nextseqnum,data,chksum)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udt_send(sndpkt[nextseqnum])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if (base ==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start_timer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else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refuse_data(data)</a:t>
              </a:r>
              <a:endParaRPr b="0" i="0" sz="1400" u="none" cap="none" strike="noStrike">
                <a:solidFill>
                  <a:srgbClr val="000000"/>
                </a:solidFill>
                <a:latin typeface="Times New Roman"/>
                <a:ea typeface="Times New Roman"/>
                <a:cs typeface="Times New Roman"/>
                <a:sym typeface="Times New Roman"/>
              </a:endParaRPr>
            </a:p>
          </p:txBody>
        </p:sp>
        <p:sp>
          <p:nvSpPr>
            <p:cNvPr id="9353" name="Google Shape;9353;p148"/>
            <p:cNvSpPr/>
            <p:nvPr/>
          </p:nvSpPr>
          <p:spPr>
            <a:xfrm flipH="1" rot="5142103">
              <a:off x="4816476" y="2901043"/>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354" name="Google Shape;9354;p148"/>
          <p:cNvGrpSpPr/>
          <p:nvPr/>
        </p:nvGrpSpPr>
        <p:grpSpPr>
          <a:xfrm>
            <a:off x="4371975" y="4413931"/>
            <a:ext cx="3686175" cy="1860550"/>
            <a:chOff x="4371975" y="4413931"/>
            <a:chExt cx="3686175" cy="1860550"/>
          </a:xfrm>
        </p:grpSpPr>
        <p:sp>
          <p:nvSpPr>
            <p:cNvPr id="9355" name="Google Shape;9355;p148"/>
            <p:cNvSpPr txBox="1"/>
            <p:nvPr/>
          </p:nvSpPr>
          <p:spPr>
            <a:xfrm>
              <a:off x="4371975" y="5445806"/>
              <a:ext cx="3686175" cy="828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base = getacknum(rcvpkt)+1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If (base ==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stop_timer</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else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start_timer</a:t>
              </a:r>
              <a:endParaRPr b="0" i="0" sz="1400" u="none" cap="none" strike="noStrike">
                <a:solidFill>
                  <a:srgbClr val="000000"/>
                </a:solidFill>
                <a:latin typeface="Times New Roman"/>
                <a:ea typeface="Times New Roman"/>
                <a:cs typeface="Times New Roman"/>
                <a:sym typeface="Times New Roman"/>
              </a:endParaRPr>
            </a:p>
          </p:txBody>
        </p:sp>
        <p:sp>
          <p:nvSpPr>
            <p:cNvPr id="9356" name="Google Shape;9356;p148"/>
            <p:cNvSpPr txBox="1"/>
            <p:nvPr/>
          </p:nvSpPr>
          <p:spPr>
            <a:xfrm>
              <a:off x="4384675" y="4945743"/>
              <a:ext cx="2833688" cy="447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notcorrupt(rcvpkt) </a:t>
              </a:r>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cxnSp>
          <p:nvCxnSpPr>
            <p:cNvPr id="9357" name="Google Shape;9357;p148"/>
            <p:cNvCxnSpPr/>
            <p:nvPr/>
          </p:nvCxnSpPr>
          <p:spPr>
            <a:xfrm>
              <a:off x="4476750" y="5469618"/>
              <a:ext cx="1619250" cy="0"/>
            </a:xfrm>
            <a:prstGeom prst="straightConnector1">
              <a:avLst/>
            </a:prstGeom>
            <a:noFill/>
            <a:ln cap="flat" cmpd="sng" w="28575">
              <a:solidFill>
                <a:srgbClr val="000000"/>
              </a:solidFill>
              <a:prstDash val="solid"/>
              <a:round/>
              <a:headEnd len="med" w="med" type="none"/>
              <a:tailEnd len="med" w="med" type="none"/>
            </a:ln>
          </p:spPr>
        </p:cxnSp>
        <p:sp>
          <p:nvSpPr>
            <p:cNvPr id="9358" name="Google Shape;9358;p148"/>
            <p:cNvSpPr/>
            <p:nvPr/>
          </p:nvSpPr>
          <p:spPr>
            <a:xfrm>
              <a:off x="4533900" y="4413931"/>
              <a:ext cx="1054100" cy="674687"/>
            </a:xfrm>
            <a:custGeom>
              <a:rect b="b" l="l" r="r" t="t"/>
              <a:pathLst>
                <a:path extrusionOk="0" h="425" w="664">
                  <a:moveTo>
                    <a:pt x="241" y="20"/>
                  </a:moveTo>
                  <a:cubicBezTo>
                    <a:pt x="0" y="393"/>
                    <a:pt x="664" y="425"/>
                    <a:pt x="388"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9359" name="Google Shape;9359;p148"/>
          <p:cNvCxnSpPr/>
          <p:nvPr/>
        </p:nvCxnSpPr>
        <p:spPr>
          <a:xfrm>
            <a:off x="2643188" y="3224893"/>
            <a:ext cx="803275" cy="0"/>
          </a:xfrm>
          <a:prstGeom prst="straightConnector1">
            <a:avLst/>
          </a:prstGeom>
          <a:noFill/>
          <a:ln cap="flat" cmpd="sng" w="19050">
            <a:solidFill>
              <a:srgbClr val="000000"/>
            </a:solidFill>
            <a:prstDash val="solid"/>
            <a:round/>
            <a:headEnd len="med" w="med" type="none"/>
            <a:tailEnd len="med" w="med" type="none"/>
          </a:ln>
        </p:spPr>
      </p:cxnSp>
      <p:sp>
        <p:nvSpPr>
          <p:cNvPr id="9360" name="Google Shape;9360;p148"/>
          <p:cNvSpPr txBox="1"/>
          <p:nvPr/>
        </p:nvSpPr>
        <p:spPr>
          <a:xfrm>
            <a:off x="2516188" y="3194731"/>
            <a:ext cx="1485900" cy="501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base=1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nextseqnum=1</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grpSp>
        <p:nvGrpSpPr>
          <p:cNvPr id="9361" name="Google Shape;9361;p148"/>
          <p:cNvGrpSpPr/>
          <p:nvPr/>
        </p:nvGrpSpPr>
        <p:grpSpPr>
          <a:xfrm>
            <a:off x="2279650" y="4188506"/>
            <a:ext cx="2343150" cy="638175"/>
            <a:chOff x="2279650" y="4188506"/>
            <a:chExt cx="2343150" cy="638175"/>
          </a:xfrm>
        </p:grpSpPr>
        <p:sp>
          <p:nvSpPr>
            <p:cNvPr id="9362" name="Google Shape;9362;p148"/>
            <p:cNvSpPr txBox="1"/>
            <p:nvPr/>
          </p:nvSpPr>
          <p:spPr>
            <a:xfrm>
              <a:off x="2279650" y="4256768"/>
              <a:ext cx="2047875" cy="447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corrupt(rcvpkt)</a:t>
              </a:r>
              <a:r>
                <a:rPr b="0" i="0" lang="en-US" sz="1000" u="none" cap="none" strike="noStrike">
                  <a:solidFill>
                    <a:srgbClr val="000000"/>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9363" name="Google Shape;9363;p148"/>
            <p:cNvCxnSpPr/>
            <p:nvPr/>
          </p:nvCxnSpPr>
          <p:spPr>
            <a:xfrm>
              <a:off x="2371725" y="4755243"/>
              <a:ext cx="1520825" cy="0"/>
            </a:xfrm>
            <a:prstGeom prst="straightConnector1">
              <a:avLst/>
            </a:prstGeom>
            <a:noFill/>
            <a:ln cap="flat" cmpd="sng" w="19050">
              <a:solidFill>
                <a:srgbClr val="000000"/>
              </a:solidFill>
              <a:prstDash val="solid"/>
              <a:round/>
              <a:headEnd len="med" w="med" type="none"/>
              <a:tailEnd len="med" w="med" type="none"/>
            </a:ln>
          </p:spPr>
        </p:cxnSp>
        <p:sp>
          <p:nvSpPr>
            <p:cNvPr id="9364" name="Google Shape;9364;p148"/>
            <p:cNvSpPr/>
            <p:nvPr/>
          </p:nvSpPr>
          <p:spPr>
            <a:xfrm>
              <a:off x="3927475" y="4188506"/>
              <a:ext cx="695325" cy="638175"/>
            </a:xfrm>
            <a:custGeom>
              <a:rect b="b" l="l" r="r" t="t"/>
              <a:pathLst>
                <a:path extrusionOk="0" h="1005" w="1095">
                  <a:moveTo>
                    <a:pt x="1005" y="0"/>
                  </a:moveTo>
                  <a:cubicBezTo>
                    <a:pt x="0" y="30"/>
                    <a:pt x="645" y="1005"/>
                    <a:pt x="1095" y="16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365" name="Google Shape;9365;p148"/>
          <p:cNvSpPr txBox="1"/>
          <p:nvPr/>
        </p:nvSpPr>
        <p:spPr>
          <a:xfrm>
            <a:off x="2559050" y="2894693"/>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49"/>
                                        </p:tgtEl>
                                        <p:attrNameLst>
                                          <p:attrName>style.visibility</p:attrName>
                                        </p:attrNameLst>
                                      </p:cBhvr>
                                      <p:to>
                                        <p:strVal val="visible"/>
                                      </p:to>
                                    </p:set>
                                    <p:animEffect filter="fade" transition="in">
                                      <p:cBhvr>
                                        <p:cTn dur="500"/>
                                        <p:tgtEl>
                                          <p:spTgt spid="9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44"/>
                                        </p:tgtEl>
                                        <p:attrNameLst>
                                          <p:attrName>style.visibility</p:attrName>
                                        </p:attrNameLst>
                                      </p:cBhvr>
                                      <p:to>
                                        <p:strVal val="visible"/>
                                      </p:to>
                                    </p:set>
                                    <p:animEffect filter="fade" transition="in">
                                      <p:cBhvr>
                                        <p:cTn dur="500"/>
                                        <p:tgtEl>
                                          <p:spTgt spid="9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4"/>
                                        </p:tgtEl>
                                        <p:attrNameLst>
                                          <p:attrName>style.visibility</p:attrName>
                                        </p:attrNameLst>
                                      </p:cBhvr>
                                      <p:to>
                                        <p:strVal val="visible"/>
                                      </p:to>
                                    </p:set>
                                    <p:animEffect filter="fade" transition="in">
                                      <p:cBhvr>
                                        <p:cTn dur="500"/>
                                        <p:tgtEl>
                                          <p:spTgt spid="9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1"/>
                                        </p:tgtEl>
                                        <p:attrNameLst>
                                          <p:attrName>style.visibility</p:attrName>
                                        </p:attrNameLst>
                                      </p:cBhvr>
                                      <p:to>
                                        <p:strVal val="visible"/>
                                      </p:to>
                                    </p:set>
                                    <p:animEffect filter="fade" transition="in">
                                      <p:cBhvr>
                                        <p:cTn dur="500"/>
                                        <p:tgtEl>
                                          <p:spTgt spid="9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0" name="Shape 9370"/>
        <p:cNvGrpSpPr/>
        <p:nvPr/>
      </p:nvGrpSpPr>
      <p:grpSpPr>
        <a:xfrm>
          <a:off x="0" y="0"/>
          <a:ext cx="0" cy="0"/>
          <a:chOff x="0" y="0"/>
          <a:chExt cx="0" cy="0"/>
        </a:xfrm>
      </p:grpSpPr>
      <p:sp>
        <p:nvSpPr>
          <p:cNvPr id="9371" name="Google Shape;9371;p14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 extended FSM</a:t>
            </a:r>
            <a:endParaRPr sz="4400"/>
          </a:p>
        </p:txBody>
      </p:sp>
      <p:sp>
        <p:nvSpPr>
          <p:cNvPr id="9372" name="Google Shape;9372;p1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9373" name="Google Shape;9373;p149"/>
          <p:cNvSpPr/>
          <p:nvPr/>
        </p:nvSpPr>
        <p:spPr>
          <a:xfrm>
            <a:off x="4922611" y="2155825"/>
            <a:ext cx="666750" cy="6572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374" name="Google Shape;9374;p149"/>
          <p:cNvSpPr txBox="1"/>
          <p:nvPr/>
        </p:nvSpPr>
        <p:spPr>
          <a:xfrm>
            <a:off x="4881111" y="2307771"/>
            <a:ext cx="800100" cy="336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Wait</a:t>
            </a:r>
            <a:endParaRPr b="0" i="0" sz="2000" u="none" cap="none" strike="noStrike">
              <a:solidFill>
                <a:srgbClr val="000000"/>
              </a:solidFill>
              <a:latin typeface="Times New Roman"/>
              <a:ea typeface="Times New Roman"/>
              <a:cs typeface="Times New Roman"/>
              <a:sym typeface="Times New Roman"/>
            </a:endParaRPr>
          </a:p>
        </p:txBody>
      </p:sp>
      <p:cxnSp>
        <p:nvCxnSpPr>
          <p:cNvPr id="9375" name="Google Shape;9375;p149"/>
          <p:cNvCxnSpPr/>
          <p:nvPr/>
        </p:nvCxnSpPr>
        <p:spPr>
          <a:xfrm>
            <a:off x="2608036" y="1995488"/>
            <a:ext cx="2298700" cy="474662"/>
          </a:xfrm>
          <a:prstGeom prst="straightConnector1">
            <a:avLst/>
          </a:prstGeom>
          <a:noFill/>
          <a:ln cap="flat" cmpd="sng" w="28575">
            <a:solidFill>
              <a:srgbClr val="000000"/>
            </a:solidFill>
            <a:prstDash val="dash"/>
            <a:round/>
            <a:headEnd len="med" w="med" type="none"/>
            <a:tailEnd len="med" w="med" type="triangle"/>
          </a:ln>
        </p:spPr>
      </p:cxnSp>
      <p:sp>
        <p:nvSpPr>
          <p:cNvPr id="9376" name="Google Shape;9376;p149"/>
          <p:cNvSpPr/>
          <p:nvPr/>
        </p:nvSpPr>
        <p:spPr>
          <a:xfrm>
            <a:off x="5595711" y="1898650"/>
            <a:ext cx="828675"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77" name="Google Shape;9377;p149"/>
          <p:cNvSpPr txBox="1"/>
          <p:nvPr/>
        </p:nvSpPr>
        <p:spPr>
          <a:xfrm>
            <a:off x="6089424" y="1668463"/>
            <a:ext cx="3570287" cy="5635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notcorrupt(rcvpkt)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hasseqnum(rcvpkt,expectedseqnum) </a:t>
            </a:r>
            <a:endParaRPr b="0" i="0" sz="1400" u="none" cap="none" strike="noStrike">
              <a:solidFill>
                <a:srgbClr val="000000"/>
              </a:solidFill>
              <a:latin typeface="Times New Roman"/>
              <a:ea typeface="Times New Roman"/>
              <a:cs typeface="Times New Roman"/>
              <a:sym typeface="Times New Roman"/>
            </a:endParaRPr>
          </a:p>
        </p:txBody>
      </p:sp>
      <p:cxnSp>
        <p:nvCxnSpPr>
          <p:cNvPr id="9378" name="Google Shape;9378;p149"/>
          <p:cNvCxnSpPr/>
          <p:nvPr/>
        </p:nvCxnSpPr>
        <p:spPr>
          <a:xfrm>
            <a:off x="6159274" y="2360613"/>
            <a:ext cx="3175000" cy="1587"/>
          </a:xfrm>
          <a:prstGeom prst="straightConnector1">
            <a:avLst/>
          </a:prstGeom>
          <a:noFill/>
          <a:ln cap="flat" cmpd="sng" w="19050">
            <a:solidFill>
              <a:srgbClr val="000000"/>
            </a:solidFill>
            <a:prstDash val="solid"/>
            <a:round/>
            <a:headEnd len="med" w="med" type="none"/>
            <a:tailEnd len="med" w="med" type="none"/>
          </a:ln>
        </p:spPr>
      </p:cxnSp>
      <p:sp>
        <p:nvSpPr>
          <p:cNvPr id="9379" name="Google Shape;9379;p149"/>
          <p:cNvSpPr txBox="1"/>
          <p:nvPr/>
        </p:nvSpPr>
        <p:spPr>
          <a:xfrm>
            <a:off x="6094186" y="2403475"/>
            <a:ext cx="4314825" cy="8588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make_pkt(expectedseqnum,ACK,chksum)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expectedseqnum++</a:t>
            </a:r>
            <a:endParaRPr b="0" i="0" sz="1400" u="none" cap="none" strike="noStrike">
              <a:solidFill>
                <a:srgbClr val="000000"/>
              </a:solidFill>
              <a:latin typeface="Times New Roman"/>
              <a:ea typeface="Times New Roman"/>
              <a:cs typeface="Times New Roman"/>
              <a:sym typeface="Times New Roman"/>
            </a:endParaRPr>
          </a:p>
        </p:txBody>
      </p:sp>
      <p:grpSp>
        <p:nvGrpSpPr>
          <p:cNvPr id="9380" name="Google Shape;9380;p149"/>
          <p:cNvGrpSpPr/>
          <p:nvPr/>
        </p:nvGrpSpPr>
        <p:grpSpPr>
          <a:xfrm>
            <a:off x="4320949" y="1306513"/>
            <a:ext cx="1701605" cy="884011"/>
            <a:chOff x="4320949" y="1306513"/>
            <a:chExt cx="1701605" cy="884011"/>
          </a:xfrm>
        </p:grpSpPr>
        <p:sp>
          <p:nvSpPr>
            <p:cNvPr id="9381" name="Google Shape;9381;p149"/>
            <p:cNvSpPr txBox="1"/>
            <p:nvPr/>
          </p:nvSpPr>
          <p:spPr>
            <a:xfrm>
              <a:off x="4320949" y="1582738"/>
              <a:ext cx="1617662" cy="314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9382" name="Google Shape;9382;p149"/>
            <p:cNvSpPr txBox="1"/>
            <p:nvPr/>
          </p:nvSpPr>
          <p:spPr>
            <a:xfrm>
              <a:off x="4360636" y="1306513"/>
              <a:ext cx="1661918"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any other event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9383" name="Google Shape;9383;p149"/>
            <p:cNvCxnSpPr/>
            <p:nvPr/>
          </p:nvCxnSpPr>
          <p:spPr>
            <a:xfrm>
              <a:off x="4441599" y="1603375"/>
              <a:ext cx="815975" cy="0"/>
            </a:xfrm>
            <a:prstGeom prst="straightConnector1">
              <a:avLst/>
            </a:prstGeom>
            <a:noFill/>
            <a:ln cap="flat" cmpd="sng" w="28575">
              <a:solidFill>
                <a:srgbClr val="000000"/>
              </a:solidFill>
              <a:prstDash val="solid"/>
              <a:round/>
              <a:headEnd len="med" w="med" type="none"/>
              <a:tailEnd len="med" w="med" type="none"/>
            </a:ln>
          </p:spPr>
        </p:cxnSp>
        <p:sp>
          <p:nvSpPr>
            <p:cNvPr id="9384" name="Google Shape;9384;p149"/>
            <p:cNvSpPr/>
            <p:nvPr/>
          </p:nvSpPr>
          <p:spPr>
            <a:xfrm flipH="1" rot="5142103">
              <a:off x="5068662" y="1374775"/>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9385" name="Google Shape;9385;p149"/>
          <p:cNvCxnSpPr/>
          <p:nvPr/>
        </p:nvCxnSpPr>
        <p:spPr>
          <a:xfrm>
            <a:off x="2547711" y="2408238"/>
            <a:ext cx="1238250" cy="0"/>
          </a:xfrm>
          <a:prstGeom prst="straightConnector1">
            <a:avLst/>
          </a:prstGeom>
          <a:noFill/>
          <a:ln cap="flat" cmpd="sng" w="28575">
            <a:solidFill>
              <a:srgbClr val="000000"/>
            </a:solidFill>
            <a:prstDash val="solid"/>
            <a:round/>
            <a:headEnd len="med" w="med" type="none"/>
            <a:tailEnd len="med" w="med" type="none"/>
          </a:ln>
        </p:spPr>
      </p:cxnSp>
      <p:sp>
        <p:nvSpPr>
          <p:cNvPr id="9386" name="Google Shape;9386;p149"/>
          <p:cNvSpPr txBox="1"/>
          <p:nvPr/>
        </p:nvSpPr>
        <p:spPr>
          <a:xfrm>
            <a:off x="2457224" y="2428875"/>
            <a:ext cx="3641725" cy="981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expectedseqnum=1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make_pkt(expectedseqnum,ACK,chksum)</a:t>
            </a:r>
            <a:endParaRPr/>
          </a:p>
          <a:p>
            <a:pPr indent="0" lvl="0" marL="0" marR="0" rtl="0" algn="l">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9387" name="Google Shape;9387;p149"/>
          <p:cNvSpPr txBox="1"/>
          <p:nvPr/>
        </p:nvSpPr>
        <p:spPr>
          <a:xfrm>
            <a:off x="2493736" y="2105025"/>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9388" name="Google Shape;9388;p149"/>
          <p:cNvSpPr txBox="1"/>
          <p:nvPr/>
        </p:nvSpPr>
        <p:spPr>
          <a:xfrm>
            <a:off x="930389" y="3827462"/>
            <a:ext cx="10318069" cy="2854325"/>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ACK-only: always send ACK for correctly-received packet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1" i="0" lang="en-US" sz="2400" u="none" cap="none" strike="noStrike">
                <a:solidFill>
                  <a:srgbClr val="000000"/>
                </a:solidFill>
                <a:latin typeface="Courier New"/>
                <a:ea typeface="Courier New"/>
                <a:cs typeface="Courier New"/>
                <a:sym typeface="Courier New"/>
              </a:rPr>
              <a:t>expectedseqnum</a:t>
            </a:r>
            <a:endParaRPr b="1" i="0" sz="2400" u="none" cap="none" strike="noStrike">
              <a:solidFill>
                <a:srgbClr val="000000"/>
              </a:solidFill>
              <a:latin typeface="Courier New"/>
              <a:ea typeface="Courier New"/>
              <a:cs typeface="Courier New"/>
              <a:sym typeface="Courier New"/>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discard (don’t buffer): </a:t>
            </a:r>
            <a:r>
              <a:rPr b="0" i="1" lang="en-US" sz="2400" u="none" cap="none" strike="noStrike">
                <a:solidFill>
                  <a:srgbClr val="CC0000"/>
                </a:solidFill>
                <a:latin typeface="Calibri"/>
                <a:ea typeface="Calibri"/>
                <a:cs typeface="Calibri"/>
                <a:sym typeface="Calibri"/>
              </a:rPr>
              <a:t>no receiver buffering!</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7"/>
                                        </p:tgtEl>
                                        <p:attrNameLst>
                                          <p:attrName>style.visibility</p:attrName>
                                        </p:attrNameLst>
                                      </p:cBhvr>
                                      <p:to>
                                        <p:strVal val="visible"/>
                                      </p:to>
                                    </p:set>
                                    <p:animEffect filter="fade" transition="in">
                                      <p:cBhvr>
                                        <p:cTn dur="500"/>
                                        <p:tgtEl>
                                          <p:spTgt spid="93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9"/>
                                        </p:tgtEl>
                                        <p:attrNameLst>
                                          <p:attrName>style.visibility</p:attrName>
                                        </p:attrNameLst>
                                      </p:cBhvr>
                                      <p:to>
                                        <p:strVal val="visible"/>
                                      </p:to>
                                    </p:set>
                                    <p:animEffect filter="fade" transition="in">
                                      <p:cBhvr>
                                        <p:cTn dur="500"/>
                                        <p:tgtEl>
                                          <p:spTgt spid="9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80"/>
                                        </p:tgtEl>
                                        <p:attrNameLst>
                                          <p:attrName>style.visibility</p:attrName>
                                        </p:attrNameLst>
                                      </p:cBhvr>
                                      <p:to>
                                        <p:strVal val="visible"/>
                                      </p:to>
                                    </p:set>
                                    <p:animEffect filter="fade" transition="in">
                                      <p:cBhvr>
                                        <p:cTn dur="500"/>
                                        <p:tgtEl>
                                          <p:spTgt spid="9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3" name="Shape 9393"/>
        <p:cNvGrpSpPr/>
        <p:nvPr/>
      </p:nvGrpSpPr>
      <p:grpSpPr>
        <a:xfrm>
          <a:off x="0" y="0"/>
          <a:ext cx="0" cy="0"/>
          <a:chOff x="0" y="0"/>
          <a:chExt cx="0" cy="0"/>
        </a:xfrm>
      </p:grpSpPr>
      <p:sp>
        <p:nvSpPr>
          <p:cNvPr id="9394" name="Google Shape;9394;p15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sender </a:t>
            </a:r>
            <a:r>
              <a:rPr lang="en-US"/>
              <a:t>(simplified)</a:t>
            </a:r>
            <a:endParaRPr b="0" sz="4400"/>
          </a:p>
        </p:txBody>
      </p:sp>
      <p:sp>
        <p:nvSpPr>
          <p:cNvPr id="9395" name="Google Shape;9395;p1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9396" name="Google Shape;9396;p150"/>
          <p:cNvSpPr/>
          <p:nvPr/>
        </p:nvSpPr>
        <p:spPr>
          <a:xfrm>
            <a:off x="5099050" y="2604687"/>
            <a:ext cx="1071562" cy="97155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97" name="Google Shape;9397;p150"/>
          <p:cNvSpPr/>
          <p:nvPr/>
        </p:nvSpPr>
        <p:spPr>
          <a:xfrm>
            <a:off x="5024437" y="2652312"/>
            <a:ext cx="1071563" cy="97155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98" name="Google Shape;9398;p150"/>
          <p:cNvSpPr txBox="1"/>
          <p:nvPr/>
        </p:nvSpPr>
        <p:spPr>
          <a:xfrm>
            <a:off x="5108563" y="2655487"/>
            <a:ext cx="889025" cy="986104"/>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wait</a:t>
            </a:r>
            <a:endParaRPr/>
          </a:p>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for </a:t>
            </a:r>
            <a:endParaRPr/>
          </a:p>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event</a:t>
            </a:r>
            <a:endParaRPr b="0" i="0" sz="1800" u="none" cap="none" strike="noStrike">
              <a:solidFill>
                <a:srgbClr val="000000"/>
              </a:solidFill>
              <a:latin typeface="Calibri"/>
              <a:ea typeface="Calibri"/>
              <a:cs typeface="Calibri"/>
              <a:sym typeface="Calibri"/>
            </a:endParaRPr>
          </a:p>
        </p:txBody>
      </p:sp>
      <p:cxnSp>
        <p:nvCxnSpPr>
          <p:cNvPr id="9399" name="Google Shape;9399;p150"/>
          <p:cNvCxnSpPr/>
          <p:nvPr/>
        </p:nvCxnSpPr>
        <p:spPr>
          <a:xfrm>
            <a:off x="4057650" y="2122087"/>
            <a:ext cx="1071562" cy="688975"/>
          </a:xfrm>
          <a:prstGeom prst="straightConnector1">
            <a:avLst/>
          </a:prstGeom>
          <a:noFill/>
          <a:ln cap="flat" cmpd="sng" w="9525">
            <a:solidFill>
              <a:srgbClr val="000000"/>
            </a:solidFill>
            <a:prstDash val="dash"/>
            <a:round/>
            <a:headEnd len="med" w="med" type="none"/>
            <a:tailEnd len="med" w="med" type="triangle"/>
          </a:ln>
        </p:spPr>
      </p:cxnSp>
      <p:sp>
        <p:nvSpPr>
          <p:cNvPr id="9400" name="Google Shape;9400;p150"/>
          <p:cNvSpPr txBox="1"/>
          <p:nvPr/>
        </p:nvSpPr>
        <p:spPr>
          <a:xfrm>
            <a:off x="2516187" y="2749150"/>
            <a:ext cx="25463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NextSeqNum = InitialSeqNum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SendBase = InitialSeqNum</a:t>
            </a:r>
            <a:endParaRPr/>
          </a:p>
        </p:txBody>
      </p:sp>
      <p:cxnSp>
        <p:nvCxnSpPr>
          <p:cNvPr id="9401" name="Google Shape;9401;p150"/>
          <p:cNvCxnSpPr/>
          <p:nvPr/>
        </p:nvCxnSpPr>
        <p:spPr>
          <a:xfrm>
            <a:off x="2619375" y="2763437"/>
            <a:ext cx="2179637" cy="0"/>
          </a:xfrm>
          <a:prstGeom prst="straightConnector1">
            <a:avLst/>
          </a:prstGeom>
          <a:noFill/>
          <a:ln cap="flat" cmpd="sng" w="9525">
            <a:solidFill>
              <a:srgbClr val="000000"/>
            </a:solidFill>
            <a:prstDash val="solid"/>
            <a:round/>
            <a:headEnd len="med" w="med" type="none"/>
            <a:tailEnd len="med" w="med" type="none"/>
          </a:ln>
        </p:spPr>
      </p:cxnSp>
      <p:sp>
        <p:nvSpPr>
          <p:cNvPr id="9402" name="Google Shape;9402;p150"/>
          <p:cNvSpPr txBox="1"/>
          <p:nvPr/>
        </p:nvSpPr>
        <p:spPr>
          <a:xfrm>
            <a:off x="3489325" y="2445937"/>
            <a:ext cx="34131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Noto Sans Symbols"/>
                <a:ea typeface="Noto Sans Symbols"/>
                <a:cs typeface="Noto Sans Symbols"/>
                <a:sym typeface="Noto Sans Symbols"/>
              </a:rPr>
              <a:t>Λ</a:t>
            </a:r>
            <a:endParaRPr/>
          </a:p>
        </p:txBody>
      </p:sp>
      <p:grpSp>
        <p:nvGrpSpPr>
          <p:cNvPr id="9403" name="Google Shape;9403;p150"/>
          <p:cNvGrpSpPr/>
          <p:nvPr/>
        </p:nvGrpSpPr>
        <p:grpSpPr>
          <a:xfrm>
            <a:off x="7007225" y="3280962"/>
            <a:ext cx="3298825" cy="1147763"/>
            <a:chOff x="1270" y="3518"/>
            <a:chExt cx="2078" cy="723"/>
          </a:xfrm>
        </p:grpSpPr>
        <p:sp>
          <p:nvSpPr>
            <p:cNvPr id="9404" name="Google Shape;9404;p150"/>
            <p:cNvSpPr txBox="1"/>
            <p:nvPr/>
          </p:nvSpPr>
          <p:spPr>
            <a:xfrm>
              <a:off x="1275" y="3721"/>
              <a:ext cx="2073" cy="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 not-yet-acked segment         	with smallest seq. #</a:t>
              </a:r>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start timer</a:t>
              </a:r>
              <a:endParaRPr/>
            </a:p>
          </p:txBody>
        </p:sp>
        <p:sp>
          <p:nvSpPr>
            <p:cNvPr id="9405" name="Google Shape;9405;p150"/>
            <p:cNvSpPr txBox="1"/>
            <p:nvPr/>
          </p:nvSpPr>
          <p:spPr>
            <a:xfrm>
              <a:off x="1270" y="3518"/>
              <a:ext cx="547"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timeout</a:t>
              </a:r>
              <a:endParaRPr/>
            </a:p>
          </p:txBody>
        </p:sp>
        <p:cxnSp>
          <p:nvCxnSpPr>
            <p:cNvPr id="9406" name="Google Shape;9406;p150"/>
            <p:cNvCxnSpPr/>
            <p:nvPr/>
          </p:nvCxnSpPr>
          <p:spPr>
            <a:xfrm>
              <a:off x="1342" y="3741"/>
              <a:ext cx="1881" cy="0"/>
            </a:xfrm>
            <a:prstGeom prst="straightConnector1">
              <a:avLst/>
            </a:prstGeom>
            <a:noFill/>
            <a:ln cap="flat" cmpd="sng" w="9525">
              <a:solidFill>
                <a:srgbClr val="000000"/>
              </a:solidFill>
              <a:prstDash val="solid"/>
              <a:round/>
              <a:headEnd len="med" w="med" type="none"/>
              <a:tailEnd len="med" w="med" type="none"/>
            </a:ln>
          </p:spPr>
        </p:cxnSp>
      </p:grpSp>
      <p:grpSp>
        <p:nvGrpSpPr>
          <p:cNvPr id="9407" name="Google Shape;9407;p150"/>
          <p:cNvGrpSpPr/>
          <p:nvPr/>
        </p:nvGrpSpPr>
        <p:grpSpPr>
          <a:xfrm>
            <a:off x="3154362" y="4387450"/>
            <a:ext cx="4703763" cy="2181225"/>
            <a:chOff x="678" y="2592"/>
            <a:chExt cx="2963" cy="1374"/>
          </a:xfrm>
        </p:grpSpPr>
        <p:sp>
          <p:nvSpPr>
            <p:cNvPr id="9408" name="Google Shape;9408;p150"/>
            <p:cNvSpPr txBox="1"/>
            <p:nvPr/>
          </p:nvSpPr>
          <p:spPr>
            <a:xfrm>
              <a:off x="678" y="2830"/>
              <a:ext cx="2963" cy="11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if (y &gt; SendBase)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SendBase = y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 SendBase–1: last cumulatively ACKed byte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if (there are currently not-yet-acked segments)</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start timer</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else stop timer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 </a:t>
              </a:r>
              <a:endParaRPr/>
            </a:p>
          </p:txBody>
        </p:sp>
        <p:sp>
          <p:nvSpPr>
            <p:cNvPr id="9409" name="Google Shape;9409;p150"/>
            <p:cNvSpPr txBox="1"/>
            <p:nvPr/>
          </p:nvSpPr>
          <p:spPr>
            <a:xfrm>
              <a:off x="705" y="2592"/>
              <a:ext cx="220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 received, with ACK field value y </a:t>
              </a:r>
              <a:endParaRPr/>
            </a:p>
          </p:txBody>
        </p:sp>
        <p:cxnSp>
          <p:nvCxnSpPr>
            <p:cNvPr id="9410" name="Google Shape;9410;p150"/>
            <p:cNvCxnSpPr/>
            <p:nvPr/>
          </p:nvCxnSpPr>
          <p:spPr>
            <a:xfrm>
              <a:off x="748" y="2815"/>
              <a:ext cx="2078" cy="0"/>
            </a:xfrm>
            <a:prstGeom prst="straightConnector1">
              <a:avLst/>
            </a:prstGeom>
            <a:noFill/>
            <a:ln cap="flat" cmpd="sng" w="9525">
              <a:solidFill>
                <a:srgbClr val="000000"/>
              </a:solidFill>
              <a:prstDash val="solid"/>
              <a:round/>
              <a:headEnd len="med" w="med" type="none"/>
              <a:tailEnd len="med" w="med" type="none"/>
            </a:ln>
          </p:spPr>
        </p:cxnSp>
      </p:grpSp>
      <p:grpSp>
        <p:nvGrpSpPr>
          <p:cNvPr id="9411" name="Google Shape;9411;p150"/>
          <p:cNvGrpSpPr/>
          <p:nvPr/>
        </p:nvGrpSpPr>
        <p:grpSpPr>
          <a:xfrm>
            <a:off x="5851525" y="1207687"/>
            <a:ext cx="5207000" cy="1928813"/>
            <a:chOff x="5851525" y="1207687"/>
            <a:chExt cx="5207000" cy="1928813"/>
          </a:xfrm>
        </p:grpSpPr>
        <p:grpSp>
          <p:nvGrpSpPr>
            <p:cNvPr id="9412" name="Google Shape;9412;p150"/>
            <p:cNvGrpSpPr/>
            <p:nvPr/>
          </p:nvGrpSpPr>
          <p:grpSpPr>
            <a:xfrm>
              <a:off x="6807200" y="1207687"/>
              <a:ext cx="4251325" cy="1928813"/>
              <a:chOff x="3003" y="1263"/>
              <a:chExt cx="2678" cy="1215"/>
            </a:xfrm>
          </p:grpSpPr>
          <p:sp>
            <p:nvSpPr>
              <p:cNvPr id="9413" name="Google Shape;9413;p150"/>
              <p:cNvSpPr txBox="1"/>
              <p:nvPr/>
            </p:nvSpPr>
            <p:spPr>
              <a:xfrm>
                <a:off x="3019" y="1456"/>
                <a:ext cx="2662" cy="1022"/>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create segment, seq. #: NextSeqNum</a:t>
                </a:r>
                <a:endParaRPr b="0" i="0" sz="1600" u="none" cap="none" strike="noStrike">
                  <a:solidFill>
                    <a:srgbClr val="000000"/>
                  </a:solidFill>
                  <a:latin typeface="Tahoma"/>
                  <a:ea typeface="Tahoma"/>
                  <a:cs typeface="Tahoma"/>
                  <a:sym typeface="Tahoma"/>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pass segment to IP (i.e., “send”)</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NextSeqNum = NextSeqNum + length(data) </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if (timer currently not running)</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start timer</a:t>
                </a:r>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a:p>
            </p:txBody>
          </p:sp>
          <p:sp>
            <p:nvSpPr>
              <p:cNvPr id="9414" name="Google Shape;9414;p150"/>
              <p:cNvSpPr txBox="1"/>
              <p:nvPr/>
            </p:nvSpPr>
            <p:spPr>
              <a:xfrm>
                <a:off x="3003" y="1263"/>
                <a:ext cx="2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 received from application above</a:t>
                </a:r>
                <a:endParaRPr/>
              </a:p>
            </p:txBody>
          </p:sp>
          <p:cxnSp>
            <p:nvCxnSpPr>
              <p:cNvPr id="9415" name="Google Shape;9415;p150"/>
              <p:cNvCxnSpPr/>
              <p:nvPr/>
            </p:nvCxnSpPr>
            <p:spPr>
              <a:xfrm>
                <a:off x="3081" y="1490"/>
                <a:ext cx="1743" cy="0"/>
              </a:xfrm>
              <a:prstGeom prst="straightConnector1">
                <a:avLst/>
              </a:prstGeom>
              <a:noFill/>
              <a:ln cap="flat" cmpd="sng" w="9525">
                <a:solidFill>
                  <a:srgbClr val="000000"/>
                </a:solidFill>
                <a:prstDash val="solid"/>
                <a:round/>
                <a:headEnd len="med" w="med" type="none"/>
                <a:tailEnd len="med" w="med" type="none"/>
              </a:ln>
            </p:spPr>
          </p:cxnSp>
        </p:grpSp>
        <p:sp>
          <p:nvSpPr>
            <p:cNvPr id="9416" name="Google Shape;9416;p150"/>
            <p:cNvSpPr/>
            <p:nvPr/>
          </p:nvSpPr>
          <p:spPr>
            <a:xfrm>
              <a:off x="5851525" y="1518837"/>
              <a:ext cx="1254125" cy="1258888"/>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17" name="Google Shape;9417;p150"/>
          <p:cNvSpPr/>
          <p:nvPr/>
        </p:nvSpPr>
        <p:spPr>
          <a:xfrm rot="4468137">
            <a:off x="6174581" y="2991244"/>
            <a:ext cx="1254125" cy="1258887"/>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18" name="Google Shape;9418;p150"/>
          <p:cNvSpPr/>
          <p:nvPr/>
        </p:nvSpPr>
        <p:spPr>
          <a:xfrm rot="10674503">
            <a:off x="4116387" y="3490512"/>
            <a:ext cx="1254125" cy="1258888"/>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1"/>
                                        </p:tgtEl>
                                        <p:attrNameLst>
                                          <p:attrName>style.visibility</p:attrName>
                                        </p:attrNameLst>
                                      </p:cBhvr>
                                      <p:to>
                                        <p:strVal val="visible"/>
                                      </p:to>
                                    </p:set>
                                    <p:animEffect filter="fade" transition="in">
                                      <p:cBhvr>
                                        <p:cTn dur="500"/>
                                        <p:tgtEl>
                                          <p:spTgt spid="9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3"/>
                                        </p:tgtEl>
                                        <p:attrNameLst>
                                          <p:attrName>style.visibility</p:attrName>
                                        </p:attrNameLst>
                                      </p:cBhvr>
                                      <p:to>
                                        <p:strVal val="visible"/>
                                      </p:to>
                                    </p:set>
                                    <p:animEffect filter="fade" transition="in">
                                      <p:cBhvr>
                                        <p:cTn dur="500"/>
                                        <p:tgtEl>
                                          <p:spTgt spid="9403"/>
                                        </p:tgtEl>
                                      </p:cBhvr>
                                    </p:animEffect>
                                  </p:childTnLst>
                                </p:cTn>
                              </p:par>
                              <p:par>
                                <p:cTn fill="hold" nodeType="withEffect" presetClass="entr" presetID="10" presetSubtype="0">
                                  <p:stCondLst>
                                    <p:cond delay="0"/>
                                  </p:stCondLst>
                                  <p:childTnLst>
                                    <p:set>
                                      <p:cBhvr>
                                        <p:cTn dur="1" fill="hold">
                                          <p:stCondLst>
                                            <p:cond delay="0"/>
                                          </p:stCondLst>
                                        </p:cTn>
                                        <p:tgtEl>
                                          <p:spTgt spid="9417"/>
                                        </p:tgtEl>
                                        <p:attrNameLst>
                                          <p:attrName>style.visibility</p:attrName>
                                        </p:attrNameLst>
                                      </p:cBhvr>
                                      <p:to>
                                        <p:strVal val="visible"/>
                                      </p:to>
                                    </p:set>
                                    <p:animEffect filter="fade" transition="in">
                                      <p:cBhvr>
                                        <p:cTn dur="500"/>
                                        <p:tgtEl>
                                          <p:spTgt spid="9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8"/>
                                        </p:tgtEl>
                                        <p:attrNameLst>
                                          <p:attrName>style.visibility</p:attrName>
                                        </p:attrNameLst>
                                      </p:cBhvr>
                                      <p:to>
                                        <p:strVal val="visible"/>
                                      </p:to>
                                    </p:set>
                                    <p:animEffect filter="fade" transition="in">
                                      <p:cBhvr>
                                        <p:cTn dur="500"/>
                                        <p:tgtEl>
                                          <p:spTgt spid="9418"/>
                                        </p:tgtEl>
                                      </p:cBhvr>
                                    </p:animEffect>
                                  </p:childTnLst>
                                </p:cTn>
                              </p:par>
                              <p:par>
                                <p:cTn fill="hold" nodeType="withEffect" presetClass="entr" presetID="10" presetSubtype="0">
                                  <p:stCondLst>
                                    <p:cond delay="0"/>
                                  </p:stCondLst>
                                  <p:childTnLst>
                                    <p:set>
                                      <p:cBhvr>
                                        <p:cTn dur="1" fill="hold">
                                          <p:stCondLst>
                                            <p:cond delay="0"/>
                                          </p:stCondLst>
                                        </p:cTn>
                                        <p:tgtEl>
                                          <p:spTgt spid="9407"/>
                                        </p:tgtEl>
                                        <p:attrNameLst>
                                          <p:attrName>style.visibility</p:attrName>
                                        </p:attrNameLst>
                                      </p:cBhvr>
                                      <p:to>
                                        <p:strVal val="visible"/>
                                      </p:to>
                                    </p:set>
                                    <p:animEffect filter="fade" transition="in">
                                      <p:cBhvr>
                                        <p:cTn dur="500"/>
                                        <p:tgtEl>
                                          <p:spTgt spid="9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3" name="Shape 9423"/>
        <p:cNvGrpSpPr/>
        <p:nvPr/>
      </p:nvGrpSpPr>
      <p:grpSpPr>
        <a:xfrm>
          <a:off x="0" y="0"/>
          <a:ext cx="0" cy="0"/>
          <a:chOff x="0" y="0"/>
          <a:chExt cx="0" cy="0"/>
        </a:xfrm>
      </p:grpSpPr>
      <p:sp>
        <p:nvSpPr>
          <p:cNvPr id="9424" name="Google Shape;9424;p15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 FSM</a:t>
            </a:r>
            <a:endParaRPr b="0" sz="4400"/>
          </a:p>
        </p:txBody>
      </p:sp>
      <p:sp>
        <p:nvSpPr>
          <p:cNvPr id="9425" name="Google Shape;9425;p1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9426" name="Google Shape;9426;p151"/>
          <p:cNvGrpSpPr/>
          <p:nvPr/>
        </p:nvGrpSpPr>
        <p:grpSpPr>
          <a:xfrm>
            <a:off x="4909203" y="1183947"/>
            <a:ext cx="876300" cy="827087"/>
            <a:chOff x="1778" y="1720"/>
            <a:chExt cx="722" cy="642"/>
          </a:xfrm>
        </p:grpSpPr>
        <p:sp>
          <p:nvSpPr>
            <p:cNvPr id="9427" name="Google Shape;9427;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28" name="Google Shape;9428;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29" name="Google Shape;9429;p151"/>
          <p:cNvSpPr txBox="1"/>
          <p:nvPr/>
        </p:nvSpPr>
        <p:spPr>
          <a:xfrm>
            <a:off x="4904440" y="1404609"/>
            <a:ext cx="8445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closed</a:t>
            </a:r>
            <a:endParaRPr/>
          </a:p>
        </p:txBody>
      </p:sp>
      <p:sp>
        <p:nvSpPr>
          <p:cNvPr id="9430" name="Google Shape;9430;p151"/>
          <p:cNvSpPr txBox="1"/>
          <p:nvPr/>
        </p:nvSpPr>
        <p:spPr>
          <a:xfrm>
            <a:off x="4326580" y="2451035"/>
            <a:ext cx="341313"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Noto Sans Symbols"/>
                <a:ea typeface="Noto Sans Symbols"/>
                <a:cs typeface="Noto Sans Symbols"/>
                <a:sym typeface="Noto Sans Symbols"/>
              </a:rPr>
              <a:t>Λ</a:t>
            </a:r>
            <a:endParaRPr/>
          </a:p>
        </p:txBody>
      </p:sp>
      <p:grpSp>
        <p:nvGrpSpPr>
          <p:cNvPr id="9431" name="Google Shape;9431;p151"/>
          <p:cNvGrpSpPr/>
          <p:nvPr/>
        </p:nvGrpSpPr>
        <p:grpSpPr>
          <a:xfrm>
            <a:off x="4876204" y="3541092"/>
            <a:ext cx="876300" cy="827088"/>
            <a:chOff x="1778" y="1720"/>
            <a:chExt cx="722" cy="642"/>
          </a:xfrm>
        </p:grpSpPr>
        <p:sp>
          <p:nvSpPr>
            <p:cNvPr id="9432" name="Google Shape;9432;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33" name="Google Shape;9433;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34" name="Google Shape;9434;p151"/>
          <p:cNvSpPr txBox="1"/>
          <p:nvPr/>
        </p:nvSpPr>
        <p:spPr>
          <a:xfrm>
            <a:off x="4934941" y="3761755"/>
            <a:ext cx="7175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listen</a:t>
            </a:r>
            <a:endParaRPr/>
          </a:p>
        </p:txBody>
      </p:sp>
      <p:grpSp>
        <p:nvGrpSpPr>
          <p:cNvPr id="9435" name="Google Shape;9435;p151"/>
          <p:cNvGrpSpPr/>
          <p:nvPr/>
        </p:nvGrpSpPr>
        <p:grpSpPr>
          <a:xfrm>
            <a:off x="2780646" y="4286295"/>
            <a:ext cx="876300" cy="827087"/>
            <a:chOff x="1778" y="1720"/>
            <a:chExt cx="722" cy="642"/>
          </a:xfrm>
        </p:grpSpPr>
        <p:sp>
          <p:nvSpPr>
            <p:cNvPr id="9436" name="Google Shape;9436;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37" name="Google Shape;9437;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38" name="Google Shape;9438;p151"/>
          <p:cNvSpPr txBox="1"/>
          <p:nvPr/>
        </p:nvSpPr>
        <p:spPr>
          <a:xfrm>
            <a:off x="2871133" y="4484732"/>
            <a:ext cx="654050"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SYN</a:t>
            </a:r>
            <a:endParaRPr/>
          </a:p>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rcvd</a:t>
            </a:r>
            <a:endParaRPr/>
          </a:p>
        </p:txBody>
      </p:sp>
      <p:grpSp>
        <p:nvGrpSpPr>
          <p:cNvPr id="9439" name="Google Shape;9439;p151"/>
          <p:cNvGrpSpPr/>
          <p:nvPr/>
        </p:nvGrpSpPr>
        <p:grpSpPr>
          <a:xfrm>
            <a:off x="6337953" y="4127172"/>
            <a:ext cx="876300" cy="827087"/>
            <a:chOff x="1778" y="1720"/>
            <a:chExt cx="722" cy="642"/>
          </a:xfrm>
        </p:grpSpPr>
        <p:sp>
          <p:nvSpPr>
            <p:cNvPr id="9440" name="Google Shape;9440;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41" name="Google Shape;9441;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42" name="Google Shape;9442;p151"/>
          <p:cNvSpPr txBox="1"/>
          <p:nvPr/>
        </p:nvSpPr>
        <p:spPr>
          <a:xfrm>
            <a:off x="6428440" y="4325609"/>
            <a:ext cx="654050"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SYN</a:t>
            </a:r>
            <a:endParaRPr/>
          </a:p>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sent</a:t>
            </a:r>
            <a:endParaRPr/>
          </a:p>
        </p:txBody>
      </p:sp>
      <p:grpSp>
        <p:nvGrpSpPr>
          <p:cNvPr id="9443" name="Google Shape;9443;p151"/>
          <p:cNvGrpSpPr/>
          <p:nvPr/>
        </p:nvGrpSpPr>
        <p:grpSpPr>
          <a:xfrm>
            <a:off x="4904440" y="4998709"/>
            <a:ext cx="876300" cy="827088"/>
            <a:chOff x="1778" y="1720"/>
            <a:chExt cx="722" cy="642"/>
          </a:xfrm>
        </p:grpSpPr>
        <p:sp>
          <p:nvSpPr>
            <p:cNvPr id="9444" name="Google Shape;9444;p151"/>
            <p:cNvSpPr/>
            <p:nvPr/>
          </p:nvSpPr>
          <p:spPr>
            <a:xfrm>
              <a:off x="1825" y="1720"/>
              <a:ext cx="675" cy="612"/>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45" name="Google Shape;9445;p151"/>
            <p:cNvSpPr/>
            <p:nvPr/>
          </p:nvSpPr>
          <p:spPr>
            <a:xfrm>
              <a:off x="1778" y="1750"/>
              <a:ext cx="675" cy="612"/>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446" name="Google Shape;9446;p151"/>
          <p:cNvSpPr txBox="1"/>
          <p:nvPr/>
        </p:nvSpPr>
        <p:spPr>
          <a:xfrm>
            <a:off x="4866340" y="5286047"/>
            <a:ext cx="933450" cy="31115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ESTAB</a:t>
            </a:r>
            <a:endParaRPr/>
          </a:p>
        </p:txBody>
      </p:sp>
      <p:sp>
        <p:nvSpPr>
          <p:cNvPr id="9447" name="Google Shape;9447;p151"/>
          <p:cNvSpPr txBox="1"/>
          <p:nvPr/>
        </p:nvSpPr>
        <p:spPr>
          <a:xfrm>
            <a:off x="6715778" y="2476652"/>
            <a:ext cx="5534025"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clientSocket =   </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  newSocket("hostname","port number");</a:t>
            </a:r>
            <a:endParaRPr/>
          </a:p>
        </p:txBody>
      </p:sp>
      <p:cxnSp>
        <p:nvCxnSpPr>
          <p:cNvPr id="9448" name="Google Shape;9448;p151"/>
          <p:cNvCxnSpPr/>
          <p:nvPr/>
        </p:nvCxnSpPr>
        <p:spPr>
          <a:xfrm>
            <a:off x="6953903" y="3152854"/>
            <a:ext cx="3938215" cy="0"/>
          </a:xfrm>
          <a:prstGeom prst="straightConnector1">
            <a:avLst/>
          </a:prstGeom>
          <a:noFill/>
          <a:ln cap="flat" cmpd="sng" w="9525">
            <a:solidFill>
              <a:srgbClr val="000000"/>
            </a:solidFill>
            <a:prstDash val="solid"/>
            <a:round/>
            <a:headEnd len="med" w="med" type="none"/>
            <a:tailEnd len="med" w="med" type="none"/>
          </a:ln>
        </p:spPr>
      </p:cxnSp>
      <p:sp>
        <p:nvSpPr>
          <p:cNvPr id="9449" name="Google Shape;9449;p151"/>
          <p:cNvSpPr txBox="1"/>
          <p:nvPr/>
        </p:nvSpPr>
        <p:spPr>
          <a:xfrm>
            <a:off x="8067650" y="3204367"/>
            <a:ext cx="141096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SYN(seq=x)</a:t>
            </a:r>
            <a:endParaRPr/>
          </a:p>
        </p:txBody>
      </p:sp>
      <p:sp>
        <p:nvSpPr>
          <p:cNvPr id="9450" name="Google Shape;9450;p151"/>
          <p:cNvSpPr/>
          <p:nvPr/>
        </p:nvSpPr>
        <p:spPr>
          <a:xfrm>
            <a:off x="5801378" y="1664959"/>
            <a:ext cx="914400" cy="2384425"/>
          </a:xfrm>
          <a:custGeom>
            <a:rect b="b" l="l" r="r" t="t"/>
            <a:pathLst>
              <a:path extrusionOk="0" h="1138" w="576">
                <a:moveTo>
                  <a:pt x="0" y="0"/>
                </a:moveTo>
                <a:lnTo>
                  <a:pt x="576" y="0"/>
                </a:lnTo>
                <a:lnTo>
                  <a:pt x="576" y="1138"/>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9451" name="Google Shape;9451;p151"/>
          <p:cNvCxnSpPr/>
          <p:nvPr/>
        </p:nvCxnSpPr>
        <p:spPr>
          <a:xfrm>
            <a:off x="5293378" y="2071358"/>
            <a:ext cx="0" cy="1469734"/>
          </a:xfrm>
          <a:prstGeom prst="straightConnector1">
            <a:avLst/>
          </a:prstGeom>
          <a:noFill/>
          <a:ln cap="flat" cmpd="sng" w="9525">
            <a:solidFill>
              <a:srgbClr val="000000"/>
            </a:solidFill>
            <a:prstDash val="solid"/>
            <a:round/>
            <a:headEnd len="med" w="med" type="none"/>
            <a:tailEnd len="med" w="med" type="triangle"/>
          </a:ln>
        </p:spPr>
      </p:cxnSp>
      <p:sp>
        <p:nvSpPr>
          <p:cNvPr id="9452" name="Google Shape;9452;p151"/>
          <p:cNvSpPr txBox="1"/>
          <p:nvPr/>
        </p:nvSpPr>
        <p:spPr>
          <a:xfrm>
            <a:off x="1312394" y="1852065"/>
            <a:ext cx="4192353"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connectionSocket = welcomeSocket.accept();</a:t>
            </a:r>
            <a:endParaRPr/>
          </a:p>
        </p:txBody>
      </p:sp>
      <p:cxnSp>
        <p:nvCxnSpPr>
          <p:cNvPr id="9453" name="Google Shape;9453;p151"/>
          <p:cNvCxnSpPr/>
          <p:nvPr/>
        </p:nvCxnSpPr>
        <p:spPr>
          <a:xfrm>
            <a:off x="1574741" y="2476652"/>
            <a:ext cx="3154456" cy="0"/>
          </a:xfrm>
          <a:prstGeom prst="straightConnector1">
            <a:avLst/>
          </a:prstGeom>
          <a:noFill/>
          <a:ln cap="flat" cmpd="sng" w="9525">
            <a:solidFill>
              <a:srgbClr val="000000"/>
            </a:solidFill>
            <a:prstDash val="solid"/>
            <a:round/>
            <a:headEnd len="med" w="med" type="none"/>
            <a:tailEnd len="med" w="med" type="none"/>
          </a:ln>
        </p:spPr>
      </p:cxnSp>
      <p:sp>
        <p:nvSpPr>
          <p:cNvPr id="9454" name="Google Shape;9454;p151"/>
          <p:cNvSpPr/>
          <p:nvPr/>
        </p:nvSpPr>
        <p:spPr>
          <a:xfrm>
            <a:off x="3187433" y="3972565"/>
            <a:ext cx="1579563" cy="283385"/>
          </a:xfrm>
          <a:custGeom>
            <a:rect b="b" l="l" r="r" t="t"/>
            <a:pathLst>
              <a:path extrusionOk="0" h="235" w="1123">
                <a:moveTo>
                  <a:pt x="1123" y="0"/>
                </a:moveTo>
                <a:lnTo>
                  <a:pt x="0" y="0"/>
                </a:lnTo>
                <a:lnTo>
                  <a:pt x="0" y="235"/>
                </a:lnTo>
              </a:path>
            </a:pathLst>
          </a:custGeom>
          <a:noFill/>
          <a:ln cap="flat" cmpd="sng" w="9525">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55" name="Google Shape;9455;p151"/>
          <p:cNvSpPr txBox="1"/>
          <p:nvPr/>
        </p:nvSpPr>
        <p:spPr>
          <a:xfrm>
            <a:off x="2635196" y="2905517"/>
            <a:ext cx="88998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SYN(x)</a:t>
            </a:r>
            <a:endParaRPr/>
          </a:p>
        </p:txBody>
      </p:sp>
      <p:cxnSp>
        <p:nvCxnSpPr>
          <p:cNvPr id="9456" name="Google Shape;9456;p151"/>
          <p:cNvCxnSpPr/>
          <p:nvPr/>
        </p:nvCxnSpPr>
        <p:spPr>
          <a:xfrm>
            <a:off x="2138008" y="3267740"/>
            <a:ext cx="1965325" cy="0"/>
          </a:xfrm>
          <a:prstGeom prst="straightConnector1">
            <a:avLst/>
          </a:prstGeom>
          <a:noFill/>
          <a:ln cap="flat" cmpd="sng" w="9525">
            <a:solidFill>
              <a:srgbClr val="000000"/>
            </a:solidFill>
            <a:prstDash val="solid"/>
            <a:round/>
            <a:headEnd len="med" w="med" type="none"/>
            <a:tailEnd len="med" w="med" type="none"/>
          </a:ln>
        </p:spPr>
      </p:cxnSp>
      <p:sp>
        <p:nvSpPr>
          <p:cNvPr id="9457" name="Google Shape;9457;p151"/>
          <p:cNvSpPr txBox="1"/>
          <p:nvPr/>
        </p:nvSpPr>
        <p:spPr>
          <a:xfrm>
            <a:off x="1312394" y="3064442"/>
            <a:ext cx="3442821" cy="940257"/>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Tahoma"/>
              <a:ea typeface="Tahoma"/>
              <a:cs typeface="Tahoma"/>
              <a:sym typeface="Tahoma"/>
            </a:endParaRPr>
          </a:p>
          <a:p>
            <a:pPr indent="0" lvl="0" marL="0" marR="0" rtl="0" algn="ctr">
              <a:lnSpc>
                <a:spcPct val="90000"/>
              </a:lnSpc>
              <a:spcBef>
                <a:spcPts val="30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SYNACK(seq=y,ACKnum=x+1)</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create new socket for communication back to client</a:t>
            </a:r>
            <a:endParaRPr/>
          </a:p>
        </p:txBody>
      </p:sp>
      <p:sp>
        <p:nvSpPr>
          <p:cNvPr id="9458" name="Google Shape;9458;p151"/>
          <p:cNvSpPr/>
          <p:nvPr/>
        </p:nvSpPr>
        <p:spPr>
          <a:xfrm flipH="1" rot="10800000">
            <a:off x="3187433" y="5174744"/>
            <a:ext cx="1656682" cy="212901"/>
          </a:xfrm>
          <a:custGeom>
            <a:rect b="b" l="l" r="r" t="t"/>
            <a:pathLst>
              <a:path extrusionOk="0" h="235" w="1123">
                <a:moveTo>
                  <a:pt x="1123" y="0"/>
                </a:moveTo>
                <a:lnTo>
                  <a:pt x="0" y="0"/>
                </a:lnTo>
                <a:lnTo>
                  <a:pt x="0" y="235"/>
                </a:lnTo>
              </a:path>
            </a:pathLst>
          </a:custGeom>
          <a:noFill/>
          <a:ln cap="flat" cmpd="sng" w="952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59" name="Google Shape;9459;p151"/>
          <p:cNvSpPr/>
          <p:nvPr/>
        </p:nvSpPr>
        <p:spPr>
          <a:xfrm rot="10800000">
            <a:off x="5831540" y="5032047"/>
            <a:ext cx="947738" cy="373062"/>
          </a:xfrm>
          <a:custGeom>
            <a:rect b="b" l="l" r="r" t="t"/>
            <a:pathLst>
              <a:path extrusionOk="0" h="235" w="1123">
                <a:moveTo>
                  <a:pt x="1123" y="0"/>
                </a:moveTo>
                <a:lnTo>
                  <a:pt x="0" y="0"/>
                </a:lnTo>
                <a:lnTo>
                  <a:pt x="0" y="235"/>
                </a:lnTo>
              </a:path>
            </a:pathLst>
          </a:custGeom>
          <a:noFill/>
          <a:ln cap="flat" cmpd="sng" w="952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460" name="Google Shape;9460;p151"/>
          <p:cNvGrpSpPr/>
          <p:nvPr/>
        </p:nvGrpSpPr>
        <p:grpSpPr>
          <a:xfrm>
            <a:off x="6804625" y="4883585"/>
            <a:ext cx="3334567" cy="1077738"/>
            <a:chOff x="7127280" y="4908222"/>
            <a:chExt cx="3334567" cy="1077738"/>
          </a:xfrm>
        </p:grpSpPr>
        <p:sp>
          <p:nvSpPr>
            <p:cNvPr id="9461" name="Google Shape;9461;p151"/>
            <p:cNvSpPr txBox="1"/>
            <p:nvPr/>
          </p:nvSpPr>
          <p:spPr>
            <a:xfrm>
              <a:off x="7127280" y="4908222"/>
              <a:ext cx="3334567" cy="76020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a:p>
              <a:pPr indent="0" lvl="0" marL="0" marR="0" rtl="0" algn="ct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SYNACK(seq=y,ACKnum=x+1)</a:t>
              </a:r>
              <a:endParaRPr/>
            </a:p>
            <a:p>
              <a:pPr indent="0" lvl="0" marL="0" marR="0" rtl="0" algn="ctr">
                <a:lnSpc>
                  <a:spcPct val="9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9462" name="Google Shape;9462;p151"/>
            <p:cNvCxnSpPr/>
            <p:nvPr/>
          </p:nvCxnSpPr>
          <p:spPr>
            <a:xfrm>
              <a:off x="7272381" y="5430091"/>
              <a:ext cx="2528888" cy="0"/>
            </a:xfrm>
            <a:prstGeom prst="straightConnector1">
              <a:avLst/>
            </a:prstGeom>
            <a:noFill/>
            <a:ln cap="flat" cmpd="sng" w="9525">
              <a:solidFill>
                <a:srgbClr val="000000"/>
              </a:solidFill>
              <a:prstDash val="solid"/>
              <a:round/>
              <a:headEnd len="med" w="med" type="none"/>
              <a:tailEnd len="med" w="med" type="none"/>
            </a:ln>
          </p:spPr>
        </p:cxnSp>
        <p:sp>
          <p:nvSpPr>
            <p:cNvPr id="9463" name="Google Shape;9463;p151"/>
            <p:cNvSpPr txBox="1"/>
            <p:nvPr/>
          </p:nvSpPr>
          <p:spPr>
            <a:xfrm>
              <a:off x="7144177" y="5225752"/>
              <a:ext cx="2214068" cy="76020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a:p>
              <a:pPr indent="0" lvl="0" marL="0" marR="0" rtl="0" algn="ct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ACK(ACKnum=y+1)</a:t>
              </a:r>
              <a:endParaRPr/>
            </a:p>
            <a:p>
              <a:pPr indent="0" lvl="0" marL="0" marR="0" rtl="0" algn="ctr">
                <a:lnSpc>
                  <a:spcPct val="9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9464" name="Google Shape;9464;p151"/>
          <p:cNvGrpSpPr/>
          <p:nvPr/>
        </p:nvGrpSpPr>
        <p:grpSpPr>
          <a:xfrm>
            <a:off x="2515129" y="5328824"/>
            <a:ext cx="2214068" cy="798513"/>
            <a:chOff x="1893200" y="5293984"/>
            <a:chExt cx="2214068" cy="798513"/>
          </a:xfrm>
        </p:grpSpPr>
        <p:cxnSp>
          <p:nvCxnSpPr>
            <p:cNvPr id="9465" name="Google Shape;9465;p151"/>
            <p:cNvCxnSpPr/>
            <p:nvPr/>
          </p:nvCxnSpPr>
          <p:spPr>
            <a:xfrm>
              <a:off x="2067578" y="5760709"/>
              <a:ext cx="1965325" cy="0"/>
            </a:xfrm>
            <a:prstGeom prst="straightConnector1">
              <a:avLst/>
            </a:prstGeom>
            <a:noFill/>
            <a:ln cap="flat" cmpd="sng" w="9525">
              <a:solidFill>
                <a:srgbClr val="000000"/>
              </a:solidFill>
              <a:prstDash val="solid"/>
              <a:round/>
              <a:headEnd len="med" w="med" type="none"/>
              <a:tailEnd len="med" w="med" type="none"/>
            </a:ln>
          </p:spPr>
        </p:cxnSp>
        <p:sp>
          <p:nvSpPr>
            <p:cNvPr id="9466" name="Google Shape;9466;p151"/>
            <p:cNvSpPr txBox="1"/>
            <p:nvPr/>
          </p:nvSpPr>
          <p:spPr>
            <a:xfrm>
              <a:off x="1893200" y="5293984"/>
              <a:ext cx="2214068" cy="70788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1400"/>
                <a:buFont typeface="Tahoma"/>
                <a:buNone/>
              </a:pPr>
              <a:r>
                <a:t/>
              </a:r>
              <a:endParaRPr b="0" i="0" sz="1400" u="none" cap="none" strike="noStrike">
                <a:solidFill>
                  <a:srgbClr val="000000"/>
                </a:solidFill>
                <a:latin typeface="Tahoma"/>
                <a:ea typeface="Tahoma"/>
                <a:cs typeface="Tahoma"/>
                <a:sym typeface="Tahoma"/>
              </a:endParaRPr>
            </a:p>
            <a:p>
              <a:pPr indent="0" lvl="0" marL="0" marR="0" rtl="0" algn="ct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ACK(ACKnum=y+1)</a:t>
              </a:r>
              <a:endParaRPr/>
            </a:p>
            <a:p>
              <a:pPr indent="0" lvl="0" marL="0" marR="0" rtl="0" algn="ctr">
                <a:lnSpc>
                  <a:spcPct val="90000"/>
                </a:lnSpc>
                <a:spcBef>
                  <a:spcPts val="0"/>
                </a:spcBef>
                <a:spcAft>
                  <a:spcPts val="0"/>
                </a:spcAft>
                <a:buClr>
                  <a:schemeClr val="dk1"/>
                </a:buClr>
                <a:buSzPts val="1400"/>
                <a:buFont typeface="Tahoma"/>
                <a:buNone/>
              </a:pPr>
              <a:r>
                <a:t/>
              </a:r>
              <a:endParaRPr b="0" i="0" sz="1400" u="none" cap="none" strike="noStrike">
                <a:solidFill>
                  <a:srgbClr val="000000"/>
                </a:solidFill>
                <a:latin typeface="Tahoma"/>
                <a:ea typeface="Tahoma"/>
                <a:cs typeface="Tahoma"/>
                <a:sym typeface="Tahoma"/>
              </a:endParaRPr>
            </a:p>
          </p:txBody>
        </p:sp>
        <p:sp>
          <p:nvSpPr>
            <p:cNvPr id="9467" name="Google Shape;9467;p151"/>
            <p:cNvSpPr txBox="1"/>
            <p:nvPr/>
          </p:nvSpPr>
          <p:spPr>
            <a:xfrm>
              <a:off x="2778778" y="5725784"/>
              <a:ext cx="34131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Noto Sans Symbols"/>
                  <a:ea typeface="Noto Sans Symbols"/>
                  <a:cs typeface="Noto Sans Symbols"/>
                  <a:sym typeface="Noto Sans Symbols"/>
                </a:rPr>
                <a:t>Λ</a:t>
              </a:r>
              <a:endParaRPr/>
            </a:p>
          </p:txBody>
        </p:sp>
      </p:gr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2" name="Shape 9472"/>
        <p:cNvGrpSpPr/>
        <p:nvPr/>
      </p:nvGrpSpPr>
      <p:grpSpPr>
        <a:xfrm>
          <a:off x="0" y="0"/>
          <a:ext cx="0" cy="0"/>
          <a:chOff x="0" y="0"/>
          <a:chExt cx="0" cy="0"/>
        </a:xfrm>
      </p:grpSpPr>
      <p:sp>
        <p:nvSpPr>
          <p:cNvPr id="9473" name="Google Shape;9473;p1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9474" name="Google Shape;9474;p15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Closing a TCP connection</a:t>
            </a:r>
            <a:endParaRPr/>
          </a:p>
        </p:txBody>
      </p:sp>
      <p:cxnSp>
        <p:nvCxnSpPr>
          <p:cNvPr id="9475" name="Google Shape;9475;p152"/>
          <p:cNvCxnSpPr/>
          <p:nvPr/>
        </p:nvCxnSpPr>
        <p:spPr>
          <a:xfrm flipH="1">
            <a:off x="5341004" y="2059231"/>
            <a:ext cx="1587" cy="3948112"/>
          </a:xfrm>
          <a:prstGeom prst="straightConnector1">
            <a:avLst/>
          </a:prstGeom>
          <a:noFill/>
          <a:ln cap="flat" cmpd="sng" w="9525">
            <a:solidFill>
              <a:srgbClr val="777777"/>
            </a:solidFill>
            <a:prstDash val="solid"/>
            <a:round/>
            <a:headEnd len="med" w="med" type="none"/>
            <a:tailEnd len="med" w="med" type="none"/>
          </a:ln>
        </p:spPr>
      </p:cxnSp>
      <p:cxnSp>
        <p:nvCxnSpPr>
          <p:cNvPr id="9476" name="Google Shape;9476;p152"/>
          <p:cNvCxnSpPr/>
          <p:nvPr/>
        </p:nvCxnSpPr>
        <p:spPr>
          <a:xfrm flipH="1">
            <a:off x="7930216" y="2129081"/>
            <a:ext cx="1588" cy="3417887"/>
          </a:xfrm>
          <a:prstGeom prst="straightConnector1">
            <a:avLst/>
          </a:prstGeom>
          <a:noFill/>
          <a:ln cap="flat" cmpd="sng" w="9525">
            <a:solidFill>
              <a:srgbClr val="777777"/>
            </a:solidFill>
            <a:prstDash val="solid"/>
            <a:round/>
            <a:headEnd len="med" w="med" type="none"/>
            <a:tailEnd len="med" w="med" type="none"/>
          </a:ln>
        </p:spPr>
      </p:cxnSp>
      <p:grpSp>
        <p:nvGrpSpPr>
          <p:cNvPr id="9477" name="Google Shape;9477;p152"/>
          <p:cNvGrpSpPr/>
          <p:nvPr/>
        </p:nvGrpSpPr>
        <p:grpSpPr>
          <a:xfrm>
            <a:off x="2413654" y="2740268"/>
            <a:ext cx="1335087" cy="854075"/>
            <a:chOff x="343" y="1740"/>
            <a:chExt cx="841" cy="538"/>
          </a:xfrm>
        </p:grpSpPr>
        <p:sp>
          <p:nvSpPr>
            <p:cNvPr id="9478" name="Google Shape;9478;p152"/>
            <p:cNvSpPr txBox="1"/>
            <p:nvPr/>
          </p:nvSpPr>
          <p:spPr>
            <a:xfrm>
              <a:off x="343" y="2066"/>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FIN_WAIT_2</a:t>
              </a:r>
              <a:endParaRPr/>
            </a:p>
          </p:txBody>
        </p:sp>
        <p:cxnSp>
          <p:nvCxnSpPr>
            <p:cNvPr id="9479" name="Google Shape;9479;p152"/>
            <p:cNvCxnSpPr/>
            <p:nvPr/>
          </p:nvCxnSpPr>
          <p:spPr>
            <a:xfrm>
              <a:off x="634" y="1740"/>
              <a:ext cx="0" cy="356"/>
            </a:xfrm>
            <a:prstGeom prst="straightConnector1">
              <a:avLst/>
            </a:prstGeom>
            <a:noFill/>
            <a:ln cap="flat" cmpd="sng" w="9525">
              <a:solidFill>
                <a:srgbClr val="000000"/>
              </a:solidFill>
              <a:prstDash val="solid"/>
              <a:round/>
              <a:headEnd len="med" w="med" type="none"/>
              <a:tailEnd len="med" w="med" type="triangle"/>
            </a:ln>
          </p:spPr>
        </p:cxnSp>
      </p:grpSp>
      <p:grpSp>
        <p:nvGrpSpPr>
          <p:cNvPr id="9480" name="Google Shape;9480;p152"/>
          <p:cNvGrpSpPr/>
          <p:nvPr/>
        </p:nvGrpSpPr>
        <p:grpSpPr>
          <a:xfrm>
            <a:off x="9044641" y="2079868"/>
            <a:ext cx="1390650" cy="960438"/>
            <a:chOff x="4520" y="1324"/>
            <a:chExt cx="876" cy="605"/>
          </a:xfrm>
        </p:grpSpPr>
        <p:sp>
          <p:nvSpPr>
            <p:cNvPr id="9481" name="Google Shape;9481;p152"/>
            <p:cNvSpPr txBox="1"/>
            <p:nvPr/>
          </p:nvSpPr>
          <p:spPr>
            <a:xfrm>
              <a:off x="4520" y="1717"/>
              <a:ext cx="8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CLOSE_WAIT</a:t>
              </a:r>
              <a:endParaRPr/>
            </a:p>
          </p:txBody>
        </p:sp>
        <p:cxnSp>
          <p:nvCxnSpPr>
            <p:cNvPr id="9482" name="Google Shape;9482;p152"/>
            <p:cNvCxnSpPr/>
            <p:nvPr/>
          </p:nvCxnSpPr>
          <p:spPr>
            <a:xfrm>
              <a:off x="5171" y="1324"/>
              <a:ext cx="0" cy="415"/>
            </a:xfrm>
            <a:prstGeom prst="straightConnector1">
              <a:avLst/>
            </a:prstGeom>
            <a:noFill/>
            <a:ln cap="flat" cmpd="sng" w="9525">
              <a:solidFill>
                <a:srgbClr val="000000"/>
              </a:solidFill>
              <a:prstDash val="solid"/>
              <a:round/>
              <a:headEnd len="med" w="med" type="none"/>
              <a:tailEnd len="med" w="med" type="triangle"/>
            </a:ln>
          </p:spPr>
        </p:cxnSp>
      </p:grpSp>
      <p:grpSp>
        <p:nvGrpSpPr>
          <p:cNvPr id="9483" name="Google Shape;9483;p152"/>
          <p:cNvGrpSpPr/>
          <p:nvPr/>
        </p:nvGrpSpPr>
        <p:grpSpPr>
          <a:xfrm>
            <a:off x="5382279" y="3848343"/>
            <a:ext cx="2495550" cy="579438"/>
            <a:chOff x="2213" y="2438"/>
            <a:chExt cx="1572" cy="365"/>
          </a:xfrm>
        </p:grpSpPr>
        <p:cxnSp>
          <p:nvCxnSpPr>
            <p:cNvPr id="9484" name="Google Shape;9484;p152"/>
            <p:cNvCxnSpPr/>
            <p:nvPr/>
          </p:nvCxnSpPr>
          <p:spPr>
            <a:xfrm flipH="1">
              <a:off x="2213" y="2483"/>
              <a:ext cx="1572" cy="320"/>
            </a:xfrm>
            <a:prstGeom prst="straightConnector1">
              <a:avLst/>
            </a:prstGeom>
            <a:noFill/>
            <a:ln cap="flat" cmpd="sng" w="28575">
              <a:solidFill>
                <a:srgbClr val="000099"/>
              </a:solidFill>
              <a:prstDash val="solid"/>
              <a:round/>
              <a:headEnd len="med" w="med" type="none"/>
              <a:tailEnd len="med" w="med" type="triangle"/>
            </a:ln>
          </p:spPr>
        </p:cxnSp>
        <p:sp>
          <p:nvSpPr>
            <p:cNvPr id="9485" name="Google Shape;9485;p152"/>
            <p:cNvSpPr/>
            <p:nvPr/>
          </p:nvSpPr>
          <p:spPr>
            <a:xfrm>
              <a:off x="2669" y="2438"/>
              <a:ext cx="590" cy="3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86" name="Google Shape;9486;p152"/>
            <p:cNvSpPr txBox="1"/>
            <p:nvPr/>
          </p:nvSpPr>
          <p:spPr>
            <a:xfrm>
              <a:off x="2455" y="2562"/>
              <a:ext cx="105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FINbit=1, seq=y</a:t>
              </a:r>
              <a:endParaRPr/>
            </a:p>
          </p:txBody>
        </p:sp>
      </p:grpSp>
      <p:grpSp>
        <p:nvGrpSpPr>
          <p:cNvPr id="9487" name="Google Shape;9487;p152"/>
          <p:cNvGrpSpPr/>
          <p:nvPr/>
        </p:nvGrpSpPr>
        <p:grpSpPr>
          <a:xfrm>
            <a:off x="5412441" y="4556368"/>
            <a:ext cx="2508250" cy="582613"/>
            <a:chOff x="2232" y="2884"/>
            <a:chExt cx="1580" cy="367"/>
          </a:xfrm>
        </p:grpSpPr>
        <p:cxnSp>
          <p:nvCxnSpPr>
            <p:cNvPr id="9488" name="Google Shape;9488;p152"/>
            <p:cNvCxnSpPr/>
            <p:nvPr/>
          </p:nvCxnSpPr>
          <p:spPr>
            <a:xfrm>
              <a:off x="2232" y="2884"/>
              <a:ext cx="1580" cy="367"/>
            </a:xfrm>
            <a:prstGeom prst="straightConnector1">
              <a:avLst/>
            </a:prstGeom>
            <a:noFill/>
            <a:ln cap="flat" cmpd="sng" w="28575">
              <a:solidFill>
                <a:srgbClr val="000099"/>
              </a:solidFill>
              <a:prstDash val="solid"/>
              <a:round/>
              <a:headEnd len="med" w="med" type="none"/>
              <a:tailEnd len="med" w="med" type="triangle"/>
            </a:ln>
          </p:spPr>
        </p:cxnSp>
        <p:sp>
          <p:nvSpPr>
            <p:cNvPr id="9489" name="Google Shape;9489;p152"/>
            <p:cNvSpPr/>
            <p:nvPr/>
          </p:nvSpPr>
          <p:spPr>
            <a:xfrm>
              <a:off x="2553" y="2995"/>
              <a:ext cx="896"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90" name="Google Shape;9490;p152"/>
            <p:cNvSpPr txBox="1"/>
            <p:nvPr/>
          </p:nvSpPr>
          <p:spPr>
            <a:xfrm>
              <a:off x="2246" y="2958"/>
              <a:ext cx="153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grpSp>
      <p:grpSp>
        <p:nvGrpSpPr>
          <p:cNvPr id="9491" name="Google Shape;9491;p152"/>
          <p:cNvGrpSpPr/>
          <p:nvPr/>
        </p:nvGrpSpPr>
        <p:grpSpPr>
          <a:xfrm>
            <a:off x="3959879" y="2879968"/>
            <a:ext cx="4930775" cy="854075"/>
            <a:chOff x="1317" y="1828"/>
            <a:chExt cx="3106" cy="538"/>
          </a:xfrm>
        </p:grpSpPr>
        <p:cxnSp>
          <p:nvCxnSpPr>
            <p:cNvPr id="9492" name="Google Shape;9492;p152"/>
            <p:cNvCxnSpPr/>
            <p:nvPr/>
          </p:nvCxnSpPr>
          <p:spPr>
            <a:xfrm flipH="1">
              <a:off x="2186" y="1828"/>
              <a:ext cx="1580" cy="367"/>
            </a:xfrm>
            <a:prstGeom prst="straightConnector1">
              <a:avLst/>
            </a:prstGeom>
            <a:noFill/>
            <a:ln cap="flat" cmpd="sng" w="28575">
              <a:solidFill>
                <a:srgbClr val="000099"/>
              </a:solidFill>
              <a:prstDash val="solid"/>
              <a:round/>
              <a:headEnd len="med" w="med" type="none"/>
              <a:tailEnd len="med" w="med" type="triangle"/>
            </a:ln>
          </p:spPr>
        </p:cxnSp>
        <p:sp>
          <p:nvSpPr>
            <p:cNvPr id="9493" name="Google Shape;9493;p152"/>
            <p:cNvSpPr/>
            <p:nvPr/>
          </p:nvSpPr>
          <p:spPr>
            <a:xfrm>
              <a:off x="2507" y="1912"/>
              <a:ext cx="896"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94" name="Google Shape;9494;p152"/>
            <p:cNvSpPr txBox="1"/>
            <p:nvPr/>
          </p:nvSpPr>
          <p:spPr>
            <a:xfrm>
              <a:off x="2200" y="1875"/>
              <a:ext cx="153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9495" name="Google Shape;9495;p152"/>
            <p:cNvSpPr txBox="1"/>
            <p:nvPr/>
          </p:nvSpPr>
          <p:spPr>
            <a:xfrm>
              <a:off x="1317" y="2066"/>
              <a:ext cx="867"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wait for server</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close</a:t>
              </a:r>
              <a:endParaRPr/>
            </a:p>
          </p:txBody>
        </p:sp>
        <p:sp>
          <p:nvSpPr>
            <p:cNvPr id="9496" name="Google Shape;9496;p152"/>
            <p:cNvSpPr txBox="1"/>
            <p:nvPr/>
          </p:nvSpPr>
          <p:spPr>
            <a:xfrm>
              <a:off x="3822" y="1979"/>
              <a:ext cx="601"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can still</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data</a:t>
              </a:r>
              <a:endParaRPr/>
            </a:p>
          </p:txBody>
        </p:sp>
      </p:grpSp>
      <p:grpSp>
        <p:nvGrpSpPr>
          <p:cNvPr id="9497" name="Google Shape;9497;p152"/>
          <p:cNvGrpSpPr/>
          <p:nvPr/>
        </p:nvGrpSpPr>
        <p:grpSpPr>
          <a:xfrm>
            <a:off x="7928629" y="3010143"/>
            <a:ext cx="2501900" cy="1735138"/>
            <a:chOff x="3817" y="1910"/>
            <a:chExt cx="1576" cy="1093"/>
          </a:xfrm>
        </p:grpSpPr>
        <p:sp>
          <p:nvSpPr>
            <p:cNvPr id="9498" name="Google Shape;9498;p152"/>
            <p:cNvSpPr txBox="1"/>
            <p:nvPr/>
          </p:nvSpPr>
          <p:spPr>
            <a:xfrm>
              <a:off x="3817" y="2703"/>
              <a:ext cx="792"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can no longer</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data</a:t>
              </a:r>
              <a:endParaRPr/>
            </a:p>
          </p:txBody>
        </p:sp>
        <p:grpSp>
          <p:nvGrpSpPr>
            <p:cNvPr id="9499" name="Google Shape;9499;p152"/>
            <p:cNvGrpSpPr/>
            <p:nvPr/>
          </p:nvGrpSpPr>
          <p:grpSpPr>
            <a:xfrm>
              <a:off x="4691" y="1910"/>
              <a:ext cx="702" cy="723"/>
              <a:chOff x="4691" y="1910"/>
              <a:chExt cx="702" cy="723"/>
            </a:xfrm>
          </p:grpSpPr>
          <p:cxnSp>
            <p:nvCxnSpPr>
              <p:cNvPr id="9500" name="Google Shape;9500;p152"/>
              <p:cNvCxnSpPr/>
              <p:nvPr/>
            </p:nvCxnSpPr>
            <p:spPr>
              <a:xfrm>
                <a:off x="5167" y="1910"/>
                <a:ext cx="0" cy="562"/>
              </a:xfrm>
              <a:prstGeom prst="straightConnector1">
                <a:avLst/>
              </a:prstGeom>
              <a:noFill/>
              <a:ln cap="flat" cmpd="sng" w="9525">
                <a:solidFill>
                  <a:srgbClr val="000000"/>
                </a:solidFill>
                <a:prstDash val="solid"/>
                <a:round/>
                <a:headEnd len="med" w="med" type="none"/>
                <a:tailEnd len="med" w="med" type="triangle"/>
              </a:ln>
            </p:spPr>
          </p:cxnSp>
          <p:sp>
            <p:nvSpPr>
              <p:cNvPr id="9501" name="Google Shape;9501;p152"/>
              <p:cNvSpPr txBox="1"/>
              <p:nvPr/>
            </p:nvSpPr>
            <p:spPr>
              <a:xfrm>
                <a:off x="4691" y="2421"/>
                <a:ext cx="7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LAST_ACK</a:t>
                </a:r>
                <a:endParaRPr/>
              </a:p>
            </p:txBody>
          </p:sp>
        </p:grpSp>
      </p:grpSp>
      <p:grpSp>
        <p:nvGrpSpPr>
          <p:cNvPr id="9502" name="Google Shape;9502;p152"/>
          <p:cNvGrpSpPr/>
          <p:nvPr/>
        </p:nvGrpSpPr>
        <p:grpSpPr>
          <a:xfrm>
            <a:off x="9511366" y="4191243"/>
            <a:ext cx="917575" cy="1223963"/>
            <a:chOff x="4814" y="2654"/>
            <a:chExt cx="578" cy="771"/>
          </a:xfrm>
        </p:grpSpPr>
        <p:sp>
          <p:nvSpPr>
            <p:cNvPr id="9503" name="Google Shape;9503;p152"/>
            <p:cNvSpPr txBox="1"/>
            <p:nvPr/>
          </p:nvSpPr>
          <p:spPr>
            <a:xfrm>
              <a:off x="4814" y="3213"/>
              <a:ext cx="57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CLOSED</a:t>
              </a:r>
              <a:endParaRPr/>
            </a:p>
          </p:txBody>
        </p:sp>
        <p:cxnSp>
          <p:nvCxnSpPr>
            <p:cNvPr id="9504" name="Google Shape;9504;p152"/>
            <p:cNvCxnSpPr/>
            <p:nvPr/>
          </p:nvCxnSpPr>
          <p:spPr>
            <a:xfrm>
              <a:off x="5173" y="2654"/>
              <a:ext cx="0" cy="576"/>
            </a:xfrm>
            <a:prstGeom prst="straightConnector1">
              <a:avLst/>
            </a:prstGeom>
            <a:noFill/>
            <a:ln cap="flat" cmpd="sng" w="9525">
              <a:solidFill>
                <a:srgbClr val="000000"/>
              </a:solidFill>
              <a:prstDash val="solid"/>
              <a:round/>
              <a:headEnd len="med" w="med" type="none"/>
              <a:tailEnd len="med" w="med" type="triangle"/>
            </a:ln>
          </p:spPr>
        </p:cxnSp>
      </p:grpSp>
      <p:grpSp>
        <p:nvGrpSpPr>
          <p:cNvPr id="9505" name="Google Shape;9505;p152"/>
          <p:cNvGrpSpPr/>
          <p:nvPr/>
        </p:nvGrpSpPr>
        <p:grpSpPr>
          <a:xfrm>
            <a:off x="2454929" y="3583231"/>
            <a:ext cx="1400175" cy="1044575"/>
            <a:chOff x="369" y="2271"/>
            <a:chExt cx="882" cy="658"/>
          </a:xfrm>
        </p:grpSpPr>
        <p:sp>
          <p:nvSpPr>
            <p:cNvPr id="9506" name="Google Shape;9506;p152"/>
            <p:cNvSpPr txBox="1"/>
            <p:nvPr/>
          </p:nvSpPr>
          <p:spPr>
            <a:xfrm>
              <a:off x="369" y="2717"/>
              <a:ext cx="88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TIMED_WAIT</a:t>
              </a:r>
              <a:endParaRPr/>
            </a:p>
          </p:txBody>
        </p:sp>
        <p:cxnSp>
          <p:nvCxnSpPr>
            <p:cNvPr id="9507" name="Google Shape;9507;p152"/>
            <p:cNvCxnSpPr/>
            <p:nvPr/>
          </p:nvCxnSpPr>
          <p:spPr>
            <a:xfrm>
              <a:off x="638" y="2271"/>
              <a:ext cx="0" cy="483"/>
            </a:xfrm>
            <a:prstGeom prst="straightConnector1">
              <a:avLst/>
            </a:prstGeom>
            <a:noFill/>
            <a:ln cap="flat" cmpd="sng" w="9525">
              <a:solidFill>
                <a:srgbClr val="000000"/>
              </a:solidFill>
              <a:prstDash val="solid"/>
              <a:round/>
              <a:headEnd len="med" w="med" type="none"/>
              <a:tailEnd len="med" w="med" type="triangle"/>
            </a:ln>
          </p:spPr>
        </p:cxnSp>
      </p:grpSp>
      <p:grpSp>
        <p:nvGrpSpPr>
          <p:cNvPr id="9508" name="Google Shape;9508;p152"/>
          <p:cNvGrpSpPr/>
          <p:nvPr/>
        </p:nvGrpSpPr>
        <p:grpSpPr>
          <a:xfrm>
            <a:off x="2543829" y="4464293"/>
            <a:ext cx="2743200" cy="1768475"/>
            <a:chOff x="425" y="2826"/>
            <a:chExt cx="1728" cy="1114"/>
          </a:xfrm>
        </p:grpSpPr>
        <p:cxnSp>
          <p:nvCxnSpPr>
            <p:cNvPr id="9509" name="Google Shape;9509;p152"/>
            <p:cNvCxnSpPr/>
            <p:nvPr/>
          </p:nvCxnSpPr>
          <p:spPr>
            <a:xfrm>
              <a:off x="1820" y="2833"/>
              <a:ext cx="7" cy="1059"/>
            </a:xfrm>
            <a:prstGeom prst="straightConnector1">
              <a:avLst/>
            </a:prstGeom>
            <a:noFill/>
            <a:ln cap="flat" cmpd="sng" w="9525">
              <a:solidFill>
                <a:srgbClr val="000000"/>
              </a:solidFill>
              <a:prstDash val="solid"/>
              <a:round/>
              <a:headEnd len="med" w="med" type="none"/>
              <a:tailEnd len="med" w="med" type="none"/>
            </a:ln>
          </p:spPr>
        </p:cxnSp>
        <p:sp>
          <p:nvSpPr>
            <p:cNvPr id="9510" name="Google Shape;9510;p152"/>
            <p:cNvSpPr txBox="1"/>
            <p:nvPr/>
          </p:nvSpPr>
          <p:spPr>
            <a:xfrm>
              <a:off x="1216" y="3093"/>
              <a:ext cx="937" cy="421"/>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timed wait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for 2*max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segment lifetime</a:t>
              </a:r>
              <a:endParaRPr/>
            </a:p>
          </p:txBody>
        </p:sp>
        <p:cxnSp>
          <p:nvCxnSpPr>
            <p:cNvPr id="9511" name="Google Shape;9511;p152"/>
            <p:cNvCxnSpPr/>
            <p:nvPr/>
          </p:nvCxnSpPr>
          <p:spPr>
            <a:xfrm>
              <a:off x="1742" y="2826"/>
              <a:ext cx="142" cy="0"/>
            </a:xfrm>
            <a:prstGeom prst="straightConnector1">
              <a:avLst/>
            </a:prstGeom>
            <a:noFill/>
            <a:ln cap="flat" cmpd="sng" w="9525">
              <a:solidFill>
                <a:srgbClr val="000000"/>
              </a:solidFill>
              <a:prstDash val="solid"/>
              <a:round/>
              <a:headEnd len="med" w="med" type="none"/>
              <a:tailEnd len="med" w="med" type="none"/>
            </a:ln>
          </p:spPr>
        </p:cxnSp>
        <p:cxnSp>
          <p:nvCxnSpPr>
            <p:cNvPr id="9512" name="Google Shape;9512;p152"/>
            <p:cNvCxnSpPr/>
            <p:nvPr/>
          </p:nvCxnSpPr>
          <p:spPr>
            <a:xfrm>
              <a:off x="1759" y="3889"/>
              <a:ext cx="142" cy="0"/>
            </a:xfrm>
            <a:prstGeom prst="straightConnector1">
              <a:avLst/>
            </a:prstGeom>
            <a:noFill/>
            <a:ln cap="flat" cmpd="sng" w="9525">
              <a:solidFill>
                <a:srgbClr val="000000"/>
              </a:solidFill>
              <a:prstDash val="solid"/>
              <a:round/>
              <a:headEnd len="med" w="med" type="none"/>
              <a:tailEnd len="med" w="med" type="none"/>
            </a:ln>
          </p:spPr>
        </p:cxnSp>
        <p:sp>
          <p:nvSpPr>
            <p:cNvPr id="9513" name="Google Shape;9513;p152"/>
            <p:cNvSpPr txBox="1"/>
            <p:nvPr/>
          </p:nvSpPr>
          <p:spPr>
            <a:xfrm>
              <a:off x="425" y="3728"/>
              <a:ext cx="57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CLOSED</a:t>
              </a:r>
              <a:endParaRPr/>
            </a:p>
          </p:txBody>
        </p:sp>
        <p:cxnSp>
          <p:nvCxnSpPr>
            <p:cNvPr id="9514" name="Google Shape;9514;p152"/>
            <p:cNvCxnSpPr/>
            <p:nvPr/>
          </p:nvCxnSpPr>
          <p:spPr>
            <a:xfrm>
              <a:off x="631" y="2918"/>
              <a:ext cx="0" cy="839"/>
            </a:xfrm>
            <a:prstGeom prst="straightConnector1">
              <a:avLst/>
            </a:prstGeom>
            <a:noFill/>
            <a:ln cap="flat" cmpd="sng" w="9525">
              <a:solidFill>
                <a:srgbClr val="000000"/>
              </a:solidFill>
              <a:prstDash val="solid"/>
              <a:round/>
              <a:headEnd len="med" w="med" type="none"/>
              <a:tailEnd len="med" w="med" type="triangle"/>
            </a:ln>
          </p:spPr>
        </p:cxnSp>
      </p:grpSp>
      <p:grpSp>
        <p:nvGrpSpPr>
          <p:cNvPr id="9515" name="Google Shape;9515;p152"/>
          <p:cNvGrpSpPr/>
          <p:nvPr/>
        </p:nvGrpSpPr>
        <p:grpSpPr>
          <a:xfrm>
            <a:off x="2420004" y="2024306"/>
            <a:ext cx="1335087" cy="700087"/>
            <a:chOff x="347" y="1289"/>
            <a:chExt cx="841" cy="441"/>
          </a:xfrm>
        </p:grpSpPr>
        <p:sp>
          <p:nvSpPr>
            <p:cNvPr id="9516" name="Google Shape;9516;p152"/>
            <p:cNvSpPr txBox="1"/>
            <p:nvPr/>
          </p:nvSpPr>
          <p:spPr>
            <a:xfrm>
              <a:off x="347" y="1518"/>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FIN_WAIT_1</a:t>
              </a:r>
              <a:endParaRPr/>
            </a:p>
          </p:txBody>
        </p:sp>
        <p:cxnSp>
          <p:nvCxnSpPr>
            <p:cNvPr id="9517" name="Google Shape;9517;p152"/>
            <p:cNvCxnSpPr/>
            <p:nvPr/>
          </p:nvCxnSpPr>
          <p:spPr>
            <a:xfrm>
              <a:off x="630" y="1289"/>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9518" name="Google Shape;9518;p152"/>
          <p:cNvGrpSpPr/>
          <p:nvPr/>
        </p:nvGrpSpPr>
        <p:grpSpPr>
          <a:xfrm>
            <a:off x="3074054" y="2078281"/>
            <a:ext cx="4775200" cy="1014412"/>
            <a:chOff x="759" y="1323"/>
            <a:chExt cx="3008" cy="639"/>
          </a:xfrm>
        </p:grpSpPr>
        <p:cxnSp>
          <p:nvCxnSpPr>
            <p:cNvPr id="9519" name="Google Shape;9519;p152"/>
            <p:cNvCxnSpPr/>
            <p:nvPr/>
          </p:nvCxnSpPr>
          <p:spPr>
            <a:xfrm>
              <a:off x="2195" y="1442"/>
              <a:ext cx="1572" cy="320"/>
            </a:xfrm>
            <a:prstGeom prst="straightConnector1">
              <a:avLst/>
            </a:prstGeom>
            <a:noFill/>
            <a:ln cap="flat" cmpd="sng" w="28575">
              <a:solidFill>
                <a:srgbClr val="000099"/>
              </a:solidFill>
              <a:prstDash val="solid"/>
              <a:round/>
              <a:headEnd len="med" w="med" type="none"/>
              <a:tailEnd len="med" w="med" type="triangle"/>
            </a:ln>
          </p:spPr>
        </p:cxnSp>
        <p:sp>
          <p:nvSpPr>
            <p:cNvPr id="9520" name="Google Shape;9520;p152"/>
            <p:cNvSpPr/>
            <p:nvPr/>
          </p:nvSpPr>
          <p:spPr>
            <a:xfrm>
              <a:off x="2644" y="1369"/>
              <a:ext cx="590" cy="3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21" name="Google Shape;9521;p152"/>
            <p:cNvSpPr txBox="1"/>
            <p:nvPr/>
          </p:nvSpPr>
          <p:spPr>
            <a:xfrm>
              <a:off x="2430" y="1493"/>
              <a:ext cx="105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FINbit=1, seq=x</a:t>
              </a:r>
              <a:endParaRPr/>
            </a:p>
          </p:txBody>
        </p:sp>
        <p:sp>
          <p:nvSpPr>
            <p:cNvPr id="9522" name="Google Shape;9522;p152"/>
            <p:cNvSpPr txBox="1"/>
            <p:nvPr/>
          </p:nvSpPr>
          <p:spPr>
            <a:xfrm>
              <a:off x="1209" y="1541"/>
              <a:ext cx="913" cy="42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can no longer</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but can</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receive data</a:t>
              </a:r>
              <a:endParaRPr/>
            </a:p>
          </p:txBody>
        </p:sp>
        <p:sp>
          <p:nvSpPr>
            <p:cNvPr id="9523" name="Google Shape;9523;p152"/>
            <p:cNvSpPr txBox="1"/>
            <p:nvPr/>
          </p:nvSpPr>
          <p:spPr>
            <a:xfrm>
              <a:off x="759" y="1323"/>
              <a:ext cx="145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Courier New"/>
                <a:buNone/>
              </a:pPr>
              <a:r>
                <a:rPr b="0" i="0" lang="en-US" sz="1400" u="none" cap="none" strike="noStrike">
                  <a:solidFill>
                    <a:srgbClr val="000000"/>
                  </a:solidFill>
                  <a:latin typeface="Courier New"/>
                  <a:ea typeface="Courier New"/>
                  <a:cs typeface="Courier New"/>
                  <a:sym typeface="Courier New"/>
                </a:rPr>
                <a:t>clientSocket.close()</a:t>
              </a:r>
              <a:endParaRPr/>
            </a:p>
          </p:txBody>
        </p:sp>
      </p:grpSp>
      <p:sp>
        <p:nvSpPr>
          <p:cNvPr id="9524" name="Google Shape;9524;p152"/>
          <p:cNvSpPr txBox="1"/>
          <p:nvPr/>
        </p:nvSpPr>
        <p:spPr>
          <a:xfrm>
            <a:off x="2105830" y="1346443"/>
            <a:ext cx="1422249"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9525" name="Google Shape;9525;p152"/>
          <p:cNvSpPr txBox="1"/>
          <p:nvPr/>
        </p:nvSpPr>
        <p:spPr>
          <a:xfrm>
            <a:off x="8942262" y="1363906"/>
            <a:ext cx="1518429"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9526" name="Google Shape;9526;p152"/>
          <p:cNvSpPr txBox="1"/>
          <p:nvPr/>
        </p:nvSpPr>
        <p:spPr>
          <a:xfrm>
            <a:off x="9638366" y="1746493"/>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ESTAB</a:t>
            </a:r>
            <a:endParaRPr/>
          </a:p>
        </p:txBody>
      </p:sp>
      <p:sp>
        <p:nvSpPr>
          <p:cNvPr id="9527" name="Google Shape;9527;p152"/>
          <p:cNvSpPr txBox="1"/>
          <p:nvPr/>
        </p:nvSpPr>
        <p:spPr>
          <a:xfrm>
            <a:off x="2402541" y="172903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ESTAB</a:t>
            </a:r>
            <a:endParaRPr/>
          </a:p>
        </p:txBody>
      </p:sp>
      <p:grpSp>
        <p:nvGrpSpPr>
          <p:cNvPr id="9528" name="Google Shape;9528;p152"/>
          <p:cNvGrpSpPr/>
          <p:nvPr/>
        </p:nvGrpSpPr>
        <p:grpSpPr>
          <a:xfrm>
            <a:off x="5009216" y="1421056"/>
            <a:ext cx="642938" cy="600075"/>
            <a:chOff x="-44" y="1473"/>
            <a:chExt cx="981" cy="1105"/>
          </a:xfrm>
        </p:grpSpPr>
        <p:pic>
          <p:nvPicPr>
            <p:cNvPr descr="desktop_computer_stylized_medium" id="9529" name="Google Shape;9529;p1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30" name="Google Shape;9530;p1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531" name="Google Shape;9531;p152"/>
          <p:cNvGrpSpPr/>
          <p:nvPr/>
        </p:nvGrpSpPr>
        <p:grpSpPr>
          <a:xfrm>
            <a:off x="7641291" y="1424231"/>
            <a:ext cx="336550" cy="512762"/>
            <a:chOff x="4140" y="429"/>
            <a:chExt cx="1425" cy="2396"/>
          </a:xfrm>
        </p:grpSpPr>
        <p:sp>
          <p:nvSpPr>
            <p:cNvPr id="9532" name="Google Shape;9532;p15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3" name="Google Shape;9533;p15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4" name="Google Shape;9534;p15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5" name="Google Shape;9535;p15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6" name="Google Shape;9536;p15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37" name="Google Shape;9537;p152"/>
            <p:cNvGrpSpPr/>
            <p:nvPr/>
          </p:nvGrpSpPr>
          <p:grpSpPr>
            <a:xfrm>
              <a:off x="4751" y="666"/>
              <a:ext cx="578" cy="148"/>
              <a:chOff x="617" y="2566"/>
              <a:chExt cx="721" cy="142"/>
            </a:xfrm>
          </p:grpSpPr>
          <p:sp>
            <p:nvSpPr>
              <p:cNvPr id="9538" name="Google Shape;9538;p15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39" name="Google Shape;9539;p15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40" name="Google Shape;9540;p15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41" name="Google Shape;9541;p152"/>
            <p:cNvGrpSpPr/>
            <p:nvPr/>
          </p:nvGrpSpPr>
          <p:grpSpPr>
            <a:xfrm>
              <a:off x="4745" y="993"/>
              <a:ext cx="585" cy="134"/>
              <a:chOff x="611" y="2567"/>
              <a:chExt cx="730" cy="139"/>
            </a:xfrm>
          </p:grpSpPr>
          <p:sp>
            <p:nvSpPr>
              <p:cNvPr id="9542" name="Google Shape;9542;p15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43" name="Google Shape;9543;p15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44" name="Google Shape;9544;p15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45" name="Google Shape;9545;p15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46" name="Google Shape;9546;p152"/>
            <p:cNvGrpSpPr/>
            <p:nvPr/>
          </p:nvGrpSpPr>
          <p:grpSpPr>
            <a:xfrm>
              <a:off x="4738" y="1630"/>
              <a:ext cx="578" cy="149"/>
              <a:chOff x="618" y="2571"/>
              <a:chExt cx="720" cy="137"/>
            </a:xfrm>
          </p:grpSpPr>
          <p:sp>
            <p:nvSpPr>
              <p:cNvPr id="9547" name="Google Shape;9547;p15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48" name="Google Shape;9548;p15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49" name="Google Shape;9549;p15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550" name="Google Shape;9550;p152"/>
            <p:cNvGrpSpPr/>
            <p:nvPr/>
          </p:nvGrpSpPr>
          <p:grpSpPr>
            <a:xfrm>
              <a:off x="4738" y="1327"/>
              <a:ext cx="584" cy="141"/>
              <a:chOff x="613" y="2568"/>
              <a:chExt cx="728" cy="141"/>
            </a:xfrm>
          </p:grpSpPr>
          <p:sp>
            <p:nvSpPr>
              <p:cNvPr id="9551" name="Google Shape;9551;p15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2" name="Google Shape;9552;p15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9553" name="Google Shape;9553;p15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4" name="Google Shape;9554;p15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5" name="Google Shape;9555;p15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6" name="Google Shape;9556;p15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7" name="Google Shape;9557;p15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8" name="Google Shape;9558;p15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9" name="Google Shape;9559;p15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60" name="Google Shape;9560;p15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61" name="Google Shape;9561;p15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562" name="Google Shape;9562;p15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63" name="Google Shape;9563;p15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18"/>
                                        </p:tgtEl>
                                        <p:attrNameLst>
                                          <p:attrName>style.visibility</p:attrName>
                                        </p:attrNameLst>
                                      </p:cBhvr>
                                      <p:to>
                                        <p:strVal val="visible"/>
                                      </p:to>
                                    </p:set>
                                    <p:animEffect filter="fade" transition="in">
                                      <p:cBhvr>
                                        <p:cTn dur="500"/>
                                        <p:tgtEl>
                                          <p:spTgt spid="9518"/>
                                        </p:tgtEl>
                                      </p:cBhvr>
                                    </p:animEffect>
                                  </p:childTnLst>
                                </p:cTn>
                              </p:par>
                              <p:par>
                                <p:cTn fill="hold" nodeType="withEffect" presetClass="entr" presetID="10" presetSubtype="0">
                                  <p:stCondLst>
                                    <p:cond delay="0"/>
                                  </p:stCondLst>
                                  <p:childTnLst>
                                    <p:set>
                                      <p:cBhvr>
                                        <p:cTn dur="1" fill="hold">
                                          <p:stCondLst>
                                            <p:cond delay="0"/>
                                          </p:stCondLst>
                                        </p:cTn>
                                        <p:tgtEl>
                                          <p:spTgt spid="9515"/>
                                        </p:tgtEl>
                                        <p:attrNameLst>
                                          <p:attrName>style.visibility</p:attrName>
                                        </p:attrNameLst>
                                      </p:cBhvr>
                                      <p:to>
                                        <p:strVal val="visible"/>
                                      </p:to>
                                    </p:set>
                                    <p:animEffect filter="fade" transition="in">
                                      <p:cBhvr>
                                        <p:cTn dur="500"/>
                                        <p:tgtEl>
                                          <p:spTgt spid="9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1"/>
                                        </p:tgtEl>
                                        <p:attrNameLst>
                                          <p:attrName>style.visibility</p:attrName>
                                        </p:attrNameLst>
                                      </p:cBhvr>
                                      <p:to>
                                        <p:strVal val="visible"/>
                                      </p:to>
                                    </p:set>
                                    <p:animEffect filter="fade" transition="in">
                                      <p:cBhvr>
                                        <p:cTn dur="500"/>
                                        <p:tgtEl>
                                          <p:spTgt spid="9491"/>
                                        </p:tgtEl>
                                      </p:cBhvr>
                                    </p:animEffect>
                                  </p:childTnLst>
                                </p:cTn>
                              </p:par>
                              <p:par>
                                <p:cTn fill="hold" nodeType="withEffect" presetClass="entr" presetID="10" presetSubtype="0">
                                  <p:stCondLst>
                                    <p:cond delay="0"/>
                                  </p:stCondLst>
                                  <p:childTnLst>
                                    <p:set>
                                      <p:cBhvr>
                                        <p:cTn dur="1" fill="hold">
                                          <p:stCondLst>
                                            <p:cond delay="0"/>
                                          </p:stCondLst>
                                        </p:cTn>
                                        <p:tgtEl>
                                          <p:spTgt spid="9480"/>
                                        </p:tgtEl>
                                        <p:attrNameLst>
                                          <p:attrName>style.visibility</p:attrName>
                                        </p:attrNameLst>
                                      </p:cBhvr>
                                      <p:to>
                                        <p:strVal val="visible"/>
                                      </p:to>
                                    </p:set>
                                    <p:animEffect filter="fade" transition="in">
                                      <p:cBhvr>
                                        <p:cTn dur="500"/>
                                        <p:tgtEl>
                                          <p:spTgt spid="9480"/>
                                        </p:tgtEl>
                                      </p:cBhvr>
                                    </p:animEffect>
                                  </p:childTnLst>
                                </p:cTn>
                              </p:par>
                              <p:par>
                                <p:cTn fill="hold" nodeType="withEffect" presetClass="entr" presetID="10" presetSubtype="0">
                                  <p:stCondLst>
                                    <p:cond delay="0"/>
                                  </p:stCondLst>
                                  <p:childTnLst>
                                    <p:set>
                                      <p:cBhvr>
                                        <p:cTn dur="1" fill="hold">
                                          <p:stCondLst>
                                            <p:cond delay="0"/>
                                          </p:stCondLst>
                                        </p:cTn>
                                        <p:tgtEl>
                                          <p:spTgt spid="9477"/>
                                        </p:tgtEl>
                                        <p:attrNameLst>
                                          <p:attrName>style.visibility</p:attrName>
                                        </p:attrNameLst>
                                      </p:cBhvr>
                                      <p:to>
                                        <p:strVal val="visible"/>
                                      </p:to>
                                    </p:set>
                                    <p:animEffect filter="fade" transition="in">
                                      <p:cBhvr>
                                        <p:cTn dur="500"/>
                                        <p:tgtEl>
                                          <p:spTgt spid="9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3"/>
                                        </p:tgtEl>
                                        <p:attrNameLst>
                                          <p:attrName>style.visibility</p:attrName>
                                        </p:attrNameLst>
                                      </p:cBhvr>
                                      <p:to>
                                        <p:strVal val="visible"/>
                                      </p:to>
                                    </p:set>
                                    <p:animEffect filter="fade" transition="in">
                                      <p:cBhvr>
                                        <p:cTn dur="500"/>
                                        <p:tgtEl>
                                          <p:spTgt spid="9483"/>
                                        </p:tgtEl>
                                      </p:cBhvr>
                                    </p:animEffect>
                                  </p:childTnLst>
                                </p:cTn>
                              </p:par>
                              <p:par>
                                <p:cTn fill="hold" nodeType="withEffect" presetClass="entr" presetID="10" presetSubtype="0">
                                  <p:stCondLst>
                                    <p:cond delay="0"/>
                                  </p:stCondLst>
                                  <p:childTnLst>
                                    <p:set>
                                      <p:cBhvr>
                                        <p:cTn dur="1" fill="hold">
                                          <p:stCondLst>
                                            <p:cond delay="0"/>
                                          </p:stCondLst>
                                        </p:cTn>
                                        <p:tgtEl>
                                          <p:spTgt spid="9505"/>
                                        </p:tgtEl>
                                        <p:attrNameLst>
                                          <p:attrName>style.visibility</p:attrName>
                                        </p:attrNameLst>
                                      </p:cBhvr>
                                      <p:to>
                                        <p:strVal val="visible"/>
                                      </p:to>
                                    </p:set>
                                    <p:animEffect filter="fade" transition="in">
                                      <p:cBhvr>
                                        <p:cTn dur="500"/>
                                        <p:tgtEl>
                                          <p:spTgt spid="9505"/>
                                        </p:tgtEl>
                                      </p:cBhvr>
                                    </p:animEffect>
                                  </p:childTnLst>
                                </p:cTn>
                              </p:par>
                              <p:par>
                                <p:cTn fill="hold" nodeType="withEffect" presetClass="entr" presetID="10" presetSubtype="0">
                                  <p:stCondLst>
                                    <p:cond delay="0"/>
                                  </p:stCondLst>
                                  <p:childTnLst>
                                    <p:set>
                                      <p:cBhvr>
                                        <p:cTn dur="1" fill="hold">
                                          <p:stCondLst>
                                            <p:cond delay="0"/>
                                          </p:stCondLst>
                                        </p:cTn>
                                        <p:tgtEl>
                                          <p:spTgt spid="9497"/>
                                        </p:tgtEl>
                                        <p:attrNameLst>
                                          <p:attrName>style.visibility</p:attrName>
                                        </p:attrNameLst>
                                      </p:cBhvr>
                                      <p:to>
                                        <p:strVal val="visible"/>
                                      </p:to>
                                    </p:set>
                                    <p:animEffect filter="fade" transition="in">
                                      <p:cBhvr>
                                        <p:cTn dur="500"/>
                                        <p:tgtEl>
                                          <p:spTgt spid="9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7"/>
                                        </p:tgtEl>
                                        <p:attrNameLst>
                                          <p:attrName>style.visibility</p:attrName>
                                        </p:attrNameLst>
                                      </p:cBhvr>
                                      <p:to>
                                        <p:strVal val="visible"/>
                                      </p:to>
                                    </p:set>
                                    <p:animEffect filter="fade" transition="in">
                                      <p:cBhvr>
                                        <p:cTn dur="500"/>
                                        <p:tgtEl>
                                          <p:spTgt spid="9487"/>
                                        </p:tgtEl>
                                      </p:cBhvr>
                                    </p:animEffect>
                                  </p:childTnLst>
                                </p:cTn>
                              </p:par>
                              <p:par>
                                <p:cTn fill="hold" nodeType="withEffect" presetClass="entr" presetID="10" presetSubtype="0">
                                  <p:stCondLst>
                                    <p:cond delay="0"/>
                                  </p:stCondLst>
                                  <p:childTnLst>
                                    <p:set>
                                      <p:cBhvr>
                                        <p:cTn dur="1" fill="hold">
                                          <p:stCondLst>
                                            <p:cond delay="0"/>
                                          </p:stCondLst>
                                        </p:cTn>
                                        <p:tgtEl>
                                          <p:spTgt spid="9508"/>
                                        </p:tgtEl>
                                        <p:attrNameLst>
                                          <p:attrName>style.visibility</p:attrName>
                                        </p:attrNameLst>
                                      </p:cBhvr>
                                      <p:to>
                                        <p:strVal val="visible"/>
                                      </p:to>
                                    </p:set>
                                    <p:animEffect filter="fade" transition="in">
                                      <p:cBhvr>
                                        <p:cTn dur="500"/>
                                        <p:tgtEl>
                                          <p:spTgt spid="9508"/>
                                        </p:tgtEl>
                                      </p:cBhvr>
                                    </p:animEffect>
                                  </p:childTnLst>
                                </p:cTn>
                              </p:par>
                              <p:par>
                                <p:cTn fill="hold" nodeType="withEffect" presetClass="entr" presetID="10" presetSubtype="0">
                                  <p:stCondLst>
                                    <p:cond delay="0"/>
                                  </p:stCondLst>
                                  <p:childTnLst>
                                    <p:set>
                                      <p:cBhvr>
                                        <p:cTn dur="1" fill="hold">
                                          <p:stCondLst>
                                            <p:cond delay="0"/>
                                          </p:stCondLst>
                                        </p:cTn>
                                        <p:tgtEl>
                                          <p:spTgt spid="9502"/>
                                        </p:tgtEl>
                                        <p:attrNameLst>
                                          <p:attrName>style.visibility</p:attrName>
                                        </p:attrNameLst>
                                      </p:cBhvr>
                                      <p:to>
                                        <p:strVal val="visible"/>
                                      </p:to>
                                    </p:set>
                                    <p:animEffect filter="fade" transition="in">
                                      <p:cBhvr>
                                        <p:cTn dur="500"/>
                                        <p:tgtEl>
                                          <p:spTgt spid="9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8" name="Shape 9568"/>
        <p:cNvGrpSpPr/>
        <p:nvPr/>
      </p:nvGrpSpPr>
      <p:grpSpPr>
        <a:xfrm>
          <a:off x="0" y="0"/>
          <a:ext cx="0" cy="0"/>
          <a:chOff x="0" y="0"/>
          <a:chExt cx="0" cy="0"/>
        </a:xfrm>
      </p:grpSpPr>
      <p:sp>
        <p:nvSpPr>
          <p:cNvPr id="9569" name="Google Shape;9569;p153"/>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throughput</a:t>
            </a:r>
            <a:endParaRPr b="0" sz="4400"/>
          </a:p>
        </p:txBody>
      </p:sp>
      <p:sp>
        <p:nvSpPr>
          <p:cNvPr id="9570" name="Google Shape;9570;p153"/>
          <p:cNvSpPr txBox="1"/>
          <p:nvPr/>
        </p:nvSpPr>
        <p:spPr>
          <a:xfrm>
            <a:off x="1143000" y="1235075"/>
            <a:ext cx="1068070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avg. TCP thruput as function of window size, RTT?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slow start, assume there is always data to send</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 window size </a:t>
            </a:r>
            <a:r>
              <a:rPr b="0" i="0" lang="en-US" sz="1600" u="none" cap="none" strike="noStrike">
                <a:solidFill>
                  <a:srgbClr val="000000"/>
                </a:solidFill>
                <a:latin typeface="Calibri"/>
                <a:ea typeface="Calibri"/>
                <a:cs typeface="Calibri"/>
                <a:sym typeface="Calibri"/>
              </a:rPr>
              <a:t>(measured in bytes)</a:t>
            </a:r>
            <a:r>
              <a:rPr b="0" i="0" lang="en-US" sz="2800" u="none" cap="none" strike="noStrike">
                <a:solidFill>
                  <a:srgbClr val="000000"/>
                </a:solidFill>
                <a:latin typeface="Calibri"/>
                <a:ea typeface="Calibri"/>
                <a:cs typeface="Calibri"/>
                <a:sym typeface="Calibri"/>
              </a:rPr>
              <a:t> where loss occurs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avg. window size (# in-flight bytes) is ¾ W</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avg. thruput is 3/4W per RTT</a:t>
            </a:r>
            <a:endParaRPr/>
          </a:p>
        </p:txBody>
      </p:sp>
      <p:grpSp>
        <p:nvGrpSpPr>
          <p:cNvPr id="9571" name="Google Shape;9571;p153"/>
          <p:cNvGrpSpPr/>
          <p:nvPr/>
        </p:nvGrpSpPr>
        <p:grpSpPr>
          <a:xfrm>
            <a:off x="2360613" y="4173538"/>
            <a:ext cx="4873625" cy="1998662"/>
            <a:chOff x="279" y="2432"/>
            <a:chExt cx="3070" cy="1259"/>
          </a:xfrm>
        </p:grpSpPr>
        <p:sp>
          <p:nvSpPr>
            <p:cNvPr id="9572" name="Google Shape;9572;p153"/>
            <p:cNvSpPr/>
            <p:nvPr/>
          </p:nvSpPr>
          <p:spPr>
            <a:xfrm>
              <a:off x="678" y="2556"/>
              <a:ext cx="2481" cy="579"/>
            </a:xfrm>
            <a:custGeom>
              <a:rect b="b" l="l" r="r" t="t"/>
              <a:pathLst>
                <a:path extrusionOk="0" h="579" w="2481">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9573" name="Google Shape;9573;p153"/>
            <p:cNvCxnSpPr/>
            <p:nvPr/>
          </p:nvCxnSpPr>
          <p:spPr>
            <a:xfrm>
              <a:off x="675" y="3685"/>
              <a:ext cx="2674" cy="0"/>
            </a:xfrm>
            <a:prstGeom prst="straightConnector1">
              <a:avLst/>
            </a:prstGeom>
            <a:noFill/>
            <a:ln cap="flat" cmpd="sng" w="19050">
              <a:solidFill>
                <a:schemeClr val="dk1"/>
              </a:solidFill>
              <a:prstDash val="solid"/>
              <a:round/>
              <a:headEnd len="med" w="med" type="none"/>
              <a:tailEnd len="med" w="med" type="none"/>
            </a:ln>
          </p:spPr>
        </p:cxnSp>
        <p:cxnSp>
          <p:nvCxnSpPr>
            <p:cNvPr id="9574" name="Google Shape;9574;p153"/>
            <p:cNvCxnSpPr/>
            <p:nvPr/>
          </p:nvCxnSpPr>
          <p:spPr>
            <a:xfrm>
              <a:off x="682" y="2432"/>
              <a:ext cx="0" cy="1259"/>
            </a:xfrm>
            <a:prstGeom prst="straightConnector1">
              <a:avLst/>
            </a:prstGeom>
            <a:noFill/>
            <a:ln cap="flat" cmpd="sng" w="19050">
              <a:solidFill>
                <a:schemeClr val="dk1"/>
              </a:solidFill>
              <a:prstDash val="solid"/>
              <a:round/>
              <a:headEnd len="med" w="med" type="none"/>
              <a:tailEnd len="med" w="med" type="none"/>
            </a:ln>
          </p:spPr>
        </p:cxnSp>
        <p:cxnSp>
          <p:nvCxnSpPr>
            <p:cNvPr id="9575" name="Google Shape;9575;p153"/>
            <p:cNvCxnSpPr/>
            <p:nvPr/>
          </p:nvCxnSpPr>
          <p:spPr>
            <a:xfrm>
              <a:off x="606" y="2571"/>
              <a:ext cx="72" cy="0"/>
            </a:xfrm>
            <a:prstGeom prst="straightConnector1">
              <a:avLst/>
            </a:prstGeom>
            <a:noFill/>
            <a:ln cap="flat" cmpd="sng" w="19050">
              <a:solidFill>
                <a:schemeClr val="dk1"/>
              </a:solidFill>
              <a:prstDash val="solid"/>
              <a:round/>
              <a:headEnd len="med" w="med" type="none"/>
              <a:tailEnd len="med" w="med" type="none"/>
            </a:ln>
          </p:spPr>
        </p:cxnSp>
        <p:cxnSp>
          <p:nvCxnSpPr>
            <p:cNvPr id="9576" name="Google Shape;9576;p153"/>
            <p:cNvCxnSpPr/>
            <p:nvPr/>
          </p:nvCxnSpPr>
          <p:spPr>
            <a:xfrm>
              <a:off x="606" y="3117"/>
              <a:ext cx="72" cy="0"/>
            </a:xfrm>
            <a:prstGeom prst="straightConnector1">
              <a:avLst/>
            </a:prstGeom>
            <a:noFill/>
            <a:ln cap="flat" cmpd="sng" w="19050">
              <a:solidFill>
                <a:schemeClr val="dk1"/>
              </a:solidFill>
              <a:prstDash val="solid"/>
              <a:round/>
              <a:headEnd len="med" w="med" type="none"/>
              <a:tailEnd len="med" w="med" type="none"/>
            </a:ln>
          </p:spPr>
        </p:cxnSp>
        <p:sp>
          <p:nvSpPr>
            <p:cNvPr id="9577" name="Google Shape;9577;p153"/>
            <p:cNvSpPr txBox="1"/>
            <p:nvPr/>
          </p:nvSpPr>
          <p:spPr>
            <a:xfrm>
              <a:off x="380" y="2453"/>
              <a:ext cx="231"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endParaRPr/>
            </a:p>
          </p:txBody>
        </p:sp>
        <p:sp>
          <p:nvSpPr>
            <p:cNvPr id="9578" name="Google Shape;9578;p153"/>
            <p:cNvSpPr txBox="1"/>
            <p:nvPr/>
          </p:nvSpPr>
          <p:spPr>
            <a:xfrm>
              <a:off x="279" y="3008"/>
              <a:ext cx="35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W/2</a:t>
              </a:r>
              <a:endParaRPr/>
            </a:p>
          </p:txBody>
        </p:sp>
      </p:grpSp>
      <p:grpSp>
        <p:nvGrpSpPr>
          <p:cNvPr id="9579" name="Google Shape;9579;p153"/>
          <p:cNvGrpSpPr/>
          <p:nvPr/>
        </p:nvGrpSpPr>
        <p:grpSpPr>
          <a:xfrm>
            <a:off x="3136901" y="3552826"/>
            <a:ext cx="3795713" cy="620712"/>
            <a:chOff x="1722" y="2139"/>
            <a:chExt cx="2391" cy="391"/>
          </a:xfrm>
        </p:grpSpPr>
        <p:sp>
          <p:nvSpPr>
            <p:cNvPr id="9580" name="Google Shape;9580;p153"/>
            <p:cNvSpPr txBox="1"/>
            <p:nvPr/>
          </p:nvSpPr>
          <p:spPr>
            <a:xfrm>
              <a:off x="1722" y="2219"/>
              <a:ext cx="134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avg TCP thruput = </a:t>
              </a:r>
              <a:endParaRPr/>
            </a:p>
          </p:txBody>
        </p:sp>
        <p:grpSp>
          <p:nvGrpSpPr>
            <p:cNvPr id="9581" name="Google Shape;9581;p153"/>
            <p:cNvGrpSpPr/>
            <p:nvPr/>
          </p:nvGrpSpPr>
          <p:grpSpPr>
            <a:xfrm>
              <a:off x="2986" y="2139"/>
              <a:ext cx="1127" cy="391"/>
              <a:chOff x="3498" y="2153"/>
              <a:chExt cx="1127" cy="391"/>
            </a:xfrm>
          </p:grpSpPr>
          <p:sp>
            <p:nvSpPr>
              <p:cNvPr id="9582" name="Google Shape;9582;p153"/>
              <p:cNvSpPr txBox="1"/>
              <p:nvPr/>
            </p:nvSpPr>
            <p:spPr>
              <a:xfrm>
                <a:off x="3501" y="2153"/>
                <a:ext cx="195"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3</a:t>
                </a:r>
                <a:endParaRPr/>
              </a:p>
            </p:txBody>
          </p:sp>
          <p:sp>
            <p:nvSpPr>
              <p:cNvPr id="9583" name="Google Shape;9583;p153"/>
              <p:cNvSpPr txBox="1"/>
              <p:nvPr/>
            </p:nvSpPr>
            <p:spPr>
              <a:xfrm>
                <a:off x="3498" y="2313"/>
                <a:ext cx="195"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4</a:t>
                </a:r>
                <a:endParaRPr/>
              </a:p>
            </p:txBody>
          </p:sp>
          <p:cxnSp>
            <p:nvCxnSpPr>
              <p:cNvPr id="9584" name="Google Shape;9584;p153"/>
              <p:cNvCxnSpPr/>
              <p:nvPr/>
            </p:nvCxnSpPr>
            <p:spPr>
              <a:xfrm>
                <a:off x="3550" y="2352"/>
                <a:ext cx="88" cy="0"/>
              </a:xfrm>
              <a:prstGeom prst="straightConnector1">
                <a:avLst/>
              </a:prstGeom>
              <a:noFill/>
              <a:ln cap="flat" cmpd="sng" w="19050">
                <a:solidFill>
                  <a:schemeClr val="dk1"/>
                </a:solidFill>
                <a:prstDash val="solid"/>
                <a:round/>
                <a:headEnd len="med" w="med" type="none"/>
                <a:tailEnd len="med" w="med" type="none"/>
              </a:ln>
            </p:spPr>
          </p:cxnSp>
          <p:sp>
            <p:nvSpPr>
              <p:cNvPr id="9585" name="Google Shape;9585;p153"/>
              <p:cNvSpPr txBox="1"/>
              <p:nvPr/>
            </p:nvSpPr>
            <p:spPr>
              <a:xfrm>
                <a:off x="3702" y="2157"/>
                <a:ext cx="24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t>
                </a:r>
                <a:endParaRPr/>
              </a:p>
            </p:txBody>
          </p:sp>
          <p:sp>
            <p:nvSpPr>
              <p:cNvPr id="9586" name="Google Shape;9586;p153"/>
              <p:cNvSpPr txBox="1"/>
              <p:nvPr/>
            </p:nvSpPr>
            <p:spPr>
              <a:xfrm>
                <a:off x="3658" y="2309"/>
                <a:ext cx="37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RTT</a:t>
                </a:r>
                <a:endParaRPr/>
              </a:p>
            </p:txBody>
          </p:sp>
          <p:cxnSp>
            <p:nvCxnSpPr>
              <p:cNvPr id="9587" name="Google Shape;9587;p153"/>
              <p:cNvCxnSpPr/>
              <p:nvPr/>
            </p:nvCxnSpPr>
            <p:spPr>
              <a:xfrm>
                <a:off x="3726" y="2352"/>
                <a:ext cx="210" cy="0"/>
              </a:xfrm>
              <a:prstGeom prst="straightConnector1">
                <a:avLst/>
              </a:prstGeom>
              <a:noFill/>
              <a:ln cap="flat" cmpd="sng" w="19050">
                <a:solidFill>
                  <a:schemeClr val="dk1"/>
                </a:solidFill>
                <a:prstDash val="solid"/>
                <a:round/>
                <a:headEnd len="med" w="med" type="none"/>
                <a:tailEnd len="med" w="med" type="none"/>
              </a:ln>
            </p:spPr>
          </p:cxnSp>
          <p:sp>
            <p:nvSpPr>
              <p:cNvPr id="9588" name="Google Shape;9588;p153"/>
              <p:cNvSpPr txBox="1"/>
              <p:nvPr/>
            </p:nvSpPr>
            <p:spPr>
              <a:xfrm>
                <a:off x="3975" y="2243"/>
                <a:ext cx="65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bytes/sec</a:t>
                </a:r>
                <a:endParaRPr/>
              </a:p>
            </p:txBody>
          </p:sp>
        </p:grpSp>
      </p:gr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3" name="Shape 9593"/>
        <p:cNvGrpSpPr/>
        <p:nvPr/>
      </p:nvGrpSpPr>
      <p:grpSpPr>
        <a:xfrm>
          <a:off x="0" y="0"/>
          <a:ext cx="0" cy="0"/>
          <a:chOff x="0" y="0"/>
          <a:chExt cx="0" cy="0"/>
        </a:xfrm>
      </p:grpSpPr>
      <p:sp>
        <p:nvSpPr>
          <p:cNvPr id="9594" name="Google Shape;9594;p154"/>
          <p:cNvSpPr txBox="1"/>
          <p:nvPr>
            <p:ph type="title"/>
          </p:nvPr>
        </p:nvSpPr>
        <p:spPr>
          <a:xfrm>
            <a:off x="798690" y="278541"/>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 “long, fat pipes”</a:t>
            </a:r>
            <a:endParaRPr b="0" sz="4400"/>
          </a:p>
        </p:txBody>
      </p:sp>
      <p:sp>
        <p:nvSpPr>
          <p:cNvPr id="9595" name="Google Shape;9595;p1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9596" name="Google Shape;9596;p154"/>
          <p:cNvSpPr txBox="1"/>
          <p:nvPr/>
        </p:nvSpPr>
        <p:spPr>
          <a:xfrm>
            <a:off x="798690" y="1322387"/>
            <a:ext cx="1104900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example: 1500 byte segments, 100ms RTT, want 10 Gbps throughput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requires W = 83,333 in-flight segments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throughput in terms of segment loss probability, L </a:t>
            </a:r>
            <a:r>
              <a:rPr b="0" i="0" lang="en-US" sz="2000" u="none" cap="none" strike="noStrike">
                <a:solidFill>
                  <a:schemeClr val="dk1"/>
                </a:solidFill>
                <a:latin typeface="Calibri"/>
                <a:ea typeface="Calibri"/>
                <a:cs typeface="Calibri"/>
                <a:sym typeface="Calibri"/>
              </a:rPr>
              <a:t>[Mathis 1997]:</a:t>
            </a:r>
            <a:br>
              <a:rPr b="0" i="0" lang="en-US" sz="2800" u="none" cap="none" strike="noStrike">
                <a:solidFill>
                  <a:schemeClr val="dk1"/>
                </a:solidFill>
                <a:latin typeface="Calibri"/>
                <a:ea typeface="Calibri"/>
                <a:cs typeface="Calibri"/>
                <a:sym typeface="Calibri"/>
              </a:rPr>
            </a:br>
            <a:br>
              <a:rPr b="0" i="0" lang="en-US" sz="2800" u="none" cap="none" strike="noStrike">
                <a:solidFill>
                  <a:schemeClr val="dk1"/>
                </a:solidFill>
                <a:latin typeface="Calibri"/>
                <a:ea typeface="Calibri"/>
                <a:cs typeface="Calibri"/>
                <a:sym typeface="Calibri"/>
              </a:rPr>
            </a:br>
            <a:br>
              <a:rPr b="0" i="0" lang="en-US" sz="2800" u="none" cap="none" strike="noStrike">
                <a:solidFill>
                  <a:schemeClr val="dk1"/>
                </a:solidFill>
                <a:latin typeface="Calibri"/>
                <a:ea typeface="Calibri"/>
                <a:cs typeface="Calibri"/>
                <a:sym typeface="Calibri"/>
              </a:rPr>
            </a:br>
            <a:endParaRPr b="0" i="0" sz="2800" u="none" cap="none" strike="noStrike">
              <a:solidFill>
                <a:schemeClr val="dk1"/>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Noto Sans Symbols"/>
              <a:buNone/>
            </a:pPr>
            <a:r>
              <a:rPr b="0" i="0" lang="en-US" sz="2400" u="none" cap="none" strike="noStrike">
                <a:solidFill>
                  <a:schemeClr val="dk1"/>
                </a:solidFill>
                <a:latin typeface="MS Mincho"/>
                <a:ea typeface="MS Mincho"/>
                <a:cs typeface="MS Mincho"/>
                <a:sym typeface="MS Mincho"/>
              </a:rPr>
              <a:t>➜ </a:t>
            </a:r>
            <a:r>
              <a:rPr b="0" i="0" lang="en-US" sz="2800" u="none" cap="none" strike="noStrike">
                <a:solidFill>
                  <a:schemeClr val="dk1"/>
                </a:solidFill>
                <a:latin typeface="Calibri"/>
                <a:ea typeface="Calibri"/>
                <a:cs typeface="Calibri"/>
                <a:sym typeface="Calibri"/>
              </a:rPr>
              <a:t>to achieve 10 Gbps throughput, need a loss rate of L = 2·10</a:t>
            </a:r>
            <a:r>
              <a:rPr b="0" baseline="30000" i="0" lang="en-US" sz="2800" u="none" cap="none" strike="noStrike">
                <a:solidFill>
                  <a:schemeClr val="dk1"/>
                </a:solidFill>
                <a:latin typeface="Calibri"/>
                <a:ea typeface="Calibri"/>
                <a:cs typeface="Calibri"/>
                <a:sym typeface="Calibri"/>
              </a:rPr>
              <a:t>-10  </a:t>
            </a:r>
            <a:r>
              <a:rPr b="0" i="1" lang="en-US" sz="2800" u="none" cap="none" strike="noStrike">
                <a:solidFill>
                  <a:srgbClr val="FF0000"/>
                </a:solidFill>
                <a:latin typeface="Calibri"/>
                <a:ea typeface="Calibri"/>
                <a:cs typeface="Calibri"/>
                <a:sym typeface="Calibri"/>
              </a:rPr>
              <a:t> </a:t>
            </a:r>
            <a:r>
              <a:rPr b="0" i="1" lang="en-US" sz="2800" u="none" cap="none" strike="noStrike">
                <a:solidFill>
                  <a:srgbClr val="C00000"/>
                </a:solidFill>
                <a:latin typeface="Calibri"/>
                <a:ea typeface="Calibri"/>
                <a:cs typeface="Calibri"/>
                <a:sym typeface="Calibri"/>
              </a:rPr>
              <a:t>– a very small loss rate!</a:t>
            </a:r>
            <a:endParaRPr b="0" i="1" sz="2400" u="none" cap="none" strike="noStrike">
              <a:solidFill>
                <a:srgbClr val="C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versions of TCP for long, high-speed scenarios</a:t>
            </a:r>
            <a:endParaRPr b="0" baseline="30000" i="0" sz="2800" u="none" cap="none" strike="noStrike">
              <a:solidFill>
                <a:schemeClr val="dk1"/>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chemeClr val="dk1"/>
              </a:solidFill>
              <a:latin typeface="Calibri"/>
              <a:ea typeface="Calibri"/>
              <a:cs typeface="Calibri"/>
              <a:sym typeface="Calibri"/>
            </a:endParaRPr>
          </a:p>
        </p:txBody>
      </p:sp>
      <p:grpSp>
        <p:nvGrpSpPr>
          <p:cNvPr id="9597" name="Google Shape;9597;p154"/>
          <p:cNvGrpSpPr/>
          <p:nvPr/>
        </p:nvGrpSpPr>
        <p:grpSpPr>
          <a:xfrm>
            <a:off x="3700463" y="2947987"/>
            <a:ext cx="4160837" cy="962025"/>
            <a:chOff x="422" y="3400"/>
            <a:chExt cx="2621" cy="606"/>
          </a:xfrm>
        </p:grpSpPr>
        <p:sp>
          <p:nvSpPr>
            <p:cNvPr id="9598" name="Google Shape;9598;p154"/>
            <p:cNvSpPr txBox="1"/>
            <p:nvPr/>
          </p:nvSpPr>
          <p:spPr>
            <a:xfrm>
              <a:off x="422" y="3566"/>
              <a:ext cx="169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TCP throughput = </a:t>
              </a:r>
              <a:endParaRPr/>
            </a:p>
          </p:txBody>
        </p:sp>
        <p:sp>
          <p:nvSpPr>
            <p:cNvPr id="9599" name="Google Shape;9599;p154"/>
            <p:cNvSpPr txBox="1"/>
            <p:nvPr/>
          </p:nvSpPr>
          <p:spPr>
            <a:xfrm>
              <a:off x="2010" y="3470"/>
              <a:ext cx="49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1.22</a:t>
              </a:r>
              <a:endParaRPr/>
            </a:p>
          </p:txBody>
        </p:sp>
        <p:grpSp>
          <p:nvGrpSpPr>
            <p:cNvPr id="9600" name="Google Shape;9600;p154"/>
            <p:cNvGrpSpPr/>
            <p:nvPr/>
          </p:nvGrpSpPr>
          <p:grpSpPr>
            <a:xfrm>
              <a:off x="2092" y="3400"/>
              <a:ext cx="951" cy="606"/>
              <a:chOff x="2092" y="3400"/>
              <a:chExt cx="951" cy="606"/>
            </a:xfrm>
          </p:grpSpPr>
          <p:sp>
            <p:nvSpPr>
              <p:cNvPr id="9601" name="Google Shape;9601;p154"/>
              <p:cNvSpPr txBox="1"/>
              <p:nvPr/>
            </p:nvSpPr>
            <p:spPr>
              <a:xfrm>
                <a:off x="2423" y="3400"/>
                <a:ext cx="1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Arial"/>
                    <a:ea typeface="Arial"/>
                    <a:cs typeface="Arial"/>
                    <a:sym typeface="Arial"/>
                  </a:rPr>
                  <a:t>.</a:t>
                </a:r>
                <a:endParaRPr/>
              </a:p>
            </p:txBody>
          </p:sp>
          <p:sp>
            <p:nvSpPr>
              <p:cNvPr id="9602" name="Google Shape;9602;p154"/>
              <p:cNvSpPr txBox="1"/>
              <p:nvPr/>
            </p:nvSpPr>
            <p:spPr>
              <a:xfrm>
                <a:off x="2511" y="3472"/>
                <a:ext cx="53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MSS</a:t>
                </a:r>
                <a:endParaRPr/>
              </a:p>
            </p:txBody>
          </p:sp>
          <p:cxnSp>
            <p:nvCxnSpPr>
              <p:cNvPr id="9603" name="Google Shape;9603;p154"/>
              <p:cNvCxnSpPr/>
              <p:nvPr/>
            </p:nvCxnSpPr>
            <p:spPr>
              <a:xfrm>
                <a:off x="2092" y="3720"/>
                <a:ext cx="873" cy="0"/>
              </a:xfrm>
              <a:prstGeom prst="straightConnector1">
                <a:avLst/>
              </a:prstGeom>
              <a:noFill/>
              <a:ln cap="flat" cmpd="sng" w="19050">
                <a:solidFill>
                  <a:schemeClr val="dk1"/>
                </a:solidFill>
                <a:prstDash val="solid"/>
                <a:round/>
                <a:headEnd len="med" w="med" type="none"/>
                <a:tailEnd len="med" w="med" type="none"/>
              </a:ln>
            </p:spPr>
          </p:cxnSp>
          <p:sp>
            <p:nvSpPr>
              <p:cNvPr id="9604" name="Google Shape;9604;p154"/>
              <p:cNvSpPr txBox="1"/>
              <p:nvPr/>
            </p:nvSpPr>
            <p:spPr>
              <a:xfrm>
                <a:off x="2133" y="3696"/>
                <a:ext cx="48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RTT</a:t>
                </a:r>
                <a:endParaRPr/>
              </a:p>
            </p:txBody>
          </p:sp>
          <p:sp>
            <p:nvSpPr>
              <p:cNvPr id="9605" name="Google Shape;9605;p154"/>
              <p:cNvSpPr/>
              <p:nvPr/>
            </p:nvSpPr>
            <p:spPr>
              <a:xfrm>
                <a:off x="2607" y="3740"/>
                <a:ext cx="294" cy="220"/>
              </a:xfrm>
              <a:custGeom>
                <a:rect b="b" l="l" r="r" t="t"/>
                <a:pathLst>
                  <a:path extrusionOk="0" h="220" w="294">
                    <a:moveTo>
                      <a:pt x="0" y="158"/>
                    </a:moveTo>
                    <a:lnTo>
                      <a:pt x="32" y="140"/>
                    </a:lnTo>
                    <a:lnTo>
                      <a:pt x="72" y="220"/>
                    </a:lnTo>
                    <a:lnTo>
                      <a:pt x="132" y="0"/>
                    </a:lnTo>
                    <a:lnTo>
                      <a:pt x="294"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06" name="Google Shape;9606;p154"/>
              <p:cNvSpPr txBox="1"/>
              <p:nvPr/>
            </p:nvSpPr>
            <p:spPr>
              <a:xfrm>
                <a:off x="2704" y="3718"/>
                <a:ext cx="22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Arial"/>
                    <a:ea typeface="Arial"/>
                    <a:cs typeface="Arial"/>
                    <a:sym typeface="Arial"/>
                  </a:rPr>
                  <a:t>L</a:t>
                </a: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