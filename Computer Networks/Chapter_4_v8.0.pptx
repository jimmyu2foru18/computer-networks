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Lst>
  <p:sldSz cy="6858000" cx="12192000"/>
  <p:notesSz cx="6858000" cy="9144000"/>
  <p:embeddedFontLst>
    <p:embeddedFont>
      <p:font typeface="Tahoma"/>
      <p:regular r:id="rId108"/>
      <p:bold r:id="rId109"/>
    </p:embeddedFont>
    <p:embeddedFont>
      <p:font typeface="Noto Sans Symbols"/>
      <p:regular r:id="rId110"/>
      <p:bold r:id="rId111"/>
    </p:embeddedFont>
    <p:embeddedFont>
      <p:font typeface="Gill Sans"/>
      <p:regular r:id="rId112"/>
      <p:bold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440">
          <p15:clr>
            <a:srgbClr val="A4A3A4"/>
          </p15:clr>
        </p15:guide>
        <p15:guide id="2" orient="horz" pos="35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40"/>
        <p:guide pos="352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Tahoma-bold.fntdata"/><Relationship Id="rId108" Type="http://schemas.openxmlformats.org/officeDocument/2006/relationships/font" Target="fonts/Tahoma-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NotoSansSymbols-regular.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113" Type="http://schemas.openxmlformats.org/officeDocument/2006/relationships/font" Target="fonts/GillSans-bold.fntdata"/><Relationship Id="rId112" Type="http://schemas.openxmlformats.org/officeDocument/2006/relationships/font" Target="fonts/GillSans-regular.fntdata"/><Relationship Id="rId111" Type="http://schemas.openxmlformats.org/officeDocument/2006/relationships/font" Target="fonts/NotoSansSymbols-bold.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8.0  (May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Add LOTS more animation throughout</a:t>
            </a:r>
            <a:endParaRPr/>
          </a:p>
          <a:p>
            <a:pPr indent="-171450" lvl="0" marL="171450" rtl="0" algn="l">
              <a:spcBef>
                <a:spcPts val="0"/>
              </a:spcBef>
              <a:spcAft>
                <a:spcPts val="0"/>
              </a:spcAft>
              <a:buClr>
                <a:schemeClr val="dk1"/>
              </a:buClr>
              <a:buSzPts val="1200"/>
              <a:buFont typeface="Arial"/>
              <a:buChar char="•"/>
            </a:pPr>
            <a:r>
              <a:rPr lang="en-US"/>
              <a:t>added new  8</a:t>
            </a:r>
            <a:r>
              <a:rPr baseline="30000" lang="en-US"/>
              <a:t>th</a:t>
            </a:r>
            <a:r>
              <a:rPr lang="en-US"/>
              <a:t> edition material on middleboxes (and Internet arch), Net neutrality, buffering …</a:t>
            </a:r>
            <a:endParaRPr/>
          </a:p>
          <a:p>
            <a:pPr indent="-171450" lvl="0" marL="171450" rtl="0" algn="l">
              <a:spcBef>
                <a:spcPts val="0"/>
              </a:spcBef>
              <a:spcAft>
                <a:spcPts val="0"/>
              </a:spcAft>
              <a:buClr>
                <a:schemeClr val="dk1"/>
              </a:buClr>
              <a:buSzPts val="1200"/>
              <a:buFont typeface="Arial"/>
              <a:buChar char="•"/>
            </a:pPr>
            <a:r>
              <a:rPr lang="en-US"/>
              <a:t>lighter header font</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9" name="Google Shape;12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0" name="Google Shape;126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0" name="Google Shape;12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4" name="Google Shape;12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5" name="Google Shape;12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4" name="Google Shape;131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3" name="Google Shape;13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4" name="Google Shape;132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3" name="Google Shape;133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4" name="Google Shape;133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1" name="Google Shape;13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1" name="Google Shape;143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 for this animation: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all works out pretty nice and looks pretty simple!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But of course the devil is in the details, as the saying goes.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a:p>
        </p:txBody>
      </p:sp>
      <p:sp>
        <p:nvSpPr>
          <p:cNvPr id="1470" name="Google Shape;147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4" name="Google Shape;14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5" name="Google Shape;14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4" name="Google Shape;151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5" name="Google Shape;151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1" name="Google Shape;155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2" name="Google Shape;155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8" name="Google Shape;15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9" name="Google Shape;15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5" name="Google Shape;162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6" name="Google Shape;162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3" name="Google Shape;16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4" name="Google Shape;163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0" name="Google Shape;168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1" name="Google Shape;168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5" name="Google Shape;182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6" name="Google Shape;182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9" name="Google Shape;184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0" name="Google Shape;185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4" name="Shape 1894"/>
        <p:cNvGrpSpPr/>
        <p:nvPr/>
      </p:nvGrpSpPr>
      <p:grpSpPr>
        <a:xfrm>
          <a:off x="0" y="0"/>
          <a:ext cx="0" cy="0"/>
          <a:chOff x="0" y="0"/>
          <a:chExt cx="0" cy="0"/>
        </a:xfrm>
      </p:grpSpPr>
      <p:sp>
        <p:nvSpPr>
          <p:cNvPr id="1895" name="Google Shape;18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6" name="Google Shape;18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7" name="Google Shape;18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4" name="Google Shape;198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5" name="Google Shape;198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6" name="Google Shape;217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7" name="Google Shape;217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4" name="Google Shape;225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5" name="Google Shape;225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5" name="Shape 2295"/>
        <p:cNvGrpSpPr/>
        <p:nvPr/>
      </p:nvGrpSpPr>
      <p:grpSpPr>
        <a:xfrm>
          <a:off x="0" y="0"/>
          <a:ext cx="0" cy="0"/>
          <a:chOff x="0" y="0"/>
          <a:chExt cx="0" cy="0"/>
        </a:xfrm>
      </p:grpSpPr>
      <p:sp>
        <p:nvSpPr>
          <p:cNvPr id="2296" name="Google Shape;229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7" name="Google Shape;229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8" name="Google Shape;229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5" name="Google Shape;237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You might think that more buffering is a good thing.  Buffering is a bit like salt—just the right amount of salt makes food better, but too much makes it inedible!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2376" name="Google Shape;237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0" name="Shape 2390"/>
        <p:cNvGrpSpPr/>
        <p:nvPr/>
      </p:nvGrpSpPr>
      <p:grpSpPr>
        <a:xfrm>
          <a:off x="0" y="0"/>
          <a:ext cx="0" cy="0"/>
          <a:chOff x="0" y="0"/>
          <a:chExt cx="0" cy="0"/>
        </a:xfrm>
      </p:grpSpPr>
      <p:sp>
        <p:nvSpPr>
          <p:cNvPr id="2391" name="Google Shape;239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2" name="Google Shape;239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3" name="Google Shape;239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6" name="Shape 2446"/>
        <p:cNvGrpSpPr/>
        <p:nvPr/>
      </p:nvGrpSpPr>
      <p:grpSpPr>
        <a:xfrm>
          <a:off x="0" y="0"/>
          <a:ext cx="0" cy="0"/>
          <a:chOff x="0" y="0"/>
          <a:chExt cx="0" cy="0"/>
        </a:xfrm>
      </p:grpSpPr>
      <p:sp>
        <p:nvSpPr>
          <p:cNvPr id="2447" name="Google Shape;244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8" name="Google Shape;244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9" name="Google Shape;244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0" name="Google Shape;248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1" name="Google Shape;248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9" name="Shape 2599"/>
        <p:cNvGrpSpPr/>
        <p:nvPr/>
      </p:nvGrpSpPr>
      <p:grpSpPr>
        <a:xfrm>
          <a:off x="0" y="0"/>
          <a:ext cx="0" cy="0"/>
          <a:chOff x="0" y="0"/>
          <a:chExt cx="0" cy="0"/>
        </a:xfrm>
      </p:grpSpPr>
      <p:sp>
        <p:nvSpPr>
          <p:cNvPr id="2600" name="Google Shape;260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1" name="Google Shape;260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2" name="Google Shape;2602;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7" name="Shape 2667"/>
        <p:cNvGrpSpPr/>
        <p:nvPr/>
      </p:nvGrpSpPr>
      <p:grpSpPr>
        <a:xfrm>
          <a:off x="0" y="0"/>
          <a:ext cx="0" cy="0"/>
          <a:chOff x="0" y="0"/>
          <a:chExt cx="0" cy="0"/>
        </a:xfrm>
      </p:grpSpPr>
      <p:sp>
        <p:nvSpPr>
          <p:cNvPr id="2668" name="Google Shape;266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9" name="Google Shape;266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0" name="Google Shape;267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2" name="Shape 2752"/>
        <p:cNvGrpSpPr/>
        <p:nvPr/>
      </p:nvGrpSpPr>
      <p:grpSpPr>
        <a:xfrm>
          <a:off x="0" y="0"/>
          <a:ext cx="0" cy="0"/>
          <a:chOff x="0" y="0"/>
          <a:chExt cx="0" cy="0"/>
        </a:xfrm>
      </p:grpSpPr>
      <p:sp>
        <p:nvSpPr>
          <p:cNvPr id="2753" name="Google Shape;275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4" name="Google Shape;275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5" name="Google Shape;2755;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1" name="Shape 2761"/>
        <p:cNvGrpSpPr/>
        <p:nvPr/>
      </p:nvGrpSpPr>
      <p:grpSpPr>
        <a:xfrm>
          <a:off x="0" y="0"/>
          <a:ext cx="0" cy="0"/>
          <a:chOff x="0" y="0"/>
          <a:chExt cx="0" cy="0"/>
        </a:xfrm>
      </p:grpSpPr>
      <p:sp>
        <p:nvSpPr>
          <p:cNvPr id="2762" name="Google Shape;276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3" name="Google Shape;276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4" name="Google Shape;276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9" name="Shape 2769"/>
        <p:cNvGrpSpPr/>
        <p:nvPr/>
      </p:nvGrpSpPr>
      <p:grpSpPr>
        <a:xfrm>
          <a:off x="0" y="0"/>
          <a:ext cx="0" cy="0"/>
          <a:chOff x="0" y="0"/>
          <a:chExt cx="0" cy="0"/>
        </a:xfrm>
      </p:grpSpPr>
      <p:sp>
        <p:nvSpPr>
          <p:cNvPr id="2770" name="Google Shape;277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1" name="Google Shape;277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2" name="Google Shape;277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8" name="Shape 2778"/>
        <p:cNvGrpSpPr/>
        <p:nvPr/>
      </p:nvGrpSpPr>
      <p:grpSpPr>
        <a:xfrm>
          <a:off x="0" y="0"/>
          <a:ext cx="0" cy="0"/>
          <a:chOff x="0" y="0"/>
          <a:chExt cx="0" cy="0"/>
        </a:xfrm>
      </p:grpSpPr>
      <p:sp>
        <p:nvSpPr>
          <p:cNvPr id="2779" name="Google Shape;277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0" name="Google Shape;2780;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1" name="Google Shape;2781;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8" name="Shape 2788"/>
        <p:cNvGrpSpPr/>
        <p:nvPr/>
      </p:nvGrpSpPr>
      <p:grpSpPr>
        <a:xfrm>
          <a:off x="0" y="0"/>
          <a:ext cx="0" cy="0"/>
          <a:chOff x="0" y="0"/>
          <a:chExt cx="0" cy="0"/>
        </a:xfrm>
      </p:grpSpPr>
      <p:sp>
        <p:nvSpPr>
          <p:cNvPr id="2789" name="Google Shape;278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0" name="Google Shape;279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1" name="Google Shape;279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4" name="Shape 2824"/>
        <p:cNvGrpSpPr/>
        <p:nvPr/>
      </p:nvGrpSpPr>
      <p:grpSpPr>
        <a:xfrm>
          <a:off x="0" y="0"/>
          <a:ext cx="0" cy="0"/>
          <a:chOff x="0" y="0"/>
          <a:chExt cx="0" cy="0"/>
        </a:xfrm>
      </p:grpSpPr>
      <p:sp>
        <p:nvSpPr>
          <p:cNvPr id="2825" name="Google Shape;282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6" name="Google Shape;282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7" name="Google Shape;2827;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7" name="Shape 2907"/>
        <p:cNvGrpSpPr/>
        <p:nvPr/>
      </p:nvGrpSpPr>
      <p:grpSpPr>
        <a:xfrm>
          <a:off x="0" y="0"/>
          <a:ext cx="0" cy="0"/>
          <a:chOff x="0" y="0"/>
          <a:chExt cx="0" cy="0"/>
        </a:xfrm>
      </p:grpSpPr>
      <p:sp>
        <p:nvSpPr>
          <p:cNvPr id="2908" name="Google Shape;290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9" name="Google Shape;290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0" name="Google Shape;2910;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2" name="Shape 2982"/>
        <p:cNvGrpSpPr/>
        <p:nvPr/>
      </p:nvGrpSpPr>
      <p:grpSpPr>
        <a:xfrm>
          <a:off x="0" y="0"/>
          <a:ext cx="0" cy="0"/>
          <a:chOff x="0" y="0"/>
          <a:chExt cx="0" cy="0"/>
        </a:xfrm>
      </p:grpSpPr>
      <p:sp>
        <p:nvSpPr>
          <p:cNvPr id="2983" name="Google Shape;298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4" name="Google Shape;298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5" name="Google Shape;2985;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9" name="Shape 3059"/>
        <p:cNvGrpSpPr/>
        <p:nvPr/>
      </p:nvGrpSpPr>
      <p:grpSpPr>
        <a:xfrm>
          <a:off x="0" y="0"/>
          <a:ext cx="0" cy="0"/>
          <a:chOff x="0" y="0"/>
          <a:chExt cx="0" cy="0"/>
        </a:xfrm>
      </p:grpSpPr>
      <p:sp>
        <p:nvSpPr>
          <p:cNvPr id="3060" name="Google Shape;306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1" name="Google Shape;306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2" name="Google Shape;3062;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1" name="Shape 3151"/>
        <p:cNvGrpSpPr/>
        <p:nvPr/>
      </p:nvGrpSpPr>
      <p:grpSpPr>
        <a:xfrm>
          <a:off x="0" y="0"/>
          <a:ext cx="0" cy="0"/>
          <a:chOff x="0" y="0"/>
          <a:chExt cx="0" cy="0"/>
        </a:xfrm>
      </p:grpSpPr>
      <p:sp>
        <p:nvSpPr>
          <p:cNvPr id="3152" name="Google Shape;315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3" name="Google Shape;315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4" name="Google Shape;3154;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7" name="Shape 3217"/>
        <p:cNvGrpSpPr/>
        <p:nvPr/>
      </p:nvGrpSpPr>
      <p:grpSpPr>
        <a:xfrm>
          <a:off x="0" y="0"/>
          <a:ext cx="0" cy="0"/>
          <a:chOff x="0" y="0"/>
          <a:chExt cx="0" cy="0"/>
        </a:xfrm>
      </p:grpSpPr>
      <p:sp>
        <p:nvSpPr>
          <p:cNvPr id="3218" name="Google Shape;321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9" name="Google Shape;321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0" name="Google Shape;3220;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2" name="Shape 3292"/>
        <p:cNvGrpSpPr/>
        <p:nvPr/>
      </p:nvGrpSpPr>
      <p:grpSpPr>
        <a:xfrm>
          <a:off x="0" y="0"/>
          <a:ext cx="0" cy="0"/>
          <a:chOff x="0" y="0"/>
          <a:chExt cx="0" cy="0"/>
        </a:xfrm>
      </p:grpSpPr>
      <p:sp>
        <p:nvSpPr>
          <p:cNvPr id="3293" name="Google Shape;329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4" name="Google Shape;329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5" name="Google Shape;3295;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3" name="Shape 3403"/>
        <p:cNvGrpSpPr/>
        <p:nvPr/>
      </p:nvGrpSpPr>
      <p:grpSpPr>
        <a:xfrm>
          <a:off x="0" y="0"/>
          <a:ext cx="0" cy="0"/>
          <a:chOff x="0" y="0"/>
          <a:chExt cx="0" cy="0"/>
        </a:xfrm>
      </p:grpSpPr>
      <p:sp>
        <p:nvSpPr>
          <p:cNvPr id="3404" name="Google Shape;340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5" name="Google Shape;340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6" name="Google Shape;3406;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0" name="Shape 3420"/>
        <p:cNvGrpSpPr/>
        <p:nvPr/>
      </p:nvGrpSpPr>
      <p:grpSpPr>
        <a:xfrm>
          <a:off x="0" y="0"/>
          <a:ext cx="0" cy="0"/>
          <a:chOff x="0" y="0"/>
          <a:chExt cx="0" cy="0"/>
        </a:xfrm>
      </p:grpSpPr>
      <p:sp>
        <p:nvSpPr>
          <p:cNvPr id="3421" name="Google Shape;342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2" name="Google Shape;342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3" name="Google Shape;3423;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9" name="Shape 3429"/>
        <p:cNvGrpSpPr/>
        <p:nvPr/>
      </p:nvGrpSpPr>
      <p:grpSpPr>
        <a:xfrm>
          <a:off x="0" y="0"/>
          <a:ext cx="0" cy="0"/>
          <a:chOff x="0" y="0"/>
          <a:chExt cx="0" cy="0"/>
        </a:xfrm>
      </p:grpSpPr>
      <p:sp>
        <p:nvSpPr>
          <p:cNvPr id="3430" name="Google Shape;343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1" name="Google Shape;343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2" name="Google Shape;343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8" name="Shape 3438"/>
        <p:cNvGrpSpPr/>
        <p:nvPr/>
      </p:nvGrpSpPr>
      <p:grpSpPr>
        <a:xfrm>
          <a:off x="0" y="0"/>
          <a:ext cx="0" cy="0"/>
          <a:chOff x="0" y="0"/>
          <a:chExt cx="0" cy="0"/>
        </a:xfrm>
      </p:grpSpPr>
      <p:sp>
        <p:nvSpPr>
          <p:cNvPr id="3439" name="Google Shape;343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0" name="Google Shape;344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1" name="Google Shape;344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8" name="Shape 3568"/>
        <p:cNvGrpSpPr/>
        <p:nvPr/>
      </p:nvGrpSpPr>
      <p:grpSpPr>
        <a:xfrm>
          <a:off x="0" y="0"/>
          <a:ext cx="0" cy="0"/>
          <a:chOff x="0" y="0"/>
          <a:chExt cx="0" cy="0"/>
        </a:xfrm>
      </p:grpSpPr>
      <p:sp>
        <p:nvSpPr>
          <p:cNvPr id="3569" name="Google Shape;356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0" name="Google Shape;3570;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1" name="Google Shape;3571;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5" name="Shape 3665"/>
        <p:cNvGrpSpPr/>
        <p:nvPr/>
      </p:nvGrpSpPr>
      <p:grpSpPr>
        <a:xfrm>
          <a:off x="0" y="0"/>
          <a:ext cx="0" cy="0"/>
          <a:chOff x="0" y="0"/>
          <a:chExt cx="0" cy="0"/>
        </a:xfrm>
      </p:grpSpPr>
      <p:sp>
        <p:nvSpPr>
          <p:cNvPr id="3666" name="Google Shape;366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7" name="Google Shape;3667;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8" name="Google Shape;3668;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3" name="Shape 3673"/>
        <p:cNvGrpSpPr/>
        <p:nvPr/>
      </p:nvGrpSpPr>
      <p:grpSpPr>
        <a:xfrm>
          <a:off x="0" y="0"/>
          <a:ext cx="0" cy="0"/>
          <a:chOff x="0" y="0"/>
          <a:chExt cx="0" cy="0"/>
        </a:xfrm>
      </p:grpSpPr>
      <p:sp>
        <p:nvSpPr>
          <p:cNvPr id="3674" name="Google Shape;367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5" name="Google Shape;3675;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6" name="Google Shape;367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9" name="Shape 3869"/>
        <p:cNvGrpSpPr/>
        <p:nvPr/>
      </p:nvGrpSpPr>
      <p:grpSpPr>
        <a:xfrm>
          <a:off x="0" y="0"/>
          <a:ext cx="0" cy="0"/>
          <a:chOff x="0" y="0"/>
          <a:chExt cx="0" cy="0"/>
        </a:xfrm>
      </p:grpSpPr>
      <p:sp>
        <p:nvSpPr>
          <p:cNvPr id="3870" name="Google Shape;387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1" name="Google Shape;3871;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2" name="Google Shape;3872;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9" name="Shape 4059"/>
        <p:cNvGrpSpPr/>
        <p:nvPr/>
      </p:nvGrpSpPr>
      <p:grpSpPr>
        <a:xfrm>
          <a:off x="0" y="0"/>
          <a:ext cx="0" cy="0"/>
          <a:chOff x="0" y="0"/>
          <a:chExt cx="0" cy="0"/>
        </a:xfrm>
      </p:grpSpPr>
      <p:sp>
        <p:nvSpPr>
          <p:cNvPr id="4060" name="Google Shape;406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1" name="Google Shape;406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2" name="Google Shape;406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9" name="Shape 4069"/>
        <p:cNvGrpSpPr/>
        <p:nvPr/>
      </p:nvGrpSpPr>
      <p:grpSpPr>
        <a:xfrm>
          <a:off x="0" y="0"/>
          <a:ext cx="0" cy="0"/>
          <a:chOff x="0" y="0"/>
          <a:chExt cx="0" cy="0"/>
        </a:xfrm>
      </p:grpSpPr>
      <p:sp>
        <p:nvSpPr>
          <p:cNvPr id="4070" name="Google Shape;4070;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1" name="Google Shape;4071;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2" name="Google Shape;4072;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7" name="Shape 4117"/>
        <p:cNvGrpSpPr/>
        <p:nvPr/>
      </p:nvGrpSpPr>
      <p:grpSpPr>
        <a:xfrm>
          <a:off x="0" y="0"/>
          <a:ext cx="0" cy="0"/>
          <a:chOff x="0" y="0"/>
          <a:chExt cx="0" cy="0"/>
        </a:xfrm>
      </p:grpSpPr>
      <p:sp>
        <p:nvSpPr>
          <p:cNvPr id="4118" name="Google Shape;411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9" name="Google Shape;411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0" name="Google Shape;412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3" name="Shape 4173"/>
        <p:cNvGrpSpPr/>
        <p:nvPr/>
      </p:nvGrpSpPr>
      <p:grpSpPr>
        <a:xfrm>
          <a:off x="0" y="0"/>
          <a:ext cx="0" cy="0"/>
          <a:chOff x="0" y="0"/>
          <a:chExt cx="0" cy="0"/>
        </a:xfrm>
      </p:grpSpPr>
      <p:sp>
        <p:nvSpPr>
          <p:cNvPr id="4174" name="Google Shape;4174;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5" name="Google Shape;4175;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6" name="Google Shape;4176;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4" name="Shape 4224"/>
        <p:cNvGrpSpPr/>
        <p:nvPr/>
      </p:nvGrpSpPr>
      <p:grpSpPr>
        <a:xfrm>
          <a:off x="0" y="0"/>
          <a:ext cx="0" cy="0"/>
          <a:chOff x="0" y="0"/>
          <a:chExt cx="0" cy="0"/>
        </a:xfrm>
      </p:grpSpPr>
      <p:sp>
        <p:nvSpPr>
          <p:cNvPr id="4225" name="Google Shape;4225;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6" name="Google Shape;4226;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7" name="Google Shape;4227;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4" name="Shape 4234"/>
        <p:cNvGrpSpPr/>
        <p:nvPr/>
      </p:nvGrpSpPr>
      <p:grpSpPr>
        <a:xfrm>
          <a:off x="0" y="0"/>
          <a:ext cx="0" cy="0"/>
          <a:chOff x="0" y="0"/>
          <a:chExt cx="0" cy="0"/>
        </a:xfrm>
      </p:grpSpPr>
      <p:sp>
        <p:nvSpPr>
          <p:cNvPr id="4235" name="Google Shape;423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6" name="Google Shape;423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7" name="Google Shape;423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4" name="Shape 4244"/>
        <p:cNvGrpSpPr/>
        <p:nvPr/>
      </p:nvGrpSpPr>
      <p:grpSpPr>
        <a:xfrm>
          <a:off x="0" y="0"/>
          <a:ext cx="0" cy="0"/>
          <a:chOff x="0" y="0"/>
          <a:chExt cx="0" cy="0"/>
        </a:xfrm>
      </p:grpSpPr>
      <p:sp>
        <p:nvSpPr>
          <p:cNvPr id="4245" name="Google Shape;424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6" name="Google Shape;4246;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7" name="Google Shape;4247;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7" name="Shape 4297"/>
        <p:cNvGrpSpPr/>
        <p:nvPr/>
      </p:nvGrpSpPr>
      <p:grpSpPr>
        <a:xfrm>
          <a:off x="0" y="0"/>
          <a:ext cx="0" cy="0"/>
          <a:chOff x="0" y="0"/>
          <a:chExt cx="0" cy="0"/>
        </a:xfrm>
      </p:grpSpPr>
      <p:sp>
        <p:nvSpPr>
          <p:cNvPr id="4298" name="Google Shape;429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9" name="Google Shape;4299;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0" name="Google Shape;4300;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5" name="Shape 4305"/>
        <p:cNvGrpSpPr/>
        <p:nvPr/>
      </p:nvGrpSpPr>
      <p:grpSpPr>
        <a:xfrm>
          <a:off x="0" y="0"/>
          <a:ext cx="0" cy="0"/>
          <a:chOff x="0" y="0"/>
          <a:chExt cx="0" cy="0"/>
        </a:xfrm>
      </p:grpSpPr>
      <p:sp>
        <p:nvSpPr>
          <p:cNvPr id="4306" name="Google Shape;430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7" name="Google Shape;4307;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8" name="Google Shape;4308;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3" name="Shape 4313"/>
        <p:cNvGrpSpPr/>
        <p:nvPr/>
      </p:nvGrpSpPr>
      <p:grpSpPr>
        <a:xfrm>
          <a:off x="0" y="0"/>
          <a:ext cx="0" cy="0"/>
          <a:chOff x="0" y="0"/>
          <a:chExt cx="0" cy="0"/>
        </a:xfrm>
      </p:grpSpPr>
      <p:sp>
        <p:nvSpPr>
          <p:cNvPr id="4314" name="Google Shape;431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5" name="Google Shape;4315;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6" name="Google Shape;4316;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9" name="Shape 4429"/>
        <p:cNvGrpSpPr/>
        <p:nvPr/>
      </p:nvGrpSpPr>
      <p:grpSpPr>
        <a:xfrm>
          <a:off x="0" y="0"/>
          <a:ext cx="0" cy="0"/>
          <a:chOff x="0" y="0"/>
          <a:chExt cx="0" cy="0"/>
        </a:xfrm>
      </p:grpSpPr>
      <p:sp>
        <p:nvSpPr>
          <p:cNvPr id="4430" name="Google Shape;4430;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1" name="Google Shape;4431;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2" name="Google Shape;4432;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7" name="Shape 4437"/>
        <p:cNvGrpSpPr/>
        <p:nvPr/>
      </p:nvGrpSpPr>
      <p:grpSpPr>
        <a:xfrm>
          <a:off x="0" y="0"/>
          <a:ext cx="0" cy="0"/>
          <a:chOff x="0" y="0"/>
          <a:chExt cx="0" cy="0"/>
        </a:xfrm>
      </p:grpSpPr>
      <p:sp>
        <p:nvSpPr>
          <p:cNvPr id="4438" name="Google Shape;4438;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9" name="Google Shape;4439;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0" name="Google Shape;4440;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5" name="Shape 4445"/>
        <p:cNvGrpSpPr/>
        <p:nvPr/>
      </p:nvGrpSpPr>
      <p:grpSpPr>
        <a:xfrm>
          <a:off x="0" y="0"/>
          <a:ext cx="0" cy="0"/>
          <a:chOff x="0" y="0"/>
          <a:chExt cx="0" cy="0"/>
        </a:xfrm>
      </p:grpSpPr>
      <p:sp>
        <p:nvSpPr>
          <p:cNvPr id="4446" name="Google Shape;444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7" name="Google Shape;444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8" name="Google Shape;444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3" name="Shape 4483"/>
        <p:cNvGrpSpPr/>
        <p:nvPr/>
      </p:nvGrpSpPr>
      <p:grpSpPr>
        <a:xfrm>
          <a:off x="0" y="0"/>
          <a:ext cx="0" cy="0"/>
          <a:chOff x="0" y="0"/>
          <a:chExt cx="0" cy="0"/>
        </a:xfrm>
      </p:grpSpPr>
      <p:sp>
        <p:nvSpPr>
          <p:cNvPr id="4484" name="Google Shape;448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5" name="Google Shape;4485;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6" name="Google Shape;4486;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2" name="Shape 4542"/>
        <p:cNvGrpSpPr/>
        <p:nvPr/>
      </p:nvGrpSpPr>
      <p:grpSpPr>
        <a:xfrm>
          <a:off x="0" y="0"/>
          <a:ext cx="0" cy="0"/>
          <a:chOff x="0" y="0"/>
          <a:chExt cx="0" cy="0"/>
        </a:xfrm>
      </p:grpSpPr>
      <p:sp>
        <p:nvSpPr>
          <p:cNvPr id="4543" name="Google Shape;4543;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4" name="Google Shape;4544;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5" name="Google Shape;4545;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7" name="Shape 4717"/>
        <p:cNvGrpSpPr/>
        <p:nvPr/>
      </p:nvGrpSpPr>
      <p:grpSpPr>
        <a:xfrm>
          <a:off x="0" y="0"/>
          <a:ext cx="0" cy="0"/>
          <a:chOff x="0" y="0"/>
          <a:chExt cx="0" cy="0"/>
        </a:xfrm>
      </p:grpSpPr>
      <p:sp>
        <p:nvSpPr>
          <p:cNvPr id="4718" name="Google Shape;4718;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9" name="Google Shape;4719;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0" name="Google Shape;4720;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6" name="Shape 4886"/>
        <p:cNvGrpSpPr/>
        <p:nvPr/>
      </p:nvGrpSpPr>
      <p:grpSpPr>
        <a:xfrm>
          <a:off x="0" y="0"/>
          <a:ext cx="0" cy="0"/>
          <a:chOff x="0" y="0"/>
          <a:chExt cx="0" cy="0"/>
        </a:xfrm>
      </p:grpSpPr>
      <p:sp>
        <p:nvSpPr>
          <p:cNvPr id="4887" name="Google Shape;488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8" name="Google Shape;4888;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9" name="Google Shape;4889;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7" name="Shape 5067"/>
        <p:cNvGrpSpPr/>
        <p:nvPr/>
      </p:nvGrpSpPr>
      <p:grpSpPr>
        <a:xfrm>
          <a:off x="0" y="0"/>
          <a:ext cx="0" cy="0"/>
          <a:chOff x="0" y="0"/>
          <a:chExt cx="0" cy="0"/>
        </a:xfrm>
      </p:grpSpPr>
      <p:sp>
        <p:nvSpPr>
          <p:cNvPr id="5068" name="Google Shape;506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9" name="Google Shape;5069;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0" name="Google Shape;5070;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8" name="Shape 5078"/>
        <p:cNvGrpSpPr/>
        <p:nvPr/>
      </p:nvGrpSpPr>
      <p:grpSpPr>
        <a:xfrm>
          <a:off x="0" y="0"/>
          <a:ext cx="0" cy="0"/>
          <a:chOff x="0" y="0"/>
          <a:chExt cx="0" cy="0"/>
        </a:xfrm>
      </p:grpSpPr>
      <p:sp>
        <p:nvSpPr>
          <p:cNvPr id="5079" name="Google Shape;507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0" name="Google Shape;5080;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1" name="Google Shape;5081;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7" name="Shape 5087"/>
        <p:cNvGrpSpPr/>
        <p:nvPr/>
      </p:nvGrpSpPr>
      <p:grpSpPr>
        <a:xfrm>
          <a:off x="0" y="0"/>
          <a:ext cx="0" cy="0"/>
          <a:chOff x="0" y="0"/>
          <a:chExt cx="0" cy="0"/>
        </a:xfrm>
      </p:grpSpPr>
      <p:sp>
        <p:nvSpPr>
          <p:cNvPr id="5088" name="Google Shape;508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9" name="Google Shape;5089;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0" name="Google Shape;5090;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8" name="Shape 5098"/>
        <p:cNvGrpSpPr/>
        <p:nvPr/>
      </p:nvGrpSpPr>
      <p:grpSpPr>
        <a:xfrm>
          <a:off x="0" y="0"/>
          <a:ext cx="0" cy="0"/>
          <a:chOff x="0" y="0"/>
          <a:chExt cx="0" cy="0"/>
        </a:xfrm>
      </p:grpSpPr>
      <p:sp>
        <p:nvSpPr>
          <p:cNvPr id="5099" name="Google Shape;509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0" name="Google Shape;5100;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1" name="Google Shape;5101;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5" name="Shape 5325"/>
        <p:cNvGrpSpPr/>
        <p:nvPr/>
      </p:nvGrpSpPr>
      <p:grpSpPr>
        <a:xfrm>
          <a:off x="0" y="0"/>
          <a:ext cx="0" cy="0"/>
          <a:chOff x="0" y="0"/>
          <a:chExt cx="0" cy="0"/>
        </a:xfrm>
      </p:grpSpPr>
      <p:sp>
        <p:nvSpPr>
          <p:cNvPr id="5326" name="Google Shape;532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7" name="Google Shape;5327;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8" name="Google Shape;5328;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5" name="Shape 5355"/>
        <p:cNvGrpSpPr/>
        <p:nvPr/>
      </p:nvGrpSpPr>
      <p:grpSpPr>
        <a:xfrm>
          <a:off x="0" y="0"/>
          <a:ext cx="0" cy="0"/>
          <a:chOff x="0" y="0"/>
          <a:chExt cx="0" cy="0"/>
        </a:xfrm>
      </p:grpSpPr>
      <p:sp>
        <p:nvSpPr>
          <p:cNvPr id="5356" name="Google Shape;5356;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7" name="Google Shape;5357;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8" name="Google Shape;5358;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6" name="Shape 5396"/>
        <p:cNvGrpSpPr/>
        <p:nvPr/>
      </p:nvGrpSpPr>
      <p:grpSpPr>
        <a:xfrm>
          <a:off x="0" y="0"/>
          <a:ext cx="0" cy="0"/>
          <a:chOff x="0" y="0"/>
          <a:chExt cx="0" cy="0"/>
        </a:xfrm>
      </p:grpSpPr>
      <p:sp>
        <p:nvSpPr>
          <p:cNvPr id="5397" name="Google Shape;539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98" name="Google Shape;5398;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9" name="Google Shape;5399;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1" name="Shape 5441"/>
        <p:cNvGrpSpPr/>
        <p:nvPr/>
      </p:nvGrpSpPr>
      <p:grpSpPr>
        <a:xfrm>
          <a:off x="0" y="0"/>
          <a:ext cx="0" cy="0"/>
          <a:chOff x="0" y="0"/>
          <a:chExt cx="0" cy="0"/>
        </a:xfrm>
      </p:grpSpPr>
      <p:sp>
        <p:nvSpPr>
          <p:cNvPr id="5442" name="Google Shape;5442;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3" name="Google Shape;5443;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4" name="Google Shape;5444;p8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6" name="Shape 5576"/>
        <p:cNvGrpSpPr/>
        <p:nvPr/>
      </p:nvGrpSpPr>
      <p:grpSpPr>
        <a:xfrm>
          <a:off x="0" y="0"/>
          <a:ext cx="0" cy="0"/>
          <a:chOff x="0" y="0"/>
          <a:chExt cx="0" cy="0"/>
        </a:xfrm>
      </p:grpSpPr>
      <p:sp>
        <p:nvSpPr>
          <p:cNvPr id="5577" name="Google Shape;5577;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8" name="Google Shape;5578;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9" name="Google Shape;5579;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6" name="Shape 5626"/>
        <p:cNvGrpSpPr/>
        <p:nvPr/>
      </p:nvGrpSpPr>
      <p:grpSpPr>
        <a:xfrm>
          <a:off x="0" y="0"/>
          <a:ext cx="0" cy="0"/>
          <a:chOff x="0" y="0"/>
          <a:chExt cx="0" cy="0"/>
        </a:xfrm>
      </p:grpSpPr>
      <p:sp>
        <p:nvSpPr>
          <p:cNvPr id="5627" name="Google Shape;5627;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8" name="Google Shape;5628;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9" name="Google Shape;5629;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6" name="Shape 5636"/>
        <p:cNvGrpSpPr/>
        <p:nvPr/>
      </p:nvGrpSpPr>
      <p:grpSpPr>
        <a:xfrm>
          <a:off x="0" y="0"/>
          <a:ext cx="0" cy="0"/>
          <a:chOff x="0" y="0"/>
          <a:chExt cx="0" cy="0"/>
        </a:xfrm>
      </p:grpSpPr>
      <p:sp>
        <p:nvSpPr>
          <p:cNvPr id="5637" name="Google Shape;5637;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8" name="Google Shape;5638;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9" name="Google Shape;5639;p8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3" name="Shape 5763"/>
        <p:cNvGrpSpPr/>
        <p:nvPr/>
      </p:nvGrpSpPr>
      <p:grpSpPr>
        <a:xfrm>
          <a:off x="0" y="0"/>
          <a:ext cx="0" cy="0"/>
          <a:chOff x="0" y="0"/>
          <a:chExt cx="0" cy="0"/>
        </a:xfrm>
      </p:grpSpPr>
      <p:sp>
        <p:nvSpPr>
          <p:cNvPr id="5764" name="Google Shape;5764;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5" name="Google Shape;5765;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6" name="Google Shape;5766;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6" name="Shape 5916"/>
        <p:cNvGrpSpPr/>
        <p:nvPr/>
      </p:nvGrpSpPr>
      <p:grpSpPr>
        <a:xfrm>
          <a:off x="0" y="0"/>
          <a:ext cx="0" cy="0"/>
          <a:chOff x="0" y="0"/>
          <a:chExt cx="0" cy="0"/>
        </a:xfrm>
      </p:grpSpPr>
      <p:sp>
        <p:nvSpPr>
          <p:cNvPr id="5917" name="Google Shape;5917;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8" name="Google Shape;5918;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9" name="Google Shape;5919;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4" name="Shape 5924"/>
        <p:cNvGrpSpPr/>
        <p:nvPr/>
      </p:nvGrpSpPr>
      <p:grpSpPr>
        <a:xfrm>
          <a:off x="0" y="0"/>
          <a:ext cx="0" cy="0"/>
          <a:chOff x="0" y="0"/>
          <a:chExt cx="0" cy="0"/>
        </a:xfrm>
      </p:grpSpPr>
      <p:sp>
        <p:nvSpPr>
          <p:cNvPr id="5925" name="Google Shape;5925;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6" name="Google Shape;5926;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7" name="Google Shape;5927;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3" name="Shape 5933"/>
        <p:cNvGrpSpPr/>
        <p:nvPr/>
      </p:nvGrpSpPr>
      <p:grpSpPr>
        <a:xfrm>
          <a:off x="0" y="0"/>
          <a:ext cx="0" cy="0"/>
          <a:chOff x="0" y="0"/>
          <a:chExt cx="0" cy="0"/>
        </a:xfrm>
      </p:grpSpPr>
      <p:sp>
        <p:nvSpPr>
          <p:cNvPr id="5934" name="Google Shape;5934;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5" name="Google Shape;5935;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6" name="Google Shape;5936;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2" name="Shape 5942"/>
        <p:cNvGrpSpPr/>
        <p:nvPr/>
      </p:nvGrpSpPr>
      <p:grpSpPr>
        <a:xfrm>
          <a:off x="0" y="0"/>
          <a:ext cx="0" cy="0"/>
          <a:chOff x="0" y="0"/>
          <a:chExt cx="0" cy="0"/>
        </a:xfrm>
      </p:grpSpPr>
      <p:sp>
        <p:nvSpPr>
          <p:cNvPr id="5943" name="Google Shape;5943;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4" name="Google Shape;5944;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6" name="Shape 6456"/>
        <p:cNvGrpSpPr/>
        <p:nvPr/>
      </p:nvGrpSpPr>
      <p:grpSpPr>
        <a:xfrm>
          <a:off x="0" y="0"/>
          <a:ext cx="0" cy="0"/>
          <a:chOff x="0" y="0"/>
          <a:chExt cx="0" cy="0"/>
        </a:xfrm>
      </p:grpSpPr>
      <p:sp>
        <p:nvSpPr>
          <p:cNvPr id="6457" name="Google Shape;6457;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8" name="Google Shape;6458;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9" name="Google Shape;6459;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3" name="Shape 6463"/>
        <p:cNvGrpSpPr/>
        <p:nvPr/>
      </p:nvGrpSpPr>
      <p:grpSpPr>
        <a:xfrm>
          <a:off x="0" y="0"/>
          <a:ext cx="0" cy="0"/>
          <a:chOff x="0" y="0"/>
          <a:chExt cx="0" cy="0"/>
        </a:xfrm>
      </p:grpSpPr>
      <p:sp>
        <p:nvSpPr>
          <p:cNvPr id="6464" name="Google Shape;6464;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5" name="Google Shape;6465;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6" name="Google Shape;6466;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8" name="Shape 6518"/>
        <p:cNvGrpSpPr/>
        <p:nvPr/>
      </p:nvGrpSpPr>
      <p:grpSpPr>
        <a:xfrm>
          <a:off x="0" y="0"/>
          <a:ext cx="0" cy="0"/>
          <a:chOff x="0" y="0"/>
          <a:chExt cx="0" cy="0"/>
        </a:xfrm>
      </p:grpSpPr>
      <p:sp>
        <p:nvSpPr>
          <p:cNvPr id="6519" name="Google Shape;6519;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0" name="Google Shape;6520;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1" name="Google Shape;6521;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7" name="Shape 6577"/>
        <p:cNvGrpSpPr/>
        <p:nvPr/>
      </p:nvGrpSpPr>
      <p:grpSpPr>
        <a:xfrm>
          <a:off x="0" y="0"/>
          <a:ext cx="0" cy="0"/>
          <a:chOff x="0" y="0"/>
          <a:chExt cx="0" cy="0"/>
        </a:xfrm>
      </p:grpSpPr>
      <p:sp>
        <p:nvSpPr>
          <p:cNvPr id="6578" name="Google Shape;6578;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9" name="Google Shape;6579;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0" name="Google Shape;6580;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8" name="Shape 6588"/>
        <p:cNvGrpSpPr/>
        <p:nvPr/>
      </p:nvGrpSpPr>
      <p:grpSpPr>
        <a:xfrm>
          <a:off x="0" y="0"/>
          <a:ext cx="0" cy="0"/>
          <a:chOff x="0" y="0"/>
          <a:chExt cx="0" cy="0"/>
        </a:xfrm>
      </p:grpSpPr>
      <p:sp>
        <p:nvSpPr>
          <p:cNvPr id="6589" name="Google Shape;6589;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0" name="Google Shape;6590;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1" name="Google Shape;6591;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8" name="Shape 6948"/>
        <p:cNvGrpSpPr/>
        <p:nvPr/>
      </p:nvGrpSpPr>
      <p:grpSpPr>
        <a:xfrm>
          <a:off x="0" y="0"/>
          <a:ext cx="0" cy="0"/>
          <a:chOff x="0" y="0"/>
          <a:chExt cx="0" cy="0"/>
        </a:xfrm>
      </p:grpSpPr>
      <p:sp>
        <p:nvSpPr>
          <p:cNvPr id="6949" name="Google Shape;6949;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0" name="Google Shape;6950;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1" name="Google Shape;6951;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9" name="Shape 6959"/>
        <p:cNvGrpSpPr/>
        <p:nvPr/>
      </p:nvGrpSpPr>
      <p:grpSpPr>
        <a:xfrm>
          <a:off x="0" y="0"/>
          <a:ext cx="0" cy="0"/>
          <a:chOff x="0" y="0"/>
          <a:chExt cx="0" cy="0"/>
        </a:xfrm>
      </p:grpSpPr>
      <p:sp>
        <p:nvSpPr>
          <p:cNvPr id="6960" name="Google Shape;6960;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1" name="Google Shape;6961;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20</a:t>
            </a:r>
            <a:r>
              <a:rPr baseline="30000" lang="en-US" sz="1200">
                <a:solidFill>
                  <a:schemeClr val="dk1"/>
                </a:solidFill>
                <a:latin typeface="Calibri"/>
                <a:ea typeface="Calibri"/>
                <a:cs typeface="Calibri"/>
                <a:sym typeface="Calibri"/>
              </a:rPr>
              <a:t>th</a:t>
            </a:r>
            <a:r>
              <a:rPr lang="en-US" sz="1200">
                <a:solidFill>
                  <a:schemeClr val="dk1"/>
                </a:solidFill>
                <a:latin typeface="Calibri"/>
                <a:ea typeface="Calibri"/>
                <a:cs typeface="Calibri"/>
                <a:sym typeface="Calibri"/>
              </a:rPr>
              <a:t> century phone network had dumb network endpoints, really by definition.  The end points were rotary phones that maybe only your parents and grandparents remember; they weren’t computers.  They really </a:t>
            </a:r>
            <a:r>
              <a:rPr b="1" i="1" lang="en-US" sz="1200">
                <a:solidFill>
                  <a:schemeClr val="dk1"/>
                </a:solidFill>
                <a:latin typeface="Calibri"/>
                <a:ea typeface="Calibri"/>
                <a:cs typeface="Calibri"/>
                <a:sym typeface="Calibri"/>
              </a:rPr>
              <a:t>were</a:t>
            </a:r>
            <a:r>
              <a:rPr lang="en-US" sz="1200">
                <a:solidFill>
                  <a:schemeClr val="dk1"/>
                </a:solidFill>
                <a:latin typeface="Calibri"/>
                <a:ea typeface="Calibri"/>
                <a:cs typeface="Calibri"/>
                <a:sym typeface="Calibri"/>
              </a:rPr>
              <a:t> dumb devices, and therefore the phone network had programmable switches that were quite smart. </a:t>
            </a:r>
            <a:r>
              <a:rPr b="1" lang="en-US" sz="1200">
                <a:solidFill>
                  <a:schemeClr val="dk1"/>
                </a:solidFill>
                <a:latin typeface="Calibri"/>
                <a:ea typeface="Calibri"/>
                <a:cs typeface="Calibri"/>
                <a:sym typeface="Calibri"/>
              </a:rPr>
              <a:t>All</a:t>
            </a:r>
            <a:r>
              <a:rPr lang="en-US" sz="1200">
                <a:solidFill>
                  <a:schemeClr val="dk1"/>
                </a:solidFill>
                <a:latin typeface="Calibri"/>
                <a:ea typeface="Calibri"/>
                <a:cs typeface="Calibri"/>
                <a:sym typeface="Calibri"/>
              </a:rPr>
              <a:t> functionality – well, all of the intelligence - was implemented within the network. It HAD to be.  The end systems could not do anything more than send digits and send audio signals.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When the Internet came along, the endpoints and the switches were both programmable computers.  So where to put the complexity?  RFC 1958 – the architectural principles of the Internet RFC -  that says “intelligence is end to end rather than hidden in the network.” That puts the intelligence clearly at the edge, like we see here.  And that’s possible because the edge devices are smart; they’re programmable.  Well that’s the diagram as I remember it 20 years ago.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And in the 20 years since, as we see the rise of middleboxes and SDN, we’re now seeing intelligence (in software) layered on top of “dumb” whiteboxes within the network.  So I might add a brain here today. And with datacenters and content distribution networks, we see even smarter and more sophisticated application-level infrastructure being connected at points within the network.  So now there are clearly much much bigger, much more computationally intensive and complex, endpoints if you will in today’s Internet</a:t>
            </a:r>
            <a:r>
              <a:rPr lang="en-US"/>
              <a:t> </a:t>
            </a:r>
            <a:endParaRPr/>
          </a:p>
        </p:txBody>
      </p:sp>
      <p:sp>
        <p:nvSpPr>
          <p:cNvPr id="6962" name="Google Shape;6962;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0" name="Shape 7400"/>
        <p:cNvGrpSpPr/>
        <p:nvPr/>
      </p:nvGrpSpPr>
      <p:grpSpPr>
        <a:xfrm>
          <a:off x="0" y="0"/>
          <a:ext cx="0" cy="0"/>
          <a:chOff x="0" y="0"/>
          <a:chExt cx="0" cy="0"/>
        </a:xfrm>
      </p:grpSpPr>
      <p:sp>
        <p:nvSpPr>
          <p:cNvPr id="7401" name="Google Shape;7401;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2" name="Google Shape;7402;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0" name="Shape 7410"/>
        <p:cNvGrpSpPr/>
        <p:nvPr/>
      </p:nvGrpSpPr>
      <p:grpSpPr>
        <a:xfrm>
          <a:off x="0" y="0"/>
          <a:ext cx="0" cy="0"/>
          <a:chOff x="0" y="0"/>
          <a:chExt cx="0" cy="0"/>
        </a:xfrm>
      </p:grpSpPr>
      <p:sp>
        <p:nvSpPr>
          <p:cNvPr id="7411" name="Google Shape;7411;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2" name="Google Shape;7412;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3" name="Google Shape;7413;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7" name="Shape 7417"/>
        <p:cNvGrpSpPr/>
        <p:nvPr/>
      </p:nvGrpSpPr>
      <p:grpSpPr>
        <a:xfrm>
          <a:off x="0" y="0"/>
          <a:ext cx="0" cy="0"/>
          <a:chOff x="0" y="0"/>
          <a:chExt cx="0" cy="0"/>
        </a:xfrm>
      </p:grpSpPr>
      <p:sp>
        <p:nvSpPr>
          <p:cNvPr id="7418" name="Google Shape;741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9" name="Google Shape;7419;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0" name="Google Shape;7420;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7" name="Shape 7547"/>
        <p:cNvGrpSpPr/>
        <p:nvPr/>
      </p:nvGrpSpPr>
      <p:grpSpPr>
        <a:xfrm>
          <a:off x="0" y="0"/>
          <a:ext cx="0" cy="0"/>
          <a:chOff x="0" y="0"/>
          <a:chExt cx="0" cy="0"/>
        </a:xfrm>
      </p:grpSpPr>
      <p:sp>
        <p:nvSpPr>
          <p:cNvPr id="7548" name="Google Shape;7548;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9" name="Google Shape;7549;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0" name="Google Shape;7550;p1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2" name="Shape 7612"/>
        <p:cNvGrpSpPr/>
        <p:nvPr/>
      </p:nvGrpSpPr>
      <p:grpSpPr>
        <a:xfrm>
          <a:off x="0" y="0"/>
          <a:ext cx="0" cy="0"/>
          <a:chOff x="0" y="0"/>
          <a:chExt cx="0" cy="0"/>
        </a:xfrm>
      </p:grpSpPr>
      <p:sp>
        <p:nvSpPr>
          <p:cNvPr id="7613" name="Google Shape;7613;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4" name="Google Shape;7614;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5" name="Google Shape;7615;p10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20" Type="http://schemas.openxmlformats.org/officeDocument/2006/relationships/image" Target="../media/image21.png"/><Relationship Id="rId11" Type="http://schemas.openxmlformats.org/officeDocument/2006/relationships/image" Target="../media/image42.png"/><Relationship Id="rId22" Type="http://schemas.openxmlformats.org/officeDocument/2006/relationships/image" Target="../media/image34.png"/><Relationship Id="rId10" Type="http://schemas.openxmlformats.org/officeDocument/2006/relationships/image" Target="../media/image7.png"/><Relationship Id="rId21" Type="http://schemas.openxmlformats.org/officeDocument/2006/relationships/image" Target="../media/image24.png"/><Relationship Id="rId13" Type="http://schemas.openxmlformats.org/officeDocument/2006/relationships/image" Target="../media/image3.png"/><Relationship Id="rId12" Type="http://schemas.openxmlformats.org/officeDocument/2006/relationships/image" Target="../media/image2.png"/><Relationship Id="rId23" Type="http://schemas.openxmlformats.org/officeDocument/2006/relationships/image" Target="../media/image44.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9.png"/><Relationship Id="rId15" Type="http://schemas.openxmlformats.org/officeDocument/2006/relationships/image" Target="../media/image18.png"/><Relationship Id="rId14" Type="http://schemas.openxmlformats.org/officeDocument/2006/relationships/image" Target="../media/image20.png"/><Relationship Id="rId17" Type="http://schemas.openxmlformats.org/officeDocument/2006/relationships/image" Target="../media/image12.png"/><Relationship Id="rId16" Type="http://schemas.openxmlformats.org/officeDocument/2006/relationships/image" Target="../media/image26.png"/><Relationship Id="rId5" Type="http://schemas.openxmlformats.org/officeDocument/2006/relationships/image" Target="../media/image19.png"/><Relationship Id="rId19" Type="http://schemas.openxmlformats.org/officeDocument/2006/relationships/image" Target="../media/image16.png"/><Relationship Id="rId6" Type="http://schemas.openxmlformats.org/officeDocument/2006/relationships/image" Target="../media/image5.png"/><Relationship Id="rId18" Type="http://schemas.openxmlformats.org/officeDocument/2006/relationships/image" Target="../media/image14.png"/><Relationship Id="rId7" Type="http://schemas.openxmlformats.org/officeDocument/2006/relationships/image" Target="../media/image6.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0.jpg"/><Relationship Id="rId4"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6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2.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8.png"/><Relationship Id="rId4" Type="http://schemas.openxmlformats.org/officeDocument/2006/relationships/image" Target="../media/image4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7.png"/><Relationship Id="rId4"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7.png"/><Relationship Id="rId4" Type="http://schemas.openxmlformats.org/officeDocument/2006/relationships/image" Target="../media/image5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6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3.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55.png"/><Relationship Id="rId4" Type="http://schemas.openxmlformats.org/officeDocument/2006/relationships/image" Target="../media/image4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55.png"/><Relationship Id="rId4" Type="http://schemas.openxmlformats.org/officeDocument/2006/relationships/image" Target="../media/image4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13.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20" Type="http://schemas.openxmlformats.org/officeDocument/2006/relationships/image" Target="../media/image34.png"/><Relationship Id="rId11" Type="http://schemas.openxmlformats.org/officeDocument/2006/relationships/image" Target="../media/image3.png"/><Relationship Id="rId22" Type="http://schemas.openxmlformats.org/officeDocument/2006/relationships/image" Target="../media/image19.png"/><Relationship Id="rId10" Type="http://schemas.openxmlformats.org/officeDocument/2006/relationships/image" Target="../media/image2.png"/><Relationship Id="rId21" Type="http://schemas.openxmlformats.org/officeDocument/2006/relationships/image" Target="../media/image44.png"/><Relationship Id="rId13" Type="http://schemas.openxmlformats.org/officeDocument/2006/relationships/image" Target="../media/image18.png"/><Relationship Id="rId12"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42.png"/><Relationship Id="rId15" Type="http://schemas.openxmlformats.org/officeDocument/2006/relationships/image" Target="../media/image12.png"/><Relationship Id="rId14" Type="http://schemas.openxmlformats.org/officeDocument/2006/relationships/image" Target="../media/image26.png"/><Relationship Id="rId17" Type="http://schemas.openxmlformats.org/officeDocument/2006/relationships/image" Target="../media/image16.png"/><Relationship Id="rId16" Type="http://schemas.openxmlformats.org/officeDocument/2006/relationships/image" Target="../media/image14.png"/><Relationship Id="rId5" Type="http://schemas.openxmlformats.org/officeDocument/2006/relationships/image" Target="../media/image5.png"/><Relationship Id="rId19" Type="http://schemas.openxmlformats.org/officeDocument/2006/relationships/image" Target="../media/image24.png"/><Relationship Id="rId6" Type="http://schemas.openxmlformats.org/officeDocument/2006/relationships/image" Target="../media/image6.png"/><Relationship Id="rId18" Type="http://schemas.openxmlformats.org/officeDocument/2006/relationships/image" Target="../media/image21.png"/><Relationship Id="rId7" Type="http://schemas.openxmlformats.org/officeDocument/2006/relationships/image" Target="../media/image10.png"/><Relationship Id="rId8" Type="http://schemas.openxmlformats.org/officeDocument/2006/relationships/image" Target="../media/image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1.png"/><Relationship Id="rId4" Type="http://schemas.openxmlformats.org/officeDocument/2006/relationships/image" Target="../media/image18.png"/><Relationship Id="rId9" Type="http://schemas.openxmlformats.org/officeDocument/2006/relationships/image" Target="../media/image20.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image" Target="../media/image5.png"/><Relationship Id="rId8" Type="http://schemas.openxmlformats.org/officeDocument/2006/relationships/image" Target="../media/image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74.png"/><Relationship Id="rId13" Type="http://schemas.openxmlformats.org/officeDocument/2006/relationships/image" Target="../media/image12.png"/><Relationship Id="rId12" Type="http://schemas.openxmlformats.org/officeDocument/2006/relationships/image" Target="../media/image44.png"/><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70.png"/><Relationship Id="rId4" Type="http://schemas.openxmlformats.org/officeDocument/2006/relationships/image" Target="../media/image73.png"/><Relationship Id="rId9" Type="http://schemas.openxmlformats.org/officeDocument/2006/relationships/image" Target="../media/image14.png"/><Relationship Id="rId5" Type="http://schemas.openxmlformats.org/officeDocument/2006/relationships/image" Target="../media/image71.png"/><Relationship Id="rId6" Type="http://schemas.openxmlformats.org/officeDocument/2006/relationships/image" Target="../media/image16.png"/><Relationship Id="rId7" Type="http://schemas.openxmlformats.org/officeDocument/2006/relationships/image" Target="../media/image21.png"/><Relationship Id="rId8" Type="http://schemas.openxmlformats.org/officeDocument/2006/relationships/image" Target="../media/image2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3.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3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sp>
        <p:nvSpPr>
          <p:cNvPr id="35" name="Google Shape;35;p6"/>
          <p:cNvSpPr/>
          <p:nvPr/>
        </p:nvSpPr>
        <p:spPr>
          <a:xfrm>
            <a:off x="1325034" y="561975"/>
            <a:ext cx="5127523" cy="193968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4</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Network Layer:</a:t>
            </a:r>
            <a:endParaRPr/>
          </a:p>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Data Plane</a:t>
            </a:r>
            <a:endParaRPr/>
          </a:p>
        </p:txBody>
      </p:sp>
      <p:sp>
        <p:nvSpPr>
          <p:cNvPr id="36" name="Google Shape;36;p6"/>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7" name="Google Shape;37;p6"/>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pic>
        <p:nvPicPr>
          <p:cNvPr descr="A picture containing outdoor, water, bridge, building&#10;&#10;Description automatically generated" id="38" name="Google Shape;38;p6"/>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Network layer: our goals</a:t>
            </a:r>
            <a:endParaRPr/>
          </a:p>
        </p:txBody>
      </p:sp>
      <p:sp>
        <p:nvSpPr>
          <p:cNvPr id="45" name="Google Shape;45;p7"/>
          <p:cNvSpPr txBox="1"/>
          <p:nvPr>
            <p:ph idx="1" type="body"/>
          </p:nvPr>
        </p:nvSpPr>
        <p:spPr>
          <a:xfrm>
            <a:off x="838200" y="1572572"/>
            <a:ext cx="5181600" cy="4698465"/>
          </a:xfrm>
          <a:prstGeom prst="rect">
            <a:avLst/>
          </a:prstGeom>
          <a:noFill/>
          <a:ln>
            <a:noFill/>
          </a:ln>
        </p:spPr>
        <p:txBody>
          <a:bodyPr anchorCtr="0" anchor="t" bIns="45700" lIns="91425" spcFirstLastPara="1" rIns="91425" wrap="square" tIns="45700">
            <a:normAutofit/>
          </a:bodyPr>
          <a:lstStyle/>
          <a:p>
            <a:pPr indent="-212725" lvl="0" marL="342900" rtl="0" algn="l">
              <a:lnSpc>
                <a:spcPct val="90000"/>
              </a:lnSpc>
              <a:spcBef>
                <a:spcPts val="0"/>
              </a:spcBef>
              <a:spcAft>
                <a:spcPts val="0"/>
              </a:spcAft>
              <a:buSzPts val="3200"/>
              <a:buFont typeface="Noto Sans Symbols"/>
              <a:buChar char="▪"/>
            </a:pPr>
            <a:r>
              <a:rPr lang="en-US" sz="3200"/>
              <a:t>understand principles behind network layer services, focusing on data plane:</a:t>
            </a:r>
            <a:endParaRPr/>
          </a:p>
          <a:p>
            <a:pPr indent="-231775" lvl="1" marL="695325" rtl="0" algn="l">
              <a:lnSpc>
                <a:spcPct val="90000"/>
              </a:lnSpc>
              <a:spcBef>
                <a:spcPts val="500"/>
              </a:spcBef>
              <a:spcAft>
                <a:spcPts val="0"/>
              </a:spcAft>
              <a:buSzPts val="2800"/>
              <a:buFont typeface="Arial"/>
              <a:buChar char="•"/>
            </a:pPr>
            <a:r>
              <a:rPr lang="en-US" sz="2800"/>
              <a:t>network layer service models</a:t>
            </a:r>
            <a:endParaRPr/>
          </a:p>
          <a:p>
            <a:pPr indent="-231775" lvl="1" marL="695325" rtl="0" algn="l">
              <a:lnSpc>
                <a:spcPct val="90000"/>
              </a:lnSpc>
              <a:spcBef>
                <a:spcPts val="500"/>
              </a:spcBef>
              <a:spcAft>
                <a:spcPts val="0"/>
              </a:spcAft>
              <a:buSzPts val="2800"/>
              <a:buFont typeface="Arial"/>
              <a:buChar char="•"/>
            </a:pPr>
            <a:r>
              <a:rPr lang="en-US" sz="2800"/>
              <a:t>forwarding versus routing</a:t>
            </a:r>
            <a:endParaRPr/>
          </a:p>
          <a:p>
            <a:pPr indent="-231775" lvl="1" marL="695325" rtl="0" algn="l">
              <a:lnSpc>
                <a:spcPct val="90000"/>
              </a:lnSpc>
              <a:spcBef>
                <a:spcPts val="500"/>
              </a:spcBef>
              <a:spcAft>
                <a:spcPts val="0"/>
              </a:spcAft>
              <a:buSzPts val="2800"/>
              <a:buFont typeface="Arial"/>
              <a:buChar char="•"/>
            </a:pPr>
            <a:r>
              <a:rPr lang="en-US" sz="2800"/>
              <a:t>how a router works</a:t>
            </a:r>
            <a:endParaRPr/>
          </a:p>
          <a:p>
            <a:pPr indent="-231775" lvl="1" marL="695325" rtl="0" algn="l">
              <a:lnSpc>
                <a:spcPct val="90000"/>
              </a:lnSpc>
              <a:spcBef>
                <a:spcPts val="500"/>
              </a:spcBef>
              <a:spcAft>
                <a:spcPts val="0"/>
              </a:spcAft>
              <a:buSzPts val="2800"/>
              <a:buFont typeface="Arial"/>
              <a:buChar char="•"/>
            </a:pPr>
            <a:r>
              <a:rPr lang="en-US" sz="2800"/>
              <a:t>addressing</a:t>
            </a:r>
            <a:endParaRPr/>
          </a:p>
          <a:p>
            <a:pPr indent="-231775" lvl="1" marL="695325" rtl="0" algn="l">
              <a:lnSpc>
                <a:spcPct val="90000"/>
              </a:lnSpc>
              <a:spcBef>
                <a:spcPts val="500"/>
              </a:spcBef>
              <a:spcAft>
                <a:spcPts val="0"/>
              </a:spcAft>
              <a:buSzPts val="2800"/>
              <a:buFont typeface="Arial"/>
              <a:buChar char="•"/>
            </a:pPr>
            <a:r>
              <a:rPr lang="en-US" sz="2800"/>
              <a:t>generalized forwarding</a:t>
            </a:r>
            <a:endParaRPr/>
          </a:p>
          <a:p>
            <a:pPr indent="-231775" lvl="1" marL="695325" rtl="0" algn="l">
              <a:lnSpc>
                <a:spcPct val="90000"/>
              </a:lnSpc>
              <a:spcBef>
                <a:spcPts val="500"/>
              </a:spcBef>
              <a:spcAft>
                <a:spcPts val="0"/>
              </a:spcAft>
              <a:buSzPts val="2800"/>
              <a:buFont typeface="Arial"/>
              <a:buChar char="•"/>
            </a:pPr>
            <a:r>
              <a:rPr lang="en-US" sz="2800"/>
              <a:t>Internet architecture</a:t>
            </a:r>
            <a:endParaRPr/>
          </a:p>
          <a:p>
            <a:pPr indent="0" lvl="0" marL="130175" rtl="0" algn="l">
              <a:lnSpc>
                <a:spcPct val="90000"/>
              </a:lnSpc>
              <a:spcBef>
                <a:spcPts val="1000"/>
              </a:spcBef>
              <a:spcAft>
                <a:spcPts val="0"/>
              </a:spcAft>
              <a:buSzPts val="2800"/>
              <a:buNone/>
            </a:pPr>
            <a:r>
              <a:t/>
            </a:r>
            <a:endParaRPr/>
          </a:p>
        </p:txBody>
      </p:sp>
      <p:sp>
        <p:nvSpPr>
          <p:cNvPr id="46" name="Google Shape;46;p7"/>
          <p:cNvSpPr txBox="1"/>
          <p:nvPr>
            <p:ph idx="2" type="body"/>
          </p:nvPr>
        </p:nvSpPr>
        <p:spPr>
          <a:xfrm>
            <a:off x="6172199" y="1572573"/>
            <a:ext cx="5584371" cy="4351338"/>
          </a:xfrm>
          <a:prstGeom prst="rect">
            <a:avLst/>
          </a:prstGeom>
          <a:noFill/>
          <a:ln>
            <a:noFill/>
          </a:ln>
        </p:spPr>
        <p:txBody>
          <a:bodyPr anchorCtr="0" anchor="t" bIns="45700" lIns="91425" spcFirstLastPara="1" rIns="91425" wrap="square" tIns="45700">
            <a:normAutofit/>
          </a:bodyPr>
          <a:lstStyle/>
          <a:p>
            <a:pPr indent="-277813" lvl="0" marL="407988" rtl="0" algn="l">
              <a:lnSpc>
                <a:spcPct val="90000"/>
              </a:lnSpc>
              <a:spcBef>
                <a:spcPts val="0"/>
              </a:spcBef>
              <a:spcAft>
                <a:spcPts val="0"/>
              </a:spcAft>
              <a:buSzPts val="3200"/>
              <a:buChar char="▪"/>
            </a:pPr>
            <a:r>
              <a:rPr lang="en-US" sz="3200"/>
              <a:t>instantiation, implementation in the Internet</a:t>
            </a:r>
            <a:endParaRPr/>
          </a:p>
          <a:p>
            <a:pPr indent="-231775" lvl="1" marL="695325" rtl="0" algn="l">
              <a:lnSpc>
                <a:spcPct val="90000"/>
              </a:lnSpc>
              <a:spcBef>
                <a:spcPts val="500"/>
              </a:spcBef>
              <a:spcAft>
                <a:spcPts val="0"/>
              </a:spcAft>
              <a:buSzPts val="2800"/>
              <a:buChar char="•"/>
            </a:pPr>
            <a:r>
              <a:rPr lang="en-US" sz="2800"/>
              <a:t>IP protocol</a:t>
            </a:r>
            <a:endParaRPr/>
          </a:p>
          <a:p>
            <a:pPr indent="-231775" lvl="1" marL="695325" rtl="0" algn="l">
              <a:lnSpc>
                <a:spcPct val="90000"/>
              </a:lnSpc>
              <a:spcBef>
                <a:spcPts val="500"/>
              </a:spcBef>
              <a:spcAft>
                <a:spcPts val="0"/>
              </a:spcAft>
              <a:buSzPts val="2800"/>
              <a:buChar char="•"/>
            </a:pPr>
            <a:r>
              <a:rPr lang="en-US" sz="2800"/>
              <a:t>NAT, middleboxes</a:t>
            </a:r>
            <a:endParaRPr/>
          </a:p>
        </p:txBody>
      </p:sp>
      <p:sp>
        <p:nvSpPr>
          <p:cNvPr id="47" name="Google Shape;47;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0" st="0"/>
                                            </p:txEl>
                                          </p:spTgt>
                                        </p:tgtEl>
                                        <p:attrNameLst>
                                          <p:attrName>style.visibility</p:attrName>
                                        </p:attrNameLst>
                                      </p:cBhvr>
                                      <p:to>
                                        <p:strVal val="visible"/>
                                      </p:to>
                                    </p:set>
                                    <p:animEffect filter="fade" transition="in">
                                      <p:cBhvr>
                                        <p:cTn dur="500"/>
                                        <p:tgtEl>
                                          <p:spTgt spid="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1" st="1"/>
                                            </p:txEl>
                                          </p:spTgt>
                                        </p:tgtEl>
                                        <p:attrNameLst>
                                          <p:attrName>style.visibility</p:attrName>
                                        </p:attrNameLst>
                                      </p:cBhvr>
                                      <p:to>
                                        <p:strVal val="visible"/>
                                      </p:to>
                                    </p:set>
                                    <p:animEffect filter="fade" transition="in">
                                      <p:cBhvr>
                                        <p:cTn dur="500"/>
                                        <p:tgtEl>
                                          <p:spTgt spid="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xEl>
                                              <p:pRg end="2" st="2"/>
                                            </p:txEl>
                                          </p:spTgt>
                                        </p:tgtEl>
                                        <p:attrNameLst>
                                          <p:attrName>style.visibility</p:attrName>
                                        </p:attrNameLst>
                                      </p:cBhvr>
                                      <p:to>
                                        <p:strVal val="visible"/>
                                      </p:to>
                                    </p:set>
                                    <p:animEffect filter="fade" transition="in">
                                      <p:cBhvr>
                                        <p:cTn dur="500"/>
                                        <p:tgtEl>
                                          <p:spTgt spid="4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54" name="Google Shape;54;p8"/>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SzPts val="3200"/>
              <a:buChar char="▪"/>
            </a:pPr>
            <a:r>
              <a:rPr lang="en-US" sz="3200">
                <a:solidFill>
                  <a:srgbClr val="CC0000"/>
                </a:solidFill>
              </a:rPr>
              <a:t>Network layer: overview</a:t>
            </a:r>
            <a:endParaRPr/>
          </a:p>
          <a:p>
            <a:pPr indent="-231775" lvl="1" marL="695325" rtl="0" algn="l">
              <a:lnSpc>
                <a:spcPct val="90000"/>
              </a:lnSpc>
              <a:spcBef>
                <a:spcPts val="0"/>
              </a:spcBef>
              <a:spcAft>
                <a:spcPts val="0"/>
              </a:spcAft>
              <a:buSzPts val="2800"/>
              <a:buChar char="•"/>
            </a:pPr>
            <a:r>
              <a:rPr lang="en-US" sz="2800">
                <a:solidFill>
                  <a:srgbClr val="CC0000"/>
                </a:solidFill>
              </a:rPr>
              <a:t>data plane</a:t>
            </a:r>
            <a:endParaRPr/>
          </a:p>
          <a:p>
            <a:pPr indent="-231775" lvl="1" marL="695325" rtl="0" algn="l">
              <a:lnSpc>
                <a:spcPct val="90000"/>
              </a:lnSpc>
              <a:spcBef>
                <a:spcPts val="0"/>
              </a:spcBef>
              <a:spcAft>
                <a:spcPts val="0"/>
              </a:spcAft>
              <a:buSzPts val="2800"/>
              <a:buChar char="•"/>
            </a:pPr>
            <a:r>
              <a:rPr lang="en-US" sz="2800">
                <a:solidFill>
                  <a:srgbClr val="CC0000"/>
                </a:solidFill>
              </a:rPr>
              <a:t>control plane</a:t>
            </a:r>
            <a:endParaRPr/>
          </a:p>
        </p:txBody>
      </p:sp>
      <p:pic>
        <p:nvPicPr>
          <p:cNvPr descr="A train crossing a bridge over a body of water&#10;&#10;Description automatically generated" id="55" name="Google Shape;55;p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6" name="Google Shape;56;p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Generalized Forwarding, SDN</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Match+action</a:t>
            </a:r>
            <a:endParaRPr b="0" i="0" sz="2800" u="none" cap="none" strike="noStrike">
              <a:solidFill>
                <a:schemeClr val="dk1"/>
              </a:solidFill>
              <a:latin typeface="Calibri"/>
              <a:ea typeface="Calibri"/>
              <a:cs typeface="Calibri"/>
              <a:sym typeface="Calibri"/>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7" name="Google Shape;57;p8"/>
          <p:cNvSpPr txBox="1"/>
          <p:nvPr>
            <p:ph idx="12" type="sldNum"/>
          </p:nvPr>
        </p:nvSpPr>
        <p:spPr>
          <a:xfrm>
            <a:off x="9219616" y="646539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8" name="Google Shape;58;p8"/>
          <p:cNvSpPr txBox="1"/>
          <p:nvPr/>
        </p:nvSpPr>
        <p:spPr>
          <a:xfrm>
            <a:off x="563462" y="2806957"/>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What’s inside a router</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input ports, switching, output ports</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buffer management, scheduling</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IP: the Internet Protocol</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datagram format</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addressing</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network address translation</a:t>
            </a:r>
            <a:endParaRPr/>
          </a:p>
          <a:p>
            <a:pPr indent="-231775" lvl="1" marL="6953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IPv6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animEffect filter="fade" transition="in">
                                      <p:cBhvr>
                                        <p:cTn dur="500"/>
                                        <p:tgtEl>
                                          <p:spTgt spid="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animEffect filter="fade" transition="in">
                                      <p:cBhvr>
                                        <p:cTn dur="500"/>
                                        <p:tgtEl>
                                          <p:spTgt spid="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2" st="2"/>
                                            </p:txEl>
                                          </p:spTgt>
                                        </p:tgtEl>
                                        <p:attrNameLst>
                                          <p:attrName>style.visibility</p:attrName>
                                        </p:attrNameLst>
                                      </p:cBhvr>
                                      <p:to>
                                        <p:strVal val="visible"/>
                                      </p:to>
                                    </p:set>
                                    <p:animEffect filter="fade" transition="in">
                                      <p:cBhvr>
                                        <p:cTn dur="500"/>
                                        <p:tgtEl>
                                          <p:spTgt spid="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3" st="3"/>
                                            </p:txEl>
                                          </p:spTgt>
                                        </p:tgtEl>
                                        <p:attrNameLst>
                                          <p:attrName>style.visibility</p:attrName>
                                        </p:attrNameLst>
                                      </p:cBhvr>
                                      <p:to>
                                        <p:strVal val="visible"/>
                                      </p:to>
                                    </p:set>
                                    <p:animEffect filter="fade" transition="in">
                                      <p:cBhvr>
                                        <p:cTn dur="500"/>
                                        <p:tgtEl>
                                          <p:spTgt spid="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4" st="4"/>
                                            </p:txEl>
                                          </p:spTgt>
                                        </p:tgtEl>
                                        <p:attrNameLst>
                                          <p:attrName>style.visibility</p:attrName>
                                        </p:attrNameLst>
                                      </p:cBhvr>
                                      <p:to>
                                        <p:strVal val="visible"/>
                                      </p:to>
                                    </p:set>
                                    <p:animEffect filter="fade" transition="in">
                                      <p:cBhvr>
                                        <p:cTn dur="500"/>
                                        <p:tgtEl>
                                          <p:spTgt spid="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5" st="5"/>
                                            </p:txEl>
                                          </p:spTgt>
                                        </p:tgtEl>
                                        <p:attrNameLst>
                                          <p:attrName>style.visibility</p:attrName>
                                        </p:attrNameLst>
                                      </p:cBhvr>
                                      <p:to>
                                        <p:strVal val="visible"/>
                                      </p:to>
                                    </p:set>
                                    <p:animEffect filter="fade" transition="in">
                                      <p:cBhvr>
                                        <p:cTn dur="500"/>
                                        <p:tgtEl>
                                          <p:spTgt spid="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6" st="6"/>
                                            </p:txEl>
                                          </p:spTgt>
                                        </p:tgtEl>
                                        <p:attrNameLst>
                                          <p:attrName>style.visibility</p:attrName>
                                        </p:attrNameLst>
                                      </p:cBhvr>
                                      <p:to>
                                        <p:strVal val="visible"/>
                                      </p:to>
                                    </p:set>
                                    <p:animEffect filter="fade" transition="in">
                                      <p:cBhvr>
                                        <p:cTn dur="500"/>
                                        <p:tgtEl>
                                          <p:spTgt spid="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7" st="7"/>
                                            </p:txEl>
                                          </p:spTgt>
                                        </p:tgtEl>
                                        <p:attrNameLst>
                                          <p:attrName>style.visibility</p:attrName>
                                        </p:attrNameLst>
                                      </p:cBhvr>
                                      <p:to>
                                        <p:strVal val="visible"/>
                                      </p:to>
                                    </p:set>
                                    <p:animEffect filter="fade" transition="in">
                                      <p:cBhvr>
                                        <p:cTn dur="500"/>
                                        <p:tgtEl>
                                          <p:spTgt spid="5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9"/>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Network-layer  services and protocols</a:t>
            </a:r>
            <a:endParaRPr sz="4400"/>
          </a:p>
        </p:txBody>
      </p:sp>
      <p:sp>
        <p:nvSpPr>
          <p:cNvPr id="65" name="Google Shape;65;p9"/>
          <p:cNvSpPr txBox="1"/>
          <p:nvPr/>
        </p:nvSpPr>
        <p:spPr>
          <a:xfrm>
            <a:off x="681218" y="1443831"/>
            <a:ext cx="5617981" cy="5284347"/>
          </a:xfrm>
          <a:prstGeom prst="rect">
            <a:avLst/>
          </a:prstGeom>
          <a:noFill/>
          <a:ln>
            <a:noFill/>
          </a:ln>
        </p:spPr>
        <p:txBody>
          <a:bodyPr anchorCtr="0" anchor="t" bIns="45700" lIns="91425" spcFirstLastPara="1" rIns="91425" wrap="square" tIns="45700">
            <a:normAutofit fontScale="92500" lnSpcReduction="10000"/>
          </a:bodyPr>
          <a:lstStyle/>
          <a:p>
            <a:pPr indent="-274638" lvl="0" marL="404813" marR="0" rtl="0" algn="l">
              <a:lnSpc>
                <a:spcPct val="90000"/>
              </a:lnSpc>
              <a:spcBef>
                <a:spcPts val="0"/>
              </a:spcBef>
              <a:spcAft>
                <a:spcPts val="0"/>
              </a:spcAft>
              <a:buClr>
                <a:srgbClr val="0000A3"/>
              </a:buClr>
              <a:buSzPct val="100000"/>
              <a:buFont typeface="Noto Sans Symbols"/>
              <a:buChar char="▪"/>
            </a:pPr>
            <a:r>
              <a:rPr b="0" i="0" lang="en-US" sz="3000" u="none" cap="none" strike="noStrike">
                <a:solidFill>
                  <a:srgbClr val="000000"/>
                </a:solidFill>
                <a:latin typeface="Calibri"/>
                <a:ea typeface="Calibri"/>
                <a:cs typeface="Calibri"/>
                <a:sym typeface="Calibri"/>
              </a:rPr>
              <a:t>transport segment from sending to receiving host </a:t>
            </a:r>
            <a:endParaRPr/>
          </a:p>
          <a:p>
            <a:pPr indent="-222250" lvl="1" marL="695325" marR="0" rtl="0" algn="l">
              <a:lnSpc>
                <a:spcPct val="90000"/>
              </a:lnSpc>
              <a:spcBef>
                <a:spcPts val="600"/>
              </a:spcBef>
              <a:spcAft>
                <a:spcPts val="0"/>
              </a:spcAft>
              <a:buClr>
                <a:srgbClr val="0000A3"/>
              </a:buClr>
              <a:buSzPct val="100000"/>
              <a:buFont typeface="Arial"/>
              <a:buChar char="•"/>
            </a:pPr>
            <a:r>
              <a:rPr b="0" i="0" lang="en-US" sz="2600" u="none" cap="none" strike="noStrike">
                <a:solidFill>
                  <a:srgbClr val="0013A3"/>
                </a:solidFill>
                <a:latin typeface="Calibri"/>
                <a:ea typeface="Calibri"/>
                <a:cs typeface="Calibri"/>
                <a:sym typeface="Calibri"/>
              </a:rPr>
              <a:t>sender: </a:t>
            </a:r>
            <a:r>
              <a:rPr b="0" i="0" lang="en-US" sz="2600" u="none" cap="none" strike="noStrike">
                <a:solidFill>
                  <a:srgbClr val="000000"/>
                </a:solidFill>
                <a:latin typeface="Calibri"/>
                <a:ea typeface="Calibri"/>
                <a:cs typeface="Calibri"/>
                <a:sym typeface="Calibri"/>
              </a:rPr>
              <a:t>encapsulates segments into datagrams, passes to link layer</a:t>
            </a:r>
            <a:endParaRPr/>
          </a:p>
          <a:p>
            <a:pPr indent="-222250" lvl="1" marL="695325" marR="0" rtl="0" algn="l">
              <a:lnSpc>
                <a:spcPct val="90000"/>
              </a:lnSpc>
              <a:spcBef>
                <a:spcPts val="600"/>
              </a:spcBef>
              <a:spcAft>
                <a:spcPts val="0"/>
              </a:spcAft>
              <a:buClr>
                <a:srgbClr val="0000A3"/>
              </a:buClr>
              <a:buSzPct val="100000"/>
              <a:buFont typeface="Arial"/>
              <a:buChar char="•"/>
            </a:pPr>
            <a:r>
              <a:rPr b="0" i="0" lang="en-US" sz="2600" u="none" cap="none" strike="noStrike">
                <a:solidFill>
                  <a:srgbClr val="0013A3"/>
                </a:solidFill>
                <a:latin typeface="Calibri"/>
                <a:ea typeface="Calibri"/>
                <a:cs typeface="Calibri"/>
                <a:sym typeface="Calibri"/>
              </a:rPr>
              <a:t>receiver: </a:t>
            </a:r>
            <a:r>
              <a:rPr b="0" i="0" lang="en-US" sz="2600" u="none" cap="none" strike="noStrike">
                <a:solidFill>
                  <a:srgbClr val="000000"/>
                </a:solidFill>
                <a:latin typeface="Calibri"/>
                <a:ea typeface="Calibri"/>
                <a:cs typeface="Calibri"/>
                <a:sym typeface="Calibri"/>
              </a:rPr>
              <a:t>delivers segments to transport layer protocol</a:t>
            </a:r>
            <a:endParaRPr/>
          </a:p>
          <a:p>
            <a:pPr indent="-274638" lvl="0" marL="404813"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000000"/>
                </a:solidFill>
                <a:latin typeface="Calibri"/>
                <a:ea typeface="Calibri"/>
                <a:cs typeface="Calibri"/>
                <a:sym typeface="Calibri"/>
              </a:rPr>
              <a:t>network layer protocols in </a:t>
            </a:r>
            <a:r>
              <a:rPr b="0" i="1" lang="en-US" sz="2800" u="none" cap="none" strike="noStrike">
                <a:solidFill>
                  <a:srgbClr val="000099"/>
                </a:solidFill>
                <a:latin typeface="Calibri"/>
                <a:ea typeface="Calibri"/>
                <a:cs typeface="Calibri"/>
                <a:sym typeface="Calibri"/>
              </a:rPr>
              <a:t>every Internet device</a:t>
            </a:r>
            <a:r>
              <a:rPr b="0" i="0" lang="en-US" sz="2800" u="none" cap="none" strike="noStrike">
                <a:solidFill>
                  <a:srgbClr val="000000"/>
                </a:solidFill>
                <a:latin typeface="Calibri"/>
                <a:ea typeface="Calibri"/>
                <a:cs typeface="Calibri"/>
                <a:sym typeface="Calibri"/>
              </a:rPr>
              <a:t>: hosts, routers</a:t>
            </a:r>
            <a:endParaRPr/>
          </a:p>
          <a:p>
            <a:pPr indent="-274638" lvl="0" marL="404813" marR="0" rtl="0" algn="l">
              <a:lnSpc>
                <a:spcPct val="90000"/>
              </a:lnSpc>
              <a:spcBef>
                <a:spcPts val="1000"/>
              </a:spcBef>
              <a:spcAft>
                <a:spcPts val="0"/>
              </a:spcAft>
              <a:buClr>
                <a:srgbClr val="0000A3"/>
              </a:buClr>
              <a:buSzPct val="100000"/>
              <a:buFont typeface="Noto Sans Symbols"/>
              <a:buChar char="▪"/>
            </a:pPr>
            <a:r>
              <a:rPr b="0" i="0" lang="en-US" sz="2800" u="none" cap="none" strike="noStrike">
                <a:solidFill>
                  <a:srgbClr val="C00000"/>
                </a:solidFill>
                <a:latin typeface="Calibri"/>
                <a:ea typeface="Calibri"/>
                <a:cs typeface="Calibri"/>
                <a:sym typeface="Calibri"/>
              </a:rPr>
              <a:t>routers</a:t>
            </a:r>
            <a:r>
              <a:rPr b="0" i="0" lang="en-US" sz="2800" u="none" cap="none" strike="noStrike">
                <a:solidFill>
                  <a:srgbClr val="000000"/>
                </a:solidFill>
                <a:latin typeface="Calibri"/>
                <a:ea typeface="Calibri"/>
                <a:cs typeface="Calibri"/>
                <a:sym typeface="Calibri"/>
              </a:rPr>
              <a:t>:</a:t>
            </a:r>
            <a:endParaRPr/>
          </a:p>
          <a:p>
            <a:pPr indent="-292099" lvl="1" marL="695325" marR="0" rtl="0" algn="l">
              <a:lnSpc>
                <a:spcPct val="99000"/>
              </a:lnSpc>
              <a:spcBef>
                <a:spcPts val="600"/>
              </a:spcBef>
              <a:spcAft>
                <a:spcPts val="0"/>
              </a:spcAft>
              <a:buClr>
                <a:srgbClr val="0000A3"/>
              </a:buClr>
              <a:buSzPct val="100000"/>
              <a:buFont typeface="Arial"/>
              <a:buChar char="•"/>
            </a:pPr>
            <a:r>
              <a:rPr b="0" i="0" lang="en-US" sz="2600" u="none" cap="none" strike="noStrike">
                <a:solidFill>
                  <a:srgbClr val="000000"/>
                </a:solidFill>
                <a:latin typeface="Calibri"/>
                <a:ea typeface="Calibri"/>
                <a:cs typeface="Calibri"/>
                <a:sym typeface="Calibri"/>
              </a:rPr>
              <a:t>examines header fields in all IP datagrams passing through it</a:t>
            </a:r>
            <a:endParaRPr/>
          </a:p>
          <a:p>
            <a:pPr indent="-292099" lvl="1" marL="695325" marR="0" rtl="0" algn="l">
              <a:lnSpc>
                <a:spcPct val="99000"/>
              </a:lnSpc>
              <a:spcBef>
                <a:spcPts val="600"/>
              </a:spcBef>
              <a:spcAft>
                <a:spcPts val="0"/>
              </a:spcAft>
              <a:buClr>
                <a:srgbClr val="0000A3"/>
              </a:buClr>
              <a:buSzPct val="100000"/>
              <a:buFont typeface="Arial"/>
              <a:buChar char="•"/>
            </a:pPr>
            <a:r>
              <a:rPr b="0" i="0" lang="en-US" sz="2600" u="none" cap="none" strike="noStrike">
                <a:solidFill>
                  <a:srgbClr val="000000"/>
                </a:solidFill>
                <a:latin typeface="Calibri"/>
                <a:ea typeface="Calibri"/>
                <a:cs typeface="Calibri"/>
                <a:sym typeface="Calibri"/>
              </a:rPr>
              <a:t>moves datagrams from input ports to output ports to transfer datagrams along end-end path</a:t>
            </a:r>
            <a:endParaRPr/>
          </a:p>
        </p:txBody>
      </p:sp>
      <p:sp>
        <p:nvSpPr>
          <p:cNvPr id="66" name="Google Shape;66;p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 name="Google Shape;67;p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 name="Google Shape;68;p9"/>
          <p:cNvGrpSpPr/>
          <p:nvPr/>
        </p:nvGrpSpPr>
        <p:grpSpPr>
          <a:xfrm>
            <a:off x="7205350" y="3289251"/>
            <a:ext cx="1458912" cy="933450"/>
            <a:chOff x="2889" y="1631"/>
            <a:chExt cx="980" cy="743"/>
          </a:xfrm>
        </p:grpSpPr>
        <p:sp>
          <p:nvSpPr>
            <p:cNvPr id="69" name="Google Shape;69;p9"/>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 name="Google Shape;70;p9"/>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71" name="Google Shape;71;p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 name="Google Shape;72;p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mobile network</a:t>
            </a:r>
            <a:endParaRPr/>
          </a:p>
        </p:txBody>
      </p:sp>
      <p:sp>
        <p:nvSpPr>
          <p:cNvPr id="73" name="Google Shape;73;p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74" name="Google Shape;74;p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75" name="Google Shape;75;p9"/>
          <p:cNvGrpSpPr/>
          <p:nvPr/>
        </p:nvGrpSpPr>
        <p:grpSpPr>
          <a:xfrm>
            <a:off x="10837700" y="3928050"/>
            <a:ext cx="687393" cy="721548"/>
            <a:chOff x="5203089" y="1751190"/>
            <a:chExt cx="858331" cy="662414"/>
          </a:xfrm>
        </p:grpSpPr>
        <p:sp>
          <p:nvSpPr>
            <p:cNvPr id="76" name="Google Shape;76;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 name="Google Shape;77;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8" name="Google Shape;78;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 name="Google Shape;79;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0" name="Google Shape;80;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81" name="Google Shape;81;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82" name="Google Shape;82;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83" name="Google Shape;83;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84" name="Google Shape;84;p9"/>
          <p:cNvGrpSpPr/>
          <p:nvPr/>
        </p:nvGrpSpPr>
        <p:grpSpPr>
          <a:xfrm>
            <a:off x="10771171" y="3194171"/>
            <a:ext cx="594613" cy="648336"/>
            <a:chOff x="5203089" y="1751190"/>
            <a:chExt cx="858331" cy="662414"/>
          </a:xfrm>
        </p:grpSpPr>
        <p:sp>
          <p:nvSpPr>
            <p:cNvPr id="85" name="Google Shape;85;p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 name="Google Shape;86;p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7" name="Google Shape;87;p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88" name="Google Shape;88;p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89" name="Google Shape;89;p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0" name="Google Shape;90;p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1" name="Google Shape;91;p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92" name="Google Shape;92;p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93" name="Google Shape;93;p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4" name="Google Shape;94;p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95" name="Google Shape;95;p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6" name="Google Shape;96;p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97" name="Google Shape;97;p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98" name="Google Shape;98;p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99" name="Google Shape;99;p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00" name="Google Shape;100;p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01" name="Google Shape;101;p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3" name="Google Shape;103;p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04" name="Google Shape;104;p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05" name="Google Shape;105;p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06" name="Google Shape;106;p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07" name="Google Shape;107;p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08" name="Google Shape;108;p9"/>
          <p:cNvGrpSpPr/>
          <p:nvPr/>
        </p:nvGrpSpPr>
        <p:grpSpPr>
          <a:xfrm>
            <a:off x="7562238" y="2127325"/>
            <a:ext cx="3578867" cy="3640284"/>
            <a:chOff x="7562238" y="2127325"/>
            <a:chExt cx="3578867" cy="3640284"/>
          </a:xfrm>
        </p:grpSpPr>
        <p:grpSp>
          <p:nvGrpSpPr>
            <p:cNvPr id="109" name="Google Shape;109;p9"/>
            <p:cNvGrpSpPr/>
            <p:nvPr/>
          </p:nvGrpSpPr>
          <p:grpSpPr>
            <a:xfrm>
              <a:off x="7857253" y="2127325"/>
              <a:ext cx="3283852" cy="3640284"/>
              <a:chOff x="7881336" y="2104198"/>
              <a:chExt cx="3283852" cy="3640284"/>
            </a:xfrm>
          </p:grpSpPr>
          <p:cxnSp>
            <p:nvCxnSpPr>
              <p:cNvPr id="110" name="Google Shape;110;p9"/>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11" name="Google Shape;111;p9"/>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12" name="Google Shape;112;p9"/>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13" name="Google Shape;113;p9"/>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14" name="Google Shape;114;p9"/>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9"/>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16" name="Google Shape;116;p9"/>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17" name="Google Shape;117;p9"/>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18" name="Google Shape;118;p9"/>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9"/>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9"/>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9"/>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9"/>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23" name="Google Shape;123;p9"/>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9"/>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25" name="Google Shape;125;p9"/>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6" name="Google Shape;126;p9"/>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7" name="Google Shape;127;p9"/>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28" name="Google Shape;128;p9"/>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29" name="Google Shape;129;p9"/>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30" name="Google Shape;130;p9"/>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31" name="Google Shape;131;p9"/>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32" name="Google Shape;132;p9"/>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33" name="Google Shape;133;p9"/>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34" name="Google Shape;134;p9"/>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35" name="Google Shape;135;p9"/>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36" name="Google Shape;136;p9"/>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37" name="Google Shape;137;p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138" name="Google Shape;138;p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39" name="Google Shape;139;p9"/>
          <p:cNvGrpSpPr/>
          <p:nvPr/>
        </p:nvGrpSpPr>
        <p:grpSpPr>
          <a:xfrm>
            <a:off x="8050698" y="2309376"/>
            <a:ext cx="298450" cy="464008"/>
            <a:chOff x="3130" y="3288"/>
            <a:chExt cx="410" cy="742"/>
          </a:xfrm>
        </p:grpSpPr>
        <p:cxnSp>
          <p:nvCxnSpPr>
            <p:cNvPr id="140" name="Google Shape;140;p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41" name="Google Shape;141;p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42" name="Google Shape;142;p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3" name="Google Shape;143;p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4" name="Google Shape;144;p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45" name="Google Shape;145;p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46" name="Google Shape;146;p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47" name="Google Shape;147;p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48" name="Google Shape;148;p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49" name="Google Shape;149;p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50" name="Google Shape;150;p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55" name="Google Shape;155;p9"/>
          <p:cNvPicPr preferRelativeResize="0"/>
          <p:nvPr/>
        </p:nvPicPr>
        <p:blipFill rotWithShape="1">
          <a:blip r:embed="rId6">
            <a:alphaModFix/>
          </a:blip>
          <a:srcRect b="0" l="0" r="0" t="0"/>
          <a:stretch/>
        </p:blipFill>
        <p:spPr>
          <a:xfrm>
            <a:off x="7613882" y="3861899"/>
            <a:ext cx="370169" cy="306751"/>
          </a:xfrm>
          <a:prstGeom prst="rect">
            <a:avLst/>
          </a:prstGeom>
          <a:noFill/>
          <a:ln>
            <a:noFill/>
          </a:ln>
        </p:spPr>
      </p:pic>
      <p:pic>
        <p:nvPicPr>
          <p:cNvPr descr="access_point_stylized_small" id="156" name="Google Shape;156;p9"/>
          <p:cNvPicPr preferRelativeResize="0"/>
          <p:nvPr/>
        </p:nvPicPr>
        <p:blipFill rotWithShape="1">
          <a:blip r:embed="rId6">
            <a:alphaModFix/>
          </a:blip>
          <a:srcRect b="0" l="0" r="0" t="0"/>
          <a:stretch/>
        </p:blipFill>
        <p:spPr>
          <a:xfrm>
            <a:off x="9290610" y="5524232"/>
            <a:ext cx="380935" cy="317464"/>
          </a:xfrm>
          <a:prstGeom prst="rect">
            <a:avLst/>
          </a:prstGeom>
          <a:noFill/>
          <a:ln>
            <a:noFill/>
          </a:ln>
        </p:spPr>
      </p:pic>
      <p:grpSp>
        <p:nvGrpSpPr>
          <p:cNvPr id="157" name="Google Shape;157;p9"/>
          <p:cNvGrpSpPr/>
          <p:nvPr/>
        </p:nvGrpSpPr>
        <p:grpSpPr>
          <a:xfrm>
            <a:off x="9849365" y="5339037"/>
            <a:ext cx="309740" cy="190838"/>
            <a:chOff x="3668110" y="2448910"/>
            <a:chExt cx="3794234" cy="2165130"/>
          </a:xfrm>
        </p:grpSpPr>
        <p:sp>
          <p:nvSpPr>
            <p:cNvPr id="158" name="Google Shape;158;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9" name="Google Shape;159;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60" name="Google Shape;160;p9"/>
            <p:cNvGrpSpPr/>
            <p:nvPr/>
          </p:nvGrpSpPr>
          <p:grpSpPr>
            <a:xfrm>
              <a:off x="3941378" y="2603243"/>
              <a:ext cx="3202061" cy="1066110"/>
              <a:chOff x="7939341" y="3037317"/>
              <a:chExt cx="897649" cy="353919"/>
            </a:xfrm>
          </p:grpSpPr>
          <p:sp>
            <p:nvSpPr>
              <p:cNvPr id="161" name="Google Shape;161;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 name="Google Shape;162;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3" name="Google Shape;163;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4" name="Google Shape;164;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65" name="Google Shape;165;p9"/>
          <p:cNvGrpSpPr/>
          <p:nvPr/>
        </p:nvGrpSpPr>
        <p:grpSpPr>
          <a:xfrm>
            <a:off x="8676619" y="4967420"/>
            <a:ext cx="393760" cy="218578"/>
            <a:chOff x="7493876" y="2774731"/>
            <a:chExt cx="1481958" cy="894622"/>
          </a:xfrm>
        </p:grpSpPr>
        <p:sp>
          <p:nvSpPr>
            <p:cNvPr id="166" name="Google Shape;16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67" name="Google Shape;16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68" name="Google Shape;168;p9"/>
            <p:cNvGrpSpPr/>
            <p:nvPr/>
          </p:nvGrpSpPr>
          <p:grpSpPr>
            <a:xfrm>
              <a:off x="7713663" y="2848339"/>
              <a:ext cx="1042107" cy="425543"/>
              <a:chOff x="7786941" y="2884917"/>
              <a:chExt cx="897649" cy="353919"/>
            </a:xfrm>
          </p:grpSpPr>
          <p:sp>
            <p:nvSpPr>
              <p:cNvPr id="169" name="Google Shape;16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0" name="Google Shape;17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1" name="Google Shape;17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2" name="Google Shape;17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73" name="Google Shape;173;p9"/>
          <p:cNvGrpSpPr/>
          <p:nvPr/>
        </p:nvGrpSpPr>
        <p:grpSpPr>
          <a:xfrm>
            <a:off x="8311520" y="5194433"/>
            <a:ext cx="309740" cy="190838"/>
            <a:chOff x="3668110" y="2448910"/>
            <a:chExt cx="3794234" cy="2165130"/>
          </a:xfrm>
        </p:grpSpPr>
        <p:sp>
          <p:nvSpPr>
            <p:cNvPr id="174" name="Google Shape;174;p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5" name="Google Shape;175;p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76" name="Google Shape;176;p9"/>
            <p:cNvGrpSpPr/>
            <p:nvPr/>
          </p:nvGrpSpPr>
          <p:grpSpPr>
            <a:xfrm>
              <a:off x="3941378" y="2603243"/>
              <a:ext cx="3202061" cy="1066110"/>
              <a:chOff x="7939341" y="3037317"/>
              <a:chExt cx="897649" cy="353919"/>
            </a:xfrm>
          </p:grpSpPr>
          <p:sp>
            <p:nvSpPr>
              <p:cNvPr id="177" name="Google Shape;177;p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8" name="Google Shape;178;p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9" name="Google Shape;179;p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0" name="Google Shape;180;p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1" name="Google Shape;181;p9"/>
          <p:cNvGrpSpPr/>
          <p:nvPr/>
        </p:nvGrpSpPr>
        <p:grpSpPr>
          <a:xfrm>
            <a:off x="8439827" y="2812309"/>
            <a:ext cx="353678" cy="168275"/>
            <a:chOff x="7493876" y="2774731"/>
            <a:chExt cx="1481958" cy="894622"/>
          </a:xfrm>
        </p:grpSpPr>
        <p:sp>
          <p:nvSpPr>
            <p:cNvPr id="182" name="Google Shape;18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83" name="Google Shape;18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84" name="Google Shape;184;p9"/>
            <p:cNvGrpSpPr/>
            <p:nvPr/>
          </p:nvGrpSpPr>
          <p:grpSpPr>
            <a:xfrm>
              <a:off x="7713663" y="2848339"/>
              <a:ext cx="1042107" cy="425543"/>
              <a:chOff x="7786941" y="2884917"/>
              <a:chExt cx="897649" cy="353919"/>
            </a:xfrm>
          </p:grpSpPr>
          <p:sp>
            <p:nvSpPr>
              <p:cNvPr id="185" name="Google Shape;18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6" name="Google Shape;18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7" name="Google Shape;18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88" name="Google Shape;18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89" name="Google Shape;189;p9"/>
          <p:cNvGrpSpPr/>
          <p:nvPr/>
        </p:nvGrpSpPr>
        <p:grpSpPr>
          <a:xfrm>
            <a:off x="10884085" y="3601365"/>
            <a:ext cx="170989" cy="97052"/>
            <a:chOff x="7493876" y="2774731"/>
            <a:chExt cx="1481958" cy="894622"/>
          </a:xfrm>
        </p:grpSpPr>
        <p:sp>
          <p:nvSpPr>
            <p:cNvPr id="190" name="Google Shape;19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1" name="Google Shape;19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192" name="Google Shape;192;p9"/>
            <p:cNvGrpSpPr/>
            <p:nvPr/>
          </p:nvGrpSpPr>
          <p:grpSpPr>
            <a:xfrm>
              <a:off x="7713663" y="2848339"/>
              <a:ext cx="1042107" cy="425543"/>
              <a:chOff x="7786941" y="2884917"/>
              <a:chExt cx="897649" cy="353919"/>
            </a:xfrm>
          </p:grpSpPr>
          <p:sp>
            <p:nvSpPr>
              <p:cNvPr id="193" name="Google Shape;19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 name="Google Shape;19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 name="Google Shape;19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197" name="Google Shape;197;p9"/>
          <p:cNvGrpSpPr/>
          <p:nvPr/>
        </p:nvGrpSpPr>
        <p:grpSpPr>
          <a:xfrm>
            <a:off x="10410609" y="3496138"/>
            <a:ext cx="353678" cy="198344"/>
            <a:chOff x="7493876" y="2774731"/>
            <a:chExt cx="1481958" cy="894622"/>
          </a:xfrm>
        </p:grpSpPr>
        <p:sp>
          <p:nvSpPr>
            <p:cNvPr id="198" name="Google Shape;19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9" name="Google Shape;19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0" name="Google Shape;200;p9"/>
            <p:cNvGrpSpPr/>
            <p:nvPr/>
          </p:nvGrpSpPr>
          <p:grpSpPr>
            <a:xfrm>
              <a:off x="7713663" y="2848339"/>
              <a:ext cx="1042107" cy="425543"/>
              <a:chOff x="7786941" y="2884917"/>
              <a:chExt cx="897649" cy="353919"/>
            </a:xfrm>
          </p:grpSpPr>
          <p:sp>
            <p:nvSpPr>
              <p:cNvPr id="201" name="Google Shape;20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2" name="Google Shape;20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3" name="Google Shape;20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 name="Google Shape;20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05" name="Google Shape;205;p9"/>
          <p:cNvGrpSpPr/>
          <p:nvPr/>
        </p:nvGrpSpPr>
        <p:grpSpPr>
          <a:xfrm>
            <a:off x="9948724" y="2202292"/>
            <a:ext cx="353678" cy="198344"/>
            <a:chOff x="7493876" y="2774731"/>
            <a:chExt cx="1481958" cy="894622"/>
          </a:xfrm>
        </p:grpSpPr>
        <p:sp>
          <p:nvSpPr>
            <p:cNvPr id="206" name="Google Shape;20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07" name="Google Shape;20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08" name="Google Shape;208;p9"/>
            <p:cNvGrpSpPr/>
            <p:nvPr/>
          </p:nvGrpSpPr>
          <p:grpSpPr>
            <a:xfrm>
              <a:off x="7713663" y="2848339"/>
              <a:ext cx="1042107" cy="425543"/>
              <a:chOff x="7786941" y="2884917"/>
              <a:chExt cx="897649" cy="353919"/>
            </a:xfrm>
          </p:grpSpPr>
          <p:sp>
            <p:nvSpPr>
              <p:cNvPr id="209" name="Google Shape;20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0" name="Google Shape;21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1" name="Google Shape;21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2" name="Google Shape;21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13" name="Google Shape;213;p9"/>
          <p:cNvGrpSpPr/>
          <p:nvPr/>
        </p:nvGrpSpPr>
        <p:grpSpPr>
          <a:xfrm>
            <a:off x="10527214" y="2613367"/>
            <a:ext cx="353678" cy="198344"/>
            <a:chOff x="7493876" y="2774731"/>
            <a:chExt cx="1481958" cy="894622"/>
          </a:xfrm>
        </p:grpSpPr>
        <p:sp>
          <p:nvSpPr>
            <p:cNvPr id="214" name="Google Shape;21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15" name="Google Shape;21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16" name="Google Shape;216;p9"/>
            <p:cNvGrpSpPr/>
            <p:nvPr/>
          </p:nvGrpSpPr>
          <p:grpSpPr>
            <a:xfrm>
              <a:off x="7713663" y="2848339"/>
              <a:ext cx="1042107" cy="425543"/>
              <a:chOff x="7786941" y="2884917"/>
              <a:chExt cx="897649" cy="353919"/>
            </a:xfrm>
          </p:grpSpPr>
          <p:sp>
            <p:nvSpPr>
              <p:cNvPr id="217" name="Google Shape;21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8" name="Google Shape;21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9" name="Google Shape;21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0" name="Google Shape;22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1" name="Google Shape;221;p9"/>
          <p:cNvGrpSpPr/>
          <p:nvPr/>
        </p:nvGrpSpPr>
        <p:grpSpPr>
          <a:xfrm>
            <a:off x="10643825" y="2107963"/>
            <a:ext cx="353678" cy="198344"/>
            <a:chOff x="7493876" y="2774731"/>
            <a:chExt cx="1481958" cy="894622"/>
          </a:xfrm>
        </p:grpSpPr>
        <p:sp>
          <p:nvSpPr>
            <p:cNvPr id="222" name="Google Shape;22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23" name="Google Shape;22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24" name="Google Shape;224;p9"/>
            <p:cNvGrpSpPr/>
            <p:nvPr/>
          </p:nvGrpSpPr>
          <p:grpSpPr>
            <a:xfrm>
              <a:off x="7713663" y="2848339"/>
              <a:ext cx="1042107" cy="425543"/>
              <a:chOff x="7786941" y="2884917"/>
              <a:chExt cx="897649" cy="353919"/>
            </a:xfrm>
          </p:grpSpPr>
          <p:sp>
            <p:nvSpPr>
              <p:cNvPr id="225" name="Google Shape;22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6" name="Google Shape;22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7" name="Google Shape;22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29" name="Google Shape;229;p9"/>
          <p:cNvGrpSpPr/>
          <p:nvPr/>
        </p:nvGrpSpPr>
        <p:grpSpPr>
          <a:xfrm>
            <a:off x="9980126" y="2661565"/>
            <a:ext cx="353678" cy="198344"/>
            <a:chOff x="7493876" y="2774731"/>
            <a:chExt cx="1481958" cy="894622"/>
          </a:xfrm>
        </p:grpSpPr>
        <p:sp>
          <p:nvSpPr>
            <p:cNvPr id="230" name="Google Shape;23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1" name="Google Shape;23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32" name="Google Shape;232;p9"/>
            <p:cNvGrpSpPr/>
            <p:nvPr/>
          </p:nvGrpSpPr>
          <p:grpSpPr>
            <a:xfrm>
              <a:off x="7713663" y="2848339"/>
              <a:ext cx="1042107" cy="425543"/>
              <a:chOff x="7786941" y="2884917"/>
              <a:chExt cx="897649" cy="353919"/>
            </a:xfrm>
          </p:grpSpPr>
          <p:sp>
            <p:nvSpPr>
              <p:cNvPr id="233" name="Google Shape;23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4" name="Google Shape;23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5" name="Google Shape;23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6" name="Google Shape;23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37" name="Google Shape;237;p9"/>
          <p:cNvGrpSpPr/>
          <p:nvPr/>
        </p:nvGrpSpPr>
        <p:grpSpPr>
          <a:xfrm>
            <a:off x="9497138" y="3394032"/>
            <a:ext cx="367224" cy="240304"/>
            <a:chOff x="7493876" y="2774731"/>
            <a:chExt cx="1481958" cy="894622"/>
          </a:xfrm>
        </p:grpSpPr>
        <p:sp>
          <p:nvSpPr>
            <p:cNvPr id="238" name="Google Shape;238;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39" name="Google Shape;239;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0" name="Google Shape;240;p9"/>
            <p:cNvGrpSpPr/>
            <p:nvPr/>
          </p:nvGrpSpPr>
          <p:grpSpPr>
            <a:xfrm>
              <a:off x="7713663" y="2848339"/>
              <a:ext cx="1042107" cy="425543"/>
              <a:chOff x="7786941" y="2884917"/>
              <a:chExt cx="897649" cy="353919"/>
            </a:xfrm>
          </p:grpSpPr>
          <p:sp>
            <p:nvSpPr>
              <p:cNvPr id="241" name="Google Shape;241;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2" name="Google Shape;242;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3" name="Google Shape;243;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4" name="Google Shape;244;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45" name="Google Shape;245;p9"/>
          <p:cNvGrpSpPr/>
          <p:nvPr/>
        </p:nvGrpSpPr>
        <p:grpSpPr>
          <a:xfrm>
            <a:off x="10375259" y="3992325"/>
            <a:ext cx="353678" cy="198344"/>
            <a:chOff x="7493876" y="2774731"/>
            <a:chExt cx="1481958" cy="894622"/>
          </a:xfrm>
        </p:grpSpPr>
        <p:sp>
          <p:nvSpPr>
            <p:cNvPr id="246" name="Google Shape;24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47" name="Google Shape;24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48" name="Google Shape;248;p9"/>
            <p:cNvGrpSpPr/>
            <p:nvPr/>
          </p:nvGrpSpPr>
          <p:grpSpPr>
            <a:xfrm>
              <a:off x="7713663" y="2848339"/>
              <a:ext cx="1042107" cy="425543"/>
              <a:chOff x="7786941" y="2884917"/>
              <a:chExt cx="897649" cy="353919"/>
            </a:xfrm>
          </p:grpSpPr>
          <p:sp>
            <p:nvSpPr>
              <p:cNvPr id="249" name="Google Shape;24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0" name="Google Shape;25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1" name="Google Shape;25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53" name="Google Shape;253;p9"/>
          <p:cNvGrpSpPr/>
          <p:nvPr/>
        </p:nvGrpSpPr>
        <p:grpSpPr>
          <a:xfrm>
            <a:off x="10925982" y="4369125"/>
            <a:ext cx="228295" cy="120400"/>
            <a:chOff x="7493876" y="2774731"/>
            <a:chExt cx="1481958" cy="894622"/>
          </a:xfrm>
        </p:grpSpPr>
        <p:sp>
          <p:nvSpPr>
            <p:cNvPr id="254" name="Google Shape;25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55" name="Google Shape;25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56" name="Google Shape;256;p9"/>
            <p:cNvGrpSpPr/>
            <p:nvPr/>
          </p:nvGrpSpPr>
          <p:grpSpPr>
            <a:xfrm>
              <a:off x="7713663" y="2848339"/>
              <a:ext cx="1042107" cy="425543"/>
              <a:chOff x="7786941" y="2884917"/>
              <a:chExt cx="897649" cy="353919"/>
            </a:xfrm>
          </p:grpSpPr>
          <p:sp>
            <p:nvSpPr>
              <p:cNvPr id="257" name="Google Shape;25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8" name="Google Shape;258;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9" name="Google Shape;259;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0" name="Google Shape;260;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261" name="Google Shape;261;p9"/>
          <p:cNvGrpSpPr/>
          <p:nvPr/>
        </p:nvGrpSpPr>
        <p:grpSpPr>
          <a:xfrm>
            <a:off x="7439074" y="2356613"/>
            <a:ext cx="534987" cy="414882"/>
            <a:chOff x="7432700" y="2327293"/>
            <a:chExt cx="534987" cy="414882"/>
          </a:xfrm>
        </p:grpSpPr>
        <p:pic>
          <p:nvPicPr>
            <p:cNvPr descr="antenna_stylized" id="262" name="Google Shape;262;p9"/>
            <p:cNvPicPr preferRelativeResize="0"/>
            <p:nvPr/>
          </p:nvPicPr>
          <p:blipFill rotWithShape="1">
            <a:blip r:embed="rId7">
              <a:alphaModFix/>
            </a:blip>
            <a:srcRect b="0" l="0" r="0" t="0"/>
            <a:stretch/>
          </p:blipFill>
          <p:spPr>
            <a:xfrm>
              <a:off x="7432700" y="2327293"/>
              <a:ext cx="530702" cy="223756"/>
            </a:xfrm>
            <a:prstGeom prst="rect">
              <a:avLst/>
            </a:prstGeom>
            <a:noFill/>
            <a:ln>
              <a:noFill/>
            </a:ln>
          </p:spPr>
        </p:pic>
        <p:pic>
          <p:nvPicPr>
            <p:cNvPr descr="laptop_keyboard" id="263" name="Google Shape;263;p9"/>
            <p:cNvPicPr preferRelativeResize="0"/>
            <p:nvPr/>
          </p:nvPicPr>
          <p:blipFill rotWithShape="1">
            <a:blip r:embed="rId8">
              <a:alphaModFix/>
            </a:blip>
            <a:srcRect b="0" l="0" r="0" t="0"/>
            <a:stretch/>
          </p:blipFill>
          <p:spPr>
            <a:xfrm flipH="1" rot="109064">
              <a:off x="7458407" y="2575770"/>
              <a:ext cx="437221" cy="159511"/>
            </a:xfrm>
            <a:prstGeom prst="rect">
              <a:avLst/>
            </a:prstGeom>
            <a:noFill/>
            <a:ln>
              <a:noFill/>
            </a:ln>
          </p:spPr>
        </p:pic>
        <p:sp>
          <p:nvSpPr>
            <p:cNvPr id="264" name="Google Shape;264;p9"/>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65" name="Google Shape;265;p9"/>
            <p:cNvPicPr preferRelativeResize="0"/>
            <p:nvPr/>
          </p:nvPicPr>
          <p:blipFill rotWithShape="1">
            <a:blip r:embed="rId9">
              <a:alphaModFix/>
            </a:blip>
            <a:srcRect b="0" l="0" r="0" t="0"/>
            <a:stretch/>
          </p:blipFill>
          <p:spPr>
            <a:xfrm>
              <a:off x="7620637" y="2426338"/>
              <a:ext cx="319785" cy="189429"/>
            </a:xfrm>
            <a:prstGeom prst="rect">
              <a:avLst/>
            </a:prstGeom>
            <a:noFill/>
            <a:ln>
              <a:noFill/>
            </a:ln>
          </p:spPr>
        </p:pic>
        <p:sp>
          <p:nvSpPr>
            <p:cNvPr id="266" name="Google Shape;266;p9"/>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7" name="Google Shape;267;p9"/>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8" name="Google Shape;268;p9"/>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9" name="Google Shape;269;p9"/>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0" name="Google Shape;270;p9"/>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1" name="Google Shape;271;p9"/>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72" name="Google Shape;272;p9"/>
            <p:cNvGrpSpPr/>
            <p:nvPr/>
          </p:nvGrpSpPr>
          <p:grpSpPr>
            <a:xfrm>
              <a:off x="7594735" y="2642220"/>
              <a:ext cx="98740" cy="36846"/>
              <a:chOff x="1740" y="2642"/>
              <a:chExt cx="752" cy="327"/>
            </a:xfrm>
          </p:grpSpPr>
          <p:sp>
            <p:nvSpPr>
              <p:cNvPr id="273" name="Google Shape;273;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4" name="Google Shape;274;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5" name="Google Shape;275;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6" name="Google Shape;276;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7" name="Google Shape;277;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8" name="Google Shape;278;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79" name="Google Shape;279;p9"/>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0" name="Google Shape;280;p9"/>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1" name="Google Shape;281;p9"/>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2" name="Google Shape;282;p9"/>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3" name="Google Shape;283;p9"/>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4" name="Google Shape;284;p9"/>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285" name="Google Shape;285;p9"/>
          <p:cNvGrpSpPr/>
          <p:nvPr/>
        </p:nvGrpSpPr>
        <p:grpSpPr>
          <a:xfrm>
            <a:off x="8637781" y="2319727"/>
            <a:ext cx="530702" cy="478009"/>
            <a:chOff x="8631407" y="2290407"/>
            <a:chExt cx="530702" cy="478009"/>
          </a:xfrm>
        </p:grpSpPr>
        <p:pic>
          <p:nvPicPr>
            <p:cNvPr descr="light2.png" id="286" name="Google Shape;286;p9"/>
            <p:cNvPicPr preferRelativeResize="0"/>
            <p:nvPr/>
          </p:nvPicPr>
          <p:blipFill rotWithShape="1">
            <a:blip r:embed="rId10">
              <a:alphaModFix/>
            </a:blip>
            <a:srcRect b="0" l="0" r="0" t="0"/>
            <a:stretch/>
          </p:blipFill>
          <p:spPr>
            <a:xfrm flipH="1">
              <a:off x="8825293" y="2362969"/>
              <a:ext cx="92772" cy="405447"/>
            </a:xfrm>
            <a:prstGeom prst="rect">
              <a:avLst/>
            </a:prstGeom>
            <a:noFill/>
            <a:ln>
              <a:noFill/>
            </a:ln>
          </p:spPr>
        </p:pic>
        <p:pic>
          <p:nvPicPr>
            <p:cNvPr descr="antenna_stylized" id="287" name="Google Shape;287;p9"/>
            <p:cNvPicPr preferRelativeResize="0"/>
            <p:nvPr/>
          </p:nvPicPr>
          <p:blipFill rotWithShape="1">
            <a:blip r:embed="rId7">
              <a:alphaModFix/>
            </a:blip>
            <a:srcRect b="0" l="0" r="0" t="0"/>
            <a:stretch/>
          </p:blipFill>
          <p:spPr>
            <a:xfrm>
              <a:off x="8631407" y="2290407"/>
              <a:ext cx="530702" cy="223756"/>
            </a:xfrm>
            <a:prstGeom prst="rect">
              <a:avLst/>
            </a:prstGeom>
            <a:noFill/>
            <a:ln>
              <a:noFill/>
            </a:ln>
          </p:spPr>
        </p:pic>
      </p:grpSp>
      <p:grpSp>
        <p:nvGrpSpPr>
          <p:cNvPr id="288" name="Google Shape;288;p9"/>
          <p:cNvGrpSpPr/>
          <p:nvPr/>
        </p:nvGrpSpPr>
        <p:grpSpPr>
          <a:xfrm>
            <a:off x="8499539" y="2059124"/>
            <a:ext cx="849312" cy="226109"/>
            <a:chOff x="8493165" y="2029804"/>
            <a:chExt cx="849312" cy="226109"/>
          </a:xfrm>
        </p:grpSpPr>
        <p:pic>
          <p:nvPicPr>
            <p:cNvPr descr="car_icon_small" id="289" name="Google Shape;289;p9"/>
            <p:cNvPicPr preferRelativeResize="0"/>
            <p:nvPr/>
          </p:nvPicPr>
          <p:blipFill rotWithShape="1">
            <a:blip r:embed="rId11">
              <a:alphaModFix/>
            </a:blip>
            <a:srcRect b="0" l="0" r="0" t="0"/>
            <a:stretch/>
          </p:blipFill>
          <p:spPr>
            <a:xfrm>
              <a:off x="8493165" y="2087638"/>
              <a:ext cx="849312" cy="168275"/>
            </a:xfrm>
            <a:prstGeom prst="rect">
              <a:avLst/>
            </a:prstGeom>
            <a:noFill/>
            <a:ln>
              <a:noFill/>
            </a:ln>
          </p:spPr>
        </p:pic>
        <p:pic>
          <p:nvPicPr>
            <p:cNvPr descr="antenna_stylized" id="290" name="Google Shape;290;p9"/>
            <p:cNvPicPr preferRelativeResize="0"/>
            <p:nvPr/>
          </p:nvPicPr>
          <p:blipFill rotWithShape="1">
            <a:blip r:embed="rId7">
              <a:alphaModFix/>
            </a:blip>
            <a:srcRect b="0" l="0" r="0" t="0"/>
            <a:stretch/>
          </p:blipFill>
          <p:spPr>
            <a:xfrm>
              <a:off x="8704645" y="2029804"/>
              <a:ext cx="530702" cy="223756"/>
            </a:xfrm>
            <a:prstGeom prst="rect">
              <a:avLst/>
            </a:prstGeom>
            <a:noFill/>
            <a:ln>
              <a:noFill/>
            </a:ln>
          </p:spPr>
        </p:pic>
      </p:grpSp>
      <p:grpSp>
        <p:nvGrpSpPr>
          <p:cNvPr id="291" name="Google Shape;291;p9"/>
          <p:cNvGrpSpPr/>
          <p:nvPr/>
        </p:nvGrpSpPr>
        <p:grpSpPr>
          <a:xfrm>
            <a:off x="7493518" y="3325424"/>
            <a:ext cx="857739" cy="583764"/>
            <a:chOff x="7487144" y="3296104"/>
            <a:chExt cx="857739" cy="583764"/>
          </a:xfrm>
        </p:grpSpPr>
        <p:grpSp>
          <p:nvGrpSpPr>
            <p:cNvPr id="292" name="Google Shape;292;p9"/>
            <p:cNvGrpSpPr/>
            <p:nvPr/>
          </p:nvGrpSpPr>
          <p:grpSpPr>
            <a:xfrm>
              <a:off x="7487144" y="3389820"/>
              <a:ext cx="350807" cy="310034"/>
              <a:chOff x="7487144" y="3389820"/>
              <a:chExt cx="350807" cy="310034"/>
            </a:xfrm>
          </p:grpSpPr>
          <p:pic>
            <p:nvPicPr>
              <p:cNvPr descr="antenna_stylized" id="293" name="Google Shape;293;p9"/>
              <p:cNvPicPr preferRelativeResize="0"/>
              <p:nvPr/>
            </p:nvPicPr>
            <p:blipFill rotWithShape="1">
              <a:blip r:embed="rId12">
                <a:alphaModFix/>
              </a:blip>
              <a:srcRect b="0" l="0" r="0" t="0"/>
              <a:stretch/>
            </p:blipFill>
            <p:spPr>
              <a:xfrm>
                <a:off x="7487144" y="3389820"/>
                <a:ext cx="347997" cy="167557"/>
              </a:xfrm>
              <a:prstGeom prst="rect">
                <a:avLst/>
              </a:prstGeom>
              <a:noFill/>
              <a:ln>
                <a:noFill/>
              </a:ln>
            </p:spPr>
          </p:pic>
          <p:pic>
            <p:nvPicPr>
              <p:cNvPr descr="laptop_keyboard" id="294" name="Google Shape;294;p9"/>
              <p:cNvPicPr preferRelativeResize="0"/>
              <p:nvPr/>
            </p:nvPicPr>
            <p:blipFill rotWithShape="1">
              <a:blip r:embed="rId13">
                <a:alphaModFix/>
              </a:blip>
              <a:srcRect b="0" l="0" r="0" t="0"/>
              <a:stretch/>
            </p:blipFill>
            <p:spPr>
              <a:xfrm flipH="1" rot="109064">
                <a:off x="7504001" y="3575889"/>
                <a:ext cx="286699" cy="119448"/>
              </a:xfrm>
              <a:prstGeom prst="rect">
                <a:avLst/>
              </a:prstGeom>
              <a:noFill/>
              <a:ln>
                <a:noFill/>
              </a:ln>
            </p:spPr>
          </p:pic>
          <p:sp>
            <p:nvSpPr>
              <p:cNvPr id="295" name="Google Shape;295;p9"/>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296" name="Google Shape;296;p9"/>
              <p:cNvPicPr preferRelativeResize="0"/>
              <p:nvPr/>
            </p:nvPicPr>
            <p:blipFill rotWithShape="1">
              <a:blip r:embed="rId14">
                <a:alphaModFix/>
              </a:blip>
              <a:srcRect b="0" l="0" r="0" t="0"/>
              <a:stretch/>
            </p:blipFill>
            <p:spPr>
              <a:xfrm>
                <a:off x="7610380" y="3463988"/>
                <a:ext cx="209692" cy="141851"/>
              </a:xfrm>
              <a:prstGeom prst="rect">
                <a:avLst/>
              </a:prstGeom>
              <a:noFill/>
              <a:ln>
                <a:noFill/>
              </a:ln>
            </p:spPr>
          </p:pic>
          <p:sp>
            <p:nvSpPr>
              <p:cNvPr id="297" name="Google Shape;297;p9"/>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8" name="Google Shape;298;p9"/>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9" name="Google Shape;299;p9"/>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0" name="Google Shape;300;p9"/>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1" name="Google Shape;301;p9"/>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2" name="Google Shape;302;p9"/>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03" name="Google Shape;303;p9"/>
              <p:cNvGrpSpPr/>
              <p:nvPr/>
            </p:nvGrpSpPr>
            <p:grpSpPr>
              <a:xfrm>
                <a:off x="7593395" y="3625649"/>
                <a:ext cx="64747" cy="27592"/>
                <a:chOff x="1740" y="2642"/>
                <a:chExt cx="752" cy="327"/>
              </a:xfrm>
            </p:grpSpPr>
            <p:sp>
              <p:nvSpPr>
                <p:cNvPr id="304" name="Google Shape;304;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5" name="Google Shape;305;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6" name="Google Shape;306;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7" name="Google Shape;307;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8" name="Google Shape;308;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9" name="Google Shape;309;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10" name="Google Shape;310;p9"/>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1" name="Google Shape;311;p9"/>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2" name="Google Shape;312;p9"/>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3" name="Google Shape;313;p9"/>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4" name="Google Shape;314;p9"/>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15" name="Google Shape;315;p9"/>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6" name="Google Shape;316;p9"/>
            <p:cNvGrpSpPr/>
            <p:nvPr/>
          </p:nvGrpSpPr>
          <p:grpSpPr>
            <a:xfrm flipH="1">
              <a:off x="7985622" y="3537823"/>
              <a:ext cx="359261" cy="342045"/>
              <a:chOff x="2839" y="3501"/>
              <a:chExt cx="755" cy="803"/>
            </a:xfrm>
          </p:grpSpPr>
          <p:pic>
            <p:nvPicPr>
              <p:cNvPr descr="desktop_computer_stylized_medium" id="317" name="Google Shape;317;p9"/>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18" name="Google Shape;318;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19" name="Google Shape;319;p9"/>
            <p:cNvGrpSpPr/>
            <p:nvPr/>
          </p:nvGrpSpPr>
          <p:grpSpPr>
            <a:xfrm>
              <a:off x="7797061" y="3296104"/>
              <a:ext cx="347997" cy="396620"/>
              <a:chOff x="7797061" y="3296104"/>
              <a:chExt cx="347997" cy="396620"/>
            </a:xfrm>
          </p:grpSpPr>
          <p:pic>
            <p:nvPicPr>
              <p:cNvPr descr="fridge2.png" id="320" name="Google Shape;320;p9"/>
              <p:cNvPicPr preferRelativeResize="0"/>
              <p:nvPr/>
            </p:nvPicPr>
            <p:blipFill rotWithShape="1">
              <a:blip r:embed="rId16">
                <a:alphaModFix/>
              </a:blip>
              <a:srcRect b="0" l="0" r="0" t="0"/>
              <a:stretch/>
            </p:blipFill>
            <p:spPr>
              <a:xfrm>
                <a:off x="7896825" y="3355697"/>
                <a:ext cx="189578" cy="337027"/>
              </a:xfrm>
              <a:prstGeom prst="rect">
                <a:avLst/>
              </a:prstGeom>
              <a:noFill/>
              <a:ln>
                <a:noFill/>
              </a:ln>
            </p:spPr>
          </p:pic>
          <p:pic>
            <p:nvPicPr>
              <p:cNvPr descr="antenna_stylized" id="321" name="Google Shape;321;p9"/>
              <p:cNvPicPr preferRelativeResize="0"/>
              <p:nvPr/>
            </p:nvPicPr>
            <p:blipFill rotWithShape="1">
              <a:blip r:embed="rId12">
                <a:alphaModFix/>
              </a:blip>
              <a:srcRect b="0" l="0" r="0" t="0"/>
              <a:stretch/>
            </p:blipFill>
            <p:spPr>
              <a:xfrm>
                <a:off x="7797061" y="3296104"/>
                <a:ext cx="347997" cy="167557"/>
              </a:xfrm>
              <a:prstGeom prst="rect">
                <a:avLst/>
              </a:prstGeom>
              <a:noFill/>
              <a:ln>
                <a:noFill/>
              </a:ln>
            </p:spPr>
          </p:pic>
        </p:grpSp>
      </p:grpSp>
      <p:grpSp>
        <p:nvGrpSpPr>
          <p:cNvPr id="322" name="Google Shape;322;p9"/>
          <p:cNvGrpSpPr/>
          <p:nvPr/>
        </p:nvGrpSpPr>
        <p:grpSpPr>
          <a:xfrm>
            <a:off x="11064947" y="3428485"/>
            <a:ext cx="518448" cy="1212242"/>
            <a:chOff x="11058573" y="3399165"/>
            <a:chExt cx="518448" cy="1212242"/>
          </a:xfrm>
        </p:grpSpPr>
        <p:grpSp>
          <p:nvGrpSpPr>
            <p:cNvPr id="323" name="Google Shape;323;p9"/>
            <p:cNvGrpSpPr/>
            <p:nvPr/>
          </p:nvGrpSpPr>
          <p:grpSpPr>
            <a:xfrm>
              <a:off x="11087182" y="4159591"/>
              <a:ext cx="489839" cy="451816"/>
              <a:chOff x="5103720" y="2693365"/>
              <a:chExt cx="611650" cy="414788"/>
            </a:xfrm>
          </p:grpSpPr>
          <p:cxnSp>
            <p:nvCxnSpPr>
              <p:cNvPr id="324" name="Google Shape;324;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25" name="Google Shape;325;p9"/>
              <p:cNvGrpSpPr/>
              <p:nvPr/>
            </p:nvGrpSpPr>
            <p:grpSpPr>
              <a:xfrm>
                <a:off x="5275406" y="2693365"/>
                <a:ext cx="439964" cy="414788"/>
                <a:chOff x="5275406" y="2711455"/>
                <a:chExt cx="452949" cy="405518"/>
              </a:xfrm>
            </p:grpSpPr>
            <p:pic>
              <p:nvPicPr>
                <p:cNvPr descr="server_rack.png" id="326" name="Google Shape;326;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27" name="Google Shape;327;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28" name="Google Shape;328;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nvGrpSpPr>
            <p:cNvPr id="329" name="Google Shape;329;p9"/>
            <p:cNvGrpSpPr/>
            <p:nvPr/>
          </p:nvGrpSpPr>
          <p:grpSpPr>
            <a:xfrm>
              <a:off x="11058573" y="3399165"/>
              <a:ext cx="423724" cy="405973"/>
              <a:chOff x="5103720" y="2693365"/>
              <a:chExt cx="611650" cy="414788"/>
            </a:xfrm>
          </p:grpSpPr>
          <p:cxnSp>
            <p:nvCxnSpPr>
              <p:cNvPr id="330" name="Google Shape;330;p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31" name="Google Shape;331;p9"/>
              <p:cNvGrpSpPr/>
              <p:nvPr/>
            </p:nvGrpSpPr>
            <p:grpSpPr>
              <a:xfrm>
                <a:off x="5275406" y="2693365"/>
                <a:ext cx="439964" cy="414788"/>
                <a:chOff x="5275406" y="2711455"/>
                <a:chExt cx="452949" cy="405518"/>
              </a:xfrm>
            </p:grpSpPr>
            <p:pic>
              <p:nvPicPr>
                <p:cNvPr descr="server_rack.png" id="332" name="Google Shape;332;p9"/>
                <p:cNvPicPr preferRelativeResize="0"/>
                <p:nvPr/>
              </p:nvPicPr>
              <p:blipFill rotWithShape="1">
                <a:blip r:embed="rId17">
                  <a:alphaModFix/>
                </a:blip>
                <a:srcRect b="0" l="0" r="0" t="0"/>
                <a:stretch/>
              </p:blipFill>
              <p:spPr>
                <a:xfrm>
                  <a:off x="5537367" y="2770786"/>
                  <a:ext cx="190988" cy="313366"/>
                </a:xfrm>
                <a:prstGeom prst="rect">
                  <a:avLst/>
                </a:prstGeom>
                <a:noFill/>
                <a:ln>
                  <a:noFill/>
                </a:ln>
              </p:spPr>
            </p:pic>
            <p:pic>
              <p:nvPicPr>
                <p:cNvPr descr="server_rack.png" id="333" name="Google Shape;333;p9"/>
                <p:cNvPicPr preferRelativeResize="0"/>
                <p:nvPr/>
              </p:nvPicPr>
              <p:blipFill rotWithShape="1">
                <a:blip r:embed="rId17">
                  <a:alphaModFix/>
                </a:blip>
                <a:srcRect b="0" l="0" r="0" t="0"/>
                <a:stretch/>
              </p:blipFill>
              <p:spPr>
                <a:xfrm>
                  <a:off x="5275406" y="2764002"/>
                  <a:ext cx="190988" cy="313366"/>
                </a:xfrm>
                <a:prstGeom prst="rect">
                  <a:avLst/>
                </a:prstGeom>
                <a:noFill/>
                <a:ln>
                  <a:noFill/>
                </a:ln>
              </p:spPr>
            </p:pic>
            <p:pic>
              <p:nvPicPr>
                <p:cNvPr descr="server_rack.png" id="334" name="Google Shape;334;p9"/>
                <p:cNvPicPr preferRelativeResize="0"/>
                <p:nvPr/>
              </p:nvPicPr>
              <p:blipFill rotWithShape="1">
                <a:blip r:embed="rId17">
                  <a:alphaModFix/>
                </a:blip>
                <a:srcRect b="0" l="0" r="0" t="0"/>
                <a:stretch/>
              </p:blipFill>
              <p:spPr>
                <a:xfrm>
                  <a:off x="5385676" y="2711455"/>
                  <a:ext cx="247152" cy="405518"/>
                </a:xfrm>
                <a:prstGeom prst="rect">
                  <a:avLst/>
                </a:prstGeom>
                <a:noFill/>
                <a:ln>
                  <a:noFill/>
                </a:ln>
              </p:spPr>
            </p:pic>
          </p:grpSp>
        </p:grpSp>
      </p:grpSp>
      <p:grpSp>
        <p:nvGrpSpPr>
          <p:cNvPr id="335" name="Google Shape;335;p9"/>
          <p:cNvGrpSpPr/>
          <p:nvPr/>
        </p:nvGrpSpPr>
        <p:grpSpPr>
          <a:xfrm flipH="1">
            <a:off x="7980855" y="4900161"/>
            <a:ext cx="345630" cy="320302"/>
            <a:chOff x="2839" y="3501"/>
            <a:chExt cx="755" cy="803"/>
          </a:xfrm>
        </p:grpSpPr>
        <p:pic>
          <p:nvPicPr>
            <p:cNvPr descr="desktop_computer_stylized_medium" id="336" name="Google Shape;33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37" name="Google Shape;33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8" name="Google Shape;338;p9"/>
          <p:cNvGrpSpPr/>
          <p:nvPr/>
        </p:nvGrpSpPr>
        <p:grpSpPr>
          <a:xfrm>
            <a:off x="9201681" y="5852809"/>
            <a:ext cx="310186" cy="312008"/>
            <a:chOff x="877" y="1008"/>
            <a:chExt cx="2747" cy="2626"/>
          </a:xfrm>
        </p:grpSpPr>
        <p:pic>
          <p:nvPicPr>
            <p:cNvPr descr="antenna_stylized" id="339" name="Google Shape;339;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40" name="Google Shape;340;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41" name="Google Shape;341;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42" name="Google Shape;342;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43" name="Google Shape;343;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5" name="Google Shape;345;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 name="Google Shape;346;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7" name="Google Shape;347;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8" name="Google Shape;348;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49" name="Google Shape;349;p9"/>
            <p:cNvGrpSpPr/>
            <p:nvPr/>
          </p:nvGrpSpPr>
          <p:grpSpPr>
            <a:xfrm>
              <a:off x="1709" y="3008"/>
              <a:ext cx="507" cy="234"/>
              <a:chOff x="1740" y="2642"/>
              <a:chExt cx="752" cy="327"/>
            </a:xfrm>
          </p:grpSpPr>
          <p:sp>
            <p:nvSpPr>
              <p:cNvPr id="350" name="Google Shape;350;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1" name="Google Shape;351;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 name="Google Shape;352;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 name="Google Shape;353;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 name="Google Shape;354;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 name="Google Shape;355;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6" name="Google Shape;356;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7" name="Google Shape;357;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8" name="Google Shape;358;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9" name="Google Shape;359;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0" name="Google Shape;360;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1" name="Google Shape;361;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2" name="Google Shape;362;p9"/>
          <p:cNvGrpSpPr/>
          <p:nvPr/>
        </p:nvGrpSpPr>
        <p:grpSpPr>
          <a:xfrm flipH="1">
            <a:off x="8153909" y="5504657"/>
            <a:ext cx="345630" cy="320302"/>
            <a:chOff x="2839" y="3501"/>
            <a:chExt cx="755" cy="803"/>
          </a:xfrm>
        </p:grpSpPr>
        <p:pic>
          <p:nvPicPr>
            <p:cNvPr descr="desktop_computer_stylized_medium" id="363" name="Google Shape;363;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64" name="Google Shape;364;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5" name="Google Shape;365;p9"/>
          <p:cNvGrpSpPr/>
          <p:nvPr/>
        </p:nvGrpSpPr>
        <p:grpSpPr>
          <a:xfrm flipH="1">
            <a:off x="8552134" y="5526130"/>
            <a:ext cx="345630" cy="320302"/>
            <a:chOff x="2839" y="3501"/>
            <a:chExt cx="755" cy="803"/>
          </a:xfrm>
        </p:grpSpPr>
        <p:pic>
          <p:nvPicPr>
            <p:cNvPr descr="desktop_computer_stylized_medium" id="366" name="Google Shape;366;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367" name="Google Shape;367;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68" name="Google Shape;368;p9"/>
          <p:cNvGrpSpPr/>
          <p:nvPr/>
        </p:nvGrpSpPr>
        <p:grpSpPr>
          <a:xfrm>
            <a:off x="9534746" y="5795138"/>
            <a:ext cx="319264" cy="256836"/>
            <a:chOff x="877" y="1008"/>
            <a:chExt cx="2747" cy="2626"/>
          </a:xfrm>
        </p:grpSpPr>
        <p:pic>
          <p:nvPicPr>
            <p:cNvPr descr="antenna_stylized" id="369" name="Google Shape;369;p9"/>
            <p:cNvPicPr preferRelativeResize="0"/>
            <p:nvPr/>
          </p:nvPicPr>
          <p:blipFill rotWithShape="1">
            <a:blip r:embed="rId19">
              <a:alphaModFix/>
            </a:blip>
            <a:srcRect b="0" l="0" r="0" t="0"/>
            <a:stretch/>
          </p:blipFill>
          <p:spPr>
            <a:xfrm>
              <a:off x="877" y="1008"/>
              <a:ext cx="2725" cy="1421"/>
            </a:xfrm>
            <a:prstGeom prst="rect">
              <a:avLst/>
            </a:prstGeom>
            <a:noFill/>
            <a:ln>
              <a:noFill/>
            </a:ln>
          </p:spPr>
        </p:pic>
        <p:pic>
          <p:nvPicPr>
            <p:cNvPr descr="laptop_keyboard" id="370" name="Google Shape;370;p9"/>
            <p:cNvPicPr preferRelativeResize="0"/>
            <p:nvPr/>
          </p:nvPicPr>
          <p:blipFill rotWithShape="1">
            <a:blip r:embed="rId20">
              <a:alphaModFix/>
            </a:blip>
            <a:srcRect b="0" l="0" r="0" t="0"/>
            <a:stretch/>
          </p:blipFill>
          <p:spPr>
            <a:xfrm flipH="1" rot="109064">
              <a:off x="1009" y="2586"/>
              <a:ext cx="2245" cy="1013"/>
            </a:xfrm>
            <a:prstGeom prst="rect">
              <a:avLst/>
            </a:prstGeom>
            <a:noFill/>
            <a:ln>
              <a:noFill/>
            </a:ln>
          </p:spPr>
        </p:pic>
        <p:sp>
          <p:nvSpPr>
            <p:cNvPr id="371" name="Google Shape;371;p9"/>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72" name="Google Shape;372;p9"/>
            <p:cNvPicPr preferRelativeResize="0"/>
            <p:nvPr/>
          </p:nvPicPr>
          <p:blipFill rotWithShape="1">
            <a:blip r:embed="rId21">
              <a:alphaModFix/>
            </a:blip>
            <a:srcRect b="0" l="0" r="0" t="0"/>
            <a:stretch/>
          </p:blipFill>
          <p:spPr>
            <a:xfrm>
              <a:off x="1842" y="1637"/>
              <a:ext cx="1642" cy="1203"/>
            </a:xfrm>
            <a:prstGeom prst="rect">
              <a:avLst/>
            </a:prstGeom>
            <a:noFill/>
            <a:ln>
              <a:noFill/>
            </a:ln>
          </p:spPr>
        </p:pic>
        <p:sp>
          <p:nvSpPr>
            <p:cNvPr id="373" name="Google Shape;373;p9"/>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4" name="Google Shape;374;p9"/>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5" name="Google Shape;375;p9"/>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6" name="Google Shape;376;p9"/>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7" name="Google Shape;377;p9"/>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8" name="Google Shape;378;p9"/>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79" name="Google Shape;379;p9"/>
            <p:cNvGrpSpPr/>
            <p:nvPr/>
          </p:nvGrpSpPr>
          <p:grpSpPr>
            <a:xfrm>
              <a:off x="1709" y="3008"/>
              <a:ext cx="507" cy="234"/>
              <a:chOff x="1740" y="2642"/>
              <a:chExt cx="752" cy="327"/>
            </a:xfrm>
          </p:grpSpPr>
          <p:sp>
            <p:nvSpPr>
              <p:cNvPr id="380" name="Google Shape;380;p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1" name="Google Shape;381;p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2" name="Google Shape;382;p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3" name="Google Shape;383;p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4" name="Google Shape;384;p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5" name="Google Shape;385;p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86" name="Google Shape;386;p9"/>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 name="Google Shape;387;p9"/>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8" name="Google Shape;388;p9"/>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9" name="Google Shape;389;p9"/>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0" name="Google Shape;390;p9"/>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1" name="Google Shape;391;p9"/>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2" name="Google Shape;392;p9"/>
          <p:cNvSpPr/>
          <p:nvPr/>
        </p:nvSpPr>
        <p:spPr>
          <a:xfrm>
            <a:off x="10153593" y="5636971"/>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3" name="Google Shape;393;p9"/>
          <p:cNvSpPr/>
          <p:nvPr/>
        </p:nvSpPr>
        <p:spPr>
          <a:xfrm>
            <a:off x="10159970" y="5656923"/>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4" name="Google Shape;394;p9"/>
          <p:cNvSpPr/>
          <p:nvPr/>
        </p:nvSpPr>
        <p:spPr>
          <a:xfrm>
            <a:off x="10155518" y="5812753"/>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95" name="Google Shape;395;p9"/>
          <p:cNvSpPr/>
          <p:nvPr/>
        </p:nvSpPr>
        <p:spPr>
          <a:xfrm>
            <a:off x="10026299" y="567439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396" name="Google Shape;396;p9"/>
          <p:cNvGrpSpPr/>
          <p:nvPr/>
        </p:nvGrpSpPr>
        <p:grpSpPr>
          <a:xfrm>
            <a:off x="10091053" y="5670891"/>
            <a:ext cx="69517" cy="21877"/>
            <a:chOff x="613" y="2566"/>
            <a:chExt cx="721" cy="144"/>
          </a:xfrm>
        </p:grpSpPr>
        <p:sp>
          <p:nvSpPr>
            <p:cNvPr id="397" name="Google Shape;397;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398" name="Google Shape;398;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399" name="Google Shape;399;p9"/>
          <p:cNvSpPr/>
          <p:nvPr/>
        </p:nvSpPr>
        <p:spPr>
          <a:xfrm>
            <a:off x="10027502" y="5722750"/>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0" name="Google Shape;400;p9"/>
          <p:cNvGrpSpPr/>
          <p:nvPr/>
        </p:nvGrpSpPr>
        <p:grpSpPr>
          <a:xfrm>
            <a:off x="10091005" y="5718110"/>
            <a:ext cx="69517" cy="19515"/>
            <a:chOff x="615" y="2564"/>
            <a:chExt cx="721" cy="139"/>
          </a:xfrm>
        </p:grpSpPr>
        <p:sp>
          <p:nvSpPr>
            <p:cNvPr id="401" name="Google Shape;401;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2" name="Google Shape;402;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3" name="Google Shape;403;p9"/>
          <p:cNvSpPr/>
          <p:nvPr/>
        </p:nvSpPr>
        <p:spPr>
          <a:xfrm>
            <a:off x="10027502" y="5771101"/>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4" name="Google Shape;404;p9"/>
          <p:cNvSpPr/>
          <p:nvPr/>
        </p:nvSpPr>
        <p:spPr>
          <a:xfrm>
            <a:off x="10028705" y="581493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05" name="Google Shape;405;p9"/>
          <p:cNvGrpSpPr/>
          <p:nvPr/>
        </p:nvGrpSpPr>
        <p:grpSpPr>
          <a:xfrm>
            <a:off x="10089851" y="5813708"/>
            <a:ext cx="69541" cy="19618"/>
            <a:chOff x="618" y="2586"/>
            <a:chExt cx="720" cy="124"/>
          </a:xfrm>
        </p:grpSpPr>
        <p:sp>
          <p:nvSpPr>
            <p:cNvPr id="406" name="Google Shape;406;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07" name="Google Shape;407;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08" name="Google Shape;408;p9"/>
          <p:cNvSpPr/>
          <p:nvPr/>
        </p:nvSpPr>
        <p:spPr>
          <a:xfrm>
            <a:off x="10156000" y="5771101"/>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09" name="Google Shape;409;p9"/>
          <p:cNvGrpSpPr/>
          <p:nvPr/>
        </p:nvGrpSpPr>
        <p:grpSpPr>
          <a:xfrm>
            <a:off x="10089849" y="5767606"/>
            <a:ext cx="70700" cy="19515"/>
            <a:chOff x="613" y="2571"/>
            <a:chExt cx="732" cy="134"/>
          </a:xfrm>
        </p:grpSpPr>
        <p:sp>
          <p:nvSpPr>
            <p:cNvPr id="410" name="Google Shape;410;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1" name="Google Shape;411;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12" name="Google Shape;412;p9"/>
          <p:cNvSpPr/>
          <p:nvPr/>
        </p:nvSpPr>
        <p:spPr>
          <a:xfrm>
            <a:off x="10150946" y="5636388"/>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3" name="Google Shape;413;p9"/>
          <p:cNvSpPr/>
          <p:nvPr/>
        </p:nvSpPr>
        <p:spPr>
          <a:xfrm>
            <a:off x="10158887" y="5720566"/>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4" name="Google Shape;414;p9"/>
          <p:cNvSpPr/>
          <p:nvPr/>
        </p:nvSpPr>
        <p:spPr>
          <a:xfrm>
            <a:off x="10159248" y="5672943"/>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5" name="Google Shape;415;p9"/>
          <p:cNvSpPr/>
          <p:nvPr/>
        </p:nvSpPr>
        <p:spPr>
          <a:xfrm>
            <a:off x="10183311" y="5954166"/>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6" name="Google Shape;416;p9"/>
          <p:cNvSpPr/>
          <p:nvPr/>
        </p:nvSpPr>
        <p:spPr>
          <a:xfrm>
            <a:off x="10157684" y="5954603"/>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7" name="Google Shape;417;p9"/>
          <p:cNvSpPr/>
          <p:nvPr/>
        </p:nvSpPr>
        <p:spPr>
          <a:xfrm>
            <a:off x="10017877" y="5963487"/>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8" name="Google Shape;418;p9"/>
          <p:cNvSpPr/>
          <p:nvPr/>
        </p:nvSpPr>
        <p:spPr>
          <a:xfrm>
            <a:off x="10026299" y="5969166"/>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19" name="Google Shape;419;p9"/>
          <p:cNvSpPr/>
          <p:nvPr/>
        </p:nvSpPr>
        <p:spPr>
          <a:xfrm>
            <a:off x="10038210"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0" name="Google Shape;420;p9"/>
          <p:cNvSpPr/>
          <p:nvPr/>
        </p:nvSpPr>
        <p:spPr>
          <a:xfrm>
            <a:off x="10059867" y="5920815"/>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21" name="Google Shape;421;p9"/>
          <p:cNvSpPr/>
          <p:nvPr/>
        </p:nvSpPr>
        <p:spPr>
          <a:xfrm>
            <a:off x="10080201" y="5920815"/>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22" name="Google Shape;422;p9"/>
          <p:cNvSpPr/>
          <p:nvPr/>
        </p:nvSpPr>
        <p:spPr>
          <a:xfrm>
            <a:off x="10129410" y="5841444"/>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23" name="Google Shape;423;p9"/>
          <p:cNvGrpSpPr/>
          <p:nvPr/>
        </p:nvGrpSpPr>
        <p:grpSpPr>
          <a:xfrm flipH="1">
            <a:off x="7773981" y="5281060"/>
            <a:ext cx="345630" cy="320302"/>
            <a:chOff x="2839" y="3501"/>
            <a:chExt cx="755" cy="803"/>
          </a:xfrm>
        </p:grpSpPr>
        <p:pic>
          <p:nvPicPr>
            <p:cNvPr descr="desktop_computer_stylized_medium" id="424" name="Google Shape;424;p9"/>
            <p:cNvPicPr preferRelativeResize="0"/>
            <p:nvPr/>
          </p:nvPicPr>
          <p:blipFill rotWithShape="1">
            <a:blip r:embed="rId18">
              <a:alphaModFix/>
            </a:blip>
            <a:srcRect b="0" l="0" r="0" t="0"/>
            <a:stretch/>
          </p:blipFill>
          <p:spPr>
            <a:xfrm>
              <a:off x="2839" y="3501"/>
              <a:ext cx="755" cy="803"/>
            </a:xfrm>
            <a:prstGeom prst="rect">
              <a:avLst/>
            </a:prstGeom>
            <a:noFill/>
            <a:ln>
              <a:noFill/>
            </a:ln>
          </p:spPr>
        </p:pic>
        <p:sp>
          <p:nvSpPr>
            <p:cNvPr id="425" name="Google Shape;425;p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26" name="Google Shape;426;p9"/>
          <p:cNvGrpSpPr/>
          <p:nvPr/>
        </p:nvGrpSpPr>
        <p:grpSpPr>
          <a:xfrm>
            <a:off x="7750224" y="1859725"/>
            <a:ext cx="415925" cy="385763"/>
            <a:chOff x="2751" y="1851"/>
            <a:chExt cx="462" cy="478"/>
          </a:xfrm>
        </p:grpSpPr>
        <p:pic>
          <p:nvPicPr>
            <p:cNvPr descr="iphone_stylized_small" id="427" name="Google Shape;427;p9"/>
            <p:cNvPicPr preferRelativeResize="0"/>
            <p:nvPr/>
          </p:nvPicPr>
          <p:blipFill rotWithShape="1">
            <a:blip r:embed="rId22">
              <a:alphaModFix/>
            </a:blip>
            <a:srcRect b="0" l="0" r="0" t="0"/>
            <a:stretch/>
          </p:blipFill>
          <p:spPr>
            <a:xfrm>
              <a:off x="2928" y="1922"/>
              <a:ext cx="152" cy="407"/>
            </a:xfrm>
            <a:prstGeom prst="rect">
              <a:avLst/>
            </a:prstGeom>
            <a:noFill/>
            <a:ln>
              <a:noFill/>
            </a:ln>
          </p:spPr>
        </p:pic>
        <p:pic>
          <p:nvPicPr>
            <p:cNvPr descr="antenna_radiation_stylized" id="428" name="Google Shape;428;p9"/>
            <p:cNvPicPr preferRelativeResize="0"/>
            <p:nvPr/>
          </p:nvPicPr>
          <p:blipFill rotWithShape="1">
            <a:blip r:embed="rId23">
              <a:alphaModFix/>
            </a:blip>
            <a:srcRect b="0" l="0" r="0" t="0"/>
            <a:stretch/>
          </p:blipFill>
          <p:spPr>
            <a:xfrm>
              <a:off x="2751" y="1851"/>
              <a:ext cx="462" cy="110"/>
            </a:xfrm>
            <a:prstGeom prst="rect">
              <a:avLst/>
            </a:prstGeom>
            <a:noFill/>
            <a:ln>
              <a:noFill/>
            </a:ln>
          </p:spPr>
        </p:pic>
      </p:grpSp>
      <p:grpSp>
        <p:nvGrpSpPr>
          <p:cNvPr id="429" name="Google Shape;429;p9"/>
          <p:cNvGrpSpPr/>
          <p:nvPr/>
        </p:nvGrpSpPr>
        <p:grpSpPr>
          <a:xfrm>
            <a:off x="10253990" y="5273951"/>
            <a:ext cx="177192" cy="330833"/>
            <a:chOff x="4140" y="429"/>
            <a:chExt cx="1425" cy="2396"/>
          </a:xfrm>
        </p:grpSpPr>
        <p:sp>
          <p:nvSpPr>
            <p:cNvPr id="430" name="Google Shape;430;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1" name="Google Shape;431;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2" name="Google Shape;432;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3" name="Google Shape;433;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 name="Google Shape;434;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5" name="Google Shape;435;p9"/>
            <p:cNvGrpSpPr/>
            <p:nvPr/>
          </p:nvGrpSpPr>
          <p:grpSpPr>
            <a:xfrm>
              <a:off x="4748" y="666"/>
              <a:ext cx="578" cy="150"/>
              <a:chOff x="613" y="2566"/>
              <a:chExt cx="721" cy="144"/>
            </a:xfrm>
          </p:grpSpPr>
          <p:sp>
            <p:nvSpPr>
              <p:cNvPr id="436" name="Google Shape;436;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37" name="Google Shape;437;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38" name="Google Shape;438;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39" name="Google Shape;439;p9"/>
            <p:cNvGrpSpPr/>
            <p:nvPr/>
          </p:nvGrpSpPr>
          <p:grpSpPr>
            <a:xfrm>
              <a:off x="4748" y="990"/>
              <a:ext cx="578" cy="134"/>
              <a:chOff x="615" y="2564"/>
              <a:chExt cx="721" cy="139"/>
            </a:xfrm>
          </p:grpSpPr>
          <p:sp>
            <p:nvSpPr>
              <p:cNvPr id="440" name="Google Shape;440;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1" name="Google Shape;441;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2" name="Google Shape;442;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3" name="Google Shape;443;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44" name="Google Shape;444;p9"/>
            <p:cNvGrpSpPr/>
            <p:nvPr/>
          </p:nvGrpSpPr>
          <p:grpSpPr>
            <a:xfrm>
              <a:off x="4738" y="1647"/>
              <a:ext cx="578" cy="135"/>
              <a:chOff x="618" y="2586"/>
              <a:chExt cx="720" cy="124"/>
            </a:xfrm>
          </p:grpSpPr>
          <p:sp>
            <p:nvSpPr>
              <p:cNvPr id="445" name="Google Shape;445;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46" name="Google Shape;446;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47" name="Google Shape;447;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48" name="Google Shape;448;p9"/>
            <p:cNvGrpSpPr/>
            <p:nvPr/>
          </p:nvGrpSpPr>
          <p:grpSpPr>
            <a:xfrm>
              <a:off x="4738" y="1330"/>
              <a:ext cx="588" cy="134"/>
              <a:chOff x="613" y="2571"/>
              <a:chExt cx="732" cy="134"/>
            </a:xfrm>
          </p:grpSpPr>
          <p:sp>
            <p:nvSpPr>
              <p:cNvPr id="449" name="Google Shape;449;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0" name="Google Shape;450;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51" name="Google Shape;451;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2" name="Google Shape;452;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3" name="Google Shape;453;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4" name="Google Shape;454;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5" name="Google Shape;455;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56" name="Google Shape;456;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7" name="Google Shape;457;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8" name="Google Shape;458;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59" name="Google Shape;459;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460" name="Google Shape;460;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61" name="Google Shape;461;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462" name="Google Shape;462;p9"/>
          <p:cNvGrpSpPr/>
          <p:nvPr/>
        </p:nvGrpSpPr>
        <p:grpSpPr>
          <a:xfrm>
            <a:off x="6571713" y="2686293"/>
            <a:ext cx="1038308" cy="956788"/>
            <a:chOff x="6571713" y="2686293"/>
            <a:chExt cx="1038308" cy="956788"/>
          </a:xfrm>
        </p:grpSpPr>
        <p:sp>
          <p:nvSpPr>
            <p:cNvPr id="463" name="Google Shape;463;p9"/>
            <p:cNvSpPr/>
            <p:nvPr/>
          </p:nvSpPr>
          <p:spPr>
            <a:xfrm flipH="1">
              <a:off x="7291095" y="2700162"/>
              <a:ext cx="318926" cy="942919"/>
            </a:xfrm>
            <a:custGeom>
              <a:rect b="b" l="l" r="r" t="t"/>
              <a:pathLst>
                <a:path extrusionOk="0" h="10279" w="10319">
                  <a:moveTo>
                    <a:pt x="2669" y="10279"/>
                  </a:moveTo>
                  <a:lnTo>
                    <a:pt x="0" y="9878"/>
                  </a:lnTo>
                  <a:lnTo>
                    <a:pt x="10319" y="0"/>
                  </a:lnTo>
                  <a:lnTo>
                    <a:pt x="10319" y="8912"/>
                  </a:lnTo>
                  <a:lnTo>
                    <a:pt x="2669" y="10279"/>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4" name="Google Shape;464;p9"/>
            <p:cNvGrpSpPr/>
            <p:nvPr/>
          </p:nvGrpSpPr>
          <p:grpSpPr>
            <a:xfrm>
              <a:off x="6571713" y="2686293"/>
              <a:ext cx="764135" cy="854075"/>
              <a:chOff x="6571713" y="2686293"/>
              <a:chExt cx="764135" cy="854075"/>
            </a:xfrm>
          </p:grpSpPr>
          <p:sp>
            <p:nvSpPr>
              <p:cNvPr id="465" name="Google Shape;465;p9"/>
              <p:cNvSpPr/>
              <p:nvPr/>
            </p:nvSpPr>
            <p:spPr>
              <a:xfrm>
                <a:off x="6641713" y="2722275"/>
                <a:ext cx="647951" cy="77722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66" name="Google Shape;466;p9"/>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67" name="Google Shape;467;p9"/>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68" name="Google Shape;468;p9"/>
              <p:cNvCxnSpPr/>
              <p:nvPr/>
            </p:nvCxnSpPr>
            <p:spPr>
              <a:xfrm>
                <a:off x="6638631" y="289132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69" name="Google Shape;469;p9"/>
              <p:cNvCxnSpPr/>
              <p:nvPr/>
            </p:nvCxnSpPr>
            <p:spPr>
              <a:xfrm>
                <a:off x="6638631" y="3040545"/>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0" name="Google Shape;470;p9"/>
              <p:cNvCxnSpPr/>
              <p:nvPr/>
            </p:nvCxnSpPr>
            <p:spPr>
              <a:xfrm>
                <a:off x="6638631" y="318977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1" name="Google Shape;471;p9"/>
              <p:cNvCxnSpPr/>
              <p:nvPr/>
            </p:nvCxnSpPr>
            <p:spPr>
              <a:xfrm>
                <a:off x="6638631" y="3338995"/>
                <a:ext cx="646461"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472" name="Google Shape;472;p9"/>
          <p:cNvGrpSpPr/>
          <p:nvPr/>
        </p:nvGrpSpPr>
        <p:grpSpPr>
          <a:xfrm>
            <a:off x="10202006" y="5357871"/>
            <a:ext cx="970347" cy="854075"/>
            <a:chOff x="10202006" y="5357871"/>
            <a:chExt cx="970347" cy="854075"/>
          </a:xfrm>
        </p:grpSpPr>
        <p:sp>
          <p:nvSpPr>
            <p:cNvPr id="473" name="Google Shape;473;p9"/>
            <p:cNvSpPr/>
            <p:nvPr/>
          </p:nvSpPr>
          <p:spPr>
            <a:xfrm>
              <a:off x="10202006" y="5397682"/>
              <a:ext cx="281273" cy="773122"/>
            </a:xfrm>
            <a:custGeom>
              <a:rect b="b" l="l" r="r" t="t"/>
              <a:pathLst>
                <a:path extrusionOk="0" h="10000" w="10001">
                  <a:moveTo>
                    <a:pt x="112" y="7638"/>
                  </a:moveTo>
                  <a:cubicBezTo>
                    <a:pt x="75" y="7370"/>
                    <a:pt x="37" y="7102"/>
                    <a:pt x="0" y="6834"/>
                  </a:cubicBezTo>
                  <a:lnTo>
                    <a:pt x="9647" y="0"/>
                  </a:lnTo>
                  <a:cubicBezTo>
                    <a:pt x="9534" y="4702"/>
                    <a:pt x="10099" y="5298"/>
                    <a:pt x="9986" y="10000"/>
                  </a:cubicBezTo>
                  <a:lnTo>
                    <a:pt x="112" y="7638"/>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74" name="Google Shape;474;p9"/>
            <p:cNvGrpSpPr/>
            <p:nvPr/>
          </p:nvGrpSpPr>
          <p:grpSpPr>
            <a:xfrm>
              <a:off x="10408218" y="5357871"/>
              <a:ext cx="764135" cy="854075"/>
              <a:chOff x="6571713" y="2686293"/>
              <a:chExt cx="764135" cy="854075"/>
            </a:xfrm>
          </p:grpSpPr>
          <p:sp>
            <p:nvSpPr>
              <p:cNvPr id="475" name="Google Shape;475;p9"/>
              <p:cNvSpPr/>
              <p:nvPr/>
            </p:nvSpPr>
            <p:spPr>
              <a:xfrm>
                <a:off x="6641713" y="2722275"/>
                <a:ext cx="647951" cy="777228"/>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76" name="Google Shape;476;p9"/>
              <p:cNvSpPr/>
              <p:nvPr/>
            </p:nvSpPr>
            <p:spPr>
              <a:xfrm>
                <a:off x="6642457" y="3037370"/>
                <a:ext cx="648594" cy="15877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77" name="Google Shape;477;p9"/>
              <p:cNvSpPr txBox="1"/>
              <p:nvPr/>
            </p:nvSpPr>
            <p:spPr>
              <a:xfrm>
                <a:off x="6571713" y="2686293"/>
                <a:ext cx="764135"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478" name="Google Shape;478;p9"/>
              <p:cNvCxnSpPr/>
              <p:nvPr/>
            </p:nvCxnSpPr>
            <p:spPr>
              <a:xfrm>
                <a:off x="6638631" y="289132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79" name="Google Shape;479;p9"/>
              <p:cNvCxnSpPr/>
              <p:nvPr/>
            </p:nvCxnSpPr>
            <p:spPr>
              <a:xfrm>
                <a:off x="6638631" y="3040545"/>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80" name="Google Shape;480;p9"/>
              <p:cNvCxnSpPr/>
              <p:nvPr/>
            </p:nvCxnSpPr>
            <p:spPr>
              <a:xfrm>
                <a:off x="6638631" y="3189770"/>
                <a:ext cx="646461" cy="0"/>
              </a:xfrm>
              <a:prstGeom prst="straightConnector1">
                <a:avLst/>
              </a:prstGeom>
              <a:noFill/>
              <a:ln cap="flat" cmpd="sng" w="12700">
                <a:solidFill>
                  <a:schemeClr val="dk1"/>
                </a:solidFill>
                <a:prstDash val="solid"/>
                <a:miter lim="800000"/>
                <a:headEnd len="sm" w="sm" type="none"/>
                <a:tailEnd len="sm" w="sm" type="none"/>
              </a:ln>
            </p:spPr>
          </p:cxnSp>
          <p:cxnSp>
            <p:nvCxnSpPr>
              <p:cNvPr id="481" name="Google Shape;481;p9"/>
              <p:cNvCxnSpPr/>
              <p:nvPr/>
            </p:nvCxnSpPr>
            <p:spPr>
              <a:xfrm>
                <a:off x="6638631" y="3338995"/>
                <a:ext cx="646461"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482" name="Google Shape;482;p9"/>
          <p:cNvGrpSpPr/>
          <p:nvPr/>
        </p:nvGrpSpPr>
        <p:grpSpPr>
          <a:xfrm>
            <a:off x="10002508" y="5616400"/>
            <a:ext cx="214974" cy="403920"/>
            <a:chOff x="4140" y="429"/>
            <a:chExt cx="1425" cy="2396"/>
          </a:xfrm>
        </p:grpSpPr>
        <p:sp>
          <p:nvSpPr>
            <p:cNvPr id="483" name="Google Shape;48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4" name="Google Shape;484;p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85" name="Google Shape;48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6" name="Google Shape;48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7" name="Google Shape;487;p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88" name="Google Shape;488;p9"/>
            <p:cNvGrpSpPr/>
            <p:nvPr/>
          </p:nvGrpSpPr>
          <p:grpSpPr>
            <a:xfrm>
              <a:off x="4748" y="666"/>
              <a:ext cx="578" cy="150"/>
              <a:chOff x="613" y="2566"/>
              <a:chExt cx="721" cy="144"/>
            </a:xfrm>
          </p:grpSpPr>
          <p:sp>
            <p:nvSpPr>
              <p:cNvPr id="489" name="Google Shape;489;p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0" name="Google Shape;490;p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1" name="Google Shape;491;p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2" name="Google Shape;492;p9"/>
            <p:cNvGrpSpPr/>
            <p:nvPr/>
          </p:nvGrpSpPr>
          <p:grpSpPr>
            <a:xfrm>
              <a:off x="4748" y="990"/>
              <a:ext cx="578" cy="134"/>
              <a:chOff x="615" y="2564"/>
              <a:chExt cx="721" cy="139"/>
            </a:xfrm>
          </p:grpSpPr>
          <p:sp>
            <p:nvSpPr>
              <p:cNvPr id="493" name="Google Shape;493;p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4" name="Google Shape;494;p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495" name="Google Shape;495;p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6" name="Google Shape;496;p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497" name="Google Shape;497;p9"/>
            <p:cNvGrpSpPr/>
            <p:nvPr/>
          </p:nvGrpSpPr>
          <p:grpSpPr>
            <a:xfrm>
              <a:off x="4738" y="1647"/>
              <a:ext cx="578" cy="135"/>
              <a:chOff x="618" y="2586"/>
              <a:chExt cx="720" cy="124"/>
            </a:xfrm>
          </p:grpSpPr>
          <p:sp>
            <p:nvSpPr>
              <p:cNvPr id="498" name="Google Shape;498;p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499" name="Google Shape;499;p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00" name="Google Shape;50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01" name="Google Shape;501;p9"/>
            <p:cNvGrpSpPr/>
            <p:nvPr/>
          </p:nvGrpSpPr>
          <p:grpSpPr>
            <a:xfrm>
              <a:off x="4738" y="1330"/>
              <a:ext cx="588" cy="134"/>
              <a:chOff x="613" y="2571"/>
              <a:chExt cx="732" cy="134"/>
            </a:xfrm>
          </p:grpSpPr>
          <p:sp>
            <p:nvSpPr>
              <p:cNvPr id="502" name="Google Shape;502;p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3" name="Google Shape;503;p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504" name="Google Shape;504;p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5" name="Google Shape;50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6" name="Google Shape;50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7" name="Google Shape;507;p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08" name="Google Shape;50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9" name="Google Shape;509;p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0" name="Google Shape;510;p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1" name="Google Shape;511;p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2" name="Google Shape;512;p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513" name="Google Shape;513;p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14" name="Google Shape;514;p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515" name="Google Shape;515;p9"/>
          <p:cNvGrpSpPr/>
          <p:nvPr/>
        </p:nvGrpSpPr>
        <p:grpSpPr>
          <a:xfrm>
            <a:off x="9098788" y="3956624"/>
            <a:ext cx="367224" cy="240304"/>
            <a:chOff x="7493876" y="2774731"/>
            <a:chExt cx="1481958" cy="894622"/>
          </a:xfrm>
        </p:grpSpPr>
        <p:sp>
          <p:nvSpPr>
            <p:cNvPr id="516" name="Google Shape;516;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17" name="Google Shape;517;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18" name="Google Shape;518;p9"/>
            <p:cNvGrpSpPr/>
            <p:nvPr/>
          </p:nvGrpSpPr>
          <p:grpSpPr>
            <a:xfrm>
              <a:off x="7713663" y="2848339"/>
              <a:ext cx="1042107" cy="425543"/>
              <a:chOff x="7786941" y="2884917"/>
              <a:chExt cx="897649" cy="353919"/>
            </a:xfrm>
          </p:grpSpPr>
          <p:sp>
            <p:nvSpPr>
              <p:cNvPr id="519" name="Google Shape;519;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0" name="Google Shape;52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1" name="Google Shape;521;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2" name="Google Shape;522;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23" name="Google Shape;523;p9"/>
          <p:cNvGrpSpPr/>
          <p:nvPr/>
        </p:nvGrpSpPr>
        <p:grpSpPr>
          <a:xfrm>
            <a:off x="9601554" y="3999763"/>
            <a:ext cx="367224" cy="240304"/>
            <a:chOff x="7493876" y="2774731"/>
            <a:chExt cx="1481958" cy="894622"/>
          </a:xfrm>
        </p:grpSpPr>
        <p:sp>
          <p:nvSpPr>
            <p:cNvPr id="524" name="Google Shape;524;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25" name="Google Shape;525;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26" name="Google Shape;526;p9"/>
            <p:cNvGrpSpPr/>
            <p:nvPr/>
          </p:nvGrpSpPr>
          <p:grpSpPr>
            <a:xfrm>
              <a:off x="7713663" y="2848339"/>
              <a:ext cx="1042107" cy="425543"/>
              <a:chOff x="7786941" y="2884917"/>
              <a:chExt cx="897649" cy="353919"/>
            </a:xfrm>
          </p:grpSpPr>
          <p:sp>
            <p:nvSpPr>
              <p:cNvPr id="527" name="Google Shape;527;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8" name="Google Shape;528;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9" name="Google Shape;529;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0" name="Google Shape;530;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1" name="Google Shape;531;p9"/>
          <p:cNvGrpSpPr/>
          <p:nvPr/>
        </p:nvGrpSpPr>
        <p:grpSpPr>
          <a:xfrm>
            <a:off x="8050070" y="3965994"/>
            <a:ext cx="354986" cy="175668"/>
            <a:chOff x="7493876" y="2774731"/>
            <a:chExt cx="1481958" cy="894622"/>
          </a:xfrm>
        </p:grpSpPr>
        <p:sp>
          <p:nvSpPr>
            <p:cNvPr id="532" name="Google Shape;532;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3" name="Google Shape;533;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4" name="Google Shape;534;p9"/>
            <p:cNvGrpSpPr/>
            <p:nvPr/>
          </p:nvGrpSpPr>
          <p:grpSpPr>
            <a:xfrm>
              <a:off x="7713663" y="2848339"/>
              <a:ext cx="1042107" cy="425543"/>
              <a:chOff x="7786941" y="2884917"/>
              <a:chExt cx="897649" cy="353919"/>
            </a:xfrm>
          </p:grpSpPr>
          <p:sp>
            <p:nvSpPr>
              <p:cNvPr id="535" name="Google Shape;535;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 name="Google Shape;536;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7" name="Google Shape;537;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8" name="Google Shape;538;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9" name="Google Shape;539;p9"/>
          <p:cNvGrpSpPr/>
          <p:nvPr/>
        </p:nvGrpSpPr>
        <p:grpSpPr>
          <a:xfrm>
            <a:off x="9247893" y="4775686"/>
            <a:ext cx="393760" cy="218578"/>
            <a:chOff x="7493876" y="2774731"/>
            <a:chExt cx="1481958" cy="894622"/>
          </a:xfrm>
        </p:grpSpPr>
        <p:sp>
          <p:nvSpPr>
            <p:cNvPr id="540" name="Google Shape;540;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41" name="Google Shape;541;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42" name="Google Shape;542;p9"/>
            <p:cNvGrpSpPr/>
            <p:nvPr/>
          </p:nvGrpSpPr>
          <p:grpSpPr>
            <a:xfrm>
              <a:off x="7713663" y="2848339"/>
              <a:ext cx="1042107" cy="425543"/>
              <a:chOff x="7786941" y="2884917"/>
              <a:chExt cx="897649" cy="353919"/>
            </a:xfrm>
          </p:grpSpPr>
          <p:sp>
            <p:nvSpPr>
              <p:cNvPr id="543" name="Google Shape;543;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4" name="Google Shape;544;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5" name="Google Shape;545;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46" name="Google Shape;546;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47" name="Google Shape;547;p9"/>
          <p:cNvGrpSpPr/>
          <p:nvPr/>
        </p:nvGrpSpPr>
        <p:grpSpPr>
          <a:xfrm>
            <a:off x="7774998" y="3463448"/>
            <a:ext cx="3007624" cy="1690703"/>
            <a:chOff x="7774998" y="3463448"/>
            <a:chExt cx="3007624" cy="1690703"/>
          </a:xfrm>
        </p:grpSpPr>
        <p:grpSp>
          <p:nvGrpSpPr>
            <p:cNvPr id="548" name="Google Shape;548;p9"/>
            <p:cNvGrpSpPr/>
            <p:nvPr/>
          </p:nvGrpSpPr>
          <p:grpSpPr>
            <a:xfrm>
              <a:off x="7774998" y="4090572"/>
              <a:ext cx="571917" cy="577694"/>
              <a:chOff x="7774998" y="4090572"/>
              <a:chExt cx="571917" cy="577694"/>
            </a:xfrm>
          </p:grpSpPr>
          <p:sp>
            <p:nvSpPr>
              <p:cNvPr id="549" name="Google Shape;549;p9"/>
              <p:cNvSpPr/>
              <p:nvPr/>
            </p:nvSpPr>
            <p:spPr>
              <a:xfrm rot="10800000">
                <a:off x="7818844" y="4090572"/>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0" name="Google Shape;550;p9"/>
              <p:cNvGrpSpPr/>
              <p:nvPr/>
            </p:nvGrpSpPr>
            <p:grpSpPr>
              <a:xfrm>
                <a:off x="7774998" y="4206600"/>
                <a:ext cx="571917" cy="461666"/>
                <a:chOff x="9980560" y="726571"/>
                <a:chExt cx="659732" cy="461666"/>
              </a:xfrm>
            </p:grpSpPr>
            <p:sp>
              <p:nvSpPr>
                <p:cNvPr id="551" name="Google Shape;551;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2" name="Google Shape;552;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53" name="Google Shape;553;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54" name="Google Shape;554;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55" name="Google Shape;555;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56" name="Google Shape;556;p9"/>
            <p:cNvGrpSpPr/>
            <p:nvPr/>
          </p:nvGrpSpPr>
          <p:grpSpPr>
            <a:xfrm>
              <a:off x="8692628" y="3463448"/>
              <a:ext cx="571917" cy="574365"/>
              <a:chOff x="8692628" y="3463448"/>
              <a:chExt cx="571917" cy="574365"/>
            </a:xfrm>
          </p:grpSpPr>
          <p:sp>
            <p:nvSpPr>
              <p:cNvPr id="557" name="Google Shape;557;p9"/>
              <p:cNvSpPr/>
              <p:nvPr/>
            </p:nvSpPr>
            <p:spPr>
              <a:xfrm flipH="1">
                <a:off x="8735937" y="3883244"/>
                <a:ext cx="487903" cy="154569"/>
              </a:xfrm>
              <a:custGeom>
                <a:rect b="b" l="l" r="r" t="t"/>
                <a:pathLst>
                  <a:path extrusionOk="0" h="10000" w="14245">
                    <a:moveTo>
                      <a:pt x="3097" y="10000"/>
                    </a:moveTo>
                    <a:lnTo>
                      <a:pt x="689" y="7620"/>
                    </a:lnTo>
                    <a:cubicBezTo>
                      <a:pt x="459" y="5080"/>
                      <a:pt x="230" y="2540"/>
                      <a:pt x="0" y="0"/>
                    </a:cubicBezTo>
                    <a:lnTo>
                      <a:pt x="14245" y="633"/>
                    </a:lnTo>
                    <a:lnTo>
                      <a:pt x="3097" y="1000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8" name="Google Shape;558;p9"/>
              <p:cNvGrpSpPr/>
              <p:nvPr/>
            </p:nvGrpSpPr>
            <p:grpSpPr>
              <a:xfrm>
                <a:off x="8692628" y="3463448"/>
                <a:ext cx="571917" cy="461666"/>
                <a:chOff x="9980560" y="726571"/>
                <a:chExt cx="659732" cy="461666"/>
              </a:xfrm>
            </p:grpSpPr>
            <p:sp>
              <p:nvSpPr>
                <p:cNvPr id="559" name="Google Shape;559;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0" name="Google Shape;560;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1" name="Google Shape;561;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62" name="Google Shape;562;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63" name="Google Shape;563;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64" name="Google Shape;564;p9"/>
            <p:cNvGrpSpPr/>
            <p:nvPr/>
          </p:nvGrpSpPr>
          <p:grpSpPr>
            <a:xfrm>
              <a:off x="9846130" y="3502221"/>
              <a:ext cx="571917" cy="607211"/>
              <a:chOff x="9846130" y="3502221"/>
              <a:chExt cx="571917" cy="607211"/>
            </a:xfrm>
          </p:grpSpPr>
          <p:sp>
            <p:nvSpPr>
              <p:cNvPr id="565" name="Google Shape;565;p9"/>
              <p:cNvSpPr/>
              <p:nvPr/>
            </p:nvSpPr>
            <p:spPr>
              <a:xfrm>
                <a:off x="9904716" y="3925785"/>
                <a:ext cx="466702" cy="183647"/>
              </a:xfrm>
              <a:custGeom>
                <a:rect b="b" l="l" r="r" t="t"/>
                <a:pathLst>
                  <a:path extrusionOk="0" h="12676" w="10000">
                    <a:moveTo>
                      <a:pt x="1334" y="12676"/>
                    </a:moveTo>
                    <a:lnTo>
                      <a:pt x="51" y="7461"/>
                    </a:lnTo>
                    <a:cubicBezTo>
                      <a:pt x="-117" y="4751"/>
                      <a:pt x="199" y="2710"/>
                      <a:pt x="30" y="0"/>
                    </a:cubicBezTo>
                    <a:lnTo>
                      <a:pt x="10000" y="6"/>
                    </a:lnTo>
                    <a:lnTo>
                      <a:pt x="1334" y="12676"/>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66" name="Google Shape;566;p9"/>
              <p:cNvGrpSpPr/>
              <p:nvPr/>
            </p:nvGrpSpPr>
            <p:grpSpPr>
              <a:xfrm>
                <a:off x="9846130" y="3502221"/>
                <a:ext cx="571917" cy="461666"/>
                <a:chOff x="9980560" y="726571"/>
                <a:chExt cx="659732" cy="461666"/>
              </a:xfrm>
            </p:grpSpPr>
            <p:sp>
              <p:nvSpPr>
                <p:cNvPr id="567" name="Google Shape;567;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8" name="Google Shape;568;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69" name="Google Shape;569;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70" name="Google Shape;570;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71" name="Google Shape;571;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72" name="Google Shape;572;p9"/>
            <p:cNvGrpSpPr/>
            <p:nvPr/>
          </p:nvGrpSpPr>
          <p:grpSpPr>
            <a:xfrm>
              <a:off x="9554792" y="4299763"/>
              <a:ext cx="571917" cy="630904"/>
              <a:chOff x="9554792" y="4299763"/>
              <a:chExt cx="571917" cy="630904"/>
            </a:xfrm>
          </p:grpSpPr>
          <p:sp>
            <p:nvSpPr>
              <p:cNvPr id="573" name="Google Shape;573;p9"/>
              <p:cNvSpPr/>
              <p:nvPr/>
            </p:nvSpPr>
            <p:spPr>
              <a:xfrm>
                <a:off x="9598301" y="4724405"/>
                <a:ext cx="466702" cy="206262"/>
              </a:xfrm>
              <a:custGeom>
                <a:rect b="b" l="l" r="r" t="t"/>
                <a:pathLst>
                  <a:path extrusionOk="0" h="14237" w="10000">
                    <a:moveTo>
                      <a:pt x="434" y="14237"/>
                    </a:moveTo>
                    <a:cubicBezTo>
                      <a:pt x="306" y="11978"/>
                      <a:pt x="179" y="9720"/>
                      <a:pt x="51" y="7461"/>
                    </a:cubicBezTo>
                    <a:cubicBezTo>
                      <a:pt x="-117" y="4751"/>
                      <a:pt x="199" y="2710"/>
                      <a:pt x="30" y="0"/>
                    </a:cubicBezTo>
                    <a:lnTo>
                      <a:pt x="10000" y="6"/>
                    </a:lnTo>
                    <a:lnTo>
                      <a:pt x="434" y="14237"/>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74" name="Google Shape;574;p9"/>
              <p:cNvGrpSpPr/>
              <p:nvPr/>
            </p:nvGrpSpPr>
            <p:grpSpPr>
              <a:xfrm>
                <a:off x="9554792" y="4299763"/>
                <a:ext cx="571917" cy="461666"/>
                <a:chOff x="9980560" y="726571"/>
                <a:chExt cx="659732" cy="461666"/>
              </a:xfrm>
            </p:grpSpPr>
            <p:sp>
              <p:nvSpPr>
                <p:cNvPr id="575" name="Google Shape;575;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76" name="Google Shape;576;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77" name="Google Shape;577;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78" name="Google Shape;578;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79" name="Google Shape;579;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nvGrpSpPr>
            <p:cNvPr id="580" name="Google Shape;580;p9"/>
            <p:cNvGrpSpPr/>
            <p:nvPr/>
          </p:nvGrpSpPr>
          <p:grpSpPr>
            <a:xfrm>
              <a:off x="10153753" y="4577638"/>
              <a:ext cx="628869" cy="576513"/>
              <a:chOff x="10153753" y="4577638"/>
              <a:chExt cx="628869" cy="576513"/>
            </a:xfrm>
          </p:grpSpPr>
          <p:sp>
            <p:nvSpPr>
              <p:cNvPr id="581" name="Google Shape;581;p9"/>
              <p:cNvSpPr/>
              <p:nvPr/>
            </p:nvSpPr>
            <p:spPr>
              <a:xfrm>
                <a:off x="10153753" y="5002899"/>
                <a:ext cx="590332" cy="151252"/>
              </a:xfrm>
              <a:custGeom>
                <a:rect b="b" l="l" r="r" t="t"/>
                <a:pathLst>
                  <a:path extrusionOk="0" h="10440" w="12649">
                    <a:moveTo>
                      <a:pt x="175" y="10440"/>
                    </a:moveTo>
                    <a:cubicBezTo>
                      <a:pt x="47" y="8181"/>
                      <a:pt x="128" y="9045"/>
                      <a:pt x="0" y="6786"/>
                    </a:cubicBezTo>
                    <a:cubicBezTo>
                      <a:pt x="1563" y="2515"/>
                      <a:pt x="1463" y="3373"/>
                      <a:pt x="2263" y="217"/>
                    </a:cubicBezTo>
                    <a:lnTo>
                      <a:pt x="12649" y="0"/>
                    </a:lnTo>
                    <a:lnTo>
                      <a:pt x="175" y="10440"/>
                    </a:lnTo>
                    <a:close/>
                  </a:path>
                </a:pathLst>
              </a:custGeom>
              <a:gradFill>
                <a:gsLst>
                  <a:gs pos="0">
                    <a:schemeClr val="lt1"/>
                  </a:gs>
                  <a:gs pos="99000">
                    <a:srgbClr val="BFBFBF"/>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82" name="Google Shape;582;p9"/>
              <p:cNvGrpSpPr/>
              <p:nvPr/>
            </p:nvGrpSpPr>
            <p:grpSpPr>
              <a:xfrm>
                <a:off x="10210705" y="4577638"/>
                <a:ext cx="571917" cy="461666"/>
                <a:chOff x="9980560" y="726571"/>
                <a:chExt cx="659732" cy="461666"/>
              </a:xfrm>
            </p:grpSpPr>
            <p:sp>
              <p:nvSpPr>
                <p:cNvPr id="583" name="Google Shape;583;p9"/>
                <p:cNvSpPr/>
                <p:nvPr/>
              </p:nvSpPr>
              <p:spPr>
                <a:xfrm>
                  <a:off x="10040996" y="761446"/>
                  <a:ext cx="559422" cy="389036"/>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7F7F7F">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84" name="Google Shape;584;p9"/>
                <p:cNvSpPr/>
                <p:nvPr/>
              </p:nvSpPr>
              <p:spPr>
                <a:xfrm>
                  <a:off x="10041638" y="769755"/>
                  <a:ext cx="559977" cy="130804"/>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585" name="Google Shape;585;p9"/>
                <p:cNvSpPr txBox="1"/>
                <p:nvPr/>
              </p:nvSpPr>
              <p:spPr>
                <a:xfrm>
                  <a:off x="9980560" y="726571"/>
                  <a:ext cx="659732" cy="46166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586" name="Google Shape;586;p9"/>
                <p:cNvCxnSpPr/>
                <p:nvPr/>
              </p:nvCxnSpPr>
              <p:spPr>
                <a:xfrm>
                  <a:off x="10038335" y="895309"/>
                  <a:ext cx="558136" cy="0"/>
                </a:xfrm>
                <a:prstGeom prst="straightConnector1">
                  <a:avLst/>
                </a:prstGeom>
                <a:noFill/>
                <a:ln cap="flat" cmpd="sng" w="12700">
                  <a:solidFill>
                    <a:schemeClr val="dk1"/>
                  </a:solidFill>
                  <a:prstDash val="solid"/>
                  <a:miter lim="800000"/>
                  <a:headEnd len="sm" w="sm" type="none"/>
                  <a:tailEnd len="sm" w="sm" type="none"/>
                </a:ln>
              </p:spPr>
            </p:cxnSp>
            <p:cxnSp>
              <p:nvCxnSpPr>
                <p:cNvPr id="587" name="Google Shape;587;p9"/>
                <p:cNvCxnSpPr/>
                <p:nvPr/>
              </p:nvCxnSpPr>
              <p:spPr>
                <a:xfrm>
                  <a:off x="10038335" y="1018248"/>
                  <a:ext cx="558136" cy="0"/>
                </a:xfrm>
                <a:prstGeom prst="straightConnector1">
                  <a:avLst/>
                </a:prstGeom>
                <a:noFill/>
                <a:ln cap="flat" cmpd="sng" w="12700">
                  <a:solidFill>
                    <a:schemeClr val="dk1"/>
                  </a:solidFill>
                  <a:prstDash val="solid"/>
                  <a:miter lim="800000"/>
                  <a:headEnd len="sm" w="sm" type="none"/>
                  <a:tailEnd len="sm" w="sm" type="none"/>
                </a:ln>
              </p:spPr>
            </p:cxnSp>
          </p:grpSp>
        </p:grpSp>
      </p:grpSp>
      <p:grpSp>
        <p:nvGrpSpPr>
          <p:cNvPr id="588" name="Google Shape;588;p9"/>
          <p:cNvGrpSpPr/>
          <p:nvPr/>
        </p:nvGrpSpPr>
        <p:grpSpPr>
          <a:xfrm>
            <a:off x="9783558" y="4989983"/>
            <a:ext cx="393760" cy="218578"/>
            <a:chOff x="7493876" y="2774731"/>
            <a:chExt cx="1481958" cy="894622"/>
          </a:xfrm>
        </p:grpSpPr>
        <p:sp>
          <p:nvSpPr>
            <p:cNvPr id="589" name="Google Shape;589;p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 name="Google Shape;590;p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1" name="Google Shape;591;p9"/>
            <p:cNvGrpSpPr/>
            <p:nvPr/>
          </p:nvGrpSpPr>
          <p:grpSpPr>
            <a:xfrm>
              <a:off x="7713663" y="2848339"/>
              <a:ext cx="1042107" cy="425543"/>
              <a:chOff x="7786941" y="2884917"/>
              <a:chExt cx="897649" cy="353919"/>
            </a:xfrm>
          </p:grpSpPr>
          <p:sp>
            <p:nvSpPr>
              <p:cNvPr id="592" name="Google Shape;592;p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3" name="Google Shape;593;p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 name="Google Shape;594;p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5" name="Google Shape;595;p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96" name="Google Shape;596;p9"/>
          <p:cNvSpPr/>
          <p:nvPr/>
        </p:nvSpPr>
        <p:spPr>
          <a:xfrm>
            <a:off x="7288696" y="3114260"/>
            <a:ext cx="3064097" cy="2683755"/>
          </a:xfrm>
          <a:custGeom>
            <a:rect b="b" l="l" r="r" t="t"/>
            <a:pathLst>
              <a:path extrusionOk="0" h="2683755" w="3064097">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cap="flat" cmpd="sng" w="317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7" name="Google Shape;597;p9"/>
          <p:cNvGrpSpPr/>
          <p:nvPr/>
        </p:nvGrpSpPr>
        <p:grpSpPr>
          <a:xfrm>
            <a:off x="6543892" y="2922262"/>
            <a:ext cx="3175" cy="379738"/>
            <a:chOff x="6543892" y="2922262"/>
            <a:chExt cx="3175" cy="379738"/>
          </a:xfrm>
        </p:grpSpPr>
        <p:cxnSp>
          <p:nvCxnSpPr>
            <p:cNvPr id="598" name="Google Shape;598;p9"/>
            <p:cNvCxnSpPr/>
            <p:nvPr/>
          </p:nvCxnSpPr>
          <p:spPr>
            <a:xfrm rot="10800000">
              <a:off x="6543892" y="2922262"/>
              <a:ext cx="0" cy="147963"/>
            </a:xfrm>
            <a:prstGeom prst="straightConnector1">
              <a:avLst/>
            </a:prstGeom>
            <a:noFill/>
            <a:ln cap="flat" cmpd="sng" w="28575">
              <a:solidFill>
                <a:srgbClr val="C00000"/>
              </a:solidFill>
              <a:prstDash val="solid"/>
              <a:miter lim="800000"/>
              <a:headEnd len="sm" w="sm" type="none"/>
              <a:tailEnd len="med" w="med" type="triangle"/>
            </a:ln>
          </p:spPr>
        </p:cxnSp>
        <p:cxnSp>
          <p:nvCxnSpPr>
            <p:cNvPr id="599" name="Google Shape;599;p9"/>
            <p:cNvCxnSpPr/>
            <p:nvPr/>
          </p:nvCxnSpPr>
          <p:spPr>
            <a:xfrm>
              <a:off x="6547067" y="3154037"/>
              <a:ext cx="0" cy="147963"/>
            </a:xfrm>
            <a:prstGeom prst="straightConnector1">
              <a:avLst/>
            </a:prstGeom>
            <a:noFill/>
            <a:ln cap="flat" cmpd="sng" w="28575">
              <a:solidFill>
                <a:srgbClr val="C00000"/>
              </a:solidFill>
              <a:prstDash val="solid"/>
              <a:miter lim="800000"/>
              <a:headEnd len="sm" w="sm" type="none"/>
              <a:tailEnd len="med" w="med" type="triangle"/>
            </a:ln>
          </p:spPr>
        </p:cxnSp>
      </p:grpSp>
      <p:grpSp>
        <p:nvGrpSpPr>
          <p:cNvPr id="600" name="Google Shape;600;p9"/>
          <p:cNvGrpSpPr/>
          <p:nvPr/>
        </p:nvGrpSpPr>
        <p:grpSpPr>
          <a:xfrm>
            <a:off x="11233367" y="5608312"/>
            <a:ext cx="3175" cy="379738"/>
            <a:chOff x="6543892" y="2922262"/>
            <a:chExt cx="3175" cy="379738"/>
          </a:xfrm>
        </p:grpSpPr>
        <p:cxnSp>
          <p:nvCxnSpPr>
            <p:cNvPr id="601" name="Google Shape;601;p9"/>
            <p:cNvCxnSpPr/>
            <p:nvPr/>
          </p:nvCxnSpPr>
          <p:spPr>
            <a:xfrm rot="10800000">
              <a:off x="6543892" y="2922262"/>
              <a:ext cx="0" cy="147963"/>
            </a:xfrm>
            <a:prstGeom prst="straightConnector1">
              <a:avLst/>
            </a:prstGeom>
            <a:noFill/>
            <a:ln cap="flat" cmpd="sng" w="28575">
              <a:solidFill>
                <a:srgbClr val="C00000"/>
              </a:solidFill>
              <a:prstDash val="solid"/>
              <a:miter lim="800000"/>
              <a:headEnd len="sm" w="sm" type="none"/>
              <a:tailEnd len="med" w="med" type="triangle"/>
            </a:ln>
          </p:spPr>
        </p:cxnSp>
        <p:cxnSp>
          <p:nvCxnSpPr>
            <p:cNvPr id="602" name="Google Shape;602;p9"/>
            <p:cNvCxnSpPr/>
            <p:nvPr/>
          </p:nvCxnSpPr>
          <p:spPr>
            <a:xfrm>
              <a:off x="6547067" y="3154037"/>
              <a:ext cx="0" cy="147963"/>
            </a:xfrm>
            <a:prstGeom prst="straightConnector1">
              <a:avLst/>
            </a:prstGeom>
            <a:noFill/>
            <a:ln cap="flat" cmpd="sng" w="28575">
              <a:solidFill>
                <a:srgbClr val="C00000"/>
              </a:solidFill>
              <a:prstDash val="solid"/>
              <a:miter lim="800000"/>
              <a:headEnd len="sm" w="sm" type="none"/>
              <a:tailEnd len="med" w="med" type="triangle"/>
            </a:ln>
          </p:spPr>
        </p:cxnSp>
      </p:grpSp>
      <p:sp>
        <p:nvSpPr>
          <p:cNvPr id="603" name="Google Shape;603;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0" st="0"/>
                                            </p:txEl>
                                          </p:spTgt>
                                        </p:tgtEl>
                                        <p:attrNameLst>
                                          <p:attrName>style.visibility</p:attrName>
                                        </p:attrNameLst>
                                      </p:cBhvr>
                                      <p:to>
                                        <p:strVal val="visible"/>
                                      </p:to>
                                    </p:set>
                                    <p:animEffect filter="fade" transition="in">
                                      <p:cBhvr>
                                        <p:cTn dur="500"/>
                                        <p:tgtEl>
                                          <p:spTgt spid="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1" st="1"/>
                                            </p:txEl>
                                          </p:spTgt>
                                        </p:tgtEl>
                                        <p:attrNameLst>
                                          <p:attrName>style.visibility</p:attrName>
                                        </p:attrNameLst>
                                      </p:cBhvr>
                                      <p:to>
                                        <p:strVal val="visible"/>
                                      </p:to>
                                    </p:set>
                                    <p:animEffect filter="fade" transition="in">
                                      <p:cBhvr>
                                        <p:cTn dur="500"/>
                                        <p:tgtEl>
                                          <p:spTgt spid="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2" st="2"/>
                                            </p:txEl>
                                          </p:spTgt>
                                        </p:tgtEl>
                                        <p:attrNameLst>
                                          <p:attrName>style.visibility</p:attrName>
                                        </p:attrNameLst>
                                      </p:cBhvr>
                                      <p:to>
                                        <p:strVal val="visible"/>
                                      </p:to>
                                    </p:set>
                                    <p:animEffect filter="fade" transition="in">
                                      <p:cBhvr>
                                        <p:cTn dur="500"/>
                                        <p:tgtEl>
                                          <p:spTgt spid="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3" st="3"/>
                                            </p:txEl>
                                          </p:spTgt>
                                        </p:tgtEl>
                                        <p:attrNameLst>
                                          <p:attrName>style.visibility</p:attrName>
                                        </p:attrNameLst>
                                      </p:cBhvr>
                                      <p:to>
                                        <p:strVal val="visible"/>
                                      </p:to>
                                    </p:set>
                                    <p:animEffect filter="fade" transition="in">
                                      <p:cBhvr>
                                        <p:cTn dur="500"/>
                                        <p:tgtEl>
                                          <p:spTgt spid="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4" st="4"/>
                                            </p:txEl>
                                          </p:spTgt>
                                        </p:tgtEl>
                                        <p:attrNameLst>
                                          <p:attrName>style.visibility</p:attrName>
                                        </p:attrNameLst>
                                      </p:cBhvr>
                                      <p:to>
                                        <p:strVal val="visible"/>
                                      </p:to>
                                    </p:set>
                                    <p:animEffect filter="fade" transition="in">
                                      <p:cBhvr>
                                        <p:cTn dur="500"/>
                                        <p:tgtEl>
                                          <p:spTgt spid="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5" st="5"/>
                                            </p:txEl>
                                          </p:spTgt>
                                        </p:tgtEl>
                                        <p:attrNameLst>
                                          <p:attrName>style.visibility</p:attrName>
                                        </p:attrNameLst>
                                      </p:cBhvr>
                                      <p:to>
                                        <p:strVal val="visible"/>
                                      </p:to>
                                    </p:set>
                                    <p:animEffect filter="fade" transition="in">
                                      <p:cBhvr>
                                        <p:cTn dur="500"/>
                                        <p:tgtEl>
                                          <p:spTgt spid="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6" st="6"/>
                                            </p:txEl>
                                          </p:spTgt>
                                        </p:tgtEl>
                                        <p:attrNameLst>
                                          <p:attrName>style.visibility</p:attrName>
                                        </p:attrNameLst>
                                      </p:cBhvr>
                                      <p:to>
                                        <p:strVal val="visible"/>
                                      </p:to>
                                    </p:set>
                                    <p:animEffect filter="fade" transition="in">
                                      <p:cBhvr>
                                        <p:cTn dur="500"/>
                                        <p:tgtEl>
                                          <p:spTgt spid="65">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par>
                                <p:cTn fill="hold" nodeType="with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par>
                                <p:cTn fill="hold" nodeType="withEffect" presetClass="entr" presetID="10" presetSubtype="0">
                                  <p:stCondLst>
                                    <p:cond delay="0"/>
                                  </p:stCondLst>
                                  <p:childTnLst>
                                    <p:set>
                                      <p:cBhvr>
                                        <p:cTn dur="1" fill="hold">
                                          <p:stCondLst>
                                            <p:cond delay="0"/>
                                          </p:stCondLst>
                                        </p:cTn>
                                        <p:tgtEl>
                                          <p:spTgt spid="597"/>
                                        </p:tgtEl>
                                        <p:attrNameLst>
                                          <p:attrName>style.visibility</p:attrName>
                                        </p:attrNameLst>
                                      </p:cBhvr>
                                      <p:to>
                                        <p:strVal val="visible"/>
                                      </p:to>
                                    </p:set>
                                    <p:animEffect filter="fade" transition="in">
                                      <p:cBhvr>
                                        <p:cTn dur="500"/>
                                        <p:tgtEl>
                                          <p:spTgt spid="597"/>
                                        </p:tgtEl>
                                      </p:cBhvr>
                                    </p:animEffect>
                                  </p:childTnLst>
                                </p:cTn>
                              </p:par>
                              <p:par>
                                <p:cTn fill="hold" nodeType="with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1000"/>
                                        <p:tgtEl>
                                          <p:spTgt spid="5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Two key network-layer functions</a:t>
            </a:r>
            <a:endParaRPr/>
          </a:p>
        </p:txBody>
      </p:sp>
      <p:sp>
        <p:nvSpPr>
          <p:cNvPr id="610" name="Google Shape;610;p10"/>
          <p:cNvSpPr txBox="1"/>
          <p:nvPr>
            <p:ph idx="1" type="body"/>
          </p:nvPr>
        </p:nvSpPr>
        <p:spPr>
          <a:xfrm>
            <a:off x="877956" y="1666601"/>
            <a:ext cx="5181600" cy="18907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None/>
            </a:pPr>
            <a:r>
              <a:rPr lang="en-US" sz="3200">
                <a:solidFill>
                  <a:srgbClr val="CC0000"/>
                </a:solidFill>
              </a:rPr>
              <a:t>network-layer functions:</a:t>
            </a:r>
            <a:endParaRPr/>
          </a:p>
          <a:p>
            <a:pPr indent="-234950" lvl="0" marL="352425" rtl="0" algn="l">
              <a:lnSpc>
                <a:spcPct val="90000"/>
              </a:lnSpc>
              <a:spcBef>
                <a:spcPts val="600"/>
              </a:spcBef>
              <a:spcAft>
                <a:spcPts val="0"/>
              </a:spcAft>
              <a:buSzPts val="2800"/>
              <a:buChar char="▪"/>
            </a:pPr>
            <a:r>
              <a:rPr i="1" lang="en-US">
                <a:solidFill>
                  <a:srgbClr val="000099"/>
                </a:solidFill>
              </a:rPr>
              <a:t>forwarding:</a:t>
            </a:r>
            <a:r>
              <a:rPr lang="en-US"/>
              <a:t> move packets from a router’s input link to appropriate router output link</a:t>
            </a:r>
            <a:endParaRPr/>
          </a:p>
          <a:p>
            <a:pPr indent="-44450" lvl="0" marL="352425" rtl="0" algn="l">
              <a:lnSpc>
                <a:spcPct val="90000"/>
              </a:lnSpc>
              <a:spcBef>
                <a:spcPts val="1000"/>
              </a:spcBef>
              <a:spcAft>
                <a:spcPts val="0"/>
              </a:spcAft>
              <a:buSzPts val="2800"/>
              <a:buNone/>
            </a:pPr>
            <a:r>
              <a:t/>
            </a:r>
            <a:endParaRPr/>
          </a:p>
        </p:txBody>
      </p:sp>
      <p:sp>
        <p:nvSpPr>
          <p:cNvPr id="611" name="Google Shape;611;p10"/>
          <p:cNvSpPr txBox="1"/>
          <p:nvPr>
            <p:ph idx="2" type="body"/>
          </p:nvPr>
        </p:nvSpPr>
        <p:spPr>
          <a:xfrm>
            <a:off x="6172200" y="1693105"/>
            <a:ext cx="5181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85000"/>
              </a:lnSpc>
              <a:spcBef>
                <a:spcPts val="0"/>
              </a:spcBef>
              <a:spcAft>
                <a:spcPts val="0"/>
              </a:spcAft>
              <a:buClr>
                <a:srgbClr val="000099"/>
              </a:buClr>
              <a:buSzPts val="2080"/>
              <a:buFont typeface="Noto Sans Symbols"/>
              <a:buNone/>
            </a:pPr>
            <a:r>
              <a:rPr lang="en-US" sz="3200">
                <a:solidFill>
                  <a:srgbClr val="CC0000"/>
                </a:solidFill>
              </a:rPr>
              <a:t>analogy: taking a trip</a:t>
            </a:r>
            <a:endParaRPr/>
          </a:p>
          <a:p>
            <a:pPr indent="-234950" lvl="0" marL="352425" rtl="0" algn="l">
              <a:lnSpc>
                <a:spcPct val="85000"/>
              </a:lnSpc>
              <a:spcBef>
                <a:spcPts val="600"/>
              </a:spcBef>
              <a:spcAft>
                <a:spcPts val="0"/>
              </a:spcAft>
              <a:buClr>
                <a:srgbClr val="000099"/>
              </a:buClr>
              <a:buSzPts val="2800"/>
              <a:buFont typeface="Noto Sans Symbols"/>
              <a:buChar char="▪"/>
            </a:pPr>
            <a:r>
              <a:rPr i="1" lang="en-US">
                <a:solidFill>
                  <a:srgbClr val="000099"/>
                </a:solidFill>
              </a:rPr>
              <a:t>forwarding</a:t>
            </a:r>
            <a:r>
              <a:rPr i="1" lang="en-US">
                <a:solidFill>
                  <a:schemeClr val="accent2"/>
                </a:solidFill>
              </a:rPr>
              <a:t>:</a:t>
            </a:r>
            <a:r>
              <a:rPr lang="en-US"/>
              <a:t> process of getting through single interchange</a:t>
            </a:r>
            <a:endParaRPr/>
          </a:p>
          <a:p>
            <a:pPr indent="0" lvl="0" marL="130175" rtl="0" algn="l">
              <a:lnSpc>
                <a:spcPct val="90000"/>
              </a:lnSpc>
              <a:spcBef>
                <a:spcPts val="1000"/>
              </a:spcBef>
              <a:spcAft>
                <a:spcPts val="0"/>
              </a:spcAft>
              <a:buSzPts val="2800"/>
              <a:buNone/>
            </a:pPr>
            <a:r>
              <a:t/>
            </a:r>
            <a:endParaRPr/>
          </a:p>
        </p:txBody>
      </p:sp>
      <p:grpSp>
        <p:nvGrpSpPr>
          <p:cNvPr id="612" name="Google Shape;612;p10"/>
          <p:cNvGrpSpPr/>
          <p:nvPr/>
        </p:nvGrpSpPr>
        <p:grpSpPr>
          <a:xfrm>
            <a:off x="6519334" y="4075932"/>
            <a:ext cx="2227101" cy="1745933"/>
            <a:chOff x="6519334" y="4075932"/>
            <a:chExt cx="2227101" cy="1745933"/>
          </a:xfrm>
        </p:grpSpPr>
        <p:pic>
          <p:nvPicPr>
            <p:cNvPr descr="Why traffic apps make congestion worse | Berkeley News" id="613" name="Google Shape;613;p10"/>
            <p:cNvPicPr preferRelativeResize="0"/>
            <p:nvPr/>
          </p:nvPicPr>
          <p:blipFill rotWithShape="1">
            <a:blip r:embed="rId3">
              <a:alphaModFix/>
            </a:blip>
            <a:srcRect b="0" l="0" r="0" t="0"/>
            <a:stretch/>
          </p:blipFill>
          <p:spPr>
            <a:xfrm>
              <a:off x="6606213" y="4075932"/>
              <a:ext cx="2140222" cy="1426815"/>
            </a:xfrm>
            <a:prstGeom prst="rect">
              <a:avLst/>
            </a:prstGeom>
            <a:noFill/>
            <a:ln>
              <a:noFill/>
            </a:ln>
          </p:spPr>
        </p:pic>
        <p:sp>
          <p:nvSpPr>
            <p:cNvPr id="614" name="Google Shape;614;p10"/>
            <p:cNvSpPr txBox="1"/>
            <p:nvPr/>
          </p:nvSpPr>
          <p:spPr>
            <a:xfrm>
              <a:off x="6519334" y="5452533"/>
              <a:ext cx="12092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forwarding</a:t>
              </a:r>
              <a:endParaRPr/>
            </a:p>
          </p:txBody>
        </p:sp>
      </p:grpSp>
      <p:grpSp>
        <p:nvGrpSpPr>
          <p:cNvPr id="615" name="Google Shape;615;p10"/>
          <p:cNvGrpSpPr/>
          <p:nvPr/>
        </p:nvGrpSpPr>
        <p:grpSpPr>
          <a:xfrm>
            <a:off x="8314267" y="4706696"/>
            <a:ext cx="2953118" cy="1640102"/>
            <a:chOff x="8314267" y="4706696"/>
            <a:chExt cx="2953118" cy="1640102"/>
          </a:xfrm>
        </p:grpSpPr>
        <p:pic>
          <p:nvPicPr>
            <p:cNvPr id="616" name="Google Shape;616;p10"/>
            <p:cNvPicPr preferRelativeResize="0"/>
            <p:nvPr/>
          </p:nvPicPr>
          <p:blipFill rotWithShape="1">
            <a:blip r:embed="rId4">
              <a:alphaModFix/>
            </a:blip>
            <a:srcRect b="0" l="0" r="0" t="0"/>
            <a:stretch/>
          </p:blipFill>
          <p:spPr>
            <a:xfrm>
              <a:off x="8415131" y="4706696"/>
              <a:ext cx="2852254" cy="1323319"/>
            </a:xfrm>
            <a:prstGeom prst="rect">
              <a:avLst/>
            </a:prstGeom>
            <a:noFill/>
            <a:ln>
              <a:noFill/>
            </a:ln>
          </p:spPr>
        </p:pic>
        <p:sp>
          <p:nvSpPr>
            <p:cNvPr id="617" name="Google Shape;617;p10"/>
            <p:cNvSpPr txBox="1"/>
            <p:nvPr/>
          </p:nvSpPr>
          <p:spPr>
            <a:xfrm>
              <a:off x="8314267" y="5977466"/>
              <a:ext cx="86543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routing</a:t>
              </a:r>
              <a:endParaRPr/>
            </a:p>
          </p:txBody>
        </p:sp>
      </p:grpSp>
      <p:sp>
        <p:nvSpPr>
          <p:cNvPr id="618" name="Google Shape;618;p10"/>
          <p:cNvSpPr txBox="1"/>
          <p:nvPr/>
        </p:nvSpPr>
        <p:spPr>
          <a:xfrm>
            <a:off x="6183682" y="3026965"/>
            <a:ext cx="5181600" cy="879225"/>
          </a:xfrm>
          <a:prstGeom prst="rect">
            <a:avLst/>
          </a:prstGeom>
          <a:noFill/>
          <a:ln>
            <a:noFill/>
          </a:ln>
        </p:spPr>
        <p:txBody>
          <a:bodyPr anchorCtr="0" anchor="t" bIns="45700" lIns="91425" spcFirstLastPara="1" rIns="91425" wrap="square" tIns="45700">
            <a:normAutofit/>
          </a:bodyPr>
          <a:lstStyle/>
          <a:p>
            <a:pPr indent="-2349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99"/>
                </a:solidFill>
                <a:latin typeface="Calibri"/>
                <a:ea typeface="Calibri"/>
                <a:cs typeface="Calibri"/>
                <a:sym typeface="Calibri"/>
              </a:rPr>
              <a:t>routing:</a:t>
            </a:r>
            <a:r>
              <a:rPr b="0" i="0" lang="en-US" sz="2800" u="none" cap="none" strike="noStrike">
                <a:solidFill>
                  <a:srgbClr val="000000"/>
                </a:solidFill>
                <a:latin typeface="Calibri"/>
                <a:ea typeface="Calibri"/>
                <a:cs typeface="Calibri"/>
                <a:sym typeface="Calibri"/>
              </a:rPr>
              <a:t> process of planning trip from source to destination</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19" name="Google Shape;619;p10"/>
          <p:cNvSpPr txBox="1"/>
          <p:nvPr/>
        </p:nvSpPr>
        <p:spPr>
          <a:xfrm>
            <a:off x="880044" y="3441526"/>
            <a:ext cx="5181600" cy="1856984"/>
          </a:xfrm>
          <a:prstGeom prst="rect">
            <a:avLst/>
          </a:prstGeom>
          <a:noFill/>
          <a:ln>
            <a:noFill/>
          </a:ln>
        </p:spPr>
        <p:txBody>
          <a:bodyPr anchorCtr="0" anchor="t" bIns="45700" lIns="91425" spcFirstLastPara="1" rIns="91425" wrap="square" tIns="45700">
            <a:normAutofit/>
          </a:bodyPr>
          <a:lstStyle/>
          <a:p>
            <a:pPr indent="-2349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000099"/>
                </a:solidFill>
                <a:latin typeface="Calibri"/>
                <a:ea typeface="Calibri"/>
                <a:cs typeface="Calibri"/>
                <a:sym typeface="Calibri"/>
              </a:rPr>
              <a:t>routing:</a:t>
            </a:r>
            <a:r>
              <a:rPr b="0" i="0" lang="en-US" sz="2800" u="none" cap="none" strike="noStrike">
                <a:solidFill>
                  <a:srgbClr val="000000"/>
                </a:solidFill>
                <a:latin typeface="Calibri"/>
                <a:ea typeface="Calibri"/>
                <a:cs typeface="Calibri"/>
                <a:sym typeface="Calibri"/>
              </a:rPr>
              <a:t> determine route taken by packets from source to destination</a:t>
            </a:r>
            <a:endParaRPr/>
          </a:p>
          <a:p>
            <a:pPr indent="-231775" lvl="1" marL="695325" marR="0" rtl="0" algn="l">
              <a:lnSpc>
                <a:spcPct val="90000"/>
              </a:lnSpc>
              <a:spcBef>
                <a:spcPts val="6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routing algorithms</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20" name="Google Shape;620;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par>
                                <p:cTn fill="hold" nodeType="with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 layer: data plane, control plane</a:t>
            </a:r>
            <a:endParaRPr/>
          </a:p>
        </p:txBody>
      </p:sp>
      <p:sp>
        <p:nvSpPr>
          <p:cNvPr id="627" name="Google Shape;627;p11"/>
          <p:cNvSpPr txBox="1"/>
          <p:nvPr>
            <p:ph idx="1" type="body"/>
          </p:nvPr>
        </p:nvSpPr>
        <p:spPr>
          <a:xfrm>
            <a:off x="771938" y="1534078"/>
            <a:ext cx="4621697"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Font typeface="Noto Sans Symbols"/>
              <a:buNone/>
            </a:pPr>
            <a:r>
              <a:rPr lang="en-US" sz="3200">
                <a:solidFill>
                  <a:srgbClr val="CC0000"/>
                </a:solidFill>
              </a:rPr>
              <a:t>Data plane:</a:t>
            </a:r>
            <a:endParaRPr/>
          </a:p>
          <a:p>
            <a:pPr indent="-292100" lvl="0" marL="292100" rtl="0" algn="l">
              <a:lnSpc>
                <a:spcPct val="90000"/>
              </a:lnSpc>
              <a:spcBef>
                <a:spcPts val="600"/>
              </a:spcBef>
              <a:spcAft>
                <a:spcPts val="0"/>
              </a:spcAft>
              <a:buSzPts val="2800"/>
              <a:buFont typeface="Noto Sans Symbols"/>
              <a:buChar char="▪"/>
            </a:pPr>
            <a:r>
              <a:rPr i="1" lang="en-US">
                <a:solidFill>
                  <a:srgbClr val="0000A3"/>
                </a:solidFill>
              </a:rPr>
              <a:t>local</a:t>
            </a:r>
            <a:r>
              <a:rPr lang="en-US"/>
              <a:t>, per-router function</a:t>
            </a:r>
            <a:endParaRPr/>
          </a:p>
          <a:p>
            <a:pPr indent="-292100" lvl="0" marL="292100" rtl="0" algn="l">
              <a:lnSpc>
                <a:spcPct val="90000"/>
              </a:lnSpc>
              <a:spcBef>
                <a:spcPts val="600"/>
              </a:spcBef>
              <a:spcAft>
                <a:spcPts val="0"/>
              </a:spcAft>
              <a:buSzPts val="2800"/>
              <a:buFont typeface="Noto Sans Symbols"/>
              <a:buChar char="▪"/>
            </a:pPr>
            <a:r>
              <a:rPr lang="en-US"/>
              <a:t>determines how datagram arriving on router input port is forwarded to router output port</a:t>
            </a:r>
            <a:endParaRPr/>
          </a:p>
          <a:p>
            <a:pPr indent="0" lvl="0" marL="130175" rtl="0" algn="l">
              <a:lnSpc>
                <a:spcPct val="90000"/>
              </a:lnSpc>
              <a:spcBef>
                <a:spcPts val="1000"/>
              </a:spcBef>
              <a:spcAft>
                <a:spcPts val="0"/>
              </a:spcAft>
              <a:buSzPts val="2800"/>
              <a:buNone/>
            </a:pPr>
            <a:r>
              <a:t/>
            </a:r>
            <a:endParaRPr/>
          </a:p>
        </p:txBody>
      </p:sp>
      <p:sp>
        <p:nvSpPr>
          <p:cNvPr id="628" name="Google Shape;628;p11"/>
          <p:cNvSpPr txBox="1"/>
          <p:nvPr>
            <p:ph idx="2" type="body"/>
          </p:nvPr>
        </p:nvSpPr>
        <p:spPr>
          <a:xfrm>
            <a:off x="6278216" y="1547331"/>
            <a:ext cx="5502965" cy="46149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Font typeface="Noto Sans Symbols"/>
              <a:buNone/>
            </a:pPr>
            <a:r>
              <a:rPr lang="en-US" sz="3200">
                <a:solidFill>
                  <a:srgbClr val="CC0000"/>
                </a:solidFill>
              </a:rPr>
              <a:t>Control plane</a:t>
            </a:r>
            <a:endParaRPr/>
          </a:p>
          <a:p>
            <a:pPr indent="-228600" lvl="0" marL="228600" rtl="0" algn="l">
              <a:lnSpc>
                <a:spcPct val="90000"/>
              </a:lnSpc>
              <a:spcBef>
                <a:spcPts val="600"/>
              </a:spcBef>
              <a:spcAft>
                <a:spcPts val="0"/>
              </a:spcAft>
              <a:buSzPts val="2800"/>
              <a:buChar char="▪"/>
            </a:pPr>
            <a:r>
              <a:rPr i="1" lang="en-US">
                <a:solidFill>
                  <a:srgbClr val="0000A3"/>
                </a:solidFill>
              </a:rPr>
              <a:t>network-wide</a:t>
            </a:r>
            <a:r>
              <a:rPr lang="en-US"/>
              <a:t> logic</a:t>
            </a:r>
            <a:endParaRPr/>
          </a:p>
          <a:p>
            <a:pPr indent="-228600" lvl="0" marL="228600" rtl="0" algn="l">
              <a:lnSpc>
                <a:spcPct val="90000"/>
              </a:lnSpc>
              <a:spcBef>
                <a:spcPts val="600"/>
              </a:spcBef>
              <a:spcAft>
                <a:spcPts val="0"/>
              </a:spcAft>
              <a:buSzPts val="2800"/>
              <a:buChar char="▪"/>
            </a:pPr>
            <a:r>
              <a:rPr lang="en-US"/>
              <a:t>determines how datagram is routed among routers along end-end path from source host to destination host</a:t>
            </a:r>
            <a:endParaRPr/>
          </a:p>
          <a:p>
            <a:pPr indent="-44450" lvl="0" marL="352425" rtl="0" algn="l">
              <a:lnSpc>
                <a:spcPct val="90000"/>
              </a:lnSpc>
              <a:spcBef>
                <a:spcPts val="1000"/>
              </a:spcBef>
              <a:spcAft>
                <a:spcPts val="0"/>
              </a:spcAft>
              <a:buSzPts val="2800"/>
              <a:buNone/>
            </a:pPr>
            <a:r>
              <a:t/>
            </a:r>
            <a:endParaRPr/>
          </a:p>
        </p:txBody>
      </p:sp>
      <p:grpSp>
        <p:nvGrpSpPr>
          <p:cNvPr id="629" name="Google Shape;629;p11"/>
          <p:cNvGrpSpPr/>
          <p:nvPr/>
        </p:nvGrpSpPr>
        <p:grpSpPr>
          <a:xfrm>
            <a:off x="1181100" y="4260145"/>
            <a:ext cx="3643313" cy="1582738"/>
            <a:chOff x="842050" y="4767952"/>
            <a:chExt cx="3644169" cy="1582996"/>
          </a:xfrm>
        </p:grpSpPr>
        <p:sp>
          <p:nvSpPr>
            <p:cNvPr id="630" name="Google Shape;630;p11"/>
            <p:cNvSpPr/>
            <p:nvPr/>
          </p:nvSpPr>
          <p:spPr>
            <a:xfrm>
              <a:off x="2591886" y="5436399"/>
              <a:ext cx="1894333" cy="914549"/>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a:gsLst>
                <a:gs pos="0">
                  <a:srgbClr val="66CCFF"/>
                </a:gs>
                <a:gs pos="50000">
                  <a:srgbClr val="FFFF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31" name="Google Shape;631;p11"/>
            <p:cNvCxnSpPr/>
            <p:nvPr/>
          </p:nvCxnSpPr>
          <p:spPr>
            <a:xfrm flipH="1" rot="10800000">
              <a:off x="3261968" y="5558656"/>
              <a:ext cx="500180" cy="157189"/>
            </a:xfrm>
            <a:prstGeom prst="straightConnector1">
              <a:avLst/>
            </a:prstGeom>
            <a:noFill/>
            <a:ln cap="flat" cmpd="sng" w="12700">
              <a:solidFill>
                <a:srgbClr val="000000"/>
              </a:solidFill>
              <a:prstDash val="solid"/>
              <a:round/>
              <a:headEnd len="sm" w="sm" type="none"/>
              <a:tailEnd len="sm" w="sm" type="none"/>
            </a:ln>
          </p:spPr>
        </p:cxnSp>
        <p:cxnSp>
          <p:nvCxnSpPr>
            <p:cNvPr id="632" name="Google Shape;632;p11"/>
            <p:cNvCxnSpPr/>
            <p:nvPr/>
          </p:nvCxnSpPr>
          <p:spPr>
            <a:xfrm>
              <a:off x="3111121" y="5774591"/>
              <a:ext cx="862215" cy="104792"/>
            </a:xfrm>
            <a:prstGeom prst="straightConnector1">
              <a:avLst/>
            </a:prstGeom>
            <a:noFill/>
            <a:ln cap="flat" cmpd="sng" w="12700">
              <a:solidFill>
                <a:srgbClr val="000000"/>
              </a:solidFill>
              <a:prstDash val="solid"/>
              <a:round/>
              <a:headEnd len="sm" w="sm" type="none"/>
              <a:tailEnd len="sm" w="sm" type="none"/>
            </a:ln>
          </p:spPr>
        </p:cxnSp>
        <p:cxnSp>
          <p:nvCxnSpPr>
            <p:cNvPr id="633" name="Google Shape;633;p11"/>
            <p:cNvCxnSpPr/>
            <p:nvPr/>
          </p:nvCxnSpPr>
          <p:spPr>
            <a:xfrm>
              <a:off x="3123824" y="5880971"/>
              <a:ext cx="714543" cy="274682"/>
            </a:xfrm>
            <a:prstGeom prst="straightConnector1">
              <a:avLst/>
            </a:prstGeom>
            <a:noFill/>
            <a:ln cap="flat" cmpd="sng" w="12700">
              <a:solidFill>
                <a:srgbClr val="000000"/>
              </a:solidFill>
              <a:prstDash val="solid"/>
              <a:round/>
              <a:headEnd len="sm" w="sm" type="none"/>
              <a:tailEnd len="sm" w="sm" type="none"/>
            </a:ln>
          </p:spPr>
        </p:cxnSp>
        <p:cxnSp>
          <p:nvCxnSpPr>
            <p:cNvPr id="634" name="Google Shape;634;p11"/>
            <p:cNvCxnSpPr/>
            <p:nvPr/>
          </p:nvCxnSpPr>
          <p:spPr>
            <a:xfrm flipH="1">
              <a:off x="1283479" y="5801583"/>
              <a:ext cx="1506892" cy="1587"/>
            </a:xfrm>
            <a:prstGeom prst="straightConnector1">
              <a:avLst/>
            </a:prstGeom>
            <a:noFill/>
            <a:ln cap="flat" cmpd="sng" w="9525">
              <a:solidFill>
                <a:srgbClr val="000000"/>
              </a:solidFill>
              <a:prstDash val="solid"/>
              <a:round/>
              <a:headEnd len="sm" w="sm" type="none"/>
              <a:tailEnd len="sm" w="sm" type="none"/>
            </a:ln>
          </p:spPr>
        </p:cxnSp>
        <p:sp>
          <p:nvSpPr>
            <p:cNvPr id="635" name="Google Shape;635;p11"/>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636" name="Google Shape;636;p11"/>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637" name="Google Shape;637;p11"/>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grpSp>
          <p:nvGrpSpPr>
            <p:cNvPr id="638" name="Google Shape;638;p11"/>
            <p:cNvGrpSpPr/>
            <p:nvPr/>
          </p:nvGrpSpPr>
          <p:grpSpPr>
            <a:xfrm>
              <a:off x="938213" y="5237163"/>
              <a:ext cx="1616075" cy="487362"/>
              <a:chOff x="-4079003" y="2717403"/>
              <a:chExt cx="1616718" cy="488475"/>
            </a:xfrm>
          </p:grpSpPr>
          <p:sp>
            <p:nvSpPr>
              <p:cNvPr id="639" name="Google Shape;639;p11"/>
              <p:cNvSpPr/>
              <p:nvPr/>
            </p:nvSpPr>
            <p:spPr>
              <a:xfrm>
                <a:off x="-4052413" y="2965119"/>
                <a:ext cx="1290538" cy="208750"/>
              </a:xfrm>
              <a:prstGeom prst="rect">
                <a:avLst/>
              </a:prstGeom>
              <a:solidFill>
                <a:srgbClr val="8080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0" name="Google Shape;640;p11"/>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41" name="Google Shape;641;p11"/>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642" name="Google Shape;642;p11"/>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3" name="Google Shape;643;p11"/>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644" name="Google Shape;644;p11"/>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645" name="Google Shape;645;p11"/>
            <p:cNvSpPr txBox="1"/>
            <p:nvPr/>
          </p:nvSpPr>
          <p:spPr>
            <a:xfrm>
              <a:off x="842050" y="4767952"/>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nvGrpSpPr>
            <p:cNvPr id="646" name="Google Shape;646;p11"/>
            <p:cNvGrpSpPr/>
            <p:nvPr/>
          </p:nvGrpSpPr>
          <p:grpSpPr>
            <a:xfrm>
              <a:off x="2714153" y="5658685"/>
              <a:ext cx="565283" cy="293735"/>
              <a:chOff x="1870334" y="1575177"/>
              <a:chExt cx="1128637" cy="437933"/>
            </a:xfrm>
          </p:grpSpPr>
          <p:sp>
            <p:nvSpPr>
              <p:cNvPr id="647" name="Google Shape;647;p11"/>
              <p:cNvSpPr/>
              <p:nvPr/>
            </p:nvSpPr>
            <p:spPr>
              <a:xfrm flipH="1" rot="10800000">
                <a:off x="1873504" y="1693538"/>
                <a:ext cx="1125467" cy="319572"/>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48" name="Google Shape;648;p11"/>
              <p:cNvSpPr/>
              <p:nvPr/>
            </p:nvSpPr>
            <p:spPr>
              <a:xfrm>
                <a:off x="1870334" y="1738514"/>
                <a:ext cx="1128637" cy="11599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49" name="Google Shape;649;p11"/>
              <p:cNvSpPr/>
              <p:nvPr/>
            </p:nvSpPr>
            <p:spPr>
              <a:xfrm flipH="1" rot="10800000">
                <a:off x="1870334" y="1575177"/>
                <a:ext cx="1125465" cy="319572"/>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50" name="Google Shape;650;p11"/>
              <p:cNvSpPr/>
              <p:nvPr/>
            </p:nvSpPr>
            <p:spPr>
              <a:xfrm>
                <a:off x="2158833" y="1672232"/>
                <a:ext cx="548468" cy="16097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51" name="Google Shape;651;p11"/>
              <p:cNvSpPr/>
              <p:nvPr/>
            </p:nvSpPr>
            <p:spPr>
              <a:xfrm>
                <a:off x="2101767" y="1631990"/>
                <a:ext cx="662599" cy="111258"/>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52" name="Google Shape;652;p11"/>
              <p:cNvSpPr/>
              <p:nvPr/>
            </p:nvSpPr>
            <p:spPr>
              <a:xfrm>
                <a:off x="2536103" y="1726678"/>
                <a:ext cx="244114" cy="97055"/>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53" name="Google Shape;653;p11"/>
              <p:cNvSpPr/>
              <p:nvPr/>
            </p:nvSpPr>
            <p:spPr>
              <a:xfrm>
                <a:off x="2089086" y="1729045"/>
                <a:ext cx="240945" cy="9705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54" name="Google Shape;654;p11"/>
              <p:cNvCxnSpPr>
                <a:endCxn id="649" idx="2"/>
              </p:cNvCxnSpPr>
              <p:nvPr/>
            </p:nvCxnSpPr>
            <p:spPr>
              <a:xfrm rot="10800000">
                <a:off x="1870334" y="1734963"/>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55" name="Google Shape;655;p11"/>
              <p:cNvCxnSpPr/>
              <p:nvPr/>
            </p:nvCxnSpPr>
            <p:spPr>
              <a:xfrm rot="10800000">
                <a:off x="2995800" y="1733779"/>
                <a:ext cx="3171" cy="12309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656" name="Google Shape;656;p11"/>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657" name="Google Shape;657;p11"/>
          <p:cNvSpPr txBox="1"/>
          <p:nvPr/>
        </p:nvSpPr>
        <p:spPr>
          <a:xfrm>
            <a:off x="6255252" y="4142307"/>
            <a:ext cx="5502965" cy="209565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control-plane approaches: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0"/>
                </a:solidFill>
                <a:latin typeface="Calibri"/>
                <a:ea typeface="Calibri"/>
                <a:cs typeface="Calibri"/>
                <a:sym typeface="Calibri"/>
              </a:rPr>
              <a:t>traditional routing algorithms: </a:t>
            </a:r>
            <a:r>
              <a:rPr b="0" i="0" lang="en-US" sz="2400" u="none" cap="none" strike="noStrike">
                <a:solidFill>
                  <a:srgbClr val="000000"/>
                </a:solidFill>
                <a:latin typeface="Calibri"/>
                <a:ea typeface="Calibri"/>
                <a:cs typeface="Calibri"/>
                <a:sym typeface="Calibri"/>
              </a:rPr>
              <a:t>implemented in routers</a:t>
            </a:r>
            <a:endParaRPr/>
          </a:p>
          <a:p>
            <a:pPr indent="-231775" lvl="1" marL="695325" marR="0" rtl="0" algn="l">
              <a:lnSpc>
                <a:spcPct val="90000"/>
              </a:lnSpc>
              <a:spcBef>
                <a:spcPts val="500"/>
              </a:spcBef>
              <a:spcAft>
                <a:spcPts val="0"/>
              </a:spcAft>
              <a:buClr>
                <a:srgbClr val="0000A8"/>
              </a:buClr>
              <a:buSzPts val="2400"/>
              <a:buFont typeface="Arial"/>
              <a:buChar char="•"/>
            </a:pPr>
            <a:r>
              <a:rPr b="0" i="1" lang="en-US" sz="2400" u="none" cap="none" strike="noStrike">
                <a:solidFill>
                  <a:srgbClr val="000090"/>
                </a:solidFill>
                <a:latin typeface="Calibri"/>
                <a:ea typeface="Calibri"/>
                <a:cs typeface="Calibri"/>
                <a:sym typeface="Calibri"/>
              </a:rPr>
              <a:t>software-defined networking (SDN)</a:t>
            </a:r>
            <a:r>
              <a:rPr b="0" i="0" lang="en-US" sz="2400" u="none" cap="none" strike="noStrike">
                <a:solidFill>
                  <a:srgbClr val="000000"/>
                </a:solidFill>
                <a:latin typeface="Calibri"/>
                <a:ea typeface="Calibri"/>
                <a:cs typeface="Calibri"/>
                <a:sym typeface="Calibri"/>
              </a:rPr>
              <a:t>: implemented in (remote) servers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658" name="Google Shape;658;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2"/>
          <p:cNvSpPr txBox="1"/>
          <p:nvPr>
            <p:ph type="title"/>
          </p:nvPr>
        </p:nvSpPr>
        <p:spPr>
          <a:xfrm>
            <a:off x="838200" y="27954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Per-router control plane</a:t>
            </a:r>
            <a:endParaRPr/>
          </a:p>
        </p:txBody>
      </p:sp>
      <p:sp>
        <p:nvSpPr>
          <p:cNvPr id="665" name="Google Shape;665;p12"/>
          <p:cNvSpPr txBox="1"/>
          <p:nvPr/>
        </p:nvSpPr>
        <p:spPr>
          <a:xfrm>
            <a:off x="780773" y="1101105"/>
            <a:ext cx="1098715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Individual routing algorithm components </a:t>
            </a:r>
            <a:r>
              <a:rPr b="0" i="1" lang="en-US" sz="3200" u="none" cap="none" strike="noStrike">
                <a:solidFill>
                  <a:srgbClr val="000090"/>
                </a:solidFill>
                <a:latin typeface="Calibri"/>
                <a:ea typeface="Calibri"/>
                <a:cs typeface="Calibri"/>
                <a:sym typeface="Calibri"/>
              </a:rPr>
              <a:t>in each and every router </a:t>
            </a:r>
            <a:r>
              <a:rPr b="0" i="0" lang="en-US" sz="3200" u="none" cap="none" strike="noStrike">
                <a:solidFill>
                  <a:srgbClr val="000000"/>
                </a:solidFill>
                <a:latin typeface="Calibri"/>
                <a:ea typeface="Calibri"/>
                <a:cs typeface="Calibri"/>
                <a:sym typeface="Calibri"/>
              </a:rPr>
              <a:t>interact in the control plane</a:t>
            </a:r>
            <a:endParaRPr/>
          </a:p>
        </p:txBody>
      </p:sp>
      <p:sp>
        <p:nvSpPr>
          <p:cNvPr id="666" name="Google Shape;666;p12"/>
          <p:cNvSpPr/>
          <p:nvPr/>
        </p:nvSpPr>
        <p:spPr>
          <a:xfrm>
            <a:off x="4182648" y="5476945"/>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67" name="Google Shape;667;p12"/>
          <p:cNvCxnSpPr/>
          <p:nvPr/>
        </p:nvCxnSpPr>
        <p:spPr>
          <a:xfrm flipH="1" rot="10800000">
            <a:off x="4812885" y="5629345"/>
            <a:ext cx="1316038" cy="131762"/>
          </a:xfrm>
          <a:prstGeom prst="straightConnector1">
            <a:avLst/>
          </a:prstGeom>
          <a:noFill/>
          <a:ln cap="flat" cmpd="sng" w="12700">
            <a:solidFill>
              <a:srgbClr val="000000"/>
            </a:solidFill>
            <a:prstDash val="solid"/>
            <a:round/>
            <a:headEnd len="sm" w="sm" type="none"/>
            <a:tailEnd len="sm" w="sm" type="none"/>
          </a:ln>
        </p:spPr>
      </p:cxnSp>
      <p:cxnSp>
        <p:nvCxnSpPr>
          <p:cNvPr id="668" name="Google Shape;668;p12"/>
          <p:cNvCxnSpPr/>
          <p:nvPr/>
        </p:nvCxnSpPr>
        <p:spPr>
          <a:xfrm>
            <a:off x="4701760" y="5815082"/>
            <a:ext cx="2259013" cy="300038"/>
          </a:xfrm>
          <a:prstGeom prst="straightConnector1">
            <a:avLst/>
          </a:prstGeom>
          <a:noFill/>
          <a:ln cap="flat" cmpd="sng" w="12700">
            <a:solidFill>
              <a:srgbClr val="000000"/>
            </a:solidFill>
            <a:prstDash val="solid"/>
            <a:round/>
            <a:headEnd len="sm" w="sm" type="none"/>
            <a:tailEnd len="sm" w="sm" type="none"/>
          </a:ln>
        </p:spPr>
      </p:cxnSp>
      <p:cxnSp>
        <p:nvCxnSpPr>
          <p:cNvPr id="669" name="Google Shape;669;p12"/>
          <p:cNvCxnSpPr/>
          <p:nvPr/>
        </p:nvCxnSpPr>
        <p:spPr>
          <a:xfrm>
            <a:off x="4714460" y="5921445"/>
            <a:ext cx="714375" cy="274637"/>
          </a:xfrm>
          <a:prstGeom prst="straightConnector1">
            <a:avLst/>
          </a:prstGeom>
          <a:noFill/>
          <a:ln cap="flat" cmpd="sng" w="12700">
            <a:solidFill>
              <a:srgbClr val="000000"/>
            </a:solidFill>
            <a:prstDash val="solid"/>
            <a:round/>
            <a:headEnd len="sm" w="sm" type="none"/>
            <a:tailEnd len="sm" w="sm" type="none"/>
          </a:ln>
        </p:spPr>
      </p:cxnSp>
      <p:cxnSp>
        <p:nvCxnSpPr>
          <p:cNvPr id="670" name="Google Shape;670;p12"/>
          <p:cNvCxnSpPr/>
          <p:nvPr/>
        </p:nvCxnSpPr>
        <p:spPr>
          <a:xfrm flipH="1" rot="10800000">
            <a:off x="5732048" y="6115120"/>
            <a:ext cx="1247775" cy="80962"/>
          </a:xfrm>
          <a:prstGeom prst="straightConnector1">
            <a:avLst/>
          </a:prstGeom>
          <a:noFill/>
          <a:ln cap="flat" cmpd="sng" w="12700">
            <a:solidFill>
              <a:srgbClr val="000000"/>
            </a:solidFill>
            <a:prstDash val="solid"/>
            <a:round/>
            <a:headEnd len="sm" w="sm" type="none"/>
            <a:tailEnd len="sm" w="sm" type="none"/>
          </a:ln>
        </p:spPr>
      </p:cxnSp>
      <p:cxnSp>
        <p:nvCxnSpPr>
          <p:cNvPr id="671" name="Google Shape;671;p12"/>
          <p:cNvCxnSpPr/>
          <p:nvPr/>
        </p:nvCxnSpPr>
        <p:spPr>
          <a:xfrm>
            <a:off x="6392448" y="5661095"/>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672" name="Google Shape;672;p12"/>
          <p:cNvCxnSpPr/>
          <p:nvPr/>
        </p:nvCxnSpPr>
        <p:spPr>
          <a:xfrm flipH="1" rot="10800000">
            <a:off x="5676485" y="5815082"/>
            <a:ext cx="1790700" cy="300038"/>
          </a:xfrm>
          <a:prstGeom prst="straightConnector1">
            <a:avLst/>
          </a:prstGeom>
          <a:noFill/>
          <a:ln cap="flat" cmpd="sng" w="12700">
            <a:solidFill>
              <a:srgbClr val="000000"/>
            </a:solidFill>
            <a:prstDash val="solid"/>
            <a:round/>
            <a:headEnd len="sm" w="sm" type="none"/>
            <a:tailEnd len="sm" w="sm" type="none"/>
          </a:ln>
        </p:spPr>
      </p:cxnSp>
      <p:cxnSp>
        <p:nvCxnSpPr>
          <p:cNvPr id="673" name="Google Shape;673;p12"/>
          <p:cNvCxnSpPr/>
          <p:nvPr/>
        </p:nvCxnSpPr>
        <p:spPr>
          <a:xfrm flipH="1" rot="10800000">
            <a:off x="7003635" y="5843657"/>
            <a:ext cx="588963" cy="271463"/>
          </a:xfrm>
          <a:prstGeom prst="straightConnector1">
            <a:avLst/>
          </a:prstGeom>
          <a:noFill/>
          <a:ln cap="flat" cmpd="sng" w="12700">
            <a:solidFill>
              <a:srgbClr val="000000"/>
            </a:solidFill>
            <a:prstDash val="solid"/>
            <a:round/>
            <a:headEnd len="sm" w="sm" type="none"/>
            <a:tailEnd len="sm" w="sm" type="none"/>
          </a:ln>
        </p:spPr>
      </p:cxnSp>
      <p:cxnSp>
        <p:nvCxnSpPr>
          <p:cNvPr id="674" name="Google Shape;674;p12"/>
          <p:cNvCxnSpPr/>
          <p:nvPr/>
        </p:nvCxnSpPr>
        <p:spPr>
          <a:xfrm>
            <a:off x="6146385" y="5629345"/>
            <a:ext cx="814388" cy="400050"/>
          </a:xfrm>
          <a:prstGeom prst="straightConnector1">
            <a:avLst/>
          </a:prstGeom>
          <a:noFill/>
          <a:ln cap="flat" cmpd="sng" w="12700">
            <a:solidFill>
              <a:srgbClr val="000000"/>
            </a:solidFill>
            <a:prstDash val="solid"/>
            <a:round/>
            <a:headEnd len="sm" w="sm" type="none"/>
            <a:tailEnd len="sm" w="sm" type="none"/>
          </a:ln>
        </p:spPr>
      </p:cxnSp>
      <p:grpSp>
        <p:nvGrpSpPr>
          <p:cNvPr id="675" name="Google Shape;675;p12"/>
          <p:cNvGrpSpPr/>
          <p:nvPr/>
        </p:nvGrpSpPr>
        <p:grpSpPr>
          <a:xfrm>
            <a:off x="5271673" y="6054795"/>
            <a:ext cx="563562" cy="293687"/>
            <a:chOff x="1871277" y="1576300"/>
            <a:chExt cx="1128371" cy="437861"/>
          </a:xfrm>
        </p:grpSpPr>
        <p:sp>
          <p:nvSpPr>
            <p:cNvPr id="676" name="Google Shape;676;p12"/>
            <p:cNvSpPr/>
            <p:nvPr/>
          </p:nvSpPr>
          <p:spPr>
            <a:xfrm flipH="1" rot="10800000">
              <a:off x="1874455" y="1694641"/>
              <a:ext cx="1125193"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7" name="Google Shape;677;p12"/>
            <p:cNvSpPr/>
            <p:nvPr/>
          </p:nvSpPr>
          <p:spPr>
            <a:xfrm>
              <a:off x="1871277" y="1739610"/>
              <a:ext cx="1128371" cy="11597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8" name="Google Shape;678;p12"/>
            <p:cNvSpPr/>
            <p:nvPr/>
          </p:nvSpPr>
          <p:spPr>
            <a:xfrm flipH="1" rot="10800000">
              <a:off x="1871277" y="1576300"/>
              <a:ext cx="1125193"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79" name="Google Shape;679;p12"/>
            <p:cNvSpPr/>
            <p:nvPr/>
          </p:nvSpPr>
          <p:spPr>
            <a:xfrm>
              <a:off x="2160521" y="1673339"/>
              <a:ext cx="546704"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0" name="Google Shape;680;p12"/>
            <p:cNvSpPr/>
            <p:nvPr/>
          </p:nvSpPr>
          <p:spPr>
            <a:xfrm>
              <a:off x="2103307" y="1633104"/>
              <a:ext cx="661131" cy="111240"/>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81" name="Google Shape;681;p12"/>
            <p:cNvSpPr/>
            <p:nvPr/>
          </p:nvSpPr>
          <p:spPr>
            <a:xfrm>
              <a:off x="2538765" y="1727776"/>
              <a:ext cx="241567" cy="9703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82" name="Google Shape;682;p12"/>
            <p:cNvSpPr/>
            <p:nvPr/>
          </p:nvSpPr>
          <p:spPr>
            <a:xfrm>
              <a:off x="2090593" y="1730143"/>
              <a:ext cx="238389" cy="9704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83" name="Google Shape;683;p12"/>
            <p:cNvCxnSpPr>
              <a:endCxn id="67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84" name="Google Shape;684;p12"/>
            <p:cNvCxnSpPr/>
            <p:nvPr/>
          </p:nvCxnSpPr>
          <p:spPr>
            <a:xfrm rot="10800000">
              <a:off x="2996470" y="1734876"/>
              <a:ext cx="3178"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685" name="Google Shape;685;p12"/>
          <p:cNvGrpSpPr/>
          <p:nvPr/>
        </p:nvGrpSpPr>
        <p:grpSpPr>
          <a:xfrm>
            <a:off x="5966998" y="5513457"/>
            <a:ext cx="565150" cy="292100"/>
            <a:chOff x="1871277" y="1576300"/>
            <a:chExt cx="1128371" cy="437861"/>
          </a:xfrm>
        </p:grpSpPr>
        <p:sp>
          <p:nvSpPr>
            <p:cNvPr id="686" name="Google Shape;686;p12"/>
            <p:cNvSpPr/>
            <p:nvPr/>
          </p:nvSpPr>
          <p:spPr>
            <a:xfrm flipH="1" rot="10800000">
              <a:off x="1874446" y="1692905"/>
              <a:ext cx="1125202" cy="32125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7" name="Google Shape;687;p12"/>
            <p:cNvSpPr/>
            <p:nvPr/>
          </p:nvSpPr>
          <p:spPr>
            <a:xfrm>
              <a:off x="1871277" y="1740499"/>
              <a:ext cx="1128371" cy="11422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8" name="Google Shape;688;p12"/>
            <p:cNvSpPr/>
            <p:nvPr/>
          </p:nvSpPr>
          <p:spPr>
            <a:xfrm flipH="1" rot="10800000">
              <a:off x="1871277" y="1576300"/>
              <a:ext cx="1125200" cy="3212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89" name="Google Shape;689;p12"/>
            <p:cNvSpPr/>
            <p:nvPr/>
          </p:nvSpPr>
          <p:spPr>
            <a:xfrm>
              <a:off x="2159708" y="1673868"/>
              <a:ext cx="548339" cy="159438"/>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0" name="Google Shape;690;p12"/>
            <p:cNvSpPr/>
            <p:nvPr/>
          </p:nvSpPr>
          <p:spPr>
            <a:xfrm>
              <a:off x="2102655" y="1633412"/>
              <a:ext cx="662444" cy="1118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91" name="Google Shape;691;p12"/>
            <p:cNvSpPr/>
            <p:nvPr/>
          </p:nvSpPr>
          <p:spPr>
            <a:xfrm>
              <a:off x="2536889" y="1728599"/>
              <a:ext cx="244057" cy="9756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692" name="Google Shape;692;p12"/>
            <p:cNvSpPr/>
            <p:nvPr/>
          </p:nvSpPr>
          <p:spPr>
            <a:xfrm>
              <a:off x="2089977" y="1730980"/>
              <a:ext cx="240888" cy="95187"/>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693" name="Google Shape;693;p12"/>
            <p:cNvCxnSpPr>
              <a:endCxn id="688" idx="2"/>
            </p:cNvCxnSpPr>
            <p:nvPr/>
          </p:nvCxnSpPr>
          <p:spPr>
            <a:xfrm rot="10800000">
              <a:off x="1871277" y="1736929"/>
              <a:ext cx="3300" cy="1236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694" name="Google Shape;694;p12"/>
            <p:cNvCxnSpPr/>
            <p:nvPr/>
          </p:nvCxnSpPr>
          <p:spPr>
            <a:xfrm rot="10800000">
              <a:off x="2996477" y="1733359"/>
              <a:ext cx="3171" cy="12374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695" name="Google Shape;695;p12"/>
          <p:cNvGrpSpPr/>
          <p:nvPr/>
        </p:nvGrpSpPr>
        <p:grpSpPr>
          <a:xfrm>
            <a:off x="6609935" y="5967482"/>
            <a:ext cx="563563" cy="293688"/>
            <a:chOff x="1871277" y="1576300"/>
            <a:chExt cx="1128371" cy="437861"/>
          </a:xfrm>
        </p:grpSpPr>
        <p:sp>
          <p:nvSpPr>
            <p:cNvPr id="696" name="Google Shape;696;p12"/>
            <p:cNvSpPr/>
            <p:nvPr/>
          </p:nvSpPr>
          <p:spPr>
            <a:xfrm flipH="1" rot="10800000">
              <a:off x="1874457" y="1694641"/>
              <a:ext cx="1125191"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7" name="Google Shape;697;p12"/>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8" name="Google Shape;698;p12"/>
            <p:cNvSpPr/>
            <p:nvPr/>
          </p:nvSpPr>
          <p:spPr>
            <a:xfrm flipH="1" rot="10800000">
              <a:off x="1871277" y="1576300"/>
              <a:ext cx="1125191"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699" name="Google Shape;699;p12"/>
            <p:cNvSpPr/>
            <p:nvPr/>
          </p:nvSpPr>
          <p:spPr>
            <a:xfrm>
              <a:off x="2160522" y="1673340"/>
              <a:ext cx="546703" cy="16094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0" name="Google Shape;700;p12"/>
            <p:cNvSpPr/>
            <p:nvPr/>
          </p:nvSpPr>
          <p:spPr>
            <a:xfrm>
              <a:off x="2103309" y="1633103"/>
              <a:ext cx="661129"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01" name="Google Shape;701;p12"/>
            <p:cNvSpPr/>
            <p:nvPr/>
          </p:nvSpPr>
          <p:spPr>
            <a:xfrm>
              <a:off x="2538763" y="1727776"/>
              <a:ext cx="24156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02" name="Google Shape;702;p12"/>
            <p:cNvSpPr/>
            <p:nvPr/>
          </p:nvSpPr>
          <p:spPr>
            <a:xfrm>
              <a:off x="2090595" y="1730144"/>
              <a:ext cx="238387"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03" name="Google Shape;703;p12"/>
            <p:cNvCxnSpPr>
              <a:endCxn id="69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04" name="Google Shape;704;p12"/>
            <p:cNvCxnSpPr/>
            <p:nvPr/>
          </p:nvCxnSpPr>
          <p:spPr>
            <a:xfrm rot="10800000">
              <a:off x="2996468" y="1734877"/>
              <a:ext cx="3180" cy="12307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705" name="Google Shape;705;p12"/>
          <p:cNvGrpSpPr/>
          <p:nvPr/>
        </p:nvGrpSpPr>
        <p:grpSpPr>
          <a:xfrm>
            <a:off x="7332248" y="5653157"/>
            <a:ext cx="565150" cy="293688"/>
            <a:chOff x="1871277" y="1576300"/>
            <a:chExt cx="1128371" cy="437861"/>
          </a:xfrm>
        </p:grpSpPr>
        <p:sp>
          <p:nvSpPr>
            <p:cNvPr id="706" name="Google Shape;706;p12"/>
            <p:cNvSpPr/>
            <p:nvPr/>
          </p:nvSpPr>
          <p:spPr>
            <a:xfrm flipH="1" rot="10800000">
              <a:off x="1874446" y="1694641"/>
              <a:ext cx="1125202"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7" name="Google Shape;707;p12"/>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8" name="Google Shape;708;p12"/>
            <p:cNvSpPr/>
            <p:nvPr/>
          </p:nvSpPr>
          <p:spPr>
            <a:xfrm flipH="1" rot="10800000">
              <a:off x="1871277" y="1576300"/>
              <a:ext cx="1125200"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09" name="Google Shape;709;p12"/>
            <p:cNvSpPr/>
            <p:nvPr/>
          </p:nvSpPr>
          <p:spPr>
            <a:xfrm>
              <a:off x="2159708" y="1673340"/>
              <a:ext cx="548339" cy="16094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0" name="Google Shape;710;p12"/>
            <p:cNvSpPr/>
            <p:nvPr/>
          </p:nvSpPr>
          <p:spPr>
            <a:xfrm>
              <a:off x="2102655" y="1633103"/>
              <a:ext cx="662444"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11" name="Google Shape;711;p12"/>
            <p:cNvSpPr/>
            <p:nvPr/>
          </p:nvSpPr>
          <p:spPr>
            <a:xfrm>
              <a:off x="2536889" y="1727776"/>
              <a:ext cx="24405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12" name="Google Shape;712;p12"/>
            <p:cNvSpPr/>
            <p:nvPr/>
          </p:nvSpPr>
          <p:spPr>
            <a:xfrm>
              <a:off x="2089977"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13" name="Google Shape;713;p12"/>
            <p:cNvCxnSpPr>
              <a:endCxn id="708"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14" name="Google Shape;714;p12"/>
            <p:cNvCxnSpPr/>
            <p:nvPr/>
          </p:nvCxnSpPr>
          <p:spPr>
            <a:xfrm rot="10800000">
              <a:off x="2996477" y="1734877"/>
              <a:ext cx="3171" cy="12307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715" name="Google Shape;715;p12"/>
          <p:cNvGrpSpPr/>
          <p:nvPr/>
        </p:nvGrpSpPr>
        <p:grpSpPr>
          <a:xfrm>
            <a:off x="3347623" y="2370207"/>
            <a:ext cx="5270500" cy="3805238"/>
            <a:chOff x="1757805" y="2331054"/>
            <a:chExt cx="5270058" cy="3804634"/>
          </a:xfrm>
        </p:grpSpPr>
        <p:sp>
          <p:nvSpPr>
            <p:cNvPr id="716" name="Google Shape;716;p12"/>
            <p:cNvSpPr/>
            <p:nvPr/>
          </p:nvSpPr>
          <p:spPr>
            <a:xfrm>
              <a:off x="1776853" y="4829382"/>
              <a:ext cx="1220685" cy="920604"/>
            </a:xfrm>
            <a:custGeom>
              <a:rect b="b" l="l" r="r" t="t"/>
              <a:pathLst>
                <a:path extrusionOk="0" h="921649" w="1220510">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7" name="Google Shape;717;p12"/>
            <p:cNvSpPr/>
            <p:nvPr/>
          </p:nvSpPr>
          <p:spPr>
            <a:xfrm>
              <a:off x="6102428" y="4916682"/>
              <a:ext cx="925435" cy="757117"/>
            </a:xfrm>
            <a:custGeom>
              <a:rect b="b" l="l" r="r" t="t"/>
              <a:pathLst>
                <a:path extrusionOk="0" h="758185" w="926304">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8" name="Google Shape;718;p12"/>
            <p:cNvSpPr/>
            <p:nvPr/>
          </p:nvSpPr>
          <p:spPr>
            <a:xfrm>
              <a:off x="5288109" y="4937315"/>
              <a:ext cx="725426" cy="1099963"/>
            </a:xfrm>
            <a:custGeom>
              <a:rect b="b" l="l" r="r" t="t"/>
              <a:pathLst>
                <a:path extrusionOk="0" h="1101479" w="72500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19" name="Google Shape;719;p12"/>
            <p:cNvSpPr/>
            <p:nvPr/>
          </p:nvSpPr>
          <p:spPr>
            <a:xfrm>
              <a:off x="4300767" y="4956362"/>
              <a:ext cx="514307" cy="577758"/>
            </a:xfrm>
            <a:custGeom>
              <a:rect b="b" l="l" r="r" t="t"/>
              <a:pathLst>
                <a:path extrusionOk="0" h="578353" w="514180">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0" name="Google Shape;720;p12"/>
            <p:cNvSpPr/>
            <p:nvPr/>
          </p:nvSpPr>
          <p:spPr>
            <a:xfrm>
              <a:off x="3521369" y="4919856"/>
              <a:ext cx="593675" cy="1215832"/>
            </a:xfrm>
            <a:custGeom>
              <a:rect b="b" l="l" r="r" t="t"/>
              <a:pathLst>
                <a:path extrusionOk="0" h="1215612" w="594113">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721" name="Google Shape;721;p12"/>
            <p:cNvGrpSpPr/>
            <p:nvPr/>
          </p:nvGrpSpPr>
          <p:grpSpPr>
            <a:xfrm>
              <a:off x="1757805" y="2331054"/>
              <a:ext cx="1079409" cy="2674512"/>
              <a:chOff x="1757805" y="2331054"/>
              <a:chExt cx="1079409" cy="2674512"/>
            </a:xfrm>
          </p:grpSpPr>
          <p:sp>
            <p:nvSpPr>
              <p:cNvPr id="722" name="Google Shape;722;p12"/>
              <p:cNvSpPr/>
              <p:nvPr/>
            </p:nvSpPr>
            <p:spPr>
              <a:xfrm rot="10800000">
                <a:off x="1789552" y="2580252"/>
                <a:ext cx="1027025" cy="108409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723" name="Google Shape;723;p12"/>
              <p:cNvGrpSpPr/>
              <p:nvPr/>
            </p:nvGrpSpPr>
            <p:grpSpPr>
              <a:xfrm>
                <a:off x="1783203" y="4616691"/>
                <a:ext cx="1030201" cy="388875"/>
                <a:chOff x="4128891" y="3607011"/>
                <a:chExt cx="565669" cy="338400"/>
              </a:xfrm>
            </p:grpSpPr>
            <p:sp>
              <p:nvSpPr>
                <p:cNvPr id="724" name="Google Shape;724;p12"/>
                <p:cNvSpPr/>
                <p:nvPr/>
              </p:nvSpPr>
              <p:spPr>
                <a:xfrm>
                  <a:off x="4128891" y="3720271"/>
                  <a:ext cx="565669" cy="22514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5" name="Google Shape;725;p12"/>
                <p:cNvSpPr/>
                <p:nvPr/>
              </p:nvSpPr>
              <p:spPr>
                <a:xfrm>
                  <a:off x="4128891" y="3720271"/>
                  <a:ext cx="565669" cy="111880"/>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26" name="Google Shape;726;p12"/>
                <p:cNvSpPr/>
                <p:nvPr/>
              </p:nvSpPr>
              <p:spPr>
                <a:xfrm>
                  <a:off x="4128891" y="3607011"/>
                  <a:ext cx="565669" cy="225140"/>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27" name="Google Shape;727;p12"/>
                <p:cNvCxnSpPr/>
                <p:nvPr/>
              </p:nvCxnSpPr>
              <p:spPr>
                <a:xfrm>
                  <a:off x="4694560" y="3720271"/>
                  <a:ext cx="0" cy="111880"/>
                </a:xfrm>
                <a:prstGeom prst="straightConnector1">
                  <a:avLst/>
                </a:prstGeom>
                <a:noFill/>
                <a:ln cap="flat" cmpd="sng" w="9525">
                  <a:solidFill>
                    <a:srgbClr val="000000"/>
                  </a:solidFill>
                  <a:prstDash val="solid"/>
                  <a:round/>
                  <a:headEnd len="sm" w="sm" type="none"/>
                  <a:tailEnd len="sm" w="sm" type="none"/>
                </a:ln>
              </p:spPr>
            </p:cxnSp>
            <p:cxnSp>
              <p:nvCxnSpPr>
                <p:cNvPr id="728" name="Google Shape;728;p12"/>
                <p:cNvCxnSpPr/>
                <p:nvPr/>
              </p:nvCxnSpPr>
              <p:spPr>
                <a:xfrm>
                  <a:off x="4128891" y="3720271"/>
                  <a:ext cx="0" cy="111880"/>
                </a:xfrm>
                <a:prstGeom prst="straightConnector1">
                  <a:avLst/>
                </a:prstGeom>
                <a:noFill/>
                <a:ln cap="flat" cmpd="sng" w="9525">
                  <a:solidFill>
                    <a:srgbClr val="000000"/>
                  </a:solidFill>
                  <a:prstDash val="solid"/>
                  <a:round/>
                  <a:headEnd len="sm" w="sm" type="none"/>
                  <a:tailEnd len="sm" w="sm" type="none"/>
                </a:ln>
              </p:spPr>
            </p:cxnSp>
          </p:grpSp>
          <p:sp>
            <p:nvSpPr>
              <p:cNvPr id="729" name="Google Shape;729;p12"/>
              <p:cNvSpPr/>
              <p:nvPr/>
            </p:nvSpPr>
            <p:spPr>
              <a:xfrm>
                <a:off x="1802251" y="3602440"/>
                <a:ext cx="1027025" cy="1163452"/>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30" name="Google Shape;730;p12"/>
              <p:cNvCxnSpPr/>
              <p:nvPr/>
            </p:nvCxnSpPr>
            <p:spPr>
              <a:xfrm>
                <a:off x="1781615" y="2805642"/>
                <a:ext cx="20636" cy="2020566"/>
              </a:xfrm>
              <a:prstGeom prst="straightConnector1">
                <a:avLst/>
              </a:prstGeom>
              <a:noFill/>
              <a:ln cap="flat" cmpd="sng" w="9525">
                <a:solidFill>
                  <a:srgbClr val="000000"/>
                </a:solidFill>
                <a:prstDash val="dash"/>
                <a:round/>
                <a:headEnd len="sm" w="sm" type="none"/>
                <a:tailEnd len="sm" w="sm" type="none"/>
              </a:ln>
            </p:spPr>
          </p:cxnSp>
          <p:cxnSp>
            <p:nvCxnSpPr>
              <p:cNvPr id="731" name="Google Shape;731;p12"/>
              <p:cNvCxnSpPr/>
              <p:nvPr/>
            </p:nvCxnSpPr>
            <p:spPr>
              <a:xfrm flipH="1">
                <a:off x="2818166" y="2805642"/>
                <a:ext cx="4762" cy="1976123"/>
              </a:xfrm>
              <a:prstGeom prst="straightConnector1">
                <a:avLst/>
              </a:prstGeom>
              <a:noFill/>
              <a:ln cap="flat" cmpd="sng" w="9525">
                <a:solidFill>
                  <a:srgbClr val="000000"/>
                </a:solidFill>
                <a:prstDash val="dash"/>
                <a:round/>
                <a:headEnd len="sm" w="sm" type="none"/>
                <a:tailEnd len="sm" w="sm" type="none"/>
              </a:ln>
            </p:spPr>
          </p:cxnSp>
          <p:grpSp>
            <p:nvGrpSpPr>
              <p:cNvPr id="732" name="Google Shape;732;p12"/>
              <p:cNvGrpSpPr/>
              <p:nvPr/>
            </p:nvGrpSpPr>
            <p:grpSpPr>
              <a:xfrm>
                <a:off x="1757805" y="2331054"/>
                <a:ext cx="1079409" cy="430145"/>
                <a:chOff x="2183302" y="1574638"/>
                <a:chExt cx="1200053" cy="430113"/>
              </a:xfrm>
            </p:grpSpPr>
            <p:sp>
              <p:nvSpPr>
                <p:cNvPr id="733" name="Google Shape;733;p12"/>
                <p:cNvSpPr/>
                <p:nvPr/>
              </p:nvSpPr>
              <p:spPr>
                <a:xfrm flipH="1" rot="10800000">
                  <a:off x="2186832" y="1690499"/>
                  <a:ext cx="1194758" cy="314252"/>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4" name="Google Shape;734;p12"/>
                <p:cNvSpPr/>
                <p:nvPr/>
              </p:nvSpPr>
              <p:spPr>
                <a:xfrm>
                  <a:off x="2183302" y="1734939"/>
                  <a:ext cx="1198287" cy="112686"/>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5" name="Google Shape;735;p12"/>
                <p:cNvSpPr/>
                <p:nvPr/>
              </p:nvSpPr>
              <p:spPr>
                <a:xfrm flipH="1" rot="10800000">
                  <a:off x="2183302" y="1574638"/>
                  <a:ext cx="1196523" cy="314252"/>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6" name="Google Shape;736;p12"/>
                <p:cNvSpPr/>
                <p:nvPr/>
              </p:nvSpPr>
              <p:spPr>
                <a:xfrm>
                  <a:off x="2490374" y="1671453"/>
                  <a:ext cx="582379" cy="157125"/>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37" name="Google Shape;737;p12"/>
                <p:cNvSpPr/>
                <p:nvPr/>
              </p:nvSpPr>
              <p:spPr>
                <a:xfrm>
                  <a:off x="2430372" y="1630188"/>
                  <a:ext cx="702384" cy="1095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38" name="Google Shape;738;p12"/>
                <p:cNvSpPr/>
                <p:nvPr/>
              </p:nvSpPr>
              <p:spPr>
                <a:xfrm>
                  <a:off x="2892745" y="1723828"/>
                  <a:ext cx="257658" cy="9522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39" name="Google Shape;739;p12"/>
                <p:cNvSpPr/>
                <p:nvPr/>
              </p:nvSpPr>
              <p:spPr>
                <a:xfrm>
                  <a:off x="2418018" y="1725416"/>
                  <a:ext cx="254129" cy="9522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40" name="Google Shape;740;p12"/>
                <p:cNvCxnSpPr>
                  <a:endCxn id="735" idx="2"/>
                </p:cNvCxnSpPr>
                <p:nvPr/>
              </p:nvCxnSpPr>
              <p:spPr>
                <a:xfrm rot="10800000">
                  <a:off x="2183302" y="1731764"/>
                  <a:ext cx="3600" cy="1221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41" name="Google Shape;741;p12"/>
                <p:cNvCxnSpPr/>
                <p:nvPr/>
              </p:nvCxnSpPr>
              <p:spPr>
                <a:xfrm rot="10800000">
                  <a:off x="3379825" y="1728590"/>
                  <a:ext cx="3530" cy="12220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42" name="Google Shape;742;p12"/>
            <p:cNvGrpSpPr/>
            <p:nvPr/>
          </p:nvGrpSpPr>
          <p:grpSpPr>
            <a:xfrm>
              <a:off x="3500438" y="3173883"/>
              <a:ext cx="522287" cy="1831685"/>
              <a:chOff x="3500438" y="3173883"/>
              <a:chExt cx="522287" cy="1831685"/>
            </a:xfrm>
          </p:grpSpPr>
          <p:sp>
            <p:nvSpPr>
              <p:cNvPr id="743" name="Google Shape;743;p12"/>
              <p:cNvSpPr/>
              <p:nvPr/>
            </p:nvSpPr>
            <p:spPr>
              <a:xfrm rot="10800000">
                <a:off x="3507320" y="3287221"/>
                <a:ext cx="498349" cy="30662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44" name="Google Shape;744;p12"/>
              <p:cNvCxnSpPr/>
              <p:nvPr/>
            </p:nvCxnSpPr>
            <p:spPr>
              <a:xfrm flipH="1">
                <a:off x="4019802" y="3321497"/>
                <a:ext cx="1588" cy="1536456"/>
              </a:xfrm>
              <a:prstGeom prst="straightConnector1">
                <a:avLst/>
              </a:prstGeom>
              <a:noFill/>
              <a:ln cap="flat" cmpd="sng" w="9525">
                <a:solidFill>
                  <a:srgbClr val="000000"/>
                </a:solidFill>
                <a:prstDash val="dash"/>
                <a:round/>
                <a:headEnd len="sm" w="sm" type="none"/>
                <a:tailEnd len="sm" w="sm" type="none"/>
              </a:ln>
            </p:spPr>
          </p:cxnSp>
          <p:pic>
            <p:nvPicPr>
              <p:cNvPr descr="router_top.png" id="745" name="Google Shape;745;p12"/>
              <p:cNvPicPr preferRelativeResize="0"/>
              <p:nvPr/>
            </p:nvPicPr>
            <p:blipFill rotWithShape="1">
              <a:blip r:embed="rId3">
                <a:alphaModFix/>
              </a:blip>
              <a:srcRect b="0" l="0" r="0" t="0"/>
              <a:stretch/>
            </p:blipFill>
            <p:spPr>
              <a:xfrm>
                <a:off x="3500438" y="3194292"/>
                <a:ext cx="522287" cy="220475"/>
              </a:xfrm>
              <a:prstGeom prst="rect">
                <a:avLst/>
              </a:prstGeom>
              <a:noFill/>
              <a:ln>
                <a:noFill/>
              </a:ln>
            </p:spPr>
          </p:pic>
          <p:grpSp>
            <p:nvGrpSpPr>
              <p:cNvPr id="746" name="Google Shape;746;p12"/>
              <p:cNvGrpSpPr/>
              <p:nvPr/>
            </p:nvGrpSpPr>
            <p:grpSpPr>
              <a:xfrm>
                <a:off x="3511845" y="4783352"/>
                <a:ext cx="507957" cy="222216"/>
                <a:chOff x="4129087" y="3606297"/>
                <a:chExt cx="568256" cy="339233"/>
              </a:xfrm>
            </p:grpSpPr>
            <p:sp>
              <p:nvSpPr>
                <p:cNvPr id="747" name="Google Shape;747;p12"/>
                <p:cNvSpPr/>
                <p:nvPr/>
              </p:nvSpPr>
              <p:spPr>
                <a:xfrm>
                  <a:off x="4129087" y="3720182"/>
                  <a:ext cx="568256" cy="22534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48" name="Google Shape;748;p12"/>
                <p:cNvSpPr/>
                <p:nvPr/>
              </p:nvSpPr>
              <p:spPr>
                <a:xfrm>
                  <a:off x="4129087" y="3720182"/>
                  <a:ext cx="568256" cy="111462"/>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49" name="Google Shape;749;p12"/>
                <p:cNvSpPr/>
                <p:nvPr/>
              </p:nvSpPr>
              <p:spPr>
                <a:xfrm>
                  <a:off x="4129087" y="3606297"/>
                  <a:ext cx="568256" cy="22534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50" name="Google Shape;750;p12"/>
                <p:cNvCxnSpPr/>
                <p:nvPr/>
              </p:nvCxnSpPr>
              <p:spPr>
                <a:xfrm>
                  <a:off x="4697343" y="3720182"/>
                  <a:ext cx="0" cy="111462"/>
                </a:xfrm>
                <a:prstGeom prst="straightConnector1">
                  <a:avLst/>
                </a:prstGeom>
                <a:noFill/>
                <a:ln cap="flat" cmpd="sng" w="9525">
                  <a:solidFill>
                    <a:srgbClr val="000000"/>
                  </a:solidFill>
                  <a:prstDash val="solid"/>
                  <a:round/>
                  <a:headEnd len="sm" w="sm" type="none"/>
                  <a:tailEnd len="sm" w="sm" type="none"/>
                </a:ln>
              </p:spPr>
            </p:cxnSp>
            <p:cxnSp>
              <p:nvCxnSpPr>
                <p:cNvPr id="751" name="Google Shape;751;p12"/>
                <p:cNvCxnSpPr/>
                <p:nvPr/>
              </p:nvCxnSpPr>
              <p:spPr>
                <a:xfrm>
                  <a:off x="4129087" y="3720182"/>
                  <a:ext cx="0" cy="111462"/>
                </a:xfrm>
                <a:prstGeom prst="straightConnector1">
                  <a:avLst/>
                </a:prstGeom>
                <a:noFill/>
                <a:ln cap="flat" cmpd="sng" w="9525">
                  <a:solidFill>
                    <a:srgbClr val="000000"/>
                  </a:solidFill>
                  <a:prstDash val="solid"/>
                  <a:round/>
                  <a:headEnd len="sm" w="sm" type="none"/>
                  <a:tailEnd len="sm" w="sm" type="none"/>
                </a:ln>
              </p:spPr>
            </p:cxnSp>
          </p:grpSp>
          <p:sp>
            <p:nvSpPr>
              <p:cNvPr id="752" name="Google Shape;752;p12"/>
              <p:cNvSpPr/>
              <p:nvPr/>
            </p:nvSpPr>
            <p:spPr>
              <a:xfrm>
                <a:off x="3516608" y="3697675"/>
                <a:ext cx="498433" cy="116345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53" name="Google Shape;753;p12"/>
              <p:cNvCxnSpPr>
                <a:stCxn id="754" idx="2"/>
              </p:cNvCxnSpPr>
              <p:nvPr/>
            </p:nvCxnSpPr>
            <p:spPr>
              <a:xfrm flipH="1">
                <a:off x="3507045" y="3262769"/>
                <a:ext cx="4800" cy="1688700"/>
              </a:xfrm>
              <a:prstGeom prst="straightConnector1">
                <a:avLst/>
              </a:prstGeom>
              <a:noFill/>
              <a:ln cap="flat" cmpd="sng" w="9525">
                <a:solidFill>
                  <a:srgbClr val="000000"/>
                </a:solidFill>
                <a:prstDash val="dash"/>
                <a:round/>
                <a:headEnd len="sm" w="sm" type="none"/>
                <a:tailEnd len="sm" w="sm" type="none"/>
              </a:ln>
            </p:spPr>
          </p:cxnSp>
          <p:grpSp>
            <p:nvGrpSpPr>
              <p:cNvPr id="755" name="Google Shape;755;p12"/>
              <p:cNvGrpSpPr/>
              <p:nvPr/>
            </p:nvGrpSpPr>
            <p:grpSpPr>
              <a:xfrm>
                <a:off x="3511845" y="3173883"/>
                <a:ext cx="503196" cy="242848"/>
                <a:chOff x="2185178" y="1574269"/>
                <a:chExt cx="1198011" cy="430447"/>
              </a:xfrm>
            </p:grpSpPr>
            <p:sp>
              <p:nvSpPr>
                <p:cNvPr id="756" name="Google Shape;756;p12"/>
                <p:cNvSpPr/>
                <p:nvPr/>
              </p:nvSpPr>
              <p:spPr>
                <a:xfrm flipH="1" rot="10800000">
                  <a:off x="2188958" y="1689617"/>
                  <a:ext cx="1194231" cy="3150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7" name="Google Shape;757;p12"/>
                <p:cNvSpPr/>
                <p:nvPr/>
              </p:nvSpPr>
              <p:spPr>
                <a:xfrm>
                  <a:off x="2185178" y="1734631"/>
                  <a:ext cx="1198011" cy="11253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4" name="Google Shape;754;p12"/>
                <p:cNvSpPr/>
                <p:nvPr/>
              </p:nvSpPr>
              <p:spPr>
                <a:xfrm flipH="1" rot="10800000">
                  <a:off x="2185178" y="1574269"/>
                  <a:ext cx="1194231" cy="3150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8" name="Google Shape;758;p12"/>
                <p:cNvSpPr/>
                <p:nvPr/>
              </p:nvSpPr>
              <p:spPr>
                <a:xfrm>
                  <a:off x="2491295" y="1669924"/>
                  <a:ext cx="581999" cy="15754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59" name="Google Shape;759;p12"/>
                <p:cNvSpPr/>
                <p:nvPr/>
              </p:nvSpPr>
              <p:spPr>
                <a:xfrm>
                  <a:off x="2430828" y="1630537"/>
                  <a:ext cx="702933" cy="10972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60" name="Google Shape;760;p12"/>
                <p:cNvSpPr/>
                <p:nvPr/>
              </p:nvSpPr>
              <p:spPr>
                <a:xfrm>
                  <a:off x="2891892" y="1723378"/>
                  <a:ext cx="260764" cy="95655"/>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61" name="Google Shape;761;p12"/>
                <p:cNvSpPr/>
                <p:nvPr/>
              </p:nvSpPr>
              <p:spPr>
                <a:xfrm>
                  <a:off x="2419489" y="1726192"/>
                  <a:ext cx="253208" cy="92841"/>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62" name="Google Shape;762;p12"/>
                <p:cNvCxnSpPr>
                  <a:endCxn id="754" idx="2"/>
                </p:cNvCxnSpPr>
                <p:nvPr/>
              </p:nvCxnSpPr>
              <p:spPr>
                <a:xfrm rot="10800000">
                  <a:off x="2185178" y="1731819"/>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63" name="Google Shape;763;p12"/>
                <p:cNvCxnSpPr/>
                <p:nvPr/>
              </p:nvCxnSpPr>
              <p:spPr>
                <a:xfrm rot="10800000">
                  <a:off x="3379409" y="1729005"/>
                  <a:ext cx="3780" cy="120976"/>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64" name="Google Shape;764;p12"/>
            <p:cNvGrpSpPr/>
            <p:nvPr/>
          </p:nvGrpSpPr>
          <p:grpSpPr>
            <a:xfrm>
              <a:off x="4299179" y="2486604"/>
              <a:ext cx="528594" cy="2517375"/>
              <a:chOff x="4299179" y="2486604"/>
              <a:chExt cx="528594" cy="2517375"/>
            </a:xfrm>
          </p:grpSpPr>
          <p:sp>
            <p:nvSpPr>
              <p:cNvPr id="765" name="Google Shape;765;p12"/>
              <p:cNvSpPr/>
              <p:nvPr/>
            </p:nvSpPr>
            <p:spPr>
              <a:xfrm rot="10800000">
                <a:off x="4315358" y="2675960"/>
                <a:ext cx="498350" cy="91657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66" name="Google Shape;766;p12"/>
              <p:cNvCxnSpPr/>
              <p:nvPr/>
            </p:nvCxnSpPr>
            <p:spPr>
              <a:xfrm>
                <a:off x="4821424" y="2642154"/>
                <a:ext cx="6349" cy="2214211"/>
              </a:xfrm>
              <a:prstGeom prst="straightConnector1">
                <a:avLst/>
              </a:prstGeom>
              <a:noFill/>
              <a:ln cap="flat" cmpd="sng" w="9525">
                <a:solidFill>
                  <a:srgbClr val="000000"/>
                </a:solidFill>
                <a:prstDash val="dash"/>
                <a:round/>
                <a:headEnd len="sm" w="sm" type="none"/>
                <a:tailEnd len="sm" w="sm" type="none"/>
              </a:ln>
            </p:spPr>
          </p:cxnSp>
          <p:grpSp>
            <p:nvGrpSpPr>
              <p:cNvPr id="767" name="Google Shape;767;p12"/>
              <p:cNvGrpSpPr/>
              <p:nvPr/>
            </p:nvGrpSpPr>
            <p:grpSpPr>
              <a:xfrm>
                <a:off x="4319815" y="4781764"/>
                <a:ext cx="507958" cy="222216"/>
                <a:chOff x="4129012" y="3606230"/>
                <a:chExt cx="568256" cy="339300"/>
              </a:xfrm>
            </p:grpSpPr>
            <p:sp>
              <p:nvSpPr>
                <p:cNvPr id="768" name="Google Shape;768;p12"/>
                <p:cNvSpPr/>
                <p:nvPr/>
              </p:nvSpPr>
              <p:spPr>
                <a:xfrm>
                  <a:off x="4129012" y="3720139"/>
                  <a:ext cx="568256" cy="225391"/>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69" name="Google Shape;769;p12"/>
                <p:cNvSpPr/>
                <p:nvPr/>
              </p:nvSpPr>
              <p:spPr>
                <a:xfrm>
                  <a:off x="4129012" y="3720139"/>
                  <a:ext cx="568256" cy="111484"/>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0" name="Google Shape;770;p12"/>
                <p:cNvSpPr/>
                <p:nvPr/>
              </p:nvSpPr>
              <p:spPr>
                <a:xfrm>
                  <a:off x="4129012" y="3606230"/>
                  <a:ext cx="568256" cy="225392"/>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71" name="Google Shape;771;p12"/>
                <p:cNvCxnSpPr/>
                <p:nvPr/>
              </p:nvCxnSpPr>
              <p:spPr>
                <a:xfrm>
                  <a:off x="4697268" y="3720139"/>
                  <a:ext cx="0" cy="111484"/>
                </a:xfrm>
                <a:prstGeom prst="straightConnector1">
                  <a:avLst/>
                </a:prstGeom>
                <a:noFill/>
                <a:ln cap="flat" cmpd="sng" w="9525">
                  <a:solidFill>
                    <a:srgbClr val="000000"/>
                  </a:solidFill>
                  <a:prstDash val="solid"/>
                  <a:round/>
                  <a:headEnd len="sm" w="sm" type="none"/>
                  <a:tailEnd len="sm" w="sm" type="none"/>
                </a:ln>
              </p:spPr>
            </p:cxnSp>
            <p:cxnSp>
              <p:nvCxnSpPr>
                <p:cNvPr id="772" name="Google Shape;772;p12"/>
                <p:cNvCxnSpPr/>
                <p:nvPr/>
              </p:nvCxnSpPr>
              <p:spPr>
                <a:xfrm>
                  <a:off x="4129012" y="3720139"/>
                  <a:ext cx="0" cy="111484"/>
                </a:xfrm>
                <a:prstGeom prst="straightConnector1">
                  <a:avLst/>
                </a:prstGeom>
                <a:noFill/>
                <a:ln cap="flat" cmpd="sng" w="9525">
                  <a:solidFill>
                    <a:srgbClr val="000000"/>
                  </a:solidFill>
                  <a:prstDash val="solid"/>
                  <a:round/>
                  <a:headEnd len="sm" w="sm" type="none"/>
                  <a:tailEnd len="sm" w="sm" type="none"/>
                </a:ln>
              </p:spPr>
            </p:cxnSp>
          </p:grpSp>
          <p:sp>
            <p:nvSpPr>
              <p:cNvPr id="773" name="Google Shape;773;p12"/>
              <p:cNvSpPr/>
              <p:nvPr/>
            </p:nvSpPr>
            <p:spPr>
              <a:xfrm>
                <a:off x="4324577" y="3696087"/>
                <a:ext cx="498433" cy="116345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74" name="Google Shape;774;p12"/>
              <p:cNvCxnSpPr>
                <a:stCxn id="775" idx="2"/>
              </p:cNvCxnSpPr>
              <p:nvPr/>
            </p:nvCxnSpPr>
            <p:spPr>
              <a:xfrm>
                <a:off x="4300767" y="2640567"/>
                <a:ext cx="14400" cy="2309400"/>
              </a:xfrm>
              <a:prstGeom prst="straightConnector1">
                <a:avLst/>
              </a:prstGeom>
              <a:noFill/>
              <a:ln cap="flat" cmpd="sng" w="9525">
                <a:solidFill>
                  <a:srgbClr val="000000"/>
                </a:solidFill>
                <a:prstDash val="dash"/>
                <a:round/>
                <a:headEnd len="sm" w="sm" type="none"/>
                <a:tailEnd len="sm" w="sm" type="none"/>
              </a:ln>
            </p:spPr>
          </p:cxnSp>
          <p:grpSp>
            <p:nvGrpSpPr>
              <p:cNvPr id="776" name="Google Shape;776;p12"/>
              <p:cNvGrpSpPr/>
              <p:nvPr/>
            </p:nvGrpSpPr>
            <p:grpSpPr>
              <a:xfrm>
                <a:off x="4299179" y="2486604"/>
                <a:ext cx="504783" cy="242849"/>
                <a:chOff x="2183224" y="1574808"/>
                <a:chExt cx="1200054" cy="430149"/>
              </a:xfrm>
            </p:grpSpPr>
            <p:sp>
              <p:nvSpPr>
                <p:cNvPr id="775" name="Google Shape;775;p12"/>
                <p:cNvSpPr/>
                <p:nvPr/>
              </p:nvSpPr>
              <p:spPr>
                <a:xfrm flipH="1" rot="10800000">
                  <a:off x="2186998" y="1690077"/>
                  <a:ext cx="1196279" cy="314880"/>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7" name="Google Shape;777;p12"/>
                <p:cNvSpPr/>
                <p:nvPr/>
              </p:nvSpPr>
              <p:spPr>
                <a:xfrm>
                  <a:off x="2183224" y="1735060"/>
                  <a:ext cx="1200054"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8" name="Google Shape;778;p12"/>
                <p:cNvSpPr/>
                <p:nvPr/>
              </p:nvSpPr>
              <p:spPr>
                <a:xfrm flipH="1" rot="10800000">
                  <a:off x="2183224" y="1574808"/>
                  <a:ext cx="1196282" cy="31488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79" name="Google Shape;779;p12"/>
                <p:cNvSpPr/>
                <p:nvPr/>
              </p:nvSpPr>
              <p:spPr>
                <a:xfrm>
                  <a:off x="2488899" y="1670396"/>
                  <a:ext cx="584931"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80" name="Google Shape;780;p12"/>
                <p:cNvSpPr/>
                <p:nvPr/>
              </p:nvSpPr>
              <p:spPr>
                <a:xfrm>
                  <a:off x="2428519" y="1631037"/>
                  <a:ext cx="705691" cy="1096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81" name="Google Shape;781;p12"/>
                <p:cNvSpPr/>
                <p:nvPr/>
              </p:nvSpPr>
              <p:spPr>
                <a:xfrm>
                  <a:off x="2892690" y="1723814"/>
                  <a:ext cx="256615" cy="9558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782" name="Google Shape;782;p12"/>
                <p:cNvSpPr/>
                <p:nvPr/>
              </p:nvSpPr>
              <p:spPr>
                <a:xfrm>
                  <a:off x="2417196" y="1726625"/>
                  <a:ext cx="252843"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83" name="Google Shape;783;p12"/>
                <p:cNvCxnSpPr>
                  <a:endCxn id="778" idx="2"/>
                </p:cNvCxnSpPr>
                <p:nvPr/>
              </p:nvCxnSpPr>
              <p:spPr>
                <a:xfrm rot="10800000">
                  <a:off x="2183224" y="1732248"/>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784" name="Google Shape;784;p12"/>
                <p:cNvCxnSpPr/>
                <p:nvPr/>
              </p:nvCxnSpPr>
              <p:spPr>
                <a:xfrm rot="10800000">
                  <a:off x="3379505" y="1729437"/>
                  <a:ext cx="3773" cy="12089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785" name="Google Shape;785;p12"/>
            <p:cNvGrpSpPr/>
            <p:nvPr/>
          </p:nvGrpSpPr>
          <p:grpSpPr>
            <a:xfrm>
              <a:off x="5491163" y="3178644"/>
              <a:ext cx="522287" cy="1825335"/>
              <a:chOff x="5491163" y="3178644"/>
              <a:chExt cx="522287" cy="1825335"/>
            </a:xfrm>
          </p:grpSpPr>
          <p:sp>
            <p:nvSpPr>
              <p:cNvPr id="786" name="Google Shape;786;p12"/>
              <p:cNvSpPr/>
              <p:nvPr/>
            </p:nvSpPr>
            <p:spPr>
              <a:xfrm rot="10800000">
                <a:off x="5498044" y="3266845"/>
                <a:ext cx="498349" cy="325689"/>
              </a:xfrm>
              <a:prstGeom prst="rect">
                <a:avLst/>
              </a:prstGeom>
              <a:gradFill>
                <a:gsLst>
                  <a:gs pos="0">
                    <a:srgbClr val="262699">
                      <a:alpha val="61960"/>
                    </a:srgbClr>
                  </a:gs>
                  <a:gs pos="1000">
                    <a:srgbClr val="262699">
                      <a:alpha val="61960"/>
                    </a:srgbClr>
                  </a:gs>
                  <a:gs pos="54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87" name="Google Shape;787;p12"/>
              <p:cNvCxnSpPr>
                <a:stCxn id="788" idx="6"/>
              </p:cNvCxnSpPr>
              <p:nvPr/>
            </p:nvCxnSpPr>
            <p:spPr>
              <a:xfrm>
                <a:off x="6004010" y="3267530"/>
                <a:ext cx="6300" cy="1582500"/>
              </a:xfrm>
              <a:prstGeom prst="straightConnector1">
                <a:avLst/>
              </a:prstGeom>
              <a:noFill/>
              <a:ln cap="flat" cmpd="sng" w="9525">
                <a:solidFill>
                  <a:srgbClr val="000000"/>
                </a:solidFill>
                <a:prstDash val="dash"/>
                <a:round/>
                <a:headEnd len="sm" w="sm" type="none"/>
                <a:tailEnd len="sm" w="sm" type="none"/>
              </a:ln>
            </p:spPr>
          </p:cxnSp>
          <p:pic>
            <p:nvPicPr>
              <p:cNvPr descr="router_top.png" id="789" name="Google Shape;789;p12"/>
              <p:cNvPicPr preferRelativeResize="0"/>
              <p:nvPr/>
            </p:nvPicPr>
            <p:blipFill rotWithShape="1">
              <a:blip r:embed="rId3">
                <a:alphaModFix/>
              </a:blip>
              <a:srcRect b="0" l="0" r="0" t="0"/>
              <a:stretch/>
            </p:blipFill>
            <p:spPr>
              <a:xfrm>
                <a:off x="5491163" y="3206725"/>
                <a:ext cx="522287" cy="220431"/>
              </a:xfrm>
              <a:prstGeom prst="rect">
                <a:avLst/>
              </a:prstGeom>
              <a:noFill/>
              <a:ln>
                <a:noFill/>
              </a:ln>
            </p:spPr>
          </p:pic>
          <p:grpSp>
            <p:nvGrpSpPr>
              <p:cNvPr id="790" name="Google Shape;790;p12"/>
              <p:cNvGrpSpPr/>
              <p:nvPr/>
            </p:nvGrpSpPr>
            <p:grpSpPr>
              <a:xfrm>
                <a:off x="5502403" y="4781764"/>
                <a:ext cx="507957" cy="222216"/>
                <a:chOff x="4128900" y="3606230"/>
                <a:chExt cx="568256" cy="339300"/>
              </a:xfrm>
            </p:grpSpPr>
            <p:sp>
              <p:nvSpPr>
                <p:cNvPr id="791" name="Google Shape;791;p12"/>
                <p:cNvSpPr/>
                <p:nvPr/>
              </p:nvSpPr>
              <p:spPr>
                <a:xfrm>
                  <a:off x="4128900" y="3720139"/>
                  <a:ext cx="568256" cy="225391"/>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92" name="Google Shape;792;p12"/>
                <p:cNvSpPr/>
                <p:nvPr/>
              </p:nvSpPr>
              <p:spPr>
                <a:xfrm>
                  <a:off x="4128900" y="3720139"/>
                  <a:ext cx="568256" cy="111484"/>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93" name="Google Shape;793;p12"/>
                <p:cNvSpPr/>
                <p:nvPr/>
              </p:nvSpPr>
              <p:spPr>
                <a:xfrm>
                  <a:off x="4128900" y="3606230"/>
                  <a:ext cx="568256" cy="225392"/>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94" name="Google Shape;794;p12"/>
                <p:cNvCxnSpPr/>
                <p:nvPr/>
              </p:nvCxnSpPr>
              <p:spPr>
                <a:xfrm>
                  <a:off x="4697156" y="3720139"/>
                  <a:ext cx="0" cy="111484"/>
                </a:xfrm>
                <a:prstGeom prst="straightConnector1">
                  <a:avLst/>
                </a:prstGeom>
                <a:noFill/>
                <a:ln cap="flat" cmpd="sng" w="9525">
                  <a:solidFill>
                    <a:srgbClr val="000000"/>
                  </a:solidFill>
                  <a:prstDash val="solid"/>
                  <a:round/>
                  <a:headEnd len="sm" w="sm" type="none"/>
                  <a:tailEnd len="sm" w="sm" type="none"/>
                </a:ln>
              </p:spPr>
            </p:cxnSp>
            <p:cxnSp>
              <p:nvCxnSpPr>
                <p:cNvPr id="795" name="Google Shape;795;p12"/>
                <p:cNvCxnSpPr/>
                <p:nvPr/>
              </p:nvCxnSpPr>
              <p:spPr>
                <a:xfrm>
                  <a:off x="4128900" y="3720139"/>
                  <a:ext cx="0" cy="111484"/>
                </a:xfrm>
                <a:prstGeom prst="straightConnector1">
                  <a:avLst/>
                </a:prstGeom>
                <a:noFill/>
                <a:ln cap="flat" cmpd="sng" w="9525">
                  <a:solidFill>
                    <a:srgbClr val="000000"/>
                  </a:solidFill>
                  <a:prstDash val="solid"/>
                  <a:round/>
                  <a:headEnd len="sm" w="sm" type="none"/>
                  <a:tailEnd len="sm" w="sm" type="none"/>
                </a:ln>
              </p:spPr>
            </p:cxnSp>
          </p:grpSp>
          <p:sp>
            <p:nvSpPr>
              <p:cNvPr id="796" name="Google Shape;796;p12"/>
              <p:cNvSpPr/>
              <p:nvPr/>
            </p:nvSpPr>
            <p:spPr>
              <a:xfrm>
                <a:off x="5507166" y="3694500"/>
                <a:ext cx="498433" cy="116504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797" name="Google Shape;797;p12"/>
              <p:cNvCxnSpPr>
                <a:stCxn id="789" idx="1"/>
              </p:cNvCxnSpPr>
              <p:nvPr/>
            </p:nvCxnSpPr>
            <p:spPr>
              <a:xfrm>
                <a:off x="5491163" y="3316941"/>
                <a:ext cx="6300" cy="1633200"/>
              </a:xfrm>
              <a:prstGeom prst="straightConnector1">
                <a:avLst/>
              </a:prstGeom>
              <a:noFill/>
              <a:ln cap="flat" cmpd="sng" w="9525">
                <a:solidFill>
                  <a:srgbClr val="000000"/>
                </a:solidFill>
                <a:prstDash val="dash"/>
                <a:round/>
                <a:headEnd len="sm" w="sm" type="none"/>
                <a:tailEnd len="sm" w="sm" type="none"/>
              </a:ln>
            </p:spPr>
          </p:cxnSp>
          <p:grpSp>
            <p:nvGrpSpPr>
              <p:cNvPr id="798" name="Google Shape;798;p12"/>
              <p:cNvGrpSpPr/>
              <p:nvPr/>
            </p:nvGrpSpPr>
            <p:grpSpPr>
              <a:xfrm>
                <a:off x="5500816" y="3178644"/>
                <a:ext cx="504782" cy="242849"/>
                <a:chOff x="2183606" y="1573485"/>
                <a:chExt cx="1200052" cy="430149"/>
              </a:xfrm>
            </p:grpSpPr>
            <p:sp>
              <p:nvSpPr>
                <p:cNvPr id="799" name="Google Shape;799;p12"/>
                <p:cNvSpPr/>
                <p:nvPr/>
              </p:nvSpPr>
              <p:spPr>
                <a:xfrm flipH="1" rot="10800000">
                  <a:off x="2187379" y="1688754"/>
                  <a:ext cx="1196279" cy="314880"/>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0" name="Google Shape;800;p12"/>
                <p:cNvSpPr/>
                <p:nvPr/>
              </p:nvSpPr>
              <p:spPr>
                <a:xfrm>
                  <a:off x="2183606" y="1733737"/>
                  <a:ext cx="1200052"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788" name="Google Shape;788;p12"/>
                <p:cNvSpPr/>
                <p:nvPr/>
              </p:nvSpPr>
              <p:spPr>
                <a:xfrm flipH="1" rot="10800000">
                  <a:off x="2183606" y="1573485"/>
                  <a:ext cx="1196277" cy="31488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1" name="Google Shape;801;p12"/>
                <p:cNvSpPr/>
                <p:nvPr/>
              </p:nvSpPr>
              <p:spPr>
                <a:xfrm>
                  <a:off x="2489279" y="1669074"/>
                  <a:ext cx="584932"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02" name="Google Shape;802;p12"/>
                <p:cNvSpPr/>
                <p:nvPr/>
              </p:nvSpPr>
              <p:spPr>
                <a:xfrm>
                  <a:off x="2428899" y="1629714"/>
                  <a:ext cx="705692" cy="10964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03" name="Google Shape;803;p12"/>
                <p:cNvSpPr/>
                <p:nvPr/>
              </p:nvSpPr>
              <p:spPr>
                <a:xfrm>
                  <a:off x="2893071" y="1722492"/>
                  <a:ext cx="256615" cy="95588"/>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04" name="Google Shape;804;p12"/>
                <p:cNvSpPr/>
                <p:nvPr/>
              </p:nvSpPr>
              <p:spPr>
                <a:xfrm>
                  <a:off x="2417579" y="1725302"/>
                  <a:ext cx="252840"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05" name="Google Shape;805;p12"/>
                <p:cNvCxnSpPr>
                  <a:endCxn id="788" idx="2"/>
                </p:cNvCxnSpPr>
                <p:nvPr/>
              </p:nvCxnSpPr>
              <p:spPr>
                <a:xfrm rot="10800000">
                  <a:off x="2183606" y="173092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06" name="Google Shape;806;p12"/>
                <p:cNvCxnSpPr/>
                <p:nvPr/>
              </p:nvCxnSpPr>
              <p:spPr>
                <a:xfrm rot="10800000">
                  <a:off x="3379883" y="1728114"/>
                  <a:ext cx="3775" cy="12089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807" name="Google Shape;807;p12"/>
            <p:cNvGrpSpPr/>
            <p:nvPr/>
          </p:nvGrpSpPr>
          <p:grpSpPr>
            <a:xfrm>
              <a:off x="6472285" y="2648504"/>
              <a:ext cx="522243" cy="2353889"/>
              <a:chOff x="6472285" y="2648504"/>
              <a:chExt cx="522243" cy="2353889"/>
            </a:xfrm>
          </p:grpSpPr>
          <p:sp>
            <p:nvSpPr>
              <p:cNvPr id="808" name="Google Shape;808;p12"/>
              <p:cNvSpPr/>
              <p:nvPr/>
            </p:nvSpPr>
            <p:spPr>
              <a:xfrm rot="10800000">
                <a:off x="6482296" y="2777838"/>
                <a:ext cx="498349" cy="72203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09" name="Google Shape;809;p12"/>
              <p:cNvCxnSpPr/>
              <p:nvPr/>
            </p:nvCxnSpPr>
            <p:spPr>
              <a:xfrm>
                <a:off x="6994528" y="2846910"/>
                <a:ext cx="0" cy="1998345"/>
              </a:xfrm>
              <a:prstGeom prst="straightConnector1">
                <a:avLst/>
              </a:prstGeom>
              <a:noFill/>
              <a:ln cap="flat" cmpd="sng" w="9525">
                <a:solidFill>
                  <a:srgbClr val="000000"/>
                </a:solidFill>
                <a:prstDash val="dash"/>
                <a:round/>
                <a:headEnd len="sm" w="sm" type="none"/>
                <a:tailEnd len="sm" w="sm" type="none"/>
              </a:ln>
            </p:spPr>
          </p:cxnSp>
          <p:grpSp>
            <p:nvGrpSpPr>
              <p:cNvPr id="810" name="Google Shape;810;p12"/>
              <p:cNvGrpSpPr/>
              <p:nvPr/>
            </p:nvGrpSpPr>
            <p:grpSpPr>
              <a:xfrm>
                <a:off x="6486571" y="4765893"/>
                <a:ext cx="507957" cy="236499"/>
                <a:chOff x="4128808" y="3606294"/>
                <a:chExt cx="568256" cy="339218"/>
              </a:xfrm>
            </p:grpSpPr>
            <p:sp>
              <p:nvSpPr>
                <p:cNvPr id="811" name="Google Shape;811;p12"/>
                <p:cNvSpPr/>
                <p:nvPr/>
              </p:nvSpPr>
              <p:spPr>
                <a:xfrm>
                  <a:off x="4128808" y="3720125"/>
                  <a:ext cx="568256" cy="22538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12" name="Google Shape;812;p12"/>
                <p:cNvSpPr/>
                <p:nvPr/>
              </p:nvSpPr>
              <p:spPr>
                <a:xfrm>
                  <a:off x="4128808" y="3720125"/>
                  <a:ext cx="568256" cy="111556"/>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13" name="Google Shape;813;p12"/>
                <p:cNvSpPr/>
                <p:nvPr/>
              </p:nvSpPr>
              <p:spPr>
                <a:xfrm>
                  <a:off x="4128808" y="3606294"/>
                  <a:ext cx="568256" cy="225387"/>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14" name="Google Shape;814;p12"/>
                <p:cNvCxnSpPr/>
                <p:nvPr/>
              </p:nvCxnSpPr>
              <p:spPr>
                <a:xfrm>
                  <a:off x="4697064" y="3720125"/>
                  <a:ext cx="0" cy="111556"/>
                </a:xfrm>
                <a:prstGeom prst="straightConnector1">
                  <a:avLst/>
                </a:prstGeom>
                <a:noFill/>
                <a:ln cap="flat" cmpd="sng" w="9525">
                  <a:solidFill>
                    <a:srgbClr val="000000"/>
                  </a:solidFill>
                  <a:prstDash val="solid"/>
                  <a:round/>
                  <a:headEnd len="sm" w="sm" type="none"/>
                  <a:tailEnd len="sm" w="sm" type="none"/>
                </a:ln>
              </p:spPr>
            </p:cxnSp>
            <p:cxnSp>
              <p:nvCxnSpPr>
                <p:cNvPr id="815" name="Google Shape;815;p12"/>
                <p:cNvCxnSpPr/>
                <p:nvPr/>
              </p:nvCxnSpPr>
              <p:spPr>
                <a:xfrm>
                  <a:off x="4128808" y="3720125"/>
                  <a:ext cx="0" cy="111556"/>
                </a:xfrm>
                <a:prstGeom prst="straightConnector1">
                  <a:avLst/>
                </a:prstGeom>
                <a:noFill/>
                <a:ln cap="flat" cmpd="sng" w="9525">
                  <a:solidFill>
                    <a:srgbClr val="000000"/>
                  </a:solidFill>
                  <a:prstDash val="solid"/>
                  <a:round/>
                  <a:headEnd len="sm" w="sm" type="none"/>
                  <a:tailEnd len="sm" w="sm" type="none"/>
                </a:ln>
              </p:spPr>
            </p:cxnSp>
          </p:grpSp>
          <p:sp>
            <p:nvSpPr>
              <p:cNvPr id="816" name="Google Shape;816;p12"/>
              <p:cNvSpPr/>
              <p:nvPr/>
            </p:nvSpPr>
            <p:spPr>
              <a:xfrm>
                <a:off x="6491333" y="3610376"/>
                <a:ext cx="498433" cy="1238053"/>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17" name="Google Shape;817;p12"/>
              <p:cNvCxnSpPr/>
              <p:nvPr/>
            </p:nvCxnSpPr>
            <p:spPr>
              <a:xfrm>
                <a:off x="6472285" y="2818340"/>
                <a:ext cx="9524" cy="2126912"/>
              </a:xfrm>
              <a:prstGeom prst="straightConnector1">
                <a:avLst/>
              </a:prstGeom>
              <a:noFill/>
              <a:ln cap="flat" cmpd="sng" w="9525">
                <a:solidFill>
                  <a:srgbClr val="000000"/>
                </a:solidFill>
                <a:prstDash val="dash"/>
                <a:round/>
                <a:headEnd len="sm" w="sm" type="none"/>
                <a:tailEnd len="sm" w="sm" type="none"/>
              </a:ln>
            </p:spPr>
          </p:cxnSp>
          <p:grpSp>
            <p:nvGrpSpPr>
              <p:cNvPr id="818" name="Google Shape;818;p12"/>
              <p:cNvGrpSpPr/>
              <p:nvPr/>
            </p:nvGrpSpPr>
            <p:grpSpPr>
              <a:xfrm>
                <a:off x="6478635" y="2648504"/>
                <a:ext cx="504782" cy="242849"/>
                <a:chOff x="2184464" y="1575651"/>
                <a:chExt cx="1200052" cy="430151"/>
              </a:xfrm>
            </p:grpSpPr>
            <p:sp>
              <p:nvSpPr>
                <p:cNvPr id="819" name="Google Shape;819;p12"/>
                <p:cNvSpPr/>
                <p:nvPr/>
              </p:nvSpPr>
              <p:spPr>
                <a:xfrm flipH="1" rot="10800000">
                  <a:off x="2188237" y="1690921"/>
                  <a:ext cx="1196279" cy="314881"/>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0" name="Google Shape;820;p12"/>
                <p:cNvSpPr/>
                <p:nvPr/>
              </p:nvSpPr>
              <p:spPr>
                <a:xfrm>
                  <a:off x="2184464" y="1735904"/>
                  <a:ext cx="1200052" cy="112457"/>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1" name="Google Shape;821;p12"/>
                <p:cNvSpPr/>
                <p:nvPr/>
              </p:nvSpPr>
              <p:spPr>
                <a:xfrm flipH="1" rot="10800000">
                  <a:off x="2184464" y="1575651"/>
                  <a:ext cx="1196277" cy="31488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2" name="Google Shape;822;p12"/>
                <p:cNvSpPr/>
                <p:nvPr/>
              </p:nvSpPr>
              <p:spPr>
                <a:xfrm>
                  <a:off x="2490137" y="1671240"/>
                  <a:ext cx="584932" cy="1574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23" name="Google Shape;823;p12"/>
                <p:cNvSpPr/>
                <p:nvPr/>
              </p:nvSpPr>
              <p:spPr>
                <a:xfrm>
                  <a:off x="2429757" y="1631880"/>
                  <a:ext cx="705692" cy="10964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24" name="Google Shape;824;p12"/>
                <p:cNvSpPr/>
                <p:nvPr/>
              </p:nvSpPr>
              <p:spPr>
                <a:xfrm>
                  <a:off x="2893929" y="1724658"/>
                  <a:ext cx="256615" cy="9558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25" name="Google Shape;825;p12"/>
                <p:cNvSpPr/>
                <p:nvPr/>
              </p:nvSpPr>
              <p:spPr>
                <a:xfrm>
                  <a:off x="2418437" y="1727469"/>
                  <a:ext cx="252840" cy="92778"/>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26" name="Google Shape;826;p12"/>
                <p:cNvCxnSpPr>
                  <a:endCxn id="821" idx="2"/>
                </p:cNvCxnSpPr>
                <p:nvPr/>
              </p:nvCxnSpPr>
              <p:spPr>
                <a:xfrm rot="10800000">
                  <a:off x="2184464" y="1733092"/>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27" name="Google Shape;827;p12"/>
                <p:cNvCxnSpPr/>
                <p:nvPr/>
              </p:nvCxnSpPr>
              <p:spPr>
                <a:xfrm rot="10800000">
                  <a:off x="3380741" y="1730281"/>
                  <a:ext cx="3775" cy="120891"/>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828" name="Google Shape;828;p12"/>
          <p:cNvGrpSpPr/>
          <p:nvPr/>
        </p:nvGrpSpPr>
        <p:grpSpPr>
          <a:xfrm>
            <a:off x="3419060" y="2725807"/>
            <a:ext cx="5111750" cy="879475"/>
            <a:chOff x="1866825" y="707349"/>
            <a:chExt cx="5112820" cy="879389"/>
          </a:xfrm>
        </p:grpSpPr>
        <p:sp>
          <p:nvSpPr>
            <p:cNvPr id="829" name="Google Shape;829;p12"/>
            <p:cNvSpPr/>
            <p:nvPr/>
          </p:nvSpPr>
          <p:spPr>
            <a:xfrm>
              <a:off x="1866825" y="785129"/>
              <a:ext cx="954288" cy="49207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0" name="Google Shape;830;p12"/>
            <p:cNvSpPr txBox="1"/>
            <p:nvPr/>
          </p:nvSpPr>
          <p:spPr>
            <a:xfrm>
              <a:off x="1891781" y="783191"/>
              <a:ext cx="910613" cy="47619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Routing</a:t>
              </a:r>
              <a:endParaRPr/>
            </a:p>
            <a:p>
              <a:pPr indent="0" lvl="0" marL="0" marR="0" rtl="0" algn="ctr">
                <a:lnSpc>
                  <a:spcPct val="105357"/>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Algorithm</a:t>
              </a:r>
              <a:endParaRPr/>
            </a:p>
          </p:txBody>
        </p:sp>
        <p:cxnSp>
          <p:nvCxnSpPr>
            <p:cNvPr id="831" name="Google Shape;831;p12"/>
            <p:cNvCxnSpPr/>
            <p:nvPr/>
          </p:nvCxnSpPr>
          <p:spPr>
            <a:xfrm flipH="1" rot="10800000">
              <a:off x="2833815" y="807352"/>
              <a:ext cx="1517968" cy="214291"/>
            </a:xfrm>
            <a:prstGeom prst="straightConnector1">
              <a:avLst/>
            </a:prstGeom>
            <a:noFill/>
            <a:ln cap="flat" cmpd="sng" w="25400">
              <a:solidFill>
                <a:srgbClr val="CC0000"/>
              </a:solidFill>
              <a:prstDash val="solid"/>
              <a:round/>
              <a:headEnd len="med" w="med" type="triangle"/>
              <a:tailEnd len="med" w="med" type="triangle"/>
            </a:ln>
          </p:spPr>
        </p:cxnSp>
        <p:cxnSp>
          <p:nvCxnSpPr>
            <p:cNvPr id="832" name="Google Shape;832;p12"/>
            <p:cNvCxnSpPr/>
            <p:nvPr/>
          </p:nvCxnSpPr>
          <p:spPr>
            <a:xfrm>
              <a:off x="2751248" y="1201014"/>
              <a:ext cx="797092" cy="279373"/>
            </a:xfrm>
            <a:prstGeom prst="straightConnector1">
              <a:avLst/>
            </a:prstGeom>
            <a:noFill/>
            <a:ln cap="flat" cmpd="sng" w="25400">
              <a:solidFill>
                <a:srgbClr val="CC0000"/>
              </a:solidFill>
              <a:prstDash val="solid"/>
              <a:round/>
              <a:headEnd len="med" w="med" type="triangle"/>
              <a:tailEnd len="med" w="med" type="triangle"/>
            </a:ln>
          </p:spPr>
        </p:cxnSp>
        <p:cxnSp>
          <p:nvCxnSpPr>
            <p:cNvPr id="833" name="Google Shape;833;p12"/>
            <p:cNvCxnSpPr/>
            <p:nvPr/>
          </p:nvCxnSpPr>
          <p:spPr>
            <a:xfrm>
              <a:off x="4685228" y="894656"/>
              <a:ext cx="892362" cy="509538"/>
            </a:xfrm>
            <a:prstGeom prst="straightConnector1">
              <a:avLst/>
            </a:prstGeom>
            <a:noFill/>
            <a:ln cap="flat" cmpd="sng" w="25400">
              <a:solidFill>
                <a:srgbClr val="CC0000"/>
              </a:solidFill>
              <a:prstDash val="solid"/>
              <a:round/>
              <a:headEnd len="med" w="med" type="triangle"/>
              <a:tailEnd len="med" w="med" type="triangle"/>
            </a:ln>
          </p:spPr>
        </p:cxnSp>
        <p:cxnSp>
          <p:nvCxnSpPr>
            <p:cNvPr id="834" name="Google Shape;834;p12"/>
            <p:cNvCxnSpPr/>
            <p:nvPr/>
          </p:nvCxnSpPr>
          <p:spPr>
            <a:xfrm>
              <a:off x="4801139" y="801003"/>
              <a:ext cx="1695805" cy="130162"/>
            </a:xfrm>
            <a:prstGeom prst="straightConnector1">
              <a:avLst/>
            </a:prstGeom>
            <a:noFill/>
            <a:ln cap="flat" cmpd="sng" w="25400">
              <a:solidFill>
                <a:srgbClr val="CC0000"/>
              </a:solidFill>
              <a:prstDash val="solid"/>
              <a:round/>
              <a:headEnd len="med" w="med" type="triangle"/>
              <a:tailEnd len="med" w="med" type="triangle"/>
            </a:ln>
          </p:spPr>
        </p:cxnSp>
        <p:sp>
          <p:nvSpPr>
            <p:cNvPr id="835" name="Google Shape;835;p12"/>
            <p:cNvSpPr/>
            <p:nvPr/>
          </p:nvSpPr>
          <p:spPr>
            <a:xfrm>
              <a:off x="6558870" y="894656"/>
              <a:ext cx="420775" cy="18095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6" name="Google Shape;836;p12"/>
            <p:cNvSpPr/>
            <p:nvPr/>
          </p:nvSpPr>
          <p:spPr>
            <a:xfrm>
              <a:off x="5572826" y="1404194"/>
              <a:ext cx="420776" cy="182544"/>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7" name="Google Shape;837;p12"/>
            <p:cNvSpPr/>
            <p:nvPr/>
          </p:nvSpPr>
          <p:spPr>
            <a:xfrm>
              <a:off x="4367661" y="707349"/>
              <a:ext cx="420775" cy="182545"/>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38" name="Google Shape;838;p12"/>
            <p:cNvSpPr/>
            <p:nvPr/>
          </p:nvSpPr>
          <p:spPr>
            <a:xfrm>
              <a:off x="3572157" y="1402606"/>
              <a:ext cx="420776" cy="180957"/>
            </a:xfrm>
            <a:prstGeom prst="ellipse">
              <a:avLst/>
            </a:prstGeom>
            <a:solidFill>
              <a:srgbClr val="CC0000">
                <a:alpha val="27843"/>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39" name="Google Shape;839;p12"/>
            <p:cNvCxnSpPr/>
            <p:nvPr/>
          </p:nvCxnSpPr>
          <p:spPr>
            <a:xfrm>
              <a:off x="2821113" y="1105773"/>
              <a:ext cx="2739010" cy="339692"/>
            </a:xfrm>
            <a:prstGeom prst="straightConnector1">
              <a:avLst/>
            </a:prstGeom>
            <a:noFill/>
            <a:ln cap="flat" cmpd="sng" w="25400">
              <a:solidFill>
                <a:srgbClr val="CC0000"/>
              </a:solidFill>
              <a:prstDash val="solid"/>
              <a:round/>
              <a:headEnd len="med" w="med" type="triangle"/>
              <a:tailEnd len="med" w="med" type="triangle"/>
            </a:ln>
          </p:spPr>
        </p:cxnSp>
        <p:cxnSp>
          <p:nvCxnSpPr>
            <p:cNvPr id="840" name="Google Shape;840;p12"/>
            <p:cNvCxnSpPr>
              <a:endCxn id="835" idx="2"/>
            </p:cNvCxnSpPr>
            <p:nvPr/>
          </p:nvCxnSpPr>
          <p:spPr>
            <a:xfrm flipH="1" rot="10800000">
              <a:off x="3997770" y="985135"/>
              <a:ext cx="2561100" cy="469800"/>
            </a:xfrm>
            <a:prstGeom prst="straightConnector1">
              <a:avLst/>
            </a:prstGeom>
            <a:noFill/>
            <a:ln cap="flat" cmpd="sng" w="25400">
              <a:solidFill>
                <a:srgbClr val="CC0000"/>
              </a:solidFill>
              <a:prstDash val="solid"/>
              <a:round/>
              <a:headEnd len="med" w="med" type="triangle"/>
              <a:tailEnd len="med" w="med" type="triangle"/>
            </a:ln>
          </p:spPr>
        </p:cxnSp>
        <p:cxnSp>
          <p:nvCxnSpPr>
            <p:cNvPr id="841" name="Google Shape;841;p12"/>
            <p:cNvCxnSpPr/>
            <p:nvPr/>
          </p:nvCxnSpPr>
          <p:spPr>
            <a:xfrm>
              <a:off x="3991345" y="1508959"/>
              <a:ext cx="1581481" cy="0"/>
            </a:xfrm>
            <a:prstGeom prst="straightConnector1">
              <a:avLst/>
            </a:prstGeom>
            <a:noFill/>
            <a:ln cap="flat" cmpd="sng" w="25400">
              <a:solidFill>
                <a:srgbClr val="CC0000"/>
              </a:solidFill>
              <a:prstDash val="solid"/>
              <a:round/>
              <a:headEnd len="med" w="med" type="triangle"/>
              <a:tailEnd len="med" w="med" type="triangle"/>
            </a:ln>
          </p:spPr>
        </p:cxnSp>
        <p:cxnSp>
          <p:nvCxnSpPr>
            <p:cNvPr id="842" name="Google Shape;842;p12"/>
            <p:cNvCxnSpPr/>
            <p:nvPr/>
          </p:nvCxnSpPr>
          <p:spPr>
            <a:xfrm flipH="1" rot="10800000">
              <a:off x="5996777" y="1083550"/>
              <a:ext cx="751044" cy="396836"/>
            </a:xfrm>
            <a:prstGeom prst="straightConnector1">
              <a:avLst/>
            </a:prstGeom>
            <a:noFill/>
            <a:ln cap="flat" cmpd="sng" w="25400">
              <a:solidFill>
                <a:srgbClr val="CC0000"/>
              </a:solidFill>
              <a:prstDash val="solid"/>
              <a:round/>
              <a:headEnd len="med" w="med" type="triangle"/>
              <a:tailEnd len="med" w="med" type="triangle"/>
            </a:ln>
          </p:spPr>
        </p:cxnSp>
      </p:grpSp>
      <p:grpSp>
        <p:nvGrpSpPr>
          <p:cNvPr id="843" name="Google Shape;843;p12"/>
          <p:cNvGrpSpPr/>
          <p:nvPr/>
        </p:nvGrpSpPr>
        <p:grpSpPr>
          <a:xfrm>
            <a:off x="3147598" y="3114745"/>
            <a:ext cx="6375400" cy="1047750"/>
            <a:chOff x="1557338" y="3074988"/>
            <a:chExt cx="6375400" cy="1047750"/>
          </a:xfrm>
        </p:grpSpPr>
        <p:sp>
          <p:nvSpPr>
            <p:cNvPr id="844" name="Google Shape;844;p12"/>
            <p:cNvSpPr txBox="1"/>
            <p:nvPr/>
          </p:nvSpPr>
          <p:spPr>
            <a:xfrm>
              <a:off x="7292975" y="3651250"/>
              <a:ext cx="595313" cy="471488"/>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sp>
          <p:nvSpPr>
            <p:cNvPr id="845" name="Google Shape;845;p12"/>
            <p:cNvSpPr txBox="1"/>
            <p:nvPr/>
          </p:nvSpPr>
          <p:spPr>
            <a:xfrm>
              <a:off x="7224713" y="3074988"/>
              <a:ext cx="708025"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cxnSp>
          <p:nvCxnSpPr>
            <p:cNvPr id="846" name="Google Shape;846;p12"/>
            <p:cNvCxnSpPr/>
            <p:nvPr/>
          </p:nvCxnSpPr>
          <p:spPr>
            <a:xfrm>
              <a:off x="1557338" y="3613150"/>
              <a:ext cx="6207125" cy="0"/>
            </a:xfrm>
            <a:prstGeom prst="straightConnector1">
              <a:avLst/>
            </a:prstGeom>
            <a:noFill/>
            <a:ln cap="flat" cmpd="sng" w="25400">
              <a:solidFill>
                <a:srgbClr val="000000"/>
              </a:solidFill>
              <a:prstDash val="dash"/>
              <a:round/>
              <a:headEnd len="sm" w="sm" type="none"/>
              <a:tailEnd len="sm" w="sm" type="none"/>
            </a:ln>
          </p:spPr>
        </p:cxnSp>
      </p:grpSp>
      <p:grpSp>
        <p:nvGrpSpPr>
          <p:cNvPr id="847" name="Google Shape;847;p12"/>
          <p:cNvGrpSpPr/>
          <p:nvPr/>
        </p:nvGrpSpPr>
        <p:grpSpPr>
          <a:xfrm>
            <a:off x="3419060" y="3741807"/>
            <a:ext cx="5126038" cy="1120775"/>
            <a:chOff x="-4746102" y="4471477"/>
            <a:chExt cx="5126173" cy="1120753"/>
          </a:xfrm>
        </p:grpSpPr>
        <p:pic>
          <p:nvPicPr>
            <p:cNvPr descr="fig42_table.pdf" id="848" name="Google Shape;848;p12"/>
            <p:cNvPicPr preferRelativeResize="0"/>
            <p:nvPr/>
          </p:nvPicPr>
          <p:blipFill rotWithShape="1">
            <a:blip r:embed="rId4">
              <a:alphaModFix/>
            </a:blip>
            <a:srcRect b="0" l="0" r="0" t="0"/>
            <a:stretch/>
          </p:blipFill>
          <p:spPr>
            <a:xfrm>
              <a:off x="-4746102" y="4471477"/>
              <a:ext cx="966463" cy="966962"/>
            </a:xfrm>
            <a:prstGeom prst="rect">
              <a:avLst/>
            </a:prstGeom>
            <a:noFill/>
            <a:ln cap="flat" cmpd="sng" w="9525">
              <a:solidFill>
                <a:srgbClr val="CC0000"/>
              </a:solidFill>
              <a:prstDash val="solid"/>
              <a:miter lim="800000"/>
              <a:headEnd len="sm" w="sm" type="none"/>
              <a:tailEnd len="sm" w="sm" type="none"/>
            </a:ln>
          </p:spPr>
        </p:pic>
        <p:grpSp>
          <p:nvGrpSpPr>
            <p:cNvPr id="849" name="Google Shape;849;p12"/>
            <p:cNvGrpSpPr/>
            <p:nvPr/>
          </p:nvGrpSpPr>
          <p:grpSpPr>
            <a:xfrm>
              <a:off x="-3025207" y="5228700"/>
              <a:ext cx="3405278" cy="363530"/>
              <a:chOff x="-3025207" y="5228700"/>
              <a:chExt cx="3405278" cy="363530"/>
            </a:xfrm>
          </p:grpSpPr>
          <p:grpSp>
            <p:nvGrpSpPr>
              <p:cNvPr id="850" name="Google Shape;850;p12"/>
              <p:cNvGrpSpPr/>
              <p:nvPr/>
            </p:nvGrpSpPr>
            <p:grpSpPr>
              <a:xfrm>
                <a:off x="-3025207" y="5258861"/>
                <a:ext cx="430224" cy="333369"/>
                <a:chOff x="2931721" y="3908607"/>
                <a:chExt cx="430314" cy="333310"/>
              </a:xfrm>
            </p:grpSpPr>
            <p:sp>
              <p:nvSpPr>
                <p:cNvPr id="851" name="Google Shape;851;p12"/>
                <p:cNvSpPr/>
                <p:nvPr/>
              </p:nvSpPr>
              <p:spPr>
                <a:xfrm>
                  <a:off x="2936485" y="3908607"/>
                  <a:ext cx="425550" cy="333310"/>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52" name="Google Shape;852;p12"/>
                <p:cNvCxnSpPr/>
                <p:nvPr/>
              </p:nvCxnSpPr>
              <p:spPr>
                <a:xfrm>
                  <a:off x="2931721" y="4003838"/>
                  <a:ext cx="425550" cy="0"/>
                </a:xfrm>
                <a:prstGeom prst="straightConnector1">
                  <a:avLst/>
                </a:prstGeom>
                <a:noFill/>
                <a:ln cap="flat" cmpd="sng" w="9525">
                  <a:solidFill>
                    <a:srgbClr val="000000"/>
                  </a:solidFill>
                  <a:prstDash val="solid"/>
                  <a:round/>
                  <a:headEnd len="sm" w="sm" type="none"/>
                  <a:tailEnd len="sm" w="sm" type="none"/>
                </a:ln>
              </p:spPr>
            </p:cxnSp>
            <p:cxnSp>
              <p:nvCxnSpPr>
                <p:cNvPr id="853" name="Google Shape;853;p12"/>
                <p:cNvCxnSpPr/>
                <p:nvPr/>
              </p:nvCxnSpPr>
              <p:spPr>
                <a:xfrm>
                  <a:off x="2931721" y="4067326"/>
                  <a:ext cx="425550" cy="0"/>
                </a:xfrm>
                <a:prstGeom prst="straightConnector1">
                  <a:avLst/>
                </a:prstGeom>
                <a:noFill/>
                <a:ln cap="flat" cmpd="sng" w="9525">
                  <a:solidFill>
                    <a:srgbClr val="000000"/>
                  </a:solidFill>
                  <a:prstDash val="solid"/>
                  <a:round/>
                  <a:headEnd len="sm" w="sm" type="none"/>
                  <a:tailEnd len="sm" w="sm" type="none"/>
                </a:ln>
              </p:spPr>
            </p:cxnSp>
            <p:cxnSp>
              <p:nvCxnSpPr>
                <p:cNvPr id="854" name="Google Shape;854;p12"/>
                <p:cNvCxnSpPr>
                  <a:stCxn id="851" idx="2"/>
                </p:cNvCxnSpPr>
                <p:nvPr/>
              </p:nvCxnSpPr>
              <p:spPr>
                <a:xfrm rot="10800000">
                  <a:off x="3147760" y="4003717"/>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55" name="Google Shape;855;p12"/>
              <p:cNvGrpSpPr/>
              <p:nvPr/>
            </p:nvGrpSpPr>
            <p:grpSpPr>
              <a:xfrm>
                <a:off x="-2217148" y="5257274"/>
                <a:ext cx="430223" cy="333369"/>
                <a:chOff x="2931743" y="3908513"/>
                <a:chExt cx="430312" cy="333376"/>
              </a:xfrm>
            </p:grpSpPr>
            <p:sp>
              <p:nvSpPr>
                <p:cNvPr id="856" name="Google Shape;856;p12"/>
                <p:cNvSpPr/>
                <p:nvPr/>
              </p:nvSpPr>
              <p:spPr>
                <a:xfrm>
                  <a:off x="2936506" y="3908513"/>
                  <a:ext cx="425549" cy="33337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57" name="Google Shape;857;p12"/>
                <p:cNvCxnSpPr/>
                <p:nvPr/>
              </p:nvCxnSpPr>
              <p:spPr>
                <a:xfrm>
                  <a:off x="2931743" y="4003763"/>
                  <a:ext cx="425549" cy="0"/>
                </a:xfrm>
                <a:prstGeom prst="straightConnector1">
                  <a:avLst/>
                </a:prstGeom>
                <a:noFill/>
                <a:ln cap="flat" cmpd="sng" w="9525">
                  <a:solidFill>
                    <a:srgbClr val="000000"/>
                  </a:solidFill>
                  <a:prstDash val="solid"/>
                  <a:round/>
                  <a:headEnd len="sm" w="sm" type="none"/>
                  <a:tailEnd len="sm" w="sm" type="none"/>
                </a:ln>
              </p:spPr>
            </p:cxnSp>
            <p:cxnSp>
              <p:nvCxnSpPr>
                <p:cNvPr id="858" name="Google Shape;858;p12"/>
                <p:cNvCxnSpPr/>
                <p:nvPr/>
              </p:nvCxnSpPr>
              <p:spPr>
                <a:xfrm>
                  <a:off x="2931743" y="4067263"/>
                  <a:ext cx="425549" cy="0"/>
                </a:xfrm>
                <a:prstGeom prst="straightConnector1">
                  <a:avLst/>
                </a:prstGeom>
                <a:noFill/>
                <a:ln cap="flat" cmpd="sng" w="9525">
                  <a:solidFill>
                    <a:srgbClr val="000000"/>
                  </a:solidFill>
                  <a:prstDash val="solid"/>
                  <a:round/>
                  <a:headEnd len="sm" w="sm" type="none"/>
                  <a:tailEnd len="sm" w="sm" type="none"/>
                </a:ln>
              </p:spPr>
            </p:cxnSp>
            <p:cxnSp>
              <p:nvCxnSpPr>
                <p:cNvPr id="859" name="Google Shape;859;p12"/>
                <p:cNvCxnSpPr>
                  <a:stCxn id="856" idx="2"/>
                </p:cNvCxnSpPr>
                <p:nvPr/>
              </p:nvCxnSpPr>
              <p:spPr>
                <a:xfrm rot="10800000">
                  <a:off x="3147781" y="4003689"/>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60" name="Google Shape;860;p12"/>
              <p:cNvGrpSpPr/>
              <p:nvPr/>
            </p:nvGrpSpPr>
            <p:grpSpPr>
              <a:xfrm>
                <a:off x="-1034429" y="5257274"/>
                <a:ext cx="430224" cy="333369"/>
                <a:chOff x="2931774" y="3908513"/>
                <a:chExt cx="430314" cy="333376"/>
              </a:xfrm>
            </p:grpSpPr>
            <p:sp>
              <p:nvSpPr>
                <p:cNvPr id="861" name="Google Shape;861;p12"/>
                <p:cNvSpPr/>
                <p:nvPr/>
              </p:nvSpPr>
              <p:spPr>
                <a:xfrm>
                  <a:off x="2936538" y="3908513"/>
                  <a:ext cx="425550" cy="33337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62" name="Google Shape;862;p12"/>
                <p:cNvCxnSpPr/>
                <p:nvPr/>
              </p:nvCxnSpPr>
              <p:spPr>
                <a:xfrm>
                  <a:off x="2931774" y="4003763"/>
                  <a:ext cx="425550" cy="0"/>
                </a:xfrm>
                <a:prstGeom prst="straightConnector1">
                  <a:avLst/>
                </a:prstGeom>
                <a:noFill/>
                <a:ln cap="flat" cmpd="sng" w="9525">
                  <a:solidFill>
                    <a:srgbClr val="000000"/>
                  </a:solidFill>
                  <a:prstDash val="solid"/>
                  <a:round/>
                  <a:headEnd len="sm" w="sm" type="none"/>
                  <a:tailEnd len="sm" w="sm" type="none"/>
                </a:ln>
              </p:spPr>
            </p:cxnSp>
            <p:cxnSp>
              <p:nvCxnSpPr>
                <p:cNvPr id="863" name="Google Shape;863;p12"/>
                <p:cNvCxnSpPr/>
                <p:nvPr/>
              </p:nvCxnSpPr>
              <p:spPr>
                <a:xfrm>
                  <a:off x="2931774" y="4067263"/>
                  <a:ext cx="425550" cy="0"/>
                </a:xfrm>
                <a:prstGeom prst="straightConnector1">
                  <a:avLst/>
                </a:prstGeom>
                <a:noFill/>
                <a:ln cap="flat" cmpd="sng" w="9525">
                  <a:solidFill>
                    <a:srgbClr val="000000"/>
                  </a:solidFill>
                  <a:prstDash val="solid"/>
                  <a:round/>
                  <a:headEnd len="sm" w="sm" type="none"/>
                  <a:tailEnd len="sm" w="sm" type="none"/>
                </a:ln>
              </p:spPr>
            </p:cxnSp>
            <p:cxnSp>
              <p:nvCxnSpPr>
                <p:cNvPr id="864" name="Google Shape;864;p12"/>
                <p:cNvCxnSpPr>
                  <a:stCxn id="861" idx="2"/>
                </p:cNvCxnSpPr>
                <p:nvPr/>
              </p:nvCxnSpPr>
              <p:spPr>
                <a:xfrm rot="10800000">
                  <a:off x="3147813" y="4003689"/>
                  <a:ext cx="1500" cy="238200"/>
                </a:xfrm>
                <a:prstGeom prst="straightConnector1">
                  <a:avLst/>
                </a:prstGeom>
                <a:noFill/>
                <a:ln cap="flat" cmpd="sng" w="9525">
                  <a:solidFill>
                    <a:srgbClr val="000000"/>
                  </a:solidFill>
                  <a:prstDash val="solid"/>
                  <a:round/>
                  <a:headEnd len="sm" w="sm" type="none"/>
                  <a:tailEnd len="sm" w="sm" type="none"/>
                </a:ln>
              </p:spPr>
            </p:cxnSp>
          </p:grpSp>
          <p:grpSp>
            <p:nvGrpSpPr>
              <p:cNvPr id="865" name="Google Shape;865;p12"/>
              <p:cNvGrpSpPr/>
              <p:nvPr/>
            </p:nvGrpSpPr>
            <p:grpSpPr>
              <a:xfrm>
                <a:off x="-50153" y="5228700"/>
                <a:ext cx="430224" cy="350830"/>
                <a:chOff x="2931800" y="3912336"/>
                <a:chExt cx="430314" cy="329569"/>
              </a:xfrm>
            </p:grpSpPr>
            <p:sp>
              <p:nvSpPr>
                <p:cNvPr id="866" name="Google Shape;866;p12"/>
                <p:cNvSpPr/>
                <p:nvPr/>
              </p:nvSpPr>
              <p:spPr>
                <a:xfrm>
                  <a:off x="2936564" y="3912336"/>
                  <a:ext cx="425550" cy="32956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867" name="Google Shape;867;p12"/>
                <p:cNvCxnSpPr/>
                <p:nvPr/>
              </p:nvCxnSpPr>
              <p:spPr>
                <a:xfrm>
                  <a:off x="2931800" y="4003303"/>
                  <a:ext cx="425550" cy="0"/>
                </a:xfrm>
                <a:prstGeom prst="straightConnector1">
                  <a:avLst/>
                </a:prstGeom>
                <a:noFill/>
                <a:ln cap="flat" cmpd="sng" w="9525">
                  <a:solidFill>
                    <a:srgbClr val="000000"/>
                  </a:solidFill>
                  <a:prstDash val="solid"/>
                  <a:round/>
                  <a:headEnd len="sm" w="sm" type="none"/>
                  <a:tailEnd len="sm" w="sm" type="none"/>
                </a:ln>
              </p:spPr>
            </p:cxnSp>
            <p:cxnSp>
              <p:nvCxnSpPr>
                <p:cNvPr id="868" name="Google Shape;868;p12"/>
                <p:cNvCxnSpPr/>
                <p:nvPr/>
              </p:nvCxnSpPr>
              <p:spPr>
                <a:xfrm>
                  <a:off x="2931800" y="4067428"/>
                  <a:ext cx="425550" cy="0"/>
                </a:xfrm>
                <a:prstGeom prst="straightConnector1">
                  <a:avLst/>
                </a:prstGeom>
                <a:noFill/>
                <a:ln cap="flat" cmpd="sng" w="9525">
                  <a:solidFill>
                    <a:srgbClr val="000000"/>
                  </a:solidFill>
                  <a:prstDash val="solid"/>
                  <a:round/>
                  <a:headEnd len="sm" w="sm" type="none"/>
                  <a:tailEnd len="sm" w="sm" type="none"/>
                </a:ln>
              </p:spPr>
            </p:cxnSp>
            <p:cxnSp>
              <p:nvCxnSpPr>
                <p:cNvPr id="869" name="Google Shape;869;p12"/>
                <p:cNvCxnSpPr>
                  <a:stCxn id="866" idx="2"/>
                </p:cNvCxnSpPr>
                <p:nvPr/>
              </p:nvCxnSpPr>
              <p:spPr>
                <a:xfrm rot="10800000">
                  <a:off x="3147839" y="4003405"/>
                  <a:ext cx="1500" cy="238500"/>
                </a:xfrm>
                <a:prstGeom prst="straightConnector1">
                  <a:avLst/>
                </a:prstGeom>
                <a:noFill/>
                <a:ln cap="flat" cmpd="sng" w="9525">
                  <a:solidFill>
                    <a:srgbClr val="000000"/>
                  </a:solidFill>
                  <a:prstDash val="solid"/>
                  <a:round/>
                  <a:headEnd len="sm" w="sm" type="none"/>
                  <a:tailEnd len="sm" w="sm" type="none"/>
                </a:ln>
              </p:spPr>
            </p:cxnSp>
          </p:grpSp>
        </p:grpSp>
      </p:grpSp>
      <p:grpSp>
        <p:nvGrpSpPr>
          <p:cNvPr id="870" name="Google Shape;870;p12"/>
          <p:cNvGrpSpPr/>
          <p:nvPr/>
        </p:nvGrpSpPr>
        <p:grpSpPr>
          <a:xfrm>
            <a:off x="3873085" y="2922657"/>
            <a:ext cx="4437063" cy="1577975"/>
            <a:chOff x="-4267279" y="3655204"/>
            <a:chExt cx="4437063" cy="1578510"/>
          </a:xfrm>
        </p:grpSpPr>
        <p:cxnSp>
          <p:nvCxnSpPr>
            <p:cNvPr id="871" name="Google Shape;871;p12"/>
            <p:cNvCxnSpPr/>
            <p:nvPr/>
          </p:nvCxnSpPr>
          <p:spPr>
            <a:xfrm>
              <a:off x="-4267279" y="4047450"/>
              <a:ext cx="0" cy="422418"/>
            </a:xfrm>
            <a:prstGeom prst="straightConnector1">
              <a:avLst/>
            </a:prstGeom>
            <a:noFill/>
            <a:ln cap="flat" cmpd="sng" w="12700">
              <a:solidFill>
                <a:srgbClr val="CC0000"/>
              </a:solidFill>
              <a:prstDash val="solid"/>
              <a:round/>
              <a:headEnd len="sm" w="sm" type="none"/>
              <a:tailEnd len="med" w="med" type="triangle"/>
            </a:ln>
          </p:spPr>
        </p:cxnSp>
        <p:cxnSp>
          <p:nvCxnSpPr>
            <p:cNvPr id="872" name="Google Shape;872;p12"/>
            <p:cNvCxnSpPr/>
            <p:nvPr/>
          </p:nvCxnSpPr>
          <p:spPr>
            <a:xfrm>
              <a:off x="-2808366" y="4361882"/>
              <a:ext cx="0" cy="87183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3" name="Google Shape;873;p12"/>
            <p:cNvCxnSpPr/>
            <p:nvPr/>
          </p:nvCxnSpPr>
          <p:spPr>
            <a:xfrm>
              <a:off x="-2006679" y="3655204"/>
              <a:ext cx="6350" cy="157692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4" name="Google Shape;874;p12"/>
            <p:cNvCxnSpPr/>
            <p:nvPr/>
          </p:nvCxnSpPr>
          <p:spPr>
            <a:xfrm>
              <a:off x="-823991" y="4326945"/>
              <a:ext cx="6350" cy="90518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875" name="Google Shape;875;p12"/>
            <p:cNvCxnSpPr/>
            <p:nvPr/>
          </p:nvCxnSpPr>
          <p:spPr>
            <a:xfrm flipH="1">
              <a:off x="166609" y="3798127"/>
              <a:ext cx="3175" cy="1399062"/>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grpSp>
      <p:cxnSp>
        <p:nvCxnSpPr>
          <p:cNvPr id="876" name="Google Shape;876;p12"/>
          <p:cNvCxnSpPr/>
          <p:nvPr/>
        </p:nvCxnSpPr>
        <p:spPr>
          <a:xfrm flipH="1">
            <a:off x="2872960" y="5842070"/>
            <a:ext cx="1508125" cy="1587"/>
          </a:xfrm>
          <a:prstGeom prst="straightConnector1">
            <a:avLst/>
          </a:prstGeom>
          <a:noFill/>
          <a:ln cap="flat" cmpd="sng" w="9525">
            <a:solidFill>
              <a:srgbClr val="000000"/>
            </a:solidFill>
            <a:prstDash val="solid"/>
            <a:round/>
            <a:headEnd len="sm" w="sm" type="none"/>
            <a:tailEnd len="sm" w="sm" type="none"/>
          </a:ln>
        </p:spPr>
      </p:cxnSp>
      <p:sp>
        <p:nvSpPr>
          <p:cNvPr id="877" name="Google Shape;877;p12"/>
          <p:cNvSpPr txBox="1"/>
          <p:nvPr/>
        </p:nvSpPr>
        <p:spPr>
          <a:xfrm>
            <a:off x="4789073" y="5513457"/>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878" name="Google Shape;878;p12"/>
          <p:cNvSpPr txBox="1"/>
          <p:nvPr/>
        </p:nvSpPr>
        <p:spPr>
          <a:xfrm>
            <a:off x="4963698" y="5800795"/>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879" name="Google Shape;879;p12"/>
          <p:cNvGrpSpPr/>
          <p:nvPr/>
        </p:nvGrpSpPr>
        <p:grpSpPr>
          <a:xfrm>
            <a:off x="2528473" y="5276920"/>
            <a:ext cx="1616075" cy="487362"/>
            <a:chOff x="-4079003" y="2717403"/>
            <a:chExt cx="1616718" cy="488475"/>
          </a:xfrm>
        </p:grpSpPr>
        <p:sp>
          <p:nvSpPr>
            <p:cNvPr id="880" name="Google Shape;880;p12"/>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81" name="Google Shape;881;p12"/>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882" name="Google Shape;882;p12"/>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3" name="Google Shape;883;p12"/>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884" name="Google Shape;884;p12"/>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885" name="Google Shape;885;p12"/>
          <p:cNvSpPr/>
          <p:nvPr/>
        </p:nvSpPr>
        <p:spPr>
          <a:xfrm>
            <a:off x="4084223" y="5708720"/>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886" name="Google Shape;886;p12"/>
          <p:cNvGrpSpPr/>
          <p:nvPr/>
        </p:nvGrpSpPr>
        <p:grpSpPr>
          <a:xfrm>
            <a:off x="4304885" y="5699195"/>
            <a:ext cx="565150" cy="293687"/>
            <a:chOff x="1871277" y="1576300"/>
            <a:chExt cx="1128371" cy="437861"/>
          </a:xfrm>
        </p:grpSpPr>
        <p:sp>
          <p:nvSpPr>
            <p:cNvPr id="887" name="Google Shape;887;p12"/>
            <p:cNvSpPr/>
            <p:nvPr/>
          </p:nvSpPr>
          <p:spPr>
            <a:xfrm flipH="1" rot="10800000">
              <a:off x="1874448" y="1694641"/>
              <a:ext cx="1125200" cy="319520"/>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88" name="Google Shape;888;p12"/>
            <p:cNvSpPr/>
            <p:nvPr/>
          </p:nvSpPr>
          <p:spPr>
            <a:xfrm>
              <a:off x="1871277" y="1739610"/>
              <a:ext cx="1128371" cy="115975"/>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89" name="Google Shape;889;p12"/>
            <p:cNvSpPr/>
            <p:nvPr/>
          </p:nvSpPr>
          <p:spPr>
            <a:xfrm flipH="1" rot="10800000">
              <a:off x="1871277" y="1576300"/>
              <a:ext cx="1125202"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90" name="Google Shape;890;p12"/>
            <p:cNvSpPr/>
            <p:nvPr/>
          </p:nvSpPr>
          <p:spPr>
            <a:xfrm>
              <a:off x="2159710" y="1673339"/>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891" name="Google Shape;891;p12"/>
            <p:cNvSpPr/>
            <p:nvPr/>
          </p:nvSpPr>
          <p:spPr>
            <a:xfrm>
              <a:off x="2102657" y="1633104"/>
              <a:ext cx="662442" cy="111240"/>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92" name="Google Shape;892;p12"/>
            <p:cNvSpPr/>
            <p:nvPr/>
          </p:nvSpPr>
          <p:spPr>
            <a:xfrm>
              <a:off x="2536889" y="1727776"/>
              <a:ext cx="244059" cy="9703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893" name="Google Shape;893;p12"/>
            <p:cNvSpPr/>
            <p:nvPr/>
          </p:nvSpPr>
          <p:spPr>
            <a:xfrm>
              <a:off x="2089979" y="1730143"/>
              <a:ext cx="240888" cy="9704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894" name="Google Shape;894;p12"/>
            <p:cNvCxnSpPr>
              <a:endCxn id="889"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95" name="Google Shape;895;p12"/>
            <p:cNvCxnSpPr/>
            <p:nvPr/>
          </p:nvCxnSpPr>
          <p:spPr>
            <a:xfrm rot="10800000">
              <a:off x="2996479" y="1734876"/>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896" name="Google Shape;896;p12"/>
          <p:cNvSpPr txBox="1"/>
          <p:nvPr/>
        </p:nvSpPr>
        <p:spPr>
          <a:xfrm>
            <a:off x="1787110" y="4943545"/>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sp>
        <p:nvSpPr>
          <p:cNvPr id="897" name="Google Shape;897;p12"/>
          <p:cNvSpPr txBox="1"/>
          <p:nvPr/>
        </p:nvSpPr>
        <p:spPr>
          <a:xfrm>
            <a:off x="4658898" y="5902395"/>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898" name="Google Shape;898;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1000"/>
                                        <p:tgtEl>
                                          <p:spTgt spid="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5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500"/>
                                        <p:tgtEl>
                                          <p:spTgt spid="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500"/>
                                        <p:tgtEl>
                                          <p:spTgt spid="8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3"/>
          <p:cNvSpPr txBox="1"/>
          <p:nvPr>
            <p:ph type="title"/>
          </p:nvPr>
        </p:nvSpPr>
        <p:spPr>
          <a:xfrm>
            <a:off x="417576" y="261255"/>
            <a:ext cx="11213592"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800"/>
              <a:t>Software-Defined Networking (SDN) control plane</a:t>
            </a:r>
            <a:endParaRPr/>
          </a:p>
        </p:txBody>
      </p:sp>
      <p:sp>
        <p:nvSpPr>
          <p:cNvPr id="905" name="Google Shape;905;p13"/>
          <p:cNvSpPr txBox="1"/>
          <p:nvPr/>
        </p:nvSpPr>
        <p:spPr>
          <a:xfrm>
            <a:off x="292609" y="1064529"/>
            <a:ext cx="1131073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Remote controller computes, installs forwarding tables in routers</a:t>
            </a:r>
            <a:endParaRPr/>
          </a:p>
        </p:txBody>
      </p:sp>
      <p:grpSp>
        <p:nvGrpSpPr>
          <p:cNvPr id="906" name="Google Shape;906;p13"/>
          <p:cNvGrpSpPr/>
          <p:nvPr/>
        </p:nvGrpSpPr>
        <p:grpSpPr>
          <a:xfrm>
            <a:off x="3203430" y="1967880"/>
            <a:ext cx="6027738" cy="1439862"/>
            <a:chOff x="1492879" y="2061336"/>
            <a:chExt cx="6027737" cy="1440135"/>
          </a:xfrm>
        </p:grpSpPr>
        <p:sp>
          <p:nvSpPr>
            <p:cNvPr id="907" name="Google Shape;907;p13"/>
            <p:cNvSpPr/>
            <p:nvPr/>
          </p:nvSpPr>
          <p:spPr>
            <a:xfrm>
              <a:off x="1929442" y="2064512"/>
              <a:ext cx="5043486" cy="1017780"/>
            </a:xfrm>
            <a:prstGeom prst="rect">
              <a:avLst/>
            </a:prstGeom>
            <a:solidFill>
              <a:srgbClr val="D0D0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908" name="Google Shape;908;p13"/>
            <p:cNvSpPr/>
            <p:nvPr/>
          </p:nvSpPr>
          <p:spPr>
            <a:xfrm>
              <a:off x="1740529" y="2067687"/>
              <a:ext cx="198438" cy="1386150"/>
            </a:xfrm>
            <a:custGeom>
              <a:rect b="b" l="l" r="r" t="t"/>
              <a:pathLst>
                <a:path extrusionOk="0" h="1385496" w="199855">
                  <a:moveTo>
                    <a:pt x="0" y="745656"/>
                  </a:moveTo>
                  <a:lnTo>
                    <a:pt x="193920" y="0"/>
                  </a:lnTo>
                  <a:cubicBezTo>
                    <a:pt x="195898" y="342623"/>
                    <a:pt x="197877" y="685246"/>
                    <a:pt x="199855" y="1027869"/>
                  </a:cubicBezTo>
                  <a:lnTo>
                    <a:pt x="4471" y="1385496"/>
                  </a:lnTo>
                  <a:cubicBezTo>
                    <a:pt x="2981" y="1172216"/>
                    <a:pt x="1490" y="958936"/>
                    <a:pt x="0" y="745656"/>
                  </a:cubicBezTo>
                  <a:close/>
                </a:path>
              </a:pathLst>
            </a:custGeom>
            <a:gradFill>
              <a:gsLst>
                <a:gs pos="0">
                  <a:srgbClr val="F2F2F2"/>
                </a:gs>
                <a:gs pos="100000">
                  <a:srgbClr val="D0D0F4"/>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909" name="Google Shape;909;p13"/>
            <p:cNvSpPr/>
            <p:nvPr/>
          </p:nvSpPr>
          <p:spPr>
            <a:xfrm flipH="1">
              <a:off x="6969753" y="2061336"/>
              <a:ext cx="219075" cy="1370272"/>
            </a:xfrm>
            <a:custGeom>
              <a:rect b="b" l="l" r="r" t="t"/>
              <a:pathLst>
                <a:path extrusionOk="0" h="1370199" w="220239">
                  <a:moveTo>
                    <a:pt x="0" y="730359"/>
                  </a:moveTo>
                  <a:cubicBezTo>
                    <a:pt x="64640" y="481807"/>
                    <a:pt x="154761" y="248552"/>
                    <a:pt x="219401" y="0"/>
                  </a:cubicBezTo>
                  <a:cubicBezTo>
                    <a:pt x="221379" y="342623"/>
                    <a:pt x="218261" y="664850"/>
                    <a:pt x="220239" y="1007473"/>
                  </a:cubicBezTo>
                  <a:lnTo>
                    <a:pt x="4471" y="1370199"/>
                  </a:lnTo>
                  <a:cubicBezTo>
                    <a:pt x="2981" y="1156919"/>
                    <a:pt x="1490" y="943639"/>
                    <a:pt x="0" y="730359"/>
                  </a:cubicBezTo>
                  <a:close/>
                </a:path>
              </a:pathLst>
            </a:custGeom>
            <a:gradFill>
              <a:gsLst>
                <a:gs pos="0">
                  <a:srgbClr val="D0D0F4"/>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910" name="Google Shape;910;p13"/>
            <p:cNvGrpSpPr/>
            <p:nvPr/>
          </p:nvGrpSpPr>
          <p:grpSpPr>
            <a:xfrm>
              <a:off x="1492879" y="2820676"/>
              <a:ext cx="338137" cy="653816"/>
              <a:chOff x="4140" y="429"/>
              <a:chExt cx="1425" cy="2396"/>
            </a:xfrm>
          </p:grpSpPr>
          <p:sp>
            <p:nvSpPr>
              <p:cNvPr id="911" name="Google Shape;911;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2" name="Google Shape;912;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3" name="Google Shape;913;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4" name="Google Shape;914;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15" name="Google Shape;915;p13"/>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16" name="Google Shape;916;p13"/>
              <p:cNvGrpSpPr/>
              <p:nvPr/>
            </p:nvGrpSpPr>
            <p:grpSpPr>
              <a:xfrm>
                <a:off x="4748" y="666"/>
                <a:ext cx="578" cy="150"/>
                <a:chOff x="613" y="2566"/>
                <a:chExt cx="721" cy="144"/>
              </a:xfrm>
            </p:grpSpPr>
            <p:sp>
              <p:nvSpPr>
                <p:cNvPr id="917" name="Google Shape;917;p13"/>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8" name="Google Shape;918;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19" name="Google Shape;919;p13"/>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20" name="Google Shape;920;p13"/>
              <p:cNvGrpSpPr/>
              <p:nvPr/>
            </p:nvGrpSpPr>
            <p:grpSpPr>
              <a:xfrm>
                <a:off x="4748" y="990"/>
                <a:ext cx="578" cy="134"/>
                <a:chOff x="615" y="2564"/>
                <a:chExt cx="721" cy="139"/>
              </a:xfrm>
            </p:grpSpPr>
            <p:sp>
              <p:nvSpPr>
                <p:cNvPr id="921" name="Google Shape;921;p13"/>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2" name="Google Shape;922;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23" name="Google Shape;923;p13"/>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4" name="Google Shape;924;p13"/>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25" name="Google Shape;925;p13"/>
              <p:cNvGrpSpPr/>
              <p:nvPr/>
            </p:nvGrpSpPr>
            <p:grpSpPr>
              <a:xfrm>
                <a:off x="4738" y="1647"/>
                <a:ext cx="578" cy="135"/>
                <a:chOff x="618" y="2586"/>
                <a:chExt cx="720" cy="124"/>
              </a:xfrm>
            </p:grpSpPr>
            <p:sp>
              <p:nvSpPr>
                <p:cNvPr id="926" name="Google Shape;926;p13"/>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7" name="Google Shape;927;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28" name="Google Shape;928;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29" name="Google Shape;929;p13"/>
              <p:cNvGrpSpPr/>
              <p:nvPr/>
            </p:nvGrpSpPr>
            <p:grpSpPr>
              <a:xfrm>
                <a:off x="4738" y="1330"/>
                <a:ext cx="588" cy="134"/>
                <a:chOff x="613" y="2571"/>
                <a:chExt cx="732" cy="134"/>
              </a:xfrm>
            </p:grpSpPr>
            <p:sp>
              <p:nvSpPr>
                <p:cNvPr id="930" name="Google Shape;930;p13"/>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1" name="Google Shape;931;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32" name="Google Shape;932;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3" name="Google Shape;933;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4" name="Google Shape;934;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5" name="Google Shape;935;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6" name="Google Shape;936;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37" name="Google Shape;937;p13"/>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8" name="Google Shape;938;p13"/>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9" name="Google Shape;939;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0" name="Google Shape;940;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41" name="Google Shape;941;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2" name="Google Shape;942;p13"/>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43" name="Google Shape;943;p13"/>
            <p:cNvGrpSpPr/>
            <p:nvPr/>
          </p:nvGrpSpPr>
          <p:grpSpPr>
            <a:xfrm>
              <a:off x="7182479" y="2847655"/>
              <a:ext cx="338137" cy="653816"/>
              <a:chOff x="4140" y="429"/>
              <a:chExt cx="1425" cy="2396"/>
            </a:xfrm>
          </p:grpSpPr>
          <p:sp>
            <p:nvSpPr>
              <p:cNvPr id="944" name="Google Shape;944;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5" name="Google Shape;945;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6" name="Google Shape;946;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7" name="Google Shape;947;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48" name="Google Shape;948;p13"/>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49" name="Google Shape;949;p13"/>
              <p:cNvGrpSpPr/>
              <p:nvPr/>
            </p:nvGrpSpPr>
            <p:grpSpPr>
              <a:xfrm>
                <a:off x="4748" y="666"/>
                <a:ext cx="578" cy="150"/>
                <a:chOff x="613" y="2566"/>
                <a:chExt cx="721" cy="144"/>
              </a:xfrm>
            </p:grpSpPr>
            <p:sp>
              <p:nvSpPr>
                <p:cNvPr id="950" name="Google Shape;950;p13"/>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1" name="Google Shape;951;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2" name="Google Shape;952;p13"/>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53" name="Google Shape;953;p13"/>
              <p:cNvGrpSpPr/>
              <p:nvPr/>
            </p:nvGrpSpPr>
            <p:grpSpPr>
              <a:xfrm>
                <a:off x="4748" y="990"/>
                <a:ext cx="578" cy="134"/>
                <a:chOff x="615" y="2564"/>
                <a:chExt cx="721" cy="139"/>
              </a:xfrm>
            </p:grpSpPr>
            <p:sp>
              <p:nvSpPr>
                <p:cNvPr id="954" name="Google Shape;954;p13"/>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5" name="Google Shape;955;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56" name="Google Shape;956;p13"/>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7" name="Google Shape;957;p13"/>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58" name="Google Shape;958;p13"/>
              <p:cNvGrpSpPr/>
              <p:nvPr/>
            </p:nvGrpSpPr>
            <p:grpSpPr>
              <a:xfrm>
                <a:off x="4738" y="1647"/>
                <a:ext cx="578" cy="135"/>
                <a:chOff x="618" y="2586"/>
                <a:chExt cx="720" cy="124"/>
              </a:xfrm>
            </p:grpSpPr>
            <p:sp>
              <p:nvSpPr>
                <p:cNvPr id="959" name="Google Shape;959;p13"/>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0" name="Google Shape;960;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61" name="Google Shape;961;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962" name="Google Shape;962;p13"/>
              <p:cNvGrpSpPr/>
              <p:nvPr/>
            </p:nvGrpSpPr>
            <p:grpSpPr>
              <a:xfrm>
                <a:off x="4738" y="1330"/>
                <a:ext cx="588" cy="134"/>
                <a:chOff x="613" y="2571"/>
                <a:chExt cx="732" cy="134"/>
              </a:xfrm>
            </p:grpSpPr>
            <p:sp>
              <p:nvSpPr>
                <p:cNvPr id="963" name="Google Shape;963;p13"/>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4" name="Google Shape;964;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65" name="Google Shape;965;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6" name="Google Shape;966;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7" name="Google Shape;967;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68" name="Google Shape;968;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9" name="Google Shape;969;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70" name="Google Shape;970;p13"/>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1" name="Google Shape;971;p13"/>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2" name="Google Shape;972;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3" name="Google Shape;973;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974" name="Google Shape;974;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5" name="Google Shape;975;p13"/>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976" name="Google Shape;976;p13"/>
          <p:cNvSpPr/>
          <p:nvPr/>
        </p:nvSpPr>
        <p:spPr>
          <a:xfrm>
            <a:off x="4341668" y="5696917"/>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977" name="Google Shape;977;p13"/>
          <p:cNvCxnSpPr/>
          <p:nvPr/>
        </p:nvCxnSpPr>
        <p:spPr>
          <a:xfrm flipH="1" rot="10800000">
            <a:off x="5011593" y="5847730"/>
            <a:ext cx="1316037" cy="131762"/>
          </a:xfrm>
          <a:prstGeom prst="straightConnector1">
            <a:avLst/>
          </a:prstGeom>
          <a:noFill/>
          <a:ln cap="flat" cmpd="sng" w="12700">
            <a:solidFill>
              <a:srgbClr val="000000"/>
            </a:solidFill>
            <a:prstDash val="solid"/>
            <a:round/>
            <a:headEnd len="sm" w="sm" type="none"/>
            <a:tailEnd len="sm" w="sm" type="none"/>
          </a:ln>
        </p:spPr>
      </p:cxnSp>
      <p:cxnSp>
        <p:nvCxnSpPr>
          <p:cNvPr id="978" name="Google Shape;978;p13"/>
          <p:cNvCxnSpPr/>
          <p:nvPr/>
        </p:nvCxnSpPr>
        <p:spPr>
          <a:xfrm>
            <a:off x="4900468" y="6035055"/>
            <a:ext cx="2259012" cy="298450"/>
          </a:xfrm>
          <a:prstGeom prst="straightConnector1">
            <a:avLst/>
          </a:prstGeom>
          <a:noFill/>
          <a:ln cap="flat" cmpd="sng" w="12700">
            <a:solidFill>
              <a:srgbClr val="000000"/>
            </a:solidFill>
            <a:prstDash val="solid"/>
            <a:round/>
            <a:headEnd len="sm" w="sm" type="none"/>
            <a:tailEnd len="sm" w="sm" type="none"/>
          </a:ln>
        </p:spPr>
      </p:cxnSp>
      <p:cxnSp>
        <p:nvCxnSpPr>
          <p:cNvPr id="979" name="Google Shape;979;p13"/>
          <p:cNvCxnSpPr/>
          <p:nvPr/>
        </p:nvCxnSpPr>
        <p:spPr>
          <a:xfrm>
            <a:off x="4913168" y="6139830"/>
            <a:ext cx="714375" cy="276225"/>
          </a:xfrm>
          <a:prstGeom prst="straightConnector1">
            <a:avLst/>
          </a:prstGeom>
          <a:noFill/>
          <a:ln cap="flat" cmpd="sng" w="12700">
            <a:solidFill>
              <a:srgbClr val="000000"/>
            </a:solidFill>
            <a:prstDash val="solid"/>
            <a:round/>
            <a:headEnd len="sm" w="sm" type="none"/>
            <a:tailEnd len="sm" w="sm" type="none"/>
          </a:ln>
        </p:spPr>
      </p:cxnSp>
      <p:cxnSp>
        <p:nvCxnSpPr>
          <p:cNvPr id="980" name="Google Shape;980;p13"/>
          <p:cNvCxnSpPr/>
          <p:nvPr/>
        </p:nvCxnSpPr>
        <p:spPr>
          <a:xfrm flipH="1" rot="10800000">
            <a:off x="5930755" y="6333505"/>
            <a:ext cx="1247775" cy="82550"/>
          </a:xfrm>
          <a:prstGeom prst="straightConnector1">
            <a:avLst/>
          </a:prstGeom>
          <a:noFill/>
          <a:ln cap="flat" cmpd="sng" w="12700">
            <a:solidFill>
              <a:srgbClr val="000000"/>
            </a:solidFill>
            <a:prstDash val="solid"/>
            <a:round/>
            <a:headEnd len="sm" w="sm" type="none"/>
            <a:tailEnd len="sm" w="sm" type="none"/>
          </a:ln>
        </p:spPr>
      </p:cxnSp>
      <p:cxnSp>
        <p:nvCxnSpPr>
          <p:cNvPr id="981" name="Google Shape;981;p13"/>
          <p:cNvCxnSpPr/>
          <p:nvPr/>
        </p:nvCxnSpPr>
        <p:spPr>
          <a:xfrm>
            <a:off x="6591155" y="5881067"/>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982" name="Google Shape;982;p13"/>
          <p:cNvCxnSpPr/>
          <p:nvPr/>
        </p:nvCxnSpPr>
        <p:spPr>
          <a:xfrm flipH="1" rot="10800000">
            <a:off x="5875193" y="6035055"/>
            <a:ext cx="1790700" cy="298450"/>
          </a:xfrm>
          <a:prstGeom prst="straightConnector1">
            <a:avLst/>
          </a:prstGeom>
          <a:noFill/>
          <a:ln cap="flat" cmpd="sng" w="12700">
            <a:solidFill>
              <a:srgbClr val="000000"/>
            </a:solidFill>
            <a:prstDash val="solid"/>
            <a:round/>
            <a:headEnd len="sm" w="sm" type="none"/>
            <a:tailEnd len="sm" w="sm" type="none"/>
          </a:ln>
        </p:spPr>
      </p:cxnSp>
      <p:cxnSp>
        <p:nvCxnSpPr>
          <p:cNvPr id="983" name="Google Shape;983;p13"/>
          <p:cNvCxnSpPr/>
          <p:nvPr/>
        </p:nvCxnSpPr>
        <p:spPr>
          <a:xfrm flipH="1" rot="10800000">
            <a:off x="7202343" y="6063630"/>
            <a:ext cx="588962" cy="269875"/>
          </a:xfrm>
          <a:prstGeom prst="straightConnector1">
            <a:avLst/>
          </a:prstGeom>
          <a:noFill/>
          <a:ln cap="flat" cmpd="sng" w="12700">
            <a:solidFill>
              <a:srgbClr val="000000"/>
            </a:solidFill>
            <a:prstDash val="solid"/>
            <a:round/>
            <a:headEnd len="sm" w="sm" type="none"/>
            <a:tailEnd len="sm" w="sm" type="none"/>
          </a:ln>
        </p:spPr>
      </p:cxnSp>
      <p:cxnSp>
        <p:nvCxnSpPr>
          <p:cNvPr id="984" name="Google Shape;984;p13"/>
          <p:cNvCxnSpPr/>
          <p:nvPr/>
        </p:nvCxnSpPr>
        <p:spPr>
          <a:xfrm>
            <a:off x="6345093" y="5847730"/>
            <a:ext cx="814387" cy="401637"/>
          </a:xfrm>
          <a:prstGeom prst="straightConnector1">
            <a:avLst/>
          </a:prstGeom>
          <a:noFill/>
          <a:ln cap="flat" cmpd="sng" w="12700">
            <a:solidFill>
              <a:srgbClr val="000000"/>
            </a:solidFill>
            <a:prstDash val="solid"/>
            <a:round/>
            <a:headEnd len="sm" w="sm" type="none"/>
            <a:tailEnd len="sm" w="sm" type="none"/>
          </a:ln>
        </p:spPr>
      </p:cxnSp>
      <p:grpSp>
        <p:nvGrpSpPr>
          <p:cNvPr id="985" name="Google Shape;985;p13"/>
          <p:cNvGrpSpPr/>
          <p:nvPr/>
        </p:nvGrpSpPr>
        <p:grpSpPr>
          <a:xfrm>
            <a:off x="3274868" y="2950542"/>
            <a:ext cx="6978650" cy="1096963"/>
            <a:chOff x="1526216" y="3003498"/>
            <a:chExt cx="6978041" cy="1096962"/>
          </a:xfrm>
        </p:grpSpPr>
        <p:sp>
          <p:nvSpPr>
            <p:cNvPr id="986" name="Google Shape;986;p13"/>
            <p:cNvSpPr txBox="1"/>
            <p:nvPr/>
          </p:nvSpPr>
          <p:spPr>
            <a:xfrm>
              <a:off x="7714291" y="3628973"/>
              <a:ext cx="595313"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sp>
          <p:nvSpPr>
            <p:cNvPr id="987" name="Google Shape;987;p13"/>
            <p:cNvSpPr txBox="1"/>
            <p:nvPr/>
          </p:nvSpPr>
          <p:spPr>
            <a:xfrm>
              <a:off x="7728579" y="3003498"/>
              <a:ext cx="709612" cy="471487"/>
            </a:xfrm>
            <a:prstGeom prst="rect">
              <a:avLst/>
            </a:prstGeom>
            <a:noFill/>
            <a:ln>
              <a:noFill/>
            </a:ln>
          </p:spPr>
          <p:txBody>
            <a:bodyPr anchorCtr="0" anchor="t" bIns="45700" lIns="91425" spcFirstLastPara="1" rIns="91425" wrap="square" tIns="45700">
              <a:spAutoFit/>
            </a:bodyPr>
            <a:lstStyle/>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a:t>
              </a:r>
              <a:endParaRPr/>
            </a:p>
            <a:p>
              <a:pPr indent="0" lvl="0" marL="0" marR="0" rtl="0" algn="ctr">
                <a:lnSpc>
                  <a:spcPct val="104499"/>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plane</a:t>
              </a:r>
              <a:endParaRPr/>
            </a:p>
          </p:txBody>
        </p:sp>
        <p:cxnSp>
          <p:nvCxnSpPr>
            <p:cNvPr id="988" name="Google Shape;988;p13"/>
            <p:cNvCxnSpPr/>
            <p:nvPr/>
          </p:nvCxnSpPr>
          <p:spPr>
            <a:xfrm flipH="1" rot="10800000">
              <a:off x="1526216" y="3579760"/>
              <a:ext cx="6978041" cy="11112"/>
            </a:xfrm>
            <a:prstGeom prst="straightConnector1">
              <a:avLst/>
            </a:prstGeom>
            <a:noFill/>
            <a:ln cap="flat" cmpd="sng" w="25400">
              <a:solidFill>
                <a:srgbClr val="000000"/>
              </a:solidFill>
              <a:prstDash val="dash"/>
              <a:round/>
              <a:headEnd len="sm" w="sm" type="none"/>
              <a:tailEnd len="sm" w="sm" type="none"/>
            </a:ln>
          </p:spPr>
        </p:cxnSp>
      </p:grpSp>
      <p:grpSp>
        <p:nvGrpSpPr>
          <p:cNvPr id="989" name="Google Shape;989;p13"/>
          <p:cNvGrpSpPr/>
          <p:nvPr/>
        </p:nvGrpSpPr>
        <p:grpSpPr>
          <a:xfrm>
            <a:off x="4186093" y="2682255"/>
            <a:ext cx="4295775" cy="320675"/>
            <a:chOff x="2433511" y="2792111"/>
            <a:chExt cx="4296530" cy="320561"/>
          </a:xfrm>
        </p:grpSpPr>
        <p:grpSp>
          <p:nvGrpSpPr>
            <p:cNvPr id="990" name="Google Shape;990;p13"/>
            <p:cNvGrpSpPr/>
            <p:nvPr/>
          </p:nvGrpSpPr>
          <p:grpSpPr>
            <a:xfrm>
              <a:off x="2433511" y="2793697"/>
              <a:ext cx="349311" cy="317387"/>
              <a:chOff x="2931664" y="3912203"/>
              <a:chExt cx="430525" cy="329314"/>
            </a:xfrm>
          </p:grpSpPr>
          <p:sp>
            <p:nvSpPr>
              <p:cNvPr id="991" name="Google Shape;991;p13"/>
              <p:cNvSpPr/>
              <p:nvPr/>
            </p:nvSpPr>
            <p:spPr>
              <a:xfrm>
                <a:off x="2937534" y="3912203"/>
                <a:ext cx="424655"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992" name="Google Shape;992;p13"/>
              <p:cNvCxnSpPr/>
              <p:nvPr/>
            </p:nvCxnSpPr>
            <p:spPr>
              <a:xfrm>
                <a:off x="2931664" y="4004411"/>
                <a:ext cx="424654" cy="0"/>
              </a:xfrm>
              <a:prstGeom prst="straightConnector1">
                <a:avLst/>
              </a:prstGeom>
              <a:noFill/>
              <a:ln cap="flat" cmpd="sng" w="9525">
                <a:solidFill>
                  <a:srgbClr val="CC0000"/>
                </a:solidFill>
                <a:prstDash val="solid"/>
                <a:round/>
                <a:headEnd len="sm" w="sm" type="none"/>
                <a:tailEnd len="sm" w="sm" type="none"/>
              </a:ln>
            </p:spPr>
          </p:cxnSp>
          <p:cxnSp>
            <p:nvCxnSpPr>
              <p:cNvPr id="993" name="Google Shape;993;p13"/>
              <p:cNvCxnSpPr/>
              <p:nvPr/>
            </p:nvCxnSpPr>
            <p:spPr>
              <a:xfrm>
                <a:off x="2931664" y="4066980"/>
                <a:ext cx="424654" cy="0"/>
              </a:xfrm>
              <a:prstGeom prst="straightConnector1">
                <a:avLst/>
              </a:prstGeom>
              <a:noFill/>
              <a:ln cap="flat" cmpd="sng" w="9525">
                <a:solidFill>
                  <a:srgbClr val="CC0000"/>
                </a:solidFill>
                <a:prstDash val="solid"/>
                <a:round/>
                <a:headEnd len="sm" w="sm" type="none"/>
                <a:tailEnd len="sm" w="sm" type="none"/>
              </a:ln>
            </p:spPr>
          </p:cxnSp>
          <p:cxnSp>
            <p:nvCxnSpPr>
              <p:cNvPr id="994" name="Google Shape;994;p13"/>
              <p:cNvCxnSpPr>
                <a:stCxn id="991" idx="2"/>
              </p:cNvCxnSpPr>
              <p:nvPr/>
            </p:nvCxnSpPr>
            <p:spPr>
              <a:xfrm rot="10800000">
                <a:off x="3149862" y="4004517"/>
                <a:ext cx="0" cy="237000"/>
              </a:xfrm>
              <a:prstGeom prst="straightConnector1">
                <a:avLst/>
              </a:prstGeom>
              <a:noFill/>
              <a:ln cap="flat" cmpd="sng" w="9525">
                <a:solidFill>
                  <a:srgbClr val="CC0000"/>
                </a:solidFill>
                <a:prstDash val="solid"/>
                <a:round/>
                <a:headEnd len="sm" w="sm" type="none"/>
                <a:tailEnd len="sm" w="sm" type="none"/>
              </a:ln>
            </p:spPr>
          </p:cxnSp>
        </p:grpSp>
        <p:grpSp>
          <p:nvGrpSpPr>
            <p:cNvPr id="995" name="Google Shape;995;p13"/>
            <p:cNvGrpSpPr/>
            <p:nvPr/>
          </p:nvGrpSpPr>
          <p:grpSpPr>
            <a:xfrm>
              <a:off x="3348072" y="2792111"/>
              <a:ext cx="350899" cy="317387"/>
              <a:chOff x="2930935" y="3912603"/>
              <a:chExt cx="430525" cy="329314"/>
            </a:xfrm>
          </p:grpSpPr>
          <p:sp>
            <p:nvSpPr>
              <p:cNvPr id="996" name="Google Shape;996;p13"/>
              <p:cNvSpPr/>
              <p:nvPr/>
            </p:nvSpPr>
            <p:spPr>
              <a:xfrm>
                <a:off x="2936779" y="3912603"/>
                <a:ext cx="424681"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997" name="Google Shape;997;p13"/>
              <p:cNvCxnSpPr/>
              <p:nvPr/>
            </p:nvCxnSpPr>
            <p:spPr>
              <a:xfrm>
                <a:off x="2930935" y="4004811"/>
                <a:ext cx="424681" cy="0"/>
              </a:xfrm>
              <a:prstGeom prst="straightConnector1">
                <a:avLst/>
              </a:prstGeom>
              <a:noFill/>
              <a:ln cap="flat" cmpd="sng" w="9525">
                <a:solidFill>
                  <a:srgbClr val="CC0000"/>
                </a:solidFill>
                <a:prstDash val="solid"/>
                <a:round/>
                <a:headEnd len="sm" w="sm" type="none"/>
                <a:tailEnd len="sm" w="sm" type="none"/>
              </a:ln>
            </p:spPr>
          </p:cxnSp>
          <p:cxnSp>
            <p:nvCxnSpPr>
              <p:cNvPr id="998" name="Google Shape;998;p13"/>
              <p:cNvCxnSpPr/>
              <p:nvPr/>
            </p:nvCxnSpPr>
            <p:spPr>
              <a:xfrm>
                <a:off x="2930935" y="4067381"/>
                <a:ext cx="424681" cy="0"/>
              </a:xfrm>
              <a:prstGeom prst="straightConnector1">
                <a:avLst/>
              </a:prstGeom>
              <a:noFill/>
              <a:ln cap="flat" cmpd="sng" w="9525">
                <a:solidFill>
                  <a:srgbClr val="CC0000"/>
                </a:solidFill>
                <a:prstDash val="solid"/>
                <a:round/>
                <a:headEnd len="sm" w="sm" type="none"/>
                <a:tailEnd len="sm" w="sm" type="none"/>
              </a:ln>
            </p:spPr>
          </p:cxnSp>
          <p:cxnSp>
            <p:nvCxnSpPr>
              <p:cNvPr id="999" name="Google Shape;999;p13"/>
              <p:cNvCxnSpPr>
                <a:stCxn id="996" idx="2"/>
              </p:cNvCxnSpPr>
              <p:nvPr/>
            </p:nvCxnSpPr>
            <p:spPr>
              <a:xfrm rot="10800000">
                <a:off x="3147320" y="4004917"/>
                <a:ext cx="1800" cy="237000"/>
              </a:xfrm>
              <a:prstGeom prst="straightConnector1">
                <a:avLst/>
              </a:prstGeom>
              <a:noFill/>
              <a:ln cap="flat" cmpd="sng" w="9525">
                <a:solidFill>
                  <a:srgbClr val="CC0000"/>
                </a:solidFill>
                <a:prstDash val="solid"/>
                <a:round/>
                <a:headEnd len="sm" w="sm" type="none"/>
                <a:tailEnd len="sm" w="sm" type="none"/>
              </a:ln>
            </p:spPr>
          </p:cxnSp>
        </p:grpSp>
        <p:grpSp>
          <p:nvGrpSpPr>
            <p:cNvPr id="1000" name="Google Shape;1000;p13"/>
            <p:cNvGrpSpPr/>
            <p:nvPr/>
          </p:nvGrpSpPr>
          <p:grpSpPr>
            <a:xfrm>
              <a:off x="4181655" y="2792111"/>
              <a:ext cx="350900" cy="317387"/>
              <a:chOff x="2931113" y="3912603"/>
              <a:chExt cx="430527" cy="329314"/>
            </a:xfrm>
          </p:grpSpPr>
          <p:sp>
            <p:nvSpPr>
              <p:cNvPr id="1001" name="Google Shape;1001;p13"/>
              <p:cNvSpPr/>
              <p:nvPr/>
            </p:nvSpPr>
            <p:spPr>
              <a:xfrm>
                <a:off x="2936958" y="3912603"/>
                <a:ext cx="424682"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02" name="Google Shape;1002;p13"/>
              <p:cNvCxnSpPr/>
              <p:nvPr/>
            </p:nvCxnSpPr>
            <p:spPr>
              <a:xfrm>
                <a:off x="2931113" y="4004811"/>
                <a:ext cx="424682" cy="0"/>
              </a:xfrm>
              <a:prstGeom prst="straightConnector1">
                <a:avLst/>
              </a:prstGeom>
              <a:noFill/>
              <a:ln cap="flat" cmpd="sng" w="9525">
                <a:solidFill>
                  <a:srgbClr val="CC0000"/>
                </a:solidFill>
                <a:prstDash val="solid"/>
                <a:round/>
                <a:headEnd len="sm" w="sm" type="none"/>
                <a:tailEnd len="sm" w="sm" type="none"/>
              </a:ln>
            </p:spPr>
          </p:cxnSp>
          <p:cxnSp>
            <p:nvCxnSpPr>
              <p:cNvPr id="1003" name="Google Shape;1003;p13"/>
              <p:cNvCxnSpPr/>
              <p:nvPr/>
            </p:nvCxnSpPr>
            <p:spPr>
              <a:xfrm>
                <a:off x="2931113" y="4067381"/>
                <a:ext cx="424682" cy="0"/>
              </a:xfrm>
              <a:prstGeom prst="straightConnector1">
                <a:avLst/>
              </a:prstGeom>
              <a:noFill/>
              <a:ln cap="flat" cmpd="sng" w="9525">
                <a:solidFill>
                  <a:srgbClr val="CC0000"/>
                </a:solidFill>
                <a:prstDash val="solid"/>
                <a:round/>
                <a:headEnd len="sm" w="sm" type="none"/>
                <a:tailEnd len="sm" w="sm" type="none"/>
              </a:ln>
            </p:spPr>
          </p:cxnSp>
          <p:cxnSp>
            <p:nvCxnSpPr>
              <p:cNvPr id="1004" name="Google Shape;1004;p13"/>
              <p:cNvCxnSpPr>
                <a:stCxn id="1001" idx="2"/>
              </p:cNvCxnSpPr>
              <p:nvPr/>
            </p:nvCxnSpPr>
            <p:spPr>
              <a:xfrm rot="10800000">
                <a:off x="3147499" y="4004917"/>
                <a:ext cx="1800" cy="237000"/>
              </a:xfrm>
              <a:prstGeom prst="straightConnector1">
                <a:avLst/>
              </a:prstGeom>
              <a:noFill/>
              <a:ln cap="flat" cmpd="sng" w="9525">
                <a:solidFill>
                  <a:srgbClr val="CC0000"/>
                </a:solidFill>
                <a:prstDash val="solid"/>
                <a:round/>
                <a:headEnd len="sm" w="sm" type="none"/>
                <a:tailEnd len="sm" w="sm" type="none"/>
              </a:ln>
            </p:spPr>
          </p:cxnSp>
        </p:grpSp>
        <p:grpSp>
          <p:nvGrpSpPr>
            <p:cNvPr id="1005" name="Google Shape;1005;p13"/>
            <p:cNvGrpSpPr/>
            <p:nvPr/>
          </p:nvGrpSpPr>
          <p:grpSpPr>
            <a:xfrm>
              <a:off x="5374078" y="2795285"/>
              <a:ext cx="349311" cy="317387"/>
              <a:chOff x="2931371" y="3912603"/>
              <a:chExt cx="430525" cy="329314"/>
            </a:xfrm>
          </p:grpSpPr>
          <p:sp>
            <p:nvSpPr>
              <p:cNvPr id="1006" name="Google Shape;1006;p13"/>
              <p:cNvSpPr/>
              <p:nvPr/>
            </p:nvSpPr>
            <p:spPr>
              <a:xfrm>
                <a:off x="2937241" y="3912603"/>
                <a:ext cx="424655"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07" name="Google Shape;1007;p13"/>
              <p:cNvCxnSpPr/>
              <p:nvPr/>
            </p:nvCxnSpPr>
            <p:spPr>
              <a:xfrm>
                <a:off x="2931371" y="4004811"/>
                <a:ext cx="424654" cy="0"/>
              </a:xfrm>
              <a:prstGeom prst="straightConnector1">
                <a:avLst/>
              </a:prstGeom>
              <a:noFill/>
              <a:ln cap="flat" cmpd="sng" w="9525">
                <a:solidFill>
                  <a:srgbClr val="CC0000"/>
                </a:solidFill>
                <a:prstDash val="solid"/>
                <a:round/>
                <a:headEnd len="sm" w="sm" type="none"/>
                <a:tailEnd len="sm" w="sm" type="none"/>
              </a:ln>
            </p:spPr>
          </p:cxnSp>
          <p:cxnSp>
            <p:nvCxnSpPr>
              <p:cNvPr id="1008" name="Google Shape;1008;p13"/>
              <p:cNvCxnSpPr/>
              <p:nvPr/>
            </p:nvCxnSpPr>
            <p:spPr>
              <a:xfrm>
                <a:off x="2931371" y="4067381"/>
                <a:ext cx="424654" cy="0"/>
              </a:xfrm>
              <a:prstGeom prst="straightConnector1">
                <a:avLst/>
              </a:prstGeom>
              <a:noFill/>
              <a:ln cap="flat" cmpd="sng" w="9525">
                <a:solidFill>
                  <a:srgbClr val="CC0000"/>
                </a:solidFill>
                <a:prstDash val="solid"/>
                <a:round/>
                <a:headEnd len="sm" w="sm" type="none"/>
                <a:tailEnd len="sm" w="sm" type="none"/>
              </a:ln>
            </p:spPr>
          </p:cxnSp>
          <p:cxnSp>
            <p:nvCxnSpPr>
              <p:cNvPr id="1009" name="Google Shape;1009;p13"/>
              <p:cNvCxnSpPr>
                <a:stCxn id="1006" idx="2"/>
              </p:cNvCxnSpPr>
              <p:nvPr/>
            </p:nvCxnSpPr>
            <p:spPr>
              <a:xfrm rot="10800000">
                <a:off x="3149569" y="4004917"/>
                <a:ext cx="0" cy="237000"/>
              </a:xfrm>
              <a:prstGeom prst="straightConnector1">
                <a:avLst/>
              </a:prstGeom>
              <a:noFill/>
              <a:ln cap="flat" cmpd="sng" w="9525">
                <a:solidFill>
                  <a:srgbClr val="CC0000"/>
                </a:solidFill>
                <a:prstDash val="solid"/>
                <a:round/>
                <a:headEnd len="sm" w="sm" type="none"/>
                <a:tailEnd len="sm" w="sm" type="none"/>
              </a:ln>
            </p:spPr>
          </p:cxnSp>
        </p:grpSp>
        <p:grpSp>
          <p:nvGrpSpPr>
            <p:cNvPr id="1010" name="Google Shape;1010;p13"/>
            <p:cNvGrpSpPr/>
            <p:nvPr/>
          </p:nvGrpSpPr>
          <p:grpSpPr>
            <a:xfrm>
              <a:off x="6379141" y="2792111"/>
              <a:ext cx="350900" cy="317387"/>
              <a:chOff x="2931587" y="3912603"/>
              <a:chExt cx="430527" cy="329314"/>
            </a:xfrm>
          </p:grpSpPr>
          <p:sp>
            <p:nvSpPr>
              <p:cNvPr id="1011" name="Google Shape;1011;p13"/>
              <p:cNvSpPr/>
              <p:nvPr/>
            </p:nvSpPr>
            <p:spPr>
              <a:xfrm>
                <a:off x="2937432" y="3912603"/>
                <a:ext cx="424682" cy="329314"/>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12" name="Google Shape;1012;p13"/>
              <p:cNvCxnSpPr/>
              <p:nvPr/>
            </p:nvCxnSpPr>
            <p:spPr>
              <a:xfrm>
                <a:off x="2931587" y="4004811"/>
                <a:ext cx="424682" cy="0"/>
              </a:xfrm>
              <a:prstGeom prst="straightConnector1">
                <a:avLst/>
              </a:prstGeom>
              <a:noFill/>
              <a:ln cap="flat" cmpd="sng" w="9525">
                <a:solidFill>
                  <a:srgbClr val="CC0000"/>
                </a:solidFill>
                <a:prstDash val="solid"/>
                <a:round/>
                <a:headEnd len="sm" w="sm" type="none"/>
                <a:tailEnd len="sm" w="sm" type="none"/>
              </a:ln>
            </p:spPr>
          </p:cxnSp>
          <p:cxnSp>
            <p:nvCxnSpPr>
              <p:cNvPr id="1013" name="Google Shape;1013;p13"/>
              <p:cNvCxnSpPr/>
              <p:nvPr/>
            </p:nvCxnSpPr>
            <p:spPr>
              <a:xfrm>
                <a:off x="2931587" y="4067381"/>
                <a:ext cx="424682" cy="0"/>
              </a:xfrm>
              <a:prstGeom prst="straightConnector1">
                <a:avLst/>
              </a:prstGeom>
              <a:noFill/>
              <a:ln cap="flat" cmpd="sng" w="9525">
                <a:solidFill>
                  <a:srgbClr val="CC0000"/>
                </a:solidFill>
                <a:prstDash val="solid"/>
                <a:round/>
                <a:headEnd len="sm" w="sm" type="none"/>
                <a:tailEnd len="sm" w="sm" type="none"/>
              </a:ln>
            </p:spPr>
          </p:cxnSp>
          <p:cxnSp>
            <p:nvCxnSpPr>
              <p:cNvPr id="1014" name="Google Shape;1014;p13"/>
              <p:cNvCxnSpPr>
                <a:stCxn id="1011" idx="2"/>
              </p:cNvCxnSpPr>
              <p:nvPr/>
            </p:nvCxnSpPr>
            <p:spPr>
              <a:xfrm rot="10800000">
                <a:off x="3147973" y="4004917"/>
                <a:ext cx="1800" cy="237000"/>
              </a:xfrm>
              <a:prstGeom prst="straightConnector1">
                <a:avLst/>
              </a:prstGeom>
              <a:noFill/>
              <a:ln cap="flat" cmpd="sng" w="9525">
                <a:solidFill>
                  <a:srgbClr val="CC0000"/>
                </a:solidFill>
                <a:prstDash val="solid"/>
                <a:round/>
                <a:headEnd len="sm" w="sm" type="none"/>
                <a:tailEnd len="sm" w="sm" type="none"/>
              </a:ln>
            </p:spPr>
          </p:cxnSp>
        </p:grpSp>
      </p:grpSp>
      <p:grpSp>
        <p:nvGrpSpPr>
          <p:cNvPr id="1015" name="Google Shape;1015;p13"/>
          <p:cNvGrpSpPr/>
          <p:nvPr/>
        </p:nvGrpSpPr>
        <p:grpSpPr>
          <a:xfrm>
            <a:off x="3605068" y="3656980"/>
            <a:ext cx="5211762" cy="2740025"/>
            <a:chOff x="1856416" y="3709935"/>
            <a:chExt cx="5211763" cy="2739614"/>
          </a:xfrm>
        </p:grpSpPr>
        <p:sp>
          <p:nvSpPr>
            <p:cNvPr id="1016" name="Google Shape;1016;p13"/>
            <p:cNvSpPr/>
            <p:nvPr/>
          </p:nvSpPr>
          <p:spPr>
            <a:xfrm>
              <a:off x="1877053" y="5330529"/>
              <a:ext cx="1281113" cy="758711"/>
            </a:xfrm>
            <a:custGeom>
              <a:rect b="b" l="l" r="r" t="t"/>
              <a:pathLst>
                <a:path extrusionOk="0" h="759828" w="1280499">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7" name="Google Shape;1017;p13"/>
            <p:cNvSpPr/>
            <p:nvPr/>
          </p:nvSpPr>
          <p:spPr>
            <a:xfrm>
              <a:off x="6202992" y="5428939"/>
              <a:ext cx="865187" cy="553955"/>
            </a:xfrm>
            <a:custGeom>
              <a:rect b="b" l="l" r="r" t="t"/>
              <a:pathLst>
                <a:path extrusionOk="0" h="553361" w="86625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8" name="Google Shape;1018;p13"/>
            <p:cNvSpPr/>
            <p:nvPr/>
          </p:nvSpPr>
          <p:spPr>
            <a:xfrm>
              <a:off x="5377492" y="5449574"/>
              <a:ext cx="676275" cy="896802"/>
            </a:xfrm>
            <a:custGeom>
              <a:rect b="b" l="l" r="r" t="t"/>
              <a:pathLst>
                <a:path extrusionOk="0" h="896577" w="675040">
                  <a:moveTo>
                    <a:pt x="0" y="894029"/>
                  </a:moveTo>
                  <a:cubicBezTo>
                    <a:pt x="95638" y="409857"/>
                    <a:pt x="76811" y="618448"/>
                    <a:pt x="186623" y="1724"/>
                  </a:cubicBezTo>
                  <a:cubicBezTo>
                    <a:pt x="431451" y="14348"/>
                    <a:pt x="449377" y="35256"/>
                    <a:pt x="675040" y="0"/>
                  </a:cubicBezTo>
                  <a:cubicBezTo>
                    <a:pt x="276172" y="749497"/>
                    <a:pt x="462801" y="344746"/>
                    <a:pt x="179079" y="886531"/>
                  </a:cubicBezTo>
                  <a:cubicBezTo>
                    <a:pt x="44794" y="857895"/>
                    <a:pt x="92525" y="908114"/>
                    <a:pt x="0" y="894029"/>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19" name="Google Shape;1019;p13"/>
            <p:cNvSpPr/>
            <p:nvPr/>
          </p:nvSpPr>
          <p:spPr>
            <a:xfrm>
              <a:off x="4340853" y="5470208"/>
              <a:ext cx="514350" cy="401578"/>
            </a:xfrm>
            <a:custGeom>
              <a:rect b="b" l="l" r="r" t="t"/>
              <a:pathLst>
                <a:path extrusionOk="0" h="402193" w="514180">
                  <a:moveTo>
                    <a:pt x="100781" y="402193"/>
                  </a:moveTo>
                  <a:cubicBezTo>
                    <a:pt x="60584" y="194221"/>
                    <a:pt x="96631" y="442038"/>
                    <a:pt x="0" y="0"/>
                  </a:cubicBezTo>
                  <a:lnTo>
                    <a:pt x="514180" y="10891"/>
                  </a:lnTo>
                  <a:cubicBezTo>
                    <a:pt x="417353" y="348331"/>
                    <a:pt x="491637" y="89943"/>
                    <a:pt x="404259" y="386400"/>
                  </a:cubicBezTo>
                  <a:cubicBezTo>
                    <a:pt x="357814" y="390704"/>
                    <a:pt x="168880" y="400727"/>
                    <a:pt x="100781" y="402193"/>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0" name="Google Shape;1020;p13"/>
            <p:cNvSpPr/>
            <p:nvPr/>
          </p:nvSpPr>
          <p:spPr>
            <a:xfrm>
              <a:off x="3561391" y="5433701"/>
              <a:ext cx="573087" cy="1015848"/>
            </a:xfrm>
            <a:custGeom>
              <a:rect b="b" l="l" r="r" t="t"/>
              <a:pathLst>
                <a:path extrusionOk="0" h="1015244" w="574100">
                  <a:moveTo>
                    <a:pt x="333190" y="985695"/>
                  </a:moveTo>
                  <a:cubicBezTo>
                    <a:pt x="153901" y="433090"/>
                    <a:pt x="295574" y="908506"/>
                    <a:pt x="0" y="4757"/>
                  </a:cubicBezTo>
                  <a:cubicBezTo>
                    <a:pt x="166537" y="861"/>
                    <a:pt x="336246" y="3896"/>
                    <a:pt x="502783" y="0"/>
                  </a:cubicBezTo>
                  <a:cubicBezTo>
                    <a:pt x="555943" y="995541"/>
                    <a:pt x="537473" y="350120"/>
                    <a:pt x="574100" y="1014877"/>
                  </a:cubicBezTo>
                  <a:cubicBezTo>
                    <a:pt x="476415" y="1019182"/>
                    <a:pt x="529388" y="984229"/>
                    <a:pt x="333190" y="985695"/>
                  </a:cubicBezTo>
                  <a:close/>
                </a:path>
              </a:pathLst>
            </a:custGeom>
            <a:gradFill>
              <a:gsLst>
                <a:gs pos="0">
                  <a:srgbClr val="F2F2F2">
                    <a:alpha val="54901"/>
                  </a:srgbClr>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1021" name="Google Shape;1021;p13"/>
            <p:cNvGrpSpPr/>
            <p:nvPr/>
          </p:nvGrpSpPr>
          <p:grpSpPr>
            <a:xfrm>
              <a:off x="1856416" y="3709935"/>
              <a:ext cx="1049337" cy="1739639"/>
              <a:chOff x="1856416" y="3709935"/>
              <a:chExt cx="1049337" cy="1739639"/>
            </a:xfrm>
          </p:grpSpPr>
          <p:sp>
            <p:nvSpPr>
              <p:cNvPr id="1022" name="Google Shape;1022;p13"/>
              <p:cNvSpPr/>
              <p:nvPr/>
            </p:nvSpPr>
            <p:spPr>
              <a:xfrm rot="10800000">
                <a:off x="1867528" y="3957548"/>
                <a:ext cx="1027113" cy="61109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1023" name="Google Shape;1023;p13"/>
              <p:cNvGrpSpPr/>
              <p:nvPr/>
            </p:nvGrpSpPr>
            <p:grpSpPr>
              <a:xfrm>
                <a:off x="1859590" y="5089265"/>
                <a:ext cx="1035050" cy="360309"/>
                <a:chOff x="4129067" y="3606966"/>
                <a:chExt cx="567968" cy="338045"/>
              </a:xfrm>
            </p:grpSpPr>
            <p:sp>
              <p:nvSpPr>
                <p:cNvPr id="1024" name="Google Shape;1024;p13"/>
                <p:cNvSpPr/>
                <p:nvPr/>
              </p:nvSpPr>
              <p:spPr>
                <a:xfrm>
                  <a:off x="4129067" y="3720144"/>
                  <a:ext cx="567968" cy="22486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5" name="Google Shape;1025;p13"/>
                <p:cNvSpPr/>
                <p:nvPr/>
              </p:nvSpPr>
              <p:spPr>
                <a:xfrm>
                  <a:off x="4129067" y="3720144"/>
                  <a:ext cx="567968" cy="111689"/>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26" name="Google Shape;1026;p13"/>
                <p:cNvSpPr/>
                <p:nvPr/>
              </p:nvSpPr>
              <p:spPr>
                <a:xfrm>
                  <a:off x="4129067" y="3606966"/>
                  <a:ext cx="567968" cy="224867"/>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27" name="Google Shape;1027;p13"/>
                <p:cNvCxnSpPr/>
                <p:nvPr/>
              </p:nvCxnSpPr>
              <p:spPr>
                <a:xfrm>
                  <a:off x="4697035" y="3720144"/>
                  <a:ext cx="0" cy="111689"/>
                </a:xfrm>
                <a:prstGeom prst="straightConnector1">
                  <a:avLst/>
                </a:prstGeom>
                <a:noFill/>
                <a:ln cap="flat" cmpd="sng" w="9525">
                  <a:solidFill>
                    <a:srgbClr val="000000"/>
                  </a:solidFill>
                  <a:prstDash val="solid"/>
                  <a:round/>
                  <a:headEnd len="sm" w="sm" type="none"/>
                  <a:tailEnd len="sm" w="sm" type="none"/>
                </a:ln>
              </p:spPr>
            </p:cxnSp>
            <p:cxnSp>
              <p:nvCxnSpPr>
                <p:cNvPr id="1028" name="Google Shape;1028;p13"/>
                <p:cNvCxnSpPr/>
                <p:nvPr/>
              </p:nvCxnSpPr>
              <p:spPr>
                <a:xfrm>
                  <a:off x="4129067" y="3720144"/>
                  <a:ext cx="0" cy="111689"/>
                </a:xfrm>
                <a:prstGeom prst="straightConnector1">
                  <a:avLst/>
                </a:prstGeom>
                <a:noFill/>
                <a:ln cap="flat" cmpd="sng" w="9525">
                  <a:solidFill>
                    <a:srgbClr val="000000"/>
                  </a:solidFill>
                  <a:prstDash val="solid"/>
                  <a:round/>
                  <a:headEnd len="sm" w="sm" type="none"/>
                  <a:tailEnd len="sm" w="sm" type="none"/>
                </a:ln>
              </p:spPr>
            </p:cxnSp>
          </p:grpSp>
          <p:sp>
            <p:nvSpPr>
              <p:cNvPr id="1029" name="Google Shape;1029;p13"/>
              <p:cNvSpPr/>
              <p:nvPr/>
            </p:nvSpPr>
            <p:spPr>
              <a:xfrm>
                <a:off x="1877053" y="4705148"/>
                <a:ext cx="1028700" cy="522210"/>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30" name="Google Shape;1030;p13"/>
              <p:cNvCxnSpPr/>
              <p:nvPr/>
            </p:nvCxnSpPr>
            <p:spPr>
              <a:xfrm>
                <a:off x="1861178" y="3981356"/>
                <a:ext cx="17463" cy="1301555"/>
              </a:xfrm>
              <a:prstGeom prst="straightConnector1">
                <a:avLst/>
              </a:prstGeom>
              <a:noFill/>
              <a:ln cap="flat" cmpd="sng" w="9525">
                <a:solidFill>
                  <a:srgbClr val="000000"/>
                </a:solidFill>
                <a:prstDash val="dash"/>
                <a:round/>
                <a:headEnd len="sm" w="sm" type="none"/>
                <a:tailEnd len="sm" w="sm" type="none"/>
              </a:ln>
            </p:spPr>
          </p:cxnSp>
          <p:cxnSp>
            <p:nvCxnSpPr>
              <p:cNvPr id="1031" name="Google Shape;1031;p13"/>
              <p:cNvCxnSpPr/>
              <p:nvPr/>
            </p:nvCxnSpPr>
            <p:spPr>
              <a:xfrm flipH="1">
                <a:off x="2894641" y="3971833"/>
                <a:ext cx="6350" cy="1269810"/>
              </a:xfrm>
              <a:prstGeom prst="straightConnector1">
                <a:avLst/>
              </a:prstGeom>
              <a:noFill/>
              <a:ln cap="flat" cmpd="sng" w="9525">
                <a:solidFill>
                  <a:srgbClr val="000000"/>
                </a:solidFill>
                <a:prstDash val="dash"/>
                <a:round/>
                <a:headEnd len="sm" w="sm" type="none"/>
                <a:tailEnd len="sm" w="sm" type="none"/>
              </a:ln>
            </p:spPr>
          </p:cxnSp>
          <p:grpSp>
            <p:nvGrpSpPr>
              <p:cNvPr id="1032" name="Google Shape;1032;p13"/>
              <p:cNvGrpSpPr/>
              <p:nvPr/>
            </p:nvGrpSpPr>
            <p:grpSpPr>
              <a:xfrm>
                <a:off x="1856416" y="3709935"/>
                <a:ext cx="1044574" cy="398402"/>
                <a:chOff x="2183302" y="1574638"/>
                <a:chExt cx="1199996" cy="429505"/>
              </a:xfrm>
            </p:grpSpPr>
            <p:sp>
              <p:nvSpPr>
                <p:cNvPr id="1033" name="Google Shape;1033;p13"/>
                <p:cNvSpPr/>
                <p:nvPr/>
              </p:nvSpPr>
              <p:spPr>
                <a:xfrm flipH="1" rot="10800000">
                  <a:off x="2185125" y="1689286"/>
                  <a:ext cx="1196349" cy="314857"/>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4" name="Google Shape;1034;p13"/>
                <p:cNvSpPr/>
                <p:nvPr/>
              </p:nvSpPr>
              <p:spPr>
                <a:xfrm>
                  <a:off x="2183302" y="1735489"/>
                  <a:ext cx="1198172" cy="112938"/>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5" name="Google Shape;1035;p13"/>
                <p:cNvSpPr/>
                <p:nvPr/>
              </p:nvSpPr>
              <p:spPr>
                <a:xfrm flipH="1" rot="10800000">
                  <a:off x="2183302" y="1574638"/>
                  <a:ext cx="1196349" cy="3148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6" name="Google Shape;1036;p13"/>
                <p:cNvSpPr/>
                <p:nvPr/>
              </p:nvSpPr>
              <p:spPr>
                <a:xfrm>
                  <a:off x="2489684" y="1670464"/>
                  <a:ext cx="581761" cy="15742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37" name="Google Shape;1037;p13"/>
                <p:cNvSpPr/>
                <p:nvPr/>
              </p:nvSpPr>
              <p:spPr>
                <a:xfrm>
                  <a:off x="2429501" y="1629396"/>
                  <a:ext cx="703949" cy="11122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8" name="Google Shape;1038;p13"/>
                <p:cNvSpPr/>
                <p:nvPr/>
              </p:nvSpPr>
              <p:spPr>
                <a:xfrm>
                  <a:off x="2892722" y="1723510"/>
                  <a:ext cx="257143" cy="95826"/>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39" name="Google Shape;1039;p13"/>
                <p:cNvSpPr/>
                <p:nvPr/>
              </p:nvSpPr>
              <p:spPr>
                <a:xfrm>
                  <a:off x="2416736" y="1725222"/>
                  <a:ext cx="255318" cy="94114"/>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40" name="Google Shape;1040;p13"/>
                <p:cNvCxnSpPr>
                  <a:endCxn id="1035" idx="2"/>
                </p:cNvCxnSpPr>
                <p:nvPr/>
              </p:nvCxnSpPr>
              <p:spPr>
                <a:xfrm rot="10800000">
                  <a:off x="2183302" y="1732067"/>
                  <a:ext cx="1800" cy="1215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41" name="Google Shape;1041;p13"/>
                <p:cNvCxnSpPr/>
                <p:nvPr/>
              </p:nvCxnSpPr>
              <p:spPr>
                <a:xfrm rot="10800000">
                  <a:off x="3381474" y="1728644"/>
                  <a:ext cx="1824" cy="12149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42" name="Google Shape;1042;p13"/>
            <p:cNvGrpSpPr/>
            <p:nvPr/>
          </p:nvGrpSpPr>
          <p:grpSpPr>
            <a:xfrm>
              <a:off x="3566153" y="3862312"/>
              <a:ext cx="514350" cy="1669799"/>
              <a:chOff x="3566153" y="3862312"/>
              <a:chExt cx="514350" cy="1669799"/>
            </a:xfrm>
          </p:grpSpPr>
          <p:sp>
            <p:nvSpPr>
              <p:cNvPr id="1043" name="Google Shape;1043;p13"/>
              <p:cNvSpPr/>
              <p:nvPr/>
            </p:nvSpPr>
            <p:spPr>
              <a:xfrm rot="10800000">
                <a:off x="3569201" y="3946092"/>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44" name="Google Shape;1044;p13"/>
              <p:cNvCxnSpPr/>
              <p:nvPr/>
            </p:nvCxnSpPr>
            <p:spPr>
              <a:xfrm flipH="1">
                <a:off x="4078916" y="4019450"/>
                <a:ext cx="1587" cy="1365045"/>
              </a:xfrm>
              <a:prstGeom prst="straightConnector1">
                <a:avLst/>
              </a:prstGeom>
              <a:noFill/>
              <a:ln cap="flat" cmpd="sng" w="9525">
                <a:solidFill>
                  <a:srgbClr val="000000"/>
                </a:solidFill>
                <a:prstDash val="dash"/>
                <a:round/>
                <a:headEnd len="sm" w="sm" type="none"/>
                <a:tailEnd len="sm" w="sm" type="none"/>
              </a:ln>
            </p:spPr>
          </p:cxnSp>
          <p:grpSp>
            <p:nvGrpSpPr>
              <p:cNvPr id="1045" name="Google Shape;1045;p13"/>
              <p:cNvGrpSpPr/>
              <p:nvPr/>
            </p:nvGrpSpPr>
            <p:grpSpPr>
              <a:xfrm>
                <a:off x="3570916" y="5306720"/>
                <a:ext cx="508000" cy="225391"/>
                <a:chOff x="4128204" y="3600527"/>
                <a:chExt cx="568606" cy="344310"/>
              </a:xfrm>
            </p:grpSpPr>
            <p:sp>
              <p:nvSpPr>
                <p:cNvPr id="1046" name="Google Shape;1046;p13"/>
                <p:cNvSpPr/>
                <p:nvPr/>
              </p:nvSpPr>
              <p:spPr>
                <a:xfrm>
                  <a:off x="4128204" y="3719337"/>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47" name="Google Shape;1047;p13"/>
                <p:cNvSpPr/>
                <p:nvPr/>
              </p:nvSpPr>
              <p:spPr>
                <a:xfrm>
                  <a:off x="4128204" y="3719337"/>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48" name="Google Shape;1048;p13"/>
                <p:cNvSpPr/>
                <p:nvPr/>
              </p:nvSpPr>
              <p:spPr>
                <a:xfrm>
                  <a:off x="4128204" y="3600527"/>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49" name="Google Shape;1049;p13"/>
                <p:cNvCxnSpPr/>
                <p:nvPr/>
              </p:nvCxnSpPr>
              <p:spPr>
                <a:xfrm>
                  <a:off x="4696810" y="3719337"/>
                  <a:ext cx="0" cy="111537"/>
                </a:xfrm>
                <a:prstGeom prst="straightConnector1">
                  <a:avLst/>
                </a:prstGeom>
                <a:noFill/>
                <a:ln cap="flat" cmpd="sng" w="9525">
                  <a:solidFill>
                    <a:srgbClr val="000000"/>
                  </a:solidFill>
                  <a:prstDash val="solid"/>
                  <a:round/>
                  <a:headEnd len="sm" w="sm" type="none"/>
                  <a:tailEnd len="sm" w="sm" type="none"/>
                </a:ln>
              </p:spPr>
            </p:cxnSp>
            <p:cxnSp>
              <p:nvCxnSpPr>
                <p:cNvPr id="1050" name="Google Shape;1050;p13"/>
                <p:cNvCxnSpPr/>
                <p:nvPr/>
              </p:nvCxnSpPr>
              <p:spPr>
                <a:xfrm>
                  <a:off x="4128204" y="3719337"/>
                  <a:ext cx="0" cy="111537"/>
                </a:xfrm>
                <a:prstGeom prst="straightConnector1">
                  <a:avLst/>
                </a:prstGeom>
                <a:noFill/>
                <a:ln cap="flat" cmpd="sng" w="9525">
                  <a:solidFill>
                    <a:srgbClr val="000000"/>
                  </a:solidFill>
                  <a:prstDash val="solid"/>
                  <a:round/>
                  <a:headEnd len="sm" w="sm" type="none"/>
                  <a:tailEnd len="sm" w="sm" type="none"/>
                </a:ln>
              </p:spPr>
            </p:cxnSp>
          </p:grpSp>
          <p:sp>
            <p:nvSpPr>
              <p:cNvPr id="1051" name="Google Shape;1051;p13"/>
              <p:cNvSpPr/>
              <p:nvPr/>
            </p:nvSpPr>
            <p:spPr>
              <a:xfrm>
                <a:off x="3572503" y="4574992"/>
                <a:ext cx="496888"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52" name="Google Shape;1052;p13"/>
              <p:cNvCxnSpPr/>
              <p:nvPr/>
            </p:nvCxnSpPr>
            <p:spPr>
              <a:xfrm flipH="1">
                <a:off x="3566153" y="4027387"/>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53" name="Google Shape;1053;p13"/>
              <p:cNvGrpSpPr/>
              <p:nvPr/>
            </p:nvGrpSpPr>
            <p:grpSpPr>
              <a:xfrm>
                <a:off x="3569328" y="3862312"/>
                <a:ext cx="503238" cy="247614"/>
                <a:chOff x="2184877" y="1564501"/>
                <a:chExt cx="1198749" cy="439187"/>
              </a:xfrm>
            </p:grpSpPr>
            <p:sp>
              <p:nvSpPr>
                <p:cNvPr id="1054" name="Google Shape;1054;p13"/>
                <p:cNvSpPr/>
                <p:nvPr/>
              </p:nvSpPr>
              <p:spPr>
                <a:xfrm flipH="1" rot="10800000">
                  <a:off x="2188659" y="1691189"/>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5" name="Google Shape;1055;p13"/>
                <p:cNvSpPr/>
                <p:nvPr/>
              </p:nvSpPr>
              <p:spPr>
                <a:xfrm>
                  <a:off x="2184877" y="1736233"/>
                  <a:ext cx="1198749"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6" name="Google Shape;1056;p13"/>
                <p:cNvSpPr/>
                <p:nvPr/>
              </p:nvSpPr>
              <p:spPr>
                <a:xfrm flipH="1" rot="10800000">
                  <a:off x="2184877" y="1564501"/>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7" name="Google Shape;1057;p13"/>
                <p:cNvSpPr/>
                <p:nvPr/>
              </p:nvSpPr>
              <p:spPr>
                <a:xfrm>
                  <a:off x="2491182" y="1671482"/>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58" name="Google Shape;1058;p13"/>
                <p:cNvSpPr/>
                <p:nvPr/>
              </p:nvSpPr>
              <p:spPr>
                <a:xfrm>
                  <a:off x="2430678" y="1629252"/>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59" name="Google Shape;1059;p13"/>
                <p:cNvSpPr/>
                <p:nvPr/>
              </p:nvSpPr>
              <p:spPr>
                <a:xfrm>
                  <a:off x="2892025" y="1722158"/>
                  <a:ext cx="260925"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0" name="Google Shape;1060;p13"/>
                <p:cNvSpPr/>
                <p:nvPr/>
              </p:nvSpPr>
              <p:spPr>
                <a:xfrm>
                  <a:off x="2419332" y="1724972"/>
                  <a:ext cx="253364"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61" name="Google Shape;1061;p13"/>
                <p:cNvCxnSpPr>
                  <a:endCxn id="1056" idx="2"/>
                </p:cNvCxnSpPr>
                <p:nvPr/>
              </p:nvCxnSpPr>
              <p:spPr>
                <a:xfrm rot="10800000">
                  <a:off x="2184877" y="1720750"/>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62" name="Google Shape;1062;p13"/>
                <p:cNvCxnSpPr/>
                <p:nvPr/>
              </p:nvCxnSpPr>
              <p:spPr>
                <a:xfrm rot="10800000">
                  <a:off x="3379842" y="1727788"/>
                  <a:ext cx="3783"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63" name="Google Shape;1063;p13"/>
            <p:cNvGrpSpPr/>
            <p:nvPr/>
          </p:nvGrpSpPr>
          <p:grpSpPr>
            <a:xfrm>
              <a:off x="4348791" y="3867073"/>
              <a:ext cx="514350" cy="1669799"/>
              <a:chOff x="4348791" y="3867073"/>
              <a:chExt cx="514350" cy="1669799"/>
            </a:xfrm>
          </p:grpSpPr>
          <p:sp>
            <p:nvSpPr>
              <p:cNvPr id="1064" name="Google Shape;1064;p13"/>
              <p:cNvSpPr/>
              <p:nvPr/>
            </p:nvSpPr>
            <p:spPr>
              <a:xfrm rot="10800000">
                <a:off x="4351838" y="3950855"/>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65" name="Google Shape;1065;p13"/>
              <p:cNvCxnSpPr/>
              <p:nvPr/>
            </p:nvCxnSpPr>
            <p:spPr>
              <a:xfrm flipH="1">
                <a:off x="4861553" y="4024212"/>
                <a:ext cx="1588" cy="1365045"/>
              </a:xfrm>
              <a:prstGeom prst="straightConnector1">
                <a:avLst/>
              </a:prstGeom>
              <a:noFill/>
              <a:ln cap="flat" cmpd="sng" w="9525">
                <a:solidFill>
                  <a:srgbClr val="000000"/>
                </a:solidFill>
                <a:prstDash val="dash"/>
                <a:round/>
                <a:headEnd len="sm" w="sm" type="none"/>
                <a:tailEnd len="sm" w="sm" type="none"/>
              </a:ln>
            </p:spPr>
          </p:cxnSp>
          <p:grpSp>
            <p:nvGrpSpPr>
              <p:cNvPr id="1066" name="Google Shape;1066;p13"/>
              <p:cNvGrpSpPr/>
              <p:nvPr/>
            </p:nvGrpSpPr>
            <p:grpSpPr>
              <a:xfrm>
                <a:off x="4353553" y="5311481"/>
                <a:ext cx="508000" cy="225391"/>
                <a:chOff x="4128204" y="3600524"/>
                <a:chExt cx="568606" cy="344310"/>
              </a:xfrm>
            </p:grpSpPr>
            <p:sp>
              <p:nvSpPr>
                <p:cNvPr id="1067" name="Google Shape;1067;p13"/>
                <p:cNvSpPr/>
                <p:nvPr/>
              </p:nvSpPr>
              <p:spPr>
                <a:xfrm>
                  <a:off x="4128204" y="3719336"/>
                  <a:ext cx="568606" cy="22549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68" name="Google Shape;1068;p13"/>
                <p:cNvSpPr/>
                <p:nvPr/>
              </p:nvSpPr>
              <p:spPr>
                <a:xfrm>
                  <a:off x="4128204" y="3719336"/>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69" name="Google Shape;1069;p13"/>
                <p:cNvSpPr/>
                <p:nvPr/>
              </p:nvSpPr>
              <p:spPr>
                <a:xfrm>
                  <a:off x="4128204" y="3600524"/>
                  <a:ext cx="568606" cy="230349"/>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70" name="Google Shape;1070;p13"/>
                <p:cNvCxnSpPr/>
                <p:nvPr/>
              </p:nvCxnSpPr>
              <p:spPr>
                <a:xfrm>
                  <a:off x="4696810" y="3719336"/>
                  <a:ext cx="0" cy="111537"/>
                </a:xfrm>
                <a:prstGeom prst="straightConnector1">
                  <a:avLst/>
                </a:prstGeom>
                <a:noFill/>
                <a:ln cap="flat" cmpd="sng" w="9525">
                  <a:solidFill>
                    <a:srgbClr val="000000"/>
                  </a:solidFill>
                  <a:prstDash val="solid"/>
                  <a:round/>
                  <a:headEnd len="sm" w="sm" type="none"/>
                  <a:tailEnd len="sm" w="sm" type="none"/>
                </a:ln>
              </p:spPr>
            </p:cxnSp>
            <p:cxnSp>
              <p:nvCxnSpPr>
                <p:cNvPr id="1071" name="Google Shape;1071;p13"/>
                <p:cNvCxnSpPr/>
                <p:nvPr/>
              </p:nvCxnSpPr>
              <p:spPr>
                <a:xfrm>
                  <a:off x="4128204" y="3719336"/>
                  <a:ext cx="0" cy="111537"/>
                </a:xfrm>
                <a:prstGeom prst="straightConnector1">
                  <a:avLst/>
                </a:prstGeom>
                <a:noFill/>
                <a:ln cap="flat" cmpd="sng" w="9525">
                  <a:solidFill>
                    <a:srgbClr val="000000"/>
                  </a:solidFill>
                  <a:prstDash val="solid"/>
                  <a:round/>
                  <a:headEnd len="sm" w="sm" type="none"/>
                  <a:tailEnd len="sm" w="sm" type="none"/>
                </a:ln>
              </p:spPr>
            </p:cxnSp>
          </p:grpSp>
          <p:sp>
            <p:nvSpPr>
              <p:cNvPr id="1072" name="Google Shape;1072;p13"/>
              <p:cNvSpPr/>
              <p:nvPr/>
            </p:nvSpPr>
            <p:spPr>
              <a:xfrm>
                <a:off x="4355141" y="4579754"/>
                <a:ext cx="496887"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73" name="Google Shape;1073;p13"/>
              <p:cNvCxnSpPr/>
              <p:nvPr/>
            </p:nvCxnSpPr>
            <p:spPr>
              <a:xfrm flipH="1">
                <a:off x="4348791" y="4032148"/>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74" name="Google Shape;1074;p13"/>
              <p:cNvGrpSpPr/>
              <p:nvPr/>
            </p:nvGrpSpPr>
            <p:grpSpPr>
              <a:xfrm>
                <a:off x="4351966" y="3867073"/>
                <a:ext cx="503237" cy="247613"/>
                <a:chOff x="2184879" y="1564498"/>
                <a:chExt cx="1198746" cy="439186"/>
              </a:xfrm>
            </p:grpSpPr>
            <p:sp>
              <p:nvSpPr>
                <p:cNvPr id="1075" name="Google Shape;1075;p13"/>
                <p:cNvSpPr/>
                <p:nvPr/>
              </p:nvSpPr>
              <p:spPr>
                <a:xfrm flipH="1" rot="10800000">
                  <a:off x="2188659" y="1691187"/>
                  <a:ext cx="1194966" cy="312497"/>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6" name="Google Shape;1076;p13"/>
                <p:cNvSpPr/>
                <p:nvPr/>
              </p:nvSpPr>
              <p:spPr>
                <a:xfrm>
                  <a:off x="2184879" y="1736232"/>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7" name="Google Shape;1077;p13"/>
                <p:cNvSpPr/>
                <p:nvPr/>
              </p:nvSpPr>
              <p:spPr>
                <a:xfrm flipH="1" rot="10800000">
                  <a:off x="2184879" y="1564498"/>
                  <a:ext cx="1194966" cy="3124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8" name="Google Shape;1078;p13"/>
                <p:cNvSpPr/>
                <p:nvPr/>
              </p:nvSpPr>
              <p:spPr>
                <a:xfrm>
                  <a:off x="2491182" y="1671479"/>
                  <a:ext cx="582357" cy="154842"/>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79" name="Google Shape;1079;p13"/>
                <p:cNvSpPr/>
                <p:nvPr/>
              </p:nvSpPr>
              <p:spPr>
                <a:xfrm>
                  <a:off x="2430678" y="1629250"/>
                  <a:ext cx="703366" cy="10979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80" name="Google Shape;1080;p13"/>
                <p:cNvSpPr/>
                <p:nvPr/>
              </p:nvSpPr>
              <p:spPr>
                <a:xfrm>
                  <a:off x="2892025" y="1722154"/>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81" name="Google Shape;1081;p13"/>
                <p:cNvSpPr/>
                <p:nvPr/>
              </p:nvSpPr>
              <p:spPr>
                <a:xfrm>
                  <a:off x="2419334" y="1724970"/>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82" name="Google Shape;1082;p13"/>
                <p:cNvCxnSpPr>
                  <a:endCxn id="1077" idx="2"/>
                </p:cNvCxnSpPr>
                <p:nvPr/>
              </p:nvCxnSpPr>
              <p:spPr>
                <a:xfrm rot="10800000">
                  <a:off x="2184879" y="1720747"/>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083" name="Google Shape;1083;p13"/>
                <p:cNvCxnSpPr/>
                <p:nvPr/>
              </p:nvCxnSpPr>
              <p:spPr>
                <a:xfrm rot="10800000">
                  <a:off x="3379845" y="1727785"/>
                  <a:ext cx="3780" cy="12105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084" name="Google Shape;1084;p13"/>
            <p:cNvGrpSpPr/>
            <p:nvPr/>
          </p:nvGrpSpPr>
          <p:grpSpPr>
            <a:xfrm>
              <a:off x="5552117" y="3849614"/>
              <a:ext cx="514350" cy="1669799"/>
              <a:chOff x="5552117" y="3849614"/>
              <a:chExt cx="514350" cy="1669799"/>
            </a:xfrm>
          </p:grpSpPr>
          <p:sp>
            <p:nvSpPr>
              <p:cNvPr id="1085" name="Google Shape;1085;p13"/>
              <p:cNvSpPr/>
              <p:nvPr/>
            </p:nvSpPr>
            <p:spPr>
              <a:xfrm rot="10800000">
                <a:off x="5555163" y="3933392"/>
                <a:ext cx="498084" cy="628647"/>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86" name="Google Shape;1086;p13"/>
              <p:cNvCxnSpPr/>
              <p:nvPr/>
            </p:nvCxnSpPr>
            <p:spPr>
              <a:xfrm flipH="1">
                <a:off x="6064879" y="4006752"/>
                <a:ext cx="1588" cy="1365045"/>
              </a:xfrm>
              <a:prstGeom prst="straightConnector1">
                <a:avLst/>
              </a:prstGeom>
              <a:noFill/>
              <a:ln cap="flat" cmpd="sng" w="9525">
                <a:solidFill>
                  <a:srgbClr val="000000"/>
                </a:solidFill>
                <a:prstDash val="dash"/>
                <a:round/>
                <a:headEnd len="sm" w="sm" type="none"/>
                <a:tailEnd len="sm" w="sm" type="none"/>
              </a:ln>
            </p:spPr>
          </p:cxnSp>
          <p:grpSp>
            <p:nvGrpSpPr>
              <p:cNvPr id="1087" name="Google Shape;1087;p13"/>
              <p:cNvGrpSpPr/>
              <p:nvPr/>
            </p:nvGrpSpPr>
            <p:grpSpPr>
              <a:xfrm>
                <a:off x="5556879" y="5294022"/>
                <a:ext cx="508000" cy="225392"/>
                <a:chOff x="4128205" y="3600530"/>
                <a:chExt cx="568606" cy="344311"/>
              </a:xfrm>
            </p:grpSpPr>
            <p:sp>
              <p:nvSpPr>
                <p:cNvPr id="1088" name="Google Shape;1088;p13"/>
                <p:cNvSpPr/>
                <p:nvPr/>
              </p:nvSpPr>
              <p:spPr>
                <a:xfrm>
                  <a:off x="4128205" y="3719341"/>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89" name="Google Shape;1089;p13"/>
                <p:cNvSpPr/>
                <p:nvPr/>
              </p:nvSpPr>
              <p:spPr>
                <a:xfrm>
                  <a:off x="4128205" y="3719341"/>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0" name="Google Shape;1090;p13"/>
                <p:cNvSpPr/>
                <p:nvPr/>
              </p:nvSpPr>
              <p:spPr>
                <a:xfrm>
                  <a:off x="4128205" y="3600530"/>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91" name="Google Shape;1091;p13"/>
                <p:cNvCxnSpPr/>
                <p:nvPr/>
              </p:nvCxnSpPr>
              <p:spPr>
                <a:xfrm>
                  <a:off x="4696811" y="3719341"/>
                  <a:ext cx="0" cy="111537"/>
                </a:xfrm>
                <a:prstGeom prst="straightConnector1">
                  <a:avLst/>
                </a:prstGeom>
                <a:noFill/>
                <a:ln cap="flat" cmpd="sng" w="9525">
                  <a:solidFill>
                    <a:srgbClr val="000000"/>
                  </a:solidFill>
                  <a:prstDash val="solid"/>
                  <a:round/>
                  <a:headEnd len="sm" w="sm" type="none"/>
                  <a:tailEnd len="sm" w="sm" type="none"/>
                </a:ln>
              </p:spPr>
            </p:cxnSp>
            <p:cxnSp>
              <p:nvCxnSpPr>
                <p:cNvPr id="1092" name="Google Shape;1092;p13"/>
                <p:cNvCxnSpPr/>
                <p:nvPr/>
              </p:nvCxnSpPr>
              <p:spPr>
                <a:xfrm>
                  <a:off x="4128205" y="3719341"/>
                  <a:ext cx="0" cy="111537"/>
                </a:xfrm>
                <a:prstGeom prst="straightConnector1">
                  <a:avLst/>
                </a:prstGeom>
                <a:noFill/>
                <a:ln cap="flat" cmpd="sng" w="9525">
                  <a:solidFill>
                    <a:srgbClr val="000000"/>
                  </a:solidFill>
                  <a:prstDash val="solid"/>
                  <a:round/>
                  <a:headEnd len="sm" w="sm" type="none"/>
                  <a:tailEnd len="sm" w="sm" type="none"/>
                </a:ln>
              </p:spPr>
            </p:cxnSp>
          </p:grpSp>
          <p:sp>
            <p:nvSpPr>
              <p:cNvPr id="1093" name="Google Shape;1093;p13"/>
              <p:cNvSpPr/>
              <p:nvPr/>
            </p:nvSpPr>
            <p:spPr>
              <a:xfrm>
                <a:off x="5558467" y="4562294"/>
                <a:ext cx="496887"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094" name="Google Shape;1094;p13"/>
              <p:cNvCxnSpPr/>
              <p:nvPr/>
            </p:nvCxnSpPr>
            <p:spPr>
              <a:xfrm flipH="1">
                <a:off x="5552117" y="4014689"/>
                <a:ext cx="3175" cy="1450757"/>
              </a:xfrm>
              <a:prstGeom prst="straightConnector1">
                <a:avLst/>
              </a:prstGeom>
              <a:noFill/>
              <a:ln cap="flat" cmpd="sng" w="9525">
                <a:solidFill>
                  <a:srgbClr val="000000"/>
                </a:solidFill>
                <a:prstDash val="dash"/>
                <a:round/>
                <a:headEnd len="sm" w="sm" type="none"/>
                <a:tailEnd len="sm" w="sm" type="none"/>
              </a:ln>
            </p:spPr>
          </p:cxnSp>
          <p:grpSp>
            <p:nvGrpSpPr>
              <p:cNvPr id="1095" name="Google Shape;1095;p13"/>
              <p:cNvGrpSpPr/>
              <p:nvPr/>
            </p:nvGrpSpPr>
            <p:grpSpPr>
              <a:xfrm>
                <a:off x="5555292" y="3849614"/>
                <a:ext cx="503237" cy="247613"/>
                <a:chOff x="2184881" y="1564505"/>
                <a:chExt cx="1198747" cy="439186"/>
              </a:xfrm>
            </p:grpSpPr>
            <p:sp>
              <p:nvSpPr>
                <p:cNvPr id="1096" name="Google Shape;1096;p13"/>
                <p:cNvSpPr/>
                <p:nvPr/>
              </p:nvSpPr>
              <p:spPr>
                <a:xfrm flipH="1" rot="10800000">
                  <a:off x="2188662" y="1691192"/>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7" name="Google Shape;1097;p13"/>
                <p:cNvSpPr/>
                <p:nvPr/>
              </p:nvSpPr>
              <p:spPr>
                <a:xfrm>
                  <a:off x="2184881" y="1736237"/>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8" name="Google Shape;1098;p13"/>
                <p:cNvSpPr/>
                <p:nvPr/>
              </p:nvSpPr>
              <p:spPr>
                <a:xfrm flipH="1" rot="10800000">
                  <a:off x="2184881" y="1564505"/>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099" name="Google Shape;1099;p13"/>
                <p:cNvSpPr/>
                <p:nvPr/>
              </p:nvSpPr>
              <p:spPr>
                <a:xfrm>
                  <a:off x="2491185" y="1671486"/>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00" name="Google Shape;1100;p13"/>
                <p:cNvSpPr/>
                <p:nvPr/>
              </p:nvSpPr>
              <p:spPr>
                <a:xfrm>
                  <a:off x="2430680" y="1629256"/>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01" name="Google Shape;1101;p13"/>
                <p:cNvSpPr/>
                <p:nvPr/>
              </p:nvSpPr>
              <p:spPr>
                <a:xfrm>
                  <a:off x="2892028" y="1722161"/>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02" name="Google Shape;1102;p13"/>
                <p:cNvSpPr/>
                <p:nvPr/>
              </p:nvSpPr>
              <p:spPr>
                <a:xfrm>
                  <a:off x="2419337" y="1724976"/>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03" name="Google Shape;1103;p13"/>
                <p:cNvCxnSpPr>
                  <a:endCxn id="1098" idx="2"/>
                </p:cNvCxnSpPr>
                <p:nvPr/>
              </p:nvCxnSpPr>
              <p:spPr>
                <a:xfrm rot="10800000">
                  <a:off x="2184881" y="1720754"/>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04" name="Google Shape;1104;p13"/>
                <p:cNvCxnSpPr/>
                <p:nvPr/>
              </p:nvCxnSpPr>
              <p:spPr>
                <a:xfrm rot="10800000">
                  <a:off x="3379847" y="1727792"/>
                  <a:ext cx="3780"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1105" name="Google Shape;1105;p13"/>
            <p:cNvGrpSpPr/>
            <p:nvPr/>
          </p:nvGrpSpPr>
          <p:grpSpPr>
            <a:xfrm>
              <a:off x="6547479" y="3836916"/>
              <a:ext cx="514350" cy="1671386"/>
              <a:chOff x="6547479" y="3836916"/>
              <a:chExt cx="514350" cy="1671386"/>
            </a:xfrm>
          </p:grpSpPr>
          <p:sp>
            <p:nvSpPr>
              <p:cNvPr id="1106" name="Google Shape;1106;p13"/>
              <p:cNvSpPr/>
              <p:nvPr/>
            </p:nvSpPr>
            <p:spPr>
              <a:xfrm rot="10800000">
                <a:off x="6550526" y="3920772"/>
                <a:ext cx="498084" cy="62924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07" name="Google Shape;1107;p13"/>
              <p:cNvCxnSpPr/>
              <p:nvPr/>
            </p:nvCxnSpPr>
            <p:spPr>
              <a:xfrm flipH="1">
                <a:off x="7060242" y="3994054"/>
                <a:ext cx="1587" cy="1366633"/>
              </a:xfrm>
              <a:prstGeom prst="straightConnector1">
                <a:avLst/>
              </a:prstGeom>
              <a:noFill/>
              <a:ln cap="flat" cmpd="sng" w="9525">
                <a:solidFill>
                  <a:srgbClr val="000000"/>
                </a:solidFill>
                <a:prstDash val="dash"/>
                <a:round/>
                <a:headEnd len="sm" w="sm" type="none"/>
                <a:tailEnd len="sm" w="sm" type="none"/>
              </a:ln>
            </p:spPr>
          </p:cxnSp>
          <p:grpSp>
            <p:nvGrpSpPr>
              <p:cNvPr id="1108" name="Google Shape;1108;p13"/>
              <p:cNvGrpSpPr/>
              <p:nvPr/>
            </p:nvGrpSpPr>
            <p:grpSpPr>
              <a:xfrm>
                <a:off x="6552242" y="5286085"/>
                <a:ext cx="508000" cy="222217"/>
                <a:chOff x="4128205" y="3605704"/>
                <a:chExt cx="568606" cy="339138"/>
              </a:xfrm>
            </p:grpSpPr>
            <p:sp>
              <p:nvSpPr>
                <p:cNvPr id="1109" name="Google Shape;1109;p13"/>
                <p:cNvSpPr/>
                <p:nvPr/>
              </p:nvSpPr>
              <p:spPr>
                <a:xfrm>
                  <a:off x="4128205" y="3719558"/>
                  <a:ext cx="568606" cy="225284"/>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0" name="Google Shape;1110;p13"/>
                <p:cNvSpPr/>
                <p:nvPr/>
              </p:nvSpPr>
              <p:spPr>
                <a:xfrm>
                  <a:off x="4128205" y="3719558"/>
                  <a:ext cx="568606" cy="111431"/>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1" name="Google Shape;1111;p13"/>
                <p:cNvSpPr/>
                <p:nvPr/>
              </p:nvSpPr>
              <p:spPr>
                <a:xfrm>
                  <a:off x="4128205" y="3605704"/>
                  <a:ext cx="568606" cy="22528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12" name="Google Shape;1112;p13"/>
                <p:cNvCxnSpPr/>
                <p:nvPr/>
              </p:nvCxnSpPr>
              <p:spPr>
                <a:xfrm>
                  <a:off x="4696811" y="3719558"/>
                  <a:ext cx="0" cy="111431"/>
                </a:xfrm>
                <a:prstGeom prst="straightConnector1">
                  <a:avLst/>
                </a:prstGeom>
                <a:noFill/>
                <a:ln cap="flat" cmpd="sng" w="9525">
                  <a:solidFill>
                    <a:srgbClr val="000000"/>
                  </a:solidFill>
                  <a:prstDash val="solid"/>
                  <a:round/>
                  <a:headEnd len="sm" w="sm" type="none"/>
                  <a:tailEnd len="sm" w="sm" type="none"/>
                </a:ln>
              </p:spPr>
            </p:cxnSp>
            <p:cxnSp>
              <p:nvCxnSpPr>
                <p:cNvPr id="1113" name="Google Shape;1113;p13"/>
                <p:cNvCxnSpPr/>
                <p:nvPr/>
              </p:nvCxnSpPr>
              <p:spPr>
                <a:xfrm>
                  <a:off x="4128205" y="3719558"/>
                  <a:ext cx="0" cy="111431"/>
                </a:xfrm>
                <a:prstGeom prst="straightConnector1">
                  <a:avLst/>
                </a:prstGeom>
                <a:noFill/>
                <a:ln cap="flat" cmpd="sng" w="9525">
                  <a:solidFill>
                    <a:srgbClr val="000000"/>
                  </a:solidFill>
                  <a:prstDash val="solid"/>
                  <a:round/>
                  <a:headEnd len="sm" w="sm" type="none"/>
                  <a:tailEnd len="sm" w="sm" type="none"/>
                </a:ln>
              </p:spPr>
            </p:cxnSp>
          </p:grpSp>
          <p:sp>
            <p:nvSpPr>
              <p:cNvPr id="1114" name="Google Shape;1114;p13"/>
              <p:cNvSpPr/>
              <p:nvPr/>
            </p:nvSpPr>
            <p:spPr>
              <a:xfrm>
                <a:off x="6553829" y="4551184"/>
                <a:ext cx="496888" cy="812678"/>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15" name="Google Shape;1115;p13"/>
              <p:cNvCxnSpPr/>
              <p:nvPr/>
            </p:nvCxnSpPr>
            <p:spPr>
              <a:xfrm flipH="1">
                <a:off x="6547479" y="4001991"/>
                <a:ext cx="3175" cy="1452344"/>
              </a:xfrm>
              <a:prstGeom prst="straightConnector1">
                <a:avLst/>
              </a:prstGeom>
              <a:noFill/>
              <a:ln cap="flat" cmpd="sng" w="9525">
                <a:solidFill>
                  <a:srgbClr val="000000"/>
                </a:solidFill>
                <a:prstDash val="dash"/>
                <a:round/>
                <a:headEnd len="sm" w="sm" type="none"/>
                <a:tailEnd len="sm" w="sm" type="none"/>
              </a:ln>
            </p:spPr>
          </p:cxnSp>
          <p:grpSp>
            <p:nvGrpSpPr>
              <p:cNvPr id="1116" name="Google Shape;1116;p13"/>
              <p:cNvGrpSpPr/>
              <p:nvPr/>
            </p:nvGrpSpPr>
            <p:grpSpPr>
              <a:xfrm>
                <a:off x="6550654" y="3836916"/>
                <a:ext cx="503238" cy="249200"/>
                <a:chOff x="2184879" y="1564508"/>
                <a:chExt cx="1198749" cy="441581"/>
              </a:xfrm>
            </p:grpSpPr>
            <p:sp>
              <p:nvSpPr>
                <p:cNvPr id="1117" name="Google Shape;1117;p13"/>
                <p:cNvSpPr/>
                <p:nvPr/>
              </p:nvSpPr>
              <p:spPr>
                <a:xfrm flipH="1" rot="10800000">
                  <a:off x="2188662" y="1691075"/>
                  <a:ext cx="1194966" cy="315014"/>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8" name="Google Shape;1118;p13"/>
                <p:cNvSpPr/>
                <p:nvPr/>
              </p:nvSpPr>
              <p:spPr>
                <a:xfrm>
                  <a:off x="2184879" y="1736077"/>
                  <a:ext cx="1198749" cy="11250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19" name="Google Shape;1119;p13"/>
                <p:cNvSpPr/>
                <p:nvPr/>
              </p:nvSpPr>
              <p:spPr>
                <a:xfrm flipH="1" rot="10800000">
                  <a:off x="2184879" y="1564508"/>
                  <a:ext cx="1194966" cy="315014"/>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20" name="Google Shape;1120;p13"/>
                <p:cNvSpPr/>
                <p:nvPr/>
              </p:nvSpPr>
              <p:spPr>
                <a:xfrm>
                  <a:off x="2491185" y="1671388"/>
                  <a:ext cx="582357" cy="157507"/>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21" name="Google Shape;1121;p13"/>
                <p:cNvSpPr/>
                <p:nvPr/>
              </p:nvSpPr>
              <p:spPr>
                <a:xfrm>
                  <a:off x="2430680" y="1629198"/>
                  <a:ext cx="703366" cy="112505"/>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22" name="Google Shape;1122;p13"/>
                <p:cNvSpPr/>
                <p:nvPr/>
              </p:nvSpPr>
              <p:spPr>
                <a:xfrm>
                  <a:off x="2892028" y="1724827"/>
                  <a:ext cx="260925" cy="9562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23" name="Google Shape;1123;p13"/>
                <p:cNvSpPr/>
                <p:nvPr/>
              </p:nvSpPr>
              <p:spPr>
                <a:xfrm>
                  <a:off x="2419334" y="1727640"/>
                  <a:ext cx="253364" cy="9281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24" name="Google Shape;1124;p13"/>
                <p:cNvCxnSpPr>
                  <a:endCxn id="1119" idx="2"/>
                </p:cNvCxnSpPr>
                <p:nvPr/>
              </p:nvCxnSpPr>
              <p:spPr>
                <a:xfrm rot="10800000">
                  <a:off x="2184879" y="172201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25" name="Google Shape;1125;p13"/>
                <p:cNvCxnSpPr/>
                <p:nvPr/>
              </p:nvCxnSpPr>
              <p:spPr>
                <a:xfrm rot="10800000">
                  <a:off x="3379845" y="1730452"/>
                  <a:ext cx="3783" cy="12094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1126" name="Google Shape;1126;p13"/>
          <p:cNvGrpSpPr/>
          <p:nvPr/>
        </p:nvGrpSpPr>
        <p:grpSpPr>
          <a:xfrm>
            <a:off x="4130530" y="2423492"/>
            <a:ext cx="4416425" cy="2314575"/>
            <a:chOff x="2381956" y="2435173"/>
            <a:chExt cx="4415330" cy="2315048"/>
          </a:xfrm>
        </p:grpSpPr>
        <p:sp>
          <p:nvSpPr>
            <p:cNvPr id="1127" name="Google Shape;1127;p13"/>
            <p:cNvSpPr/>
            <p:nvPr/>
          </p:nvSpPr>
          <p:spPr>
            <a:xfrm>
              <a:off x="2381956" y="2439937"/>
              <a:ext cx="296789" cy="1743431"/>
            </a:xfrm>
            <a:custGeom>
              <a:rect b="b" l="l" r="r" t="t"/>
              <a:pathLst>
                <a:path extrusionOk="0" h="2022548" w="228538">
                  <a:moveTo>
                    <a:pt x="228538" y="0"/>
                  </a:moveTo>
                  <a:lnTo>
                    <a:pt x="0" y="6607"/>
                  </a:lnTo>
                  <a:lnTo>
                    <a:pt x="0" y="2022548"/>
                  </a:lnTo>
                </a:path>
              </a:pathLst>
            </a:custGeom>
            <a:noFill/>
            <a:ln cap="flat" cmpd="sng" w="31750">
              <a:solidFill>
                <a:srgbClr val="CC0000"/>
              </a:solidFill>
              <a:prstDash val="solid"/>
              <a:round/>
              <a:headEnd len="med" w="med" type="triangl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CC0000"/>
                </a:solidFill>
                <a:latin typeface="Gill Sans"/>
                <a:ea typeface="Gill Sans"/>
                <a:cs typeface="Gill Sans"/>
                <a:sym typeface="Gill Sans"/>
              </a:endParaRPr>
            </a:p>
          </p:txBody>
        </p:sp>
        <p:sp>
          <p:nvSpPr>
            <p:cNvPr id="1128" name="Google Shape;1128;p13"/>
            <p:cNvSpPr/>
            <p:nvPr/>
          </p:nvSpPr>
          <p:spPr>
            <a:xfrm flipH="1">
              <a:off x="6411620" y="2435173"/>
              <a:ext cx="385666" cy="2300758"/>
            </a:xfrm>
            <a:custGeom>
              <a:rect b="b" l="l" r="r" t="t"/>
              <a:pathLst>
                <a:path extrusionOk="0" h="2117725" w="307275">
                  <a:moveTo>
                    <a:pt x="307275" y="0"/>
                  </a:moveTo>
                  <a:lnTo>
                    <a:pt x="0" y="0"/>
                  </a:lnTo>
                  <a:lnTo>
                    <a:pt x="0" y="2117725"/>
                  </a:lnTo>
                </a:path>
              </a:pathLst>
            </a:custGeom>
            <a:noFill/>
            <a:ln cap="flat" cmpd="sng" w="31750">
              <a:solidFill>
                <a:srgbClr val="CC0000"/>
              </a:solidFill>
              <a:prstDash val="solid"/>
              <a:round/>
              <a:headEnd len="med" w="med" type="triangl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Gill Sans"/>
                <a:ea typeface="Gill Sans"/>
                <a:cs typeface="Gill Sans"/>
                <a:sym typeface="Gill Sans"/>
              </a:endParaRPr>
            </a:p>
          </p:txBody>
        </p:sp>
        <p:cxnSp>
          <p:nvCxnSpPr>
            <p:cNvPr id="1129" name="Google Shape;1129;p13"/>
            <p:cNvCxnSpPr/>
            <p:nvPr/>
          </p:nvCxnSpPr>
          <p:spPr>
            <a:xfrm flipH="1" rot="10800000">
              <a:off x="5791061" y="2687638"/>
              <a:ext cx="7936" cy="2062583"/>
            </a:xfrm>
            <a:prstGeom prst="straightConnector1">
              <a:avLst/>
            </a:prstGeom>
            <a:noFill/>
            <a:ln cap="flat" cmpd="sng" w="31750">
              <a:solidFill>
                <a:srgbClr val="CC0000"/>
              </a:solidFill>
              <a:prstDash val="solid"/>
              <a:round/>
              <a:headEnd len="med" w="med" type="triangle"/>
              <a:tailEnd len="med" w="med" type="triangle"/>
            </a:ln>
          </p:spPr>
        </p:cxnSp>
        <p:cxnSp>
          <p:nvCxnSpPr>
            <p:cNvPr id="1130" name="Google Shape;1130;p13"/>
            <p:cNvCxnSpPr/>
            <p:nvPr/>
          </p:nvCxnSpPr>
          <p:spPr>
            <a:xfrm flipH="1" rot="10800000">
              <a:off x="4599144" y="2708279"/>
              <a:ext cx="17458" cy="2037179"/>
            </a:xfrm>
            <a:prstGeom prst="straightConnector1">
              <a:avLst/>
            </a:prstGeom>
            <a:noFill/>
            <a:ln cap="flat" cmpd="sng" w="31750">
              <a:solidFill>
                <a:srgbClr val="CC0000"/>
              </a:solidFill>
              <a:prstDash val="solid"/>
              <a:round/>
              <a:headEnd len="med" w="med" type="triangle"/>
              <a:tailEnd len="med" w="med" type="triangle"/>
            </a:ln>
          </p:spPr>
        </p:cxnSp>
        <p:cxnSp>
          <p:nvCxnSpPr>
            <p:cNvPr id="1131" name="Google Shape;1131;p13"/>
            <p:cNvCxnSpPr/>
            <p:nvPr/>
          </p:nvCxnSpPr>
          <p:spPr>
            <a:xfrm rot="10800000">
              <a:off x="3807178" y="2762265"/>
              <a:ext cx="9523" cy="1983193"/>
            </a:xfrm>
            <a:prstGeom prst="straightConnector1">
              <a:avLst/>
            </a:prstGeom>
            <a:noFill/>
            <a:ln cap="flat" cmpd="sng" w="31750">
              <a:solidFill>
                <a:srgbClr val="CC0000"/>
              </a:solidFill>
              <a:prstDash val="solid"/>
              <a:round/>
              <a:headEnd len="med" w="med" type="triangle"/>
              <a:tailEnd len="med" w="med" type="triangle"/>
            </a:ln>
          </p:spPr>
        </p:cxnSp>
      </p:grpSp>
      <p:grpSp>
        <p:nvGrpSpPr>
          <p:cNvPr id="1132" name="Google Shape;1132;p13"/>
          <p:cNvGrpSpPr/>
          <p:nvPr/>
        </p:nvGrpSpPr>
        <p:grpSpPr>
          <a:xfrm>
            <a:off x="3806679" y="4636468"/>
            <a:ext cx="4956176" cy="692149"/>
            <a:chOff x="2056656" y="4691836"/>
            <a:chExt cx="4955291" cy="692750"/>
          </a:xfrm>
        </p:grpSpPr>
        <p:grpSp>
          <p:nvGrpSpPr>
            <p:cNvPr id="1133" name="Google Shape;1133;p13"/>
            <p:cNvGrpSpPr/>
            <p:nvPr/>
          </p:nvGrpSpPr>
          <p:grpSpPr>
            <a:xfrm>
              <a:off x="3605780" y="5055689"/>
              <a:ext cx="430136" cy="328897"/>
              <a:chOff x="2932124" y="3912858"/>
              <a:chExt cx="430455" cy="329059"/>
            </a:xfrm>
          </p:grpSpPr>
          <p:sp>
            <p:nvSpPr>
              <p:cNvPr id="1134" name="Google Shape;1134;p13"/>
              <p:cNvSpPr/>
              <p:nvPr/>
            </p:nvSpPr>
            <p:spPr>
              <a:xfrm>
                <a:off x="2936890" y="3912858"/>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35" name="Google Shape;1135;p13"/>
              <p:cNvCxnSpPr/>
              <p:nvPr/>
            </p:nvCxnSpPr>
            <p:spPr>
              <a:xfrm>
                <a:off x="2932124" y="4005058"/>
                <a:ext cx="425689" cy="0"/>
              </a:xfrm>
              <a:prstGeom prst="straightConnector1">
                <a:avLst/>
              </a:prstGeom>
              <a:noFill/>
              <a:ln cap="flat" cmpd="sng" w="9525">
                <a:solidFill>
                  <a:srgbClr val="CC0000"/>
                </a:solidFill>
                <a:prstDash val="solid"/>
                <a:round/>
                <a:headEnd len="sm" w="sm" type="none"/>
                <a:tailEnd len="sm" w="sm" type="none"/>
              </a:ln>
            </p:spPr>
          </p:cxnSp>
          <p:cxnSp>
            <p:nvCxnSpPr>
              <p:cNvPr id="1136" name="Google Shape;1136;p13"/>
              <p:cNvCxnSpPr/>
              <p:nvPr/>
            </p:nvCxnSpPr>
            <p:spPr>
              <a:xfrm>
                <a:off x="2932124" y="4068645"/>
                <a:ext cx="425689" cy="0"/>
              </a:xfrm>
              <a:prstGeom prst="straightConnector1">
                <a:avLst/>
              </a:prstGeom>
              <a:noFill/>
              <a:ln cap="flat" cmpd="sng" w="9525">
                <a:solidFill>
                  <a:srgbClr val="CC0000"/>
                </a:solidFill>
                <a:prstDash val="solid"/>
                <a:round/>
                <a:headEnd len="sm" w="sm" type="none"/>
                <a:tailEnd len="sm" w="sm" type="none"/>
              </a:ln>
            </p:spPr>
          </p:cxnSp>
          <p:cxnSp>
            <p:nvCxnSpPr>
              <p:cNvPr id="1137" name="Google Shape;1137;p13"/>
              <p:cNvCxnSpPr>
                <a:stCxn id="1134" idx="2"/>
              </p:cNvCxnSpPr>
              <p:nvPr/>
            </p:nvCxnSpPr>
            <p:spPr>
              <a:xfrm rot="10800000">
                <a:off x="3148235" y="4004917"/>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38" name="Google Shape;1138;p13"/>
            <p:cNvGrpSpPr/>
            <p:nvPr/>
          </p:nvGrpSpPr>
          <p:grpSpPr>
            <a:xfrm>
              <a:off x="4388278" y="5055689"/>
              <a:ext cx="430135" cy="328897"/>
              <a:chOff x="2931985" y="3912924"/>
              <a:chExt cx="430454" cy="329059"/>
            </a:xfrm>
          </p:grpSpPr>
          <p:sp>
            <p:nvSpPr>
              <p:cNvPr id="1139" name="Google Shape;1139;p13"/>
              <p:cNvSpPr/>
              <p:nvPr/>
            </p:nvSpPr>
            <p:spPr>
              <a:xfrm>
                <a:off x="2936750" y="3912924"/>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40" name="Google Shape;1140;p13"/>
              <p:cNvCxnSpPr/>
              <p:nvPr/>
            </p:nvCxnSpPr>
            <p:spPr>
              <a:xfrm>
                <a:off x="2931985" y="4005125"/>
                <a:ext cx="425689" cy="0"/>
              </a:xfrm>
              <a:prstGeom prst="straightConnector1">
                <a:avLst/>
              </a:prstGeom>
              <a:noFill/>
              <a:ln cap="flat" cmpd="sng" w="9525">
                <a:solidFill>
                  <a:srgbClr val="CC0000"/>
                </a:solidFill>
                <a:prstDash val="solid"/>
                <a:round/>
                <a:headEnd len="sm" w="sm" type="none"/>
                <a:tailEnd len="sm" w="sm" type="none"/>
              </a:ln>
            </p:spPr>
          </p:cxnSp>
          <p:cxnSp>
            <p:nvCxnSpPr>
              <p:cNvPr id="1141" name="Google Shape;1141;p13"/>
              <p:cNvCxnSpPr/>
              <p:nvPr/>
            </p:nvCxnSpPr>
            <p:spPr>
              <a:xfrm>
                <a:off x="2931985" y="4068711"/>
                <a:ext cx="425689" cy="0"/>
              </a:xfrm>
              <a:prstGeom prst="straightConnector1">
                <a:avLst/>
              </a:prstGeom>
              <a:noFill/>
              <a:ln cap="flat" cmpd="sng" w="9525">
                <a:solidFill>
                  <a:srgbClr val="CC0000"/>
                </a:solidFill>
                <a:prstDash val="solid"/>
                <a:round/>
                <a:headEnd len="sm" w="sm" type="none"/>
                <a:tailEnd len="sm" w="sm" type="none"/>
              </a:ln>
            </p:spPr>
          </p:cxnSp>
          <p:cxnSp>
            <p:nvCxnSpPr>
              <p:cNvPr id="1142" name="Google Shape;1142;p13"/>
              <p:cNvCxnSpPr>
                <a:stCxn id="1139" idx="2"/>
              </p:cNvCxnSpPr>
              <p:nvPr/>
            </p:nvCxnSpPr>
            <p:spPr>
              <a:xfrm rot="10800000">
                <a:off x="3148095" y="4004983"/>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43" name="Google Shape;1143;p13"/>
            <p:cNvGrpSpPr/>
            <p:nvPr/>
          </p:nvGrpSpPr>
          <p:grpSpPr>
            <a:xfrm>
              <a:off x="5591389" y="5052511"/>
              <a:ext cx="430134" cy="328897"/>
              <a:chOff x="2931771" y="3912722"/>
              <a:chExt cx="430453" cy="329058"/>
            </a:xfrm>
          </p:grpSpPr>
          <p:sp>
            <p:nvSpPr>
              <p:cNvPr id="1144" name="Google Shape;1144;p13"/>
              <p:cNvSpPr/>
              <p:nvPr/>
            </p:nvSpPr>
            <p:spPr>
              <a:xfrm>
                <a:off x="2936535" y="3912722"/>
                <a:ext cx="425689" cy="329058"/>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45" name="Google Shape;1145;p13"/>
              <p:cNvCxnSpPr/>
              <p:nvPr/>
            </p:nvCxnSpPr>
            <p:spPr>
              <a:xfrm>
                <a:off x="2931771" y="4004922"/>
                <a:ext cx="425689" cy="0"/>
              </a:xfrm>
              <a:prstGeom prst="straightConnector1">
                <a:avLst/>
              </a:prstGeom>
              <a:noFill/>
              <a:ln cap="flat" cmpd="sng" w="9525">
                <a:solidFill>
                  <a:srgbClr val="CC0000"/>
                </a:solidFill>
                <a:prstDash val="solid"/>
                <a:round/>
                <a:headEnd len="sm" w="sm" type="none"/>
                <a:tailEnd len="sm" w="sm" type="none"/>
              </a:ln>
            </p:spPr>
          </p:cxnSp>
          <p:cxnSp>
            <p:nvCxnSpPr>
              <p:cNvPr id="1146" name="Google Shape;1146;p13"/>
              <p:cNvCxnSpPr/>
              <p:nvPr/>
            </p:nvCxnSpPr>
            <p:spPr>
              <a:xfrm>
                <a:off x="2931771" y="4068509"/>
                <a:ext cx="425689" cy="0"/>
              </a:xfrm>
              <a:prstGeom prst="straightConnector1">
                <a:avLst/>
              </a:prstGeom>
              <a:noFill/>
              <a:ln cap="flat" cmpd="sng" w="9525">
                <a:solidFill>
                  <a:srgbClr val="CC0000"/>
                </a:solidFill>
                <a:prstDash val="solid"/>
                <a:round/>
                <a:headEnd len="sm" w="sm" type="none"/>
                <a:tailEnd len="sm" w="sm" type="none"/>
              </a:ln>
            </p:spPr>
          </p:cxnSp>
          <p:cxnSp>
            <p:nvCxnSpPr>
              <p:cNvPr id="1147" name="Google Shape;1147;p13"/>
              <p:cNvCxnSpPr>
                <a:stCxn id="1144" idx="2"/>
              </p:cNvCxnSpPr>
              <p:nvPr/>
            </p:nvCxnSpPr>
            <p:spPr>
              <a:xfrm rot="10800000">
                <a:off x="3147880" y="4004780"/>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1148" name="Google Shape;1148;p13"/>
            <p:cNvGrpSpPr/>
            <p:nvPr/>
          </p:nvGrpSpPr>
          <p:grpSpPr>
            <a:xfrm>
              <a:off x="6581812" y="5046155"/>
              <a:ext cx="430135" cy="328898"/>
              <a:chOff x="2931660" y="3913102"/>
              <a:chExt cx="430454" cy="328747"/>
            </a:xfrm>
          </p:grpSpPr>
          <p:sp>
            <p:nvSpPr>
              <p:cNvPr id="1149" name="Google Shape;1149;p13"/>
              <p:cNvSpPr/>
              <p:nvPr/>
            </p:nvSpPr>
            <p:spPr>
              <a:xfrm>
                <a:off x="2936425" y="3913102"/>
                <a:ext cx="425689" cy="328747"/>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50" name="Google Shape;1150;p13"/>
              <p:cNvCxnSpPr/>
              <p:nvPr/>
            </p:nvCxnSpPr>
            <p:spPr>
              <a:xfrm>
                <a:off x="2931660" y="4005215"/>
                <a:ext cx="425689" cy="0"/>
              </a:xfrm>
              <a:prstGeom prst="straightConnector1">
                <a:avLst/>
              </a:prstGeom>
              <a:noFill/>
              <a:ln cap="flat" cmpd="sng" w="9525">
                <a:solidFill>
                  <a:srgbClr val="CC0000"/>
                </a:solidFill>
                <a:prstDash val="solid"/>
                <a:round/>
                <a:headEnd len="sm" w="sm" type="none"/>
                <a:tailEnd len="sm" w="sm" type="none"/>
              </a:ln>
            </p:spPr>
          </p:cxnSp>
          <p:cxnSp>
            <p:nvCxnSpPr>
              <p:cNvPr id="1151" name="Google Shape;1151;p13"/>
              <p:cNvCxnSpPr/>
              <p:nvPr/>
            </p:nvCxnSpPr>
            <p:spPr>
              <a:xfrm>
                <a:off x="2931660" y="4067152"/>
                <a:ext cx="425689" cy="0"/>
              </a:xfrm>
              <a:prstGeom prst="straightConnector1">
                <a:avLst/>
              </a:prstGeom>
              <a:noFill/>
              <a:ln cap="flat" cmpd="sng" w="9525">
                <a:solidFill>
                  <a:srgbClr val="CC0000"/>
                </a:solidFill>
                <a:prstDash val="solid"/>
                <a:round/>
                <a:headEnd len="sm" w="sm" type="none"/>
                <a:tailEnd len="sm" w="sm" type="none"/>
              </a:ln>
            </p:spPr>
          </p:cxnSp>
          <p:cxnSp>
            <p:nvCxnSpPr>
              <p:cNvPr id="1152" name="Google Shape;1152;p13"/>
              <p:cNvCxnSpPr>
                <a:stCxn id="1149" idx="2"/>
              </p:cNvCxnSpPr>
              <p:nvPr/>
            </p:nvCxnSpPr>
            <p:spPr>
              <a:xfrm rot="10800000">
                <a:off x="3147770" y="4005149"/>
                <a:ext cx="1500" cy="236700"/>
              </a:xfrm>
              <a:prstGeom prst="straightConnector1">
                <a:avLst/>
              </a:prstGeom>
              <a:noFill/>
              <a:ln cap="flat" cmpd="sng" w="9525">
                <a:solidFill>
                  <a:srgbClr val="CC0000"/>
                </a:solidFill>
                <a:prstDash val="solid"/>
                <a:round/>
                <a:headEnd len="sm" w="sm" type="none"/>
                <a:tailEnd len="sm" w="sm" type="none"/>
              </a:ln>
            </p:spPr>
          </p:cxnSp>
        </p:grpSp>
        <p:grpSp>
          <p:nvGrpSpPr>
            <p:cNvPr id="1153" name="Google Shape;1153;p13"/>
            <p:cNvGrpSpPr/>
            <p:nvPr/>
          </p:nvGrpSpPr>
          <p:grpSpPr>
            <a:xfrm>
              <a:off x="2056656" y="4691836"/>
              <a:ext cx="674567" cy="519563"/>
              <a:chOff x="2932675" y="3913607"/>
              <a:chExt cx="429970" cy="328266"/>
            </a:xfrm>
          </p:grpSpPr>
          <p:sp>
            <p:nvSpPr>
              <p:cNvPr id="1154" name="Google Shape;1154;p13"/>
              <p:cNvSpPr/>
              <p:nvPr/>
            </p:nvSpPr>
            <p:spPr>
              <a:xfrm>
                <a:off x="2936722" y="3913607"/>
                <a:ext cx="425923" cy="32826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1155" name="Google Shape;1155;p13"/>
              <p:cNvCxnSpPr/>
              <p:nvPr/>
            </p:nvCxnSpPr>
            <p:spPr>
              <a:xfrm>
                <a:off x="2932675" y="4004959"/>
                <a:ext cx="424911" cy="0"/>
              </a:xfrm>
              <a:prstGeom prst="straightConnector1">
                <a:avLst/>
              </a:prstGeom>
              <a:noFill/>
              <a:ln cap="flat" cmpd="sng" w="9525">
                <a:solidFill>
                  <a:srgbClr val="CC0000"/>
                </a:solidFill>
                <a:prstDash val="solid"/>
                <a:round/>
                <a:headEnd len="sm" w="sm" type="none"/>
                <a:tailEnd len="sm" w="sm" type="none"/>
              </a:ln>
            </p:spPr>
          </p:cxnSp>
          <p:cxnSp>
            <p:nvCxnSpPr>
              <p:cNvPr id="1156" name="Google Shape;1156;p13"/>
              <p:cNvCxnSpPr/>
              <p:nvPr/>
            </p:nvCxnSpPr>
            <p:spPr>
              <a:xfrm>
                <a:off x="2932675" y="4069207"/>
                <a:ext cx="424911" cy="0"/>
              </a:xfrm>
              <a:prstGeom prst="straightConnector1">
                <a:avLst/>
              </a:prstGeom>
              <a:noFill/>
              <a:ln cap="flat" cmpd="sng" w="9525">
                <a:solidFill>
                  <a:srgbClr val="CC0000"/>
                </a:solidFill>
                <a:prstDash val="solid"/>
                <a:round/>
                <a:headEnd len="sm" w="sm" type="none"/>
                <a:tailEnd len="sm" w="sm" type="none"/>
              </a:ln>
            </p:spPr>
          </p:cxnSp>
          <p:cxnSp>
            <p:nvCxnSpPr>
              <p:cNvPr id="1157" name="Google Shape;1157;p13"/>
              <p:cNvCxnSpPr>
                <a:stCxn id="1154" idx="2"/>
              </p:cNvCxnSpPr>
              <p:nvPr/>
            </p:nvCxnSpPr>
            <p:spPr>
              <a:xfrm rot="10800000">
                <a:off x="3148784" y="4004873"/>
                <a:ext cx="900" cy="237000"/>
              </a:xfrm>
              <a:prstGeom prst="straightConnector1">
                <a:avLst/>
              </a:prstGeom>
              <a:noFill/>
              <a:ln cap="flat" cmpd="sng" w="9525">
                <a:solidFill>
                  <a:srgbClr val="CC0000"/>
                </a:solidFill>
                <a:prstDash val="solid"/>
                <a:round/>
                <a:headEnd len="sm" w="sm" type="none"/>
                <a:tailEnd len="sm" w="sm" type="none"/>
              </a:ln>
            </p:spPr>
          </p:cxnSp>
        </p:grpSp>
      </p:grpSp>
      <p:grpSp>
        <p:nvGrpSpPr>
          <p:cNvPr id="1158" name="Google Shape;1158;p13"/>
          <p:cNvGrpSpPr/>
          <p:nvPr/>
        </p:nvGrpSpPr>
        <p:grpSpPr>
          <a:xfrm>
            <a:off x="7605568" y="5890592"/>
            <a:ext cx="588962" cy="242888"/>
            <a:chOff x="1871277" y="1576300"/>
            <a:chExt cx="1128371" cy="437861"/>
          </a:xfrm>
        </p:grpSpPr>
        <p:sp>
          <p:nvSpPr>
            <p:cNvPr id="1159" name="Google Shape;1159;p13"/>
            <p:cNvSpPr/>
            <p:nvPr/>
          </p:nvSpPr>
          <p:spPr>
            <a:xfrm flipH="1" rot="10800000">
              <a:off x="1874317" y="1693636"/>
              <a:ext cx="1125331" cy="320525"/>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0" name="Google Shape;1160;p13"/>
            <p:cNvSpPr/>
            <p:nvPr/>
          </p:nvSpPr>
          <p:spPr>
            <a:xfrm>
              <a:off x="1871277" y="1739425"/>
              <a:ext cx="1128371" cy="11733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1" name="Google Shape;1161;p13"/>
            <p:cNvSpPr/>
            <p:nvPr/>
          </p:nvSpPr>
          <p:spPr>
            <a:xfrm flipH="1" rot="10800000">
              <a:off x="1871277" y="1576300"/>
              <a:ext cx="1125331" cy="320525"/>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2" name="Google Shape;1162;p13"/>
            <p:cNvSpPr/>
            <p:nvPr/>
          </p:nvSpPr>
          <p:spPr>
            <a:xfrm>
              <a:off x="2160212" y="1673602"/>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63" name="Google Shape;1163;p13"/>
            <p:cNvSpPr/>
            <p:nvPr/>
          </p:nvSpPr>
          <p:spPr>
            <a:xfrm>
              <a:off x="2102426" y="1633537"/>
              <a:ext cx="663033" cy="1116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64" name="Google Shape;1164;p13"/>
            <p:cNvSpPr/>
            <p:nvPr/>
          </p:nvSpPr>
          <p:spPr>
            <a:xfrm>
              <a:off x="2537350" y="1727978"/>
              <a:ext cx="243315" cy="97302"/>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65" name="Google Shape;1165;p13"/>
            <p:cNvSpPr/>
            <p:nvPr/>
          </p:nvSpPr>
          <p:spPr>
            <a:xfrm>
              <a:off x="2090260" y="1730839"/>
              <a:ext cx="240272" cy="97302"/>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66" name="Google Shape;1166;p13"/>
            <p:cNvCxnSpPr>
              <a:endCxn id="116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67" name="Google Shape;1167;p13"/>
            <p:cNvCxnSpPr/>
            <p:nvPr/>
          </p:nvCxnSpPr>
          <p:spPr>
            <a:xfrm rot="10800000">
              <a:off x="2996608" y="1733702"/>
              <a:ext cx="3040" cy="123058"/>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68" name="Google Shape;1168;p13"/>
          <p:cNvGrpSpPr/>
          <p:nvPr/>
        </p:nvGrpSpPr>
        <p:grpSpPr>
          <a:xfrm>
            <a:off x="6124430" y="5749305"/>
            <a:ext cx="588963" cy="242887"/>
            <a:chOff x="1871277" y="1576300"/>
            <a:chExt cx="1128371" cy="437861"/>
          </a:xfrm>
        </p:grpSpPr>
        <p:sp>
          <p:nvSpPr>
            <p:cNvPr id="1169" name="Google Shape;1169;p13"/>
            <p:cNvSpPr/>
            <p:nvPr/>
          </p:nvSpPr>
          <p:spPr>
            <a:xfrm flipH="1" rot="10800000">
              <a:off x="1874319" y="1693635"/>
              <a:ext cx="1125329"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0" name="Google Shape;117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1" name="Google Shape;1171;p13"/>
            <p:cNvSpPr/>
            <p:nvPr/>
          </p:nvSpPr>
          <p:spPr>
            <a:xfrm flipH="1" rot="10800000">
              <a:off x="1871277" y="1576300"/>
              <a:ext cx="1125329"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2" name="Google Shape;1172;p13"/>
            <p:cNvSpPr/>
            <p:nvPr/>
          </p:nvSpPr>
          <p:spPr>
            <a:xfrm>
              <a:off x="2160214" y="1673603"/>
              <a:ext cx="547457"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73" name="Google Shape;1173;p13"/>
            <p:cNvSpPr/>
            <p:nvPr/>
          </p:nvSpPr>
          <p:spPr>
            <a:xfrm>
              <a:off x="2102426" y="1633537"/>
              <a:ext cx="663031"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74" name="Google Shape;1174;p13"/>
            <p:cNvSpPr/>
            <p:nvPr/>
          </p:nvSpPr>
          <p:spPr>
            <a:xfrm>
              <a:off x="2537351" y="1727977"/>
              <a:ext cx="243314"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75" name="Google Shape;1175;p13"/>
            <p:cNvSpPr/>
            <p:nvPr/>
          </p:nvSpPr>
          <p:spPr>
            <a:xfrm>
              <a:off x="2090260" y="1730839"/>
              <a:ext cx="240274"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76" name="Google Shape;1176;p13"/>
            <p:cNvCxnSpPr>
              <a:endCxn id="117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77" name="Google Shape;1177;p13"/>
            <p:cNvCxnSpPr/>
            <p:nvPr/>
          </p:nvCxnSpPr>
          <p:spPr>
            <a:xfrm rot="10800000">
              <a:off x="2996606" y="1733700"/>
              <a:ext cx="3042"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78" name="Google Shape;1178;p13"/>
          <p:cNvGrpSpPr/>
          <p:nvPr/>
        </p:nvGrpSpPr>
        <p:grpSpPr>
          <a:xfrm>
            <a:off x="6916593" y="6209680"/>
            <a:ext cx="588962" cy="242887"/>
            <a:chOff x="1871277" y="1576300"/>
            <a:chExt cx="1128371" cy="437861"/>
          </a:xfrm>
        </p:grpSpPr>
        <p:sp>
          <p:nvSpPr>
            <p:cNvPr id="1179" name="Google Shape;1179;p1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0" name="Google Shape;118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1" name="Google Shape;1181;p1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2" name="Google Shape;1182;p1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83" name="Google Shape;1183;p1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84" name="Google Shape;1184;p1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85" name="Google Shape;1185;p1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86" name="Google Shape;1186;p13"/>
            <p:cNvCxnSpPr>
              <a:endCxn id="118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87" name="Google Shape;1187;p1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88" name="Google Shape;1188;p13"/>
          <p:cNvGrpSpPr/>
          <p:nvPr/>
        </p:nvGrpSpPr>
        <p:grpSpPr>
          <a:xfrm>
            <a:off x="5452918" y="6301755"/>
            <a:ext cx="588962" cy="242887"/>
            <a:chOff x="1871277" y="1576300"/>
            <a:chExt cx="1128371" cy="437861"/>
          </a:xfrm>
        </p:grpSpPr>
        <p:sp>
          <p:nvSpPr>
            <p:cNvPr id="1189" name="Google Shape;1189;p1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0" name="Google Shape;1190;p1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1" name="Google Shape;1191;p1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2" name="Google Shape;1192;p1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193" name="Google Shape;1193;p1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94" name="Google Shape;1194;p1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195" name="Google Shape;1195;p1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196" name="Google Shape;1196;p13"/>
            <p:cNvCxnSpPr>
              <a:endCxn id="1191"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197" name="Google Shape;1197;p1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1198" name="Google Shape;1198;p13"/>
          <p:cNvGrpSpPr/>
          <p:nvPr/>
        </p:nvGrpSpPr>
        <p:grpSpPr>
          <a:xfrm>
            <a:off x="4494068" y="2167905"/>
            <a:ext cx="3598862" cy="493712"/>
            <a:chOff x="2704632" y="2011398"/>
            <a:chExt cx="3598520" cy="493919"/>
          </a:xfrm>
        </p:grpSpPr>
        <p:sp>
          <p:nvSpPr>
            <p:cNvPr id="1199" name="Google Shape;1199;p13"/>
            <p:cNvSpPr/>
            <p:nvPr/>
          </p:nvSpPr>
          <p:spPr>
            <a:xfrm>
              <a:off x="2722092" y="2011398"/>
              <a:ext cx="3581060" cy="492331"/>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0" name="Google Shape;1200;p13"/>
            <p:cNvSpPr/>
            <p:nvPr/>
          </p:nvSpPr>
          <p:spPr>
            <a:xfrm>
              <a:off x="2704632" y="2012986"/>
              <a:ext cx="3581060" cy="492331"/>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1" name="Google Shape;1201;p13"/>
            <p:cNvSpPr txBox="1"/>
            <p:nvPr/>
          </p:nvSpPr>
          <p:spPr>
            <a:xfrm>
              <a:off x="3452664" y="2127167"/>
              <a:ext cx="2057700" cy="296128"/>
            </a:xfrm>
            <a:prstGeom prst="rect">
              <a:avLst/>
            </a:prstGeom>
            <a:noFill/>
            <a:ln>
              <a:noFill/>
            </a:ln>
          </p:spPr>
          <p:txBody>
            <a:bodyPr anchorCtr="0" anchor="t" bIns="45700" lIns="91425" spcFirstLastPara="1" rIns="91425" wrap="square" tIns="45700">
              <a:spAutoFit/>
            </a:bodyPr>
            <a:lstStyle/>
            <a:p>
              <a:pPr indent="0" lvl="0" marL="0" marR="0" rtl="0" algn="ctr">
                <a:lnSpc>
                  <a:spcPct val="81944"/>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Remote Controller</a:t>
              </a:r>
              <a:endParaRPr/>
            </a:p>
          </p:txBody>
        </p:sp>
      </p:grpSp>
      <p:grpSp>
        <p:nvGrpSpPr>
          <p:cNvPr id="1202" name="Google Shape;1202;p13"/>
          <p:cNvGrpSpPr/>
          <p:nvPr/>
        </p:nvGrpSpPr>
        <p:grpSpPr>
          <a:xfrm>
            <a:off x="3674918" y="4177680"/>
            <a:ext cx="5095875" cy="822325"/>
            <a:chOff x="3674918" y="4177680"/>
            <a:chExt cx="5095875" cy="822325"/>
          </a:xfrm>
        </p:grpSpPr>
        <p:grpSp>
          <p:nvGrpSpPr>
            <p:cNvPr id="1203" name="Google Shape;1203;p13"/>
            <p:cNvGrpSpPr/>
            <p:nvPr/>
          </p:nvGrpSpPr>
          <p:grpSpPr>
            <a:xfrm>
              <a:off x="3674918" y="4177680"/>
              <a:ext cx="923925" cy="406399"/>
              <a:chOff x="2705100" y="2011480"/>
              <a:chExt cx="3598690" cy="494427"/>
            </a:xfrm>
          </p:grpSpPr>
          <p:sp>
            <p:nvSpPr>
              <p:cNvPr id="1204" name="Google Shape;1204;p13"/>
              <p:cNvSpPr/>
              <p:nvPr/>
            </p:nvSpPr>
            <p:spPr>
              <a:xfrm>
                <a:off x="2723648" y="2011480"/>
                <a:ext cx="3580142" cy="492496"/>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5" name="Google Shape;1205;p13"/>
              <p:cNvSpPr/>
              <p:nvPr/>
            </p:nvSpPr>
            <p:spPr>
              <a:xfrm>
                <a:off x="2705100" y="2013410"/>
                <a:ext cx="3580138" cy="492497"/>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06" name="Google Shape;1206;p13"/>
              <p:cNvSpPr txBox="1"/>
              <p:nvPr/>
            </p:nvSpPr>
            <p:spPr>
              <a:xfrm>
                <a:off x="3901810" y="2127167"/>
                <a:ext cx="1159411" cy="296128"/>
              </a:xfrm>
              <a:prstGeom prst="rect">
                <a:avLst/>
              </a:prstGeom>
              <a:noFill/>
              <a:ln>
                <a:noFill/>
              </a:ln>
            </p:spPr>
            <p:txBody>
              <a:bodyPr anchorCtr="0" anchor="t" bIns="45700" lIns="91425" spcFirstLastPara="1" rIns="91425" wrap="square" tIns="45700">
                <a:spAutoFit/>
              </a:bodyPr>
              <a:lstStyle/>
              <a:p>
                <a:pPr indent="0" lvl="0" marL="0" marR="0" rtl="0" algn="ctr">
                  <a:lnSpc>
                    <a:spcPct val="81944"/>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CA</a:t>
                </a:r>
                <a:endParaRPr/>
              </a:p>
            </p:txBody>
          </p:sp>
        </p:grpSp>
        <p:grpSp>
          <p:nvGrpSpPr>
            <p:cNvPr id="1207" name="Google Shape;1207;p13"/>
            <p:cNvGrpSpPr/>
            <p:nvPr/>
          </p:nvGrpSpPr>
          <p:grpSpPr>
            <a:xfrm>
              <a:off x="5338618" y="4714256"/>
              <a:ext cx="463550" cy="285749"/>
              <a:chOff x="3558760" y="4573304"/>
              <a:chExt cx="463506" cy="285869"/>
            </a:xfrm>
          </p:grpSpPr>
          <p:grpSp>
            <p:nvGrpSpPr>
              <p:cNvPr id="1208" name="Google Shape;1208;p13"/>
              <p:cNvGrpSpPr/>
              <p:nvPr/>
            </p:nvGrpSpPr>
            <p:grpSpPr>
              <a:xfrm>
                <a:off x="3558760" y="4578067"/>
                <a:ext cx="463506" cy="262048"/>
                <a:chOff x="3558760" y="4578067"/>
                <a:chExt cx="463506" cy="262048"/>
              </a:xfrm>
            </p:grpSpPr>
            <p:sp>
              <p:nvSpPr>
                <p:cNvPr id="1209" name="Google Shape;1209;p13"/>
                <p:cNvSpPr/>
                <p:nvPr/>
              </p:nvSpPr>
              <p:spPr>
                <a:xfrm>
                  <a:off x="3573046" y="4578067"/>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10" name="Google Shape;1210;p13"/>
                <p:cNvSpPr/>
                <p:nvPr/>
              </p:nvSpPr>
              <p:spPr>
                <a:xfrm>
                  <a:off x="3558760" y="4587596"/>
                  <a:ext cx="463506" cy="252519"/>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11" name="Google Shape;1211;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12" name="Google Shape;1212;p13"/>
            <p:cNvGrpSpPr/>
            <p:nvPr/>
          </p:nvGrpSpPr>
          <p:grpSpPr>
            <a:xfrm>
              <a:off x="6119668" y="4712138"/>
              <a:ext cx="463550" cy="285749"/>
              <a:chOff x="3559588" y="4573304"/>
              <a:chExt cx="463506" cy="285869"/>
            </a:xfrm>
          </p:grpSpPr>
          <p:grpSp>
            <p:nvGrpSpPr>
              <p:cNvPr id="1213" name="Google Shape;1213;p13"/>
              <p:cNvGrpSpPr/>
              <p:nvPr/>
            </p:nvGrpSpPr>
            <p:grpSpPr>
              <a:xfrm>
                <a:off x="3559588" y="4581775"/>
                <a:ext cx="463506" cy="258870"/>
                <a:chOff x="3559588" y="4581775"/>
                <a:chExt cx="463506" cy="258870"/>
              </a:xfrm>
            </p:grpSpPr>
            <p:sp>
              <p:nvSpPr>
                <p:cNvPr id="1214" name="Google Shape;1214;p13"/>
                <p:cNvSpPr/>
                <p:nvPr/>
              </p:nvSpPr>
              <p:spPr>
                <a:xfrm>
                  <a:off x="3573874" y="4581775"/>
                  <a:ext cx="439696" cy="257283"/>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15" name="Google Shape;1215;p13"/>
                <p:cNvSpPr/>
                <p:nvPr/>
              </p:nvSpPr>
              <p:spPr>
                <a:xfrm>
                  <a:off x="3559588" y="4591304"/>
                  <a:ext cx="463506" cy="249341"/>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16" name="Google Shape;1216;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17" name="Google Shape;1217;p13"/>
            <p:cNvGrpSpPr/>
            <p:nvPr/>
          </p:nvGrpSpPr>
          <p:grpSpPr>
            <a:xfrm>
              <a:off x="7319818" y="4710021"/>
              <a:ext cx="463550" cy="285749"/>
              <a:chOff x="3559368" y="4573304"/>
              <a:chExt cx="463506" cy="285869"/>
            </a:xfrm>
          </p:grpSpPr>
          <p:grpSp>
            <p:nvGrpSpPr>
              <p:cNvPr id="1218" name="Google Shape;1218;p13"/>
              <p:cNvGrpSpPr/>
              <p:nvPr/>
            </p:nvGrpSpPr>
            <p:grpSpPr>
              <a:xfrm>
                <a:off x="3559368" y="4577540"/>
                <a:ext cx="463506" cy="262047"/>
                <a:chOff x="3559368" y="4577540"/>
                <a:chExt cx="463506" cy="262047"/>
              </a:xfrm>
            </p:grpSpPr>
            <p:sp>
              <p:nvSpPr>
                <p:cNvPr id="1219" name="Google Shape;1219;p13"/>
                <p:cNvSpPr/>
                <p:nvPr/>
              </p:nvSpPr>
              <p:spPr>
                <a:xfrm>
                  <a:off x="3573654" y="4577540"/>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20" name="Google Shape;1220;p13"/>
                <p:cNvSpPr/>
                <p:nvPr/>
              </p:nvSpPr>
              <p:spPr>
                <a:xfrm>
                  <a:off x="3559368" y="4587069"/>
                  <a:ext cx="463506" cy="252518"/>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21" name="Google Shape;1221;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nvGrpSpPr>
            <p:cNvPr id="1222" name="Google Shape;1222;p13"/>
            <p:cNvGrpSpPr/>
            <p:nvPr/>
          </p:nvGrpSpPr>
          <p:grpSpPr>
            <a:xfrm>
              <a:off x="8307243" y="4707904"/>
              <a:ext cx="463550" cy="285749"/>
              <a:chOff x="3558912" y="4573304"/>
              <a:chExt cx="463506" cy="285869"/>
            </a:xfrm>
          </p:grpSpPr>
          <p:grpSp>
            <p:nvGrpSpPr>
              <p:cNvPr id="1223" name="Google Shape;1223;p13"/>
              <p:cNvGrpSpPr/>
              <p:nvPr/>
            </p:nvGrpSpPr>
            <p:grpSpPr>
              <a:xfrm>
                <a:off x="3558912" y="4578069"/>
                <a:ext cx="463506" cy="262048"/>
                <a:chOff x="3558912" y="4578069"/>
                <a:chExt cx="463506" cy="262048"/>
              </a:xfrm>
            </p:grpSpPr>
            <p:sp>
              <p:nvSpPr>
                <p:cNvPr id="1224" name="Google Shape;1224;p13"/>
                <p:cNvSpPr/>
                <p:nvPr/>
              </p:nvSpPr>
              <p:spPr>
                <a:xfrm>
                  <a:off x="3573198" y="4578069"/>
                  <a:ext cx="439696" cy="260459"/>
                </a:xfrm>
                <a:prstGeom prst="ellipse">
                  <a:avLst/>
                </a:prstGeom>
                <a:solidFill>
                  <a:srgbClr val="FFFFFF">
                    <a:alpha val="4196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25" name="Google Shape;1225;p13"/>
                <p:cNvSpPr/>
                <p:nvPr/>
              </p:nvSpPr>
              <p:spPr>
                <a:xfrm>
                  <a:off x="3558912" y="4587598"/>
                  <a:ext cx="463506" cy="252519"/>
                </a:xfrm>
                <a:prstGeom prst="ellipse">
                  <a:avLst/>
                </a:prstGeom>
                <a:solidFill>
                  <a:srgbClr val="CC0000">
                    <a:alpha val="41960"/>
                  </a:srgbClr>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sp>
            <p:nvSpPr>
              <p:cNvPr id="1226" name="Google Shape;1226;p13"/>
              <p:cNvSpPr txBox="1"/>
              <p:nvPr/>
            </p:nvSpPr>
            <p:spPr>
              <a:xfrm>
                <a:off x="3565935" y="4573304"/>
                <a:ext cx="434071" cy="285869"/>
              </a:xfrm>
              <a:prstGeom prst="rect">
                <a:avLst/>
              </a:prstGeom>
              <a:noFill/>
              <a:ln>
                <a:noFill/>
              </a:ln>
            </p:spPr>
            <p:txBody>
              <a:bodyPr anchorCtr="0" anchor="t" bIns="45700" lIns="91425" spcFirstLastPara="1" rIns="91425" wrap="square" tIns="45700">
                <a:spAutoFit/>
              </a:bodyPr>
              <a:lstStyle/>
              <a:p>
                <a:pPr indent="0" lvl="0" marL="0" marR="0" rtl="0" algn="ctr">
                  <a:lnSpc>
                    <a:spcPct val="105357"/>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CA</a:t>
                </a:r>
                <a:endParaRPr b="0" i="0" sz="1800" u="none" cap="none" strike="noStrike">
                  <a:solidFill>
                    <a:srgbClr val="FFFFFF"/>
                  </a:solidFill>
                  <a:latin typeface="Arial"/>
                  <a:ea typeface="Arial"/>
                  <a:cs typeface="Arial"/>
                  <a:sym typeface="Arial"/>
                </a:endParaRPr>
              </a:p>
            </p:txBody>
          </p:sp>
        </p:grpSp>
      </p:grpSp>
      <p:grpSp>
        <p:nvGrpSpPr>
          <p:cNvPr id="1227" name="Google Shape;1227;p13"/>
          <p:cNvGrpSpPr/>
          <p:nvPr/>
        </p:nvGrpSpPr>
        <p:grpSpPr>
          <a:xfrm>
            <a:off x="2687493" y="5474667"/>
            <a:ext cx="2698750" cy="903288"/>
            <a:chOff x="938213" y="5237163"/>
            <a:chExt cx="2698750" cy="903287"/>
          </a:xfrm>
        </p:grpSpPr>
        <p:cxnSp>
          <p:nvCxnSpPr>
            <p:cNvPr id="1228" name="Google Shape;1228;p13"/>
            <p:cNvCxnSpPr/>
            <p:nvPr/>
          </p:nvCxnSpPr>
          <p:spPr>
            <a:xfrm flipH="1">
              <a:off x="1282700" y="5802312"/>
              <a:ext cx="1508125" cy="1588"/>
            </a:xfrm>
            <a:prstGeom prst="straightConnector1">
              <a:avLst/>
            </a:prstGeom>
            <a:noFill/>
            <a:ln cap="flat" cmpd="sng" w="9525">
              <a:solidFill>
                <a:srgbClr val="000000"/>
              </a:solidFill>
              <a:prstDash val="solid"/>
              <a:round/>
              <a:headEnd len="sm" w="sm" type="none"/>
              <a:tailEnd len="sm" w="sm" type="none"/>
            </a:ln>
          </p:spPr>
        </p:cxnSp>
        <p:sp>
          <p:nvSpPr>
            <p:cNvPr id="1229" name="Google Shape;1229;p13"/>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1230" name="Google Shape;1230;p13"/>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1231" name="Google Shape;1231;p13"/>
            <p:cNvGrpSpPr/>
            <p:nvPr/>
          </p:nvGrpSpPr>
          <p:grpSpPr>
            <a:xfrm>
              <a:off x="938213" y="5237163"/>
              <a:ext cx="1616075" cy="487362"/>
              <a:chOff x="-4079003" y="2717403"/>
              <a:chExt cx="1616718" cy="488475"/>
            </a:xfrm>
          </p:grpSpPr>
          <p:sp>
            <p:nvSpPr>
              <p:cNvPr id="1232" name="Google Shape;1232;p13"/>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233" name="Google Shape;1233;p13"/>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1234" name="Google Shape;1234;p13"/>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5" name="Google Shape;1235;p13"/>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1236" name="Google Shape;1236;p13"/>
              <p:cNvCxnSpPr/>
              <p:nvPr/>
            </p:nvCxnSpPr>
            <p:spPr>
              <a:xfrm>
                <a:off x="-3621642" y="2717403"/>
                <a:ext cx="405953" cy="300600"/>
              </a:xfrm>
              <a:prstGeom prst="straightConnector1">
                <a:avLst/>
              </a:prstGeom>
              <a:noFill/>
              <a:ln cap="flat" cmpd="sng" w="9525">
                <a:solidFill>
                  <a:srgbClr val="000000"/>
                </a:solidFill>
                <a:prstDash val="solid"/>
                <a:round/>
                <a:headEnd len="med" w="med" type="none"/>
                <a:tailEnd len="med" w="med" type="triangle"/>
              </a:ln>
            </p:spPr>
          </p:cxnSp>
        </p:grpSp>
        <p:sp>
          <p:nvSpPr>
            <p:cNvPr id="1237" name="Google Shape;1237;p13"/>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238" name="Google Shape;1238;p13"/>
            <p:cNvGrpSpPr/>
            <p:nvPr/>
          </p:nvGrpSpPr>
          <p:grpSpPr>
            <a:xfrm>
              <a:off x="2714625" y="5659438"/>
              <a:ext cx="565150" cy="293688"/>
              <a:chOff x="1871277" y="1576300"/>
              <a:chExt cx="1128371" cy="437862"/>
            </a:xfrm>
          </p:grpSpPr>
          <p:sp>
            <p:nvSpPr>
              <p:cNvPr id="1239" name="Google Shape;1239;p13"/>
              <p:cNvSpPr/>
              <p:nvPr/>
            </p:nvSpPr>
            <p:spPr>
              <a:xfrm flipH="1" rot="10800000">
                <a:off x="1874448" y="1694641"/>
                <a:ext cx="1125200" cy="319521"/>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0" name="Google Shape;1240;p13"/>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1" name="Google Shape;1241;p13"/>
              <p:cNvSpPr/>
              <p:nvPr/>
            </p:nvSpPr>
            <p:spPr>
              <a:xfrm flipH="1" rot="10800000">
                <a:off x="1871277" y="1576300"/>
                <a:ext cx="1125202" cy="31952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2" name="Google Shape;1242;p13"/>
              <p:cNvSpPr/>
              <p:nvPr/>
            </p:nvSpPr>
            <p:spPr>
              <a:xfrm>
                <a:off x="2159710" y="1673340"/>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1243" name="Google Shape;1243;p13"/>
              <p:cNvSpPr/>
              <p:nvPr/>
            </p:nvSpPr>
            <p:spPr>
              <a:xfrm>
                <a:off x="2102657" y="1633104"/>
                <a:ext cx="662442"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244" name="Google Shape;1244;p13"/>
              <p:cNvSpPr/>
              <p:nvPr/>
            </p:nvSpPr>
            <p:spPr>
              <a:xfrm>
                <a:off x="2536889" y="1727776"/>
                <a:ext cx="244059"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245" name="Google Shape;1245;p13"/>
              <p:cNvSpPr/>
              <p:nvPr/>
            </p:nvSpPr>
            <p:spPr>
              <a:xfrm>
                <a:off x="2089979"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246" name="Google Shape;1246;p13"/>
              <p:cNvCxnSpPr>
                <a:endCxn id="1241" idx="2"/>
              </p:cNvCxnSpPr>
              <p:nvPr/>
            </p:nvCxnSpPr>
            <p:spPr>
              <a:xfrm rot="10800000">
                <a:off x="1871277" y="1736061"/>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1247" name="Google Shape;1247;p13"/>
              <p:cNvCxnSpPr/>
              <p:nvPr/>
            </p:nvCxnSpPr>
            <p:spPr>
              <a:xfrm rot="10800000">
                <a:off x="2996479" y="1734878"/>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1248" name="Google Shape;1248;p13"/>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grpSp>
      <p:sp>
        <p:nvSpPr>
          <p:cNvPr id="1249" name="Google Shape;1249;p13"/>
          <p:cNvSpPr txBox="1"/>
          <p:nvPr/>
        </p:nvSpPr>
        <p:spPr>
          <a:xfrm>
            <a:off x="1946130" y="4850780"/>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nvGrpSpPr>
          <p:cNvPr id="1250" name="Google Shape;1250;p13"/>
          <p:cNvGrpSpPr/>
          <p:nvPr/>
        </p:nvGrpSpPr>
        <p:grpSpPr>
          <a:xfrm>
            <a:off x="4390906" y="2898842"/>
            <a:ext cx="4051268" cy="2367063"/>
            <a:chOff x="-3855475" y="3644638"/>
            <a:chExt cx="4051268" cy="2367866"/>
          </a:xfrm>
        </p:grpSpPr>
        <p:cxnSp>
          <p:nvCxnSpPr>
            <p:cNvPr id="1251" name="Google Shape;1251;p13"/>
            <p:cNvCxnSpPr/>
            <p:nvPr/>
          </p:nvCxnSpPr>
          <p:spPr>
            <a:xfrm>
              <a:off x="-3855475" y="3664699"/>
              <a:ext cx="0" cy="2094800"/>
            </a:xfrm>
            <a:prstGeom prst="straightConnector1">
              <a:avLst/>
            </a:prstGeom>
            <a:noFill/>
            <a:ln cap="flat" cmpd="sng" w="12700">
              <a:solidFill>
                <a:srgbClr val="CC0000"/>
              </a:solidFill>
              <a:prstDash val="solid"/>
              <a:round/>
              <a:headEnd len="sm" w="sm" type="none"/>
              <a:tailEnd len="med" w="med" type="triangle"/>
            </a:ln>
          </p:spPr>
        </p:cxnSp>
        <p:cxnSp>
          <p:nvCxnSpPr>
            <p:cNvPr id="1252" name="Google Shape;1252;p13"/>
            <p:cNvCxnSpPr/>
            <p:nvPr/>
          </p:nvCxnSpPr>
          <p:spPr>
            <a:xfrm>
              <a:off x="-2818087" y="3658010"/>
              <a:ext cx="0" cy="2354494"/>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3" name="Google Shape;1253;p13"/>
            <p:cNvCxnSpPr/>
            <p:nvPr/>
          </p:nvCxnSpPr>
          <p:spPr>
            <a:xfrm>
              <a:off x="-2006679" y="3655204"/>
              <a:ext cx="31396" cy="2331351"/>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4" name="Google Shape;1254;p13"/>
            <p:cNvCxnSpPr/>
            <p:nvPr/>
          </p:nvCxnSpPr>
          <p:spPr>
            <a:xfrm>
              <a:off x="-817641" y="3644638"/>
              <a:ext cx="0" cy="2364624"/>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cxnSp>
          <p:nvCxnSpPr>
            <p:cNvPr id="1255" name="Google Shape;1255;p13"/>
            <p:cNvCxnSpPr/>
            <p:nvPr/>
          </p:nvCxnSpPr>
          <p:spPr>
            <a:xfrm>
              <a:off x="195792" y="3690049"/>
              <a:ext cx="1" cy="2311566"/>
            </a:xfrm>
            <a:prstGeom prst="straightConnector1">
              <a:avLst/>
            </a:prstGeom>
            <a:noFill/>
            <a:ln cap="flat" cmpd="sng" w="9525">
              <a:solidFill>
                <a:srgbClr val="CC0000"/>
              </a:solidFill>
              <a:prstDash val="solid"/>
              <a:round/>
              <a:headEnd len="med" w="med" type="none"/>
              <a:tailEnd len="med" w="med" type="triangle"/>
            </a:ln>
            <a:effectLst>
              <a:outerShdw blurRad="40000" rotWithShape="0" dir="5400000" dist="20000">
                <a:srgbClr val="808080">
                  <a:alpha val="37647"/>
                </a:srgbClr>
              </a:outerShdw>
            </a:effectLst>
          </p:spPr>
        </p:cxnSp>
      </p:grpSp>
      <p:sp>
        <p:nvSpPr>
          <p:cNvPr id="1256" name="Google Shape;1256;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500"/>
                                        <p:tgtEl>
                                          <p:spTgt spid="1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500"/>
                                        <p:tgtEl>
                                          <p:spTgt spid="906"/>
                                        </p:tgtEl>
                                      </p:cBhvr>
                                    </p:animEffect>
                                  </p:childTnLst>
                                </p:cTn>
                              </p:par>
                              <p:par>
                                <p:cTn fill="hold" nodeType="with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500"/>
                                        <p:tgtEl>
                                          <p:spTgt spid="1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500"/>
                                        <p:tgtEl>
                                          <p:spTgt spid="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gtEl>
                                        <p:attrNameLst>
                                          <p:attrName>style.visibility</p:attrName>
                                        </p:attrNameLst>
                                      </p:cBhvr>
                                      <p:to>
                                        <p:strVal val="visible"/>
                                      </p:to>
                                    </p:set>
                                    <p:animEffect filter="fade" transition="in">
                                      <p:cBhvr>
                                        <p:cTn dur="500"/>
                                        <p:tgtEl>
                                          <p:spTgt spid="1250"/>
                                        </p:tgtEl>
                                      </p:cBhvr>
                                    </p:animEffect>
                                  </p:childTnLst>
                                </p:cTn>
                              </p:par>
                              <p:par>
                                <p:cTn fill="hold" nodeType="with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500"/>
                                        <p:tgtEl>
                                          <p:spTgt spid="1126"/>
                                        </p:tgtEl>
                                      </p:cBhvr>
                                    </p:animEffect>
                                  </p:childTnLst>
                                </p:cTn>
                              </p:par>
                              <p:par>
                                <p:cTn fill="hold" nodeType="with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500"/>
                                        <p:tgtEl>
                                          <p:spTgt spid="1202"/>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132"/>
                                        </p:tgtEl>
                                        <p:attrNameLst>
                                          <p:attrName>style.visibility</p:attrName>
                                        </p:attrNameLst>
                                      </p:cBhvr>
                                      <p:to>
                                        <p:strVal val="visible"/>
                                      </p:to>
                                    </p:set>
                                    <p:animEffect filter="fade" transition="in">
                                      <p:cBhvr>
                                        <p:cTn dur="2000"/>
                                        <p:tgtEl>
                                          <p:spTgt spid="1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14"/>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 service model</a:t>
            </a:r>
            <a:endParaRPr/>
          </a:p>
        </p:txBody>
      </p:sp>
      <p:sp>
        <p:nvSpPr>
          <p:cNvPr id="1263" name="Google Shape;1263;p14"/>
          <p:cNvSpPr txBox="1"/>
          <p:nvPr>
            <p:ph idx="1" type="body"/>
          </p:nvPr>
        </p:nvSpPr>
        <p:spPr>
          <a:xfrm>
            <a:off x="1050233" y="2623931"/>
            <a:ext cx="4621697" cy="320847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None/>
            </a:pPr>
            <a:r>
              <a:rPr lang="en-US" sz="3200">
                <a:solidFill>
                  <a:srgbClr val="C00000"/>
                </a:solidFill>
              </a:rPr>
              <a:t>example services for </a:t>
            </a:r>
            <a:r>
              <a:rPr i="1" lang="en-US" sz="3200">
                <a:solidFill>
                  <a:srgbClr val="C00000"/>
                </a:solidFill>
              </a:rPr>
              <a:t>individual</a:t>
            </a:r>
            <a:r>
              <a:rPr lang="en-US" sz="3200">
                <a:solidFill>
                  <a:srgbClr val="C00000"/>
                </a:solidFill>
              </a:rPr>
              <a:t> datagrams</a:t>
            </a:r>
            <a:r>
              <a:rPr lang="en-US" sz="3200">
                <a:solidFill>
                  <a:srgbClr val="CC0000"/>
                </a:solidFill>
              </a:rPr>
              <a:t>:</a:t>
            </a:r>
            <a:endParaRPr/>
          </a:p>
          <a:p>
            <a:pPr indent="-222250" lvl="0" marL="352425" rtl="0" algn="l">
              <a:lnSpc>
                <a:spcPct val="90000"/>
              </a:lnSpc>
              <a:spcBef>
                <a:spcPts val="1000"/>
              </a:spcBef>
              <a:spcAft>
                <a:spcPts val="0"/>
              </a:spcAft>
              <a:buSzPts val="2800"/>
              <a:buFont typeface="Noto Sans Symbols"/>
              <a:buChar char="▪"/>
            </a:pPr>
            <a:r>
              <a:rPr lang="en-US"/>
              <a:t>guaranteed delivery</a:t>
            </a:r>
            <a:endParaRPr/>
          </a:p>
          <a:p>
            <a:pPr indent="-222250" lvl="0" marL="352425" rtl="0" algn="l">
              <a:lnSpc>
                <a:spcPct val="90000"/>
              </a:lnSpc>
              <a:spcBef>
                <a:spcPts val="1000"/>
              </a:spcBef>
              <a:spcAft>
                <a:spcPts val="0"/>
              </a:spcAft>
              <a:buSzPts val="2800"/>
              <a:buFont typeface="Noto Sans Symbols"/>
              <a:buChar char="▪"/>
            </a:pPr>
            <a:r>
              <a:rPr lang="en-US"/>
              <a:t>guaranteed delivery with less than 40 msec delay</a:t>
            </a:r>
            <a:endParaRPr/>
          </a:p>
          <a:p>
            <a:pPr indent="0" lvl="0" marL="130175" rtl="0" algn="l">
              <a:lnSpc>
                <a:spcPct val="90000"/>
              </a:lnSpc>
              <a:spcBef>
                <a:spcPts val="1000"/>
              </a:spcBef>
              <a:spcAft>
                <a:spcPts val="0"/>
              </a:spcAft>
              <a:buSzPts val="2800"/>
              <a:buNone/>
            </a:pPr>
            <a:r>
              <a:t/>
            </a:r>
            <a:endParaRPr/>
          </a:p>
        </p:txBody>
      </p:sp>
      <p:sp>
        <p:nvSpPr>
          <p:cNvPr id="1264" name="Google Shape;1264;p14"/>
          <p:cNvSpPr txBox="1"/>
          <p:nvPr>
            <p:ph idx="2" type="body"/>
          </p:nvPr>
        </p:nvSpPr>
        <p:spPr>
          <a:xfrm>
            <a:off x="6278216" y="2597426"/>
            <a:ext cx="5502965" cy="356483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lang="en-US" sz="3200">
                <a:solidFill>
                  <a:srgbClr val="CC0000"/>
                </a:solidFill>
              </a:rPr>
              <a:t>example services for a </a:t>
            </a:r>
            <a:r>
              <a:rPr i="1" lang="en-US" sz="3200">
                <a:solidFill>
                  <a:srgbClr val="CC0000"/>
                </a:solidFill>
              </a:rPr>
              <a:t>flow</a:t>
            </a:r>
            <a:r>
              <a:rPr lang="en-US" sz="3200">
                <a:solidFill>
                  <a:srgbClr val="CC0000"/>
                </a:solidFill>
              </a:rPr>
              <a:t> of datagrams:</a:t>
            </a:r>
            <a:endParaRPr/>
          </a:p>
          <a:p>
            <a:pPr indent="-222250" lvl="0" marL="352425" rtl="0" algn="l">
              <a:lnSpc>
                <a:spcPct val="90000"/>
              </a:lnSpc>
              <a:spcBef>
                <a:spcPts val="1000"/>
              </a:spcBef>
              <a:spcAft>
                <a:spcPts val="0"/>
              </a:spcAft>
              <a:buSzPts val="2800"/>
              <a:buChar char="▪"/>
            </a:pPr>
            <a:r>
              <a:rPr lang="en-US"/>
              <a:t>in-order datagram delivery</a:t>
            </a:r>
            <a:endParaRPr/>
          </a:p>
          <a:p>
            <a:pPr indent="-222250" lvl="0" marL="352425" rtl="0" algn="l">
              <a:lnSpc>
                <a:spcPct val="90000"/>
              </a:lnSpc>
              <a:spcBef>
                <a:spcPts val="1000"/>
              </a:spcBef>
              <a:spcAft>
                <a:spcPts val="0"/>
              </a:spcAft>
              <a:buSzPts val="2800"/>
              <a:buChar char="▪"/>
            </a:pPr>
            <a:r>
              <a:rPr lang="en-US"/>
              <a:t>guaranteed minimum bandwidth to flow</a:t>
            </a:r>
            <a:endParaRPr/>
          </a:p>
          <a:p>
            <a:pPr indent="-222250" lvl="0" marL="352425" rtl="0" algn="l">
              <a:lnSpc>
                <a:spcPct val="90000"/>
              </a:lnSpc>
              <a:spcBef>
                <a:spcPts val="1000"/>
              </a:spcBef>
              <a:spcAft>
                <a:spcPts val="0"/>
              </a:spcAft>
              <a:buSzPts val="2800"/>
              <a:buChar char="▪"/>
            </a:pPr>
            <a:r>
              <a:rPr lang="en-US"/>
              <a:t>restrictions on changes in inter-packet spacing</a:t>
            </a:r>
            <a:endParaRPr/>
          </a:p>
          <a:p>
            <a:pPr indent="-44450" lvl="0" marL="352425" rtl="0" algn="l">
              <a:lnSpc>
                <a:spcPct val="90000"/>
              </a:lnSpc>
              <a:spcBef>
                <a:spcPts val="1000"/>
              </a:spcBef>
              <a:spcAft>
                <a:spcPts val="0"/>
              </a:spcAft>
              <a:buSzPts val="2800"/>
              <a:buNone/>
            </a:pPr>
            <a:r>
              <a:t/>
            </a:r>
            <a:endParaRPr/>
          </a:p>
        </p:txBody>
      </p:sp>
      <p:sp>
        <p:nvSpPr>
          <p:cNvPr id="1265" name="Google Shape;1265;p14"/>
          <p:cNvSpPr/>
          <p:nvPr/>
        </p:nvSpPr>
        <p:spPr>
          <a:xfrm>
            <a:off x="1033668" y="1403834"/>
            <a:ext cx="10787270" cy="10772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D7D31"/>
              </a:buClr>
              <a:buSzPts val="2720"/>
              <a:buFont typeface="Arial"/>
              <a:buNone/>
            </a:pPr>
            <a:r>
              <a:rPr b="0" i="1" lang="en-US" sz="3200" u="none"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What </a:t>
            </a:r>
            <a:r>
              <a:rPr b="0" i="1" lang="en-US" sz="3200" u="none" cap="none" strike="noStrike">
                <a:solidFill>
                  <a:srgbClr val="000099"/>
                </a:solidFill>
                <a:latin typeface="Calibri"/>
                <a:ea typeface="Calibri"/>
                <a:cs typeface="Calibri"/>
                <a:sym typeface="Calibri"/>
              </a:rPr>
              <a:t>service model</a:t>
            </a:r>
            <a:r>
              <a:rPr b="0" i="0" lang="en-US" sz="3200" u="none" cap="none" strike="noStrike">
                <a:solidFill>
                  <a:srgbClr val="000000"/>
                </a:solidFill>
                <a:latin typeface="Calibri"/>
                <a:ea typeface="Calibri"/>
                <a:cs typeface="Calibri"/>
                <a:sym typeface="Calibri"/>
              </a:rPr>
              <a:t> for “channel” transporting datagrams from sender to receiver?</a:t>
            </a:r>
            <a:endParaRPr b="0" i="0" sz="3200" u="none" cap="none" strike="noStrike">
              <a:solidFill>
                <a:srgbClr val="000000"/>
              </a:solidFill>
              <a:latin typeface="Calibri"/>
              <a:ea typeface="Calibri"/>
              <a:cs typeface="Calibri"/>
              <a:sym typeface="Calibri"/>
            </a:endParaRPr>
          </a:p>
        </p:txBody>
      </p:sp>
      <p:sp>
        <p:nvSpPr>
          <p:cNvPr id="1266" name="Google Shape;1266;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0" st="0"/>
                                            </p:txEl>
                                          </p:spTgt>
                                        </p:tgtEl>
                                        <p:attrNameLst>
                                          <p:attrName>style.visibility</p:attrName>
                                        </p:attrNameLst>
                                      </p:cBhvr>
                                      <p:to>
                                        <p:strVal val="visible"/>
                                      </p:to>
                                    </p:set>
                                    <p:animEffect filter="fade" transition="in">
                                      <p:cBhvr>
                                        <p:cTn dur="500"/>
                                        <p:tgtEl>
                                          <p:spTgt spid="12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1" st="1"/>
                                            </p:txEl>
                                          </p:spTgt>
                                        </p:tgtEl>
                                        <p:attrNameLst>
                                          <p:attrName>style.visibility</p:attrName>
                                        </p:attrNameLst>
                                      </p:cBhvr>
                                      <p:to>
                                        <p:strVal val="visible"/>
                                      </p:to>
                                    </p:set>
                                    <p:animEffect filter="fade" transition="in">
                                      <p:cBhvr>
                                        <p:cTn dur="500"/>
                                        <p:tgtEl>
                                          <p:spTgt spid="12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2" st="2"/>
                                            </p:txEl>
                                          </p:spTgt>
                                        </p:tgtEl>
                                        <p:attrNameLst>
                                          <p:attrName>style.visibility</p:attrName>
                                        </p:attrNameLst>
                                      </p:cBhvr>
                                      <p:to>
                                        <p:strVal val="visible"/>
                                      </p:to>
                                    </p:set>
                                    <p:animEffect filter="fade" transition="in">
                                      <p:cBhvr>
                                        <p:cTn dur="500"/>
                                        <p:tgtEl>
                                          <p:spTgt spid="12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xEl>
                                              <p:pRg end="3" st="3"/>
                                            </p:txEl>
                                          </p:spTgt>
                                        </p:tgtEl>
                                        <p:attrNameLst>
                                          <p:attrName>style.visibility</p:attrName>
                                        </p:attrNameLst>
                                      </p:cBhvr>
                                      <p:to>
                                        <p:strVal val="visible"/>
                                      </p:to>
                                    </p:set>
                                    <p:animEffect filter="fade" transition="in">
                                      <p:cBhvr>
                                        <p:cTn dur="500"/>
                                        <p:tgtEl>
                                          <p:spTgt spid="12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4"/>
                                        </p:tgtEl>
                                        <p:attrNameLst>
                                          <p:attrName>style.visibility</p:attrName>
                                        </p:attrNameLst>
                                      </p:cBhvr>
                                      <p:to>
                                        <p:strVal val="visible"/>
                                      </p:to>
                                    </p:set>
                                    <p:animEffect filter="fade" transition="in">
                                      <p:cBhvr>
                                        <p:cTn dur="500"/>
                                        <p:tgtEl>
                                          <p:spTgt spid="1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5"/>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Network-layer service model</a:t>
            </a:r>
            <a:endParaRPr/>
          </a:p>
        </p:txBody>
      </p:sp>
      <p:sp>
        <p:nvSpPr>
          <p:cNvPr id="1273" name="Google Shape;1273;p15"/>
          <p:cNvSpPr txBox="1"/>
          <p:nvPr/>
        </p:nvSpPr>
        <p:spPr>
          <a:xfrm>
            <a:off x="549795" y="1745078"/>
            <a:ext cx="1552092" cy="39395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a:t>
            </a:r>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Architecture</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b="0" i="0" sz="2400" u="none" cap="none" strike="noStrike">
              <a:solidFill>
                <a:srgbClr val="000000"/>
              </a:solidFill>
              <a:latin typeface="Times New Roman"/>
              <a:ea typeface="Times New Roman"/>
              <a:cs typeface="Times New Roman"/>
              <a:sym typeface="Times New Roman"/>
            </a:endParaRPr>
          </a:p>
        </p:txBody>
      </p:sp>
      <p:sp>
        <p:nvSpPr>
          <p:cNvPr id="1274" name="Google Shape;1274;p15"/>
          <p:cNvSpPr txBox="1"/>
          <p:nvPr/>
        </p:nvSpPr>
        <p:spPr>
          <a:xfrm>
            <a:off x="2453424" y="1760576"/>
            <a:ext cx="2645518" cy="39138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Service</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Model</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best effort</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Available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Intserv Guaranteed</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(RFC 1633</a:t>
            </a:r>
            <a:r>
              <a:rPr b="0" i="0" lang="en-US" sz="2000" u="none" cap="none" strike="noStrike">
                <a:solidFill>
                  <a:srgbClr val="000000"/>
                </a:solidFill>
                <a:latin typeface="Arial"/>
                <a:ea typeface="Arial"/>
                <a:cs typeface="Arial"/>
                <a:sym typeface="Arial"/>
              </a:rPr>
              <a:t>)</a:t>
            </a:r>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Diffserv  </a:t>
            </a:r>
            <a:r>
              <a:rPr b="0" i="0" lang="en-US" sz="1600" u="none" cap="none" strike="noStrike">
                <a:solidFill>
                  <a:srgbClr val="000000"/>
                </a:solidFill>
                <a:latin typeface="Arial"/>
                <a:ea typeface="Arial"/>
                <a:cs typeface="Arial"/>
                <a:sym typeface="Arial"/>
              </a:rPr>
              <a:t>(RFC 2475</a:t>
            </a:r>
            <a:r>
              <a:rPr b="0" i="0" lang="en-US" sz="2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sp>
        <p:nvSpPr>
          <p:cNvPr id="1275" name="Google Shape;1275;p15"/>
          <p:cNvSpPr txBox="1"/>
          <p:nvPr/>
        </p:nvSpPr>
        <p:spPr>
          <a:xfrm>
            <a:off x="5253925" y="2071348"/>
            <a:ext cx="2137764"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Bandwidth</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none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Guaranteed min</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possible</a:t>
            </a:r>
            <a:endParaRPr b="0" i="0" sz="2400" u="none" cap="none" strike="noStrike">
              <a:solidFill>
                <a:srgbClr val="000000"/>
              </a:solidFill>
              <a:latin typeface="Times New Roman"/>
              <a:ea typeface="Times New Roman"/>
              <a:cs typeface="Times New Roman"/>
              <a:sym typeface="Times New Roman"/>
            </a:endParaRPr>
          </a:p>
        </p:txBody>
      </p:sp>
      <p:sp>
        <p:nvSpPr>
          <p:cNvPr id="1276" name="Google Shape;1276;p15"/>
          <p:cNvSpPr txBox="1"/>
          <p:nvPr/>
        </p:nvSpPr>
        <p:spPr>
          <a:xfrm>
            <a:off x="7310368" y="2071348"/>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Loss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277" name="Google Shape;1277;p15"/>
          <p:cNvSpPr txBox="1"/>
          <p:nvPr/>
        </p:nvSpPr>
        <p:spPr>
          <a:xfrm>
            <a:off x="8483715" y="2080873"/>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Order</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278" name="Google Shape;1278;p15"/>
          <p:cNvSpPr txBox="1"/>
          <p:nvPr/>
        </p:nvSpPr>
        <p:spPr>
          <a:xfrm>
            <a:off x="9712924" y="2080873"/>
            <a:ext cx="946221"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Timing</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b="0" i="0" sz="2400" u="none" cap="none" strike="noStrike">
              <a:solidFill>
                <a:srgbClr val="000000"/>
              </a:solidFill>
              <a:latin typeface="Times New Roman"/>
              <a:ea typeface="Times New Roman"/>
              <a:cs typeface="Times New Roman"/>
              <a:sym typeface="Times New Roman"/>
            </a:endParaRPr>
          </a:p>
        </p:txBody>
      </p:sp>
      <p:cxnSp>
        <p:nvCxnSpPr>
          <p:cNvPr id="1279" name="Google Shape;1279;p15"/>
          <p:cNvCxnSpPr/>
          <p:nvPr/>
        </p:nvCxnSpPr>
        <p:spPr>
          <a:xfrm>
            <a:off x="1070632" y="2577761"/>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0" name="Google Shape;1280;p15"/>
          <p:cNvCxnSpPr/>
          <p:nvPr/>
        </p:nvCxnSpPr>
        <p:spPr>
          <a:xfrm>
            <a:off x="1068049" y="3210609"/>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1" name="Google Shape;1281;p15"/>
          <p:cNvCxnSpPr/>
          <p:nvPr/>
        </p:nvCxnSpPr>
        <p:spPr>
          <a:xfrm>
            <a:off x="1065466" y="3827958"/>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2" name="Google Shape;1282;p15"/>
          <p:cNvCxnSpPr/>
          <p:nvPr/>
        </p:nvCxnSpPr>
        <p:spPr>
          <a:xfrm>
            <a:off x="1062883" y="4445307"/>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283" name="Google Shape;1283;p15"/>
          <p:cNvCxnSpPr/>
          <p:nvPr/>
        </p:nvCxnSpPr>
        <p:spPr>
          <a:xfrm>
            <a:off x="1075798" y="5217639"/>
            <a:ext cx="9623199" cy="0"/>
          </a:xfrm>
          <a:prstGeom prst="straightConnector1">
            <a:avLst/>
          </a:prstGeom>
          <a:noFill/>
          <a:ln cap="flat" cmpd="sng" w="28575">
            <a:solidFill>
              <a:srgbClr val="000099"/>
            </a:solidFill>
            <a:prstDash val="solid"/>
            <a:round/>
            <a:headEnd len="med" w="med" type="none"/>
            <a:tailEnd len="med" w="med" type="none"/>
          </a:ln>
        </p:spPr>
      </p:cxnSp>
      <p:sp>
        <p:nvSpPr>
          <p:cNvPr id="1284" name="Google Shape;1284;p15"/>
          <p:cNvSpPr/>
          <p:nvPr/>
        </p:nvSpPr>
        <p:spPr>
          <a:xfrm>
            <a:off x="821410" y="3093349"/>
            <a:ext cx="10120393" cy="29044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285" name="Google Shape;1285;p15"/>
          <p:cNvCxnSpPr/>
          <p:nvPr/>
        </p:nvCxnSpPr>
        <p:spPr>
          <a:xfrm>
            <a:off x="5315919" y="2007768"/>
            <a:ext cx="5362413" cy="0"/>
          </a:xfrm>
          <a:prstGeom prst="straightConnector1">
            <a:avLst/>
          </a:prstGeom>
          <a:noFill/>
          <a:ln cap="flat" cmpd="sng" w="28575">
            <a:solidFill>
              <a:srgbClr val="000099"/>
            </a:solidFill>
            <a:prstDash val="solid"/>
            <a:round/>
            <a:headEnd len="med" w="med" type="none"/>
            <a:tailEnd len="med" w="med" type="none"/>
          </a:ln>
        </p:spPr>
      </p:cxnSp>
      <p:grpSp>
        <p:nvGrpSpPr>
          <p:cNvPr id="1286" name="Google Shape;1286;p15"/>
          <p:cNvGrpSpPr/>
          <p:nvPr/>
        </p:nvGrpSpPr>
        <p:grpSpPr>
          <a:xfrm>
            <a:off x="1859797" y="3440624"/>
            <a:ext cx="8105613" cy="2557221"/>
            <a:chOff x="852407" y="3270142"/>
            <a:chExt cx="8105613" cy="2557221"/>
          </a:xfrm>
        </p:grpSpPr>
        <p:sp>
          <p:nvSpPr>
            <p:cNvPr id="1287" name="Google Shape;1287;p15"/>
            <p:cNvSpPr txBox="1"/>
            <p:nvPr/>
          </p:nvSpPr>
          <p:spPr>
            <a:xfrm>
              <a:off x="1175287" y="3794500"/>
              <a:ext cx="751616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2800"/>
                <a:buFont typeface="Calibri"/>
                <a:buNone/>
              </a:pPr>
              <a:r>
                <a:rPr b="0" i="1" lang="en-US" sz="2800" u="none" cap="none" strike="noStrike">
                  <a:solidFill>
                    <a:srgbClr val="0013A3"/>
                  </a:solidFill>
                  <a:latin typeface="Calibri"/>
                  <a:ea typeface="Calibri"/>
                  <a:cs typeface="Calibri"/>
                  <a:sym typeface="Calibri"/>
                </a:rPr>
                <a:t>No</a:t>
              </a:r>
              <a:r>
                <a:rPr b="0" i="0" lang="en-US" sz="2800" u="none" cap="none" strike="noStrike">
                  <a:solidFill>
                    <a:srgbClr val="000000"/>
                  </a:solidFill>
                  <a:latin typeface="Calibri"/>
                  <a:ea typeface="Calibri"/>
                  <a:cs typeface="Calibri"/>
                  <a:sym typeface="Calibri"/>
                </a:rPr>
                <a:t> guarantees on</a:t>
              </a:r>
              <a:r>
                <a:rPr b="0" i="1" lang="en-US" sz="2800" u="none" cap="none" strike="noStrike">
                  <a:solidFill>
                    <a:srgbClr val="000000"/>
                  </a:solidFill>
                  <a:latin typeface="Calibri"/>
                  <a:ea typeface="Calibri"/>
                  <a:cs typeface="Calibri"/>
                  <a:sym typeface="Calibri"/>
                </a:rPr>
                <a:t>: </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successful</a:t>
              </a:r>
              <a:r>
                <a:rPr b="0" i="1" lang="en-US" sz="2800" u="none" cap="none" strike="noStrike">
                  <a:solidFill>
                    <a:srgbClr val="00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datagram delivery to destination</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timing or order of delivery</a:t>
              </a:r>
              <a:endParaRPr/>
            </a:p>
            <a:p>
              <a:pPr indent="-409575" lvl="1" marL="866775" marR="0" rtl="0" algn="l">
                <a:lnSpc>
                  <a:spcPct val="100000"/>
                </a:lnSpc>
                <a:spcBef>
                  <a:spcPts val="0"/>
                </a:spcBef>
                <a:spcAft>
                  <a:spcPts val="0"/>
                </a:spcAft>
                <a:buClr>
                  <a:srgbClr val="000000"/>
                </a:buClr>
                <a:buSzPts val="2800"/>
                <a:buFont typeface="Calibri"/>
                <a:buAutoNum type="romanLcPeriod"/>
              </a:pPr>
              <a:r>
                <a:rPr b="0" i="0" lang="en-US" sz="2800" u="none" cap="none" strike="noStrike">
                  <a:solidFill>
                    <a:srgbClr val="000000"/>
                  </a:solidFill>
                  <a:latin typeface="Calibri"/>
                  <a:ea typeface="Calibri"/>
                  <a:cs typeface="Calibri"/>
                  <a:sym typeface="Calibri"/>
                </a:rPr>
                <a:t>bandwidth available to end-end flow</a:t>
              </a:r>
              <a:endParaRPr b="0" i="0" sz="1800" u="none" cap="none" strike="noStrike">
                <a:solidFill>
                  <a:srgbClr val="000000"/>
                </a:solidFill>
                <a:latin typeface="Calibri"/>
                <a:ea typeface="Calibri"/>
                <a:cs typeface="Calibri"/>
                <a:sym typeface="Calibri"/>
              </a:endParaRPr>
            </a:p>
          </p:txBody>
        </p:sp>
        <p:sp>
          <p:nvSpPr>
            <p:cNvPr id="1288" name="Google Shape;1288;p15"/>
            <p:cNvSpPr/>
            <p:nvPr/>
          </p:nvSpPr>
          <p:spPr>
            <a:xfrm>
              <a:off x="852407" y="3502617"/>
              <a:ext cx="8105613" cy="2324746"/>
            </a:xfrm>
            <a:prstGeom prst="rect">
              <a:avLst/>
            </a:prstGeom>
            <a:noFill/>
            <a:ln cap="flat" cmpd="sng" w="349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89" name="Google Shape;1289;p15"/>
            <p:cNvSpPr txBox="1"/>
            <p:nvPr/>
          </p:nvSpPr>
          <p:spPr>
            <a:xfrm>
              <a:off x="1100380" y="3270142"/>
              <a:ext cx="5474191"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Internet  “best effort” service model</a:t>
              </a:r>
              <a:endParaRPr/>
            </a:p>
          </p:txBody>
        </p:sp>
      </p:grpSp>
      <p:sp>
        <p:nvSpPr>
          <p:cNvPr id="1290" name="Google Shape;1290;p15"/>
          <p:cNvSpPr txBox="1"/>
          <p:nvPr/>
        </p:nvSpPr>
        <p:spPr>
          <a:xfrm>
            <a:off x="5778457" y="1566819"/>
            <a:ext cx="45688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Quality of Service (QoS) Guarantees ?</a:t>
            </a:r>
            <a:endParaRPr b="0" i="0" sz="2400" u="none" cap="none" strike="noStrike">
              <a:solidFill>
                <a:srgbClr val="000000"/>
              </a:solidFill>
              <a:latin typeface="Times New Roman"/>
              <a:ea typeface="Times New Roman"/>
              <a:cs typeface="Times New Roman"/>
              <a:sym typeface="Times New Roman"/>
            </a:endParaRPr>
          </a:p>
        </p:txBody>
      </p:sp>
      <p:sp>
        <p:nvSpPr>
          <p:cNvPr id="1291" name="Google Shape;1291;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500"/>
                                        <p:tgtEl>
                                          <p:spTgt spid="1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6"/>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Network-layer service model</a:t>
            </a:r>
            <a:endParaRPr/>
          </a:p>
        </p:txBody>
      </p:sp>
      <p:sp>
        <p:nvSpPr>
          <p:cNvPr id="1298" name="Google Shape;1298;p16"/>
          <p:cNvSpPr txBox="1"/>
          <p:nvPr/>
        </p:nvSpPr>
        <p:spPr>
          <a:xfrm>
            <a:off x="549795" y="1745078"/>
            <a:ext cx="1552092" cy="39395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a:t>
            </a:r>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Architecture</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ATM</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a:p>
          <a:p>
            <a:pPr indent="0" lvl="0" marL="0" marR="0" rtl="0" algn="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r">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Internet</a:t>
            </a:r>
            <a:endParaRPr b="0" i="0" sz="2400" u="none" cap="none" strike="noStrike">
              <a:solidFill>
                <a:srgbClr val="000000"/>
              </a:solidFill>
              <a:latin typeface="Times New Roman"/>
              <a:ea typeface="Times New Roman"/>
              <a:cs typeface="Times New Roman"/>
              <a:sym typeface="Times New Roman"/>
            </a:endParaRPr>
          </a:p>
        </p:txBody>
      </p:sp>
      <p:sp>
        <p:nvSpPr>
          <p:cNvPr id="1299" name="Google Shape;1299;p16"/>
          <p:cNvSpPr txBox="1"/>
          <p:nvPr/>
        </p:nvSpPr>
        <p:spPr>
          <a:xfrm>
            <a:off x="2453424" y="1760576"/>
            <a:ext cx="2645518" cy="39138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Service</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Model</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best effort</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Available Bit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Intserv Guaranteed</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(RFC 1633</a:t>
            </a:r>
            <a:r>
              <a:rPr b="0" i="0" lang="en-US" sz="2000" u="none" cap="none" strike="noStrike">
                <a:solidFill>
                  <a:srgbClr val="000000"/>
                </a:solidFill>
                <a:latin typeface="Arial"/>
                <a:ea typeface="Arial"/>
                <a:cs typeface="Arial"/>
                <a:sym typeface="Arial"/>
              </a:rPr>
              <a:t>)</a:t>
            </a:r>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Diffserv  </a:t>
            </a:r>
            <a:r>
              <a:rPr b="0" i="0" lang="en-US" sz="1600" u="none" cap="none" strike="noStrike">
                <a:solidFill>
                  <a:srgbClr val="000000"/>
                </a:solidFill>
                <a:latin typeface="Arial"/>
                <a:ea typeface="Arial"/>
                <a:cs typeface="Arial"/>
                <a:sym typeface="Arial"/>
              </a:rPr>
              <a:t>(RFC 2475</a:t>
            </a:r>
            <a:r>
              <a:rPr b="0" i="0" lang="en-US" sz="2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sp>
        <p:nvSpPr>
          <p:cNvPr id="1300" name="Google Shape;1300;p16"/>
          <p:cNvSpPr txBox="1"/>
          <p:nvPr/>
        </p:nvSpPr>
        <p:spPr>
          <a:xfrm>
            <a:off x="5253925" y="2071348"/>
            <a:ext cx="2137764"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Bandwidth</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none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Constant rate</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Guaranteed min</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possible</a:t>
            </a:r>
            <a:endParaRPr b="0" i="0" sz="2400" u="none" cap="none" strike="noStrike">
              <a:solidFill>
                <a:srgbClr val="000000"/>
              </a:solidFill>
              <a:latin typeface="Times New Roman"/>
              <a:ea typeface="Times New Roman"/>
              <a:cs typeface="Times New Roman"/>
              <a:sym typeface="Times New Roman"/>
            </a:endParaRPr>
          </a:p>
        </p:txBody>
      </p:sp>
      <p:sp>
        <p:nvSpPr>
          <p:cNvPr id="1301" name="Google Shape;1301;p16"/>
          <p:cNvSpPr txBox="1"/>
          <p:nvPr/>
        </p:nvSpPr>
        <p:spPr>
          <a:xfrm>
            <a:off x="7310368" y="2071348"/>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Loss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302" name="Google Shape;1302;p16"/>
          <p:cNvSpPr txBox="1"/>
          <p:nvPr/>
        </p:nvSpPr>
        <p:spPr>
          <a:xfrm>
            <a:off x="8483715" y="2080873"/>
            <a:ext cx="1112805"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Order</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possibly</a:t>
            </a:r>
            <a:endParaRPr b="0" i="0" sz="2400" u="none" cap="none" strike="noStrike">
              <a:solidFill>
                <a:srgbClr val="000000"/>
              </a:solidFill>
              <a:latin typeface="Times New Roman"/>
              <a:ea typeface="Times New Roman"/>
              <a:cs typeface="Times New Roman"/>
              <a:sym typeface="Times New Roman"/>
            </a:endParaRPr>
          </a:p>
        </p:txBody>
      </p:sp>
      <p:sp>
        <p:nvSpPr>
          <p:cNvPr id="1303" name="Google Shape;1303;p16"/>
          <p:cNvSpPr txBox="1"/>
          <p:nvPr/>
        </p:nvSpPr>
        <p:spPr>
          <a:xfrm>
            <a:off x="9712924" y="2080873"/>
            <a:ext cx="946221" cy="3631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Timing</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yes</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a:t>
            </a:r>
            <a:endParaRPr b="0" i="0" sz="2400" u="none" cap="none" strike="noStrike">
              <a:solidFill>
                <a:srgbClr val="000000"/>
              </a:solidFill>
              <a:latin typeface="Times New Roman"/>
              <a:ea typeface="Times New Roman"/>
              <a:cs typeface="Times New Roman"/>
              <a:sym typeface="Times New Roman"/>
            </a:endParaRPr>
          </a:p>
        </p:txBody>
      </p:sp>
      <p:sp>
        <p:nvSpPr>
          <p:cNvPr id="1304" name="Google Shape;1304;p16"/>
          <p:cNvSpPr txBox="1"/>
          <p:nvPr/>
        </p:nvSpPr>
        <p:spPr>
          <a:xfrm>
            <a:off x="5778457" y="1566819"/>
            <a:ext cx="45688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Quality of Service (QoS) Guarantees ?</a:t>
            </a:r>
            <a:endParaRPr b="0" i="0" sz="2400" u="none" cap="none" strike="noStrike">
              <a:solidFill>
                <a:srgbClr val="000000"/>
              </a:solidFill>
              <a:latin typeface="Times New Roman"/>
              <a:ea typeface="Times New Roman"/>
              <a:cs typeface="Times New Roman"/>
              <a:sym typeface="Times New Roman"/>
            </a:endParaRPr>
          </a:p>
        </p:txBody>
      </p:sp>
      <p:cxnSp>
        <p:nvCxnSpPr>
          <p:cNvPr id="1305" name="Google Shape;1305;p16"/>
          <p:cNvCxnSpPr/>
          <p:nvPr/>
        </p:nvCxnSpPr>
        <p:spPr>
          <a:xfrm>
            <a:off x="5315919" y="2007768"/>
            <a:ext cx="5362413" cy="0"/>
          </a:xfrm>
          <a:prstGeom prst="straightConnector1">
            <a:avLst/>
          </a:prstGeom>
          <a:noFill/>
          <a:ln cap="flat" cmpd="sng" w="28575">
            <a:solidFill>
              <a:srgbClr val="000099"/>
            </a:solidFill>
            <a:prstDash val="solid"/>
            <a:round/>
            <a:headEnd len="med" w="med" type="none"/>
            <a:tailEnd len="med" w="med" type="none"/>
          </a:ln>
        </p:spPr>
      </p:cxnSp>
      <p:cxnSp>
        <p:nvCxnSpPr>
          <p:cNvPr id="1306" name="Google Shape;1306;p16"/>
          <p:cNvCxnSpPr/>
          <p:nvPr/>
        </p:nvCxnSpPr>
        <p:spPr>
          <a:xfrm>
            <a:off x="1070632" y="2577761"/>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7" name="Google Shape;1307;p16"/>
          <p:cNvCxnSpPr/>
          <p:nvPr/>
        </p:nvCxnSpPr>
        <p:spPr>
          <a:xfrm>
            <a:off x="1068049" y="3210609"/>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8" name="Google Shape;1308;p16"/>
          <p:cNvCxnSpPr/>
          <p:nvPr/>
        </p:nvCxnSpPr>
        <p:spPr>
          <a:xfrm>
            <a:off x="1065466" y="3827958"/>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09" name="Google Shape;1309;p16"/>
          <p:cNvCxnSpPr/>
          <p:nvPr/>
        </p:nvCxnSpPr>
        <p:spPr>
          <a:xfrm>
            <a:off x="1062883" y="4445307"/>
            <a:ext cx="9623199" cy="0"/>
          </a:xfrm>
          <a:prstGeom prst="straightConnector1">
            <a:avLst/>
          </a:prstGeom>
          <a:noFill/>
          <a:ln cap="flat" cmpd="sng" w="28575">
            <a:solidFill>
              <a:srgbClr val="000099"/>
            </a:solidFill>
            <a:prstDash val="solid"/>
            <a:round/>
            <a:headEnd len="med" w="med" type="none"/>
            <a:tailEnd len="med" w="med" type="none"/>
          </a:ln>
        </p:spPr>
      </p:cxnSp>
      <p:cxnSp>
        <p:nvCxnSpPr>
          <p:cNvPr id="1310" name="Google Shape;1310;p16"/>
          <p:cNvCxnSpPr/>
          <p:nvPr/>
        </p:nvCxnSpPr>
        <p:spPr>
          <a:xfrm>
            <a:off x="1075798" y="5217639"/>
            <a:ext cx="9623199" cy="0"/>
          </a:xfrm>
          <a:prstGeom prst="straightConnector1">
            <a:avLst/>
          </a:prstGeom>
          <a:noFill/>
          <a:ln cap="flat" cmpd="sng" w="28575">
            <a:solidFill>
              <a:srgbClr val="000099"/>
            </a:solidFill>
            <a:prstDash val="solid"/>
            <a:round/>
            <a:headEnd len="med" w="med" type="none"/>
            <a:tailEnd len="med" w="med" type="none"/>
          </a:ln>
        </p:spPr>
      </p:cxnSp>
      <p:sp>
        <p:nvSpPr>
          <p:cNvPr id="1311" name="Google Shape;1311;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7"/>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Reflections on best-effort  service:</a:t>
            </a:r>
            <a:endParaRPr/>
          </a:p>
        </p:txBody>
      </p:sp>
      <p:sp>
        <p:nvSpPr>
          <p:cNvPr id="1318" name="Google Shape;1318;p17"/>
          <p:cNvSpPr txBox="1"/>
          <p:nvPr>
            <p:ph idx="1" type="body"/>
          </p:nvPr>
        </p:nvSpPr>
        <p:spPr>
          <a:xfrm>
            <a:off x="848755" y="1399565"/>
            <a:ext cx="10836967" cy="469126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Font typeface="Noto Sans Symbols"/>
              <a:buChar char="▪"/>
            </a:pPr>
            <a:r>
              <a:rPr lang="en-US">
                <a:solidFill>
                  <a:srgbClr val="0013A3"/>
                </a:solidFill>
              </a:rPr>
              <a:t>simplicity of mechanism </a:t>
            </a:r>
            <a:r>
              <a:rPr lang="en-US"/>
              <a:t>has allowed Internet to be widely deployed adopted</a:t>
            </a:r>
            <a:endParaRPr/>
          </a:p>
          <a:p>
            <a:pPr indent="-222250" lvl="0" marL="352425" rtl="0" algn="l">
              <a:lnSpc>
                <a:spcPct val="90000"/>
              </a:lnSpc>
              <a:spcBef>
                <a:spcPts val="1000"/>
              </a:spcBef>
              <a:spcAft>
                <a:spcPts val="0"/>
              </a:spcAft>
              <a:buSzPts val="2800"/>
              <a:buFont typeface="Noto Sans Symbols"/>
              <a:buChar char="▪"/>
            </a:pPr>
            <a:r>
              <a:rPr lang="en-US"/>
              <a:t>sufficient </a:t>
            </a:r>
            <a:r>
              <a:rPr lang="en-US">
                <a:solidFill>
                  <a:srgbClr val="0013A3"/>
                </a:solidFill>
              </a:rPr>
              <a:t>provisioning of bandwidth</a:t>
            </a:r>
            <a:r>
              <a:rPr lang="en-US"/>
              <a:t> allows performance of real-time applications (e.g., interactive voice, video) to be “good enough” for “most of the time”</a:t>
            </a:r>
            <a:endParaRPr/>
          </a:p>
          <a:p>
            <a:pPr indent="-222250" lvl="0" marL="352425" rtl="0" algn="l">
              <a:lnSpc>
                <a:spcPct val="90000"/>
              </a:lnSpc>
              <a:spcBef>
                <a:spcPts val="1000"/>
              </a:spcBef>
              <a:spcAft>
                <a:spcPts val="0"/>
              </a:spcAft>
              <a:buSzPts val="2800"/>
              <a:buFont typeface="Noto Sans Symbols"/>
              <a:buChar char="▪"/>
            </a:pPr>
            <a:r>
              <a:rPr lang="en-US">
                <a:solidFill>
                  <a:srgbClr val="0013A3"/>
                </a:solidFill>
              </a:rPr>
              <a:t>replicated, application-layer distributed services </a:t>
            </a:r>
            <a:r>
              <a:rPr lang="en-US"/>
              <a:t>(datacenters, content distribution networks) connecting close to clients’ networks, allow services to be provided from multiple locations</a:t>
            </a:r>
            <a:endParaRPr/>
          </a:p>
          <a:p>
            <a:pPr indent="-222250" lvl="0" marL="352425" rtl="0" algn="l">
              <a:lnSpc>
                <a:spcPct val="90000"/>
              </a:lnSpc>
              <a:spcBef>
                <a:spcPts val="1000"/>
              </a:spcBef>
              <a:spcAft>
                <a:spcPts val="0"/>
              </a:spcAft>
              <a:buSzPts val="2800"/>
              <a:buFont typeface="Noto Sans Symbols"/>
              <a:buChar char="▪"/>
            </a:pPr>
            <a:r>
              <a:rPr lang="en-US"/>
              <a:t>congestion control of “elastic” services helps</a:t>
            </a:r>
            <a:endParaRPr/>
          </a:p>
          <a:p>
            <a:pPr indent="0" lvl="0" marL="130175" rtl="0" algn="l">
              <a:lnSpc>
                <a:spcPct val="90000"/>
              </a:lnSpc>
              <a:spcBef>
                <a:spcPts val="1000"/>
              </a:spcBef>
              <a:spcAft>
                <a:spcPts val="0"/>
              </a:spcAft>
              <a:buSzPts val="2800"/>
              <a:buNone/>
            </a:pPr>
            <a:r>
              <a:t/>
            </a:r>
            <a:endParaRPr/>
          </a:p>
        </p:txBody>
      </p:sp>
      <p:sp>
        <p:nvSpPr>
          <p:cNvPr id="1319" name="Google Shape;1319;p17"/>
          <p:cNvSpPr txBox="1"/>
          <p:nvPr/>
        </p:nvSpPr>
        <p:spPr>
          <a:xfrm flipH="1">
            <a:off x="1131375" y="5749871"/>
            <a:ext cx="10104895"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3200"/>
              <a:buFont typeface="Calibri"/>
              <a:buNone/>
            </a:pPr>
            <a:r>
              <a:rPr b="0" i="1" lang="en-US" sz="3200" u="none" cap="none" strike="noStrike">
                <a:solidFill>
                  <a:srgbClr val="C00000"/>
                </a:solidFill>
                <a:latin typeface="Calibri"/>
                <a:ea typeface="Calibri"/>
                <a:cs typeface="Calibri"/>
                <a:sym typeface="Calibri"/>
              </a:rPr>
              <a:t>It’s hard to argue with success of best-effort service model </a:t>
            </a:r>
            <a:endParaRPr/>
          </a:p>
        </p:txBody>
      </p:sp>
      <p:sp>
        <p:nvSpPr>
          <p:cNvPr id="1320" name="Google Shape;1320;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0" st="0"/>
                                            </p:txEl>
                                          </p:spTgt>
                                        </p:tgtEl>
                                        <p:attrNameLst>
                                          <p:attrName>style.visibility</p:attrName>
                                        </p:attrNameLst>
                                      </p:cBhvr>
                                      <p:to>
                                        <p:strVal val="visible"/>
                                      </p:to>
                                    </p:set>
                                    <p:animEffect filter="fade" transition="in">
                                      <p:cBhvr>
                                        <p:cTn dur="500"/>
                                        <p:tgtEl>
                                          <p:spTgt spid="13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1" st="1"/>
                                            </p:txEl>
                                          </p:spTgt>
                                        </p:tgtEl>
                                        <p:attrNameLst>
                                          <p:attrName>style.visibility</p:attrName>
                                        </p:attrNameLst>
                                      </p:cBhvr>
                                      <p:to>
                                        <p:strVal val="visible"/>
                                      </p:to>
                                    </p:set>
                                    <p:animEffect filter="fade" transition="in">
                                      <p:cBhvr>
                                        <p:cTn dur="500"/>
                                        <p:tgtEl>
                                          <p:spTgt spid="13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2" st="2"/>
                                            </p:txEl>
                                          </p:spTgt>
                                        </p:tgtEl>
                                        <p:attrNameLst>
                                          <p:attrName>style.visibility</p:attrName>
                                        </p:attrNameLst>
                                      </p:cBhvr>
                                      <p:to>
                                        <p:strVal val="visible"/>
                                      </p:to>
                                    </p:set>
                                    <p:animEffect filter="fade" transition="in">
                                      <p:cBhvr>
                                        <p:cTn dur="500"/>
                                        <p:tgtEl>
                                          <p:spTgt spid="13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3" st="3"/>
                                            </p:txEl>
                                          </p:spTgt>
                                        </p:tgtEl>
                                        <p:attrNameLst>
                                          <p:attrName>style.visibility</p:attrName>
                                        </p:attrNameLst>
                                      </p:cBhvr>
                                      <p:to>
                                        <p:strVal val="visible"/>
                                      </p:to>
                                    </p:set>
                                    <p:animEffect filter="fade" transition="in">
                                      <p:cBhvr>
                                        <p:cTn dur="500"/>
                                        <p:tgtEl>
                                          <p:spTgt spid="13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4" st="4"/>
                                            </p:txEl>
                                          </p:spTgt>
                                        </p:tgtEl>
                                        <p:attrNameLst>
                                          <p:attrName>style.visibility</p:attrName>
                                        </p:attrNameLst>
                                      </p:cBhvr>
                                      <p:to>
                                        <p:strVal val="visible"/>
                                      </p:to>
                                    </p:set>
                                    <p:animEffect filter="fade" transition="in">
                                      <p:cBhvr>
                                        <p:cTn dur="500"/>
                                        <p:tgtEl>
                                          <p:spTgt spid="13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1327" name="Google Shape;1327;p18"/>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SzPts val="3200"/>
              <a:buChar char="▪"/>
            </a:pPr>
            <a:r>
              <a:rPr lang="en-US" sz="3200"/>
              <a:t>What’s inside a router</a:t>
            </a:r>
            <a:endParaRPr/>
          </a:p>
          <a:p>
            <a:pPr indent="-231775" lvl="1" marL="695325" rtl="0" algn="l">
              <a:lnSpc>
                <a:spcPct val="90000"/>
              </a:lnSpc>
              <a:spcBef>
                <a:spcPts val="0"/>
              </a:spcBef>
              <a:spcAft>
                <a:spcPts val="0"/>
              </a:spcAft>
              <a:buSzPts val="2800"/>
              <a:buChar char="•"/>
            </a:pPr>
            <a:r>
              <a:rPr lang="en-US" sz="2800"/>
              <a:t>input ports, switching, output ports</a:t>
            </a:r>
            <a:endParaRPr/>
          </a:p>
          <a:p>
            <a:pPr indent="-231775" lvl="1" marL="695325" rtl="0" algn="l">
              <a:lnSpc>
                <a:spcPct val="90000"/>
              </a:lnSpc>
              <a:spcBef>
                <a:spcPts val="0"/>
              </a:spcBef>
              <a:spcAft>
                <a:spcPts val="0"/>
              </a:spcAft>
              <a:buSzPts val="2800"/>
              <a:buChar char="•"/>
            </a:pPr>
            <a:r>
              <a:rPr lang="en-US" sz="2800"/>
              <a:t>buffer management, scheduling</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IP: the Internet Protocol</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datagram format</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addressing</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network address translation</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IPv6</a:t>
            </a:r>
            <a:endParaRPr/>
          </a:p>
        </p:txBody>
      </p:sp>
      <p:pic>
        <p:nvPicPr>
          <p:cNvPr descr="A train crossing a bridge over a body of water&#10;&#10;Description automatically generated" id="1328" name="Google Shape;1328;p1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1329" name="Google Shape;1329;p1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330" name="Google Shape;1330;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9"/>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Router architecture overview</a:t>
            </a:r>
            <a:endParaRPr sz="4800"/>
          </a:p>
        </p:txBody>
      </p:sp>
      <p:sp>
        <p:nvSpPr>
          <p:cNvPr id="1337" name="Google Shape;1337;p19"/>
          <p:cNvSpPr/>
          <p:nvPr/>
        </p:nvSpPr>
        <p:spPr>
          <a:xfrm>
            <a:off x="874641" y="1443590"/>
            <a:ext cx="10787270"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high-level view of generic router architecture:</a:t>
            </a:r>
            <a:endParaRPr/>
          </a:p>
        </p:txBody>
      </p:sp>
      <p:grpSp>
        <p:nvGrpSpPr>
          <p:cNvPr id="1338" name="Google Shape;1338;p19"/>
          <p:cNvGrpSpPr/>
          <p:nvPr/>
        </p:nvGrpSpPr>
        <p:grpSpPr>
          <a:xfrm>
            <a:off x="4324902" y="3466272"/>
            <a:ext cx="1609725" cy="2343150"/>
            <a:chOff x="2418" y="1882"/>
            <a:chExt cx="1014" cy="1476"/>
          </a:xfrm>
        </p:grpSpPr>
        <p:sp>
          <p:nvSpPr>
            <p:cNvPr id="1339" name="Google Shape;1339;p19"/>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0" name="Google Shape;1340;p19"/>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grpSp>
        <p:nvGrpSpPr>
          <p:cNvPr id="1341" name="Google Shape;1341;p19"/>
          <p:cNvGrpSpPr/>
          <p:nvPr/>
        </p:nvGrpSpPr>
        <p:grpSpPr>
          <a:xfrm>
            <a:off x="4342365" y="2504247"/>
            <a:ext cx="1590675" cy="1090613"/>
            <a:chOff x="4342365" y="2504247"/>
            <a:chExt cx="1590675" cy="1090613"/>
          </a:xfrm>
        </p:grpSpPr>
        <p:sp>
          <p:nvSpPr>
            <p:cNvPr id="1342" name="Google Shape;1342;p19"/>
            <p:cNvSpPr/>
            <p:nvPr/>
          </p:nvSpPr>
          <p:spPr>
            <a:xfrm>
              <a:off x="4342365" y="2504247"/>
              <a:ext cx="1590675" cy="647700"/>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19"/>
            <p:cNvSpPr txBox="1"/>
            <p:nvPr/>
          </p:nvSpPr>
          <p:spPr>
            <a:xfrm>
              <a:off x="4520165" y="2545522"/>
              <a:ext cx="11874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routing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processor</a:t>
              </a:r>
              <a:endParaRPr/>
            </a:p>
          </p:txBody>
        </p:sp>
        <p:cxnSp>
          <p:nvCxnSpPr>
            <p:cNvPr id="1344" name="Google Shape;1344;p19"/>
            <p:cNvCxnSpPr/>
            <p:nvPr/>
          </p:nvCxnSpPr>
          <p:spPr>
            <a:xfrm>
              <a:off x="5071027" y="3023360"/>
              <a:ext cx="19050" cy="571500"/>
            </a:xfrm>
            <a:prstGeom prst="straightConnector1">
              <a:avLst/>
            </a:prstGeom>
            <a:noFill/>
            <a:ln cap="flat" cmpd="sng" w="38100">
              <a:solidFill>
                <a:srgbClr val="FF0000"/>
              </a:solidFill>
              <a:prstDash val="solid"/>
              <a:round/>
              <a:headEnd len="med" w="med" type="triangle"/>
              <a:tailEnd len="med" w="med" type="triangle"/>
            </a:ln>
          </p:spPr>
        </p:cxnSp>
      </p:grpSp>
      <p:grpSp>
        <p:nvGrpSpPr>
          <p:cNvPr id="1345" name="Google Shape;1345;p19"/>
          <p:cNvGrpSpPr/>
          <p:nvPr/>
        </p:nvGrpSpPr>
        <p:grpSpPr>
          <a:xfrm>
            <a:off x="2281790" y="3480560"/>
            <a:ext cx="2033587" cy="566737"/>
            <a:chOff x="930" y="1989"/>
            <a:chExt cx="1482" cy="357"/>
          </a:xfrm>
        </p:grpSpPr>
        <p:sp>
          <p:nvSpPr>
            <p:cNvPr id="1346" name="Google Shape;1346;p19"/>
            <p:cNvSpPr/>
            <p:nvPr/>
          </p:nvSpPr>
          <p:spPr>
            <a:xfrm>
              <a:off x="1152" y="1989"/>
              <a:ext cx="1086"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19"/>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19"/>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19"/>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50" name="Google Shape;1350;p19"/>
            <p:cNvCxnSpPr/>
            <p:nvPr/>
          </p:nvCxnSpPr>
          <p:spPr>
            <a:xfrm>
              <a:off x="930" y="2169"/>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51" name="Google Shape;1351;p19"/>
          <p:cNvGrpSpPr/>
          <p:nvPr/>
        </p:nvGrpSpPr>
        <p:grpSpPr>
          <a:xfrm>
            <a:off x="2270677" y="5218872"/>
            <a:ext cx="2058988" cy="566738"/>
            <a:chOff x="930" y="1989"/>
            <a:chExt cx="1482" cy="357"/>
          </a:xfrm>
        </p:grpSpPr>
        <p:sp>
          <p:nvSpPr>
            <p:cNvPr id="1352" name="Google Shape;1352;p19"/>
            <p:cNvSpPr/>
            <p:nvPr/>
          </p:nvSpPr>
          <p:spPr>
            <a:xfrm>
              <a:off x="1152" y="1989"/>
              <a:ext cx="1088"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3" name="Google Shape;1353;p19"/>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4" name="Google Shape;1354;p19"/>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5" name="Google Shape;1355;p19"/>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56" name="Google Shape;1356;p19"/>
            <p:cNvCxnSpPr/>
            <p:nvPr/>
          </p:nvCxnSpPr>
          <p:spPr>
            <a:xfrm>
              <a:off x="930" y="2169"/>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57" name="Google Shape;1357;p19"/>
          <p:cNvGrpSpPr/>
          <p:nvPr/>
        </p:nvGrpSpPr>
        <p:grpSpPr>
          <a:xfrm rot="2656396">
            <a:off x="2898642" y="4368931"/>
            <a:ext cx="546100" cy="546100"/>
            <a:chOff x="352" y="2715"/>
            <a:chExt cx="344" cy="344"/>
          </a:xfrm>
        </p:grpSpPr>
        <p:sp>
          <p:nvSpPr>
            <p:cNvPr id="1358" name="Google Shape;1358;p19"/>
            <p:cNvSpPr/>
            <p:nvPr/>
          </p:nvSpPr>
          <p:spPr>
            <a:xfrm>
              <a:off x="352" y="2715"/>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9" name="Google Shape;1359;p19"/>
            <p:cNvSpPr/>
            <p:nvPr/>
          </p:nvSpPr>
          <p:spPr>
            <a:xfrm>
              <a:off x="450" y="2811"/>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0" name="Google Shape;1360;p19"/>
            <p:cNvSpPr/>
            <p:nvPr/>
          </p:nvSpPr>
          <p:spPr>
            <a:xfrm>
              <a:off x="545" y="2907"/>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1" name="Google Shape;1361;p19"/>
            <p:cNvSpPr/>
            <p:nvPr/>
          </p:nvSpPr>
          <p:spPr>
            <a:xfrm>
              <a:off x="640" y="3003"/>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62" name="Google Shape;1362;p19"/>
          <p:cNvSpPr txBox="1"/>
          <p:nvPr/>
        </p:nvSpPr>
        <p:spPr>
          <a:xfrm>
            <a:off x="2177015" y="5864985"/>
            <a:ext cx="19113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input ports</a:t>
            </a:r>
            <a:endParaRPr/>
          </a:p>
        </p:txBody>
      </p:sp>
      <p:grpSp>
        <p:nvGrpSpPr>
          <p:cNvPr id="1363" name="Google Shape;1363;p19"/>
          <p:cNvGrpSpPr/>
          <p:nvPr/>
        </p:nvGrpSpPr>
        <p:grpSpPr>
          <a:xfrm>
            <a:off x="5882240" y="3485322"/>
            <a:ext cx="1957387" cy="566738"/>
            <a:chOff x="-51" y="2454"/>
            <a:chExt cx="1482" cy="357"/>
          </a:xfrm>
        </p:grpSpPr>
        <p:grpSp>
          <p:nvGrpSpPr>
            <p:cNvPr id="1364" name="Google Shape;1364;p19"/>
            <p:cNvGrpSpPr/>
            <p:nvPr/>
          </p:nvGrpSpPr>
          <p:grpSpPr>
            <a:xfrm flipH="1">
              <a:off x="173" y="2454"/>
              <a:ext cx="1084" cy="357"/>
              <a:chOff x="171" y="2454"/>
              <a:chExt cx="1084" cy="357"/>
            </a:xfrm>
          </p:grpSpPr>
          <p:sp>
            <p:nvSpPr>
              <p:cNvPr id="1365" name="Google Shape;1365;p19"/>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6" name="Google Shape;1366;p19"/>
              <p:cNvSpPr/>
              <p:nvPr/>
            </p:nvSpPr>
            <p:spPr>
              <a:xfrm>
                <a:off x="216" y="2554"/>
                <a:ext cx="338"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7" name="Google Shape;1367;p19"/>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8" name="Google Shape;1368;p19"/>
              <p:cNvSpPr/>
              <p:nvPr/>
            </p:nvSpPr>
            <p:spPr>
              <a:xfrm>
                <a:off x="921"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69" name="Google Shape;1369;p19"/>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a:effectLst>
              <a:outerShdw blurRad="50800" rotWithShape="0" algn="tl" dir="2700000" dist="38100">
                <a:srgbClr val="000000">
                  <a:alpha val="40000"/>
                </a:srgbClr>
              </a:outerShdw>
            </a:effectLst>
          </p:spPr>
        </p:cxnSp>
      </p:grpSp>
      <p:grpSp>
        <p:nvGrpSpPr>
          <p:cNvPr id="1370" name="Google Shape;1370;p19"/>
          <p:cNvGrpSpPr/>
          <p:nvPr/>
        </p:nvGrpSpPr>
        <p:grpSpPr>
          <a:xfrm>
            <a:off x="5901290" y="5218872"/>
            <a:ext cx="2011362" cy="566738"/>
            <a:chOff x="-51" y="2454"/>
            <a:chExt cx="1482" cy="357"/>
          </a:xfrm>
        </p:grpSpPr>
        <p:grpSp>
          <p:nvGrpSpPr>
            <p:cNvPr id="1371" name="Google Shape;1371;p19"/>
            <p:cNvGrpSpPr/>
            <p:nvPr/>
          </p:nvGrpSpPr>
          <p:grpSpPr>
            <a:xfrm flipH="1">
              <a:off x="173" y="2454"/>
              <a:ext cx="1084" cy="357"/>
              <a:chOff x="171" y="2454"/>
              <a:chExt cx="1084" cy="357"/>
            </a:xfrm>
          </p:grpSpPr>
          <p:sp>
            <p:nvSpPr>
              <p:cNvPr id="1372" name="Google Shape;1372;p19"/>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3" name="Google Shape;1373;p19"/>
              <p:cNvSpPr/>
              <p:nvPr/>
            </p:nvSpPr>
            <p:spPr>
              <a:xfrm>
                <a:off x="216" y="2554"/>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4" name="Google Shape;1374;p19"/>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5" name="Google Shape;1375;p19"/>
              <p:cNvSpPr/>
              <p:nvPr/>
            </p:nvSpPr>
            <p:spPr>
              <a:xfrm>
                <a:off x="923"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376" name="Google Shape;1376;p19"/>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1377" name="Google Shape;1377;p19"/>
          <p:cNvGrpSpPr/>
          <p:nvPr/>
        </p:nvGrpSpPr>
        <p:grpSpPr>
          <a:xfrm rot="2656396">
            <a:off x="6765792" y="4359406"/>
            <a:ext cx="546100" cy="546100"/>
            <a:chOff x="352" y="2715"/>
            <a:chExt cx="344" cy="344"/>
          </a:xfrm>
        </p:grpSpPr>
        <p:sp>
          <p:nvSpPr>
            <p:cNvPr id="1378" name="Google Shape;1378;p19"/>
            <p:cNvSpPr/>
            <p:nvPr/>
          </p:nvSpPr>
          <p:spPr>
            <a:xfrm>
              <a:off x="352" y="2715"/>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9" name="Google Shape;1379;p19"/>
            <p:cNvSpPr/>
            <p:nvPr/>
          </p:nvSpPr>
          <p:spPr>
            <a:xfrm>
              <a:off x="450" y="2811"/>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0" name="Google Shape;1380;p19"/>
            <p:cNvSpPr/>
            <p:nvPr/>
          </p:nvSpPr>
          <p:spPr>
            <a:xfrm>
              <a:off x="545" y="2907"/>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1" name="Google Shape;1381;p19"/>
            <p:cNvSpPr/>
            <p:nvPr/>
          </p:nvSpPr>
          <p:spPr>
            <a:xfrm>
              <a:off x="640" y="3003"/>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82" name="Google Shape;1382;p19"/>
          <p:cNvSpPr txBox="1"/>
          <p:nvPr/>
        </p:nvSpPr>
        <p:spPr>
          <a:xfrm>
            <a:off x="6201327" y="5906260"/>
            <a:ext cx="2051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output ports</a:t>
            </a:r>
            <a:endParaRPr/>
          </a:p>
        </p:txBody>
      </p:sp>
      <p:cxnSp>
        <p:nvCxnSpPr>
          <p:cNvPr id="1383" name="Google Shape;1383;p19"/>
          <p:cNvCxnSpPr/>
          <p:nvPr/>
        </p:nvCxnSpPr>
        <p:spPr>
          <a:xfrm>
            <a:off x="2270677" y="3275772"/>
            <a:ext cx="7802563" cy="12700"/>
          </a:xfrm>
          <a:prstGeom prst="straightConnector1">
            <a:avLst/>
          </a:prstGeom>
          <a:noFill/>
          <a:ln cap="flat" cmpd="sng" w="9525">
            <a:solidFill>
              <a:schemeClr val="dk1"/>
            </a:solidFill>
            <a:prstDash val="dash"/>
            <a:round/>
            <a:headEnd len="med" w="med" type="none"/>
            <a:tailEnd len="med" w="med" type="none"/>
          </a:ln>
        </p:spPr>
      </p:cxnSp>
      <p:sp>
        <p:nvSpPr>
          <p:cNvPr id="1384" name="Google Shape;1384;p19"/>
          <p:cNvSpPr txBox="1"/>
          <p:nvPr/>
        </p:nvSpPr>
        <p:spPr>
          <a:xfrm>
            <a:off x="8177765" y="3312285"/>
            <a:ext cx="2185987" cy="107791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forwarding data plane  </a:t>
            </a:r>
            <a:r>
              <a:rPr b="0" i="0" lang="en-US" sz="1600" u="none" cap="none" strike="noStrike">
                <a:solidFill>
                  <a:srgbClr val="000000"/>
                </a:solidFill>
                <a:latin typeface="Arial"/>
                <a:ea typeface="Arial"/>
                <a:cs typeface="Arial"/>
                <a:sym typeface="Arial"/>
              </a:rPr>
              <a:t>(hardware) operates in nanosecond timeframe</a:t>
            </a:r>
            <a:endParaRPr/>
          </a:p>
        </p:txBody>
      </p:sp>
      <p:sp>
        <p:nvSpPr>
          <p:cNvPr id="1385" name="Google Shape;1385;p19"/>
          <p:cNvSpPr/>
          <p:nvPr/>
        </p:nvSpPr>
        <p:spPr>
          <a:xfrm>
            <a:off x="7490377" y="2208972"/>
            <a:ext cx="2879725" cy="10763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routing, management</a:t>
            </a:r>
            <a:endParaRPr/>
          </a:p>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control plane </a:t>
            </a:r>
            <a:r>
              <a:rPr b="0" i="0" lang="en-US" sz="1600" u="none" cap="none" strike="noStrike">
                <a:solidFill>
                  <a:srgbClr val="000000"/>
                </a:solidFill>
                <a:latin typeface="Arial"/>
                <a:ea typeface="Arial"/>
                <a:cs typeface="Arial"/>
                <a:sym typeface="Arial"/>
              </a:rPr>
              <a:t>(software)</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operates in millisecond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time frame</a:t>
            </a:r>
            <a:endParaRPr/>
          </a:p>
        </p:txBody>
      </p:sp>
      <p:sp>
        <p:nvSpPr>
          <p:cNvPr id="1386" name="Google Shape;1386;p19"/>
          <p:cNvSpPr/>
          <p:nvPr/>
        </p:nvSpPr>
        <p:spPr>
          <a:xfrm>
            <a:off x="3735940" y="2799522"/>
            <a:ext cx="512762" cy="73025"/>
          </a:xfrm>
          <a:custGeom>
            <a:rect b="b" l="l" r="r" t="t"/>
            <a:pathLst>
              <a:path extrusionOk="0" h="73266" w="512919">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387" name="Google Shape;1387;p19"/>
          <p:cNvCxnSpPr>
            <a:endCxn id="1355" idx="0"/>
          </p:cNvCxnSpPr>
          <p:nvPr/>
        </p:nvCxnSpPr>
        <p:spPr>
          <a:xfrm rot="5400000">
            <a:off x="2751473" y="3862397"/>
            <a:ext cx="2473200" cy="347700"/>
          </a:xfrm>
          <a:prstGeom prst="bentConnector3">
            <a:avLst>
              <a:gd fmla="val -65" name="adj1"/>
            </a:avLst>
          </a:prstGeom>
          <a:noFill/>
          <a:ln cap="flat" cmpd="sng" w="19050">
            <a:solidFill>
              <a:schemeClr val="dk1"/>
            </a:solidFill>
            <a:prstDash val="solid"/>
            <a:round/>
            <a:headEnd len="med" w="med" type="none"/>
            <a:tailEnd len="med" w="med" type="stealth"/>
          </a:ln>
        </p:spPr>
      </p:cxnSp>
      <p:sp>
        <p:nvSpPr>
          <p:cNvPr id="1388" name="Google Shape;1388;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1000"/>
                                        <p:tgtEl>
                                          <p:spTgt spid="1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1"/>
                                        </p:tgtEl>
                                        <p:attrNameLst>
                                          <p:attrName>style.visibility</p:attrName>
                                        </p:attrNameLst>
                                      </p:cBhvr>
                                      <p:to>
                                        <p:strVal val="visible"/>
                                      </p:to>
                                    </p:set>
                                    <p:animEffect filter="fade" transition="in">
                                      <p:cBhvr>
                                        <p:cTn dur="500"/>
                                        <p:tgtEl>
                                          <p:spTgt spid="1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gtEl>
                                        <p:attrNameLst>
                                          <p:attrName>style.visibility</p:attrName>
                                        </p:attrNameLst>
                                      </p:cBhvr>
                                      <p:to>
                                        <p:strVal val="visible"/>
                                      </p:to>
                                    </p:set>
                                    <p:animEffect filter="fade" transition="in">
                                      <p:cBhvr>
                                        <p:cTn dur="500"/>
                                        <p:tgtEl>
                                          <p:spTgt spid="1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4"/>
                                        </p:tgtEl>
                                        <p:attrNameLst>
                                          <p:attrName>style.visibility</p:attrName>
                                        </p:attrNameLst>
                                      </p:cBhvr>
                                      <p:to>
                                        <p:strVal val="visible"/>
                                      </p:to>
                                    </p:set>
                                    <p:animEffect filter="fade" transition="in">
                                      <p:cBhvr>
                                        <p:cTn dur="500"/>
                                        <p:tgtEl>
                                          <p:spTgt spid="1384"/>
                                        </p:tgtEl>
                                      </p:cBhvr>
                                    </p:animEffect>
                                  </p:childTnLst>
                                </p:cTn>
                              </p:par>
                              <p:par>
                                <p:cTn fill="hold" nodeType="withEffect" presetClass="entr" presetID="10" presetSubtype="0">
                                  <p:stCondLst>
                                    <p:cond delay="0"/>
                                  </p:stCondLst>
                                  <p:childTnLst>
                                    <p:set>
                                      <p:cBhvr>
                                        <p:cTn dur="1" fill="hold">
                                          <p:stCondLst>
                                            <p:cond delay="0"/>
                                          </p:stCondLst>
                                        </p:cTn>
                                        <p:tgtEl>
                                          <p:spTgt spid="1385"/>
                                        </p:tgtEl>
                                        <p:attrNameLst>
                                          <p:attrName>style.visibility</p:attrName>
                                        </p:attrNameLst>
                                      </p:cBhvr>
                                      <p:to>
                                        <p:strVal val="visible"/>
                                      </p:to>
                                    </p:set>
                                    <p:animEffect filter="fade" transition="in">
                                      <p:cBhvr>
                                        <p:cTn dur="500"/>
                                        <p:tgtEl>
                                          <p:spTgt spid="1385"/>
                                        </p:tgtEl>
                                      </p:cBhvr>
                                    </p:animEffect>
                                  </p:childTnLst>
                                </p:cTn>
                              </p:par>
                              <p:par>
                                <p:cTn fill="hold" nodeType="withEffect" presetClass="entr" presetID="10" presetSubtype="0">
                                  <p:stCondLst>
                                    <p:cond delay="0"/>
                                  </p:stCondLst>
                                  <p:childTnLst>
                                    <p:set>
                                      <p:cBhvr>
                                        <p:cTn dur="1" fill="hold">
                                          <p:stCondLst>
                                            <p:cond delay="0"/>
                                          </p:stCondLst>
                                        </p:cTn>
                                        <p:tgtEl>
                                          <p:spTgt spid="1383"/>
                                        </p:tgtEl>
                                        <p:attrNameLst>
                                          <p:attrName>style.visibility</p:attrName>
                                        </p:attrNameLst>
                                      </p:cBhvr>
                                      <p:to>
                                        <p:strVal val="visible"/>
                                      </p:to>
                                    </p:set>
                                    <p:animEffect filter="fade" transition="in">
                                      <p:cBhvr>
                                        <p:cTn dur="500"/>
                                        <p:tgtEl>
                                          <p:spTgt spid="1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20"/>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1395" name="Google Shape;1395;p20"/>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96" name="Google Shape;1396;p20"/>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1397" name="Google Shape;1397;p20"/>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cxnSp>
        <p:nvCxnSpPr>
          <p:cNvPr id="1398" name="Google Shape;1398;p20"/>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1399" name="Google Shape;1399;p20"/>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1400" name="Google Shape;1400;p20"/>
          <p:cNvGrpSpPr/>
          <p:nvPr/>
        </p:nvGrpSpPr>
        <p:grpSpPr>
          <a:xfrm>
            <a:off x="258938" y="2032898"/>
            <a:ext cx="3589783" cy="2064484"/>
            <a:chOff x="258938" y="2032898"/>
            <a:chExt cx="3589783" cy="2064484"/>
          </a:xfrm>
        </p:grpSpPr>
        <p:sp>
          <p:nvSpPr>
            <p:cNvPr id="1401" name="Google Shape;1401;p20"/>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1402" name="Google Shape;1402;p20"/>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1403" name="Google Shape;1403;p20"/>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grpSp>
      <p:grpSp>
        <p:nvGrpSpPr>
          <p:cNvPr id="1404" name="Google Shape;1404;p20"/>
          <p:cNvGrpSpPr/>
          <p:nvPr/>
        </p:nvGrpSpPr>
        <p:grpSpPr>
          <a:xfrm>
            <a:off x="871146" y="1664528"/>
            <a:ext cx="4336475" cy="3729630"/>
            <a:chOff x="871146" y="1664528"/>
            <a:chExt cx="4336475" cy="3729630"/>
          </a:xfrm>
        </p:grpSpPr>
        <p:sp>
          <p:nvSpPr>
            <p:cNvPr id="1405" name="Google Shape;1405;p20"/>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1406" name="Google Shape;1406;p20"/>
            <p:cNvGrpSpPr/>
            <p:nvPr/>
          </p:nvGrpSpPr>
          <p:grpSpPr>
            <a:xfrm>
              <a:off x="871146" y="1664528"/>
              <a:ext cx="4336475" cy="3729630"/>
              <a:chOff x="871146" y="1664528"/>
              <a:chExt cx="4336475" cy="3729630"/>
            </a:xfrm>
          </p:grpSpPr>
          <p:sp>
            <p:nvSpPr>
              <p:cNvPr id="1407" name="Google Shape;1407;p20"/>
              <p:cNvSpPr/>
              <p:nvPr/>
            </p:nvSpPr>
            <p:spPr>
              <a:xfrm>
                <a:off x="4055096" y="1664528"/>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08" name="Google Shape;1408;p20"/>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1409" name="Google Shape;1409;p20"/>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1410" name="Google Shape;1410;p20"/>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grpSp>
        <p:nvGrpSpPr>
          <p:cNvPr id="1411" name="Google Shape;1411;p20"/>
          <p:cNvGrpSpPr/>
          <p:nvPr/>
        </p:nvGrpSpPr>
        <p:grpSpPr>
          <a:xfrm>
            <a:off x="3458817" y="1655073"/>
            <a:ext cx="8189844" cy="5023471"/>
            <a:chOff x="3458817" y="1655073"/>
            <a:chExt cx="8189844" cy="5023471"/>
          </a:xfrm>
        </p:grpSpPr>
        <p:sp>
          <p:nvSpPr>
            <p:cNvPr id="1412" name="Google Shape;1412;p20"/>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grpSp>
          <p:nvGrpSpPr>
            <p:cNvPr id="1413" name="Google Shape;1413;p20"/>
            <p:cNvGrpSpPr/>
            <p:nvPr/>
          </p:nvGrpSpPr>
          <p:grpSpPr>
            <a:xfrm>
              <a:off x="5533058" y="2274198"/>
              <a:ext cx="993775" cy="468312"/>
              <a:chOff x="310" y="3526"/>
              <a:chExt cx="1040" cy="457"/>
            </a:xfrm>
          </p:grpSpPr>
          <p:sp>
            <p:nvSpPr>
              <p:cNvPr id="1414" name="Google Shape;1414;p20"/>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15" name="Google Shape;1415;p20"/>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6" name="Google Shape;1416;p20"/>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417" name="Google Shape;1417;p20"/>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8" name="Google Shape;1418;p20"/>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19" name="Google Shape;1419;p20"/>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0" name="Google Shape;1420;p20"/>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1" name="Google Shape;1421;p20"/>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22" name="Google Shape;1422;p20"/>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nvGrpSpPr>
            <p:cNvPr id="1423" name="Google Shape;1423;p20"/>
            <p:cNvGrpSpPr/>
            <p:nvPr/>
          </p:nvGrpSpPr>
          <p:grpSpPr>
            <a:xfrm>
              <a:off x="3458817" y="1655073"/>
              <a:ext cx="8189844" cy="5023471"/>
              <a:chOff x="3458817" y="1655073"/>
              <a:chExt cx="8189844" cy="5023471"/>
            </a:xfrm>
          </p:grpSpPr>
          <p:sp>
            <p:nvSpPr>
              <p:cNvPr id="1424" name="Google Shape;1424;p20"/>
              <p:cNvSpPr/>
              <p:nvPr/>
            </p:nvSpPr>
            <p:spPr>
              <a:xfrm>
                <a:off x="5406058" y="1655073"/>
                <a:ext cx="1247775" cy="150495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25" name="Google Shape;1425;p20"/>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sp>
            <p:nvSpPr>
              <p:cNvPr id="1426" name="Google Shape;1426;p20"/>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goal: complete input port processing at ‘line speed’</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A3"/>
                    </a:solidFill>
                    <a:latin typeface="Calibri"/>
                    <a:ea typeface="Calibri"/>
                    <a:cs typeface="Calibri"/>
                    <a:sym typeface="Calibri"/>
                  </a:rPr>
                  <a:t>input port queuing: </a:t>
                </a:r>
                <a:r>
                  <a:rPr b="0" i="0" lang="en-US" sz="2400" u="none" cap="none" strike="noStrike">
                    <a:solidFill>
                      <a:srgbClr val="000000"/>
                    </a:solidFill>
                    <a:latin typeface="Calibri"/>
                    <a:ea typeface="Calibri"/>
                    <a:cs typeface="Calibri"/>
                    <a:sym typeface="Calibri"/>
                  </a:rPr>
                  <a:t>if datagrams arrive faster than forwarding rate into switch fabric</a:t>
                </a:r>
                <a:endParaRPr/>
              </a:p>
            </p:txBody>
          </p:sp>
          <p:cxnSp>
            <p:nvCxnSpPr>
              <p:cNvPr id="1427" name="Google Shape;1427;p20"/>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grpSp>
      <p:sp>
        <p:nvSpPr>
          <p:cNvPr id="1428" name="Google Shape;1428;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500"/>
                                        <p:tgtEl>
                                          <p:spTgt spid="1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500"/>
                                        <p:tgtEl>
                                          <p:spTgt spid="1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1"/>
                                        </p:tgtEl>
                                        <p:attrNameLst>
                                          <p:attrName>style.visibility</p:attrName>
                                        </p:attrNameLst>
                                      </p:cBhvr>
                                      <p:to>
                                        <p:strVal val="visible"/>
                                      </p:to>
                                    </p:set>
                                    <p:animEffect filter="fade" transition="in">
                                      <p:cBhvr>
                                        <p:cTn dur="500"/>
                                        <p:tgtEl>
                                          <p:spTgt spid="1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21"/>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1435" name="Google Shape;1435;p21"/>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6" name="Google Shape;1436;p21"/>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1437" name="Google Shape;1437;p21"/>
          <p:cNvSpPr/>
          <p:nvPr/>
        </p:nvSpPr>
        <p:spPr>
          <a:xfrm>
            <a:off x="5406058" y="1655073"/>
            <a:ext cx="1247775" cy="1504950"/>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38" name="Google Shape;1438;p21"/>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1439" name="Google Shape;1439;p21"/>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cxnSp>
        <p:nvCxnSpPr>
          <p:cNvPr id="1440" name="Google Shape;1440;p21"/>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1441" name="Google Shape;1441;p21"/>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sp>
        <p:nvSpPr>
          <p:cNvPr id="1442" name="Google Shape;1442;p21"/>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sp>
        <p:nvSpPr>
          <p:cNvPr id="1443" name="Google Shape;1443;p21"/>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destination-based forwarding: </a:t>
            </a:r>
            <a:r>
              <a:rPr b="0" i="0" lang="en-US" sz="2400" u="none" cap="none" strike="noStrike">
                <a:solidFill>
                  <a:srgbClr val="000000"/>
                </a:solidFill>
                <a:latin typeface="Calibri"/>
                <a:ea typeface="Calibri"/>
                <a:cs typeface="Calibri"/>
                <a:sym typeface="Calibri"/>
              </a:rPr>
              <a:t>forward based only on destination IP address (traditional)</a:t>
            </a:r>
            <a:endParaRPr b="0" i="0" sz="2400" u="none" cap="none" strike="noStrike">
              <a:solidFill>
                <a:srgbClr val="000000"/>
              </a:solidFill>
              <a:latin typeface="Calibri"/>
              <a:ea typeface="Calibri"/>
              <a:cs typeface="Calibri"/>
              <a:sym typeface="Calibri"/>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generalized forwarding: </a:t>
            </a:r>
            <a:r>
              <a:rPr b="0" i="0" lang="en-US" sz="2400" u="none" cap="none" strike="noStrike">
                <a:solidFill>
                  <a:srgbClr val="000000"/>
                </a:solidFill>
                <a:latin typeface="Calibri"/>
                <a:ea typeface="Calibri"/>
                <a:cs typeface="Calibri"/>
                <a:sym typeface="Calibri"/>
              </a:rPr>
              <a:t>forward based on any set of header field values</a:t>
            </a:r>
            <a:endParaRPr/>
          </a:p>
        </p:txBody>
      </p:sp>
      <p:sp>
        <p:nvSpPr>
          <p:cNvPr id="1444" name="Google Shape;1444;p21"/>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1445" name="Google Shape;1445;p21"/>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1446" name="Google Shape;1446;p21"/>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1447" name="Google Shape;1447;p21"/>
          <p:cNvGrpSpPr/>
          <p:nvPr/>
        </p:nvGrpSpPr>
        <p:grpSpPr>
          <a:xfrm>
            <a:off x="5533058" y="2274198"/>
            <a:ext cx="993775" cy="468312"/>
            <a:chOff x="310" y="3526"/>
            <a:chExt cx="1040" cy="457"/>
          </a:xfrm>
        </p:grpSpPr>
        <p:sp>
          <p:nvSpPr>
            <p:cNvPr id="1448" name="Google Shape;1448;p21"/>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49" name="Google Shape;1449;p21"/>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0" name="Google Shape;1450;p21"/>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451" name="Google Shape;1451;p21"/>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2" name="Google Shape;1452;p21"/>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3" name="Google Shape;1453;p21"/>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4" name="Google Shape;1454;p21"/>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5" name="Google Shape;1455;p21"/>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456" name="Google Shape;1456;p21"/>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cxnSp>
        <p:nvCxnSpPr>
          <p:cNvPr id="1457" name="Google Shape;1457;p21"/>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cxnSp>
        <p:nvCxnSpPr>
          <p:cNvPr id="1458" name="Google Shape;1458;p21"/>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nvGrpSpPr>
          <p:cNvPr id="1459" name="Google Shape;1459;p21"/>
          <p:cNvGrpSpPr/>
          <p:nvPr/>
        </p:nvGrpSpPr>
        <p:grpSpPr>
          <a:xfrm>
            <a:off x="871146" y="1664528"/>
            <a:ext cx="4336475" cy="3729630"/>
            <a:chOff x="871146" y="1664528"/>
            <a:chExt cx="4336475" cy="3729630"/>
          </a:xfrm>
        </p:grpSpPr>
        <p:sp>
          <p:nvSpPr>
            <p:cNvPr id="1460" name="Google Shape;1460;p21"/>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1461" name="Google Shape;1461;p21"/>
            <p:cNvGrpSpPr/>
            <p:nvPr/>
          </p:nvGrpSpPr>
          <p:grpSpPr>
            <a:xfrm>
              <a:off x="871146" y="1664528"/>
              <a:ext cx="4336475" cy="3729630"/>
              <a:chOff x="871146" y="1664528"/>
              <a:chExt cx="4336475" cy="3729630"/>
            </a:xfrm>
          </p:grpSpPr>
          <p:sp>
            <p:nvSpPr>
              <p:cNvPr id="1462" name="Google Shape;1462;p21"/>
              <p:cNvSpPr/>
              <p:nvPr/>
            </p:nvSpPr>
            <p:spPr>
              <a:xfrm>
                <a:off x="4055096" y="1664528"/>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63" name="Google Shape;1463;p21"/>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1464" name="Google Shape;1464;p21"/>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1465" name="Google Shape;1465;p21"/>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sp>
        <p:nvSpPr>
          <p:cNvPr id="1466" name="Google Shape;1466;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22"/>
          <p:cNvSpPr txBox="1"/>
          <p:nvPr/>
        </p:nvSpPr>
        <p:spPr>
          <a:xfrm>
            <a:off x="1188002" y="6033604"/>
            <a:ext cx="73207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Q:</a:t>
            </a:r>
            <a:r>
              <a:rPr b="0" i="0" lang="en-US" sz="2400" u="none" cap="none" strike="noStrike">
                <a:solidFill>
                  <a:srgbClr val="000000"/>
                </a:solidFill>
                <a:latin typeface="Calibri"/>
                <a:ea typeface="Calibri"/>
                <a:cs typeface="Calibri"/>
                <a:sym typeface="Calibri"/>
              </a:rPr>
              <a:t> but what happens if ranges don’t divide up so nicely? </a:t>
            </a:r>
            <a:endParaRPr b="0" i="0" sz="2400" u="none" cap="none" strike="noStrike">
              <a:solidFill>
                <a:srgbClr val="000000"/>
              </a:solidFill>
              <a:latin typeface="Calibri"/>
              <a:ea typeface="Calibri"/>
              <a:cs typeface="Calibri"/>
              <a:sym typeface="Calibri"/>
            </a:endParaRPr>
          </a:p>
        </p:txBody>
      </p:sp>
      <p:pic>
        <p:nvPicPr>
          <p:cNvPr id="1473" name="Google Shape;1473;p22"/>
          <p:cNvPicPr preferRelativeResize="0"/>
          <p:nvPr/>
        </p:nvPicPr>
        <p:blipFill rotWithShape="1">
          <a:blip r:embed="rId3">
            <a:alphaModFix/>
          </a:blip>
          <a:srcRect b="0" l="0" r="0" t="0"/>
          <a:stretch/>
        </p:blipFill>
        <p:spPr>
          <a:xfrm>
            <a:off x="1056411" y="3154505"/>
            <a:ext cx="9375866" cy="2779571"/>
          </a:xfrm>
          <a:prstGeom prst="rect">
            <a:avLst/>
          </a:prstGeom>
          <a:noFill/>
          <a:ln>
            <a:noFill/>
          </a:ln>
        </p:spPr>
      </p:pic>
      <p:grpSp>
        <p:nvGrpSpPr>
          <p:cNvPr id="1474" name="Google Shape;1474;p22"/>
          <p:cNvGrpSpPr/>
          <p:nvPr/>
        </p:nvGrpSpPr>
        <p:grpSpPr>
          <a:xfrm>
            <a:off x="898734" y="1108364"/>
            <a:ext cx="9699993" cy="2044580"/>
            <a:chOff x="898734" y="1108364"/>
            <a:chExt cx="9699993" cy="2044580"/>
          </a:xfrm>
        </p:grpSpPr>
        <p:pic>
          <p:nvPicPr>
            <p:cNvPr id="1475" name="Google Shape;1475;p22"/>
            <p:cNvPicPr preferRelativeResize="0"/>
            <p:nvPr/>
          </p:nvPicPr>
          <p:blipFill rotWithShape="1">
            <a:blip r:embed="rId4">
              <a:alphaModFix/>
            </a:blip>
            <a:srcRect b="0" l="0" r="0" t="0"/>
            <a:stretch/>
          </p:blipFill>
          <p:spPr>
            <a:xfrm>
              <a:off x="898734" y="1186912"/>
              <a:ext cx="9594790" cy="1966032"/>
            </a:xfrm>
            <a:prstGeom prst="rect">
              <a:avLst/>
            </a:prstGeom>
            <a:noFill/>
            <a:ln>
              <a:noFill/>
            </a:ln>
          </p:spPr>
        </p:pic>
        <p:sp>
          <p:nvSpPr>
            <p:cNvPr id="1476" name="Google Shape;1476;p22"/>
            <p:cNvSpPr/>
            <p:nvPr/>
          </p:nvSpPr>
          <p:spPr>
            <a:xfrm>
              <a:off x="1039091" y="1108364"/>
              <a:ext cx="9559636" cy="2355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477" name="Google Shape;1477;p22"/>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Destination-based forwarding</a:t>
            </a:r>
            <a:endParaRPr/>
          </a:p>
        </p:txBody>
      </p:sp>
      <p:grpSp>
        <p:nvGrpSpPr>
          <p:cNvPr id="1478" name="Google Shape;1478;p22"/>
          <p:cNvGrpSpPr/>
          <p:nvPr/>
        </p:nvGrpSpPr>
        <p:grpSpPr>
          <a:xfrm>
            <a:off x="1038514" y="2679128"/>
            <a:ext cx="9093336" cy="1283278"/>
            <a:chOff x="1038514" y="2679128"/>
            <a:chExt cx="9093336" cy="1283278"/>
          </a:xfrm>
        </p:grpSpPr>
        <p:pic>
          <p:nvPicPr>
            <p:cNvPr id="1479" name="Google Shape;1479;p22"/>
            <p:cNvPicPr preferRelativeResize="0"/>
            <p:nvPr/>
          </p:nvPicPr>
          <p:blipFill rotWithShape="1">
            <a:blip r:embed="rId5">
              <a:alphaModFix/>
            </a:blip>
            <a:srcRect b="0" l="0" r="0" t="0"/>
            <a:stretch/>
          </p:blipFill>
          <p:spPr>
            <a:xfrm>
              <a:off x="1038514" y="2679128"/>
              <a:ext cx="9093336" cy="1283278"/>
            </a:xfrm>
            <a:prstGeom prst="rect">
              <a:avLst/>
            </a:prstGeom>
            <a:noFill/>
            <a:ln>
              <a:noFill/>
            </a:ln>
          </p:spPr>
        </p:pic>
        <p:sp>
          <p:nvSpPr>
            <p:cNvPr id="1480" name="Google Shape;1480;p22"/>
            <p:cNvSpPr txBox="1"/>
            <p:nvPr/>
          </p:nvSpPr>
          <p:spPr>
            <a:xfrm>
              <a:off x="8451272" y="3131128"/>
              <a:ext cx="886691" cy="4308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3</a:t>
              </a:r>
              <a:endParaRPr/>
            </a:p>
          </p:txBody>
        </p:sp>
      </p:grpSp>
      <p:sp>
        <p:nvSpPr>
          <p:cNvPr id="1481" name="Google Shape;1481;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8"/>
                                        </p:tgtEl>
                                        <p:attrNameLst>
                                          <p:attrName>style.visibility</p:attrName>
                                        </p:attrNameLst>
                                      </p:cBhvr>
                                      <p:to>
                                        <p:strVal val="visible"/>
                                      </p:to>
                                    </p:set>
                                    <p:animEffect filter="fade" transition="in">
                                      <p:cBhvr>
                                        <p:cTn dur="500"/>
                                        <p:tgtEl>
                                          <p:spTgt spid="1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23"/>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488" name="Google Shape;1488;p23"/>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9" name="Google Shape;1489;p23"/>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490" name="Google Shape;1490;p23"/>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grpSp>
        <p:nvGrpSpPr>
          <p:cNvPr id="1491" name="Google Shape;1491;p23"/>
          <p:cNvGrpSpPr/>
          <p:nvPr/>
        </p:nvGrpSpPr>
        <p:grpSpPr>
          <a:xfrm>
            <a:off x="2674601" y="3416024"/>
            <a:ext cx="7479325" cy="2180038"/>
            <a:chOff x="2674601" y="3416024"/>
            <a:chExt cx="7479325" cy="2180038"/>
          </a:xfrm>
        </p:grpSpPr>
        <p:sp>
          <p:nvSpPr>
            <p:cNvPr id="1492" name="Google Shape;1492;p23"/>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493" name="Google Shape;1493;p23"/>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94" name="Google Shape;1494;p23"/>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5" name="Google Shape;1495;p23"/>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6" name="Google Shape;1496;p23"/>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7" name="Google Shape;1497;p23"/>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498" name="Google Shape;1498;p23"/>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499" name="Google Shape;1499;p23"/>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00" name="Google Shape;1500;p23"/>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1" name="Google Shape;1501;p23"/>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2" name="Google Shape;1502;p23"/>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3" name="Google Shape;1503;p23"/>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04" name="Google Shape;1504;p23"/>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grpSp>
      <p:grpSp>
        <p:nvGrpSpPr>
          <p:cNvPr id="1505" name="Google Shape;1505;p23"/>
          <p:cNvGrpSpPr/>
          <p:nvPr/>
        </p:nvGrpSpPr>
        <p:grpSpPr>
          <a:xfrm>
            <a:off x="789703" y="5747609"/>
            <a:ext cx="9305341" cy="903606"/>
            <a:chOff x="789703" y="5747609"/>
            <a:chExt cx="9305341" cy="903606"/>
          </a:xfrm>
        </p:grpSpPr>
        <p:sp>
          <p:nvSpPr>
            <p:cNvPr id="1506" name="Google Shape;1506;p23"/>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07" name="Google Shape;1507;p23"/>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08" name="Google Shape;1508;p23"/>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09" name="Google Shape;1509;p23"/>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10" name="Google Shape;1510;p23"/>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sp>
        <p:nvSpPr>
          <p:cNvPr id="1511" name="Google Shape;1511;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1"/>
                                        </p:tgtEl>
                                        <p:attrNameLst>
                                          <p:attrName>style.visibility</p:attrName>
                                        </p:attrNameLst>
                                      </p:cBhvr>
                                      <p:to>
                                        <p:strVal val="visible"/>
                                      </p:to>
                                    </p:set>
                                    <p:animEffect filter="fade" transition="in">
                                      <p:cBhvr>
                                        <p:cTn dur="500"/>
                                        <p:tgtEl>
                                          <p:spTgt spid="1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5"/>
                                        </p:tgtEl>
                                        <p:attrNameLst>
                                          <p:attrName>style.visibility</p:attrName>
                                        </p:attrNameLst>
                                      </p:cBhvr>
                                      <p:to>
                                        <p:strVal val="visible"/>
                                      </p:to>
                                    </p:set>
                                    <p:animEffect filter="fade" transition="in">
                                      <p:cBhvr>
                                        <p:cTn dur="500"/>
                                        <p:tgtEl>
                                          <p:spTgt spid="15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24"/>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18" name="Google Shape;1518;p24"/>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9" name="Google Shape;1519;p24"/>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20" name="Google Shape;1520;p24"/>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21" name="Google Shape;1521;p24"/>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22" name="Google Shape;1522;p24"/>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23" name="Google Shape;1523;p24"/>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4" name="Google Shape;1524;p24"/>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5" name="Google Shape;1525;p24"/>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6" name="Google Shape;1526;p24"/>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27" name="Google Shape;1527;p24"/>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528" name="Google Shape;1528;p24"/>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29" name="Google Shape;1529;p24"/>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30" name="Google Shape;1530;p24"/>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31" name="Google Shape;1531;p24"/>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32" name="Google Shape;1532;p24"/>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33" name="Google Shape;1533;p24"/>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4" name="Google Shape;1534;p24"/>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5" name="Google Shape;1535;p24"/>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6" name="Google Shape;1536;p24"/>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7" name="Google Shape;1537;p24"/>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38" name="Google Shape;1538;p24"/>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539" name="Google Shape;1539;p24"/>
          <p:cNvGrpSpPr/>
          <p:nvPr/>
        </p:nvGrpSpPr>
        <p:grpSpPr>
          <a:xfrm>
            <a:off x="803563" y="3297382"/>
            <a:ext cx="9670473" cy="3560618"/>
            <a:chOff x="803563" y="3297382"/>
            <a:chExt cx="9670473" cy="3560618"/>
          </a:xfrm>
        </p:grpSpPr>
        <p:sp>
          <p:nvSpPr>
            <p:cNvPr id="1540" name="Google Shape;1540;p24"/>
            <p:cNvSpPr/>
            <p:nvPr/>
          </p:nvSpPr>
          <p:spPr>
            <a:xfrm>
              <a:off x="845127" y="3297382"/>
              <a:ext cx="9628909" cy="1122218"/>
            </a:xfrm>
            <a:custGeom>
              <a:rect b="b" l="l" r="r" t="t"/>
              <a:pathLst>
                <a:path extrusionOk="0" h="1122218" w="9628909">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1" name="Google Shape;1541;p24"/>
            <p:cNvSpPr/>
            <p:nvPr/>
          </p:nvSpPr>
          <p:spPr>
            <a:xfrm>
              <a:off x="1634837" y="4364180"/>
              <a:ext cx="8756072" cy="1399309"/>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2" name="Google Shape;1542;p24"/>
            <p:cNvSpPr/>
            <p:nvPr/>
          </p:nvSpPr>
          <p:spPr>
            <a:xfrm flipH="1" rot="10800000">
              <a:off x="803563" y="5735782"/>
              <a:ext cx="9628909" cy="1122218"/>
            </a:xfrm>
            <a:custGeom>
              <a:rect b="b" l="l" r="r" t="t"/>
              <a:pathLst>
                <a:path extrusionOk="0" h="1122218" w="9628909">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543" name="Google Shape;1543;p24"/>
          <p:cNvGrpSpPr/>
          <p:nvPr/>
        </p:nvGrpSpPr>
        <p:grpSpPr>
          <a:xfrm>
            <a:off x="2701636" y="3972790"/>
            <a:ext cx="3505199" cy="2150919"/>
            <a:chOff x="2701636" y="3972790"/>
            <a:chExt cx="3505199" cy="2150919"/>
          </a:xfrm>
        </p:grpSpPr>
        <p:sp>
          <p:nvSpPr>
            <p:cNvPr id="1544" name="Google Shape;1544;p24"/>
            <p:cNvSpPr/>
            <p:nvPr/>
          </p:nvSpPr>
          <p:spPr>
            <a:xfrm>
              <a:off x="2701636" y="579120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5" name="Google Shape;1545;p24"/>
            <p:cNvSpPr/>
            <p:nvPr/>
          </p:nvSpPr>
          <p:spPr>
            <a:xfrm>
              <a:off x="2715489" y="397279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6" name="Google Shape;1546;p24"/>
            <p:cNvSpPr/>
            <p:nvPr/>
          </p:nvSpPr>
          <p:spPr>
            <a:xfrm>
              <a:off x="4419600" y="4350327"/>
              <a:ext cx="290946" cy="142701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7" name="Google Shape;1547;p24"/>
            <p:cNvSpPr txBox="1"/>
            <p:nvPr/>
          </p:nvSpPr>
          <p:spPr>
            <a:xfrm>
              <a:off x="4031673" y="4738255"/>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548" name="Google Shape;1548;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43"/>
                                        </p:tgtEl>
                                        <p:attrNameLst>
                                          <p:attrName>style.visibility</p:attrName>
                                        </p:attrNameLst>
                                      </p:cBhvr>
                                      <p:to>
                                        <p:strVal val="visible"/>
                                      </p:to>
                                    </p:set>
                                    <p:animEffect filter="fade" transition="in">
                                      <p:cBhvr>
                                        <p:cTn dur="500"/>
                                        <p:tgtEl>
                                          <p:spTgt spid="1543"/>
                                        </p:tgtEl>
                                      </p:cBhvr>
                                    </p:animEffect>
                                  </p:childTnLst>
                                </p:cTn>
                              </p:par>
                              <p:par>
                                <p:cTn fill="hold" nodeType="withEffect" presetClass="entr" presetID="10" presetSubtype="0">
                                  <p:stCondLst>
                                    <p:cond delay="0"/>
                                  </p:stCondLst>
                                  <p:childTnLst>
                                    <p:set>
                                      <p:cBhvr>
                                        <p:cTn dur="1" fill="hold">
                                          <p:stCondLst>
                                            <p:cond delay="0"/>
                                          </p:stCondLst>
                                        </p:cTn>
                                        <p:tgtEl>
                                          <p:spTgt spid="1539"/>
                                        </p:tgtEl>
                                        <p:attrNameLst>
                                          <p:attrName>style.visibility</p:attrName>
                                        </p:attrNameLst>
                                      </p:cBhvr>
                                      <p:to>
                                        <p:strVal val="visible"/>
                                      </p:to>
                                    </p:set>
                                    <p:animEffect filter="fade" transition="in">
                                      <p:cBhvr>
                                        <p:cTn dur="500"/>
                                        <p:tgtEl>
                                          <p:spTgt spid="1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25"/>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55" name="Google Shape;1555;p25"/>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6" name="Google Shape;1556;p25"/>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57" name="Google Shape;1557;p25"/>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58" name="Google Shape;1558;p25"/>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59" name="Google Shape;1559;p25"/>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60" name="Google Shape;1560;p25"/>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1" name="Google Shape;1561;p25"/>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2" name="Google Shape;1562;p25"/>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3" name="Google Shape;1563;p25"/>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64" name="Google Shape;1564;p25"/>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565" name="Google Shape;1565;p25"/>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566" name="Google Shape;1566;p25"/>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567" name="Google Shape;1567;p25"/>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568" name="Google Shape;1568;p25"/>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69" name="Google Shape;1569;p25"/>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570" name="Google Shape;1570;p25"/>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1" name="Google Shape;1571;p25"/>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2" name="Google Shape;1572;p25"/>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3" name="Google Shape;1573;p25"/>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4" name="Google Shape;1574;p25"/>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575" name="Google Shape;1575;p25"/>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576" name="Google Shape;1576;p25"/>
          <p:cNvGrpSpPr/>
          <p:nvPr/>
        </p:nvGrpSpPr>
        <p:grpSpPr>
          <a:xfrm>
            <a:off x="858982" y="3297383"/>
            <a:ext cx="9628910" cy="3560617"/>
            <a:chOff x="858982" y="3297383"/>
            <a:chExt cx="9628910" cy="3560617"/>
          </a:xfrm>
        </p:grpSpPr>
        <p:sp>
          <p:nvSpPr>
            <p:cNvPr id="1577" name="Google Shape;1577;p25"/>
            <p:cNvSpPr/>
            <p:nvPr/>
          </p:nvSpPr>
          <p:spPr>
            <a:xfrm>
              <a:off x="858982" y="3297383"/>
              <a:ext cx="9628910" cy="1944054"/>
            </a:xfrm>
            <a:custGeom>
              <a:rect b="b" l="l" r="r" t="t"/>
              <a:pathLst>
                <a:path extrusionOk="0" h="1944054" w="9628910">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78" name="Google Shape;1578;p25"/>
            <p:cNvSpPr/>
            <p:nvPr/>
          </p:nvSpPr>
          <p:spPr>
            <a:xfrm>
              <a:off x="2299855" y="5112326"/>
              <a:ext cx="8118764" cy="1052948"/>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79" name="Google Shape;1579;p25"/>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580" name="Google Shape;1580;p25"/>
          <p:cNvGrpSpPr/>
          <p:nvPr/>
        </p:nvGrpSpPr>
        <p:grpSpPr>
          <a:xfrm>
            <a:off x="2701636" y="4804081"/>
            <a:ext cx="3505199" cy="1804550"/>
            <a:chOff x="2701636" y="4319159"/>
            <a:chExt cx="3505199" cy="1804550"/>
          </a:xfrm>
        </p:grpSpPr>
        <p:sp>
          <p:nvSpPr>
            <p:cNvPr id="1581" name="Google Shape;1581;p25"/>
            <p:cNvSpPr/>
            <p:nvPr/>
          </p:nvSpPr>
          <p:spPr>
            <a:xfrm>
              <a:off x="2701636" y="579120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2" name="Google Shape;1582;p25"/>
            <p:cNvSpPr/>
            <p:nvPr/>
          </p:nvSpPr>
          <p:spPr>
            <a:xfrm>
              <a:off x="2715489" y="4319159"/>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3" name="Google Shape;1583;p25"/>
            <p:cNvSpPr/>
            <p:nvPr/>
          </p:nvSpPr>
          <p:spPr>
            <a:xfrm>
              <a:off x="4419600" y="4682823"/>
              <a:ext cx="290945" cy="1094521"/>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4" name="Google Shape;1584;p25"/>
            <p:cNvSpPr txBox="1"/>
            <p:nvPr/>
          </p:nvSpPr>
          <p:spPr>
            <a:xfrm>
              <a:off x="4031673" y="502920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585" name="Google Shape;1585;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500"/>
                                        <p:tgtEl>
                                          <p:spTgt spid="1580"/>
                                        </p:tgtEl>
                                      </p:cBhvr>
                                    </p:animEffect>
                                  </p:childTnLst>
                                </p:cTn>
                              </p:par>
                              <p:par>
                                <p:cTn fill="hold" nodeType="withEffect" presetClass="entr" presetID="10" presetSubtype="0">
                                  <p:stCondLst>
                                    <p:cond delay="0"/>
                                  </p:stCondLst>
                                  <p:childTnLst>
                                    <p:set>
                                      <p:cBhvr>
                                        <p:cTn dur="1" fill="hold">
                                          <p:stCondLst>
                                            <p:cond delay="0"/>
                                          </p:stCondLst>
                                        </p:cTn>
                                        <p:tgtEl>
                                          <p:spTgt spid="1576"/>
                                        </p:tgtEl>
                                        <p:attrNameLst>
                                          <p:attrName>style.visibility</p:attrName>
                                        </p:attrNameLst>
                                      </p:cBhvr>
                                      <p:to>
                                        <p:strVal val="visible"/>
                                      </p:to>
                                    </p:set>
                                    <p:animEffect filter="fade" transition="in">
                                      <p:cBhvr>
                                        <p:cTn dur="500"/>
                                        <p:tgtEl>
                                          <p:spTgt spid="1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26"/>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592" name="Google Shape;1592;p26"/>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3" name="Google Shape;1593;p26"/>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1594" name="Google Shape;1594;p26"/>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1595" name="Google Shape;1595;p26"/>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1596" name="Google Shape;1596;p26"/>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97" name="Google Shape;1597;p26"/>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98" name="Google Shape;1598;p26"/>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599" name="Google Shape;1599;p26"/>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600" name="Google Shape;1600;p26"/>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1601" name="Google Shape;1601;p26"/>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1602" name="Google Shape;1602;p26"/>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1603" name="Google Shape;1603;p26"/>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1604" name="Google Shape;1604;p26"/>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1605" name="Google Shape;1605;p26"/>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606" name="Google Shape;1606;p26"/>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1607" name="Google Shape;1607;p26"/>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08" name="Google Shape;1608;p26"/>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09" name="Google Shape;1609;p26"/>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0" name="Google Shape;1610;p26"/>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1" name="Google Shape;1611;p26"/>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1612" name="Google Shape;1612;p26"/>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1613" name="Google Shape;1613;p26"/>
          <p:cNvGrpSpPr/>
          <p:nvPr/>
        </p:nvGrpSpPr>
        <p:grpSpPr>
          <a:xfrm>
            <a:off x="858981" y="3297382"/>
            <a:ext cx="9615055" cy="3560618"/>
            <a:chOff x="858981" y="3297382"/>
            <a:chExt cx="9615055" cy="3560618"/>
          </a:xfrm>
        </p:grpSpPr>
        <p:sp>
          <p:nvSpPr>
            <p:cNvPr id="1614" name="Google Shape;1614;p26"/>
            <p:cNvSpPr/>
            <p:nvPr/>
          </p:nvSpPr>
          <p:spPr>
            <a:xfrm>
              <a:off x="858981" y="3297382"/>
              <a:ext cx="9615055" cy="1884218"/>
            </a:xfrm>
            <a:custGeom>
              <a:rect b="b" l="l" r="r" t="t"/>
              <a:pathLst>
                <a:path extrusionOk="0" h="1884218" w="9615055">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5" name="Google Shape;1615;p26"/>
            <p:cNvSpPr/>
            <p:nvPr/>
          </p:nvSpPr>
          <p:spPr>
            <a:xfrm>
              <a:off x="2299855" y="4764472"/>
              <a:ext cx="8118764" cy="1343892"/>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6" name="Google Shape;1616;p26"/>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617" name="Google Shape;1617;p26"/>
          <p:cNvGrpSpPr/>
          <p:nvPr/>
        </p:nvGrpSpPr>
        <p:grpSpPr>
          <a:xfrm>
            <a:off x="2701635" y="4388439"/>
            <a:ext cx="3934692" cy="2261743"/>
            <a:chOff x="2701635" y="3903517"/>
            <a:chExt cx="3934692" cy="2261743"/>
          </a:xfrm>
        </p:grpSpPr>
        <p:sp>
          <p:nvSpPr>
            <p:cNvPr id="1618" name="Google Shape;1618;p26"/>
            <p:cNvSpPr/>
            <p:nvPr/>
          </p:nvSpPr>
          <p:spPr>
            <a:xfrm>
              <a:off x="2701635" y="5791200"/>
              <a:ext cx="3934691" cy="374060"/>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19" name="Google Shape;1619;p26"/>
            <p:cNvSpPr/>
            <p:nvPr/>
          </p:nvSpPr>
          <p:spPr>
            <a:xfrm>
              <a:off x="2715489" y="3903517"/>
              <a:ext cx="3920838" cy="349816"/>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0" name="Google Shape;1620;p26"/>
            <p:cNvSpPr/>
            <p:nvPr/>
          </p:nvSpPr>
          <p:spPr>
            <a:xfrm>
              <a:off x="4419600" y="4294897"/>
              <a:ext cx="346364" cy="148244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621" name="Google Shape;1621;p26"/>
            <p:cNvSpPr txBox="1"/>
            <p:nvPr/>
          </p:nvSpPr>
          <p:spPr>
            <a:xfrm>
              <a:off x="4045528" y="480753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1622" name="Google Shape;1622;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500"/>
                                        <p:tgtEl>
                                          <p:spTgt spid="1617"/>
                                        </p:tgtEl>
                                      </p:cBhvr>
                                    </p:animEffect>
                                  </p:childTnLst>
                                </p:cTn>
                              </p:par>
                              <p:par>
                                <p:cTn fill="hold" nodeType="with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500"/>
                                        <p:tgtEl>
                                          <p:spTgt spid="16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27"/>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Char char="▪"/>
            </a:pPr>
            <a:r>
              <a:rPr lang="en-US" sz="3200"/>
              <a:t>we’ll see</a:t>
            </a:r>
            <a:r>
              <a:rPr i="1" lang="en-US" sz="3200">
                <a:solidFill>
                  <a:srgbClr val="000090"/>
                </a:solidFill>
              </a:rPr>
              <a:t> why </a:t>
            </a:r>
            <a:r>
              <a:rPr lang="en-US" sz="3200"/>
              <a:t>longest prefix matching is used shortly, when we study addressing</a:t>
            </a:r>
            <a:endParaRPr/>
          </a:p>
          <a:p>
            <a:pPr indent="-287338" lvl="0" marL="352425" rtl="0" algn="l">
              <a:lnSpc>
                <a:spcPct val="90000"/>
              </a:lnSpc>
              <a:spcBef>
                <a:spcPts val="1000"/>
              </a:spcBef>
              <a:spcAft>
                <a:spcPts val="0"/>
              </a:spcAft>
              <a:buSzPts val="3200"/>
              <a:buChar char="▪"/>
            </a:pPr>
            <a:r>
              <a:rPr lang="en-US" sz="3200"/>
              <a:t>longest prefix matching: often performed using ternary content addressable memories (TCAMs)</a:t>
            </a:r>
            <a:endParaRPr/>
          </a:p>
          <a:p>
            <a:pPr indent="-231775" lvl="1" marL="695325" rtl="0" algn="l">
              <a:lnSpc>
                <a:spcPct val="90000"/>
              </a:lnSpc>
              <a:spcBef>
                <a:spcPts val="500"/>
              </a:spcBef>
              <a:spcAft>
                <a:spcPts val="0"/>
              </a:spcAft>
              <a:buSzPts val="2800"/>
              <a:buChar char="•"/>
            </a:pPr>
            <a:r>
              <a:rPr i="1" lang="en-US" sz="2800">
                <a:solidFill>
                  <a:srgbClr val="CC0000"/>
                </a:solidFill>
              </a:rPr>
              <a:t>content addressable: </a:t>
            </a:r>
            <a:r>
              <a:rPr lang="en-US" sz="2800"/>
              <a:t>present address to TCAM: retrieve address in one clock cycle, regardless of table size</a:t>
            </a:r>
            <a:endParaRPr/>
          </a:p>
          <a:p>
            <a:pPr indent="-231775" lvl="1" marL="695325" rtl="0" algn="l">
              <a:lnSpc>
                <a:spcPct val="90000"/>
              </a:lnSpc>
              <a:spcBef>
                <a:spcPts val="500"/>
              </a:spcBef>
              <a:spcAft>
                <a:spcPts val="0"/>
              </a:spcAft>
              <a:buSzPts val="2800"/>
              <a:buChar char="•"/>
            </a:pPr>
            <a:r>
              <a:rPr lang="en-US" sz="2800"/>
              <a:t>Cisco Catalyst:  ~1M routing table entries in TCAM</a:t>
            </a:r>
            <a:endParaRPr/>
          </a:p>
          <a:p>
            <a:pPr indent="-44450" lvl="0" marL="352425" rtl="0" algn="l">
              <a:lnSpc>
                <a:spcPct val="90000"/>
              </a:lnSpc>
              <a:spcBef>
                <a:spcPts val="1000"/>
              </a:spcBef>
              <a:spcAft>
                <a:spcPts val="0"/>
              </a:spcAft>
              <a:buSzPts val="2800"/>
              <a:buNone/>
            </a:pPr>
            <a:r>
              <a:t/>
            </a:r>
            <a:endParaRPr/>
          </a:p>
        </p:txBody>
      </p:sp>
      <p:sp>
        <p:nvSpPr>
          <p:cNvPr id="1629" name="Google Shape;1629;p2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630" name="Google Shape;1630;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5" name="Shape 1635"/>
        <p:cNvGrpSpPr/>
        <p:nvPr/>
      </p:nvGrpSpPr>
      <p:grpSpPr>
        <a:xfrm>
          <a:off x="0" y="0"/>
          <a:ext cx="0" cy="0"/>
          <a:chOff x="0" y="0"/>
          <a:chExt cx="0" cy="0"/>
        </a:xfrm>
      </p:grpSpPr>
      <p:sp>
        <p:nvSpPr>
          <p:cNvPr id="1636" name="Google Shape;1636;p28"/>
          <p:cNvSpPr txBox="1"/>
          <p:nvPr>
            <p:ph idx="1" type="body"/>
          </p:nvPr>
        </p:nvSpPr>
        <p:spPr>
          <a:xfrm>
            <a:off x="811696" y="1379472"/>
            <a:ext cx="11035748" cy="634860"/>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transfer packet from input link to appropriate output link</a:t>
            </a:r>
            <a:endParaRPr/>
          </a:p>
          <a:p>
            <a:pPr indent="-109538" lvl="0" marL="352425" rtl="0" algn="l">
              <a:lnSpc>
                <a:spcPct val="90000"/>
              </a:lnSpc>
              <a:spcBef>
                <a:spcPts val="1000"/>
              </a:spcBef>
              <a:spcAft>
                <a:spcPts val="0"/>
              </a:spcAft>
              <a:buSzPts val="2800"/>
              <a:buFont typeface="Noto Sans Symbols"/>
              <a:buNone/>
            </a:pPr>
            <a:r>
              <a:t/>
            </a:r>
            <a:endParaRPr/>
          </a:p>
        </p:txBody>
      </p:sp>
      <p:sp>
        <p:nvSpPr>
          <p:cNvPr id="1637" name="Google Shape;1637;p2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fabrics</a:t>
            </a:r>
            <a:endParaRPr sz="4800"/>
          </a:p>
        </p:txBody>
      </p:sp>
      <p:grpSp>
        <p:nvGrpSpPr>
          <p:cNvPr id="1638" name="Google Shape;1638;p28"/>
          <p:cNvGrpSpPr/>
          <p:nvPr/>
        </p:nvGrpSpPr>
        <p:grpSpPr>
          <a:xfrm>
            <a:off x="4510432" y="3943350"/>
            <a:ext cx="1609725" cy="2343150"/>
            <a:chOff x="2418" y="1882"/>
            <a:chExt cx="1014" cy="1476"/>
          </a:xfrm>
        </p:grpSpPr>
        <p:sp>
          <p:nvSpPr>
            <p:cNvPr id="1639" name="Google Shape;1639;p28"/>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0" name="Google Shape;1640;p28"/>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sp>
        <p:nvSpPr>
          <p:cNvPr id="1641" name="Google Shape;1641;p28"/>
          <p:cNvSpPr txBox="1"/>
          <p:nvPr/>
        </p:nvSpPr>
        <p:spPr>
          <a:xfrm>
            <a:off x="2216772" y="4857819"/>
            <a:ext cx="1492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 input ports</a:t>
            </a:r>
            <a:endParaRPr/>
          </a:p>
        </p:txBody>
      </p:sp>
      <p:grpSp>
        <p:nvGrpSpPr>
          <p:cNvPr id="1642" name="Google Shape;1642;p28"/>
          <p:cNvGrpSpPr/>
          <p:nvPr/>
        </p:nvGrpSpPr>
        <p:grpSpPr>
          <a:xfrm>
            <a:off x="6149007" y="5709203"/>
            <a:ext cx="1472095" cy="386798"/>
            <a:chOff x="-51" y="2454"/>
            <a:chExt cx="1482" cy="357"/>
          </a:xfrm>
        </p:grpSpPr>
        <p:grpSp>
          <p:nvGrpSpPr>
            <p:cNvPr id="1643" name="Google Shape;1643;p28"/>
            <p:cNvGrpSpPr/>
            <p:nvPr/>
          </p:nvGrpSpPr>
          <p:grpSpPr>
            <a:xfrm flipH="1">
              <a:off x="173" y="2454"/>
              <a:ext cx="1084" cy="357"/>
              <a:chOff x="171" y="2454"/>
              <a:chExt cx="1084" cy="357"/>
            </a:xfrm>
          </p:grpSpPr>
          <p:sp>
            <p:nvSpPr>
              <p:cNvPr id="1644" name="Google Shape;1644;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5" name="Google Shape;1645;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6" name="Google Shape;1646;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7" name="Google Shape;1647;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48" name="Google Shape;1648;p28"/>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sp>
        <p:nvSpPr>
          <p:cNvPr id="1649" name="Google Shape;1649;p28"/>
          <p:cNvSpPr txBox="1"/>
          <p:nvPr/>
        </p:nvSpPr>
        <p:spPr>
          <a:xfrm>
            <a:off x="6689378" y="4864446"/>
            <a:ext cx="16337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 output ports</a:t>
            </a:r>
            <a:endParaRPr/>
          </a:p>
        </p:txBody>
      </p:sp>
      <p:grpSp>
        <p:nvGrpSpPr>
          <p:cNvPr id="1650" name="Google Shape;1650;p28"/>
          <p:cNvGrpSpPr/>
          <p:nvPr/>
        </p:nvGrpSpPr>
        <p:grpSpPr>
          <a:xfrm>
            <a:off x="6155633" y="4072559"/>
            <a:ext cx="1472095" cy="386798"/>
            <a:chOff x="-51" y="2454"/>
            <a:chExt cx="1482" cy="357"/>
          </a:xfrm>
        </p:grpSpPr>
        <p:grpSp>
          <p:nvGrpSpPr>
            <p:cNvPr id="1651" name="Google Shape;1651;p28"/>
            <p:cNvGrpSpPr/>
            <p:nvPr/>
          </p:nvGrpSpPr>
          <p:grpSpPr>
            <a:xfrm flipH="1">
              <a:off x="173" y="2454"/>
              <a:ext cx="1084" cy="357"/>
              <a:chOff x="171" y="2454"/>
              <a:chExt cx="1084" cy="357"/>
            </a:xfrm>
          </p:grpSpPr>
          <p:sp>
            <p:nvSpPr>
              <p:cNvPr id="1652" name="Google Shape;1652;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3" name="Google Shape;1653;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4" name="Google Shape;1654;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5" name="Google Shape;1655;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56" name="Google Shape;1656;p28"/>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sp>
        <p:nvSpPr>
          <p:cNvPr id="1657" name="Google Shape;1657;p28"/>
          <p:cNvSpPr txBox="1"/>
          <p:nvPr/>
        </p:nvSpPr>
        <p:spPr>
          <a:xfrm rot="5400000">
            <a:off x="6248400" y="4708389"/>
            <a:ext cx="92764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 . . </a:t>
            </a:r>
            <a:endParaRPr/>
          </a:p>
        </p:txBody>
      </p:sp>
      <p:sp>
        <p:nvSpPr>
          <p:cNvPr id="1658" name="Google Shape;1658;p28"/>
          <p:cNvSpPr txBox="1"/>
          <p:nvPr/>
        </p:nvSpPr>
        <p:spPr>
          <a:xfrm rot="5400000">
            <a:off x="3472070" y="4715016"/>
            <a:ext cx="92764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 . . </a:t>
            </a:r>
            <a:endParaRPr/>
          </a:p>
        </p:txBody>
      </p:sp>
      <p:grpSp>
        <p:nvGrpSpPr>
          <p:cNvPr id="1659" name="Google Shape;1659;p28"/>
          <p:cNvGrpSpPr/>
          <p:nvPr/>
        </p:nvGrpSpPr>
        <p:grpSpPr>
          <a:xfrm flipH="1" rot="10800000">
            <a:off x="3242010" y="4065933"/>
            <a:ext cx="1076755" cy="386798"/>
            <a:chOff x="171" y="2454"/>
            <a:chExt cx="1084" cy="357"/>
          </a:xfrm>
        </p:grpSpPr>
        <p:sp>
          <p:nvSpPr>
            <p:cNvPr id="1660" name="Google Shape;1660;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1" name="Google Shape;1661;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2" name="Google Shape;1662;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3" name="Google Shape;1663;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64" name="Google Shape;1664;p28"/>
          <p:cNvCxnSpPr/>
          <p:nvPr/>
        </p:nvCxnSpPr>
        <p:spPr>
          <a:xfrm>
            <a:off x="3021494" y="4260957"/>
            <a:ext cx="1472095" cy="0"/>
          </a:xfrm>
          <a:prstGeom prst="straightConnector1">
            <a:avLst/>
          </a:prstGeom>
          <a:noFill/>
          <a:ln cap="flat" cmpd="sng" w="28575">
            <a:solidFill>
              <a:schemeClr val="dk1"/>
            </a:solidFill>
            <a:prstDash val="solid"/>
            <a:round/>
            <a:headEnd len="med" w="med" type="none"/>
            <a:tailEnd len="med" w="med" type="triangle"/>
          </a:ln>
        </p:spPr>
      </p:cxnSp>
      <p:grpSp>
        <p:nvGrpSpPr>
          <p:cNvPr id="1665" name="Google Shape;1665;p28"/>
          <p:cNvGrpSpPr/>
          <p:nvPr/>
        </p:nvGrpSpPr>
        <p:grpSpPr>
          <a:xfrm flipH="1" rot="10800000">
            <a:off x="3248636" y="5729080"/>
            <a:ext cx="1076755" cy="386798"/>
            <a:chOff x="171" y="2454"/>
            <a:chExt cx="1084" cy="357"/>
          </a:xfrm>
        </p:grpSpPr>
        <p:sp>
          <p:nvSpPr>
            <p:cNvPr id="1666" name="Google Shape;1666;p28"/>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7" name="Google Shape;1667;p28"/>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8" name="Google Shape;1668;p28"/>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9" name="Google Shape;1669;p28"/>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670" name="Google Shape;1670;p28"/>
          <p:cNvCxnSpPr/>
          <p:nvPr/>
        </p:nvCxnSpPr>
        <p:spPr>
          <a:xfrm>
            <a:off x="3028120" y="5924104"/>
            <a:ext cx="1472095" cy="0"/>
          </a:xfrm>
          <a:prstGeom prst="straightConnector1">
            <a:avLst/>
          </a:prstGeom>
          <a:noFill/>
          <a:ln cap="flat" cmpd="sng" w="28575">
            <a:solidFill>
              <a:schemeClr val="dk1"/>
            </a:solidFill>
            <a:prstDash val="solid"/>
            <a:round/>
            <a:headEnd len="med" w="med" type="none"/>
            <a:tailEnd len="med" w="med" type="triangle"/>
          </a:ln>
        </p:spPr>
      </p:cxnSp>
      <p:sp>
        <p:nvSpPr>
          <p:cNvPr id="1671" name="Google Shape;1671;p28"/>
          <p:cNvSpPr txBox="1"/>
          <p:nvPr/>
        </p:nvSpPr>
        <p:spPr>
          <a:xfrm>
            <a:off x="805070" y="1889680"/>
            <a:ext cx="11035748" cy="231788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switching rate: </a:t>
            </a:r>
            <a:r>
              <a:rPr b="0" i="0" lang="en-US" sz="3200" u="none" cap="none" strike="noStrike">
                <a:solidFill>
                  <a:srgbClr val="000000"/>
                </a:solidFill>
                <a:latin typeface="Calibri"/>
                <a:ea typeface="Calibri"/>
                <a:cs typeface="Calibri"/>
                <a:sym typeface="Calibri"/>
              </a:rPr>
              <a:t>rate at which packets can be transfer from inputs to outputs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often measured as multiple of input/output line rate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 inputs: switching rate N times line rate desirable</a:t>
            </a:r>
            <a:endParaRPr/>
          </a:p>
        </p:txBody>
      </p:sp>
      <p:sp>
        <p:nvSpPr>
          <p:cNvPr id="1672" name="Google Shape;1672;p28"/>
          <p:cNvSpPr txBox="1"/>
          <p:nvPr/>
        </p:nvSpPr>
        <p:spPr>
          <a:xfrm>
            <a:off x="2756452" y="4081670"/>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3" name="Google Shape;1673;p28"/>
          <p:cNvSpPr txBox="1"/>
          <p:nvPr/>
        </p:nvSpPr>
        <p:spPr>
          <a:xfrm>
            <a:off x="2749826" y="5718314"/>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4" name="Google Shape;1674;p28"/>
          <p:cNvSpPr txBox="1"/>
          <p:nvPr/>
        </p:nvSpPr>
        <p:spPr>
          <a:xfrm>
            <a:off x="7593495" y="4081671"/>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5" name="Google Shape;1675;p28"/>
          <p:cNvSpPr txBox="1"/>
          <p:nvPr/>
        </p:nvSpPr>
        <p:spPr>
          <a:xfrm>
            <a:off x="7586868" y="5718315"/>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1676" name="Google Shape;1676;p28"/>
          <p:cNvSpPr txBox="1"/>
          <p:nvPr/>
        </p:nvSpPr>
        <p:spPr>
          <a:xfrm>
            <a:off x="4611758" y="4094922"/>
            <a:ext cx="133118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(rate: NR, ideally)</a:t>
            </a:r>
            <a:endParaRPr/>
          </a:p>
        </p:txBody>
      </p:sp>
      <p:sp>
        <p:nvSpPr>
          <p:cNvPr id="1677" name="Google Shape;1677;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par>
                                <p:cTn fill="hold" nodeType="withEffect" presetClass="entr" presetID="10" presetSubtype="0">
                                  <p:stCondLst>
                                    <p:cond delay="0"/>
                                  </p:stCondLst>
                                  <p:childTnLst>
                                    <p:set>
                                      <p:cBhvr>
                                        <p:cTn dur="1" fill="hold">
                                          <p:stCondLst>
                                            <p:cond delay="0"/>
                                          </p:stCondLst>
                                        </p:cTn>
                                        <p:tgtEl>
                                          <p:spTgt spid="1676"/>
                                        </p:tgtEl>
                                        <p:attrNameLst>
                                          <p:attrName>style.visibility</p:attrName>
                                        </p:attrNameLst>
                                      </p:cBhvr>
                                      <p:to>
                                        <p:strVal val="visible"/>
                                      </p:to>
                                    </p:set>
                                    <p:animEffect filter="fade" transition="in">
                                      <p:cBhvr>
                                        <p:cTn dur="500"/>
                                        <p:tgtEl>
                                          <p:spTgt spid="16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2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fabrics</a:t>
            </a:r>
            <a:endParaRPr sz="4800"/>
          </a:p>
        </p:txBody>
      </p:sp>
      <p:grpSp>
        <p:nvGrpSpPr>
          <p:cNvPr id="1684" name="Google Shape;1684;p29"/>
          <p:cNvGrpSpPr/>
          <p:nvPr/>
        </p:nvGrpSpPr>
        <p:grpSpPr>
          <a:xfrm>
            <a:off x="4769281" y="4484392"/>
            <a:ext cx="1093120" cy="215900"/>
            <a:chOff x="876" y="2800"/>
            <a:chExt cx="788" cy="175"/>
          </a:xfrm>
        </p:grpSpPr>
        <p:sp>
          <p:nvSpPr>
            <p:cNvPr id="1685" name="Google Shape;1685;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6" name="Google Shape;1686;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7" name="Google Shape;1687;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8" name="Google Shape;1688;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689" name="Google Shape;1689;p29"/>
            <p:cNvCxnSpPr/>
            <p:nvPr/>
          </p:nvCxnSpPr>
          <p:spPr>
            <a:xfrm>
              <a:off x="876" y="2887"/>
              <a:ext cx="78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690" name="Google Shape;1690;p29"/>
          <p:cNvGrpSpPr/>
          <p:nvPr/>
        </p:nvGrpSpPr>
        <p:grpSpPr>
          <a:xfrm>
            <a:off x="4767694" y="4879680"/>
            <a:ext cx="1094506" cy="215900"/>
            <a:chOff x="876" y="2800"/>
            <a:chExt cx="789" cy="175"/>
          </a:xfrm>
        </p:grpSpPr>
        <p:sp>
          <p:nvSpPr>
            <p:cNvPr id="1691" name="Google Shape;1691;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2" name="Google Shape;1692;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3" name="Google Shape;1693;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4" name="Google Shape;1694;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695" name="Google Shape;1695;p29"/>
            <p:cNvCxnSpPr/>
            <p:nvPr/>
          </p:nvCxnSpPr>
          <p:spPr>
            <a:xfrm>
              <a:off x="876" y="2887"/>
              <a:ext cx="78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696" name="Google Shape;1696;p29"/>
          <p:cNvGrpSpPr/>
          <p:nvPr/>
        </p:nvGrpSpPr>
        <p:grpSpPr>
          <a:xfrm>
            <a:off x="4762932" y="5306717"/>
            <a:ext cx="1079248" cy="215900"/>
            <a:chOff x="876" y="2800"/>
            <a:chExt cx="778" cy="175"/>
          </a:xfrm>
        </p:grpSpPr>
        <p:sp>
          <p:nvSpPr>
            <p:cNvPr id="1697" name="Google Shape;1697;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8" name="Google Shape;1698;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9" name="Google Shape;1699;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0" name="Google Shape;1700;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01" name="Google Shape;1701;p29"/>
            <p:cNvCxnSpPr/>
            <p:nvPr/>
          </p:nvCxnSpPr>
          <p:spPr>
            <a:xfrm>
              <a:off x="876" y="2887"/>
              <a:ext cx="778" cy="0"/>
            </a:xfrm>
            <a:prstGeom prst="straightConnector1">
              <a:avLst/>
            </a:prstGeom>
            <a:noFill/>
            <a:ln cap="flat" cmpd="sng" w="19050">
              <a:solidFill>
                <a:srgbClr val="000000"/>
              </a:solidFill>
              <a:prstDash val="solid"/>
              <a:round/>
              <a:headEnd len="med" w="med" type="none"/>
              <a:tailEnd len="med" w="med" type="triangle"/>
            </a:ln>
          </p:spPr>
        </p:cxnSp>
      </p:grpSp>
      <p:cxnSp>
        <p:nvCxnSpPr>
          <p:cNvPr id="1702" name="Google Shape;1702;p29"/>
          <p:cNvCxnSpPr/>
          <p:nvPr/>
        </p:nvCxnSpPr>
        <p:spPr>
          <a:xfrm>
            <a:off x="5888461" y="4492509"/>
            <a:ext cx="0" cy="1003300"/>
          </a:xfrm>
          <a:prstGeom prst="straightConnector1">
            <a:avLst/>
          </a:prstGeom>
          <a:noFill/>
          <a:ln cap="flat" cmpd="sng" w="76200">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grpSp>
        <p:nvGrpSpPr>
          <p:cNvPr id="1703" name="Google Shape;1703;p29"/>
          <p:cNvGrpSpPr/>
          <p:nvPr/>
        </p:nvGrpSpPr>
        <p:grpSpPr>
          <a:xfrm>
            <a:off x="5956300" y="4501349"/>
            <a:ext cx="1030288" cy="215900"/>
            <a:chOff x="367" y="3463"/>
            <a:chExt cx="649" cy="136"/>
          </a:xfrm>
        </p:grpSpPr>
        <p:sp>
          <p:nvSpPr>
            <p:cNvPr id="1704" name="Google Shape;1704;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5" name="Google Shape;1705;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6" name="Google Shape;1706;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7" name="Google Shape;1707;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08" name="Google Shape;1708;p29"/>
            <p:cNvCxnSpPr/>
            <p:nvPr/>
          </p:nvCxnSpPr>
          <p:spPr>
            <a:xfrm>
              <a:off x="367" y="3527"/>
              <a:ext cx="64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709" name="Google Shape;1709;p29"/>
          <p:cNvGrpSpPr/>
          <p:nvPr/>
        </p:nvGrpSpPr>
        <p:grpSpPr>
          <a:xfrm>
            <a:off x="5946775" y="4893462"/>
            <a:ext cx="1044574" cy="215900"/>
            <a:chOff x="358" y="3463"/>
            <a:chExt cx="658" cy="136"/>
          </a:xfrm>
        </p:grpSpPr>
        <p:sp>
          <p:nvSpPr>
            <p:cNvPr id="1710" name="Google Shape;1710;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1" name="Google Shape;1711;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2" name="Google Shape;1712;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3" name="Google Shape;1713;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14" name="Google Shape;1714;p29"/>
            <p:cNvCxnSpPr/>
            <p:nvPr/>
          </p:nvCxnSpPr>
          <p:spPr>
            <a:xfrm>
              <a:off x="358" y="3527"/>
              <a:ext cx="65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715" name="Google Shape;1715;p29"/>
          <p:cNvGrpSpPr/>
          <p:nvPr/>
        </p:nvGrpSpPr>
        <p:grpSpPr>
          <a:xfrm>
            <a:off x="5945368" y="5315556"/>
            <a:ext cx="1046163" cy="215900"/>
            <a:chOff x="357" y="3463"/>
            <a:chExt cx="659" cy="136"/>
          </a:xfrm>
        </p:grpSpPr>
        <p:sp>
          <p:nvSpPr>
            <p:cNvPr id="1716" name="Google Shape;1716;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7" name="Google Shape;1717;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8" name="Google Shape;1718;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9" name="Google Shape;1719;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20" name="Google Shape;1720;p29"/>
            <p:cNvCxnSpPr/>
            <p:nvPr/>
          </p:nvCxnSpPr>
          <p:spPr>
            <a:xfrm>
              <a:off x="357" y="3527"/>
              <a:ext cx="659" cy="0"/>
            </a:xfrm>
            <a:prstGeom prst="straightConnector1">
              <a:avLst/>
            </a:prstGeom>
            <a:noFill/>
            <a:ln cap="flat" cmpd="sng" w="19050">
              <a:solidFill>
                <a:srgbClr val="000000"/>
              </a:solidFill>
              <a:prstDash val="solid"/>
              <a:round/>
              <a:headEnd len="med" w="med" type="none"/>
              <a:tailEnd len="med" w="med" type="triangle"/>
            </a:ln>
          </p:spPr>
        </p:cxnSp>
      </p:grpSp>
      <p:sp>
        <p:nvSpPr>
          <p:cNvPr id="1721" name="Google Shape;1721;p29"/>
          <p:cNvSpPr txBox="1"/>
          <p:nvPr/>
        </p:nvSpPr>
        <p:spPr>
          <a:xfrm>
            <a:off x="5664477" y="5835029"/>
            <a:ext cx="5524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bus</a:t>
            </a:r>
            <a:endParaRPr/>
          </a:p>
        </p:txBody>
      </p:sp>
      <p:grpSp>
        <p:nvGrpSpPr>
          <p:cNvPr id="1722" name="Google Shape;1722;p29"/>
          <p:cNvGrpSpPr/>
          <p:nvPr/>
        </p:nvGrpSpPr>
        <p:grpSpPr>
          <a:xfrm>
            <a:off x="1186899" y="4439064"/>
            <a:ext cx="2798763" cy="1752600"/>
            <a:chOff x="1968777" y="4452316"/>
            <a:chExt cx="2798763" cy="1752600"/>
          </a:xfrm>
        </p:grpSpPr>
        <p:grpSp>
          <p:nvGrpSpPr>
            <p:cNvPr id="1723" name="Google Shape;1723;p29"/>
            <p:cNvGrpSpPr/>
            <p:nvPr/>
          </p:nvGrpSpPr>
          <p:grpSpPr>
            <a:xfrm>
              <a:off x="2121177" y="4534866"/>
              <a:ext cx="890588" cy="215900"/>
              <a:chOff x="876" y="2800"/>
              <a:chExt cx="642" cy="175"/>
            </a:xfrm>
          </p:grpSpPr>
          <p:sp>
            <p:nvSpPr>
              <p:cNvPr id="1724" name="Google Shape;1724;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5" name="Google Shape;1725;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6" name="Google Shape;1726;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7" name="Google Shape;1727;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28" name="Google Shape;1728;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29" name="Google Shape;1729;p29"/>
            <p:cNvGrpSpPr/>
            <p:nvPr/>
          </p:nvGrpSpPr>
          <p:grpSpPr>
            <a:xfrm>
              <a:off x="2097365" y="4930154"/>
              <a:ext cx="890587" cy="215900"/>
              <a:chOff x="876" y="2800"/>
              <a:chExt cx="642" cy="175"/>
            </a:xfrm>
          </p:grpSpPr>
          <p:sp>
            <p:nvSpPr>
              <p:cNvPr id="1730" name="Google Shape;1730;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1" name="Google Shape;1731;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2" name="Google Shape;1732;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3" name="Google Shape;1733;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34" name="Google Shape;1734;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35" name="Google Shape;1735;p29"/>
            <p:cNvGrpSpPr/>
            <p:nvPr/>
          </p:nvGrpSpPr>
          <p:grpSpPr>
            <a:xfrm>
              <a:off x="2092602" y="5357191"/>
              <a:ext cx="890588" cy="215900"/>
              <a:chOff x="876" y="2800"/>
              <a:chExt cx="642" cy="175"/>
            </a:xfrm>
          </p:grpSpPr>
          <p:sp>
            <p:nvSpPr>
              <p:cNvPr id="1736" name="Google Shape;1736;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7" name="Google Shape;1737;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8" name="Google Shape;1738;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9" name="Google Shape;1739;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40" name="Google Shape;1740;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sp>
          <p:nvSpPr>
            <p:cNvPr id="1741" name="Google Shape;1741;p29"/>
            <p:cNvSpPr/>
            <p:nvPr/>
          </p:nvSpPr>
          <p:spPr>
            <a:xfrm>
              <a:off x="2980015" y="4452316"/>
              <a:ext cx="704850" cy="1176338"/>
            </a:xfrm>
            <a:prstGeom prst="rect">
              <a:avLst/>
            </a:prstGeom>
            <a:solidFill>
              <a:srgbClr val="FFFFFF"/>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742" name="Google Shape;1742;p29"/>
            <p:cNvGrpSpPr/>
            <p:nvPr/>
          </p:nvGrpSpPr>
          <p:grpSpPr>
            <a:xfrm>
              <a:off x="3689627" y="4533279"/>
              <a:ext cx="890588" cy="215900"/>
              <a:chOff x="455" y="3463"/>
              <a:chExt cx="561" cy="136"/>
            </a:xfrm>
          </p:grpSpPr>
          <p:sp>
            <p:nvSpPr>
              <p:cNvPr id="1743" name="Google Shape;1743;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4" name="Google Shape;1744;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5" name="Google Shape;1745;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6" name="Google Shape;1746;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47" name="Google Shape;1747;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48" name="Google Shape;1748;p29"/>
            <p:cNvGrpSpPr/>
            <p:nvPr/>
          </p:nvGrpSpPr>
          <p:grpSpPr>
            <a:xfrm>
              <a:off x="3694390" y="4925391"/>
              <a:ext cx="890587" cy="215900"/>
              <a:chOff x="455" y="3463"/>
              <a:chExt cx="561" cy="136"/>
            </a:xfrm>
          </p:grpSpPr>
          <p:sp>
            <p:nvSpPr>
              <p:cNvPr id="1749" name="Google Shape;1749;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0" name="Google Shape;1750;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1" name="Google Shape;1751;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2" name="Google Shape;1752;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53" name="Google Shape;1753;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54" name="Google Shape;1754;p29"/>
            <p:cNvGrpSpPr/>
            <p:nvPr/>
          </p:nvGrpSpPr>
          <p:grpSpPr>
            <a:xfrm>
              <a:off x="3689627" y="5352429"/>
              <a:ext cx="890588" cy="215900"/>
              <a:chOff x="455" y="3463"/>
              <a:chExt cx="561" cy="136"/>
            </a:xfrm>
          </p:grpSpPr>
          <p:sp>
            <p:nvSpPr>
              <p:cNvPr id="1755" name="Google Shape;1755;p29"/>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6" name="Google Shape;1756;p2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7" name="Google Shape;1757;p2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8" name="Google Shape;1758;p2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59" name="Google Shape;1759;p29"/>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sp>
          <p:nvSpPr>
            <p:cNvPr id="1760" name="Google Shape;1760;p29"/>
            <p:cNvSpPr txBox="1"/>
            <p:nvPr/>
          </p:nvSpPr>
          <p:spPr>
            <a:xfrm>
              <a:off x="2813327" y="5838204"/>
              <a:ext cx="1009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memory</a:t>
              </a:r>
              <a:endParaRPr/>
            </a:p>
          </p:txBody>
        </p:sp>
        <p:sp>
          <p:nvSpPr>
            <p:cNvPr id="1761" name="Google Shape;1761;p29"/>
            <p:cNvSpPr txBox="1"/>
            <p:nvPr/>
          </p:nvSpPr>
          <p:spPr>
            <a:xfrm>
              <a:off x="2911752" y="4769816"/>
              <a:ext cx="8239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memory</a:t>
              </a:r>
              <a:endParaRPr/>
            </a:p>
          </p:txBody>
        </p:sp>
        <p:sp>
          <p:nvSpPr>
            <p:cNvPr id="1762" name="Google Shape;1762;p29"/>
            <p:cNvSpPr/>
            <p:nvPr/>
          </p:nvSpPr>
          <p:spPr>
            <a:xfrm>
              <a:off x="1968777" y="4577729"/>
              <a:ext cx="2798763" cy="412750"/>
            </a:xfrm>
            <a:custGeom>
              <a:rect b="b" l="l" r="r" t="t"/>
              <a:pathLst>
                <a:path extrusionOk="0" h="260" w="1763">
                  <a:moveTo>
                    <a:pt x="0" y="0"/>
                  </a:moveTo>
                  <a:lnTo>
                    <a:pt x="689" y="0"/>
                  </a:lnTo>
                  <a:lnTo>
                    <a:pt x="1054" y="260"/>
                  </a:lnTo>
                  <a:lnTo>
                    <a:pt x="1763" y="260"/>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763" name="Google Shape;1763;p29"/>
          <p:cNvSpPr/>
          <p:nvPr/>
        </p:nvSpPr>
        <p:spPr>
          <a:xfrm>
            <a:off x="5019952" y="4547566"/>
            <a:ext cx="2006600" cy="400050"/>
          </a:xfrm>
          <a:custGeom>
            <a:rect b="b" l="l" r="r" t="t"/>
            <a:pathLst>
              <a:path extrusionOk="0" h="252" w="1264">
                <a:moveTo>
                  <a:pt x="0" y="2"/>
                </a:moveTo>
                <a:lnTo>
                  <a:pt x="622" y="0"/>
                </a:lnTo>
                <a:lnTo>
                  <a:pt x="616" y="246"/>
                </a:lnTo>
                <a:lnTo>
                  <a:pt x="1264" y="252"/>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1764" name="Google Shape;1764;p29"/>
          <p:cNvGrpSpPr/>
          <p:nvPr/>
        </p:nvGrpSpPr>
        <p:grpSpPr>
          <a:xfrm>
            <a:off x="7258217" y="4512159"/>
            <a:ext cx="2851744" cy="2066925"/>
            <a:chOff x="6675121" y="4485654"/>
            <a:chExt cx="2851744" cy="2066925"/>
          </a:xfrm>
        </p:grpSpPr>
        <p:grpSp>
          <p:nvGrpSpPr>
            <p:cNvPr id="1765" name="Google Shape;1765;p29"/>
            <p:cNvGrpSpPr/>
            <p:nvPr/>
          </p:nvGrpSpPr>
          <p:grpSpPr>
            <a:xfrm>
              <a:off x="7469465" y="4485654"/>
              <a:ext cx="890587" cy="215900"/>
              <a:chOff x="876" y="2800"/>
              <a:chExt cx="642" cy="175"/>
            </a:xfrm>
          </p:grpSpPr>
          <p:sp>
            <p:nvSpPr>
              <p:cNvPr id="1766" name="Google Shape;1766;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7" name="Google Shape;1767;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8" name="Google Shape;1768;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9" name="Google Shape;1769;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70" name="Google Shape;1770;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71" name="Google Shape;1771;p29"/>
            <p:cNvGrpSpPr/>
            <p:nvPr/>
          </p:nvGrpSpPr>
          <p:grpSpPr>
            <a:xfrm>
              <a:off x="7445652" y="4880941"/>
              <a:ext cx="890588" cy="215900"/>
              <a:chOff x="876" y="2800"/>
              <a:chExt cx="642" cy="175"/>
            </a:xfrm>
          </p:grpSpPr>
          <p:sp>
            <p:nvSpPr>
              <p:cNvPr id="1772" name="Google Shape;1772;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3" name="Google Shape;1773;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4" name="Google Shape;1774;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5" name="Google Shape;1775;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76" name="Google Shape;1776;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77" name="Google Shape;1777;p29"/>
            <p:cNvGrpSpPr/>
            <p:nvPr/>
          </p:nvGrpSpPr>
          <p:grpSpPr>
            <a:xfrm>
              <a:off x="7440890" y="5307979"/>
              <a:ext cx="890587" cy="215900"/>
              <a:chOff x="876" y="2800"/>
              <a:chExt cx="642" cy="175"/>
            </a:xfrm>
          </p:grpSpPr>
          <p:sp>
            <p:nvSpPr>
              <p:cNvPr id="1778" name="Google Shape;1778;p29"/>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9" name="Google Shape;1779;p2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0" name="Google Shape;1780;p2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1" name="Google Shape;1781;p2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82" name="Google Shape;1782;p29"/>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783" name="Google Shape;1783;p29"/>
            <p:cNvGrpSpPr/>
            <p:nvPr/>
          </p:nvGrpSpPr>
          <p:grpSpPr>
            <a:xfrm rot="5400000">
              <a:off x="8561665" y="5501654"/>
              <a:ext cx="895350" cy="1035050"/>
              <a:chOff x="2952" y="2778"/>
              <a:chExt cx="564" cy="652"/>
            </a:xfrm>
          </p:grpSpPr>
          <p:grpSp>
            <p:nvGrpSpPr>
              <p:cNvPr id="1784" name="Google Shape;1784;p29"/>
              <p:cNvGrpSpPr/>
              <p:nvPr/>
            </p:nvGrpSpPr>
            <p:grpSpPr>
              <a:xfrm>
                <a:off x="2952" y="2778"/>
                <a:ext cx="561" cy="136"/>
                <a:chOff x="453" y="3465"/>
                <a:chExt cx="561" cy="136"/>
              </a:xfrm>
            </p:grpSpPr>
            <p:sp>
              <p:nvSpPr>
                <p:cNvPr id="1785" name="Google Shape;1785;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6" name="Google Shape;1786;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7" name="Google Shape;1787;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8" name="Google Shape;1788;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89" name="Google Shape;1789;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90" name="Google Shape;1790;p29"/>
              <p:cNvGrpSpPr/>
              <p:nvPr/>
            </p:nvGrpSpPr>
            <p:grpSpPr>
              <a:xfrm>
                <a:off x="2955" y="3025"/>
                <a:ext cx="561" cy="136"/>
                <a:chOff x="453" y="3465"/>
                <a:chExt cx="561" cy="136"/>
              </a:xfrm>
            </p:grpSpPr>
            <p:sp>
              <p:nvSpPr>
                <p:cNvPr id="1791" name="Google Shape;1791;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2" name="Google Shape;1792;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3" name="Google Shape;1793;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4" name="Google Shape;1794;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95" name="Google Shape;1795;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796" name="Google Shape;1796;p29"/>
              <p:cNvGrpSpPr/>
              <p:nvPr/>
            </p:nvGrpSpPr>
            <p:grpSpPr>
              <a:xfrm>
                <a:off x="2952" y="3294"/>
                <a:ext cx="561" cy="136"/>
                <a:chOff x="453" y="3465"/>
                <a:chExt cx="561" cy="136"/>
              </a:xfrm>
            </p:grpSpPr>
            <p:sp>
              <p:nvSpPr>
                <p:cNvPr id="1797" name="Google Shape;1797;p29"/>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8" name="Google Shape;1798;p29"/>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9" name="Google Shape;1799;p29"/>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0" name="Google Shape;1800;p29"/>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01" name="Google Shape;1801;p29"/>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cxnSp>
          <p:nvCxnSpPr>
            <p:cNvPr id="1802" name="Google Shape;1802;p29"/>
            <p:cNvCxnSpPr/>
            <p:nvPr/>
          </p:nvCxnSpPr>
          <p:spPr>
            <a:xfrm>
              <a:off x="8360052" y="4592016"/>
              <a:ext cx="10636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3" name="Google Shape;1803;p29"/>
            <p:cNvCxnSpPr/>
            <p:nvPr/>
          </p:nvCxnSpPr>
          <p:spPr>
            <a:xfrm flipH="1" rot="10800000">
              <a:off x="8321952" y="4979366"/>
              <a:ext cx="1111250" cy="3175"/>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4" name="Google Shape;1804;p29"/>
            <p:cNvCxnSpPr/>
            <p:nvPr/>
          </p:nvCxnSpPr>
          <p:spPr>
            <a:xfrm>
              <a:off x="8321952" y="5411166"/>
              <a:ext cx="11017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5" name="Google Shape;1805;p29"/>
            <p:cNvCxnSpPr/>
            <p:nvPr/>
          </p:nvCxnSpPr>
          <p:spPr>
            <a:xfrm rot="10800000">
              <a:off x="8604527"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6" name="Google Shape;1806;p29"/>
            <p:cNvCxnSpPr/>
            <p:nvPr/>
          </p:nvCxnSpPr>
          <p:spPr>
            <a:xfrm rot="10800000">
              <a:off x="9026802"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807" name="Google Shape;1807;p29"/>
            <p:cNvCxnSpPr/>
            <p:nvPr/>
          </p:nvCxnSpPr>
          <p:spPr>
            <a:xfrm rot="10800000">
              <a:off x="9423677" y="4582491"/>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sp>
          <p:nvSpPr>
            <p:cNvPr id="1808" name="Google Shape;1808;p29"/>
            <p:cNvSpPr/>
            <p:nvPr/>
          </p:nvSpPr>
          <p:spPr>
            <a:xfrm>
              <a:off x="856325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09" name="Google Shape;1809;p29"/>
            <p:cNvSpPr/>
            <p:nvPr/>
          </p:nvSpPr>
          <p:spPr>
            <a:xfrm>
              <a:off x="856325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0" name="Google Shape;1810;p29"/>
            <p:cNvSpPr/>
            <p:nvPr/>
          </p:nvSpPr>
          <p:spPr>
            <a:xfrm>
              <a:off x="855690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1" name="Google Shape;1811;p29"/>
            <p:cNvSpPr/>
            <p:nvPr/>
          </p:nvSpPr>
          <p:spPr>
            <a:xfrm>
              <a:off x="898870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2" name="Google Shape;1812;p29"/>
            <p:cNvSpPr/>
            <p:nvPr/>
          </p:nvSpPr>
          <p:spPr>
            <a:xfrm>
              <a:off x="898870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3" name="Google Shape;1813;p29"/>
            <p:cNvSpPr/>
            <p:nvPr/>
          </p:nvSpPr>
          <p:spPr>
            <a:xfrm>
              <a:off x="898235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4" name="Google Shape;1814;p29"/>
            <p:cNvSpPr/>
            <p:nvPr/>
          </p:nvSpPr>
          <p:spPr>
            <a:xfrm>
              <a:off x="9379227"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5" name="Google Shape;1815;p29"/>
            <p:cNvSpPr/>
            <p:nvPr/>
          </p:nvSpPr>
          <p:spPr>
            <a:xfrm>
              <a:off x="9379227"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6" name="Google Shape;1816;p29"/>
            <p:cNvSpPr/>
            <p:nvPr/>
          </p:nvSpPr>
          <p:spPr>
            <a:xfrm>
              <a:off x="9372877"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17" name="Google Shape;1817;p29"/>
            <p:cNvSpPr txBox="1"/>
            <p:nvPr/>
          </p:nvSpPr>
          <p:spPr>
            <a:xfrm>
              <a:off x="6675121" y="5767934"/>
              <a:ext cx="174919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interconnection</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network</a:t>
              </a:r>
              <a:endParaRPr/>
            </a:p>
          </p:txBody>
        </p:sp>
        <p:sp>
          <p:nvSpPr>
            <p:cNvPr id="1818" name="Google Shape;1818;p29"/>
            <p:cNvSpPr/>
            <p:nvPr/>
          </p:nvSpPr>
          <p:spPr>
            <a:xfrm>
              <a:off x="7417077" y="4538041"/>
              <a:ext cx="1543050" cy="2014538"/>
            </a:xfrm>
            <a:custGeom>
              <a:rect b="b" l="l" r="r" t="t"/>
              <a:pathLst>
                <a:path extrusionOk="0" h="1266" w="972">
                  <a:moveTo>
                    <a:pt x="0" y="3"/>
                  </a:moveTo>
                  <a:lnTo>
                    <a:pt x="969" y="0"/>
                  </a:lnTo>
                  <a:lnTo>
                    <a:pt x="972" y="1266"/>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819" name="Google Shape;1819;p29"/>
          <p:cNvSpPr txBox="1"/>
          <p:nvPr/>
        </p:nvSpPr>
        <p:spPr>
          <a:xfrm>
            <a:off x="818322" y="3691974"/>
            <a:ext cx="11035748" cy="65473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three major types of switching fabrics:</a:t>
            </a:r>
            <a:endParaRPr/>
          </a:p>
        </p:txBody>
      </p:sp>
      <p:sp>
        <p:nvSpPr>
          <p:cNvPr id="1820" name="Google Shape;1820;p29"/>
          <p:cNvSpPr txBox="1"/>
          <p:nvPr>
            <p:ph idx="1" type="body"/>
          </p:nvPr>
        </p:nvSpPr>
        <p:spPr>
          <a:xfrm>
            <a:off x="811696" y="1379472"/>
            <a:ext cx="11035748" cy="634860"/>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transfer packet from input link to appropriate output link</a:t>
            </a:r>
            <a:endParaRPr/>
          </a:p>
          <a:p>
            <a:pPr indent="-109538" lvl="0" marL="352425" rtl="0" algn="l">
              <a:lnSpc>
                <a:spcPct val="90000"/>
              </a:lnSpc>
              <a:spcBef>
                <a:spcPts val="1000"/>
              </a:spcBef>
              <a:spcAft>
                <a:spcPts val="0"/>
              </a:spcAft>
              <a:buSzPts val="2800"/>
              <a:buFont typeface="Noto Sans Symbols"/>
              <a:buNone/>
            </a:pPr>
            <a:r>
              <a:t/>
            </a:r>
            <a:endParaRPr/>
          </a:p>
        </p:txBody>
      </p:sp>
      <p:sp>
        <p:nvSpPr>
          <p:cNvPr id="1821" name="Google Shape;1821;p29"/>
          <p:cNvSpPr txBox="1"/>
          <p:nvPr/>
        </p:nvSpPr>
        <p:spPr>
          <a:xfrm>
            <a:off x="805070" y="1889680"/>
            <a:ext cx="11035748" cy="231788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switching rate: </a:t>
            </a:r>
            <a:r>
              <a:rPr b="0" i="0" lang="en-US" sz="3200" u="none" cap="none" strike="noStrike">
                <a:solidFill>
                  <a:srgbClr val="000000"/>
                </a:solidFill>
                <a:latin typeface="Calibri"/>
                <a:ea typeface="Calibri"/>
                <a:cs typeface="Calibri"/>
                <a:sym typeface="Calibri"/>
              </a:rPr>
              <a:t>rate at which packets can be transfer from inputs to outputs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often measured as multiple of input/output line rate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 inputs: switching rate N times line rate desirable</a:t>
            </a:r>
            <a:endParaRPr/>
          </a:p>
        </p:txBody>
      </p:sp>
      <p:sp>
        <p:nvSpPr>
          <p:cNvPr id="1822" name="Google Shape;1822;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30"/>
          <p:cNvSpPr txBox="1"/>
          <p:nvPr>
            <p:ph idx="1" type="body"/>
          </p:nvPr>
        </p:nvSpPr>
        <p:spPr>
          <a:xfrm>
            <a:off x="811695" y="1472236"/>
            <a:ext cx="11287539" cy="2768460"/>
          </a:xfrm>
          <a:prstGeom prst="rect">
            <a:avLst/>
          </a:prstGeom>
          <a:noFill/>
          <a:ln>
            <a:noFill/>
          </a:ln>
        </p:spPr>
        <p:txBody>
          <a:bodyPr anchorCtr="0" anchor="t" bIns="45700" lIns="91425" spcFirstLastPara="1" rIns="91425" wrap="square" tIns="45700">
            <a:normAutofit/>
          </a:bodyPr>
          <a:lstStyle/>
          <a:p>
            <a:pPr indent="-234950" lvl="0" marL="234950" rtl="0" algn="l">
              <a:lnSpc>
                <a:spcPct val="90000"/>
              </a:lnSpc>
              <a:spcBef>
                <a:spcPts val="0"/>
              </a:spcBef>
              <a:spcAft>
                <a:spcPts val="0"/>
              </a:spcAft>
              <a:buSzPts val="3200"/>
              <a:buNone/>
            </a:pPr>
            <a:r>
              <a:rPr lang="en-US" sz="3200">
                <a:solidFill>
                  <a:srgbClr val="C00000"/>
                </a:solidFill>
              </a:rPr>
              <a:t>first generation routers:</a:t>
            </a:r>
            <a:endParaRPr/>
          </a:p>
          <a:p>
            <a:pPr indent="-287338" lvl="0" marL="404813" rtl="0" algn="l">
              <a:lnSpc>
                <a:spcPct val="90000"/>
              </a:lnSpc>
              <a:spcBef>
                <a:spcPts val="1000"/>
              </a:spcBef>
              <a:spcAft>
                <a:spcPts val="0"/>
              </a:spcAft>
              <a:buSzPts val="2800"/>
              <a:buChar char="▪"/>
            </a:pPr>
            <a:r>
              <a:rPr lang="en-US"/>
              <a:t>traditional computers with switching under direct control of CPU</a:t>
            </a:r>
            <a:endParaRPr/>
          </a:p>
          <a:p>
            <a:pPr indent="-287338" lvl="0" marL="404813" rtl="0" algn="l">
              <a:lnSpc>
                <a:spcPct val="90000"/>
              </a:lnSpc>
              <a:spcBef>
                <a:spcPts val="1000"/>
              </a:spcBef>
              <a:spcAft>
                <a:spcPts val="0"/>
              </a:spcAft>
              <a:buSzPts val="2800"/>
              <a:buChar char="▪"/>
            </a:pPr>
            <a:r>
              <a:rPr lang="en-US"/>
              <a:t>packet copied to system’s memory</a:t>
            </a:r>
            <a:endParaRPr/>
          </a:p>
          <a:p>
            <a:pPr indent="-287338" lvl="0" marL="404813" rtl="0" algn="l">
              <a:lnSpc>
                <a:spcPct val="90000"/>
              </a:lnSpc>
              <a:spcBef>
                <a:spcPts val="1000"/>
              </a:spcBef>
              <a:spcAft>
                <a:spcPts val="0"/>
              </a:spcAft>
              <a:buSzPts val="2800"/>
              <a:buChar char="▪"/>
            </a:pPr>
            <a:r>
              <a:rPr lang="en-US"/>
              <a:t>speed limited by memory bandwidth (2 bus crossings per datagram)</a:t>
            </a:r>
            <a:endParaRPr sz="2000"/>
          </a:p>
        </p:txBody>
      </p:sp>
      <p:sp>
        <p:nvSpPr>
          <p:cNvPr id="1829" name="Google Shape;1829;p3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memory</a:t>
            </a:r>
            <a:endParaRPr sz="4800"/>
          </a:p>
        </p:txBody>
      </p:sp>
      <p:grpSp>
        <p:nvGrpSpPr>
          <p:cNvPr id="1830" name="Google Shape;1830;p30"/>
          <p:cNvGrpSpPr/>
          <p:nvPr/>
        </p:nvGrpSpPr>
        <p:grpSpPr>
          <a:xfrm>
            <a:off x="2991749" y="4058753"/>
            <a:ext cx="6611937" cy="1787525"/>
            <a:chOff x="983" y="2540"/>
            <a:chExt cx="4165" cy="1126"/>
          </a:xfrm>
        </p:grpSpPr>
        <p:sp>
          <p:nvSpPr>
            <p:cNvPr id="1831" name="Google Shape;1831;p30"/>
            <p:cNvSpPr/>
            <p:nvPr/>
          </p:nvSpPr>
          <p:spPr>
            <a:xfrm>
              <a:off x="983" y="2542"/>
              <a:ext cx="766" cy="702"/>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2" name="Google Shape;1832;p30"/>
            <p:cNvSpPr txBox="1"/>
            <p:nvPr/>
          </p:nvSpPr>
          <p:spPr>
            <a:xfrm>
              <a:off x="991" y="2557"/>
              <a:ext cx="708" cy="6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input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Ethernet)</a:t>
              </a:r>
              <a:endParaRPr/>
            </a:p>
          </p:txBody>
        </p:sp>
        <p:sp>
          <p:nvSpPr>
            <p:cNvPr id="1833" name="Google Shape;1833;p30"/>
            <p:cNvSpPr txBox="1"/>
            <p:nvPr/>
          </p:nvSpPr>
          <p:spPr>
            <a:xfrm>
              <a:off x="2324" y="2773"/>
              <a:ext cx="636" cy="214"/>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memory</a:t>
              </a:r>
              <a:endParaRPr/>
            </a:p>
          </p:txBody>
        </p:sp>
        <p:sp>
          <p:nvSpPr>
            <p:cNvPr id="1834" name="Google Shape;1834;p30"/>
            <p:cNvSpPr/>
            <p:nvPr/>
          </p:nvSpPr>
          <p:spPr>
            <a:xfrm>
              <a:off x="2072" y="2542"/>
              <a:ext cx="1173" cy="688"/>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5" name="Google Shape;1835;p30"/>
            <p:cNvSpPr/>
            <p:nvPr/>
          </p:nvSpPr>
          <p:spPr>
            <a:xfrm>
              <a:off x="3557" y="2540"/>
              <a:ext cx="766" cy="702"/>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6" name="Google Shape;1836;p30"/>
            <p:cNvSpPr txBox="1"/>
            <p:nvPr/>
          </p:nvSpPr>
          <p:spPr>
            <a:xfrm>
              <a:off x="3565" y="2555"/>
              <a:ext cx="708" cy="6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output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Ethernet)</a:t>
              </a:r>
              <a:endParaRPr/>
            </a:p>
          </p:txBody>
        </p:sp>
        <p:cxnSp>
          <p:nvCxnSpPr>
            <p:cNvPr id="1837" name="Google Shape;1837;p30"/>
            <p:cNvCxnSpPr/>
            <p:nvPr/>
          </p:nvCxnSpPr>
          <p:spPr>
            <a:xfrm>
              <a:off x="983" y="3561"/>
              <a:ext cx="3337" cy="0"/>
            </a:xfrm>
            <a:prstGeom prst="straightConnector1">
              <a:avLst/>
            </a:prstGeom>
            <a:noFill/>
            <a:ln cap="flat" cmpd="sng" w="28575">
              <a:solidFill>
                <a:srgbClr val="000000"/>
              </a:solidFill>
              <a:prstDash val="solid"/>
              <a:round/>
              <a:headEnd len="med" w="med" type="none"/>
              <a:tailEnd len="med" w="med" type="none"/>
            </a:ln>
          </p:spPr>
        </p:cxnSp>
        <p:cxnSp>
          <p:nvCxnSpPr>
            <p:cNvPr id="1838" name="Google Shape;1838;p30"/>
            <p:cNvCxnSpPr/>
            <p:nvPr/>
          </p:nvCxnSpPr>
          <p:spPr>
            <a:xfrm>
              <a:off x="1370" y="3252"/>
              <a:ext cx="0" cy="316"/>
            </a:xfrm>
            <a:prstGeom prst="straightConnector1">
              <a:avLst/>
            </a:prstGeom>
            <a:noFill/>
            <a:ln cap="flat" cmpd="sng" w="28575">
              <a:solidFill>
                <a:srgbClr val="3333CC"/>
              </a:solidFill>
              <a:prstDash val="solid"/>
              <a:round/>
              <a:headEnd len="med" w="med" type="none"/>
              <a:tailEnd len="med" w="med" type="none"/>
            </a:ln>
          </p:spPr>
        </p:cxnSp>
        <p:cxnSp>
          <p:nvCxnSpPr>
            <p:cNvPr id="1839" name="Google Shape;1839;p30"/>
            <p:cNvCxnSpPr/>
            <p:nvPr/>
          </p:nvCxnSpPr>
          <p:spPr>
            <a:xfrm>
              <a:off x="3939" y="3242"/>
              <a:ext cx="0" cy="316"/>
            </a:xfrm>
            <a:prstGeom prst="straightConnector1">
              <a:avLst/>
            </a:prstGeom>
            <a:noFill/>
            <a:ln cap="flat" cmpd="sng" w="28575">
              <a:solidFill>
                <a:srgbClr val="3333CC"/>
              </a:solidFill>
              <a:prstDash val="solid"/>
              <a:round/>
              <a:headEnd len="med" w="med" type="none"/>
              <a:tailEnd len="med" w="med" type="none"/>
            </a:ln>
          </p:spPr>
        </p:cxnSp>
        <p:cxnSp>
          <p:nvCxnSpPr>
            <p:cNvPr id="1840" name="Google Shape;1840;p30"/>
            <p:cNvCxnSpPr/>
            <p:nvPr/>
          </p:nvCxnSpPr>
          <p:spPr>
            <a:xfrm>
              <a:off x="2665" y="3240"/>
              <a:ext cx="0" cy="316"/>
            </a:xfrm>
            <a:prstGeom prst="straightConnector1">
              <a:avLst/>
            </a:prstGeom>
            <a:noFill/>
            <a:ln cap="flat" cmpd="sng" w="28575">
              <a:solidFill>
                <a:srgbClr val="FF0000"/>
              </a:solidFill>
              <a:prstDash val="solid"/>
              <a:round/>
              <a:headEnd len="med" w="med" type="none"/>
              <a:tailEnd len="med" w="med" type="none"/>
            </a:ln>
          </p:spPr>
        </p:cxnSp>
        <p:sp>
          <p:nvSpPr>
            <p:cNvPr id="1841" name="Google Shape;1841;p30"/>
            <p:cNvSpPr txBox="1"/>
            <p:nvPr/>
          </p:nvSpPr>
          <p:spPr>
            <a:xfrm>
              <a:off x="4304" y="3435"/>
              <a:ext cx="84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system bus</a:t>
              </a:r>
              <a:endParaRPr/>
            </a:p>
          </p:txBody>
        </p:sp>
      </p:grpSp>
      <p:pic>
        <p:nvPicPr>
          <p:cNvPr id="1842" name="Google Shape;1842;p30"/>
          <p:cNvPicPr preferRelativeResize="0"/>
          <p:nvPr/>
        </p:nvPicPr>
        <p:blipFill rotWithShape="1">
          <a:blip r:embed="rId3">
            <a:alphaModFix/>
          </a:blip>
          <a:srcRect b="0" l="0" r="0" t="0"/>
          <a:stretch/>
        </p:blipFill>
        <p:spPr>
          <a:xfrm>
            <a:off x="2556774" y="4252428"/>
            <a:ext cx="533400" cy="684213"/>
          </a:xfrm>
          <a:prstGeom prst="rect">
            <a:avLst/>
          </a:prstGeom>
          <a:noFill/>
          <a:ln>
            <a:noFill/>
          </a:ln>
        </p:spPr>
      </p:pic>
      <p:pic>
        <p:nvPicPr>
          <p:cNvPr id="1843" name="Google Shape;1843;p30"/>
          <p:cNvPicPr preferRelativeResize="0"/>
          <p:nvPr/>
        </p:nvPicPr>
        <p:blipFill rotWithShape="1">
          <a:blip r:embed="rId3">
            <a:alphaModFix/>
          </a:blip>
          <a:srcRect b="0" l="0" r="0" t="0"/>
          <a:stretch/>
        </p:blipFill>
        <p:spPr>
          <a:xfrm>
            <a:off x="8195574" y="4215916"/>
            <a:ext cx="533400" cy="684212"/>
          </a:xfrm>
          <a:prstGeom prst="rect">
            <a:avLst/>
          </a:prstGeom>
          <a:noFill/>
          <a:ln>
            <a:noFill/>
          </a:ln>
        </p:spPr>
      </p:pic>
      <p:sp>
        <p:nvSpPr>
          <p:cNvPr id="1844" name="Google Shape;1844;p30"/>
          <p:cNvSpPr/>
          <p:nvPr/>
        </p:nvSpPr>
        <p:spPr>
          <a:xfrm>
            <a:off x="1809061" y="4487378"/>
            <a:ext cx="434975" cy="222250"/>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5" name="Google Shape;1845;p30"/>
          <p:cNvSpPr/>
          <p:nvPr/>
        </p:nvSpPr>
        <p:spPr>
          <a:xfrm>
            <a:off x="1821761" y="4496903"/>
            <a:ext cx="446088" cy="2127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6" name="Google Shape;1846;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845"/>
                                        </p:tgtEl>
                                        <p:attrNameLst>
                                          <p:attrName>style.visibility</p:attrName>
                                        </p:attrNameLst>
                                      </p:cBhvr>
                                      <p:to>
                                        <p:strVal val="visible"/>
                                      </p:to>
                                    </p:set>
                                    <p:animEffect filter="fade" transition="in">
                                      <p:cBhvr>
                                        <p:cTn dur="500"/>
                                        <p:tgtEl>
                                          <p:spTgt spid="1845"/>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1844"/>
                                        </p:tgtEl>
                                      </p:cBhvr>
                                    </p:animEffect>
                                    <p:set>
                                      <p:cBhvr>
                                        <p:cTn dur="1" fill="hold">
                                          <p:stCondLst>
                                            <p:cond delay="500"/>
                                          </p:stCondLst>
                                        </p:cTn>
                                        <p:tgtEl>
                                          <p:spTgt spid="184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31"/>
          <p:cNvSpPr txBox="1"/>
          <p:nvPr>
            <p:ph idx="1" type="body"/>
          </p:nvPr>
        </p:nvSpPr>
        <p:spPr>
          <a:xfrm>
            <a:off x="771940" y="1405975"/>
            <a:ext cx="10574934" cy="276846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Char char="▪"/>
            </a:pPr>
            <a:r>
              <a:rPr lang="en-US" sz="3200"/>
              <a:t>datagram from input port memory to output port memory via a shared bus</a:t>
            </a:r>
            <a:endParaRPr/>
          </a:p>
          <a:p>
            <a:pPr indent="-222250" lvl="0" marL="352425" rtl="0" algn="l">
              <a:lnSpc>
                <a:spcPct val="90000"/>
              </a:lnSpc>
              <a:spcBef>
                <a:spcPts val="1000"/>
              </a:spcBef>
              <a:spcAft>
                <a:spcPts val="0"/>
              </a:spcAft>
              <a:buSzPts val="3200"/>
              <a:buFont typeface="Noto Sans Symbols"/>
              <a:buChar char="▪"/>
            </a:pPr>
            <a:r>
              <a:rPr i="1" lang="en-US" sz="3200">
                <a:solidFill>
                  <a:srgbClr val="CC0000"/>
                </a:solidFill>
              </a:rPr>
              <a:t>bus contention:</a:t>
            </a:r>
            <a:r>
              <a:rPr lang="en-US" sz="3200"/>
              <a:t>  switching speed limited by bus bandwidth</a:t>
            </a:r>
            <a:endParaRPr/>
          </a:p>
          <a:p>
            <a:pPr indent="-222250" lvl="0" marL="352425" rtl="0" algn="l">
              <a:lnSpc>
                <a:spcPct val="90000"/>
              </a:lnSpc>
              <a:spcBef>
                <a:spcPts val="1000"/>
              </a:spcBef>
              <a:spcAft>
                <a:spcPts val="0"/>
              </a:spcAft>
              <a:buSzPts val="3200"/>
              <a:buFont typeface="Noto Sans Symbols"/>
              <a:buChar char="▪"/>
            </a:pPr>
            <a:r>
              <a:rPr lang="en-US" sz="3200"/>
              <a:t>32 Gbps bus, Cisco 5600: sufficient speed for access routers</a:t>
            </a:r>
            <a:endParaRPr/>
          </a:p>
        </p:txBody>
      </p:sp>
      <p:sp>
        <p:nvSpPr>
          <p:cNvPr id="1853" name="Google Shape;1853;p3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a bus</a:t>
            </a:r>
            <a:endParaRPr sz="4800"/>
          </a:p>
        </p:txBody>
      </p:sp>
      <p:grpSp>
        <p:nvGrpSpPr>
          <p:cNvPr id="1854" name="Google Shape;1854;p31"/>
          <p:cNvGrpSpPr/>
          <p:nvPr/>
        </p:nvGrpSpPr>
        <p:grpSpPr>
          <a:xfrm>
            <a:off x="4078698" y="4298863"/>
            <a:ext cx="5296665" cy="1766337"/>
            <a:chOff x="4336991" y="4484392"/>
            <a:chExt cx="2903568" cy="1047064"/>
          </a:xfrm>
        </p:grpSpPr>
        <p:grpSp>
          <p:nvGrpSpPr>
            <p:cNvPr id="1855" name="Google Shape;1855;p31"/>
            <p:cNvGrpSpPr/>
            <p:nvPr/>
          </p:nvGrpSpPr>
          <p:grpSpPr>
            <a:xfrm>
              <a:off x="4769281" y="4484392"/>
              <a:ext cx="1093120" cy="215900"/>
              <a:chOff x="876" y="2800"/>
              <a:chExt cx="788" cy="175"/>
            </a:xfrm>
          </p:grpSpPr>
          <p:sp>
            <p:nvSpPr>
              <p:cNvPr id="1856" name="Google Shape;1856;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7" name="Google Shape;1857;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8" name="Google Shape;1858;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9" name="Google Shape;1859;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60" name="Google Shape;1860;p31"/>
              <p:cNvCxnSpPr/>
              <p:nvPr/>
            </p:nvCxnSpPr>
            <p:spPr>
              <a:xfrm>
                <a:off x="876" y="2887"/>
                <a:ext cx="78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61" name="Google Shape;1861;p31"/>
            <p:cNvGrpSpPr/>
            <p:nvPr/>
          </p:nvGrpSpPr>
          <p:grpSpPr>
            <a:xfrm>
              <a:off x="4767694" y="4879680"/>
              <a:ext cx="1094506" cy="215900"/>
              <a:chOff x="876" y="2800"/>
              <a:chExt cx="789" cy="175"/>
            </a:xfrm>
          </p:grpSpPr>
          <p:sp>
            <p:nvSpPr>
              <p:cNvPr id="1862" name="Google Shape;1862;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3" name="Google Shape;1863;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4" name="Google Shape;1864;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5" name="Google Shape;1865;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66" name="Google Shape;1866;p31"/>
              <p:cNvCxnSpPr/>
              <p:nvPr/>
            </p:nvCxnSpPr>
            <p:spPr>
              <a:xfrm>
                <a:off x="876" y="2887"/>
                <a:ext cx="78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67" name="Google Shape;1867;p31"/>
            <p:cNvGrpSpPr/>
            <p:nvPr/>
          </p:nvGrpSpPr>
          <p:grpSpPr>
            <a:xfrm>
              <a:off x="4762932" y="5306717"/>
              <a:ext cx="1079248" cy="215900"/>
              <a:chOff x="876" y="2800"/>
              <a:chExt cx="778" cy="175"/>
            </a:xfrm>
          </p:grpSpPr>
          <p:sp>
            <p:nvSpPr>
              <p:cNvPr id="1868" name="Google Shape;1868;p31"/>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9" name="Google Shape;1869;p31"/>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0" name="Google Shape;1870;p31"/>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1" name="Google Shape;1871;p31"/>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72" name="Google Shape;1872;p31"/>
              <p:cNvCxnSpPr/>
              <p:nvPr/>
            </p:nvCxnSpPr>
            <p:spPr>
              <a:xfrm>
                <a:off x="876" y="2887"/>
                <a:ext cx="778" cy="0"/>
              </a:xfrm>
              <a:prstGeom prst="straightConnector1">
                <a:avLst/>
              </a:prstGeom>
              <a:noFill/>
              <a:ln cap="flat" cmpd="sng" w="19050">
                <a:solidFill>
                  <a:srgbClr val="000000"/>
                </a:solidFill>
                <a:prstDash val="solid"/>
                <a:round/>
                <a:headEnd len="med" w="med" type="none"/>
                <a:tailEnd len="med" w="med" type="triangle"/>
              </a:ln>
            </p:spPr>
          </p:cxnSp>
        </p:grpSp>
        <p:cxnSp>
          <p:nvCxnSpPr>
            <p:cNvPr id="1873" name="Google Shape;1873;p31"/>
            <p:cNvCxnSpPr/>
            <p:nvPr/>
          </p:nvCxnSpPr>
          <p:spPr>
            <a:xfrm>
              <a:off x="5888461" y="4492509"/>
              <a:ext cx="0" cy="1003300"/>
            </a:xfrm>
            <a:prstGeom prst="straightConnector1">
              <a:avLst/>
            </a:prstGeom>
            <a:noFill/>
            <a:ln cap="flat" cmpd="sng" w="76200">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grpSp>
          <p:nvGrpSpPr>
            <p:cNvPr id="1874" name="Google Shape;1874;p31"/>
            <p:cNvGrpSpPr/>
            <p:nvPr/>
          </p:nvGrpSpPr>
          <p:grpSpPr>
            <a:xfrm>
              <a:off x="5956300" y="4501349"/>
              <a:ext cx="1030288" cy="215900"/>
              <a:chOff x="367" y="3463"/>
              <a:chExt cx="649" cy="136"/>
            </a:xfrm>
          </p:grpSpPr>
          <p:sp>
            <p:nvSpPr>
              <p:cNvPr id="1875" name="Google Shape;1875;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6" name="Google Shape;1876;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7" name="Google Shape;1877;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8" name="Google Shape;1878;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79" name="Google Shape;1879;p31"/>
              <p:cNvCxnSpPr/>
              <p:nvPr/>
            </p:nvCxnSpPr>
            <p:spPr>
              <a:xfrm>
                <a:off x="367" y="3527"/>
                <a:ext cx="649"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80" name="Google Shape;1880;p31"/>
            <p:cNvGrpSpPr/>
            <p:nvPr/>
          </p:nvGrpSpPr>
          <p:grpSpPr>
            <a:xfrm>
              <a:off x="5946775" y="4893462"/>
              <a:ext cx="1044574" cy="215900"/>
              <a:chOff x="358" y="3463"/>
              <a:chExt cx="658" cy="136"/>
            </a:xfrm>
          </p:grpSpPr>
          <p:sp>
            <p:nvSpPr>
              <p:cNvPr id="1881" name="Google Shape;1881;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2" name="Google Shape;1882;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3" name="Google Shape;1883;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4" name="Google Shape;1884;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85" name="Google Shape;1885;p31"/>
              <p:cNvCxnSpPr/>
              <p:nvPr/>
            </p:nvCxnSpPr>
            <p:spPr>
              <a:xfrm>
                <a:off x="358" y="3527"/>
                <a:ext cx="658" cy="0"/>
              </a:xfrm>
              <a:prstGeom prst="straightConnector1">
                <a:avLst/>
              </a:prstGeom>
              <a:noFill/>
              <a:ln cap="flat" cmpd="sng" w="19050">
                <a:solidFill>
                  <a:srgbClr val="000000"/>
                </a:solidFill>
                <a:prstDash val="solid"/>
                <a:round/>
                <a:headEnd len="med" w="med" type="none"/>
                <a:tailEnd len="med" w="med" type="triangle"/>
              </a:ln>
            </p:spPr>
          </p:cxnSp>
        </p:grpSp>
        <p:grpSp>
          <p:nvGrpSpPr>
            <p:cNvPr id="1886" name="Google Shape;1886;p31"/>
            <p:cNvGrpSpPr/>
            <p:nvPr/>
          </p:nvGrpSpPr>
          <p:grpSpPr>
            <a:xfrm>
              <a:off x="5945368" y="5315556"/>
              <a:ext cx="1046163" cy="215900"/>
              <a:chOff x="357" y="3463"/>
              <a:chExt cx="659" cy="136"/>
            </a:xfrm>
          </p:grpSpPr>
          <p:sp>
            <p:nvSpPr>
              <p:cNvPr id="1887" name="Google Shape;1887;p31"/>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8" name="Google Shape;1888;p31"/>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9" name="Google Shape;1889;p31"/>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0" name="Google Shape;1890;p31"/>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891" name="Google Shape;1891;p31"/>
              <p:cNvCxnSpPr/>
              <p:nvPr/>
            </p:nvCxnSpPr>
            <p:spPr>
              <a:xfrm>
                <a:off x="357" y="3527"/>
                <a:ext cx="659" cy="0"/>
              </a:xfrm>
              <a:prstGeom prst="straightConnector1">
                <a:avLst/>
              </a:prstGeom>
              <a:noFill/>
              <a:ln cap="flat" cmpd="sng" w="19050">
                <a:solidFill>
                  <a:srgbClr val="000000"/>
                </a:solidFill>
                <a:prstDash val="solid"/>
                <a:round/>
                <a:headEnd len="med" w="med" type="none"/>
                <a:tailEnd len="med" w="med" type="triangle"/>
              </a:ln>
            </p:spPr>
          </p:cxnSp>
        </p:grpSp>
        <p:sp>
          <p:nvSpPr>
            <p:cNvPr id="1892" name="Google Shape;1892;p31"/>
            <p:cNvSpPr/>
            <p:nvPr/>
          </p:nvSpPr>
          <p:spPr>
            <a:xfrm>
              <a:off x="4336991" y="4553666"/>
              <a:ext cx="2903568" cy="396590"/>
            </a:xfrm>
            <a:custGeom>
              <a:rect b="b" l="l" r="r" t="t"/>
              <a:pathLst>
                <a:path extrusionOk="0" h="10156" w="10000">
                  <a:moveTo>
                    <a:pt x="0" y="3"/>
                  </a:moveTo>
                  <a:lnTo>
                    <a:pt x="5351" y="0"/>
                  </a:lnTo>
                  <a:cubicBezTo>
                    <a:pt x="5359" y="3359"/>
                    <a:pt x="5357" y="6797"/>
                    <a:pt x="5365" y="10156"/>
                  </a:cubicBezTo>
                  <a:lnTo>
                    <a:pt x="10000" y="9777"/>
                  </a:lnTo>
                </a:path>
              </a:pathLst>
            </a:cu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893" name="Google Shape;1893;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8" name="Shape 1898"/>
        <p:cNvGrpSpPr/>
        <p:nvPr/>
      </p:nvGrpSpPr>
      <p:grpSpPr>
        <a:xfrm>
          <a:off x="0" y="0"/>
          <a:ext cx="0" cy="0"/>
          <a:chOff x="0" y="0"/>
          <a:chExt cx="0" cy="0"/>
        </a:xfrm>
      </p:grpSpPr>
      <p:sp>
        <p:nvSpPr>
          <p:cNvPr id="1899" name="Google Shape;1899;p32"/>
          <p:cNvSpPr txBox="1"/>
          <p:nvPr>
            <p:ph idx="1" type="body"/>
          </p:nvPr>
        </p:nvSpPr>
        <p:spPr>
          <a:xfrm>
            <a:off x="771940" y="1405975"/>
            <a:ext cx="6477000" cy="5100842"/>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Crossbar, Clos networks, other interconnection nets initially developed to connect processors in multiprocessor</a:t>
            </a:r>
            <a:endParaRPr/>
          </a:p>
        </p:txBody>
      </p:sp>
      <p:sp>
        <p:nvSpPr>
          <p:cNvPr id="1900" name="Google Shape;1900;p32"/>
          <p:cNvSpPr txBox="1"/>
          <p:nvPr>
            <p:ph type="title"/>
          </p:nvPr>
        </p:nvSpPr>
        <p:spPr>
          <a:xfrm>
            <a:off x="838200" y="39881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interconnection network</a:t>
            </a:r>
            <a:endParaRPr/>
          </a:p>
        </p:txBody>
      </p:sp>
      <p:grpSp>
        <p:nvGrpSpPr>
          <p:cNvPr id="1901" name="Google Shape;1901;p32"/>
          <p:cNvGrpSpPr/>
          <p:nvPr/>
        </p:nvGrpSpPr>
        <p:grpSpPr>
          <a:xfrm>
            <a:off x="8083826" y="1590262"/>
            <a:ext cx="2315645" cy="1855304"/>
            <a:chOff x="7417077" y="4485654"/>
            <a:chExt cx="2109788" cy="2066925"/>
          </a:xfrm>
        </p:grpSpPr>
        <p:grpSp>
          <p:nvGrpSpPr>
            <p:cNvPr id="1902" name="Google Shape;1902;p32"/>
            <p:cNvGrpSpPr/>
            <p:nvPr/>
          </p:nvGrpSpPr>
          <p:grpSpPr>
            <a:xfrm>
              <a:off x="7469465" y="4485654"/>
              <a:ext cx="890587" cy="215900"/>
              <a:chOff x="876" y="2800"/>
              <a:chExt cx="642" cy="175"/>
            </a:xfrm>
          </p:grpSpPr>
          <p:sp>
            <p:nvSpPr>
              <p:cNvPr id="1903" name="Google Shape;1903;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4" name="Google Shape;1904;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5" name="Google Shape;1905;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6" name="Google Shape;1906;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07" name="Google Shape;1907;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08" name="Google Shape;1908;p32"/>
            <p:cNvGrpSpPr/>
            <p:nvPr/>
          </p:nvGrpSpPr>
          <p:grpSpPr>
            <a:xfrm>
              <a:off x="7445652" y="4880941"/>
              <a:ext cx="890588" cy="215900"/>
              <a:chOff x="876" y="2800"/>
              <a:chExt cx="642" cy="175"/>
            </a:xfrm>
          </p:grpSpPr>
          <p:sp>
            <p:nvSpPr>
              <p:cNvPr id="1909" name="Google Shape;1909;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0" name="Google Shape;1910;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1" name="Google Shape;1911;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2" name="Google Shape;1912;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13" name="Google Shape;1913;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14" name="Google Shape;1914;p32"/>
            <p:cNvGrpSpPr/>
            <p:nvPr/>
          </p:nvGrpSpPr>
          <p:grpSpPr>
            <a:xfrm>
              <a:off x="7440890" y="5307979"/>
              <a:ext cx="890587" cy="215900"/>
              <a:chOff x="876" y="2800"/>
              <a:chExt cx="642" cy="175"/>
            </a:xfrm>
          </p:grpSpPr>
          <p:sp>
            <p:nvSpPr>
              <p:cNvPr id="1915" name="Google Shape;1915;p32"/>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6" name="Google Shape;1916;p32"/>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7" name="Google Shape;1917;p32"/>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8" name="Google Shape;1918;p32"/>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19" name="Google Shape;1919;p32"/>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20" name="Google Shape;1920;p32"/>
            <p:cNvGrpSpPr/>
            <p:nvPr/>
          </p:nvGrpSpPr>
          <p:grpSpPr>
            <a:xfrm rot="5400000">
              <a:off x="8561665" y="5501654"/>
              <a:ext cx="895350" cy="1035050"/>
              <a:chOff x="2952" y="2778"/>
              <a:chExt cx="564" cy="652"/>
            </a:xfrm>
          </p:grpSpPr>
          <p:grpSp>
            <p:nvGrpSpPr>
              <p:cNvPr id="1921" name="Google Shape;1921;p32"/>
              <p:cNvGrpSpPr/>
              <p:nvPr/>
            </p:nvGrpSpPr>
            <p:grpSpPr>
              <a:xfrm>
                <a:off x="2952" y="2778"/>
                <a:ext cx="561" cy="136"/>
                <a:chOff x="453" y="3465"/>
                <a:chExt cx="561" cy="136"/>
              </a:xfrm>
            </p:grpSpPr>
            <p:sp>
              <p:nvSpPr>
                <p:cNvPr id="1922" name="Google Shape;1922;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3" name="Google Shape;1923;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4" name="Google Shape;1924;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5" name="Google Shape;1925;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26" name="Google Shape;1926;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927" name="Google Shape;1927;p32"/>
              <p:cNvGrpSpPr/>
              <p:nvPr/>
            </p:nvGrpSpPr>
            <p:grpSpPr>
              <a:xfrm>
                <a:off x="2955" y="3025"/>
                <a:ext cx="561" cy="136"/>
                <a:chOff x="453" y="3465"/>
                <a:chExt cx="561" cy="136"/>
              </a:xfrm>
            </p:grpSpPr>
            <p:sp>
              <p:nvSpPr>
                <p:cNvPr id="1928" name="Google Shape;1928;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9" name="Google Shape;1929;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0" name="Google Shape;1930;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1" name="Google Shape;1931;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32" name="Google Shape;1932;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1933" name="Google Shape;1933;p32"/>
              <p:cNvGrpSpPr/>
              <p:nvPr/>
            </p:nvGrpSpPr>
            <p:grpSpPr>
              <a:xfrm>
                <a:off x="2952" y="3294"/>
                <a:ext cx="561" cy="136"/>
                <a:chOff x="453" y="3465"/>
                <a:chExt cx="561" cy="136"/>
              </a:xfrm>
            </p:grpSpPr>
            <p:sp>
              <p:nvSpPr>
                <p:cNvPr id="1934" name="Google Shape;1934;p32"/>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5" name="Google Shape;1935;p32"/>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6" name="Google Shape;1936;p32"/>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7" name="Google Shape;1937;p32"/>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38" name="Google Shape;1938;p32"/>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cxnSp>
          <p:nvCxnSpPr>
            <p:cNvPr id="1939" name="Google Shape;1939;p32"/>
            <p:cNvCxnSpPr/>
            <p:nvPr/>
          </p:nvCxnSpPr>
          <p:spPr>
            <a:xfrm>
              <a:off x="8360052" y="4592016"/>
              <a:ext cx="10636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0" name="Google Shape;1940;p32"/>
            <p:cNvCxnSpPr/>
            <p:nvPr/>
          </p:nvCxnSpPr>
          <p:spPr>
            <a:xfrm flipH="1" rot="10800000">
              <a:off x="8321952" y="4979366"/>
              <a:ext cx="1111250" cy="3175"/>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1" name="Google Shape;1941;p32"/>
            <p:cNvCxnSpPr/>
            <p:nvPr/>
          </p:nvCxnSpPr>
          <p:spPr>
            <a:xfrm>
              <a:off x="8321952" y="5411166"/>
              <a:ext cx="11017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2" name="Google Shape;1942;p32"/>
            <p:cNvCxnSpPr/>
            <p:nvPr/>
          </p:nvCxnSpPr>
          <p:spPr>
            <a:xfrm rot="10800000">
              <a:off x="8604527"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3" name="Google Shape;1943;p32"/>
            <p:cNvCxnSpPr/>
            <p:nvPr/>
          </p:nvCxnSpPr>
          <p:spPr>
            <a:xfrm rot="10800000">
              <a:off x="9026802"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1944" name="Google Shape;1944;p32"/>
            <p:cNvCxnSpPr/>
            <p:nvPr/>
          </p:nvCxnSpPr>
          <p:spPr>
            <a:xfrm rot="10800000">
              <a:off x="9423677" y="4582491"/>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sp>
          <p:nvSpPr>
            <p:cNvPr id="1945" name="Google Shape;1945;p32"/>
            <p:cNvSpPr/>
            <p:nvPr/>
          </p:nvSpPr>
          <p:spPr>
            <a:xfrm>
              <a:off x="856325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6" name="Google Shape;1946;p32"/>
            <p:cNvSpPr/>
            <p:nvPr/>
          </p:nvSpPr>
          <p:spPr>
            <a:xfrm>
              <a:off x="856325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7" name="Google Shape;1947;p32"/>
            <p:cNvSpPr/>
            <p:nvPr/>
          </p:nvSpPr>
          <p:spPr>
            <a:xfrm>
              <a:off x="855690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8" name="Google Shape;1948;p32"/>
            <p:cNvSpPr/>
            <p:nvPr/>
          </p:nvSpPr>
          <p:spPr>
            <a:xfrm>
              <a:off x="898870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9" name="Google Shape;1949;p32"/>
            <p:cNvSpPr/>
            <p:nvPr/>
          </p:nvSpPr>
          <p:spPr>
            <a:xfrm>
              <a:off x="898870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0" name="Google Shape;1950;p32"/>
            <p:cNvSpPr/>
            <p:nvPr/>
          </p:nvSpPr>
          <p:spPr>
            <a:xfrm>
              <a:off x="898235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1" name="Google Shape;1951;p32"/>
            <p:cNvSpPr/>
            <p:nvPr/>
          </p:nvSpPr>
          <p:spPr>
            <a:xfrm>
              <a:off x="9379227"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2" name="Google Shape;1952;p32"/>
            <p:cNvSpPr/>
            <p:nvPr/>
          </p:nvSpPr>
          <p:spPr>
            <a:xfrm>
              <a:off x="9379227"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3" name="Google Shape;1953;p32"/>
            <p:cNvSpPr/>
            <p:nvPr/>
          </p:nvSpPr>
          <p:spPr>
            <a:xfrm>
              <a:off x="9372877"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4" name="Google Shape;1954;p32"/>
            <p:cNvSpPr/>
            <p:nvPr/>
          </p:nvSpPr>
          <p:spPr>
            <a:xfrm>
              <a:off x="7417077" y="4538041"/>
              <a:ext cx="1543050" cy="2014538"/>
            </a:xfrm>
            <a:custGeom>
              <a:rect b="b" l="l" r="r" t="t"/>
              <a:pathLst>
                <a:path extrusionOk="0" h="1266" w="972">
                  <a:moveTo>
                    <a:pt x="0" y="3"/>
                  </a:moveTo>
                  <a:lnTo>
                    <a:pt x="969" y="0"/>
                  </a:lnTo>
                  <a:lnTo>
                    <a:pt x="972" y="1266"/>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1955" name="Google Shape;1955;p32"/>
          <p:cNvGrpSpPr/>
          <p:nvPr/>
        </p:nvGrpSpPr>
        <p:grpSpPr>
          <a:xfrm>
            <a:off x="8097079" y="4019964"/>
            <a:ext cx="3244414" cy="2535302"/>
            <a:chOff x="8097079" y="4019964"/>
            <a:chExt cx="3244414" cy="2535302"/>
          </a:xfrm>
        </p:grpSpPr>
        <p:grpSp>
          <p:nvGrpSpPr>
            <p:cNvPr id="1956" name="Google Shape;1956;p32"/>
            <p:cNvGrpSpPr/>
            <p:nvPr/>
          </p:nvGrpSpPr>
          <p:grpSpPr>
            <a:xfrm>
              <a:off x="8169965" y="4019964"/>
              <a:ext cx="2682875" cy="1949450"/>
              <a:chOff x="7772400" y="4086225"/>
              <a:chExt cx="2682875" cy="1949450"/>
            </a:xfrm>
          </p:grpSpPr>
          <p:sp>
            <p:nvSpPr>
              <p:cNvPr id="1957" name="Google Shape;1957;p32"/>
              <p:cNvSpPr/>
              <p:nvPr/>
            </p:nvSpPr>
            <p:spPr>
              <a:xfrm>
                <a:off x="7778750" y="4194175"/>
                <a:ext cx="2676525" cy="479425"/>
              </a:xfrm>
              <a:custGeom>
                <a:rect b="b" l="l" r="r" t="t"/>
                <a:pathLst>
                  <a:path extrusionOk="0" h="479425" w="2676525">
                    <a:moveTo>
                      <a:pt x="0" y="476250"/>
                    </a:moveTo>
                    <a:lnTo>
                      <a:pt x="622300" y="479425"/>
                    </a:lnTo>
                    <a:lnTo>
                      <a:pt x="1028700" y="0"/>
                    </a:lnTo>
                    <a:lnTo>
                      <a:pt x="1644650" y="0"/>
                    </a:lnTo>
                    <a:lnTo>
                      <a:pt x="2054225" y="469900"/>
                    </a:lnTo>
                    <a:lnTo>
                      <a:pt x="2676525" y="4667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8" name="Google Shape;1958;p32"/>
              <p:cNvSpPr/>
              <p:nvPr/>
            </p:nvSpPr>
            <p:spPr>
              <a:xfrm flipH="1" rot="10800000">
                <a:off x="7775575" y="5454650"/>
                <a:ext cx="2676525" cy="479425"/>
              </a:xfrm>
              <a:custGeom>
                <a:rect b="b" l="l" r="r" t="t"/>
                <a:pathLst>
                  <a:path extrusionOk="0" h="479425" w="2676525">
                    <a:moveTo>
                      <a:pt x="0" y="476250"/>
                    </a:moveTo>
                    <a:lnTo>
                      <a:pt x="622300" y="479425"/>
                    </a:lnTo>
                    <a:lnTo>
                      <a:pt x="1028700" y="0"/>
                    </a:lnTo>
                    <a:lnTo>
                      <a:pt x="1644650" y="0"/>
                    </a:lnTo>
                    <a:lnTo>
                      <a:pt x="2054225" y="469900"/>
                    </a:lnTo>
                    <a:lnTo>
                      <a:pt x="2676525" y="4667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9" name="Google Shape;1959;p32"/>
              <p:cNvSpPr/>
              <p:nvPr/>
            </p:nvSpPr>
            <p:spPr>
              <a:xfrm>
                <a:off x="7781925" y="4699000"/>
                <a:ext cx="2673350" cy="57150"/>
              </a:xfrm>
              <a:custGeom>
                <a:rect b="b" l="l" r="r" t="t"/>
                <a:pathLst>
                  <a:path extrusionOk="0" h="57150" w="2673350">
                    <a:moveTo>
                      <a:pt x="0" y="57150"/>
                    </a:moveTo>
                    <a:lnTo>
                      <a:pt x="619125" y="57150"/>
                    </a:lnTo>
                    <a:lnTo>
                      <a:pt x="1025525" y="0"/>
                    </a:lnTo>
                    <a:lnTo>
                      <a:pt x="1638300" y="3175"/>
                    </a:lnTo>
                    <a:lnTo>
                      <a:pt x="2047875" y="47625"/>
                    </a:lnTo>
                    <a:lnTo>
                      <a:pt x="2673350" y="476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0" name="Google Shape;1960;p32"/>
              <p:cNvSpPr/>
              <p:nvPr/>
            </p:nvSpPr>
            <p:spPr>
              <a:xfrm flipH="1" rot="10800000">
                <a:off x="7772400" y="5381625"/>
                <a:ext cx="2673350" cy="57150"/>
              </a:xfrm>
              <a:custGeom>
                <a:rect b="b" l="l" r="r" t="t"/>
                <a:pathLst>
                  <a:path extrusionOk="0" h="57150" w="2673350">
                    <a:moveTo>
                      <a:pt x="0" y="57150"/>
                    </a:moveTo>
                    <a:lnTo>
                      <a:pt x="619125" y="57150"/>
                    </a:lnTo>
                    <a:lnTo>
                      <a:pt x="1025525" y="0"/>
                    </a:lnTo>
                    <a:lnTo>
                      <a:pt x="1638300" y="3175"/>
                    </a:lnTo>
                    <a:lnTo>
                      <a:pt x="2047875" y="47625"/>
                    </a:lnTo>
                    <a:lnTo>
                      <a:pt x="2673350" y="476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1" name="Google Shape;1961;p32"/>
              <p:cNvSpPr/>
              <p:nvPr/>
            </p:nvSpPr>
            <p:spPr>
              <a:xfrm>
                <a:off x="7781925" y="4832350"/>
                <a:ext cx="2670175" cy="431800"/>
              </a:xfrm>
              <a:custGeom>
                <a:rect b="b" l="l" r="r" t="t"/>
                <a:pathLst>
                  <a:path extrusionOk="0" h="431800" w="2670175">
                    <a:moveTo>
                      <a:pt x="0" y="9525"/>
                    </a:moveTo>
                    <a:lnTo>
                      <a:pt x="619125" y="12700"/>
                    </a:lnTo>
                    <a:lnTo>
                      <a:pt x="1028700" y="431800"/>
                    </a:lnTo>
                    <a:lnTo>
                      <a:pt x="1647825" y="431800"/>
                    </a:lnTo>
                    <a:lnTo>
                      <a:pt x="2047875" y="0"/>
                    </a:lnTo>
                    <a:lnTo>
                      <a:pt x="2670175" y="0"/>
                    </a:lnTo>
                    <a:lnTo>
                      <a:pt x="2670175" y="0"/>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2" name="Google Shape;1962;p32"/>
              <p:cNvSpPr/>
              <p:nvPr/>
            </p:nvSpPr>
            <p:spPr>
              <a:xfrm flipH="1" rot="10800000">
                <a:off x="7772400" y="4870450"/>
                <a:ext cx="2670175" cy="431800"/>
              </a:xfrm>
              <a:custGeom>
                <a:rect b="b" l="l" r="r" t="t"/>
                <a:pathLst>
                  <a:path extrusionOk="0" h="431800" w="2670175">
                    <a:moveTo>
                      <a:pt x="0" y="9525"/>
                    </a:moveTo>
                    <a:lnTo>
                      <a:pt x="619125" y="12700"/>
                    </a:lnTo>
                    <a:lnTo>
                      <a:pt x="1028700" y="431800"/>
                    </a:lnTo>
                    <a:lnTo>
                      <a:pt x="1647825" y="431800"/>
                    </a:lnTo>
                    <a:lnTo>
                      <a:pt x="2047875" y="0"/>
                    </a:lnTo>
                    <a:lnTo>
                      <a:pt x="2670175" y="0"/>
                    </a:lnTo>
                    <a:lnTo>
                      <a:pt x="2670175" y="0"/>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3" name="Google Shape;1963;p32"/>
              <p:cNvSpPr/>
              <p:nvPr/>
            </p:nvSpPr>
            <p:spPr>
              <a:xfrm>
                <a:off x="7778750" y="4911725"/>
                <a:ext cx="2667000" cy="860425"/>
              </a:xfrm>
              <a:custGeom>
                <a:rect b="b" l="l" r="r" t="t"/>
                <a:pathLst>
                  <a:path extrusionOk="0" h="860425" w="2667000">
                    <a:moveTo>
                      <a:pt x="0" y="12700"/>
                    </a:moveTo>
                    <a:lnTo>
                      <a:pt x="622300" y="15875"/>
                    </a:lnTo>
                    <a:lnTo>
                      <a:pt x="1022350" y="860425"/>
                    </a:lnTo>
                    <a:lnTo>
                      <a:pt x="1654175" y="857250"/>
                    </a:lnTo>
                    <a:lnTo>
                      <a:pt x="2057400" y="0"/>
                    </a:lnTo>
                    <a:lnTo>
                      <a:pt x="2667000" y="317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4" name="Google Shape;1964;p32"/>
              <p:cNvSpPr/>
              <p:nvPr/>
            </p:nvSpPr>
            <p:spPr>
              <a:xfrm flipH="1" rot="10800000">
                <a:off x="7772400" y="4362450"/>
                <a:ext cx="2667000" cy="860425"/>
              </a:xfrm>
              <a:custGeom>
                <a:rect b="b" l="l" r="r" t="t"/>
                <a:pathLst>
                  <a:path extrusionOk="0" h="860425" w="2667000">
                    <a:moveTo>
                      <a:pt x="0" y="12700"/>
                    </a:moveTo>
                    <a:lnTo>
                      <a:pt x="622300" y="15875"/>
                    </a:lnTo>
                    <a:lnTo>
                      <a:pt x="1022350" y="860425"/>
                    </a:lnTo>
                    <a:lnTo>
                      <a:pt x="1654175" y="857250"/>
                    </a:lnTo>
                    <a:lnTo>
                      <a:pt x="2057400" y="0"/>
                    </a:lnTo>
                    <a:lnTo>
                      <a:pt x="2667000" y="317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5" name="Google Shape;1965;p32"/>
              <p:cNvSpPr/>
              <p:nvPr/>
            </p:nvSpPr>
            <p:spPr>
              <a:xfrm>
                <a:off x="7896225" y="46069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6" name="Google Shape;1966;p32"/>
              <p:cNvSpPr/>
              <p:nvPr/>
            </p:nvSpPr>
            <p:spPr>
              <a:xfrm>
                <a:off x="7893050" y="51530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7" name="Google Shape;1967;p32"/>
              <p:cNvSpPr/>
              <p:nvPr/>
            </p:nvSpPr>
            <p:spPr>
              <a:xfrm>
                <a:off x="8921750" y="40862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8" name="Google Shape;1968;p32"/>
              <p:cNvSpPr/>
              <p:nvPr/>
            </p:nvSpPr>
            <p:spPr>
              <a:xfrm>
                <a:off x="8912225" y="45878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9" name="Google Shape;1969;p32"/>
              <p:cNvSpPr/>
              <p:nvPr/>
            </p:nvSpPr>
            <p:spPr>
              <a:xfrm>
                <a:off x="8915400" y="5143500"/>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0" name="Google Shape;1970;p32"/>
              <p:cNvSpPr/>
              <p:nvPr/>
            </p:nvSpPr>
            <p:spPr>
              <a:xfrm>
                <a:off x="8921750" y="56546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1" name="Google Shape;1971;p32"/>
              <p:cNvSpPr/>
              <p:nvPr/>
            </p:nvSpPr>
            <p:spPr>
              <a:xfrm>
                <a:off x="9944100" y="51530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2" name="Google Shape;1972;p32"/>
              <p:cNvSpPr/>
              <p:nvPr/>
            </p:nvSpPr>
            <p:spPr>
              <a:xfrm>
                <a:off x="9944100" y="45878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973" name="Google Shape;1973;p32"/>
            <p:cNvSpPr txBox="1"/>
            <p:nvPr/>
          </p:nvSpPr>
          <p:spPr>
            <a:xfrm>
              <a:off x="8097079" y="5989983"/>
              <a:ext cx="3244414"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8x8 multistage switch </a:t>
              </a:r>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built from smaller-sized switches</a:t>
              </a:r>
              <a:endParaRPr/>
            </a:p>
          </p:txBody>
        </p:sp>
      </p:grpSp>
      <p:sp>
        <p:nvSpPr>
          <p:cNvPr id="1974" name="Google Shape;1974;p32"/>
          <p:cNvSpPr txBox="1"/>
          <p:nvPr/>
        </p:nvSpPr>
        <p:spPr>
          <a:xfrm>
            <a:off x="9006580" y="3438940"/>
            <a:ext cx="1359155"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3x3 crossbar</a:t>
            </a:r>
            <a:endParaRPr/>
          </a:p>
        </p:txBody>
      </p:sp>
      <p:sp>
        <p:nvSpPr>
          <p:cNvPr id="1975" name="Google Shape;1975;p32"/>
          <p:cNvSpPr txBox="1"/>
          <p:nvPr/>
        </p:nvSpPr>
        <p:spPr>
          <a:xfrm>
            <a:off x="788873" y="3242734"/>
            <a:ext cx="6477000" cy="1093740"/>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multistage switch: </a:t>
            </a:r>
            <a:r>
              <a:rPr b="0" i="1" lang="en-US" sz="3200" u="none" cap="none" strike="noStrike">
                <a:solidFill>
                  <a:srgbClr val="000000"/>
                </a:solidFill>
                <a:latin typeface="Calibri"/>
                <a:ea typeface="Calibri"/>
                <a:cs typeface="Calibri"/>
                <a:sym typeface="Calibri"/>
              </a:rPr>
              <a:t>nxn</a:t>
            </a:r>
            <a:r>
              <a:rPr b="0" i="0" lang="en-US" sz="3200" u="none" cap="none" strike="noStrike">
                <a:solidFill>
                  <a:srgbClr val="000000"/>
                </a:solidFill>
                <a:latin typeface="Calibri"/>
                <a:ea typeface="Calibri"/>
                <a:cs typeface="Calibri"/>
                <a:sym typeface="Calibri"/>
              </a:rPr>
              <a:t> switch from multiple stages of smaller switches</a:t>
            </a:r>
            <a:endParaRPr/>
          </a:p>
        </p:txBody>
      </p:sp>
      <p:sp>
        <p:nvSpPr>
          <p:cNvPr id="1976" name="Google Shape;1976;p32"/>
          <p:cNvSpPr txBox="1"/>
          <p:nvPr/>
        </p:nvSpPr>
        <p:spPr>
          <a:xfrm>
            <a:off x="775016" y="4281825"/>
            <a:ext cx="6477000" cy="2118976"/>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exploiting parallelism: </a:t>
            </a:r>
            <a:endParaRPr/>
          </a:p>
          <a:p>
            <a:pPr indent="-287338" lvl="1" marL="69373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fragment datagram into fixed length cells on entry</a:t>
            </a:r>
            <a:endParaRPr/>
          </a:p>
          <a:p>
            <a:pPr indent="-287338" lvl="1" marL="69373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switch cells through the fabric, reassemble datagram at exit</a:t>
            </a:r>
            <a:endParaRPr/>
          </a:p>
        </p:txBody>
      </p:sp>
      <p:sp>
        <p:nvSpPr>
          <p:cNvPr id="1977" name="Google Shape;1977;p32"/>
          <p:cNvSpPr txBox="1"/>
          <p:nvPr/>
        </p:nvSpPr>
        <p:spPr>
          <a:xfrm>
            <a:off x="9006580" y="3438940"/>
            <a:ext cx="1359155"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3x3 crossbar</a:t>
            </a:r>
            <a:endParaRPr/>
          </a:p>
        </p:txBody>
      </p:sp>
      <p:sp>
        <p:nvSpPr>
          <p:cNvPr id="1978" name="Google Shape;1978;p32"/>
          <p:cNvSpPr/>
          <p:nvPr/>
        </p:nvSpPr>
        <p:spPr>
          <a:xfrm>
            <a:off x="7278457" y="4508938"/>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9" name="Google Shape;1979;p32"/>
          <p:cNvSpPr/>
          <p:nvPr/>
        </p:nvSpPr>
        <p:spPr>
          <a:xfrm>
            <a:off x="7571262" y="4508366"/>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0" name="Google Shape;1980;p32"/>
          <p:cNvSpPr/>
          <p:nvPr/>
        </p:nvSpPr>
        <p:spPr>
          <a:xfrm>
            <a:off x="7862810" y="4508366"/>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1" name="Google Shape;1981;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5"/>
                                        </p:tgtEl>
                                        <p:attrNameLst>
                                          <p:attrName>style.visibility</p:attrName>
                                        </p:attrNameLst>
                                      </p:cBhvr>
                                      <p:to>
                                        <p:strVal val="visible"/>
                                      </p:to>
                                    </p:set>
                                    <p:animEffect filter="fade" transition="in">
                                      <p:cBhvr>
                                        <p:cTn dur="500"/>
                                        <p:tgtEl>
                                          <p:spTgt spid="1975"/>
                                        </p:tgtEl>
                                      </p:cBhvr>
                                    </p:animEffect>
                                  </p:childTnLst>
                                </p:cTn>
                              </p:par>
                              <p:par>
                                <p:cTn fill="hold" nodeType="withEffect" presetClass="entr" presetID="10" presetSubtype="0">
                                  <p:stCondLst>
                                    <p:cond delay="0"/>
                                  </p:stCondLst>
                                  <p:childTnLst>
                                    <p:set>
                                      <p:cBhvr>
                                        <p:cTn dur="1" fill="hold">
                                          <p:stCondLst>
                                            <p:cond delay="0"/>
                                          </p:stCondLst>
                                        </p:cTn>
                                        <p:tgtEl>
                                          <p:spTgt spid="1955"/>
                                        </p:tgtEl>
                                        <p:attrNameLst>
                                          <p:attrName>style.visibility</p:attrName>
                                        </p:attrNameLst>
                                      </p:cBhvr>
                                      <p:to>
                                        <p:strVal val="visible"/>
                                      </p:to>
                                    </p:set>
                                    <p:animEffect filter="fade" transition="in">
                                      <p:cBhvr>
                                        <p:cTn dur="500"/>
                                        <p:tgtEl>
                                          <p:spTgt spid="19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500"/>
                                        <p:tgtEl>
                                          <p:spTgt spid="1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8"/>
                                        </p:tgtEl>
                                        <p:attrNameLst>
                                          <p:attrName>style.visibility</p:attrName>
                                        </p:attrNameLst>
                                      </p:cBhvr>
                                      <p:to>
                                        <p:strVal val="visible"/>
                                      </p:to>
                                    </p:set>
                                    <p:animEffect filter="fade" transition="in">
                                      <p:cBhvr>
                                        <p:cTn dur="500"/>
                                        <p:tgtEl>
                                          <p:spTgt spid="1978"/>
                                        </p:tgtEl>
                                      </p:cBhvr>
                                    </p:animEffect>
                                  </p:childTnLst>
                                </p:cTn>
                              </p:par>
                              <p:par>
                                <p:cTn fill="hold" nodeType="withEffect" presetClass="entr" presetID="10" presetSubtype="0">
                                  <p:stCondLst>
                                    <p:cond delay="0"/>
                                  </p:stCondLst>
                                  <p:childTnLst>
                                    <p:set>
                                      <p:cBhvr>
                                        <p:cTn dur="1" fill="hold">
                                          <p:stCondLst>
                                            <p:cond delay="0"/>
                                          </p:stCondLst>
                                        </p:cTn>
                                        <p:tgtEl>
                                          <p:spTgt spid="1979"/>
                                        </p:tgtEl>
                                        <p:attrNameLst>
                                          <p:attrName>style.visibility</p:attrName>
                                        </p:attrNameLst>
                                      </p:cBhvr>
                                      <p:to>
                                        <p:strVal val="visible"/>
                                      </p:to>
                                    </p:set>
                                    <p:animEffect filter="fade" transition="in">
                                      <p:cBhvr>
                                        <p:cTn dur="500"/>
                                        <p:tgtEl>
                                          <p:spTgt spid="1979"/>
                                        </p:tgtEl>
                                      </p:cBhvr>
                                    </p:animEffect>
                                  </p:childTnLst>
                                </p:cTn>
                              </p:par>
                              <p:par>
                                <p:cTn fill="hold" nodeType="with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500"/>
                                        <p:tgtEl>
                                          <p:spTgt spid="19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6" name="Shape 1986"/>
        <p:cNvGrpSpPr/>
        <p:nvPr/>
      </p:nvGrpSpPr>
      <p:grpSpPr>
        <a:xfrm>
          <a:off x="0" y="0"/>
          <a:ext cx="0" cy="0"/>
          <a:chOff x="0" y="0"/>
          <a:chExt cx="0" cy="0"/>
        </a:xfrm>
      </p:grpSpPr>
      <p:sp>
        <p:nvSpPr>
          <p:cNvPr id="1987" name="Google Shape;1987;p33"/>
          <p:cNvSpPr txBox="1"/>
          <p:nvPr>
            <p:ph idx="1" type="body"/>
          </p:nvPr>
        </p:nvSpPr>
        <p:spPr>
          <a:xfrm>
            <a:off x="924646" y="1287519"/>
            <a:ext cx="10585173" cy="1026189"/>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scaling, using multiple switching “planes” in parallel: </a:t>
            </a:r>
            <a:endParaRPr/>
          </a:p>
          <a:p>
            <a:pPr indent="-287338" lvl="1" marL="695325" rtl="0" algn="l">
              <a:lnSpc>
                <a:spcPct val="90000"/>
              </a:lnSpc>
              <a:spcBef>
                <a:spcPts val="500"/>
              </a:spcBef>
              <a:spcAft>
                <a:spcPts val="0"/>
              </a:spcAft>
              <a:buSzPts val="2800"/>
              <a:buFont typeface="Noto Sans Symbols"/>
              <a:buChar char="▪"/>
            </a:pPr>
            <a:r>
              <a:rPr lang="en-US" sz="2800"/>
              <a:t>speedup, scaleup via parallelism</a:t>
            </a:r>
            <a:endParaRPr/>
          </a:p>
        </p:txBody>
      </p:sp>
      <p:sp>
        <p:nvSpPr>
          <p:cNvPr id="1988" name="Google Shape;1988;p33"/>
          <p:cNvSpPr txBox="1"/>
          <p:nvPr>
            <p:ph type="title"/>
          </p:nvPr>
        </p:nvSpPr>
        <p:spPr>
          <a:xfrm>
            <a:off x="838200" y="39881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interconnection network</a:t>
            </a:r>
            <a:endParaRPr/>
          </a:p>
        </p:txBody>
      </p:sp>
      <p:grpSp>
        <p:nvGrpSpPr>
          <p:cNvPr id="1989" name="Google Shape;1989;p33"/>
          <p:cNvGrpSpPr/>
          <p:nvPr/>
        </p:nvGrpSpPr>
        <p:grpSpPr>
          <a:xfrm>
            <a:off x="5465885" y="2987580"/>
            <a:ext cx="6504470" cy="2842592"/>
            <a:chOff x="2502527" y="2166731"/>
            <a:chExt cx="6504470" cy="2842592"/>
          </a:xfrm>
        </p:grpSpPr>
        <p:grpSp>
          <p:nvGrpSpPr>
            <p:cNvPr id="1990" name="Google Shape;1990;p33"/>
            <p:cNvGrpSpPr/>
            <p:nvPr/>
          </p:nvGrpSpPr>
          <p:grpSpPr>
            <a:xfrm>
              <a:off x="2661555" y="4446106"/>
              <a:ext cx="977484" cy="193795"/>
              <a:chOff x="876" y="2800"/>
              <a:chExt cx="642" cy="175"/>
            </a:xfrm>
          </p:grpSpPr>
          <p:sp>
            <p:nvSpPr>
              <p:cNvPr id="1991" name="Google Shape;1991;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2" name="Google Shape;1992;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3" name="Google Shape;1993;p33"/>
              <p:cNvSpPr/>
              <p:nvPr/>
            </p:nvSpPr>
            <p:spPr>
              <a:xfrm>
                <a:off x="1117" y="2818"/>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4" name="Google Shape;1994;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995" name="Google Shape;1995;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1996" name="Google Shape;1996;p33"/>
            <p:cNvGrpSpPr/>
            <p:nvPr/>
          </p:nvGrpSpPr>
          <p:grpSpPr>
            <a:xfrm>
              <a:off x="2575415" y="4611758"/>
              <a:ext cx="977484" cy="193795"/>
              <a:chOff x="876" y="2800"/>
              <a:chExt cx="642" cy="175"/>
            </a:xfrm>
          </p:grpSpPr>
          <p:sp>
            <p:nvSpPr>
              <p:cNvPr id="1997" name="Google Shape;1997;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8" name="Google Shape;1998;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9" name="Google Shape;1999;p33"/>
              <p:cNvSpPr/>
              <p:nvPr/>
            </p:nvSpPr>
            <p:spPr>
              <a:xfrm>
                <a:off x="1117" y="2818"/>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0" name="Google Shape;2000;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001" name="Google Shape;2001;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002" name="Google Shape;2002;p33"/>
            <p:cNvGrpSpPr/>
            <p:nvPr/>
          </p:nvGrpSpPr>
          <p:grpSpPr>
            <a:xfrm>
              <a:off x="4623758" y="2166731"/>
              <a:ext cx="2290665" cy="2842592"/>
              <a:chOff x="4199689" y="2922105"/>
              <a:chExt cx="2290665" cy="2842592"/>
            </a:xfrm>
          </p:grpSpPr>
          <p:grpSp>
            <p:nvGrpSpPr>
              <p:cNvPr id="2003" name="Google Shape;2003;p33"/>
              <p:cNvGrpSpPr/>
              <p:nvPr/>
            </p:nvGrpSpPr>
            <p:grpSpPr>
              <a:xfrm>
                <a:off x="4802662" y="2922105"/>
                <a:ext cx="1687692" cy="1311965"/>
                <a:chOff x="1416732" y="5221357"/>
                <a:chExt cx="1687692" cy="1311965"/>
              </a:xfrm>
            </p:grpSpPr>
            <p:cxnSp>
              <p:nvCxnSpPr>
                <p:cNvPr id="2004" name="Google Shape;2004;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5" name="Google Shape;2005;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6" name="Google Shape;2006;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7" name="Google Shape;2007;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8" name="Google Shape;2008;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09" name="Google Shape;2009;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0" name="Google Shape;2010;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1" name="Google Shape;2011;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12" name="Google Shape;2012;p33"/>
                <p:cNvGrpSpPr/>
                <p:nvPr/>
              </p:nvGrpSpPr>
              <p:grpSpPr>
                <a:xfrm>
                  <a:off x="1749287" y="5221357"/>
                  <a:ext cx="1200970" cy="1311965"/>
                  <a:chOff x="4426226" y="4479235"/>
                  <a:chExt cx="1200970" cy="1311965"/>
                </a:xfrm>
              </p:grpSpPr>
              <p:sp>
                <p:nvSpPr>
                  <p:cNvPr id="2013" name="Google Shape;2013;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14" name="Google Shape;2014;p33"/>
                  <p:cNvSpPr txBox="1"/>
                  <p:nvPr/>
                </p:nvSpPr>
                <p:spPr>
                  <a:xfrm>
                    <a:off x="4426226" y="4479235"/>
                    <a:ext cx="12009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0</a:t>
                    </a:r>
                    <a:endParaRPr/>
                  </a:p>
                </p:txBody>
              </p:sp>
            </p:grpSp>
            <p:sp>
              <p:nvSpPr>
                <p:cNvPr id="2015" name="Google Shape;2015;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16" name="Google Shape;2016;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17" name="Google Shape;2017;p33"/>
              <p:cNvGrpSpPr/>
              <p:nvPr/>
            </p:nvGrpSpPr>
            <p:grpSpPr>
              <a:xfrm>
                <a:off x="4716523" y="3140766"/>
                <a:ext cx="1687692" cy="1311965"/>
                <a:chOff x="1416732" y="5221357"/>
                <a:chExt cx="1687692" cy="1311965"/>
              </a:xfrm>
            </p:grpSpPr>
            <p:cxnSp>
              <p:nvCxnSpPr>
                <p:cNvPr id="2018" name="Google Shape;2018;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19" name="Google Shape;2019;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0" name="Google Shape;2020;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1" name="Google Shape;2021;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2" name="Google Shape;2022;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3" name="Google Shape;2023;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4" name="Google Shape;2024;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25" name="Google Shape;2025;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26" name="Google Shape;2026;p33"/>
                <p:cNvGrpSpPr/>
                <p:nvPr/>
              </p:nvGrpSpPr>
              <p:grpSpPr>
                <a:xfrm>
                  <a:off x="1749287" y="5221357"/>
                  <a:ext cx="1175002" cy="1311965"/>
                  <a:chOff x="4426226" y="4479235"/>
                  <a:chExt cx="1175002" cy="1311965"/>
                </a:xfrm>
              </p:grpSpPr>
              <p:sp>
                <p:nvSpPr>
                  <p:cNvPr id="2027" name="Google Shape;2027;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28" name="Google Shape;2028;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1</a:t>
                    </a:r>
                    <a:endParaRPr/>
                  </a:p>
                </p:txBody>
              </p:sp>
            </p:grpSp>
            <p:sp>
              <p:nvSpPr>
                <p:cNvPr id="2029" name="Google Shape;2029;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30" name="Google Shape;2030;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31" name="Google Shape;2031;p33"/>
              <p:cNvGrpSpPr/>
              <p:nvPr/>
            </p:nvGrpSpPr>
            <p:grpSpPr>
              <a:xfrm>
                <a:off x="4630384" y="3359427"/>
                <a:ext cx="1687692" cy="1311965"/>
                <a:chOff x="1416732" y="5221357"/>
                <a:chExt cx="1687692" cy="1311965"/>
              </a:xfrm>
            </p:grpSpPr>
            <p:cxnSp>
              <p:nvCxnSpPr>
                <p:cNvPr id="2032" name="Google Shape;2032;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3" name="Google Shape;2033;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4" name="Google Shape;2034;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5" name="Google Shape;2035;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6" name="Google Shape;2036;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7" name="Google Shape;2037;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8" name="Google Shape;2038;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39" name="Google Shape;2039;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40" name="Google Shape;2040;p33"/>
                <p:cNvGrpSpPr/>
                <p:nvPr/>
              </p:nvGrpSpPr>
              <p:grpSpPr>
                <a:xfrm>
                  <a:off x="1749287" y="5221357"/>
                  <a:ext cx="1175002" cy="1311965"/>
                  <a:chOff x="4426226" y="4479235"/>
                  <a:chExt cx="1175002" cy="1311965"/>
                </a:xfrm>
              </p:grpSpPr>
              <p:sp>
                <p:nvSpPr>
                  <p:cNvPr id="2041" name="Google Shape;2041;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42" name="Google Shape;2042;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2</a:t>
                    </a:r>
                    <a:endParaRPr/>
                  </a:p>
                </p:txBody>
              </p:sp>
            </p:grpSp>
            <p:sp>
              <p:nvSpPr>
                <p:cNvPr id="2043" name="Google Shape;2043;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44" name="Google Shape;2044;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45" name="Google Shape;2045;p33"/>
              <p:cNvGrpSpPr/>
              <p:nvPr/>
            </p:nvGrpSpPr>
            <p:grpSpPr>
              <a:xfrm>
                <a:off x="4544245" y="3578088"/>
                <a:ext cx="1687692" cy="1311965"/>
                <a:chOff x="1416732" y="5221357"/>
                <a:chExt cx="1687692" cy="1311965"/>
              </a:xfrm>
            </p:grpSpPr>
            <p:cxnSp>
              <p:nvCxnSpPr>
                <p:cNvPr id="2046" name="Google Shape;2046;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7" name="Google Shape;2047;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8" name="Google Shape;2048;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49" name="Google Shape;2049;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0" name="Google Shape;2050;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1" name="Google Shape;2051;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2" name="Google Shape;2052;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53" name="Google Shape;2053;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54" name="Google Shape;2054;p33"/>
                <p:cNvGrpSpPr/>
                <p:nvPr/>
              </p:nvGrpSpPr>
              <p:grpSpPr>
                <a:xfrm>
                  <a:off x="1749287" y="5221357"/>
                  <a:ext cx="1175002" cy="1311965"/>
                  <a:chOff x="4426226" y="4479235"/>
                  <a:chExt cx="1175002" cy="1311965"/>
                </a:xfrm>
              </p:grpSpPr>
              <p:sp>
                <p:nvSpPr>
                  <p:cNvPr id="2055" name="Google Shape;2055;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56" name="Google Shape;2056;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3</a:t>
                    </a:r>
                    <a:endParaRPr/>
                  </a:p>
                </p:txBody>
              </p:sp>
            </p:grpSp>
            <p:sp>
              <p:nvSpPr>
                <p:cNvPr id="2057" name="Google Shape;2057;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58" name="Google Shape;2058;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59" name="Google Shape;2059;p33"/>
              <p:cNvGrpSpPr/>
              <p:nvPr/>
            </p:nvGrpSpPr>
            <p:grpSpPr>
              <a:xfrm>
                <a:off x="4458106" y="3796749"/>
                <a:ext cx="1687692" cy="1311965"/>
                <a:chOff x="1416732" y="5221357"/>
                <a:chExt cx="1687692" cy="1311965"/>
              </a:xfrm>
            </p:grpSpPr>
            <p:cxnSp>
              <p:nvCxnSpPr>
                <p:cNvPr id="2060" name="Google Shape;2060;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1" name="Google Shape;2061;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2" name="Google Shape;2062;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3" name="Google Shape;2063;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4" name="Google Shape;2064;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5" name="Google Shape;2065;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6" name="Google Shape;2066;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67" name="Google Shape;2067;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68" name="Google Shape;2068;p33"/>
                <p:cNvGrpSpPr/>
                <p:nvPr/>
              </p:nvGrpSpPr>
              <p:grpSpPr>
                <a:xfrm>
                  <a:off x="1749287" y="5221357"/>
                  <a:ext cx="1175002" cy="1311965"/>
                  <a:chOff x="4426226" y="4479235"/>
                  <a:chExt cx="1175002" cy="1311965"/>
                </a:xfrm>
              </p:grpSpPr>
              <p:sp>
                <p:nvSpPr>
                  <p:cNvPr id="2069" name="Google Shape;2069;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0" name="Google Shape;2070;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4</a:t>
                    </a:r>
                    <a:endParaRPr/>
                  </a:p>
                </p:txBody>
              </p:sp>
            </p:grpSp>
            <p:sp>
              <p:nvSpPr>
                <p:cNvPr id="2071" name="Google Shape;2071;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72" name="Google Shape;2072;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73" name="Google Shape;2073;p33"/>
              <p:cNvGrpSpPr/>
              <p:nvPr/>
            </p:nvGrpSpPr>
            <p:grpSpPr>
              <a:xfrm>
                <a:off x="4371967" y="4015410"/>
                <a:ext cx="1687692" cy="1311965"/>
                <a:chOff x="1416732" y="5221357"/>
                <a:chExt cx="1687692" cy="1311965"/>
              </a:xfrm>
            </p:grpSpPr>
            <p:cxnSp>
              <p:nvCxnSpPr>
                <p:cNvPr id="2074" name="Google Shape;2074;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5" name="Google Shape;2075;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6" name="Google Shape;2076;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7" name="Google Shape;2077;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8" name="Google Shape;2078;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79" name="Google Shape;2079;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0" name="Google Shape;2080;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1" name="Google Shape;2081;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82" name="Google Shape;2082;p33"/>
                <p:cNvGrpSpPr/>
                <p:nvPr/>
              </p:nvGrpSpPr>
              <p:grpSpPr>
                <a:xfrm>
                  <a:off x="1749287" y="5221357"/>
                  <a:ext cx="1175002" cy="1311965"/>
                  <a:chOff x="4426226" y="4479235"/>
                  <a:chExt cx="1175002" cy="1311965"/>
                </a:xfrm>
              </p:grpSpPr>
              <p:sp>
                <p:nvSpPr>
                  <p:cNvPr id="2083" name="Google Shape;2083;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84" name="Google Shape;2084;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5</a:t>
                    </a:r>
                    <a:endParaRPr/>
                  </a:p>
                </p:txBody>
              </p:sp>
            </p:grpSp>
            <p:sp>
              <p:nvSpPr>
                <p:cNvPr id="2085" name="Google Shape;2085;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086" name="Google Shape;2086;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087" name="Google Shape;2087;p33"/>
              <p:cNvGrpSpPr/>
              <p:nvPr/>
            </p:nvGrpSpPr>
            <p:grpSpPr>
              <a:xfrm>
                <a:off x="4285828" y="4234071"/>
                <a:ext cx="1687692" cy="1311965"/>
                <a:chOff x="1416732" y="5221357"/>
                <a:chExt cx="1687692" cy="1311965"/>
              </a:xfrm>
            </p:grpSpPr>
            <p:cxnSp>
              <p:nvCxnSpPr>
                <p:cNvPr id="2088" name="Google Shape;2088;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89" name="Google Shape;2089;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0" name="Google Shape;2090;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1" name="Google Shape;2091;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2" name="Google Shape;2092;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3" name="Google Shape;2093;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4" name="Google Shape;2094;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095" name="Google Shape;2095;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096" name="Google Shape;2096;p33"/>
                <p:cNvGrpSpPr/>
                <p:nvPr/>
              </p:nvGrpSpPr>
              <p:grpSpPr>
                <a:xfrm>
                  <a:off x="1749287" y="5221357"/>
                  <a:ext cx="1175002" cy="1311965"/>
                  <a:chOff x="4426226" y="4479235"/>
                  <a:chExt cx="1175002" cy="1311965"/>
                </a:xfrm>
              </p:grpSpPr>
              <p:sp>
                <p:nvSpPr>
                  <p:cNvPr id="2097" name="Google Shape;2097;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98" name="Google Shape;2098;p33"/>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6</a:t>
                    </a:r>
                    <a:endParaRPr/>
                  </a:p>
                </p:txBody>
              </p:sp>
            </p:grpSp>
            <p:sp>
              <p:nvSpPr>
                <p:cNvPr id="2099" name="Google Shape;2099;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100" name="Google Shape;2100;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2101" name="Google Shape;2101;p33"/>
              <p:cNvGrpSpPr/>
              <p:nvPr/>
            </p:nvGrpSpPr>
            <p:grpSpPr>
              <a:xfrm>
                <a:off x="4199689" y="4452732"/>
                <a:ext cx="1687692" cy="1311965"/>
                <a:chOff x="1416732" y="5221357"/>
                <a:chExt cx="1687692" cy="1311965"/>
              </a:xfrm>
            </p:grpSpPr>
            <p:cxnSp>
              <p:nvCxnSpPr>
                <p:cNvPr id="2102" name="Google Shape;2102;p33"/>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3" name="Google Shape;2103;p33"/>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4" name="Google Shape;2104;p33"/>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5" name="Google Shape;2105;p33"/>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6" name="Google Shape;2106;p33"/>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7" name="Google Shape;2107;p33"/>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8" name="Google Shape;2108;p33"/>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2109" name="Google Shape;2109;p33"/>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2110" name="Google Shape;2110;p33"/>
                <p:cNvGrpSpPr/>
                <p:nvPr/>
              </p:nvGrpSpPr>
              <p:grpSpPr>
                <a:xfrm>
                  <a:off x="1749287" y="5221357"/>
                  <a:ext cx="1200970" cy="1311965"/>
                  <a:chOff x="4426226" y="4479235"/>
                  <a:chExt cx="1200970" cy="1311965"/>
                </a:xfrm>
              </p:grpSpPr>
              <p:sp>
                <p:nvSpPr>
                  <p:cNvPr id="2111" name="Google Shape;2111;p33"/>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12" name="Google Shape;2112;p33"/>
                  <p:cNvSpPr txBox="1"/>
                  <p:nvPr/>
                </p:nvSpPr>
                <p:spPr>
                  <a:xfrm>
                    <a:off x="4426226" y="4479235"/>
                    <a:ext cx="12009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7</a:t>
                    </a:r>
                    <a:endParaRPr/>
                  </a:p>
                </p:txBody>
              </p:sp>
            </p:grpSp>
            <p:sp>
              <p:nvSpPr>
                <p:cNvPr id="2113" name="Google Shape;2113;p33"/>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2114" name="Google Shape;2114;p33"/>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grpSp>
          <p:nvGrpSpPr>
            <p:cNvPr id="2115" name="Google Shape;2115;p33"/>
            <p:cNvGrpSpPr/>
            <p:nvPr/>
          </p:nvGrpSpPr>
          <p:grpSpPr>
            <a:xfrm>
              <a:off x="7458844" y="4535520"/>
              <a:ext cx="799405" cy="236966"/>
              <a:chOff x="453" y="3465"/>
              <a:chExt cx="561" cy="136"/>
            </a:xfrm>
          </p:grpSpPr>
          <p:sp>
            <p:nvSpPr>
              <p:cNvPr id="2116" name="Google Shape;2116;p33"/>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7" name="Google Shape;2117;p33"/>
              <p:cNvSpPr/>
              <p:nvPr/>
            </p:nvSpPr>
            <p:spPr>
              <a:xfrm>
                <a:off x="769" y="3504"/>
                <a:ext cx="132" cy="61"/>
              </a:xfrm>
              <a:prstGeom prst="rect">
                <a:avLst/>
              </a:prstGeom>
              <a:solidFill>
                <a:srgbClr val="FFFFFF"/>
              </a:solidFill>
              <a:ln cap="flat" cmpd="sng" w="158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8" name="Google Shape;2118;p33"/>
              <p:cNvSpPr/>
              <p:nvPr/>
            </p:nvSpPr>
            <p:spPr>
              <a:xfrm>
                <a:off x="642" y="3481"/>
                <a:ext cx="108" cy="104"/>
              </a:xfrm>
              <a:prstGeom prst="rect">
                <a:avLst/>
              </a:prstGeom>
              <a:solidFill>
                <a:srgbClr val="FFFFFF"/>
              </a:solidFill>
              <a:ln cap="flat" cmpd="sng" w="158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9" name="Google Shape;2119;p33"/>
              <p:cNvSpPr/>
              <p:nvPr/>
            </p:nvSpPr>
            <p:spPr>
              <a:xfrm>
                <a:off x="515" y="3478"/>
                <a:ext cx="108" cy="105"/>
              </a:xfrm>
              <a:prstGeom prst="rect">
                <a:avLst/>
              </a:prstGeom>
              <a:solidFill>
                <a:srgbClr val="FFFFFF"/>
              </a:solidFill>
              <a:ln cap="flat" cmpd="sng" w="158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20" name="Google Shape;2120;p33"/>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cxnSp>
          <p:nvCxnSpPr>
            <p:cNvPr id="2121" name="Google Shape;2121;p33"/>
            <p:cNvCxnSpPr/>
            <p:nvPr/>
          </p:nvCxnSpPr>
          <p:spPr>
            <a:xfrm flipH="1">
              <a:off x="4374532" y="2250005"/>
              <a:ext cx="1064231" cy="292455"/>
            </a:xfrm>
            <a:prstGeom prst="straightConnector1">
              <a:avLst/>
            </a:prstGeom>
            <a:noFill/>
            <a:ln cap="flat" cmpd="sng" w="9525">
              <a:solidFill>
                <a:schemeClr val="accent1"/>
              </a:solidFill>
              <a:prstDash val="solid"/>
              <a:miter lim="800000"/>
              <a:headEnd len="sm" w="sm" type="none"/>
              <a:tailEnd len="sm" w="sm" type="none"/>
            </a:ln>
          </p:spPr>
        </p:cxnSp>
        <p:cxnSp>
          <p:nvCxnSpPr>
            <p:cNvPr id="2122" name="Google Shape;2122;p33"/>
            <p:cNvCxnSpPr/>
            <p:nvPr/>
          </p:nvCxnSpPr>
          <p:spPr>
            <a:xfrm flipH="1">
              <a:off x="4379613" y="2473015"/>
              <a:ext cx="975008" cy="70021"/>
            </a:xfrm>
            <a:prstGeom prst="straightConnector1">
              <a:avLst/>
            </a:prstGeom>
            <a:noFill/>
            <a:ln cap="flat" cmpd="sng" w="9525">
              <a:solidFill>
                <a:schemeClr val="accent1"/>
              </a:solidFill>
              <a:prstDash val="solid"/>
              <a:miter lim="800000"/>
              <a:headEnd len="sm" w="sm" type="none"/>
              <a:tailEnd len="sm" w="sm" type="none"/>
            </a:ln>
          </p:spPr>
        </p:cxnSp>
        <p:cxnSp>
          <p:nvCxnSpPr>
            <p:cNvPr id="2123" name="Google Shape;2123;p33"/>
            <p:cNvCxnSpPr/>
            <p:nvPr/>
          </p:nvCxnSpPr>
          <p:spPr>
            <a:xfrm rot="10800000">
              <a:off x="4374532" y="2542460"/>
              <a:ext cx="887706" cy="145327"/>
            </a:xfrm>
            <a:prstGeom prst="straightConnector1">
              <a:avLst/>
            </a:prstGeom>
            <a:noFill/>
            <a:ln cap="flat" cmpd="sng" w="9525">
              <a:solidFill>
                <a:schemeClr val="accent1"/>
              </a:solidFill>
              <a:prstDash val="solid"/>
              <a:miter lim="800000"/>
              <a:headEnd len="sm" w="sm" type="none"/>
              <a:tailEnd len="sm" w="sm" type="none"/>
            </a:ln>
          </p:spPr>
        </p:cxnSp>
        <p:cxnSp>
          <p:nvCxnSpPr>
            <p:cNvPr id="2124" name="Google Shape;2124;p33"/>
            <p:cNvCxnSpPr/>
            <p:nvPr/>
          </p:nvCxnSpPr>
          <p:spPr>
            <a:xfrm rot="10800000">
              <a:off x="4383143" y="2539506"/>
              <a:ext cx="803404" cy="366008"/>
            </a:xfrm>
            <a:prstGeom prst="straightConnector1">
              <a:avLst/>
            </a:prstGeom>
            <a:noFill/>
            <a:ln cap="flat" cmpd="sng" w="9525">
              <a:solidFill>
                <a:schemeClr val="accent1"/>
              </a:solidFill>
              <a:prstDash val="solid"/>
              <a:miter lim="800000"/>
              <a:headEnd len="sm" w="sm" type="none"/>
              <a:tailEnd len="sm" w="sm" type="none"/>
            </a:ln>
          </p:spPr>
        </p:cxnSp>
        <p:cxnSp>
          <p:nvCxnSpPr>
            <p:cNvPr id="2125" name="Google Shape;2125;p33"/>
            <p:cNvCxnSpPr/>
            <p:nvPr/>
          </p:nvCxnSpPr>
          <p:spPr>
            <a:xfrm rot="10800000">
              <a:off x="4374532" y="2542460"/>
              <a:ext cx="721772" cy="582522"/>
            </a:xfrm>
            <a:prstGeom prst="straightConnector1">
              <a:avLst/>
            </a:prstGeom>
            <a:noFill/>
            <a:ln cap="flat" cmpd="sng" w="9525">
              <a:solidFill>
                <a:schemeClr val="accent1"/>
              </a:solidFill>
              <a:prstDash val="solid"/>
              <a:miter lim="800000"/>
              <a:headEnd len="sm" w="sm" type="none"/>
              <a:tailEnd len="sm" w="sm" type="none"/>
            </a:ln>
          </p:spPr>
        </p:cxnSp>
        <p:cxnSp>
          <p:nvCxnSpPr>
            <p:cNvPr id="2126" name="Google Shape;2126;p33"/>
            <p:cNvCxnSpPr/>
            <p:nvPr/>
          </p:nvCxnSpPr>
          <p:spPr>
            <a:xfrm rot="10800000">
              <a:off x="4379613" y="2543036"/>
              <a:ext cx="630409" cy="796730"/>
            </a:xfrm>
            <a:prstGeom prst="straightConnector1">
              <a:avLst/>
            </a:prstGeom>
            <a:noFill/>
            <a:ln cap="flat" cmpd="sng" w="9525">
              <a:solidFill>
                <a:schemeClr val="accent1"/>
              </a:solidFill>
              <a:prstDash val="solid"/>
              <a:miter lim="800000"/>
              <a:headEnd len="sm" w="sm" type="none"/>
              <a:tailEnd len="sm" w="sm" type="none"/>
            </a:ln>
          </p:spPr>
        </p:cxnSp>
        <p:cxnSp>
          <p:nvCxnSpPr>
            <p:cNvPr id="2127" name="Google Shape;2127;p33"/>
            <p:cNvCxnSpPr/>
            <p:nvPr/>
          </p:nvCxnSpPr>
          <p:spPr>
            <a:xfrm rot="10800000">
              <a:off x="4374532" y="2542460"/>
              <a:ext cx="554878" cy="1023846"/>
            </a:xfrm>
            <a:prstGeom prst="straightConnector1">
              <a:avLst/>
            </a:prstGeom>
            <a:noFill/>
            <a:ln cap="flat" cmpd="sng" w="9525">
              <a:solidFill>
                <a:schemeClr val="accent1"/>
              </a:solidFill>
              <a:prstDash val="solid"/>
              <a:miter lim="800000"/>
              <a:headEnd len="sm" w="sm" type="none"/>
              <a:tailEnd len="sm" w="sm" type="none"/>
            </a:ln>
          </p:spPr>
        </p:cxnSp>
        <p:cxnSp>
          <p:nvCxnSpPr>
            <p:cNvPr id="2128" name="Google Shape;2128;p33"/>
            <p:cNvCxnSpPr/>
            <p:nvPr/>
          </p:nvCxnSpPr>
          <p:spPr>
            <a:xfrm rot="10800000">
              <a:off x="4374532" y="2542460"/>
              <a:ext cx="463674" cy="1239796"/>
            </a:xfrm>
            <a:prstGeom prst="straightConnector1">
              <a:avLst/>
            </a:prstGeom>
            <a:noFill/>
            <a:ln cap="flat" cmpd="sng" w="9525">
              <a:solidFill>
                <a:schemeClr val="accent1"/>
              </a:solidFill>
              <a:prstDash val="solid"/>
              <a:miter lim="800000"/>
              <a:headEnd len="sm" w="sm" type="none"/>
              <a:tailEnd len="sm" w="sm" type="none"/>
            </a:ln>
          </p:spPr>
        </p:cxnSp>
        <p:cxnSp>
          <p:nvCxnSpPr>
            <p:cNvPr id="2129" name="Google Shape;2129;p33"/>
            <p:cNvCxnSpPr/>
            <p:nvPr/>
          </p:nvCxnSpPr>
          <p:spPr>
            <a:xfrm rot="10800000">
              <a:off x="6814697" y="3196191"/>
              <a:ext cx="643514" cy="1458085"/>
            </a:xfrm>
            <a:prstGeom prst="straightConnector1">
              <a:avLst/>
            </a:prstGeom>
            <a:noFill/>
            <a:ln cap="flat" cmpd="sng" w="9525">
              <a:solidFill>
                <a:schemeClr val="accent1"/>
              </a:solidFill>
              <a:prstDash val="solid"/>
              <a:miter lim="800000"/>
              <a:headEnd len="sm" w="sm" type="none"/>
              <a:tailEnd len="sm" w="sm" type="none"/>
            </a:ln>
          </p:spPr>
        </p:cxnSp>
        <p:cxnSp>
          <p:nvCxnSpPr>
            <p:cNvPr id="2130" name="Google Shape;2130;p33"/>
            <p:cNvCxnSpPr>
              <a:stCxn id="2120" idx="0"/>
            </p:cNvCxnSpPr>
            <p:nvPr/>
          </p:nvCxnSpPr>
          <p:spPr>
            <a:xfrm rot="10800000">
              <a:off x="6730444" y="3415603"/>
              <a:ext cx="728400" cy="1238400"/>
            </a:xfrm>
            <a:prstGeom prst="straightConnector1">
              <a:avLst/>
            </a:prstGeom>
            <a:noFill/>
            <a:ln cap="flat" cmpd="sng" w="9525">
              <a:solidFill>
                <a:schemeClr val="accent1"/>
              </a:solidFill>
              <a:prstDash val="solid"/>
              <a:miter lim="800000"/>
              <a:headEnd len="sm" w="sm" type="none"/>
              <a:tailEnd len="sm" w="sm" type="none"/>
            </a:ln>
          </p:spPr>
        </p:cxnSp>
        <p:cxnSp>
          <p:nvCxnSpPr>
            <p:cNvPr id="2131" name="Google Shape;2131;p33"/>
            <p:cNvCxnSpPr>
              <a:stCxn id="2120" idx="0"/>
            </p:cNvCxnSpPr>
            <p:nvPr/>
          </p:nvCxnSpPr>
          <p:spPr>
            <a:xfrm rot="10800000">
              <a:off x="6653344" y="3638803"/>
              <a:ext cx="805500" cy="1015200"/>
            </a:xfrm>
            <a:prstGeom prst="straightConnector1">
              <a:avLst/>
            </a:prstGeom>
            <a:noFill/>
            <a:ln cap="flat" cmpd="sng" w="9525">
              <a:solidFill>
                <a:schemeClr val="accent1"/>
              </a:solidFill>
              <a:prstDash val="solid"/>
              <a:miter lim="800000"/>
              <a:headEnd len="sm" w="sm" type="none"/>
              <a:tailEnd len="sm" w="sm" type="none"/>
            </a:ln>
          </p:spPr>
        </p:cxnSp>
        <p:cxnSp>
          <p:nvCxnSpPr>
            <p:cNvPr id="2132" name="Google Shape;2132;p33"/>
            <p:cNvCxnSpPr>
              <a:stCxn id="2120" idx="0"/>
            </p:cNvCxnSpPr>
            <p:nvPr/>
          </p:nvCxnSpPr>
          <p:spPr>
            <a:xfrm rot="10800000">
              <a:off x="6569344" y="3858103"/>
              <a:ext cx="889500" cy="795900"/>
            </a:xfrm>
            <a:prstGeom prst="straightConnector1">
              <a:avLst/>
            </a:prstGeom>
            <a:noFill/>
            <a:ln cap="flat" cmpd="sng" w="9525">
              <a:solidFill>
                <a:schemeClr val="accent1"/>
              </a:solidFill>
              <a:prstDash val="solid"/>
              <a:miter lim="800000"/>
              <a:headEnd len="sm" w="sm" type="none"/>
              <a:tailEnd len="sm" w="sm" type="none"/>
            </a:ln>
          </p:spPr>
        </p:cxnSp>
        <p:cxnSp>
          <p:nvCxnSpPr>
            <p:cNvPr id="2133" name="Google Shape;2133;p33"/>
            <p:cNvCxnSpPr>
              <a:stCxn id="2120" idx="0"/>
            </p:cNvCxnSpPr>
            <p:nvPr/>
          </p:nvCxnSpPr>
          <p:spPr>
            <a:xfrm rot="10800000">
              <a:off x="6478144" y="4074103"/>
              <a:ext cx="980700" cy="579900"/>
            </a:xfrm>
            <a:prstGeom prst="straightConnector1">
              <a:avLst/>
            </a:prstGeom>
            <a:noFill/>
            <a:ln cap="flat" cmpd="sng" w="9525">
              <a:solidFill>
                <a:schemeClr val="accent1"/>
              </a:solidFill>
              <a:prstDash val="solid"/>
              <a:miter lim="800000"/>
              <a:headEnd len="sm" w="sm" type="none"/>
              <a:tailEnd len="sm" w="sm" type="none"/>
            </a:ln>
          </p:spPr>
        </p:cxnSp>
        <p:cxnSp>
          <p:nvCxnSpPr>
            <p:cNvPr id="2134" name="Google Shape;2134;p33"/>
            <p:cNvCxnSpPr>
              <a:stCxn id="2120" idx="0"/>
            </p:cNvCxnSpPr>
            <p:nvPr/>
          </p:nvCxnSpPr>
          <p:spPr>
            <a:xfrm rot="10800000">
              <a:off x="6390544" y="4290103"/>
              <a:ext cx="1068300" cy="363900"/>
            </a:xfrm>
            <a:prstGeom prst="straightConnector1">
              <a:avLst/>
            </a:prstGeom>
            <a:noFill/>
            <a:ln cap="flat" cmpd="sng" w="9525">
              <a:solidFill>
                <a:schemeClr val="accent1"/>
              </a:solidFill>
              <a:prstDash val="solid"/>
              <a:miter lim="800000"/>
              <a:headEnd len="sm" w="sm" type="none"/>
              <a:tailEnd len="sm" w="sm" type="none"/>
            </a:ln>
          </p:spPr>
        </p:cxnSp>
        <p:cxnSp>
          <p:nvCxnSpPr>
            <p:cNvPr id="2135" name="Google Shape;2135;p33"/>
            <p:cNvCxnSpPr>
              <a:stCxn id="2120" idx="0"/>
            </p:cNvCxnSpPr>
            <p:nvPr/>
          </p:nvCxnSpPr>
          <p:spPr>
            <a:xfrm rot="10800000">
              <a:off x="6299344" y="4509403"/>
              <a:ext cx="1159500" cy="144600"/>
            </a:xfrm>
            <a:prstGeom prst="straightConnector1">
              <a:avLst/>
            </a:prstGeom>
            <a:noFill/>
            <a:ln cap="flat" cmpd="sng" w="9525">
              <a:solidFill>
                <a:schemeClr val="accent1"/>
              </a:solidFill>
              <a:prstDash val="solid"/>
              <a:miter lim="800000"/>
              <a:headEnd len="sm" w="sm" type="none"/>
              <a:tailEnd len="sm" w="sm" type="none"/>
            </a:ln>
          </p:spPr>
        </p:cxnSp>
        <p:cxnSp>
          <p:nvCxnSpPr>
            <p:cNvPr id="2136" name="Google Shape;2136;p33"/>
            <p:cNvCxnSpPr/>
            <p:nvPr/>
          </p:nvCxnSpPr>
          <p:spPr>
            <a:xfrm flipH="1">
              <a:off x="6218650" y="4657807"/>
              <a:ext cx="1228969" cy="78279"/>
            </a:xfrm>
            <a:prstGeom prst="straightConnector1">
              <a:avLst/>
            </a:prstGeom>
            <a:noFill/>
            <a:ln cap="flat" cmpd="sng" w="9525">
              <a:solidFill>
                <a:schemeClr val="accent1"/>
              </a:solidFill>
              <a:prstDash val="solid"/>
              <a:miter lim="800000"/>
              <a:headEnd len="sm" w="sm" type="none"/>
              <a:tailEnd len="sm" w="sm" type="none"/>
            </a:ln>
          </p:spPr>
        </p:cxnSp>
        <p:grpSp>
          <p:nvGrpSpPr>
            <p:cNvPr id="2137" name="Google Shape;2137;p33"/>
            <p:cNvGrpSpPr/>
            <p:nvPr/>
          </p:nvGrpSpPr>
          <p:grpSpPr>
            <a:xfrm>
              <a:off x="2502527" y="4777410"/>
              <a:ext cx="977484" cy="193795"/>
              <a:chOff x="876" y="2800"/>
              <a:chExt cx="642" cy="175"/>
            </a:xfrm>
          </p:grpSpPr>
          <p:sp>
            <p:nvSpPr>
              <p:cNvPr id="2138" name="Google Shape;2138;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39" name="Google Shape;2139;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0" name="Google Shape;2140;p33"/>
              <p:cNvSpPr/>
              <p:nvPr/>
            </p:nvSpPr>
            <p:spPr>
              <a:xfrm>
                <a:off x="1117" y="2821"/>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1" name="Google Shape;2141;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42" name="Google Shape;2142;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143" name="Google Shape;2143;p33"/>
            <p:cNvGrpSpPr/>
            <p:nvPr/>
          </p:nvGrpSpPr>
          <p:grpSpPr>
            <a:xfrm>
              <a:off x="3507269" y="2955235"/>
              <a:ext cx="216590" cy="413440"/>
              <a:chOff x="3507269" y="2955235"/>
              <a:chExt cx="216590" cy="413440"/>
            </a:xfrm>
          </p:grpSpPr>
          <p:sp>
            <p:nvSpPr>
              <p:cNvPr id="2144" name="Google Shape;2144;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5" name="Google Shape;2145;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6" name="Google Shape;2146;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47" name="Google Shape;2147;p33"/>
            <p:cNvGrpSpPr/>
            <p:nvPr/>
          </p:nvGrpSpPr>
          <p:grpSpPr>
            <a:xfrm>
              <a:off x="3177069" y="3850585"/>
              <a:ext cx="216590" cy="413440"/>
              <a:chOff x="3507269" y="2955235"/>
              <a:chExt cx="216590" cy="413440"/>
            </a:xfrm>
          </p:grpSpPr>
          <p:sp>
            <p:nvSpPr>
              <p:cNvPr id="2148" name="Google Shape;2148;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49" name="Google Shape;2149;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50" name="Google Shape;2150;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51" name="Google Shape;2151;p33"/>
            <p:cNvGrpSpPr/>
            <p:nvPr/>
          </p:nvGrpSpPr>
          <p:grpSpPr>
            <a:xfrm>
              <a:off x="3399128" y="2453587"/>
              <a:ext cx="977484" cy="193795"/>
              <a:chOff x="876" y="2800"/>
              <a:chExt cx="642" cy="175"/>
            </a:xfrm>
          </p:grpSpPr>
          <p:sp>
            <p:nvSpPr>
              <p:cNvPr id="2152" name="Google Shape;2152;p33"/>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3" name="Google Shape;2153;p33"/>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4" name="Google Shape;2154;p33"/>
              <p:cNvSpPr/>
              <p:nvPr/>
            </p:nvSpPr>
            <p:spPr>
              <a:xfrm>
                <a:off x="1117" y="2821"/>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5" name="Google Shape;2155;p33"/>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56" name="Google Shape;2156;p33"/>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2157" name="Google Shape;2157;p33"/>
            <p:cNvGrpSpPr/>
            <p:nvPr/>
          </p:nvGrpSpPr>
          <p:grpSpPr>
            <a:xfrm>
              <a:off x="8205165" y="3160644"/>
              <a:ext cx="216590" cy="413440"/>
              <a:chOff x="3507269" y="2955235"/>
              <a:chExt cx="216590" cy="413440"/>
            </a:xfrm>
          </p:grpSpPr>
          <p:sp>
            <p:nvSpPr>
              <p:cNvPr id="2158" name="Google Shape;2158;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59" name="Google Shape;2159;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0" name="Google Shape;2160;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61" name="Google Shape;2161;p33"/>
            <p:cNvGrpSpPr/>
            <p:nvPr/>
          </p:nvGrpSpPr>
          <p:grpSpPr>
            <a:xfrm>
              <a:off x="7874965" y="4055994"/>
              <a:ext cx="216590" cy="413440"/>
              <a:chOff x="3507269" y="2955235"/>
              <a:chExt cx="216590" cy="413440"/>
            </a:xfrm>
          </p:grpSpPr>
          <p:sp>
            <p:nvSpPr>
              <p:cNvPr id="2162" name="Google Shape;2162;p33"/>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3" name="Google Shape;2163;p33"/>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164" name="Google Shape;2164;p33"/>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165" name="Google Shape;2165;p33"/>
            <p:cNvGrpSpPr/>
            <p:nvPr/>
          </p:nvGrpSpPr>
          <p:grpSpPr>
            <a:xfrm>
              <a:off x="8207592" y="2673589"/>
              <a:ext cx="799405" cy="236966"/>
              <a:chOff x="453" y="3465"/>
              <a:chExt cx="561" cy="136"/>
            </a:xfrm>
          </p:grpSpPr>
          <p:sp>
            <p:nvSpPr>
              <p:cNvPr id="2166" name="Google Shape;2166;p33"/>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7" name="Google Shape;2167;p33"/>
              <p:cNvSpPr/>
              <p:nvPr/>
            </p:nvSpPr>
            <p:spPr>
              <a:xfrm>
                <a:off x="769" y="3504"/>
                <a:ext cx="132" cy="61"/>
              </a:xfrm>
              <a:prstGeom prst="rect">
                <a:avLst/>
              </a:prstGeom>
              <a:solidFill>
                <a:srgbClr val="FFFFFF"/>
              </a:solidFill>
              <a:ln cap="flat" cmpd="sng" w="158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8" name="Google Shape;2168;p33"/>
              <p:cNvSpPr/>
              <p:nvPr/>
            </p:nvSpPr>
            <p:spPr>
              <a:xfrm>
                <a:off x="642" y="3481"/>
                <a:ext cx="108" cy="104"/>
              </a:xfrm>
              <a:prstGeom prst="rect">
                <a:avLst/>
              </a:prstGeom>
              <a:solidFill>
                <a:srgbClr val="FFFFFF"/>
              </a:solidFill>
              <a:ln cap="flat" cmpd="sng" w="158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9" name="Google Shape;2169;p33"/>
              <p:cNvSpPr/>
              <p:nvPr/>
            </p:nvSpPr>
            <p:spPr>
              <a:xfrm>
                <a:off x="515" y="3478"/>
                <a:ext cx="108" cy="105"/>
              </a:xfrm>
              <a:prstGeom prst="rect">
                <a:avLst/>
              </a:prstGeom>
              <a:solidFill>
                <a:srgbClr val="FFFFFF"/>
              </a:solidFill>
              <a:ln cap="flat" cmpd="sng" w="158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70" name="Google Shape;2170;p33"/>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sp>
        <p:nvSpPr>
          <p:cNvPr id="2171" name="Google Shape;2171;p33"/>
          <p:cNvSpPr txBox="1"/>
          <p:nvPr/>
        </p:nvSpPr>
        <p:spPr>
          <a:xfrm>
            <a:off x="942537" y="2612461"/>
            <a:ext cx="4009292" cy="3568178"/>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Cisco CRS router:</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basic unit: 8 switching planes</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each plane: 3-stage interconnection network</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up to 100’s Tbps switching capacity</a:t>
            </a:r>
            <a:endParaRPr/>
          </a:p>
        </p:txBody>
      </p:sp>
      <p:pic>
        <p:nvPicPr>
          <p:cNvPr id="2172" name="Google Shape;2172;p33"/>
          <p:cNvPicPr preferRelativeResize="0"/>
          <p:nvPr/>
        </p:nvPicPr>
        <p:blipFill rotWithShape="1">
          <a:blip r:embed="rId3">
            <a:alphaModFix/>
          </a:blip>
          <a:srcRect b="0" l="0" r="0" t="0"/>
          <a:stretch/>
        </p:blipFill>
        <p:spPr>
          <a:xfrm>
            <a:off x="8036909" y="4890993"/>
            <a:ext cx="937683" cy="733606"/>
          </a:xfrm>
          <a:prstGeom prst="rect">
            <a:avLst/>
          </a:prstGeom>
          <a:noFill/>
          <a:ln>
            <a:noFill/>
          </a:ln>
        </p:spPr>
      </p:pic>
      <p:sp>
        <p:nvSpPr>
          <p:cNvPr id="2173" name="Google Shape;2173;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1"/>
                                        </p:tgtEl>
                                        <p:attrNameLst>
                                          <p:attrName>style.visibility</p:attrName>
                                        </p:attrNameLst>
                                      </p:cBhvr>
                                      <p:to>
                                        <p:strVal val="visible"/>
                                      </p:to>
                                    </p:set>
                                    <p:animEffect filter="fade" transition="in">
                                      <p:cBhvr>
                                        <p:cTn dur="500"/>
                                        <p:tgtEl>
                                          <p:spTgt spid="2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8" name="Shape 2178"/>
        <p:cNvGrpSpPr/>
        <p:nvPr/>
      </p:nvGrpSpPr>
      <p:grpSpPr>
        <a:xfrm>
          <a:off x="0" y="0"/>
          <a:ext cx="0" cy="0"/>
          <a:chOff x="0" y="0"/>
          <a:chExt cx="0" cy="0"/>
        </a:xfrm>
      </p:grpSpPr>
      <p:sp>
        <p:nvSpPr>
          <p:cNvPr id="2179" name="Google Shape;2179;p34"/>
          <p:cNvSpPr txBox="1"/>
          <p:nvPr>
            <p:ph idx="1" type="body"/>
          </p:nvPr>
        </p:nvSpPr>
        <p:spPr>
          <a:xfrm>
            <a:off x="852267" y="1386402"/>
            <a:ext cx="10515600" cy="135679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If switch fabric slower than input ports combined -&gt; queueing may occur at input queues </a:t>
            </a:r>
            <a:endParaRPr/>
          </a:p>
          <a:p>
            <a:pPr indent="-231775" lvl="1" marL="695325" rtl="0" algn="l">
              <a:lnSpc>
                <a:spcPct val="90000"/>
              </a:lnSpc>
              <a:spcBef>
                <a:spcPts val="500"/>
              </a:spcBef>
              <a:spcAft>
                <a:spcPts val="0"/>
              </a:spcAft>
              <a:buSzPts val="2800"/>
              <a:buChar char="•"/>
            </a:pPr>
            <a:r>
              <a:rPr lang="en-US" sz="2800"/>
              <a:t>queueing delay and loss due to input buffer overflow!</a:t>
            </a:r>
            <a:endParaRPr/>
          </a:p>
          <a:p>
            <a:pPr indent="-44450" lvl="0" marL="352425" rtl="0" algn="l">
              <a:lnSpc>
                <a:spcPct val="90000"/>
              </a:lnSpc>
              <a:spcBef>
                <a:spcPts val="1000"/>
              </a:spcBef>
              <a:spcAft>
                <a:spcPts val="0"/>
              </a:spcAft>
              <a:buSzPts val="2800"/>
              <a:buNone/>
            </a:pPr>
            <a:r>
              <a:t/>
            </a:r>
            <a:endParaRPr/>
          </a:p>
        </p:txBody>
      </p:sp>
      <p:sp>
        <p:nvSpPr>
          <p:cNvPr id="2180" name="Google Shape;2180;p34"/>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Input port queuing</a:t>
            </a:r>
            <a:endParaRPr/>
          </a:p>
        </p:txBody>
      </p:sp>
      <p:sp>
        <p:nvSpPr>
          <p:cNvPr id="2181" name="Google Shape;2181;p34"/>
          <p:cNvSpPr txBox="1"/>
          <p:nvPr/>
        </p:nvSpPr>
        <p:spPr>
          <a:xfrm>
            <a:off x="1800666" y="5728188"/>
            <a:ext cx="4459458" cy="9233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output port contention: only one red datagram can be transferred. lower red packet is </a:t>
            </a:r>
            <a:r>
              <a:rPr b="0" i="1" lang="en-US" sz="2000" u="none" cap="none" strike="noStrike">
                <a:solidFill>
                  <a:srgbClr val="C00000"/>
                </a:solidFill>
                <a:latin typeface="Calibri"/>
                <a:ea typeface="Calibri"/>
                <a:cs typeface="Calibri"/>
                <a:sym typeface="Calibri"/>
              </a:rPr>
              <a:t>blocked</a:t>
            </a:r>
            <a:endParaRPr/>
          </a:p>
        </p:txBody>
      </p:sp>
      <p:grpSp>
        <p:nvGrpSpPr>
          <p:cNvPr id="2182" name="Google Shape;2182;p34"/>
          <p:cNvGrpSpPr/>
          <p:nvPr/>
        </p:nvGrpSpPr>
        <p:grpSpPr>
          <a:xfrm>
            <a:off x="2528548" y="3841801"/>
            <a:ext cx="3027362" cy="1817687"/>
            <a:chOff x="2908374" y="3743325"/>
            <a:chExt cx="3027362" cy="1817687"/>
          </a:xfrm>
        </p:grpSpPr>
        <p:grpSp>
          <p:nvGrpSpPr>
            <p:cNvPr id="2183" name="Google Shape;2183;p34"/>
            <p:cNvGrpSpPr/>
            <p:nvPr/>
          </p:nvGrpSpPr>
          <p:grpSpPr>
            <a:xfrm>
              <a:off x="2908374" y="3751262"/>
              <a:ext cx="3027362" cy="1809750"/>
              <a:chOff x="523" y="976"/>
              <a:chExt cx="2099" cy="1356"/>
            </a:xfrm>
          </p:grpSpPr>
          <p:sp>
            <p:nvSpPr>
              <p:cNvPr id="2184" name="Google Shape;2184;p34"/>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185" name="Google Shape;2185;p34"/>
              <p:cNvGrpSpPr/>
              <p:nvPr/>
            </p:nvGrpSpPr>
            <p:grpSpPr>
              <a:xfrm>
                <a:off x="804" y="997"/>
                <a:ext cx="251" cy="1293"/>
                <a:chOff x="748" y="997"/>
                <a:chExt cx="251" cy="1293"/>
              </a:xfrm>
            </p:grpSpPr>
            <p:sp>
              <p:nvSpPr>
                <p:cNvPr id="2186" name="Google Shape;2186;p34"/>
                <p:cNvSpPr/>
                <p:nvPr/>
              </p:nvSpPr>
              <p:spPr>
                <a:xfrm>
                  <a:off x="759" y="997"/>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87" name="Google Shape;2187;p34"/>
                <p:cNvSpPr/>
                <p:nvPr/>
              </p:nvSpPr>
              <p:spPr>
                <a:xfrm>
                  <a:off x="750" y="1472"/>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88" name="Google Shape;2188;p34"/>
                <p:cNvSpPr/>
                <p:nvPr/>
              </p:nvSpPr>
              <p:spPr>
                <a:xfrm>
                  <a:off x="748" y="1938"/>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189" name="Google Shape;2189;p34"/>
              <p:cNvGrpSpPr/>
              <p:nvPr/>
            </p:nvGrpSpPr>
            <p:grpSpPr>
              <a:xfrm>
                <a:off x="2109" y="1002"/>
                <a:ext cx="249" cy="1295"/>
                <a:chOff x="748" y="997"/>
                <a:chExt cx="249" cy="1295"/>
              </a:xfrm>
            </p:grpSpPr>
            <p:sp>
              <p:nvSpPr>
                <p:cNvPr id="2190" name="Google Shape;2190;p34"/>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91" name="Google Shape;2191;p34"/>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92" name="Google Shape;2192;p34"/>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193" name="Google Shape;2193;p34"/>
              <p:cNvCxnSpPr/>
              <p:nvPr/>
            </p:nvCxnSpPr>
            <p:spPr>
              <a:xfrm>
                <a:off x="1946" y="1181"/>
                <a:ext cx="162" cy="0"/>
              </a:xfrm>
              <a:prstGeom prst="straightConnector1">
                <a:avLst/>
              </a:prstGeom>
              <a:noFill/>
              <a:ln cap="flat" cmpd="sng" w="19050">
                <a:solidFill>
                  <a:srgbClr val="000000"/>
                </a:solidFill>
                <a:prstDash val="solid"/>
                <a:round/>
                <a:headEnd len="med" w="med" type="none"/>
                <a:tailEnd len="med" w="med" type="none"/>
              </a:ln>
            </p:spPr>
          </p:cxnSp>
          <p:cxnSp>
            <p:nvCxnSpPr>
              <p:cNvPr id="2194" name="Google Shape;2194;p34"/>
              <p:cNvCxnSpPr/>
              <p:nvPr/>
            </p:nvCxnSpPr>
            <p:spPr>
              <a:xfrm>
                <a:off x="1940" y="164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5" name="Google Shape;2195;p34"/>
              <p:cNvCxnSpPr/>
              <p:nvPr/>
            </p:nvCxnSpPr>
            <p:spPr>
              <a:xfrm>
                <a:off x="1940" y="2119"/>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6" name="Google Shape;2196;p34"/>
              <p:cNvCxnSpPr/>
              <p:nvPr/>
            </p:nvCxnSpPr>
            <p:spPr>
              <a:xfrm>
                <a:off x="1044" y="116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197" name="Google Shape;2197;p34"/>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198" name="Google Shape;2198;p34"/>
              <p:cNvCxnSpPr/>
              <p:nvPr/>
            </p:nvCxnSpPr>
            <p:spPr>
              <a:xfrm>
                <a:off x="1038" y="2102"/>
                <a:ext cx="162" cy="0"/>
              </a:xfrm>
              <a:prstGeom prst="straightConnector1">
                <a:avLst/>
              </a:prstGeom>
              <a:noFill/>
              <a:ln cap="flat" cmpd="sng" w="19050">
                <a:solidFill>
                  <a:srgbClr val="000000"/>
                </a:solidFill>
                <a:prstDash val="solid"/>
                <a:round/>
                <a:headEnd len="med" w="med" type="none"/>
                <a:tailEnd len="med" w="med" type="none"/>
              </a:ln>
            </p:spPr>
          </p:cxnSp>
          <p:grpSp>
            <p:nvGrpSpPr>
              <p:cNvPr id="2199" name="Google Shape;2199;p34"/>
              <p:cNvGrpSpPr/>
              <p:nvPr/>
            </p:nvGrpSpPr>
            <p:grpSpPr>
              <a:xfrm>
                <a:off x="523" y="1169"/>
                <a:ext cx="288" cy="939"/>
                <a:chOff x="-60" y="1148"/>
                <a:chExt cx="168" cy="939"/>
              </a:xfrm>
            </p:grpSpPr>
            <p:cxnSp>
              <p:nvCxnSpPr>
                <p:cNvPr id="2200" name="Google Shape;2200;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01" name="Google Shape;2201;p3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02" name="Google Shape;2202;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203" name="Google Shape;2203;p34"/>
              <p:cNvGrpSpPr/>
              <p:nvPr/>
            </p:nvGrpSpPr>
            <p:grpSpPr>
              <a:xfrm>
                <a:off x="2334" y="1173"/>
                <a:ext cx="288" cy="939"/>
                <a:chOff x="-60" y="1148"/>
                <a:chExt cx="168" cy="939"/>
              </a:xfrm>
            </p:grpSpPr>
            <p:cxnSp>
              <p:nvCxnSpPr>
                <p:cNvPr id="2204" name="Google Shape;2204;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05" name="Google Shape;2205;p34"/>
                <p:cNvCxnSpPr/>
                <p:nvPr/>
              </p:nvCxnSpPr>
              <p:spPr>
                <a:xfrm>
                  <a:off x="-60" y="1615"/>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06" name="Google Shape;2206;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207" name="Google Shape;2207;p34"/>
            <p:cNvSpPr/>
            <p:nvPr/>
          </p:nvSpPr>
          <p:spPr>
            <a:xfrm>
              <a:off x="3360811" y="3748087"/>
              <a:ext cx="252413" cy="130175"/>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08" name="Google Shape;2208;p34"/>
            <p:cNvSpPr/>
            <p:nvPr/>
          </p:nvSpPr>
          <p:spPr>
            <a:xfrm>
              <a:off x="3346524" y="4479925"/>
              <a:ext cx="252412" cy="13176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09" name="Google Shape;2209;p34"/>
            <p:cNvSpPr/>
            <p:nvPr/>
          </p:nvSpPr>
          <p:spPr>
            <a:xfrm>
              <a:off x="3344936" y="5114925"/>
              <a:ext cx="252413" cy="130175"/>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0" name="Google Shape;2210;p34"/>
            <p:cNvSpPr/>
            <p:nvPr/>
          </p:nvSpPr>
          <p:spPr>
            <a:xfrm>
              <a:off x="3002036" y="3743325"/>
              <a:ext cx="252413" cy="13176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1" name="Google Shape;2211;p34"/>
            <p:cNvSpPr/>
            <p:nvPr/>
          </p:nvSpPr>
          <p:spPr>
            <a:xfrm>
              <a:off x="2997274" y="5103812"/>
              <a:ext cx="252412" cy="131763"/>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212" name="Google Shape;2212;p34"/>
            <p:cNvCxnSpPr/>
            <p:nvPr/>
          </p:nvCxnSpPr>
          <p:spPr>
            <a:xfrm>
              <a:off x="3652911" y="3803650"/>
              <a:ext cx="1479550" cy="1587"/>
            </a:xfrm>
            <a:prstGeom prst="straightConnector1">
              <a:avLst/>
            </a:prstGeom>
            <a:noFill/>
            <a:ln cap="flat" cmpd="sng" w="28575">
              <a:solidFill>
                <a:srgbClr val="FF0000"/>
              </a:solidFill>
              <a:prstDash val="dash"/>
              <a:round/>
              <a:headEnd len="med" w="med" type="none"/>
              <a:tailEnd len="med" w="med" type="triangle"/>
            </a:ln>
          </p:spPr>
        </p:cxnSp>
        <p:sp>
          <p:nvSpPr>
            <p:cNvPr id="2213" name="Google Shape;2213;p34"/>
            <p:cNvSpPr/>
            <p:nvPr/>
          </p:nvSpPr>
          <p:spPr>
            <a:xfrm>
              <a:off x="3697361" y="4202112"/>
              <a:ext cx="1395413" cy="979488"/>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14" name="Google Shape;2214;p34"/>
            <p:cNvSpPr txBox="1"/>
            <p:nvPr/>
          </p:nvSpPr>
          <p:spPr>
            <a:xfrm>
              <a:off x="4046611" y="4548187"/>
              <a:ext cx="747713"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cxnSp>
          <p:nvCxnSpPr>
            <p:cNvPr id="2215" name="Google Shape;2215;p34"/>
            <p:cNvCxnSpPr/>
            <p:nvPr/>
          </p:nvCxnSpPr>
          <p:spPr>
            <a:xfrm>
              <a:off x="3643386" y="4548187"/>
              <a:ext cx="1458913" cy="19050"/>
            </a:xfrm>
            <a:prstGeom prst="straightConnector1">
              <a:avLst/>
            </a:prstGeom>
            <a:noFill/>
            <a:ln cap="flat" cmpd="sng" w="28575">
              <a:solidFill>
                <a:srgbClr val="000099"/>
              </a:solidFill>
              <a:prstDash val="dash"/>
              <a:round/>
              <a:headEnd len="med" w="med" type="none"/>
              <a:tailEnd len="med" w="med" type="triangle"/>
            </a:ln>
          </p:spPr>
        </p:cxnSp>
      </p:grpSp>
      <p:grpSp>
        <p:nvGrpSpPr>
          <p:cNvPr id="2216" name="Google Shape;2216;p34"/>
          <p:cNvGrpSpPr/>
          <p:nvPr/>
        </p:nvGrpSpPr>
        <p:grpSpPr>
          <a:xfrm>
            <a:off x="7144970" y="3842241"/>
            <a:ext cx="3587750" cy="2570163"/>
            <a:chOff x="2950" y="2025"/>
            <a:chExt cx="2260" cy="1619"/>
          </a:xfrm>
        </p:grpSpPr>
        <p:grpSp>
          <p:nvGrpSpPr>
            <p:cNvPr id="2217" name="Google Shape;2217;p34"/>
            <p:cNvGrpSpPr/>
            <p:nvPr/>
          </p:nvGrpSpPr>
          <p:grpSpPr>
            <a:xfrm>
              <a:off x="3074" y="2047"/>
              <a:ext cx="1907" cy="1140"/>
              <a:chOff x="523" y="976"/>
              <a:chExt cx="2099" cy="1356"/>
            </a:xfrm>
          </p:grpSpPr>
          <p:sp>
            <p:nvSpPr>
              <p:cNvPr id="2218" name="Google Shape;2218;p34"/>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219" name="Google Shape;2219;p34"/>
              <p:cNvGrpSpPr/>
              <p:nvPr/>
            </p:nvGrpSpPr>
            <p:grpSpPr>
              <a:xfrm>
                <a:off x="804" y="997"/>
                <a:ext cx="251" cy="1293"/>
                <a:chOff x="748" y="997"/>
                <a:chExt cx="251" cy="1293"/>
              </a:xfrm>
            </p:grpSpPr>
            <p:sp>
              <p:nvSpPr>
                <p:cNvPr id="2220" name="Google Shape;2220;p34"/>
                <p:cNvSpPr/>
                <p:nvPr/>
              </p:nvSpPr>
              <p:spPr>
                <a:xfrm>
                  <a:off x="759" y="997"/>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1" name="Google Shape;2221;p34"/>
                <p:cNvSpPr/>
                <p:nvPr/>
              </p:nvSpPr>
              <p:spPr>
                <a:xfrm>
                  <a:off x="750" y="1472"/>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2" name="Google Shape;2222;p34"/>
                <p:cNvSpPr/>
                <p:nvPr/>
              </p:nvSpPr>
              <p:spPr>
                <a:xfrm>
                  <a:off x="748" y="1938"/>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23" name="Google Shape;2223;p34"/>
              <p:cNvGrpSpPr/>
              <p:nvPr/>
            </p:nvGrpSpPr>
            <p:grpSpPr>
              <a:xfrm>
                <a:off x="2109" y="1002"/>
                <a:ext cx="249" cy="1295"/>
                <a:chOff x="748" y="997"/>
                <a:chExt cx="249" cy="1295"/>
              </a:xfrm>
            </p:grpSpPr>
            <p:sp>
              <p:nvSpPr>
                <p:cNvPr id="2224" name="Google Shape;2224;p34"/>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5" name="Google Shape;2225;p34"/>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6" name="Google Shape;2226;p34"/>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227" name="Google Shape;2227;p34"/>
              <p:cNvCxnSpPr/>
              <p:nvPr/>
            </p:nvCxnSpPr>
            <p:spPr>
              <a:xfrm>
                <a:off x="1946" y="1181"/>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28" name="Google Shape;2228;p34"/>
              <p:cNvCxnSpPr/>
              <p:nvPr/>
            </p:nvCxnSpPr>
            <p:spPr>
              <a:xfrm>
                <a:off x="1940" y="164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29" name="Google Shape;2229;p34"/>
              <p:cNvCxnSpPr/>
              <p:nvPr/>
            </p:nvCxnSpPr>
            <p:spPr>
              <a:xfrm>
                <a:off x="1940" y="2119"/>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30" name="Google Shape;2230;p34"/>
              <p:cNvCxnSpPr/>
              <p:nvPr/>
            </p:nvCxnSpPr>
            <p:spPr>
              <a:xfrm>
                <a:off x="1044" y="1164"/>
                <a:ext cx="163" cy="0"/>
              </a:xfrm>
              <a:prstGeom prst="straightConnector1">
                <a:avLst/>
              </a:prstGeom>
              <a:noFill/>
              <a:ln cap="flat" cmpd="sng" w="19050">
                <a:solidFill>
                  <a:srgbClr val="000000"/>
                </a:solidFill>
                <a:prstDash val="solid"/>
                <a:round/>
                <a:headEnd len="med" w="med" type="none"/>
                <a:tailEnd len="med" w="med" type="none"/>
              </a:ln>
            </p:spPr>
          </p:cxnSp>
          <p:cxnSp>
            <p:nvCxnSpPr>
              <p:cNvPr id="2231" name="Google Shape;2231;p34"/>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2" name="Google Shape;2232;p34"/>
              <p:cNvCxnSpPr/>
              <p:nvPr/>
            </p:nvCxnSpPr>
            <p:spPr>
              <a:xfrm>
                <a:off x="1038" y="2102"/>
                <a:ext cx="162" cy="0"/>
              </a:xfrm>
              <a:prstGeom prst="straightConnector1">
                <a:avLst/>
              </a:prstGeom>
              <a:noFill/>
              <a:ln cap="flat" cmpd="sng" w="19050">
                <a:solidFill>
                  <a:srgbClr val="000000"/>
                </a:solidFill>
                <a:prstDash val="solid"/>
                <a:round/>
                <a:headEnd len="med" w="med" type="none"/>
                <a:tailEnd len="med" w="med" type="none"/>
              </a:ln>
            </p:spPr>
          </p:cxnSp>
          <p:grpSp>
            <p:nvGrpSpPr>
              <p:cNvPr id="2233" name="Google Shape;2233;p34"/>
              <p:cNvGrpSpPr/>
              <p:nvPr/>
            </p:nvGrpSpPr>
            <p:grpSpPr>
              <a:xfrm>
                <a:off x="523" y="1169"/>
                <a:ext cx="288" cy="939"/>
                <a:chOff x="-60" y="1148"/>
                <a:chExt cx="168" cy="939"/>
              </a:xfrm>
            </p:grpSpPr>
            <p:cxnSp>
              <p:nvCxnSpPr>
                <p:cNvPr id="2234" name="Google Shape;2234;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5" name="Google Shape;2235;p3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236" name="Google Shape;2236;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237" name="Google Shape;2237;p34"/>
              <p:cNvGrpSpPr/>
              <p:nvPr/>
            </p:nvGrpSpPr>
            <p:grpSpPr>
              <a:xfrm>
                <a:off x="2334" y="1173"/>
                <a:ext cx="288" cy="939"/>
                <a:chOff x="-60" y="1148"/>
                <a:chExt cx="168" cy="939"/>
              </a:xfrm>
            </p:grpSpPr>
            <p:cxnSp>
              <p:nvCxnSpPr>
                <p:cNvPr id="2238" name="Google Shape;2238;p3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39" name="Google Shape;2239;p34"/>
                <p:cNvCxnSpPr/>
                <p:nvPr/>
              </p:nvCxnSpPr>
              <p:spPr>
                <a:xfrm>
                  <a:off x="-60" y="1615"/>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240" name="Google Shape;2240;p3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241" name="Google Shape;2241;p34"/>
            <p:cNvSpPr txBox="1"/>
            <p:nvPr/>
          </p:nvSpPr>
          <p:spPr>
            <a:xfrm>
              <a:off x="2950" y="3237"/>
              <a:ext cx="2260" cy="40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one packet time later: green packet experiences HOL blocking</a:t>
              </a:r>
              <a:endParaRPr b="0" i="1" sz="2000" u="none" cap="none" strike="noStrike">
                <a:solidFill>
                  <a:srgbClr val="000000"/>
                </a:solidFill>
                <a:latin typeface="Calibri"/>
                <a:ea typeface="Calibri"/>
                <a:cs typeface="Calibri"/>
                <a:sym typeface="Calibri"/>
              </a:endParaRPr>
            </a:p>
          </p:txBody>
        </p:sp>
        <p:sp>
          <p:nvSpPr>
            <p:cNvPr id="2242" name="Google Shape;2242;p34"/>
            <p:cNvSpPr txBox="1"/>
            <p:nvPr/>
          </p:nvSpPr>
          <p:spPr>
            <a:xfrm>
              <a:off x="3778" y="2507"/>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243" name="Google Shape;2243;p34"/>
            <p:cNvSpPr/>
            <p:nvPr/>
          </p:nvSpPr>
          <p:spPr>
            <a:xfrm>
              <a:off x="4551" y="2025"/>
              <a:ext cx="159" cy="83"/>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4" name="Google Shape;2244;p34"/>
            <p:cNvSpPr/>
            <p:nvPr/>
          </p:nvSpPr>
          <p:spPr>
            <a:xfrm>
              <a:off x="3363" y="2050"/>
              <a:ext cx="159" cy="8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5" name="Google Shape;2245;p34"/>
            <p:cNvSpPr/>
            <p:nvPr/>
          </p:nvSpPr>
          <p:spPr>
            <a:xfrm>
              <a:off x="3360" y="2916"/>
              <a:ext cx="159" cy="83"/>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6" name="Google Shape;2246;p34"/>
            <p:cNvSpPr/>
            <p:nvPr/>
          </p:nvSpPr>
          <p:spPr>
            <a:xfrm>
              <a:off x="3585" y="2324"/>
              <a:ext cx="878" cy="618"/>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47" name="Google Shape;2247;p34"/>
            <p:cNvSpPr/>
            <p:nvPr/>
          </p:nvSpPr>
          <p:spPr>
            <a:xfrm>
              <a:off x="3573" y="2134"/>
              <a:ext cx="860" cy="437"/>
            </a:xfrm>
            <a:custGeom>
              <a:rect b="b" l="l" r="r" t="t"/>
              <a:pathLst>
                <a:path extrusionOk="0" h="437" w="860">
                  <a:moveTo>
                    <a:pt x="0" y="3"/>
                  </a:moveTo>
                  <a:lnTo>
                    <a:pt x="468" y="0"/>
                  </a:lnTo>
                  <a:lnTo>
                    <a:pt x="860" y="437"/>
                  </a:lnTo>
                </a:path>
              </a:pathLst>
            </a:custGeom>
            <a:noFill/>
            <a:ln cap="flat" cmpd="sng" w="28575">
              <a:solidFill>
                <a:srgbClr val="000099"/>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248" name="Google Shape;2248;p34"/>
            <p:cNvSpPr/>
            <p:nvPr/>
          </p:nvSpPr>
          <p:spPr>
            <a:xfrm>
              <a:off x="3141" y="2890"/>
              <a:ext cx="159" cy="83"/>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9" name="Google Shape;2249;p34"/>
            <p:cNvSpPr/>
            <p:nvPr/>
          </p:nvSpPr>
          <p:spPr>
            <a:xfrm>
              <a:off x="4542" y="2518"/>
              <a:ext cx="159" cy="83"/>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250" name="Google Shape;2250;p34"/>
          <p:cNvSpPr txBox="1"/>
          <p:nvPr/>
        </p:nvSpPr>
        <p:spPr>
          <a:xfrm>
            <a:off x="835334" y="2690269"/>
            <a:ext cx="10515600" cy="98426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Head-of-the-Line (HOL) blocking:</a:t>
            </a:r>
            <a:r>
              <a:rPr b="0" i="0" lang="en-US" sz="2800" u="none" cap="none" strike="noStrike">
                <a:solidFill>
                  <a:srgbClr val="000000"/>
                </a:solidFill>
                <a:latin typeface="Calibri"/>
                <a:ea typeface="Calibri"/>
                <a:cs typeface="Calibri"/>
                <a:sym typeface="Calibri"/>
              </a:rPr>
              <a:t> queued datagram at front of queue prevents others in queue from moving forward</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251" name="Google Shape;2251;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6"/>
                                        </p:tgtEl>
                                        <p:attrNameLst>
                                          <p:attrName>style.visibility</p:attrName>
                                        </p:attrNameLst>
                                      </p:cBhvr>
                                      <p:to>
                                        <p:strVal val="visible"/>
                                      </p:to>
                                    </p:set>
                                    <p:animEffect filter="fade" transition="in">
                                      <p:cBhvr>
                                        <p:cTn dur="500"/>
                                        <p:tgtEl>
                                          <p:spTgt spid="2216"/>
                                        </p:tgtEl>
                                      </p:cBhvr>
                                    </p:animEffect>
                                  </p:childTnLst>
                                </p:cTn>
                              </p:par>
                              <p:par>
                                <p:cTn fill="hold" nodeType="withEffect" presetClass="entr" presetID="10" presetSubtype="0">
                                  <p:stCondLst>
                                    <p:cond delay="0"/>
                                  </p:stCondLst>
                                  <p:childTnLst>
                                    <p:set>
                                      <p:cBhvr>
                                        <p:cTn dur="1" fill="hold">
                                          <p:stCondLst>
                                            <p:cond delay="0"/>
                                          </p:stCondLst>
                                        </p:cTn>
                                        <p:tgtEl>
                                          <p:spTgt spid="2250"/>
                                        </p:tgtEl>
                                        <p:attrNameLst>
                                          <p:attrName>style.visibility</p:attrName>
                                        </p:attrNameLst>
                                      </p:cBhvr>
                                      <p:to>
                                        <p:strVal val="visible"/>
                                      </p:to>
                                    </p:set>
                                    <p:animEffect filter="fade" transition="in">
                                      <p:cBhvr>
                                        <p:cTn dur="500"/>
                                        <p:tgtEl>
                                          <p:spTgt spid="2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sp>
        <p:nvSpPr>
          <p:cNvPr id="2257" name="Google Shape;2257;p3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Output port queuing</a:t>
            </a:r>
            <a:endParaRPr/>
          </a:p>
        </p:txBody>
      </p:sp>
      <p:sp>
        <p:nvSpPr>
          <p:cNvPr id="2258" name="Google Shape;2258;p35"/>
          <p:cNvSpPr txBox="1"/>
          <p:nvPr/>
        </p:nvSpPr>
        <p:spPr>
          <a:xfrm>
            <a:off x="888773" y="3417068"/>
            <a:ext cx="5977544" cy="1413266"/>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90000"/>
              </a:lnSpc>
              <a:spcBef>
                <a:spcPts val="0"/>
              </a:spcBef>
              <a:spcAft>
                <a:spcPts val="0"/>
              </a:spcAft>
              <a:buClr>
                <a:srgbClr val="0000A3"/>
              </a:buClr>
              <a:buSzPct val="100000"/>
              <a:buFont typeface="Noto Sans Symbols"/>
              <a:buChar char="▪"/>
            </a:pPr>
            <a:r>
              <a:rPr b="0" i="1" lang="en-US" sz="2800" u="none" cap="none" strike="noStrike">
                <a:solidFill>
                  <a:srgbClr val="CC0000"/>
                </a:solidFill>
                <a:latin typeface="Calibri"/>
                <a:ea typeface="Calibri"/>
                <a:cs typeface="Calibri"/>
                <a:sym typeface="Calibri"/>
              </a:rPr>
              <a:t>Buffering</a:t>
            </a:r>
            <a:r>
              <a:rPr b="0" i="0" lang="en-US" sz="2800" u="none" cap="none" strike="noStrike">
                <a:solidFill>
                  <a:srgbClr val="000000"/>
                </a:solidFill>
                <a:latin typeface="Calibri"/>
                <a:ea typeface="Calibri"/>
                <a:cs typeface="Calibri"/>
                <a:sym typeface="Calibri"/>
              </a:rPr>
              <a:t> required when datagrams arrive from fabric faster than link transmission rate. </a:t>
            </a:r>
            <a:r>
              <a:rPr b="0" i="1" lang="en-US" sz="2800" u="none" cap="none" strike="noStrike">
                <a:solidFill>
                  <a:srgbClr val="C00000"/>
                </a:solidFill>
                <a:latin typeface="Calibri"/>
                <a:ea typeface="Calibri"/>
                <a:cs typeface="Calibri"/>
                <a:sym typeface="Calibri"/>
              </a:rPr>
              <a:t>Drop policy: </a:t>
            </a:r>
            <a:r>
              <a:rPr b="0" i="0" lang="en-US" sz="2800" u="none" cap="none" strike="noStrike">
                <a:solidFill>
                  <a:srgbClr val="000000"/>
                </a:solidFill>
                <a:latin typeface="Calibri"/>
                <a:ea typeface="Calibri"/>
                <a:cs typeface="Calibri"/>
                <a:sym typeface="Calibri"/>
              </a:rPr>
              <a:t>which datagrams to drop if no free buffers?</a:t>
            </a:r>
            <a:endParaRPr/>
          </a:p>
        </p:txBody>
      </p:sp>
      <p:sp>
        <p:nvSpPr>
          <p:cNvPr id="2259" name="Google Shape;2259;p35"/>
          <p:cNvSpPr txBox="1"/>
          <p:nvPr/>
        </p:nvSpPr>
        <p:spPr>
          <a:xfrm>
            <a:off x="938650" y="5182135"/>
            <a:ext cx="5131875" cy="128900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Scheduling discipline</a:t>
            </a:r>
            <a:r>
              <a:rPr b="0" i="0" lang="en-US" sz="2800" u="none" cap="none" strike="noStrike">
                <a:solidFill>
                  <a:srgbClr val="000000"/>
                </a:solidFill>
                <a:latin typeface="Calibri"/>
                <a:ea typeface="Calibri"/>
                <a:cs typeface="Calibri"/>
                <a:sym typeface="Calibri"/>
              </a:rPr>
              <a:t> chooses among queued datagrams for transmission</a:t>
            </a:r>
            <a:endParaRPr/>
          </a:p>
        </p:txBody>
      </p:sp>
      <p:grpSp>
        <p:nvGrpSpPr>
          <p:cNvPr id="2260" name="Google Shape;2260;p35"/>
          <p:cNvGrpSpPr/>
          <p:nvPr/>
        </p:nvGrpSpPr>
        <p:grpSpPr>
          <a:xfrm>
            <a:off x="6900841" y="3768360"/>
            <a:ext cx="5036234" cy="1255728"/>
            <a:chOff x="6302327" y="3768360"/>
            <a:chExt cx="5036234" cy="1255728"/>
          </a:xfrm>
        </p:grpSpPr>
        <p:sp>
          <p:nvSpPr>
            <p:cNvPr id="2261" name="Google Shape;2261;p35"/>
            <p:cNvSpPr txBox="1"/>
            <p:nvPr/>
          </p:nvSpPr>
          <p:spPr>
            <a:xfrm>
              <a:off x="7385539" y="3768360"/>
              <a:ext cx="3953022" cy="12557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Datagrams can be lost due to congestion, lack of buffers</a:t>
              </a:r>
              <a:endParaRPr/>
            </a:p>
          </p:txBody>
        </p:sp>
        <p:sp>
          <p:nvSpPr>
            <p:cNvPr id="2262" name="Google Shape;2262;p35"/>
            <p:cNvSpPr/>
            <p:nvPr/>
          </p:nvSpPr>
          <p:spPr>
            <a:xfrm>
              <a:off x="6302327" y="4135902"/>
              <a:ext cx="978408" cy="484632"/>
            </a:xfrm>
            <a:prstGeom prst="rightArrow">
              <a:avLst>
                <a:gd fmla="val 50000" name="adj1"/>
                <a:gd fmla="val 50000" name="adj2"/>
              </a:avLst>
            </a:prstGeom>
            <a:gradFill>
              <a:gsLst>
                <a:gs pos="0">
                  <a:srgbClr val="C00000"/>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263" name="Google Shape;2263;p35"/>
          <p:cNvGrpSpPr/>
          <p:nvPr/>
        </p:nvGrpSpPr>
        <p:grpSpPr>
          <a:xfrm>
            <a:off x="6875475" y="5201260"/>
            <a:ext cx="5319932" cy="1255728"/>
            <a:chOff x="6243711" y="5201260"/>
            <a:chExt cx="5319932" cy="1255728"/>
          </a:xfrm>
        </p:grpSpPr>
        <p:sp>
          <p:nvSpPr>
            <p:cNvPr id="2264" name="Google Shape;2264;p35"/>
            <p:cNvSpPr txBox="1"/>
            <p:nvPr/>
          </p:nvSpPr>
          <p:spPr>
            <a:xfrm>
              <a:off x="7371470" y="5201260"/>
              <a:ext cx="4192173" cy="12557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Priority scheduling – who gets best performance, network neutrality</a:t>
              </a:r>
              <a:endParaRPr/>
            </a:p>
          </p:txBody>
        </p:sp>
        <p:sp>
          <p:nvSpPr>
            <p:cNvPr id="2265" name="Google Shape;2265;p35"/>
            <p:cNvSpPr/>
            <p:nvPr/>
          </p:nvSpPr>
          <p:spPr>
            <a:xfrm>
              <a:off x="6243711" y="5512190"/>
              <a:ext cx="978408" cy="484632"/>
            </a:xfrm>
            <a:prstGeom prst="rightArrow">
              <a:avLst>
                <a:gd fmla="val 50000" name="adj1"/>
                <a:gd fmla="val 50000" name="adj2"/>
              </a:avLst>
            </a:prstGeom>
            <a:gradFill>
              <a:gsLst>
                <a:gs pos="0">
                  <a:srgbClr val="C00000"/>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266" name="Google Shape;2266;p35"/>
          <p:cNvGrpSpPr/>
          <p:nvPr/>
        </p:nvGrpSpPr>
        <p:grpSpPr>
          <a:xfrm>
            <a:off x="8496886" y="307717"/>
            <a:ext cx="2967544" cy="1552790"/>
            <a:chOff x="8496886" y="307717"/>
            <a:chExt cx="2967544" cy="1552790"/>
          </a:xfrm>
        </p:grpSpPr>
        <p:pic>
          <p:nvPicPr>
            <p:cNvPr id="2267" name="Google Shape;2267;p35"/>
            <p:cNvPicPr preferRelativeResize="0"/>
            <p:nvPr/>
          </p:nvPicPr>
          <p:blipFill rotWithShape="1">
            <a:blip r:embed="rId3">
              <a:alphaModFix/>
            </a:blip>
            <a:srcRect b="0" l="0" r="0" t="0"/>
            <a:stretch/>
          </p:blipFill>
          <p:spPr>
            <a:xfrm>
              <a:off x="9214340" y="307717"/>
              <a:ext cx="1359144" cy="1190491"/>
            </a:xfrm>
            <a:prstGeom prst="rect">
              <a:avLst/>
            </a:prstGeom>
            <a:noFill/>
            <a:ln>
              <a:noFill/>
            </a:ln>
          </p:spPr>
        </p:pic>
        <p:sp>
          <p:nvSpPr>
            <p:cNvPr id="2268" name="Google Shape;2268;p35"/>
            <p:cNvSpPr txBox="1"/>
            <p:nvPr/>
          </p:nvSpPr>
          <p:spPr>
            <a:xfrm>
              <a:off x="8496886" y="1491175"/>
              <a:ext cx="29675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This is a really important slide</a:t>
              </a:r>
              <a:endParaRPr/>
            </a:p>
          </p:txBody>
        </p:sp>
      </p:grpSp>
      <p:grpSp>
        <p:nvGrpSpPr>
          <p:cNvPr id="2269" name="Google Shape;2269;p35"/>
          <p:cNvGrpSpPr/>
          <p:nvPr/>
        </p:nvGrpSpPr>
        <p:grpSpPr>
          <a:xfrm>
            <a:off x="1178949" y="1396538"/>
            <a:ext cx="7113685" cy="1695796"/>
            <a:chOff x="763318" y="1529542"/>
            <a:chExt cx="7113685" cy="1695796"/>
          </a:xfrm>
        </p:grpSpPr>
        <p:sp>
          <p:nvSpPr>
            <p:cNvPr id="2270" name="Google Shape;2270;p35"/>
            <p:cNvSpPr/>
            <p:nvPr/>
          </p:nvSpPr>
          <p:spPr>
            <a:xfrm>
              <a:off x="2505123" y="1529542"/>
              <a:ext cx="4568825" cy="1679171"/>
            </a:xfrm>
            <a:prstGeom prst="rect">
              <a:avLst/>
            </a:prstGeom>
            <a:solidFill>
              <a:srgbClr val="FFFFF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271" name="Google Shape;2271;p35"/>
            <p:cNvSpPr/>
            <p:nvPr/>
          </p:nvSpPr>
          <p:spPr>
            <a:xfrm>
              <a:off x="5427711" y="1946056"/>
              <a:ext cx="1417637"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termination</a:t>
              </a:r>
              <a:endParaRPr/>
            </a:p>
          </p:txBody>
        </p:sp>
        <p:sp>
          <p:nvSpPr>
            <p:cNvPr id="2272" name="Google Shape;2272;p35"/>
            <p:cNvSpPr/>
            <p:nvPr/>
          </p:nvSpPr>
          <p:spPr>
            <a:xfrm>
              <a:off x="4118023" y="1673006"/>
              <a:ext cx="1152525" cy="1409700"/>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273" name="Google Shape;2273;p35"/>
            <p:cNvCxnSpPr/>
            <p:nvPr/>
          </p:nvCxnSpPr>
          <p:spPr>
            <a:xfrm>
              <a:off x="3940223" y="2392143"/>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2274" name="Google Shape;2274;p35"/>
            <p:cNvCxnSpPr/>
            <p:nvPr/>
          </p:nvCxnSpPr>
          <p:spPr>
            <a:xfrm>
              <a:off x="5273723" y="2349281"/>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2275" name="Google Shape;2275;p35"/>
            <p:cNvSpPr/>
            <p:nvPr/>
          </p:nvSpPr>
          <p:spPr>
            <a:xfrm>
              <a:off x="4151361" y="1982568"/>
              <a:ext cx="1055687"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link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layer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protocol</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(send)</a:t>
              </a:r>
              <a:endParaRPr/>
            </a:p>
          </p:txBody>
        </p:sp>
        <p:sp>
          <p:nvSpPr>
            <p:cNvPr id="2276" name="Google Shape;2276;p35"/>
            <p:cNvSpPr/>
            <p:nvPr/>
          </p:nvSpPr>
          <p:spPr>
            <a:xfrm>
              <a:off x="763318" y="1925822"/>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switch</a:t>
              </a:r>
              <a:endParaRPr/>
            </a:p>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fabric</a:t>
              </a:r>
              <a:endParaRPr b="0" i="0" sz="2000" u="none" cap="none" strike="noStrike">
                <a:solidFill>
                  <a:srgbClr val="000000"/>
                </a:solidFill>
                <a:latin typeface="Tahoma"/>
                <a:ea typeface="Tahoma"/>
                <a:cs typeface="Tahoma"/>
                <a:sym typeface="Tahoma"/>
              </a:endParaRPr>
            </a:p>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t>
              </a:r>
              <a:r>
                <a:rPr b="0" i="0" lang="en-US" sz="1800" u="none" cap="none" strike="noStrike">
                  <a:solidFill>
                    <a:srgbClr val="000000"/>
                  </a:solidFill>
                  <a:latin typeface="Tahoma"/>
                  <a:ea typeface="Tahoma"/>
                  <a:cs typeface="Tahoma"/>
                  <a:sym typeface="Tahoma"/>
                </a:rPr>
                <a:t>rate: </a:t>
              </a:r>
              <a:r>
                <a:rPr b="0" i="0" lang="en-US" sz="2000" u="none" cap="none" strike="noStrike">
                  <a:solidFill>
                    <a:srgbClr val="000000"/>
                  </a:solidFill>
                  <a:latin typeface="Tahoma"/>
                  <a:ea typeface="Tahoma"/>
                  <a:cs typeface="Tahoma"/>
                  <a:sym typeface="Tahoma"/>
                </a:rPr>
                <a:t>NR)</a:t>
              </a:r>
              <a:endParaRPr/>
            </a:p>
          </p:txBody>
        </p:sp>
        <p:grpSp>
          <p:nvGrpSpPr>
            <p:cNvPr id="2277" name="Google Shape;2277;p35"/>
            <p:cNvGrpSpPr/>
            <p:nvPr/>
          </p:nvGrpSpPr>
          <p:grpSpPr>
            <a:xfrm>
              <a:off x="2657523" y="1623793"/>
              <a:ext cx="1247775" cy="1504950"/>
              <a:chOff x="3180" y="909"/>
              <a:chExt cx="786" cy="948"/>
            </a:xfrm>
          </p:grpSpPr>
          <p:sp>
            <p:nvSpPr>
              <p:cNvPr id="2278" name="Google Shape;2278;p35"/>
              <p:cNvSpPr/>
              <p:nvPr/>
            </p:nvSpPr>
            <p:spPr>
              <a:xfrm>
                <a:off x="3180" y="909"/>
                <a:ext cx="786" cy="948"/>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279" name="Google Shape;2279;p35"/>
              <p:cNvSpPr txBox="1"/>
              <p:nvPr/>
            </p:nvSpPr>
            <p:spPr>
              <a:xfrm>
                <a:off x="3232" y="917"/>
                <a:ext cx="724" cy="9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datagram</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queueing</a:t>
                </a:r>
                <a:endParaRPr/>
              </a:p>
            </p:txBody>
          </p:sp>
          <p:grpSp>
            <p:nvGrpSpPr>
              <p:cNvPr id="2280" name="Google Shape;2280;p35"/>
              <p:cNvGrpSpPr/>
              <p:nvPr/>
            </p:nvGrpSpPr>
            <p:grpSpPr>
              <a:xfrm>
                <a:off x="3260" y="1299"/>
                <a:ext cx="626" cy="295"/>
                <a:chOff x="310" y="3526"/>
                <a:chExt cx="1040" cy="457"/>
              </a:xfrm>
            </p:grpSpPr>
            <p:sp>
              <p:nvSpPr>
                <p:cNvPr id="2281" name="Google Shape;2281;p35"/>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282" name="Google Shape;2282;p35"/>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3" name="Google Shape;2283;p35"/>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2284" name="Google Shape;2284;p35"/>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5" name="Google Shape;2285;p35"/>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6" name="Google Shape;2286;p35"/>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7" name="Google Shape;2287;p35"/>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8" name="Google Shape;2288;p35"/>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289" name="Google Shape;2289;p35"/>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cxnSp>
          <p:nvCxnSpPr>
            <p:cNvPr id="2290" name="Google Shape;2290;p35"/>
            <p:cNvCxnSpPr/>
            <p:nvPr/>
          </p:nvCxnSpPr>
          <p:spPr>
            <a:xfrm>
              <a:off x="1878016" y="1579418"/>
              <a:ext cx="0" cy="1645920"/>
            </a:xfrm>
            <a:prstGeom prst="straightConnector1">
              <a:avLst/>
            </a:prstGeom>
            <a:noFill/>
            <a:ln cap="flat" cmpd="sng" w="28575">
              <a:solidFill>
                <a:srgbClr val="000000"/>
              </a:solidFill>
              <a:prstDash val="solid"/>
              <a:round/>
              <a:headEnd len="med" w="med" type="none"/>
              <a:tailEnd len="med" w="med" type="none"/>
            </a:ln>
          </p:spPr>
        </p:cxnSp>
        <p:cxnSp>
          <p:nvCxnSpPr>
            <p:cNvPr id="2291" name="Google Shape;2291;p35"/>
            <p:cNvCxnSpPr/>
            <p:nvPr/>
          </p:nvCxnSpPr>
          <p:spPr>
            <a:xfrm>
              <a:off x="1860598" y="2435006"/>
              <a:ext cx="925513" cy="0"/>
            </a:xfrm>
            <a:prstGeom prst="straightConnector1">
              <a:avLst/>
            </a:prstGeom>
            <a:noFill/>
            <a:ln cap="flat" cmpd="sng" w="28575">
              <a:solidFill>
                <a:srgbClr val="000000"/>
              </a:solidFill>
              <a:prstDash val="solid"/>
              <a:round/>
              <a:headEnd len="med" w="med" type="none"/>
              <a:tailEnd len="med" w="med" type="triangle"/>
            </a:ln>
          </p:spPr>
        </p:cxnSp>
        <p:cxnSp>
          <p:nvCxnSpPr>
            <p:cNvPr id="2292" name="Google Shape;2292;p35"/>
            <p:cNvCxnSpPr/>
            <p:nvPr/>
          </p:nvCxnSpPr>
          <p:spPr>
            <a:xfrm>
              <a:off x="6846225" y="2394066"/>
              <a:ext cx="1030778" cy="0"/>
            </a:xfrm>
            <a:prstGeom prst="straightConnector1">
              <a:avLst/>
            </a:prstGeom>
            <a:noFill/>
            <a:ln cap="flat" cmpd="sng" w="34925">
              <a:solidFill>
                <a:schemeClr val="dk1"/>
              </a:solidFill>
              <a:prstDash val="solid"/>
              <a:miter lim="800000"/>
              <a:headEnd len="sm" w="sm" type="none"/>
              <a:tailEnd len="med" w="med" type="triangle"/>
            </a:ln>
          </p:spPr>
        </p:cxnSp>
        <p:sp>
          <p:nvSpPr>
            <p:cNvPr id="2293" name="Google Shape;2293;p35"/>
            <p:cNvSpPr txBox="1"/>
            <p:nvPr/>
          </p:nvSpPr>
          <p:spPr>
            <a:xfrm flipH="1">
              <a:off x="7215448" y="2377441"/>
              <a:ext cx="31588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a:t>
              </a:r>
              <a:endParaRPr/>
            </a:p>
          </p:txBody>
        </p:sp>
      </p:grpSp>
      <p:sp>
        <p:nvSpPr>
          <p:cNvPr id="2294" name="Google Shape;2294;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0"/>
                                        </p:tgtEl>
                                        <p:attrNameLst>
                                          <p:attrName>style.visibility</p:attrName>
                                        </p:attrNameLst>
                                      </p:cBhvr>
                                      <p:to>
                                        <p:strVal val="visible"/>
                                      </p:to>
                                    </p:set>
                                    <p:animEffect filter="fade" transition="in">
                                      <p:cBhvr>
                                        <p:cTn dur="500"/>
                                        <p:tgtEl>
                                          <p:spTgt spid="2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9"/>
                                        </p:tgtEl>
                                        <p:attrNameLst>
                                          <p:attrName>style.visibility</p:attrName>
                                        </p:attrNameLst>
                                      </p:cBhvr>
                                      <p:to>
                                        <p:strVal val="visible"/>
                                      </p:to>
                                    </p:set>
                                    <p:animEffect filter="fade" transition="in">
                                      <p:cBhvr>
                                        <p:cTn dur="500"/>
                                        <p:tgtEl>
                                          <p:spTgt spid="2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3"/>
                                        </p:tgtEl>
                                        <p:attrNameLst>
                                          <p:attrName>style.visibility</p:attrName>
                                        </p:attrNameLst>
                                      </p:cBhvr>
                                      <p:to>
                                        <p:strVal val="visible"/>
                                      </p:to>
                                    </p:set>
                                    <p:animEffect filter="fade" transition="in">
                                      <p:cBhvr>
                                        <p:cTn dur="500"/>
                                        <p:tgtEl>
                                          <p:spTgt spid="2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6"/>
                                        </p:tgtEl>
                                        <p:attrNameLst>
                                          <p:attrName>style.visibility</p:attrName>
                                        </p:attrNameLst>
                                      </p:cBhvr>
                                      <p:to>
                                        <p:strVal val="visible"/>
                                      </p:to>
                                    </p:set>
                                    <p:animEffect filter="fade" transition="in">
                                      <p:cBhvr>
                                        <p:cTn dur="500"/>
                                        <p:tgtEl>
                                          <p:spTgt spid="2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9" name="Shape 2299"/>
        <p:cNvGrpSpPr/>
        <p:nvPr/>
      </p:nvGrpSpPr>
      <p:grpSpPr>
        <a:xfrm>
          <a:off x="0" y="0"/>
          <a:ext cx="0" cy="0"/>
          <a:chOff x="0" y="0"/>
          <a:chExt cx="0" cy="0"/>
        </a:xfrm>
      </p:grpSpPr>
      <p:sp>
        <p:nvSpPr>
          <p:cNvPr id="2300" name="Google Shape;2300;p3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Output port queuing</a:t>
            </a:r>
            <a:endParaRPr/>
          </a:p>
        </p:txBody>
      </p:sp>
      <p:grpSp>
        <p:nvGrpSpPr>
          <p:cNvPr id="2301" name="Google Shape;2301;p36"/>
          <p:cNvGrpSpPr/>
          <p:nvPr/>
        </p:nvGrpSpPr>
        <p:grpSpPr>
          <a:xfrm>
            <a:off x="2375414" y="1576437"/>
            <a:ext cx="7412037" cy="2870200"/>
            <a:chOff x="550" y="931"/>
            <a:chExt cx="4669" cy="1808"/>
          </a:xfrm>
        </p:grpSpPr>
        <p:grpSp>
          <p:nvGrpSpPr>
            <p:cNvPr id="2302" name="Google Shape;2302;p36"/>
            <p:cNvGrpSpPr/>
            <p:nvPr/>
          </p:nvGrpSpPr>
          <p:grpSpPr>
            <a:xfrm>
              <a:off x="699" y="948"/>
              <a:ext cx="2099" cy="1356"/>
              <a:chOff x="523" y="976"/>
              <a:chExt cx="2099" cy="1356"/>
            </a:xfrm>
          </p:grpSpPr>
          <p:sp>
            <p:nvSpPr>
              <p:cNvPr id="2303" name="Google Shape;2303;p36"/>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304" name="Google Shape;2304;p36"/>
              <p:cNvGrpSpPr/>
              <p:nvPr/>
            </p:nvGrpSpPr>
            <p:grpSpPr>
              <a:xfrm>
                <a:off x="804" y="997"/>
                <a:ext cx="249" cy="1295"/>
                <a:chOff x="748" y="997"/>
                <a:chExt cx="249" cy="1295"/>
              </a:xfrm>
            </p:grpSpPr>
            <p:sp>
              <p:nvSpPr>
                <p:cNvPr id="2305" name="Google Shape;2305;p36"/>
                <p:cNvSpPr/>
                <p:nvPr/>
              </p:nvSpPr>
              <p:spPr>
                <a:xfrm>
                  <a:off x="759" y="997"/>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6" name="Google Shape;2306;p36"/>
                <p:cNvSpPr/>
                <p:nvPr/>
              </p:nvSpPr>
              <p:spPr>
                <a:xfrm>
                  <a:off x="750" y="1472"/>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7" name="Google Shape;2307;p36"/>
                <p:cNvSpPr/>
                <p:nvPr/>
              </p:nvSpPr>
              <p:spPr>
                <a:xfrm>
                  <a:off x="748" y="1940"/>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08" name="Google Shape;2308;p36"/>
              <p:cNvGrpSpPr/>
              <p:nvPr/>
            </p:nvGrpSpPr>
            <p:grpSpPr>
              <a:xfrm>
                <a:off x="2109" y="1002"/>
                <a:ext cx="249" cy="1295"/>
                <a:chOff x="748" y="997"/>
                <a:chExt cx="249" cy="1295"/>
              </a:xfrm>
            </p:grpSpPr>
            <p:sp>
              <p:nvSpPr>
                <p:cNvPr id="2309" name="Google Shape;2309;p36"/>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0" name="Google Shape;2310;p36"/>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11" name="Google Shape;2311;p36"/>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312" name="Google Shape;2312;p36"/>
              <p:cNvCxnSpPr/>
              <p:nvPr/>
            </p:nvCxnSpPr>
            <p:spPr>
              <a:xfrm>
                <a:off x="1946" y="1180"/>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3" name="Google Shape;2313;p36"/>
              <p:cNvCxnSpPr/>
              <p:nvPr/>
            </p:nvCxnSpPr>
            <p:spPr>
              <a:xfrm>
                <a:off x="1940" y="1645"/>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4" name="Google Shape;2314;p36"/>
              <p:cNvCxnSpPr/>
              <p:nvPr/>
            </p:nvCxnSpPr>
            <p:spPr>
              <a:xfrm>
                <a:off x="1940" y="211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5" name="Google Shape;2315;p36"/>
              <p:cNvCxnSpPr/>
              <p:nvPr/>
            </p:nvCxnSpPr>
            <p:spPr>
              <a:xfrm>
                <a:off x="1044" y="1164"/>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6" name="Google Shape;2316;p36"/>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17" name="Google Shape;2317;p36"/>
              <p:cNvCxnSpPr/>
              <p:nvPr/>
            </p:nvCxnSpPr>
            <p:spPr>
              <a:xfrm>
                <a:off x="1038" y="2103"/>
                <a:ext cx="162" cy="0"/>
              </a:xfrm>
              <a:prstGeom prst="straightConnector1">
                <a:avLst/>
              </a:prstGeom>
              <a:noFill/>
              <a:ln cap="flat" cmpd="sng" w="19050">
                <a:solidFill>
                  <a:srgbClr val="000000"/>
                </a:solidFill>
                <a:prstDash val="solid"/>
                <a:round/>
                <a:headEnd len="med" w="med" type="none"/>
                <a:tailEnd len="med" w="med" type="none"/>
              </a:ln>
            </p:spPr>
          </p:cxnSp>
          <p:grpSp>
            <p:nvGrpSpPr>
              <p:cNvPr id="2318" name="Google Shape;2318;p36"/>
              <p:cNvGrpSpPr/>
              <p:nvPr/>
            </p:nvGrpSpPr>
            <p:grpSpPr>
              <a:xfrm>
                <a:off x="523" y="1169"/>
                <a:ext cx="288" cy="939"/>
                <a:chOff x="-60" y="1148"/>
                <a:chExt cx="168" cy="939"/>
              </a:xfrm>
            </p:grpSpPr>
            <p:cxnSp>
              <p:nvCxnSpPr>
                <p:cNvPr id="2319" name="Google Shape;2319;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20" name="Google Shape;2320;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21" name="Google Shape;2321;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322" name="Google Shape;2322;p36"/>
              <p:cNvGrpSpPr/>
              <p:nvPr/>
            </p:nvGrpSpPr>
            <p:grpSpPr>
              <a:xfrm>
                <a:off x="2334" y="1173"/>
                <a:ext cx="288" cy="939"/>
                <a:chOff x="-60" y="1148"/>
                <a:chExt cx="168" cy="939"/>
              </a:xfrm>
            </p:grpSpPr>
            <p:cxnSp>
              <p:nvCxnSpPr>
                <p:cNvPr id="2323" name="Google Shape;2323;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24" name="Google Shape;2324;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25" name="Google Shape;2325;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grpSp>
          <p:nvGrpSpPr>
            <p:cNvPr id="2326" name="Google Shape;2326;p36"/>
            <p:cNvGrpSpPr/>
            <p:nvPr/>
          </p:nvGrpSpPr>
          <p:grpSpPr>
            <a:xfrm>
              <a:off x="3120" y="931"/>
              <a:ext cx="2099" cy="1356"/>
              <a:chOff x="523" y="976"/>
              <a:chExt cx="2099" cy="1356"/>
            </a:xfrm>
          </p:grpSpPr>
          <p:sp>
            <p:nvSpPr>
              <p:cNvPr id="2327" name="Google Shape;2327;p36"/>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328" name="Google Shape;2328;p36"/>
              <p:cNvGrpSpPr/>
              <p:nvPr/>
            </p:nvGrpSpPr>
            <p:grpSpPr>
              <a:xfrm>
                <a:off x="804" y="997"/>
                <a:ext cx="249" cy="1295"/>
                <a:chOff x="748" y="997"/>
                <a:chExt cx="249" cy="1295"/>
              </a:xfrm>
            </p:grpSpPr>
            <p:sp>
              <p:nvSpPr>
                <p:cNvPr id="2329" name="Google Shape;2329;p36"/>
                <p:cNvSpPr/>
                <p:nvPr/>
              </p:nvSpPr>
              <p:spPr>
                <a:xfrm>
                  <a:off x="759" y="997"/>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0" name="Google Shape;2330;p36"/>
                <p:cNvSpPr/>
                <p:nvPr/>
              </p:nvSpPr>
              <p:spPr>
                <a:xfrm>
                  <a:off x="750" y="1472"/>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1" name="Google Shape;2331;p36"/>
                <p:cNvSpPr/>
                <p:nvPr/>
              </p:nvSpPr>
              <p:spPr>
                <a:xfrm>
                  <a:off x="748" y="1940"/>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32" name="Google Shape;2332;p36"/>
              <p:cNvGrpSpPr/>
              <p:nvPr/>
            </p:nvGrpSpPr>
            <p:grpSpPr>
              <a:xfrm>
                <a:off x="2109" y="1002"/>
                <a:ext cx="249" cy="1295"/>
                <a:chOff x="748" y="997"/>
                <a:chExt cx="249" cy="1295"/>
              </a:xfrm>
            </p:grpSpPr>
            <p:sp>
              <p:nvSpPr>
                <p:cNvPr id="2333" name="Google Shape;2333;p36"/>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4" name="Google Shape;2334;p36"/>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5" name="Google Shape;2335;p36"/>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2336" name="Google Shape;2336;p36"/>
              <p:cNvCxnSpPr/>
              <p:nvPr/>
            </p:nvCxnSpPr>
            <p:spPr>
              <a:xfrm>
                <a:off x="1946" y="1180"/>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7" name="Google Shape;2337;p36"/>
              <p:cNvCxnSpPr/>
              <p:nvPr/>
            </p:nvCxnSpPr>
            <p:spPr>
              <a:xfrm>
                <a:off x="1940" y="1645"/>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8" name="Google Shape;2338;p36"/>
              <p:cNvCxnSpPr/>
              <p:nvPr/>
            </p:nvCxnSpPr>
            <p:spPr>
              <a:xfrm>
                <a:off x="1940" y="211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39" name="Google Shape;2339;p36"/>
              <p:cNvCxnSpPr/>
              <p:nvPr/>
            </p:nvCxnSpPr>
            <p:spPr>
              <a:xfrm>
                <a:off x="1044" y="1164"/>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0" name="Google Shape;2340;p36"/>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1" name="Google Shape;2341;p36"/>
              <p:cNvCxnSpPr/>
              <p:nvPr/>
            </p:nvCxnSpPr>
            <p:spPr>
              <a:xfrm>
                <a:off x="1038" y="2103"/>
                <a:ext cx="162" cy="0"/>
              </a:xfrm>
              <a:prstGeom prst="straightConnector1">
                <a:avLst/>
              </a:prstGeom>
              <a:noFill/>
              <a:ln cap="flat" cmpd="sng" w="19050">
                <a:solidFill>
                  <a:srgbClr val="000000"/>
                </a:solidFill>
                <a:prstDash val="solid"/>
                <a:round/>
                <a:headEnd len="med" w="med" type="none"/>
                <a:tailEnd len="med" w="med" type="none"/>
              </a:ln>
            </p:spPr>
          </p:cxnSp>
          <p:grpSp>
            <p:nvGrpSpPr>
              <p:cNvPr id="2342" name="Google Shape;2342;p36"/>
              <p:cNvGrpSpPr/>
              <p:nvPr/>
            </p:nvGrpSpPr>
            <p:grpSpPr>
              <a:xfrm>
                <a:off x="523" y="1169"/>
                <a:ext cx="288" cy="939"/>
                <a:chOff x="-60" y="1148"/>
                <a:chExt cx="168" cy="939"/>
              </a:xfrm>
            </p:grpSpPr>
            <p:cxnSp>
              <p:nvCxnSpPr>
                <p:cNvPr id="2343" name="Google Shape;2343;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4" name="Google Shape;2344;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2345" name="Google Shape;2345;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2346" name="Google Shape;2346;p36"/>
              <p:cNvGrpSpPr/>
              <p:nvPr/>
            </p:nvGrpSpPr>
            <p:grpSpPr>
              <a:xfrm>
                <a:off x="2334" y="1173"/>
                <a:ext cx="288" cy="939"/>
                <a:chOff x="-60" y="1148"/>
                <a:chExt cx="168" cy="939"/>
              </a:xfrm>
            </p:grpSpPr>
            <p:cxnSp>
              <p:nvCxnSpPr>
                <p:cNvPr id="2347" name="Google Shape;2347;p36"/>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48" name="Google Shape;2348;p36"/>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2349" name="Google Shape;2349;p36"/>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2350" name="Google Shape;2350;p36"/>
            <p:cNvSpPr/>
            <p:nvPr/>
          </p:nvSpPr>
          <p:spPr>
            <a:xfrm>
              <a:off x="1012" y="1012"/>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1" name="Google Shape;2351;p36"/>
            <p:cNvSpPr/>
            <p:nvPr/>
          </p:nvSpPr>
          <p:spPr>
            <a:xfrm>
              <a:off x="1003" y="1494"/>
              <a:ext cx="175" cy="98"/>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2" name="Google Shape;2352;p36"/>
            <p:cNvSpPr/>
            <p:nvPr/>
          </p:nvSpPr>
          <p:spPr>
            <a:xfrm>
              <a:off x="994" y="1969"/>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3" name="Google Shape;2353;p36"/>
            <p:cNvSpPr/>
            <p:nvPr/>
          </p:nvSpPr>
          <p:spPr>
            <a:xfrm>
              <a:off x="764" y="1017"/>
              <a:ext cx="175" cy="9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4" name="Google Shape;2354;p36"/>
            <p:cNvSpPr/>
            <p:nvPr/>
          </p:nvSpPr>
          <p:spPr>
            <a:xfrm>
              <a:off x="760" y="1953"/>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355" name="Google Shape;2355;p36"/>
            <p:cNvCxnSpPr/>
            <p:nvPr/>
          </p:nvCxnSpPr>
          <p:spPr>
            <a:xfrm>
              <a:off x="1215" y="1054"/>
              <a:ext cx="1026" cy="1"/>
            </a:xfrm>
            <a:prstGeom prst="straightConnector1">
              <a:avLst/>
            </a:prstGeom>
            <a:noFill/>
            <a:ln cap="flat" cmpd="sng" w="28575">
              <a:solidFill>
                <a:srgbClr val="FF0000"/>
              </a:solidFill>
              <a:prstDash val="dash"/>
              <a:round/>
              <a:headEnd len="med" w="med" type="none"/>
              <a:tailEnd len="med" w="med" type="triangle"/>
            </a:ln>
          </p:spPr>
        </p:cxnSp>
        <p:sp>
          <p:nvSpPr>
            <p:cNvPr id="2356" name="Google Shape;2356;p36"/>
            <p:cNvSpPr/>
            <p:nvPr/>
          </p:nvSpPr>
          <p:spPr>
            <a:xfrm>
              <a:off x="1246" y="1285"/>
              <a:ext cx="967" cy="735"/>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57" name="Google Shape;2357;p36"/>
            <p:cNvSpPr txBox="1"/>
            <p:nvPr/>
          </p:nvSpPr>
          <p:spPr>
            <a:xfrm>
              <a:off x="933" y="2335"/>
              <a:ext cx="1549"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t>
              </a:r>
              <a:r>
                <a:rPr b="0" i="1" lang="en-US" sz="1800" u="none" cap="none" strike="noStrike">
                  <a:solidFill>
                    <a:srgbClr val="000000"/>
                  </a:solidFill>
                  <a:latin typeface="Arial"/>
                  <a:ea typeface="Arial"/>
                  <a:cs typeface="Arial"/>
                  <a:sym typeface="Arial"/>
                </a:rPr>
                <a:t>t,</a:t>
              </a:r>
              <a:r>
                <a:rPr b="0" i="0" lang="en-US" sz="1800" u="none" cap="none" strike="noStrike">
                  <a:solidFill>
                    <a:srgbClr val="000000"/>
                  </a:solidFill>
                  <a:latin typeface="Arial"/>
                  <a:ea typeface="Arial"/>
                  <a:cs typeface="Arial"/>
                  <a:sym typeface="Arial"/>
                </a:rPr>
                <a:t> packets more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from input to output</a:t>
              </a:r>
              <a:endParaRPr b="0" i="1" sz="1800" u="none" cap="none" strike="noStrike">
                <a:solidFill>
                  <a:srgbClr val="000000"/>
                </a:solidFill>
                <a:latin typeface="Arial"/>
                <a:ea typeface="Arial"/>
                <a:cs typeface="Arial"/>
                <a:sym typeface="Arial"/>
              </a:endParaRPr>
            </a:p>
          </p:txBody>
        </p:sp>
        <p:sp>
          <p:nvSpPr>
            <p:cNvPr id="2358" name="Google Shape;2358;p36"/>
            <p:cNvSpPr txBox="1"/>
            <p:nvPr/>
          </p:nvSpPr>
          <p:spPr>
            <a:xfrm>
              <a:off x="3354" y="2325"/>
              <a:ext cx="1549"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one packet time later</a:t>
              </a:r>
              <a:endParaRPr b="0" i="1" sz="1800" u="none" cap="none" strike="noStrike">
                <a:solidFill>
                  <a:srgbClr val="000000"/>
                </a:solidFill>
                <a:latin typeface="Arial"/>
                <a:ea typeface="Arial"/>
                <a:cs typeface="Arial"/>
                <a:sym typeface="Arial"/>
              </a:endParaRPr>
            </a:p>
          </p:txBody>
        </p:sp>
        <p:sp>
          <p:nvSpPr>
            <p:cNvPr id="2359" name="Google Shape;2359;p36"/>
            <p:cNvSpPr txBox="1"/>
            <p:nvPr/>
          </p:nvSpPr>
          <p:spPr>
            <a:xfrm>
              <a:off x="1488" y="1545"/>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360" name="Google Shape;2360;p36"/>
            <p:cNvSpPr txBox="1"/>
            <p:nvPr/>
          </p:nvSpPr>
          <p:spPr>
            <a:xfrm>
              <a:off x="3895" y="1479"/>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2361" name="Google Shape;2361;p36"/>
            <p:cNvSpPr/>
            <p:nvPr/>
          </p:nvSpPr>
          <p:spPr>
            <a:xfrm>
              <a:off x="4746" y="972"/>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2" name="Google Shape;2362;p36"/>
            <p:cNvSpPr/>
            <p:nvPr/>
          </p:nvSpPr>
          <p:spPr>
            <a:xfrm>
              <a:off x="4746" y="1497"/>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3" name="Google Shape;2363;p36"/>
            <p:cNvSpPr/>
            <p:nvPr/>
          </p:nvSpPr>
          <p:spPr>
            <a:xfrm>
              <a:off x="4743" y="1099"/>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4" name="Google Shape;2364;p36"/>
            <p:cNvSpPr/>
            <p:nvPr/>
          </p:nvSpPr>
          <p:spPr>
            <a:xfrm>
              <a:off x="3445" y="1001"/>
              <a:ext cx="175" cy="9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5" name="Google Shape;2365;p36"/>
            <p:cNvSpPr/>
            <p:nvPr/>
          </p:nvSpPr>
          <p:spPr>
            <a:xfrm>
              <a:off x="3434" y="1965"/>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6" name="Google Shape;2366;p36"/>
            <p:cNvSpPr/>
            <p:nvPr/>
          </p:nvSpPr>
          <p:spPr>
            <a:xfrm>
              <a:off x="3682" y="1261"/>
              <a:ext cx="967" cy="735"/>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367" name="Google Shape;2367;p36"/>
            <p:cNvSpPr/>
            <p:nvPr/>
          </p:nvSpPr>
          <p:spPr>
            <a:xfrm>
              <a:off x="3669" y="1051"/>
              <a:ext cx="988" cy="951"/>
            </a:xfrm>
            <a:custGeom>
              <a:rect b="b" l="l" r="r" t="t"/>
              <a:pathLst>
                <a:path extrusionOk="0" h="480" w="1002">
                  <a:moveTo>
                    <a:pt x="0" y="2"/>
                  </a:moveTo>
                  <a:lnTo>
                    <a:pt x="522" y="0"/>
                  </a:lnTo>
                  <a:lnTo>
                    <a:pt x="1002" y="480"/>
                  </a:lnTo>
                </a:path>
              </a:pathLst>
            </a:custGeom>
            <a:noFill/>
            <a:ln cap="flat" cmpd="sng" w="28575">
              <a:solidFill>
                <a:srgbClr val="008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2368" name="Google Shape;2368;p36"/>
            <p:cNvCxnSpPr/>
            <p:nvPr/>
          </p:nvCxnSpPr>
          <p:spPr>
            <a:xfrm>
              <a:off x="1208" y="1545"/>
              <a:ext cx="1012" cy="14"/>
            </a:xfrm>
            <a:prstGeom prst="straightConnector1">
              <a:avLst/>
            </a:prstGeom>
            <a:noFill/>
            <a:ln cap="flat" cmpd="sng" w="28575">
              <a:solidFill>
                <a:srgbClr val="3333CC"/>
              </a:solidFill>
              <a:prstDash val="dash"/>
              <a:round/>
              <a:headEnd len="med" w="med" type="none"/>
              <a:tailEnd len="med" w="med" type="triangle"/>
            </a:ln>
          </p:spPr>
        </p:cxnSp>
        <p:sp>
          <p:nvSpPr>
            <p:cNvPr id="2369" name="Google Shape;2369;p36"/>
            <p:cNvSpPr/>
            <p:nvPr/>
          </p:nvSpPr>
          <p:spPr>
            <a:xfrm>
              <a:off x="550" y="1010"/>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0" name="Google Shape;2370;p36"/>
            <p:cNvSpPr/>
            <p:nvPr/>
          </p:nvSpPr>
          <p:spPr>
            <a:xfrm>
              <a:off x="3194" y="997"/>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371" name="Google Shape;2371;p36"/>
          <p:cNvSpPr txBox="1"/>
          <p:nvPr/>
        </p:nvSpPr>
        <p:spPr>
          <a:xfrm>
            <a:off x="900868" y="4672501"/>
            <a:ext cx="10057863" cy="175643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buffering when arrival rate via switch exceeds output line speed</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queueing (delay) and loss due to output port buffer overflow!</a:t>
            </a:r>
            <a:endParaRPr b="0" i="0" sz="2800" u="none" cap="none" strike="noStrike">
              <a:solidFill>
                <a:srgbClr val="CC0000"/>
              </a:solidFill>
              <a:latin typeface="Calibri"/>
              <a:ea typeface="Calibri"/>
              <a:cs typeface="Calibri"/>
              <a:sym typeface="Calibri"/>
            </a:endParaRPr>
          </a:p>
        </p:txBody>
      </p:sp>
      <p:sp>
        <p:nvSpPr>
          <p:cNvPr id="2372" name="Google Shape;2372;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7" name="Shape 2377"/>
        <p:cNvGrpSpPr/>
        <p:nvPr/>
      </p:nvGrpSpPr>
      <p:grpSpPr>
        <a:xfrm>
          <a:off x="0" y="0"/>
          <a:ext cx="0" cy="0"/>
          <a:chOff x="0" y="0"/>
          <a:chExt cx="0" cy="0"/>
        </a:xfrm>
      </p:grpSpPr>
      <p:sp>
        <p:nvSpPr>
          <p:cNvPr id="2378" name="Google Shape;2378;p37"/>
          <p:cNvSpPr txBox="1"/>
          <p:nvPr>
            <p:ph idx="1" type="body"/>
          </p:nvPr>
        </p:nvSpPr>
        <p:spPr>
          <a:xfrm>
            <a:off x="852267" y="1386402"/>
            <a:ext cx="10515600" cy="227119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RFC 3439 rule of thumb: average buffering equal to “typical” RTT (say 250 msec) times link capacity C</a:t>
            </a:r>
            <a:endParaRPr/>
          </a:p>
          <a:p>
            <a:pPr indent="-231775" lvl="1" marL="695325" rtl="0" algn="l">
              <a:lnSpc>
                <a:spcPct val="90000"/>
              </a:lnSpc>
              <a:spcBef>
                <a:spcPts val="500"/>
              </a:spcBef>
              <a:spcAft>
                <a:spcPts val="0"/>
              </a:spcAft>
              <a:buSzPts val="2400"/>
              <a:buChar char="•"/>
            </a:pPr>
            <a:r>
              <a:rPr lang="en-US"/>
              <a:t>e.g., C = 10 Gbps link: 2.5 Gbit buffer</a:t>
            </a:r>
            <a:endParaRPr/>
          </a:p>
        </p:txBody>
      </p:sp>
      <p:sp>
        <p:nvSpPr>
          <p:cNvPr id="2379" name="Google Shape;2379;p3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How much buffering?</a:t>
            </a:r>
            <a:endParaRPr/>
          </a:p>
        </p:txBody>
      </p:sp>
      <p:sp>
        <p:nvSpPr>
          <p:cNvPr id="2380" name="Google Shape;2380;p37"/>
          <p:cNvSpPr txBox="1"/>
          <p:nvPr/>
        </p:nvSpPr>
        <p:spPr>
          <a:xfrm>
            <a:off x="878059" y="4169460"/>
            <a:ext cx="10515600" cy="22711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but</a:t>
            </a:r>
            <a:r>
              <a:rPr b="0" i="1" lang="en-US" sz="2800" u="none" cap="none" strike="noStrike">
                <a:solidFill>
                  <a:srgbClr val="000000"/>
                </a:solidFill>
                <a:latin typeface="Calibri"/>
                <a:ea typeface="Calibri"/>
                <a:cs typeface="Calibri"/>
                <a:sym typeface="Calibri"/>
              </a:rPr>
              <a:t> too </a:t>
            </a:r>
            <a:r>
              <a:rPr b="0" i="0" lang="en-US" sz="2800" u="none" cap="none" strike="noStrike">
                <a:solidFill>
                  <a:srgbClr val="000000"/>
                </a:solidFill>
                <a:latin typeface="Calibri"/>
                <a:ea typeface="Calibri"/>
                <a:cs typeface="Calibri"/>
                <a:sym typeface="Calibri"/>
              </a:rPr>
              <a:t>much buffering can increase delays (particularly in home routers)</a:t>
            </a:r>
            <a:endParaRPr/>
          </a:p>
          <a:p>
            <a:pPr indent="-231775" lvl="1" marL="695325" marR="0" rtl="0" algn="l">
              <a:lnSpc>
                <a:spcPct val="90000"/>
              </a:lnSpc>
              <a:spcBef>
                <a:spcPts val="50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long RTTs: poor performance for realtime apps, sluggish TCP response </a:t>
            </a:r>
            <a:endParaRPr b="0" i="0" sz="26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recall delay-based congestion control: “keep bottleneck link just full enough (busy) but no fuller”</a:t>
            </a:r>
            <a:endParaRPr b="0" i="0" sz="2600" u="none" cap="none" strike="noStrike">
              <a:solidFill>
                <a:srgbClr val="000000"/>
              </a:solidFill>
              <a:latin typeface="Calibri"/>
              <a:ea typeface="Calibri"/>
              <a:cs typeface="Calibri"/>
              <a:sym typeface="Calibri"/>
            </a:endParaRPr>
          </a:p>
        </p:txBody>
      </p:sp>
      <p:grpSp>
        <p:nvGrpSpPr>
          <p:cNvPr id="2381" name="Google Shape;2381;p37"/>
          <p:cNvGrpSpPr/>
          <p:nvPr/>
        </p:nvGrpSpPr>
        <p:grpSpPr>
          <a:xfrm>
            <a:off x="878057" y="2664217"/>
            <a:ext cx="10515600" cy="1389648"/>
            <a:chOff x="878057" y="2664217"/>
            <a:chExt cx="10515600" cy="1389648"/>
          </a:xfrm>
        </p:grpSpPr>
        <p:grpSp>
          <p:nvGrpSpPr>
            <p:cNvPr id="2382" name="Google Shape;2382;p37"/>
            <p:cNvGrpSpPr/>
            <p:nvPr/>
          </p:nvGrpSpPr>
          <p:grpSpPr>
            <a:xfrm>
              <a:off x="4293797" y="2944202"/>
              <a:ext cx="1165225" cy="1109663"/>
              <a:chOff x="1923" y="2801"/>
              <a:chExt cx="734" cy="699"/>
            </a:xfrm>
          </p:grpSpPr>
          <p:sp>
            <p:nvSpPr>
              <p:cNvPr id="2383" name="Google Shape;2383;p37"/>
              <p:cNvSpPr txBox="1"/>
              <p:nvPr/>
            </p:nvSpPr>
            <p:spPr>
              <a:xfrm>
                <a:off x="1923" y="2918"/>
                <a:ext cx="73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RTT  C</a:t>
                </a:r>
                <a:endParaRPr/>
              </a:p>
            </p:txBody>
          </p:sp>
          <p:sp>
            <p:nvSpPr>
              <p:cNvPr id="2384" name="Google Shape;2384;p37"/>
              <p:cNvSpPr txBox="1"/>
              <p:nvPr/>
            </p:nvSpPr>
            <p:spPr>
              <a:xfrm>
                <a:off x="2309" y="2801"/>
                <a:ext cx="187" cy="3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a:p>
            </p:txBody>
          </p:sp>
          <p:cxnSp>
            <p:nvCxnSpPr>
              <p:cNvPr id="2385" name="Google Shape;2385;p37"/>
              <p:cNvCxnSpPr/>
              <p:nvPr/>
            </p:nvCxnSpPr>
            <p:spPr>
              <a:xfrm>
                <a:off x="1929" y="3168"/>
                <a:ext cx="619" cy="0"/>
              </a:xfrm>
              <a:prstGeom prst="straightConnector1">
                <a:avLst/>
              </a:prstGeom>
              <a:noFill/>
              <a:ln cap="flat" cmpd="sng" w="9525">
                <a:solidFill>
                  <a:schemeClr val="dk1"/>
                </a:solidFill>
                <a:prstDash val="solid"/>
                <a:round/>
                <a:headEnd len="med" w="med" type="none"/>
                <a:tailEnd len="med" w="med" type="none"/>
              </a:ln>
            </p:spPr>
          </p:cxnSp>
          <p:sp>
            <p:nvSpPr>
              <p:cNvPr id="2386" name="Google Shape;2386;p37"/>
              <p:cNvSpPr txBox="1"/>
              <p:nvPr/>
            </p:nvSpPr>
            <p:spPr>
              <a:xfrm>
                <a:off x="2091" y="3212"/>
                <a:ext cx="25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N</a:t>
                </a:r>
                <a:endParaRPr/>
              </a:p>
            </p:txBody>
          </p:sp>
          <p:sp>
            <p:nvSpPr>
              <p:cNvPr id="2387" name="Google Shape;2387;p37"/>
              <p:cNvSpPr/>
              <p:nvPr/>
            </p:nvSpPr>
            <p:spPr>
              <a:xfrm>
                <a:off x="2062" y="3218"/>
                <a:ext cx="279" cy="209"/>
              </a:xfrm>
              <a:custGeom>
                <a:rect b="b" l="l" r="r" t="t"/>
                <a:pathLst>
                  <a:path extrusionOk="0" h="209" w="279">
                    <a:moveTo>
                      <a:pt x="0" y="148"/>
                    </a:moveTo>
                    <a:lnTo>
                      <a:pt x="26" y="105"/>
                    </a:lnTo>
                    <a:lnTo>
                      <a:pt x="44" y="209"/>
                    </a:lnTo>
                    <a:lnTo>
                      <a:pt x="61" y="0"/>
                    </a:lnTo>
                    <a:lnTo>
                      <a:pt x="279"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388" name="Google Shape;2388;p37"/>
            <p:cNvSpPr txBox="1"/>
            <p:nvPr/>
          </p:nvSpPr>
          <p:spPr>
            <a:xfrm>
              <a:off x="878057" y="2664217"/>
              <a:ext cx="10515600" cy="768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more recent recommendation: with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flows, buffering equal to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2389" name="Google Shape;2389;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1"/>
                                        </p:tgtEl>
                                        <p:attrNameLst>
                                          <p:attrName>style.visibility</p:attrName>
                                        </p:attrNameLst>
                                      </p:cBhvr>
                                      <p:to>
                                        <p:strVal val="visible"/>
                                      </p:to>
                                    </p:set>
                                    <p:animEffect filter="fade" transition="in">
                                      <p:cBhvr>
                                        <p:cTn dur="500"/>
                                        <p:tgtEl>
                                          <p:spTgt spid="2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0"/>
                                        </p:tgtEl>
                                        <p:attrNameLst>
                                          <p:attrName>style.visibility</p:attrName>
                                        </p:attrNameLst>
                                      </p:cBhvr>
                                      <p:to>
                                        <p:strVal val="visible"/>
                                      </p:to>
                                    </p:set>
                                    <p:animEffect filter="fade" transition="in">
                                      <p:cBhvr>
                                        <p:cTn dur="500"/>
                                        <p:tgtEl>
                                          <p:spTgt spid="2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p3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Buffer Management</a:t>
            </a:r>
            <a:endParaRPr/>
          </a:p>
        </p:txBody>
      </p:sp>
      <p:sp>
        <p:nvSpPr>
          <p:cNvPr id="2396" name="Google Shape;2396;p38"/>
          <p:cNvSpPr txBox="1"/>
          <p:nvPr/>
        </p:nvSpPr>
        <p:spPr>
          <a:xfrm>
            <a:off x="6654018" y="1463040"/>
            <a:ext cx="4966481" cy="5009198"/>
          </a:xfrm>
          <a:prstGeom prst="rect">
            <a:avLst/>
          </a:prstGeom>
          <a:noFill/>
          <a:ln>
            <a:noFill/>
          </a:ln>
        </p:spPr>
        <p:txBody>
          <a:bodyPr anchorCtr="0" anchor="t" bIns="45700" lIns="91425" spcFirstLastPara="1" rIns="91425" wrap="square" tIns="45700">
            <a:normAutofit/>
          </a:bodyPr>
          <a:lstStyle/>
          <a:p>
            <a:pPr indent="-223838" lvl="0" marL="236538"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buffer management: </a:t>
            </a:r>
            <a:endParaRPr/>
          </a:p>
          <a:p>
            <a:pPr indent="-282575" lvl="0" marL="2952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drop: </a:t>
            </a:r>
            <a:r>
              <a:rPr b="0" i="0" lang="en-US" sz="2800" u="none" cap="none" strike="noStrike">
                <a:solidFill>
                  <a:srgbClr val="000000"/>
                </a:solidFill>
                <a:latin typeface="Calibri"/>
                <a:ea typeface="Calibri"/>
                <a:cs typeface="Calibri"/>
                <a:sym typeface="Calibri"/>
              </a:rPr>
              <a:t>which packet to add, drop when buffers are full</a:t>
            </a:r>
            <a:endParaRPr b="0" i="0" sz="3200" u="none" cap="none" strike="noStrike">
              <a:solidFill>
                <a:srgbClr val="000000"/>
              </a:solidFill>
              <a:latin typeface="Calibri"/>
              <a:ea typeface="Calibri"/>
              <a:cs typeface="Calibri"/>
              <a:sym typeface="Calibri"/>
            </a:endParaRPr>
          </a:p>
          <a:p>
            <a:pPr indent="-231775" lvl="1" marL="695325" marR="0" rtl="0" algn="l">
              <a:lnSpc>
                <a:spcPct val="8125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tail drop: </a:t>
            </a:r>
            <a:r>
              <a:rPr b="0" i="0" lang="en-US" sz="2800" u="none" cap="none" strike="noStrike">
                <a:solidFill>
                  <a:srgbClr val="000000"/>
                </a:solidFill>
                <a:latin typeface="Calibri"/>
                <a:ea typeface="Calibri"/>
                <a:cs typeface="Calibri"/>
                <a:sym typeface="Calibri"/>
              </a:rPr>
              <a:t>drop arriving packet</a:t>
            </a:r>
            <a:endParaRPr/>
          </a:p>
          <a:p>
            <a:pPr indent="-231775" lvl="1" marL="695325" marR="0" rtl="0" algn="l">
              <a:lnSpc>
                <a:spcPct val="8125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priority: </a:t>
            </a:r>
            <a:r>
              <a:rPr b="0" i="0" lang="en-US" sz="2800" u="none" cap="none" strike="noStrike">
                <a:solidFill>
                  <a:srgbClr val="000000"/>
                </a:solidFill>
                <a:latin typeface="Calibri"/>
                <a:ea typeface="Calibri"/>
                <a:cs typeface="Calibri"/>
                <a:sym typeface="Calibri"/>
              </a:rPr>
              <a:t>drop/remove on priority basis</a:t>
            </a:r>
            <a:endParaRPr/>
          </a:p>
        </p:txBody>
      </p:sp>
      <p:sp>
        <p:nvSpPr>
          <p:cNvPr id="2397" name="Google Shape;2397;p38"/>
          <p:cNvSpPr/>
          <p:nvPr/>
        </p:nvSpPr>
        <p:spPr>
          <a:xfrm>
            <a:off x="1367869" y="1895285"/>
            <a:ext cx="3509501" cy="1819532"/>
          </a:xfrm>
          <a:prstGeom prst="rect">
            <a:avLst/>
          </a:prstGeom>
          <a:solidFill>
            <a:srgbClr val="FFFFF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398" name="Google Shape;2398;p38"/>
          <p:cNvSpPr/>
          <p:nvPr/>
        </p:nvSpPr>
        <p:spPr>
          <a:xfrm>
            <a:off x="3816974" y="2504234"/>
            <a:ext cx="974671" cy="621068"/>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line</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termination</a:t>
            </a:r>
            <a:endParaRPr b="0" i="0" sz="1600" u="none" cap="none" strike="noStrike">
              <a:solidFill>
                <a:srgbClr val="000000"/>
              </a:solidFill>
              <a:latin typeface="Tahoma"/>
              <a:ea typeface="Tahoma"/>
              <a:cs typeface="Tahoma"/>
              <a:sym typeface="Tahoma"/>
            </a:endParaRPr>
          </a:p>
        </p:txBody>
      </p:sp>
      <p:sp>
        <p:nvSpPr>
          <p:cNvPr id="2399" name="Google Shape;2399;p38"/>
          <p:cNvSpPr/>
          <p:nvPr/>
        </p:nvSpPr>
        <p:spPr>
          <a:xfrm>
            <a:off x="2719466" y="2266379"/>
            <a:ext cx="965806" cy="1100138"/>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400" name="Google Shape;2400;p38"/>
          <p:cNvCxnSpPr/>
          <p:nvPr/>
        </p:nvCxnSpPr>
        <p:spPr>
          <a:xfrm>
            <a:off x="2570471" y="2839629"/>
            <a:ext cx="159637" cy="1488"/>
          </a:xfrm>
          <a:prstGeom prst="straightConnector1">
            <a:avLst/>
          </a:prstGeom>
          <a:noFill/>
          <a:ln cap="flat" cmpd="sng" w="28575">
            <a:solidFill>
              <a:srgbClr val="000000"/>
            </a:solidFill>
            <a:prstDash val="solid"/>
            <a:round/>
            <a:headEnd len="med" w="med" type="none"/>
            <a:tailEnd len="med" w="med" type="triangle"/>
          </a:ln>
        </p:spPr>
      </p:cxnSp>
      <p:cxnSp>
        <p:nvCxnSpPr>
          <p:cNvPr id="2401" name="Google Shape;2401;p38"/>
          <p:cNvCxnSpPr/>
          <p:nvPr/>
        </p:nvCxnSpPr>
        <p:spPr>
          <a:xfrm>
            <a:off x="3687933" y="2834779"/>
            <a:ext cx="159637" cy="1487"/>
          </a:xfrm>
          <a:prstGeom prst="straightConnector1">
            <a:avLst/>
          </a:prstGeom>
          <a:noFill/>
          <a:ln cap="flat" cmpd="sng" w="28575">
            <a:solidFill>
              <a:srgbClr val="000000"/>
            </a:solidFill>
            <a:prstDash val="solid"/>
            <a:round/>
            <a:headEnd len="med" w="med" type="none"/>
            <a:tailEnd len="med" w="med" type="triangle"/>
          </a:ln>
        </p:spPr>
      </p:cxnSp>
      <p:sp>
        <p:nvSpPr>
          <p:cNvPr id="2402" name="Google Shape;2402;p38"/>
          <p:cNvSpPr/>
          <p:nvPr/>
        </p:nvSpPr>
        <p:spPr>
          <a:xfrm>
            <a:off x="2747403" y="2416579"/>
            <a:ext cx="884657" cy="776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link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layer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protocol</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(send)</a:t>
            </a:r>
            <a:endParaRPr/>
          </a:p>
        </p:txBody>
      </p:sp>
      <p:sp>
        <p:nvSpPr>
          <p:cNvPr id="2403" name="Google Shape;2403;p38"/>
          <p:cNvSpPr/>
          <p:nvPr/>
        </p:nvSpPr>
        <p:spPr>
          <a:xfrm>
            <a:off x="332969" y="2208898"/>
            <a:ext cx="884658" cy="776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switch</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fabric</a:t>
            </a:r>
            <a:endParaRPr/>
          </a:p>
        </p:txBody>
      </p:sp>
      <p:grpSp>
        <p:nvGrpSpPr>
          <p:cNvPr id="2404" name="Google Shape;2404;p38"/>
          <p:cNvGrpSpPr/>
          <p:nvPr/>
        </p:nvGrpSpPr>
        <p:grpSpPr>
          <a:xfrm>
            <a:off x="1431729" y="2004504"/>
            <a:ext cx="1187971" cy="1614085"/>
            <a:chOff x="3132" y="858"/>
            <a:chExt cx="893" cy="1085"/>
          </a:xfrm>
        </p:grpSpPr>
        <p:sp>
          <p:nvSpPr>
            <p:cNvPr id="2405" name="Google Shape;2405;p38"/>
            <p:cNvSpPr/>
            <p:nvPr/>
          </p:nvSpPr>
          <p:spPr>
            <a:xfrm>
              <a:off x="3180" y="858"/>
              <a:ext cx="786" cy="1085"/>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2406" name="Google Shape;2406;p38"/>
            <p:cNvSpPr txBox="1"/>
            <p:nvPr/>
          </p:nvSpPr>
          <p:spPr>
            <a:xfrm>
              <a:off x="3132" y="883"/>
              <a:ext cx="893" cy="10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datagram</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queueing </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scheduling</a:t>
              </a:r>
              <a:endParaRPr/>
            </a:p>
          </p:txBody>
        </p:sp>
        <p:grpSp>
          <p:nvGrpSpPr>
            <p:cNvPr id="2407" name="Google Shape;2407;p38"/>
            <p:cNvGrpSpPr/>
            <p:nvPr/>
          </p:nvGrpSpPr>
          <p:grpSpPr>
            <a:xfrm>
              <a:off x="3260" y="1299"/>
              <a:ext cx="626" cy="295"/>
              <a:chOff x="310" y="3526"/>
              <a:chExt cx="1040" cy="457"/>
            </a:xfrm>
          </p:grpSpPr>
          <p:sp>
            <p:nvSpPr>
              <p:cNvPr id="2408" name="Google Shape;2408;p38"/>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2409" name="Google Shape;2409;p38"/>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0" name="Google Shape;2410;p38"/>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2411" name="Google Shape;2411;p38"/>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2" name="Google Shape;2412;p38"/>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3" name="Google Shape;2413;p38"/>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4" name="Google Shape;2414;p38"/>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5" name="Google Shape;2415;p38"/>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2416" name="Google Shape;2416;p38"/>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cxnSp>
        <p:nvCxnSpPr>
          <p:cNvPr id="2417" name="Google Shape;2417;p38"/>
          <p:cNvCxnSpPr/>
          <p:nvPr/>
        </p:nvCxnSpPr>
        <p:spPr>
          <a:xfrm>
            <a:off x="1105881" y="1811700"/>
            <a:ext cx="9312" cy="2057400"/>
          </a:xfrm>
          <a:prstGeom prst="straightConnector1">
            <a:avLst/>
          </a:prstGeom>
          <a:noFill/>
          <a:ln cap="flat" cmpd="sng" w="28575">
            <a:solidFill>
              <a:srgbClr val="000000"/>
            </a:solidFill>
            <a:prstDash val="solid"/>
            <a:round/>
            <a:headEnd len="med" w="med" type="none"/>
            <a:tailEnd len="med" w="med" type="none"/>
          </a:ln>
        </p:spPr>
      </p:cxnSp>
      <p:cxnSp>
        <p:nvCxnSpPr>
          <p:cNvPr id="2418" name="Google Shape;2418;p38"/>
          <p:cNvCxnSpPr/>
          <p:nvPr/>
        </p:nvCxnSpPr>
        <p:spPr>
          <a:xfrm>
            <a:off x="1099229" y="2826268"/>
            <a:ext cx="415247" cy="0"/>
          </a:xfrm>
          <a:prstGeom prst="straightConnector1">
            <a:avLst/>
          </a:prstGeom>
          <a:noFill/>
          <a:ln cap="flat" cmpd="sng" w="28575">
            <a:solidFill>
              <a:srgbClr val="000000"/>
            </a:solidFill>
            <a:prstDash val="solid"/>
            <a:round/>
            <a:headEnd len="med" w="med" type="none"/>
            <a:tailEnd len="med" w="med" type="triangle"/>
          </a:ln>
        </p:spPr>
      </p:cxnSp>
      <p:cxnSp>
        <p:nvCxnSpPr>
          <p:cNvPr id="2419" name="Google Shape;2419;p38"/>
          <p:cNvCxnSpPr/>
          <p:nvPr/>
        </p:nvCxnSpPr>
        <p:spPr>
          <a:xfrm>
            <a:off x="4802005" y="2800351"/>
            <a:ext cx="442913" cy="0"/>
          </a:xfrm>
          <a:prstGeom prst="straightConnector1">
            <a:avLst/>
          </a:prstGeom>
          <a:noFill/>
          <a:ln cap="flat" cmpd="sng" w="25400">
            <a:solidFill>
              <a:schemeClr val="dk1"/>
            </a:solidFill>
            <a:prstDash val="solid"/>
            <a:miter lim="800000"/>
            <a:headEnd len="sm" w="sm" type="none"/>
            <a:tailEnd len="med" w="med" type="triangle"/>
          </a:ln>
        </p:spPr>
      </p:cxnSp>
      <p:sp>
        <p:nvSpPr>
          <p:cNvPr id="2420" name="Google Shape;2420;p38"/>
          <p:cNvSpPr txBox="1"/>
          <p:nvPr/>
        </p:nvSpPr>
        <p:spPr>
          <a:xfrm>
            <a:off x="6549241" y="4457354"/>
            <a:ext cx="4966481" cy="1213485"/>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marking: </a:t>
            </a:r>
            <a:r>
              <a:rPr b="0" i="0" lang="en-US" sz="2800" u="none" cap="none" strike="noStrike">
                <a:solidFill>
                  <a:srgbClr val="000000"/>
                </a:solidFill>
                <a:latin typeface="Calibri"/>
                <a:ea typeface="Calibri"/>
                <a:cs typeface="Calibri"/>
                <a:sym typeface="Calibri"/>
              </a:rPr>
              <a:t>which packets to mark to signal congestion (ECN, RED)</a:t>
            </a:r>
            <a:endParaRPr/>
          </a:p>
          <a:p>
            <a:pPr indent="-390525" lvl="0" marL="4032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421" name="Google Shape;2421;p38"/>
          <p:cNvSpPr txBox="1"/>
          <p:nvPr/>
        </p:nvSpPr>
        <p:spPr>
          <a:xfrm>
            <a:off x="4854633" y="237744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nvGrpSpPr>
          <p:cNvPr id="2422" name="Google Shape;2422;p38"/>
          <p:cNvGrpSpPr/>
          <p:nvPr/>
        </p:nvGrpSpPr>
        <p:grpSpPr>
          <a:xfrm>
            <a:off x="913621" y="4556937"/>
            <a:ext cx="4335126" cy="1693461"/>
            <a:chOff x="614363" y="4257679"/>
            <a:chExt cx="4335126" cy="1693461"/>
          </a:xfrm>
        </p:grpSpPr>
        <p:grpSp>
          <p:nvGrpSpPr>
            <p:cNvPr id="2423" name="Google Shape;2423;p38"/>
            <p:cNvGrpSpPr/>
            <p:nvPr/>
          </p:nvGrpSpPr>
          <p:grpSpPr>
            <a:xfrm>
              <a:off x="614363" y="4257679"/>
              <a:ext cx="4335126" cy="1693461"/>
              <a:chOff x="614363" y="4257679"/>
              <a:chExt cx="4335126" cy="1693461"/>
            </a:xfrm>
          </p:grpSpPr>
          <p:grpSp>
            <p:nvGrpSpPr>
              <p:cNvPr id="2424" name="Google Shape;2424;p38"/>
              <p:cNvGrpSpPr/>
              <p:nvPr/>
            </p:nvGrpSpPr>
            <p:grpSpPr>
              <a:xfrm>
                <a:off x="1468086" y="4855765"/>
                <a:ext cx="939800" cy="565150"/>
                <a:chOff x="1670312" y="2562997"/>
                <a:chExt cx="940317" cy="565219"/>
              </a:xfrm>
            </p:grpSpPr>
            <p:grpSp>
              <p:nvGrpSpPr>
                <p:cNvPr id="2425" name="Google Shape;2425;p38"/>
                <p:cNvGrpSpPr/>
                <p:nvPr/>
              </p:nvGrpSpPr>
              <p:grpSpPr>
                <a:xfrm>
                  <a:off x="1670312" y="2562997"/>
                  <a:ext cx="929822" cy="565219"/>
                  <a:chOff x="1670312" y="2562997"/>
                  <a:chExt cx="929822" cy="565219"/>
                </a:xfrm>
              </p:grpSpPr>
              <p:sp>
                <p:nvSpPr>
                  <p:cNvPr id="2426" name="Google Shape;2426;p38"/>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27" name="Google Shape;2427;p38"/>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28" name="Google Shape;2428;p38"/>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29" name="Google Shape;2429;p38"/>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0" name="Google Shape;2430;p38"/>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1" name="Google Shape;2431;p38"/>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2" name="Google Shape;2432;p38"/>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33" name="Google Shape;2433;p38"/>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434" name="Google Shape;2434;p38"/>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35" name="Google Shape;2435;p38"/>
              <p:cNvSpPr/>
              <p:nvPr/>
            </p:nvSpPr>
            <p:spPr>
              <a:xfrm>
                <a:off x="2851137" y="4827190"/>
                <a:ext cx="631825" cy="628650"/>
              </a:xfrm>
              <a:prstGeom prst="ellipse">
                <a:avLst/>
              </a:prstGeom>
              <a:solidFill>
                <a:srgbClr val="FFFFFF"/>
              </a:solidFill>
              <a:ln cap="flat" cmpd="sng" w="28575">
                <a:solidFill>
                  <a:srgbClr val="3333CC"/>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36" name="Google Shape;2436;p38"/>
              <p:cNvCxnSpPr/>
              <p:nvPr/>
            </p:nvCxnSpPr>
            <p:spPr>
              <a:xfrm>
                <a:off x="785813" y="5138340"/>
                <a:ext cx="628651" cy="0"/>
              </a:xfrm>
              <a:prstGeom prst="straightConnector1">
                <a:avLst/>
              </a:prstGeom>
              <a:noFill/>
              <a:ln cap="flat" cmpd="sng" w="25400">
                <a:solidFill>
                  <a:srgbClr val="000099"/>
                </a:solidFill>
                <a:prstDash val="solid"/>
                <a:round/>
                <a:headEnd len="med" w="med" type="none"/>
                <a:tailEnd len="med" w="med" type="triangle"/>
              </a:ln>
            </p:spPr>
          </p:cxnSp>
          <p:sp>
            <p:nvSpPr>
              <p:cNvPr id="2437" name="Google Shape;2437;p38"/>
              <p:cNvSpPr txBox="1"/>
              <p:nvPr/>
            </p:nvSpPr>
            <p:spPr>
              <a:xfrm>
                <a:off x="1282351" y="5422502"/>
                <a:ext cx="127317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queue</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(waiting area)</a:t>
                </a:r>
                <a:endParaRPr/>
              </a:p>
            </p:txBody>
          </p:sp>
          <p:sp>
            <p:nvSpPr>
              <p:cNvPr id="2438" name="Google Shape;2438;p38"/>
              <p:cNvSpPr txBox="1"/>
              <p:nvPr/>
            </p:nvSpPr>
            <p:spPr>
              <a:xfrm>
                <a:off x="641008" y="5182790"/>
                <a:ext cx="763588"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cxnSp>
            <p:nvCxnSpPr>
              <p:cNvPr id="2439" name="Google Shape;2439;p38"/>
              <p:cNvCxnSpPr>
                <a:stCxn id="2435" idx="6"/>
              </p:cNvCxnSpPr>
              <p:nvPr/>
            </p:nvCxnSpPr>
            <p:spPr>
              <a:xfrm>
                <a:off x="3482962" y="5141515"/>
                <a:ext cx="560400" cy="0"/>
              </a:xfrm>
              <a:prstGeom prst="straightConnector1">
                <a:avLst/>
              </a:prstGeom>
              <a:noFill/>
              <a:ln cap="flat" cmpd="sng" w="25400">
                <a:solidFill>
                  <a:srgbClr val="186600"/>
                </a:solidFill>
                <a:prstDash val="solid"/>
                <a:round/>
                <a:headEnd len="med" w="med" type="none"/>
                <a:tailEnd len="med" w="med" type="triangle"/>
              </a:ln>
            </p:spPr>
          </p:cxnSp>
          <p:sp>
            <p:nvSpPr>
              <p:cNvPr id="2440" name="Google Shape;2440;p38"/>
              <p:cNvSpPr txBox="1"/>
              <p:nvPr/>
            </p:nvSpPr>
            <p:spPr>
              <a:xfrm>
                <a:off x="3906501" y="4931965"/>
                <a:ext cx="1042988" cy="522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441" name="Google Shape;2441;p38"/>
              <p:cNvSpPr txBox="1"/>
              <p:nvPr/>
            </p:nvSpPr>
            <p:spPr>
              <a:xfrm>
                <a:off x="2715794" y="5427265"/>
                <a:ext cx="852488"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(server)</a:t>
                </a:r>
                <a:endParaRPr/>
              </a:p>
            </p:txBody>
          </p:sp>
          <p:cxnSp>
            <p:nvCxnSpPr>
              <p:cNvPr id="2442" name="Google Shape;2442;p38"/>
              <p:cNvCxnSpPr>
                <a:stCxn id="2434" idx="3"/>
                <a:endCxn id="2435" idx="2"/>
              </p:cNvCxnSpPr>
              <p:nvPr/>
            </p:nvCxnSpPr>
            <p:spPr>
              <a:xfrm>
                <a:off x="2407886" y="5140275"/>
                <a:ext cx="443400" cy="1200"/>
              </a:xfrm>
              <a:prstGeom prst="straightConnector1">
                <a:avLst/>
              </a:prstGeom>
              <a:noFill/>
              <a:ln cap="flat" cmpd="sng" w="25400">
                <a:solidFill>
                  <a:schemeClr val="dk1"/>
                </a:solidFill>
                <a:prstDash val="solid"/>
                <a:round/>
                <a:headEnd len="med" w="med" type="none"/>
                <a:tailEnd len="med" w="med" type="none"/>
              </a:ln>
            </p:spPr>
          </p:cxnSp>
          <p:sp>
            <p:nvSpPr>
              <p:cNvPr id="2443" name="Google Shape;2443;p38"/>
              <p:cNvSpPr txBox="1"/>
              <p:nvPr/>
            </p:nvSpPr>
            <p:spPr>
              <a:xfrm>
                <a:off x="614363" y="4257679"/>
                <a:ext cx="28036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Abstraction</a:t>
                </a:r>
                <a:r>
                  <a:rPr b="0" i="0" lang="en-US" sz="2400" u="none" cap="none" strike="noStrike">
                    <a:solidFill>
                      <a:srgbClr val="000000"/>
                    </a:solidFill>
                    <a:latin typeface="Calibri"/>
                    <a:ea typeface="Calibri"/>
                    <a:cs typeface="Calibri"/>
                    <a:sym typeface="Calibri"/>
                  </a:rPr>
                  <a:t>: queue</a:t>
                </a:r>
                <a:endParaRPr/>
              </a:p>
            </p:txBody>
          </p:sp>
        </p:grpSp>
        <p:sp>
          <p:nvSpPr>
            <p:cNvPr id="2444" name="Google Shape;2444;p38"/>
            <p:cNvSpPr txBox="1"/>
            <p:nvPr/>
          </p:nvSpPr>
          <p:spPr>
            <a:xfrm>
              <a:off x="2978728" y="490728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445" name="Google Shape;2445;p3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2"/>
                                        </p:tgtEl>
                                        <p:attrNameLst>
                                          <p:attrName>style.visibility</p:attrName>
                                        </p:attrNameLst>
                                      </p:cBhvr>
                                      <p:to>
                                        <p:strVal val="visible"/>
                                      </p:to>
                                    </p:set>
                                    <p:animEffect filter="fade" transition="in">
                                      <p:cBhvr>
                                        <p:cTn dur="500"/>
                                        <p:tgtEl>
                                          <p:spTgt spid="2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6"/>
                                        </p:tgtEl>
                                        <p:attrNameLst>
                                          <p:attrName>style.visibility</p:attrName>
                                        </p:attrNameLst>
                                      </p:cBhvr>
                                      <p:to>
                                        <p:strVal val="visible"/>
                                      </p:to>
                                    </p:set>
                                    <p:animEffect filter="fade" transition="in">
                                      <p:cBhvr>
                                        <p:cTn dur="500"/>
                                        <p:tgtEl>
                                          <p:spTgt spid="2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gtEl>
                                        <p:attrNameLst>
                                          <p:attrName>style.visibility</p:attrName>
                                        </p:attrNameLst>
                                      </p:cBhvr>
                                      <p:to>
                                        <p:strVal val="visible"/>
                                      </p:to>
                                    </p:set>
                                    <p:animEffect filter="fade" transition="in">
                                      <p:cBhvr>
                                        <p:cTn dur="500"/>
                                        <p:tgtEl>
                                          <p:spTgt spid="2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0" name="Shape 2450"/>
        <p:cNvGrpSpPr/>
        <p:nvPr/>
      </p:nvGrpSpPr>
      <p:grpSpPr>
        <a:xfrm>
          <a:off x="0" y="0"/>
          <a:ext cx="0" cy="0"/>
          <a:chOff x="0" y="0"/>
          <a:chExt cx="0" cy="0"/>
        </a:xfrm>
      </p:grpSpPr>
      <p:sp>
        <p:nvSpPr>
          <p:cNvPr id="2451" name="Google Shape;2451;p39"/>
          <p:cNvSpPr txBox="1"/>
          <p:nvPr>
            <p:ph idx="1" type="body"/>
          </p:nvPr>
        </p:nvSpPr>
        <p:spPr>
          <a:xfrm>
            <a:off x="767861" y="1498943"/>
            <a:ext cx="5084299" cy="3776441"/>
          </a:xfrm>
          <a:prstGeom prst="rect">
            <a:avLst/>
          </a:prstGeom>
          <a:noFill/>
          <a:ln>
            <a:noFill/>
          </a:ln>
        </p:spPr>
        <p:txBody>
          <a:bodyPr anchorCtr="0" anchor="t" bIns="45700" lIns="91425" spcFirstLastPara="1" rIns="91425" wrap="square" tIns="45700">
            <a:normAutofit/>
          </a:bodyPr>
          <a:lstStyle/>
          <a:p>
            <a:pPr indent="0" lvl="0" marL="130175" rtl="0" algn="l">
              <a:lnSpc>
                <a:spcPct val="90000"/>
              </a:lnSpc>
              <a:spcBef>
                <a:spcPts val="0"/>
              </a:spcBef>
              <a:spcAft>
                <a:spcPts val="0"/>
              </a:spcAft>
              <a:buSzPts val="3200"/>
              <a:buNone/>
            </a:pPr>
            <a:r>
              <a:rPr lang="en-US" sz="3200">
                <a:solidFill>
                  <a:srgbClr val="C00000"/>
                </a:solidFill>
              </a:rPr>
              <a:t>packet scheduling: </a:t>
            </a:r>
            <a:r>
              <a:rPr lang="en-US"/>
              <a:t>deciding which packet to send next on link</a:t>
            </a:r>
            <a:endParaRPr/>
          </a:p>
          <a:p>
            <a:pPr indent="-231775" lvl="1" marL="695325" rtl="0" algn="l">
              <a:lnSpc>
                <a:spcPct val="90000"/>
              </a:lnSpc>
              <a:spcBef>
                <a:spcPts val="0"/>
              </a:spcBef>
              <a:spcAft>
                <a:spcPts val="0"/>
              </a:spcAft>
              <a:buSzPts val="2800"/>
              <a:buChar char="•"/>
            </a:pPr>
            <a:r>
              <a:rPr lang="en-US" sz="2800"/>
              <a:t>first come, first served</a:t>
            </a:r>
            <a:endParaRPr/>
          </a:p>
          <a:p>
            <a:pPr indent="-231775" lvl="1" marL="695325" rtl="0" algn="l">
              <a:lnSpc>
                <a:spcPct val="90000"/>
              </a:lnSpc>
              <a:spcBef>
                <a:spcPts val="0"/>
              </a:spcBef>
              <a:spcAft>
                <a:spcPts val="0"/>
              </a:spcAft>
              <a:buSzPts val="2800"/>
              <a:buChar char="•"/>
            </a:pPr>
            <a:r>
              <a:rPr lang="en-US" sz="2800"/>
              <a:t>priority</a:t>
            </a:r>
            <a:endParaRPr/>
          </a:p>
          <a:p>
            <a:pPr indent="-231775" lvl="1" marL="695325" rtl="0" algn="l">
              <a:lnSpc>
                <a:spcPct val="90000"/>
              </a:lnSpc>
              <a:spcBef>
                <a:spcPts val="0"/>
              </a:spcBef>
              <a:spcAft>
                <a:spcPts val="0"/>
              </a:spcAft>
              <a:buSzPts val="2800"/>
              <a:buChar char="•"/>
            </a:pPr>
            <a:r>
              <a:rPr lang="en-US" sz="2800"/>
              <a:t>round robin</a:t>
            </a:r>
            <a:endParaRPr/>
          </a:p>
          <a:p>
            <a:pPr indent="-231775" lvl="1" marL="695325" rtl="0" algn="l">
              <a:lnSpc>
                <a:spcPct val="90000"/>
              </a:lnSpc>
              <a:spcBef>
                <a:spcPts val="0"/>
              </a:spcBef>
              <a:spcAft>
                <a:spcPts val="0"/>
              </a:spcAft>
              <a:buSzPts val="2800"/>
              <a:buChar char="•"/>
            </a:pPr>
            <a:r>
              <a:rPr lang="en-US" sz="2800"/>
              <a:t>weighted fair queueing</a:t>
            </a:r>
            <a:endParaRPr/>
          </a:p>
        </p:txBody>
      </p:sp>
      <p:sp>
        <p:nvSpPr>
          <p:cNvPr id="2452" name="Google Shape;2452;p3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Scheduling: FCFS</a:t>
            </a:r>
            <a:endParaRPr/>
          </a:p>
        </p:txBody>
      </p:sp>
      <p:sp>
        <p:nvSpPr>
          <p:cNvPr id="2453" name="Google Shape;2453;p39"/>
          <p:cNvSpPr txBox="1"/>
          <p:nvPr/>
        </p:nvSpPr>
        <p:spPr>
          <a:xfrm>
            <a:off x="6682593" y="1534478"/>
            <a:ext cx="4966481" cy="3278293"/>
          </a:xfrm>
          <a:prstGeom prst="rect">
            <a:avLst/>
          </a:prstGeom>
          <a:noFill/>
          <a:ln>
            <a:noFill/>
          </a:ln>
        </p:spPr>
        <p:txBody>
          <a:bodyPr anchorCtr="0" anchor="t" bIns="45700" lIns="91425" spcFirstLastPara="1" rIns="91425" wrap="square" tIns="45700">
            <a:normAutofit/>
          </a:bodyPr>
          <a:lstStyle/>
          <a:p>
            <a:pPr indent="-223838" lvl="0" marL="236538"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FCFS: </a:t>
            </a:r>
            <a:r>
              <a:rPr b="0" i="0" lang="en-US" sz="3200" u="none" cap="none" strike="noStrike">
                <a:solidFill>
                  <a:srgbClr val="000000"/>
                </a:solidFill>
                <a:latin typeface="Calibri"/>
                <a:ea typeface="Calibri"/>
                <a:cs typeface="Calibri"/>
                <a:sym typeface="Calibri"/>
              </a:rPr>
              <a:t>packets transmitted in order of arrival to output port</a:t>
            </a:r>
            <a:endParaRPr/>
          </a:p>
          <a:p>
            <a:pPr indent="-254000" lvl="0" marL="520700" marR="0" rtl="0" algn="l">
              <a:lnSpc>
                <a:spcPct val="10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also known as: First-in-first-out (FIFO) </a:t>
            </a:r>
            <a:endParaRPr/>
          </a:p>
          <a:p>
            <a:pPr indent="-254000" lvl="0" marL="520700" marR="0" rtl="0" algn="l">
              <a:lnSpc>
                <a:spcPct val="10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real world examples?</a:t>
            </a:r>
            <a:endParaRPr/>
          </a:p>
          <a:p>
            <a:pPr indent="-390525" lvl="0" marL="4032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grpSp>
        <p:nvGrpSpPr>
          <p:cNvPr id="2454" name="Google Shape;2454;p39"/>
          <p:cNvGrpSpPr/>
          <p:nvPr/>
        </p:nvGrpSpPr>
        <p:grpSpPr>
          <a:xfrm>
            <a:off x="913621" y="4556937"/>
            <a:ext cx="4335126" cy="1693461"/>
            <a:chOff x="614363" y="4257679"/>
            <a:chExt cx="4335126" cy="1693461"/>
          </a:xfrm>
        </p:grpSpPr>
        <p:grpSp>
          <p:nvGrpSpPr>
            <p:cNvPr id="2455" name="Google Shape;2455;p39"/>
            <p:cNvGrpSpPr/>
            <p:nvPr/>
          </p:nvGrpSpPr>
          <p:grpSpPr>
            <a:xfrm>
              <a:off x="614363" y="4257679"/>
              <a:ext cx="4335126" cy="1693461"/>
              <a:chOff x="614363" y="4257679"/>
              <a:chExt cx="4335126" cy="1693461"/>
            </a:xfrm>
          </p:grpSpPr>
          <p:grpSp>
            <p:nvGrpSpPr>
              <p:cNvPr id="2456" name="Google Shape;2456;p39"/>
              <p:cNvGrpSpPr/>
              <p:nvPr/>
            </p:nvGrpSpPr>
            <p:grpSpPr>
              <a:xfrm>
                <a:off x="1468086" y="4855765"/>
                <a:ext cx="939800" cy="565150"/>
                <a:chOff x="1670312" y="2562997"/>
                <a:chExt cx="940317" cy="565219"/>
              </a:xfrm>
            </p:grpSpPr>
            <p:grpSp>
              <p:nvGrpSpPr>
                <p:cNvPr id="2457" name="Google Shape;2457;p39"/>
                <p:cNvGrpSpPr/>
                <p:nvPr/>
              </p:nvGrpSpPr>
              <p:grpSpPr>
                <a:xfrm>
                  <a:off x="1670312" y="2562997"/>
                  <a:ext cx="929822" cy="565219"/>
                  <a:chOff x="1670312" y="2562997"/>
                  <a:chExt cx="929822" cy="565219"/>
                </a:xfrm>
              </p:grpSpPr>
              <p:sp>
                <p:nvSpPr>
                  <p:cNvPr id="2458" name="Google Shape;2458;p39"/>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59" name="Google Shape;2459;p39"/>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0" name="Google Shape;2460;p39"/>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1" name="Google Shape;2461;p39"/>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2" name="Google Shape;2462;p39"/>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3" name="Google Shape;2463;p39"/>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4" name="Google Shape;2464;p39"/>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465" name="Google Shape;2465;p39"/>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466" name="Google Shape;2466;p39"/>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67" name="Google Shape;2467;p39"/>
              <p:cNvSpPr/>
              <p:nvPr/>
            </p:nvSpPr>
            <p:spPr>
              <a:xfrm>
                <a:off x="2851137" y="4827190"/>
                <a:ext cx="631825" cy="628650"/>
              </a:xfrm>
              <a:prstGeom prst="ellipse">
                <a:avLst/>
              </a:prstGeom>
              <a:solidFill>
                <a:srgbClr val="FFFFFF"/>
              </a:solidFill>
              <a:ln cap="flat" cmpd="sng" w="28575">
                <a:solidFill>
                  <a:srgbClr val="3333CC"/>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68" name="Google Shape;2468;p39"/>
              <p:cNvCxnSpPr/>
              <p:nvPr/>
            </p:nvCxnSpPr>
            <p:spPr>
              <a:xfrm>
                <a:off x="785813" y="5138340"/>
                <a:ext cx="628651" cy="0"/>
              </a:xfrm>
              <a:prstGeom prst="straightConnector1">
                <a:avLst/>
              </a:prstGeom>
              <a:noFill/>
              <a:ln cap="flat" cmpd="sng" w="25400">
                <a:solidFill>
                  <a:srgbClr val="000099"/>
                </a:solidFill>
                <a:prstDash val="solid"/>
                <a:round/>
                <a:headEnd len="med" w="med" type="none"/>
                <a:tailEnd len="med" w="med" type="triangle"/>
              </a:ln>
            </p:spPr>
          </p:cxnSp>
          <p:sp>
            <p:nvSpPr>
              <p:cNvPr id="2469" name="Google Shape;2469;p39"/>
              <p:cNvSpPr txBox="1"/>
              <p:nvPr/>
            </p:nvSpPr>
            <p:spPr>
              <a:xfrm>
                <a:off x="1282351" y="5422502"/>
                <a:ext cx="127317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queue</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(waiting area)</a:t>
                </a:r>
                <a:endParaRPr/>
              </a:p>
            </p:txBody>
          </p:sp>
          <p:sp>
            <p:nvSpPr>
              <p:cNvPr id="2470" name="Google Shape;2470;p39"/>
              <p:cNvSpPr txBox="1"/>
              <p:nvPr/>
            </p:nvSpPr>
            <p:spPr>
              <a:xfrm>
                <a:off x="641008" y="5182790"/>
                <a:ext cx="763588"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cxnSp>
            <p:nvCxnSpPr>
              <p:cNvPr id="2471" name="Google Shape;2471;p39"/>
              <p:cNvCxnSpPr>
                <a:stCxn id="2467" idx="6"/>
              </p:cNvCxnSpPr>
              <p:nvPr/>
            </p:nvCxnSpPr>
            <p:spPr>
              <a:xfrm>
                <a:off x="3482962" y="5141515"/>
                <a:ext cx="560400" cy="0"/>
              </a:xfrm>
              <a:prstGeom prst="straightConnector1">
                <a:avLst/>
              </a:prstGeom>
              <a:noFill/>
              <a:ln cap="flat" cmpd="sng" w="25400">
                <a:solidFill>
                  <a:srgbClr val="186600"/>
                </a:solidFill>
                <a:prstDash val="solid"/>
                <a:round/>
                <a:headEnd len="med" w="med" type="none"/>
                <a:tailEnd len="med" w="med" type="triangle"/>
              </a:ln>
            </p:spPr>
          </p:cxnSp>
          <p:sp>
            <p:nvSpPr>
              <p:cNvPr id="2472" name="Google Shape;2472;p39"/>
              <p:cNvSpPr txBox="1"/>
              <p:nvPr/>
            </p:nvSpPr>
            <p:spPr>
              <a:xfrm>
                <a:off x="3906501" y="4931965"/>
                <a:ext cx="1042988" cy="522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473" name="Google Shape;2473;p39"/>
              <p:cNvSpPr txBox="1"/>
              <p:nvPr/>
            </p:nvSpPr>
            <p:spPr>
              <a:xfrm>
                <a:off x="2715794" y="5427265"/>
                <a:ext cx="852488"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(server)</a:t>
                </a:r>
                <a:endParaRPr/>
              </a:p>
            </p:txBody>
          </p:sp>
          <p:cxnSp>
            <p:nvCxnSpPr>
              <p:cNvPr id="2474" name="Google Shape;2474;p39"/>
              <p:cNvCxnSpPr>
                <a:stCxn id="2466" idx="3"/>
                <a:endCxn id="2467" idx="2"/>
              </p:cNvCxnSpPr>
              <p:nvPr/>
            </p:nvCxnSpPr>
            <p:spPr>
              <a:xfrm>
                <a:off x="2407886" y="5140275"/>
                <a:ext cx="443400" cy="1200"/>
              </a:xfrm>
              <a:prstGeom prst="straightConnector1">
                <a:avLst/>
              </a:prstGeom>
              <a:noFill/>
              <a:ln cap="flat" cmpd="sng" w="25400">
                <a:solidFill>
                  <a:schemeClr val="dk1"/>
                </a:solidFill>
                <a:prstDash val="solid"/>
                <a:round/>
                <a:headEnd len="med" w="med" type="none"/>
                <a:tailEnd len="med" w="med" type="none"/>
              </a:ln>
            </p:spPr>
          </p:cxnSp>
          <p:sp>
            <p:nvSpPr>
              <p:cNvPr id="2475" name="Google Shape;2475;p39"/>
              <p:cNvSpPr txBox="1"/>
              <p:nvPr/>
            </p:nvSpPr>
            <p:spPr>
              <a:xfrm>
                <a:off x="614363" y="4257679"/>
                <a:ext cx="28036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Abstraction</a:t>
                </a:r>
                <a:r>
                  <a:rPr b="0" i="0" lang="en-US" sz="2400" u="none" cap="none" strike="noStrike">
                    <a:solidFill>
                      <a:srgbClr val="000000"/>
                    </a:solidFill>
                    <a:latin typeface="Calibri"/>
                    <a:ea typeface="Calibri"/>
                    <a:cs typeface="Calibri"/>
                    <a:sym typeface="Calibri"/>
                  </a:rPr>
                  <a:t>: queue</a:t>
                </a:r>
                <a:endParaRPr/>
              </a:p>
            </p:txBody>
          </p:sp>
        </p:grpSp>
        <p:sp>
          <p:nvSpPr>
            <p:cNvPr id="2476" name="Google Shape;2476;p39"/>
            <p:cNvSpPr txBox="1"/>
            <p:nvPr/>
          </p:nvSpPr>
          <p:spPr>
            <a:xfrm>
              <a:off x="2978728" y="490728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477" name="Google Shape;2477;p3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3"/>
                                        </p:tgtEl>
                                        <p:attrNameLst>
                                          <p:attrName>style.visibility</p:attrName>
                                        </p:attrNameLst>
                                      </p:cBhvr>
                                      <p:to>
                                        <p:strVal val="visible"/>
                                      </p:to>
                                    </p:set>
                                    <p:animEffect filter="fade" transition="in">
                                      <p:cBhvr>
                                        <p:cTn dur="500"/>
                                        <p:tgtEl>
                                          <p:spTgt spid="2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2" name="Shape 2482"/>
        <p:cNvGrpSpPr/>
        <p:nvPr/>
      </p:nvGrpSpPr>
      <p:grpSpPr>
        <a:xfrm>
          <a:off x="0" y="0"/>
          <a:ext cx="0" cy="0"/>
          <a:chOff x="0" y="0"/>
          <a:chExt cx="0" cy="0"/>
        </a:xfrm>
      </p:grpSpPr>
      <p:sp>
        <p:nvSpPr>
          <p:cNvPr id="2483" name="Google Shape;2483;p40"/>
          <p:cNvSpPr txBox="1"/>
          <p:nvPr>
            <p:ph idx="1" type="body"/>
          </p:nvPr>
        </p:nvSpPr>
        <p:spPr>
          <a:xfrm>
            <a:off x="767861" y="1498943"/>
            <a:ext cx="5084299" cy="268117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Priority scheduling: </a:t>
            </a:r>
            <a:endParaRPr/>
          </a:p>
          <a:p>
            <a:pPr indent="-277813" lvl="0" marL="515938" rtl="0" algn="l">
              <a:lnSpc>
                <a:spcPct val="90000"/>
              </a:lnSpc>
              <a:spcBef>
                <a:spcPts val="1000"/>
              </a:spcBef>
              <a:spcAft>
                <a:spcPts val="0"/>
              </a:spcAft>
              <a:buSzPts val="3200"/>
              <a:buChar char="▪"/>
            </a:pPr>
            <a:r>
              <a:rPr lang="en-US" sz="3200"/>
              <a:t>arriving traffic classified, queued by class</a:t>
            </a:r>
            <a:endParaRPr/>
          </a:p>
          <a:p>
            <a:pPr indent="-223837" lvl="1" marL="804863" rtl="0" algn="l">
              <a:lnSpc>
                <a:spcPct val="90000"/>
              </a:lnSpc>
              <a:spcBef>
                <a:spcPts val="500"/>
              </a:spcBef>
              <a:spcAft>
                <a:spcPts val="0"/>
              </a:spcAft>
              <a:buSzPts val="2800"/>
              <a:buChar char="•"/>
            </a:pPr>
            <a:r>
              <a:rPr lang="en-US" sz="2800"/>
              <a:t>any header fields can be used for classification</a:t>
            </a:r>
            <a:endParaRPr/>
          </a:p>
        </p:txBody>
      </p:sp>
      <p:sp>
        <p:nvSpPr>
          <p:cNvPr id="2484" name="Google Shape;2484;p4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priority</a:t>
            </a:r>
            <a:endParaRPr/>
          </a:p>
        </p:txBody>
      </p:sp>
      <p:grpSp>
        <p:nvGrpSpPr>
          <p:cNvPr id="2485" name="Google Shape;2485;p40"/>
          <p:cNvGrpSpPr/>
          <p:nvPr/>
        </p:nvGrpSpPr>
        <p:grpSpPr>
          <a:xfrm>
            <a:off x="8435655" y="2539998"/>
            <a:ext cx="932498" cy="580347"/>
            <a:chOff x="1670312" y="2557567"/>
            <a:chExt cx="932470" cy="580220"/>
          </a:xfrm>
        </p:grpSpPr>
        <p:sp>
          <p:nvSpPr>
            <p:cNvPr id="2486" name="Google Shape;2486;p40"/>
            <p:cNvSpPr/>
            <p:nvPr/>
          </p:nvSpPr>
          <p:spPr>
            <a:xfrm>
              <a:off x="2254738" y="2557567"/>
              <a:ext cx="348044" cy="580220"/>
            </a:xfrm>
            <a:prstGeom prst="rect">
              <a:avLst/>
            </a:prstGeom>
            <a:solidFill>
              <a:srgbClr val="00B0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2487" name="Google Shape;2487;p40"/>
            <p:cNvGrpSpPr/>
            <p:nvPr/>
          </p:nvGrpSpPr>
          <p:grpSpPr>
            <a:xfrm>
              <a:off x="1670312" y="2562997"/>
              <a:ext cx="929822" cy="565219"/>
              <a:chOff x="1670312" y="2562997"/>
              <a:chExt cx="929822" cy="565219"/>
            </a:xfrm>
          </p:grpSpPr>
          <p:sp>
            <p:nvSpPr>
              <p:cNvPr id="2488" name="Google Shape;2488;p40"/>
              <p:cNvSpPr/>
              <p:nvPr/>
            </p:nvSpPr>
            <p:spPr>
              <a:xfrm>
                <a:off x="1670312" y="2562997"/>
                <a:ext cx="929822" cy="563157"/>
              </a:xfrm>
              <a:prstGeom prst="rect">
                <a:avLst/>
              </a:prstGeom>
              <a:noFill/>
              <a:ln cap="flat" cmpd="sng" w="19050">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489" name="Google Shape;2489;p40"/>
              <p:cNvCxnSpPr/>
              <p:nvPr/>
            </p:nvCxnSpPr>
            <p:spPr>
              <a:xfrm flipH="1">
                <a:off x="1786358" y="256753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0" name="Google Shape;2490;p40"/>
              <p:cNvCxnSpPr/>
              <p:nvPr/>
            </p:nvCxnSpPr>
            <p:spPr>
              <a:xfrm flipH="1">
                <a:off x="1911544" y="2566974"/>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1" name="Google Shape;2491;p40"/>
              <p:cNvCxnSpPr/>
              <p:nvPr/>
            </p:nvCxnSpPr>
            <p:spPr>
              <a:xfrm flipH="1">
                <a:off x="2027659" y="257032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2" name="Google Shape;2492;p40"/>
              <p:cNvCxnSpPr/>
              <p:nvPr/>
            </p:nvCxnSpPr>
            <p:spPr>
              <a:xfrm flipH="1">
                <a:off x="2134843" y="2564600"/>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3" name="Google Shape;2493;p40"/>
              <p:cNvCxnSpPr/>
              <p:nvPr/>
            </p:nvCxnSpPr>
            <p:spPr>
              <a:xfrm flipH="1">
                <a:off x="2244397" y="256669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4" name="Google Shape;2494;p40"/>
              <p:cNvCxnSpPr/>
              <p:nvPr/>
            </p:nvCxnSpPr>
            <p:spPr>
              <a:xfrm flipH="1">
                <a:off x="2365675" y="2568786"/>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495" name="Google Shape;2495;p40"/>
              <p:cNvCxnSpPr/>
              <p:nvPr/>
            </p:nvCxnSpPr>
            <p:spPr>
              <a:xfrm flipH="1">
                <a:off x="2483045" y="2566971"/>
                <a:ext cx="4536" cy="557893"/>
              </a:xfrm>
              <a:prstGeom prst="straightConnector1">
                <a:avLst/>
              </a:prstGeom>
              <a:noFill/>
              <a:ln cap="flat" cmpd="sng" w="19050">
                <a:solidFill>
                  <a:srgbClr val="000000"/>
                </a:solidFill>
                <a:prstDash val="solid"/>
                <a:round/>
                <a:headEnd len="med" w="med" type="none"/>
                <a:tailEnd len="med" w="med" type="none"/>
              </a:ln>
            </p:spPr>
          </p:cxnSp>
        </p:grpSp>
      </p:grpSp>
      <p:grpSp>
        <p:nvGrpSpPr>
          <p:cNvPr id="2496" name="Google Shape;2496;p40"/>
          <p:cNvGrpSpPr/>
          <p:nvPr/>
        </p:nvGrpSpPr>
        <p:grpSpPr>
          <a:xfrm>
            <a:off x="8402535" y="1868555"/>
            <a:ext cx="940346" cy="566869"/>
            <a:chOff x="1670312" y="2561471"/>
            <a:chExt cx="940317" cy="566745"/>
          </a:xfrm>
        </p:grpSpPr>
        <p:sp>
          <p:nvSpPr>
            <p:cNvPr id="2497" name="Google Shape;2497;p40"/>
            <p:cNvSpPr/>
            <p:nvPr/>
          </p:nvSpPr>
          <p:spPr>
            <a:xfrm>
              <a:off x="1916862" y="2561471"/>
              <a:ext cx="693767" cy="561283"/>
            </a:xfrm>
            <a:prstGeom prst="rect">
              <a:avLst/>
            </a:prstGeom>
            <a:solidFill>
              <a:srgbClr val="FF0000">
                <a:alpha val="70588"/>
              </a:srgbClr>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498" name="Google Shape;2498;p40"/>
            <p:cNvGrpSpPr/>
            <p:nvPr/>
          </p:nvGrpSpPr>
          <p:grpSpPr>
            <a:xfrm>
              <a:off x="1670312" y="2562997"/>
              <a:ext cx="929822" cy="565219"/>
              <a:chOff x="1670312" y="2562997"/>
              <a:chExt cx="929822" cy="565219"/>
            </a:xfrm>
          </p:grpSpPr>
          <p:sp>
            <p:nvSpPr>
              <p:cNvPr id="2499" name="Google Shape;2499;p40"/>
              <p:cNvSpPr/>
              <p:nvPr/>
            </p:nvSpPr>
            <p:spPr>
              <a:xfrm>
                <a:off x="1670312" y="2562997"/>
                <a:ext cx="929822" cy="563157"/>
              </a:xfrm>
              <a:prstGeom prst="rect">
                <a:avLst/>
              </a:prstGeom>
              <a:no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500" name="Google Shape;2500;p40"/>
              <p:cNvCxnSpPr/>
              <p:nvPr/>
            </p:nvCxnSpPr>
            <p:spPr>
              <a:xfrm flipH="1">
                <a:off x="1786358" y="256753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1" name="Google Shape;2501;p40"/>
              <p:cNvCxnSpPr/>
              <p:nvPr/>
            </p:nvCxnSpPr>
            <p:spPr>
              <a:xfrm flipH="1">
                <a:off x="1911544" y="2566974"/>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2" name="Google Shape;2502;p40"/>
              <p:cNvCxnSpPr/>
              <p:nvPr/>
            </p:nvCxnSpPr>
            <p:spPr>
              <a:xfrm flipH="1">
                <a:off x="2027659" y="257032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3" name="Google Shape;2503;p40"/>
              <p:cNvCxnSpPr/>
              <p:nvPr/>
            </p:nvCxnSpPr>
            <p:spPr>
              <a:xfrm flipH="1">
                <a:off x="2134843" y="2564600"/>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4" name="Google Shape;2504;p40"/>
              <p:cNvCxnSpPr/>
              <p:nvPr/>
            </p:nvCxnSpPr>
            <p:spPr>
              <a:xfrm flipH="1">
                <a:off x="2244397" y="256669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5" name="Google Shape;2505;p40"/>
              <p:cNvCxnSpPr/>
              <p:nvPr/>
            </p:nvCxnSpPr>
            <p:spPr>
              <a:xfrm flipH="1">
                <a:off x="2365675" y="2568786"/>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2506" name="Google Shape;2506;p40"/>
              <p:cNvCxnSpPr/>
              <p:nvPr/>
            </p:nvCxnSpPr>
            <p:spPr>
              <a:xfrm flipH="1">
                <a:off x="2483045" y="2566971"/>
                <a:ext cx="4536" cy="557893"/>
              </a:xfrm>
              <a:prstGeom prst="straightConnector1">
                <a:avLst/>
              </a:prstGeom>
              <a:noFill/>
              <a:ln cap="flat" cmpd="sng" w="19050">
                <a:solidFill>
                  <a:srgbClr val="000000"/>
                </a:solidFill>
                <a:prstDash val="solid"/>
                <a:round/>
                <a:headEnd len="med" w="med" type="none"/>
                <a:tailEnd len="med" w="med" type="none"/>
              </a:ln>
            </p:spPr>
          </p:cxnSp>
        </p:grpSp>
      </p:grpSp>
      <p:sp>
        <p:nvSpPr>
          <p:cNvPr id="2507" name="Google Shape;2507;p40"/>
          <p:cNvSpPr/>
          <p:nvPr/>
        </p:nvSpPr>
        <p:spPr>
          <a:xfrm rot="5400000">
            <a:off x="7601944" y="2250962"/>
            <a:ext cx="575153" cy="430249"/>
          </a:xfrm>
          <a:prstGeom prst="triangle">
            <a:avLst>
              <a:gd fmla="val 50000" name="adj"/>
            </a:avLst>
          </a:prstGeom>
          <a:solidFill>
            <a:schemeClr val="lt1"/>
          </a:solidFill>
          <a:ln cap="flat" cmpd="sng" w="19050">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08" name="Google Shape;2508;p40"/>
          <p:cNvSpPr/>
          <p:nvPr/>
        </p:nvSpPr>
        <p:spPr>
          <a:xfrm>
            <a:off x="9472762" y="2171496"/>
            <a:ext cx="632958" cy="628951"/>
          </a:xfrm>
          <a:prstGeom prst="ellipse">
            <a:avLst/>
          </a:prstGeom>
          <a:solidFill>
            <a:schemeClr val="lt1"/>
          </a:solidFill>
          <a:ln cap="flat" cmpd="sng" w="19050">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509" name="Google Shape;2509;p40"/>
          <p:cNvCxnSpPr>
            <a:stCxn id="2507" idx="0"/>
            <a:endCxn id="2499" idx="1"/>
          </p:cNvCxnSpPr>
          <p:nvPr/>
        </p:nvCxnSpPr>
        <p:spPr>
          <a:xfrm flipH="1" rot="10800000">
            <a:off x="8104645" y="2151687"/>
            <a:ext cx="297900" cy="314400"/>
          </a:xfrm>
          <a:prstGeom prst="straightConnector1">
            <a:avLst/>
          </a:prstGeom>
          <a:noFill/>
          <a:ln cap="flat" cmpd="sng" w="19050">
            <a:solidFill>
              <a:srgbClr val="FF0000"/>
            </a:solidFill>
            <a:prstDash val="solid"/>
            <a:round/>
            <a:headEnd len="med" w="med" type="none"/>
            <a:tailEnd len="med" w="med" type="triangle"/>
          </a:ln>
        </p:spPr>
      </p:cxnSp>
      <p:cxnSp>
        <p:nvCxnSpPr>
          <p:cNvPr id="2510" name="Google Shape;2510;p40"/>
          <p:cNvCxnSpPr>
            <a:stCxn id="2507" idx="0"/>
            <a:endCxn id="2488" idx="1"/>
          </p:cNvCxnSpPr>
          <p:nvPr/>
        </p:nvCxnSpPr>
        <p:spPr>
          <a:xfrm>
            <a:off x="8104645" y="2466087"/>
            <a:ext cx="330900" cy="360900"/>
          </a:xfrm>
          <a:prstGeom prst="straightConnector1">
            <a:avLst/>
          </a:prstGeom>
          <a:noFill/>
          <a:ln cap="flat" cmpd="sng" w="19050">
            <a:solidFill>
              <a:srgbClr val="00B050"/>
            </a:solidFill>
            <a:prstDash val="solid"/>
            <a:round/>
            <a:headEnd len="med" w="med" type="none"/>
            <a:tailEnd len="med" w="med" type="triangle"/>
          </a:ln>
        </p:spPr>
      </p:cxnSp>
      <p:cxnSp>
        <p:nvCxnSpPr>
          <p:cNvPr id="2511" name="Google Shape;2511;p40"/>
          <p:cNvCxnSpPr>
            <a:endCxn id="2508" idx="1"/>
          </p:cNvCxnSpPr>
          <p:nvPr/>
        </p:nvCxnSpPr>
        <p:spPr>
          <a:xfrm>
            <a:off x="9341057" y="2139104"/>
            <a:ext cx="224400" cy="124500"/>
          </a:xfrm>
          <a:prstGeom prst="straightConnector1">
            <a:avLst/>
          </a:prstGeom>
          <a:noFill/>
          <a:ln cap="flat" cmpd="sng" w="19050">
            <a:solidFill>
              <a:srgbClr val="FF0000"/>
            </a:solidFill>
            <a:prstDash val="solid"/>
            <a:round/>
            <a:headEnd len="med" w="med" type="none"/>
            <a:tailEnd len="med" w="med" type="triangle"/>
          </a:ln>
        </p:spPr>
      </p:cxnSp>
      <p:cxnSp>
        <p:nvCxnSpPr>
          <p:cNvPr id="2512" name="Google Shape;2512;p40"/>
          <p:cNvCxnSpPr/>
          <p:nvPr/>
        </p:nvCxnSpPr>
        <p:spPr>
          <a:xfrm flipH="1" rot="10800000">
            <a:off x="9364554" y="2686901"/>
            <a:ext cx="185647" cy="157163"/>
          </a:xfrm>
          <a:prstGeom prst="straightConnector1">
            <a:avLst/>
          </a:prstGeom>
          <a:noFill/>
          <a:ln cap="flat" cmpd="sng" w="19050">
            <a:solidFill>
              <a:srgbClr val="00B050"/>
            </a:solidFill>
            <a:prstDash val="solid"/>
            <a:round/>
            <a:headEnd len="med" w="med" type="none"/>
            <a:tailEnd len="med" w="med" type="triangle"/>
          </a:ln>
        </p:spPr>
      </p:cxnSp>
      <p:cxnSp>
        <p:nvCxnSpPr>
          <p:cNvPr id="2513" name="Google Shape;2513;p40"/>
          <p:cNvCxnSpPr/>
          <p:nvPr/>
        </p:nvCxnSpPr>
        <p:spPr>
          <a:xfrm>
            <a:off x="10101254" y="2497723"/>
            <a:ext cx="390980" cy="1168"/>
          </a:xfrm>
          <a:prstGeom prst="straightConnector1">
            <a:avLst/>
          </a:prstGeom>
          <a:noFill/>
          <a:ln cap="flat" cmpd="sng" w="19050">
            <a:solidFill>
              <a:srgbClr val="000000"/>
            </a:solidFill>
            <a:prstDash val="solid"/>
            <a:round/>
            <a:headEnd len="med" w="med" type="none"/>
            <a:tailEnd len="med" w="med" type="triangle"/>
          </a:ln>
        </p:spPr>
      </p:cxnSp>
      <p:sp>
        <p:nvSpPr>
          <p:cNvPr id="2514" name="Google Shape;2514;p40"/>
          <p:cNvSpPr txBox="1"/>
          <p:nvPr/>
        </p:nvSpPr>
        <p:spPr>
          <a:xfrm>
            <a:off x="7902013" y="1532962"/>
            <a:ext cx="165622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high priority queue</a:t>
            </a:r>
            <a:endParaRPr/>
          </a:p>
        </p:txBody>
      </p:sp>
      <p:sp>
        <p:nvSpPr>
          <p:cNvPr id="2515" name="Google Shape;2515;p40"/>
          <p:cNvSpPr txBox="1"/>
          <p:nvPr/>
        </p:nvSpPr>
        <p:spPr>
          <a:xfrm>
            <a:off x="7997776" y="3161687"/>
            <a:ext cx="158729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low priority queue</a:t>
            </a:r>
            <a:endParaRPr/>
          </a:p>
        </p:txBody>
      </p:sp>
      <p:sp>
        <p:nvSpPr>
          <p:cNvPr id="2516" name="Google Shape;2516;p40"/>
          <p:cNvSpPr txBox="1"/>
          <p:nvPr/>
        </p:nvSpPr>
        <p:spPr>
          <a:xfrm>
            <a:off x="6916660" y="2012062"/>
            <a:ext cx="763273"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sp>
        <p:nvSpPr>
          <p:cNvPr id="2517" name="Google Shape;2517;p40"/>
          <p:cNvSpPr txBox="1"/>
          <p:nvPr/>
        </p:nvSpPr>
        <p:spPr>
          <a:xfrm>
            <a:off x="7443654" y="2744465"/>
            <a:ext cx="787419"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classify</a:t>
            </a:r>
            <a:endParaRPr/>
          </a:p>
        </p:txBody>
      </p:sp>
      <p:sp>
        <p:nvSpPr>
          <p:cNvPr id="2518" name="Google Shape;2518;p40"/>
          <p:cNvSpPr txBox="1"/>
          <p:nvPr/>
        </p:nvSpPr>
        <p:spPr>
          <a:xfrm>
            <a:off x="10247672" y="2765634"/>
            <a:ext cx="1043018"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2519" name="Google Shape;2519;p40"/>
          <p:cNvSpPr txBox="1"/>
          <p:nvPr/>
        </p:nvSpPr>
        <p:spPr>
          <a:xfrm>
            <a:off x="9575698" y="2771503"/>
            <a:ext cx="45397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p:txBody>
      </p:sp>
      <p:grpSp>
        <p:nvGrpSpPr>
          <p:cNvPr id="2520" name="Google Shape;2520;p40"/>
          <p:cNvGrpSpPr/>
          <p:nvPr/>
        </p:nvGrpSpPr>
        <p:grpSpPr>
          <a:xfrm>
            <a:off x="7832648" y="4587146"/>
            <a:ext cx="347662" cy="754063"/>
            <a:chOff x="2797204" y="2989241"/>
            <a:chExt cx="347099" cy="755477"/>
          </a:xfrm>
        </p:grpSpPr>
        <p:sp>
          <p:nvSpPr>
            <p:cNvPr id="2521" name="Google Shape;2521;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22" name="Google Shape;2522;p40"/>
            <p:cNvGrpSpPr/>
            <p:nvPr/>
          </p:nvGrpSpPr>
          <p:grpSpPr>
            <a:xfrm>
              <a:off x="2821701" y="3197503"/>
              <a:ext cx="298780" cy="338554"/>
              <a:chOff x="2821701" y="3197503"/>
              <a:chExt cx="298780" cy="338554"/>
            </a:xfrm>
          </p:grpSpPr>
          <p:sp>
            <p:nvSpPr>
              <p:cNvPr id="2523" name="Google Shape;252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4" name="Google Shape;252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grpSp>
      </p:grpSp>
      <p:grpSp>
        <p:nvGrpSpPr>
          <p:cNvPr id="2525" name="Google Shape;2525;p40"/>
          <p:cNvGrpSpPr/>
          <p:nvPr/>
        </p:nvGrpSpPr>
        <p:grpSpPr>
          <a:xfrm>
            <a:off x="8181898" y="4591909"/>
            <a:ext cx="346075" cy="755650"/>
            <a:chOff x="2797204" y="2989241"/>
            <a:chExt cx="347099" cy="755477"/>
          </a:xfrm>
        </p:grpSpPr>
        <p:sp>
          <p:nvSpPr>
            <p:cNvPr id="2526" name="Google Shape;2526;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27" name="Google Shape;2527;p40"/>
            <p:cNvGrpSpPr/>
            <p:nvPr/>
          </p:nvGrpSpPr>
          <p:grpSpPr>
            <a:xfrm>
              <a:off x="2821701" y="3197503"/>
              <a:ext cx="298780" cy="338554"/>
              <a:chOff x="2821701" y="3197503"/>
              <a:chExt cx="298780" cy="338554"/>
            </a:xfrm>
          </p:grpSpPr>
          <p:sp>
            <p:nvSpPr>
              <p:cNvPr id="2528" name="Google Shape;2528;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9" name="Google Shape;2529;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grpSp>
      </p:grpSp>
      <p:grpSp>
        <p:nvGrpSpPr>
          <p:cNvPr id="2530" name="Google Shape;2530;p40"/>
          <p:cNvGrpSpPr/>
          <p:nvPr/>
        </p:nvGrpSpPr>
        <p:grpSpPr>
          <a:xfrm>
            <a:off x="8532735" y="4587146"/>
            <a:ext cx="346075" cy="755650"/>
            <a:chOff x="997686" y="3954289"/>
            <a:chExt cx="347099" cy="755477"/>
          </a:xfrm>
        </p:grpSpPr>
        <p:sp>
          <p:nvSpPr>
            <p:cNvPr id="2531" name="Google Shape;2531;p40"/>
            <p:cNvSpPr/>
            <p:nvPr/>
          </p:nvSpPr>
          <p:spPr>
            <a:xfrm>
              <a:off x="997686" y="3954289"/>
              <a:ext cx="347099" cy="755477"/>
            </a:xfrm>
            <a:prstGeom prst="rect">
              <a:avLst/>
            </a:prstGeom>
            <a:solidFill>
              <a:srgbClr val="00B05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32" name="Google Shape;2532;p40"/>
            <p:cNvGrpSpPr/>
            <p:nvPr/>
          </p:nvGrpSpPr>
          <p:grpSpPr>
            <a:xfrm>
              <a:off x="1022183" y="4162551"/>
              <a:ext cx="298780" cy="338554"/>
              <a:chOff x="2821701" y="3197503"/>
              <a:chExt cx="298780" cy="338554"/>
            </a:xfrm>
          </p:grpSpPr>
          <p:sp>
            <p:nvSpPr>
              <p:cNvPr id="2533" name="Google Shape;253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4" name="Google Shape;253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grpSp>
      </p:grpSp>
      <p:grpSp>
        <p:nvGrpSpPr>
          <p:cNvPr id="2535" name="Google Shape;2535;p40"/>
          <p:cNvGrpSpPr/>
          <p:nvPr/>
        </p:nvGrpSpPr>
        <p:grpSpPr>
          <a:xfrm>
            <a:off x="8888335" y="4585559"/>
            <a:ext cx="347663" cy="754062"/>
            <a:chOff x="2797204" y="2989241"/>
            <a:chExt cx="347099" cy="755477"/>
          </a:xfrm>
        </p:grpSpPr>
        <p:sp>
          <p:nvSpPr>
            <p:cNvPr id="2536" name="Google Shape;2536;p40"/>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37" name="Google Shape;2537;p40"/>
            <p:cNvGrpSpPr/>
            <p:nvPr/>
          </p:nvGrpSpPr>
          <p:grpSpPr>
            <a:xfrm>
              <a:off x="2821701" y="3197503"/>
              <a:ext cx="298780" cy="338554"/>
              <a:chOff x="2821701" y="3197503"/>
              <a:chExt cx="298780" cy="338554"/>
            </a:xfrm>
          </p:grpSpPr>
          <p:sp>
            <p:nvSpPr>
              <p:cNvPr id="2538" name="Google Shape;2538;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9" name="Google Shape;2539;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grpSp>
      </p:grpSp>
      <p:grpSp>
        <p:nvGrpSpPr>
          <p:cNvPr id="2540" name="Google Shape;2540;p40"/>
          <p:cNvGrpSpPr/>
          <p:nvPr/>
        </p:nvGrpSpPr>
        <p:grpSpPr>
          <a:xfrm>
            <a:off x="9950373" y="4593496"/>
            <a:ext cx="347662" cy="755650"/>
            <a:chOff x="997686" y="3954289"/>
            <a:chExt cx="347099" cy="755477"/>
          </a:xfrm>
        </p:grpSpPr>
        <p:sp>
          <p:nvSpPr>
            <p:cNvPr id="2541" name="Google Shape;2541;p40"/>
            <p:cNvSpPr/>
            <p:nvPr/>
          </p:nvSpPr>
          <p:spPr>
            <a:xfrm>
              <a:off x="997686" y="3954289"/>
              <a:ext cx="347099" cy="755477"/>
            </a:xfrm>
            <a:prstGeom prst="rect">
              <a:avLst/>
            </a:prstGeom>
            <a:solidFill>
              <a:srgbClr val="00B05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542" name="Google Shape;2542;p40"/>
            <p:cNvGrpSpPr/>
            <p:nvPr/>
          </p:nvGrpSpPr>
          <p:grpSpPr>
            <a:xfrm>
              <a:off x="1022183" y="4162551"/>
              <a:ext cx="298780" cy="338554"/>
              <a:chOff x="2821701" y="3197503"/>
              <a:chExt cx="298780" cy="338554"/>
            </a:xfrm>
          </p:grpSpPr>
          <p:sp>
            <p:nvSpPr>
              <p:cNvPr id="2543" name="Google Shape;2543;p40"/>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4" name="Google Shape;2544;p40"/>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grpSp>
      </p:grpSp>
      <p:grpSp>
        <p:nvGrpSpPr>
          <p:cNvPr id="2545" name="Google Shape;2545;p40"/>
          <p:cNvGrpSpPr/>
          <p:nvPr/>
        </p:nvGrpSpPr>
        <p:grpSpPr>
          <a:xfrm>
            <a:off x="6976985" y="4182334"/>
            <a:ext cx="3978275" cy="1506537"/>
            <a:chOff x="6976985" y="4182334"/>
            <a:chExt cx="3978275" cy="1506537"/>
          </a:xfrm>
        </p:grpSpPr>
        <p:cxnSp>
          <p:nvCxnSpPr>
            <p:cNvPr id="2546" name="Google Shape;2546;p40"/>
            <p:cNvCxnSpPr/>
            <p:nvPr/>
          </p:nvCxnSpPr>
          <p:spPr>
            <a:xfrm>
              <a:off x="7723110" y="4580796"/>
              <a:ext cx="3230563" cy="0"/>
            </a:xfrm>
            <a:prstGeom prst="straightConnector1">
              <a:avLst/>
            </a:prstGeom>
            <a:noFill/>
            <a:ln cap="flat" cmpd="sng" w="25400">
              <a:solidFill>
                <a:srgbClr val="000000"/>
              </a:solidFill>
              <a:prstDash val="solid"/>
              <a:round/>
              <a:headEnd len="med" w="med" type="none"/>
              <a:tailEnd len="med" w="med" type="triangle"/>
            </a:ln>
          </p:spPr>
        </p:cxnSp>
        <p:cxnSp>
          <p:nvCxnSpPr>
            <p:cNvPr id="2547" name="Google Shape;2547;p40"/>
            <p:cNvCxnSpPr/>
            <p:nvPr/>
          </p:nvCxnSpPr>
          <p:spPr>
            <a:xfrm>
              <a:off x="7724698" y="5352321"/>
              <a:ext cx="3230562" cy="0"/>
            </a:xfrm>
            <a:prstGeom prst="straightConnector1">
              <a:avLst/>
            </a:prstGeom>
            <a:noFill/>
            <a:ln cap="flat" cmpd="sng" w="25400">
              <a:solidFill>
                <a:srgbClr val="000000"/>
              </a:solidFill>
              <a:prstDash val="solid"/>
              <a:round/>
              <a:headEnd len="med" w="med" type="none"/>
              <a:tailEnd len="med" w="med" type="triangle"/>
            </a:ln>
          </p:spPr>
        </p:cxnSp>
        <p:sp>
          <p:nvSpPr>
            <p:cNvPr id="2548" name="Google Shape;2548;p40"/>
            <p:cNvSpPr txBox="1"/>
            <p:nvPr/>
          </p:nvSpPr>
          <p:spPr>
            <a:xfrm>
              <a:off x="6976985" y="4182334"/>
              <a:ext cx="8064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arrivals</a:t>
              </a:r>
              <a:endParaRPr/>
            </a:p>
          </p:txBody>
        </p:sp>
        <p:sp>
          <p:nvSpPr>
            <p:cNvPr id="2549" name="Google Shape;2549;p40"/>
            <p:cNvSpPr txBox="1"/>
            <p:nvPr/>
          </p:nvSpPr>
          <p:spPr>
            <a:xfrm>
              <a:off x="7000798" y="5380896"/>
              <a:ext cx="108743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departures</a:t>
              </a:r>
              <a:endParaRPr/>
            </a:p>
          </p:txBody>
        </p:sp>
        <p:sp>
          <p:nvSpPr>
            <p:cNvPr id="2550" name="Google Shape;2550;p40"/>
            <p:cNvSpPr txBox="1"/>
            <p:nvPr/>
          </p:nvSpPr>
          <p:spPr>
            <a:xfrm>
              <a:off x="7023023" y="4687159"/>
              <a:ext cx="860425" cy="593725"/>
            </a:xfrm>
            <a:prstGeom prst="rect">
              <a:avLst/>
            </a:prstGeom>
            <a:noFill/>
            <a:ln>
              <a:noFill/>
            </a:ln>
          </p:spPr>
          <p:txBody>
            <a:bodyPr anchorCtr="0" anchor="t" bIns="45700" lIns="91425" spcFirstLastPara="1" rIns="91425" wrap="square" tIns="45700">
              <a:spAutoFit/>
            </a:bodyPr>
            <a:lstStyle/>
            <a:p>
              <a:pPr indent="0" lvl="0" marL="0" marR="0" rtl="0" algn="ctr">
                <a:lnSpc>
                  <a:spcPct val="91071"/>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packet in service</a:t>
              </a:r>
              <a:endParaRPr/>
            </a:p>
          </p:txBody>
        </p:sp>
      </p:grpSp>
      <p:grpSp>
        <p:nvGrpSpPr>
          <p:cNvPr id="2551" name="Google Shape;2551;p40"/>
          <p:cNvGrpSpPr/>
          <p:nvPr/>
        </p:nvGrpSpPr>
        <p:grpSpPr>
          <a:xfrm>
            <a:off x="7015641" y="2371233"/>
            <a:ext cx="563235" cy="169985"/>
            <a:chOff x="6268765" y="2496876"/>
            <a:chExt cx="563235" cy="169985"/>
          </a:xfrm>
        </p:grpSpPr>
        <p:cxnSp>
          <p:nvCxnSpPr>
            <p:cNvPr id="2552" name="Google Shape;2552;p40"/>
            <p:cNvCxnSpPr/>
            <p:nvPr/>
          </p:nvCxnSpPr>
          <p:spPr>
            <a:xfrm>
              <a:off x="6268765" y="2496876"/>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553" name="Google Shape;2553;p40"/>
            <p:cNvCxnSpPr/>
            <p:nvPr/>
          </p:nvCxnSpPr>
          <p:spPr>
            <a:xfrm>
              <a:off x="6269292" y="2666861"/>
              <a:ext cx="562708" cy="0"/>
            </a:xfrm>
            <a:prstGeom prst="straightConnector1">
              <a:avLst/>
            </a:prstGeom>
            <a:noFill/>
            <a:ln cap="flat" cmpd="sng" w="38100">
              <a:solidFill>
                <a:srgbClr val="00B050"/>
              </a:solidFill>
              <a:prstDash val="solid"/>
              <a:miter lim="800000"/>
              <a:headEnd len="sm" w="sm" type="none"/>
              <a:tailEnd len="med" w="med" type="triangle"/>
            </a:ln>
          </p:spPr>
        </p:cxnSp>
      </p:grpSp>
      <p:grpSp>
        <p:nvGrpSpPr>
          <p:cNvPr id="2554" name="Google Shape;2554;p40"/>
          <p:cNvGrpSpPr/>
          <p:nvPr/>
        </p:nvGrpSpPr>
        <p:grpSpPr>
          <a:xfrm>
            <a:off x="10518514" y="2335168"/>
            <a:ext cx="563235" cy="352190"/>
            <a:chOff x="6268765" y="2496876"/>
            <a:chExt cx="563235" cy="169985"/>
          </a:xfrm>
        </p:grpSpPr>
        <p:cxnSp>
          <p:nvCxnSpPr>
            <p:cNvPr id="2555" name="Google Shape;2555;p40"/>
            <p:cNvCxnSpPr/>
            <p:nvPr/>
          </p:nvCxnSpPr>
          <p:spPr>
            <a:xfrm>
              <a:off x="6268765" y="2496876"/>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556" name="Google Shape;2556;p40"/>
            <p:cNvCxnSpPr/>
            <p:nvPr/>
          </p:nvCxnSpPr>
          <p:spPr>
            <a:xfrm>
              <a:off x="6269292" y="2666861"/>
              <a:ext cx="562708" cy="0"/>
            </a:xfrm>
            <a:prstGeom prst="straightConnector1">
              <a:avLst/>
            </a:prstGeom>
            <a:noFill/>
            <a:ln cap="flat" cmpd="sng" w="38100">
              <a:solidFill>
                <a:srgbClr val="00B050"/>
              </a:solidFill>
              <a:prstDash val="solid"/>
              <a:miter lim="800000"/>
              <a:headEnd len="sm" w="sm" type="none"/>
              <a:tailEnd len="med" w="med" type="triangle"/>
            </a:ln>
          </p:spPr>
        </p:cxnSp>
      </p:grpSp>
      <p:sp>
        <p:nvSpPr>
          <p:cNvPr id="2557" name="Google Shape;2557;p40"/>
          <p:cNvSpPr txBox="1"/>
          <p:nvPr/>
        </p:nvSpPr>
        <p:spPr>
          <a:xfrm>
            <a:off x="767862" y="3915571"/>
            <a:ext cx="5084299" cy="1962714"/>
          </a:xfrm>
          <a:prstGeom prst="rect">
            <a:avLst/>
          </a:prstGeom>
          <a:noFill/>
          <a:ln>
            <a:noFill/>
          </a:ln>
        </p:spPr>
        <p:txBody>
          <a:bodyPr anchorCtr="0" anchor="t" bIns="45700" lIns="91425" spcFirstLastPara="1" rIns="91425" wrap="square" tIns="45700">
            <a:normAutofit/>
          </a:bodyPr>
          <a:lstStyle/>
          <a:p>
            <a:pPr indent="-280988" lvl="0" marL="51593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 packet from highest priority queue that has buffered packets</a:t>
            </a:r>
            <a:endParaRPr/>
          </a:p>
          <a:p>
            <a:pPr indent="-227012" lvl="1" marL="80486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FCFS within priority class</a:t>
            </a:r>
            <a:endParaRPr/>
          </a:p>
        </p:txBody>
      </p:sp>
      <p:grpSp>
        <p:nvGrpSpPr>
          <p:cNvPr id="2558" name="Google Shape;2558;p40"/>
          <p:cNvGrpSpPr/>
          <p:nvPr/>
        </p:nvGrpSpPr>
        <p:grpSpPr>
          <a:xfrm>
            <a:off x="7671174" y="3917372"/>
            <a:ext cx="298450" cy="651303"/>
            <a:chOff x="7398516" y="3578212"/>
            <a:chExt cx="298450" cy="651303"/>
          </a:xfrm>
        </p:grpSpPr>
        <p:sp>
          <p:nvSpPr>
            <p:cNvPr id="2559" name="Google Shape;2559;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0" name="Google Shape;2560;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cxnSp>
          <p:nvCxnSpPr>
            <p:cNvPr id="2561" name="Google Shape;2561;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62" name="Google Shape;2562;p40"/>
          <p:cNvGrpSpPr/>
          <p:nvPr/>
        </p:nvGrpSpPr>
        <p:grpSpPr>
          <a:xfrm>
            <a:off x="7966553" y="3920142"/>
            <a:ext cx="298450" cy="651303"/>
            <a:chOff x="7398516" y="3578212"/>
            <a:chExt cx="298450" cy="651303"/>
          </a:xfrm>
        </p:grpSpPr>
        <p:sp>
          <p:nvSpPr>
            <p:cNvPr id="2563" name="Google Shape;2563;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4" name="Google Shape;2564;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cxnSp>
          <p:nvCxnSpPr>
            <p:cNvPr id="2565" name="Google Shape;2565;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66" name="Google Shape;2566;p40"/>
          <p:cNvGrpSpPr/>
          <p:nvPr/>
        </p:nvGrpSpPr>
        <p:grpSpPr>
          <a:xfrm>
            <a:off x="8574489" y="3916263"/>
            <a:ext cx="298450" cy="651303"/>
            <a:chOff x="7398516" y="3578212"/>
            <a:chExt cx="298450" cy="651303"/>
          </a:xfrm>
        </p:grpSpPr>
        <p:sp>
          <p:nvSpPr>
            <p:cNvPr id="2567" name="Google Shape;2567;p40"/>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8" name="Google Shape;2568;p40"/>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cxnSp>
          <p:nvCxnSpPr>
            <p:cNvPr id="2569" name="Google Shape;2569;p40"/>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70" name="Google Shape;2570;p40"/>
          <p:cNvGrpSpPr/>
          <p:nvPr/>
        </p:nvGrpSpPr>
        <p:grpSpPr>
          <a:xfrm>
            <a:off x="7829819" y="3644517"/>
            <a:ext cx="298450" cy="927483"/>
            <a:chOff x="6725889" y="3647842"/>
            <a:chExt cx="298450" cy="927483"/>
          </a:xfrm>
        </p:grpSpPr>
        <p:sp>
          <p:nvSpPr>
            <p:cNvPr id="2571" name="Google Shape;2571;p40"/>
            <p:cNvSpPr/>
            <p:nvPr/>
          </p:nvSpPr>
          <p:spPr>
            <a:xfrm>
              <a:off x="6759258" y="3722164"/>
              <a:ext cx="220266" cy="20023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2" name="Google Shape;2572;p40"/>
            <p:cNvSpPr txBox="1"/>
            <p:nvPr/>
          </p:nvSpPr>
          <p:spPr>
            <a:xfrm>
              <a:off x="6725889" y="3647842"/>
              <a:ext cx="298450" cy="3387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cxnSp>
          <p:nvCxnSpPr>
            <p:cNvPr id="2573" name="Google Shape;2573;p40"/>
            <p:cNvCxnSpPr/>
            <p:nvPr/>
          </p:nvCxnSpPr>
          <p:spPr>
            <a:xfrm>
              <a:off x="6866312" y="3920282"/>
              <a:ext cx="0" cy="655043"/>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74" name="Google Shape;2574;p40"/>
          <p:cNvGrpSpPr/>
          <p:nvPr/>
        </p:nvGrpSpPr>
        <p:grpSpPr>
          <a:xfrm>
            <a:off x="9807544" y="3925685"/>
            <a:ext cx="298450" cy="647977"/>
            <a:chOff x="7405166" y="3581538"/>
            <a:chExt cx="298450" cy="647977"/>
          </a:xfrm>
        </p:grpSpPr>
        <p:sp>
          <p:nvSpPr>
            <p:cNvPr id="2575" name="Google Shape;2575;p40"/>
            <p:cNvSpPr/>
            <p:nvPr/>
          </p:nvSpPr>
          <p:spPr>
            <a:xfrm>
              <a:off x="7440043" y="3649200"/>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6" name="Google Shape;2576;p40"/>
            <p:cNvSpPr txBox="1"/>
            <p:nvPr/>
          </p:nvSpPr>
          <p:spPr>
            <a:xfrm>
              <a:off x="7405166" y="358153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cxnSp>
          <p:nvCxnSpPr>
            <p:cNvPr id="2577" name="Google Shape;2577;p40"/>
            <p:cNvCxnSpPr/>
            <p:nvPr/>
          </p:nvCxnSpPr>
          <p:spPr>
            <a:xfrm>
              <a:off x="7551281" y="3850455"/>
              <a:ext cx="0" cy="379060"/>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78" name="Google Shape;2578;p40"/>
          <p:cNvGrpSpPr/>
          <p:nvPr/>
        </p:nvGrpSpPr>
        <p:grpSpPr>
          <a:xfrm>
            <a:off x="8029730" y="5366143"/>
            <a:ext cx="298450" cy="651728"/>
            <a:chOff x="7384663" y="5459245"/>
            <a:chExt cx="298450" cy="651728"/>
          </a:xfrm>
        </p:grpSpPr>
        <p:sp>
          <p:nvSpPr>
            <p:cNvPr id="2579" name="Google Shape;2579;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0" name="Google Shape;2580;p40"/>
            <p:cNvSpPr txBox="1"/>
            <p:nvPr/>
          </p:nvSpPr>
          <p:spPr>
            <a:xfrm>
              <a:off x="738466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cxnSp>
          <p:nvCxnSpPr>
            <p:cNvPr id="2581" name="Google Shape;2581;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82" name="Google Shape;2582;p40"/>
          <p:cNvGrpSpPr/>
          <p:nvPr/>
        </p:nvGrpSpPr>
        <p:grpSpPr>
          <a:xfrm>
            <a:off x="8381636" y="5365589"/>
            <a:ext cx="298450" cy="651728"/>
            <a:chOff x="7391313" y="5459245"/>
            <a:chExt cx="298450" cy="651728"/>
          </a:xfrm>
        </p:grpSpPr>
        <p:sp>
          <p:nvSpPr>
            <p:cNvPr id="2583" name="Google Shape;2583;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4" name="Google Shape;2584;p40"/>
            <p:cNvSpPr txBox="1"/>
            <p:nvPr/>
          </p:nvSpPr>
          <p:spPr>
            <a:xfrm>
              <a:off x="739131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cxnSp>
          <p:nvCxnSpPr>
            <p:cNvPr id="2585" name="Google Shape;2585;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86" name="Google Shape;2586;p40"/>
          <p:cNvGrpSpPr/>
          <p:nvPr/>
        </p:nvGrpSpPr>
        <p:grpSpPr>
          <a:xfrm>
            <a:off x="8736867" y="5365034"/>
            <a:ext cx="298450" cy="651727"/>
            <a:chOff x="7391313" y="5459245"/>
            <a:chExt cx="298450" cy="651727"/>
          </a:xfrm>
        </p:grpSpPr>
        <p:sp>
          <p:nvSpPr>
            <p:cNvPr id="2587" name="Google Shape;2587;p40"/>
            <p:cNvSpPr/>
            <p:nvPr/>
          </p:nvSpPr>
          <p:spPr>
            <a:xfrm>
              <a:off x="7426190" y="5843206"/>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8" name="Google Shape;2588;p40"/>
            <p:cNvSpPr txBox="1"/>
            <p:nvPr/>
          </p:nvSpPr>
          <p:spPr>
            <a:xfrm>
              <a:off x="7391313" y="5772217"/>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cxnSp>
          <p:nvCxnSpPr>
            <p:cNvPr id="2589" name="Google Shape;2589;p40"/>
            <p:cNvCxnSpPr/>
            <p:nvPr/>
          </p:nvCxnSpPr>
          <p:spPr>
            <a:xfrm>
              <a:off x="7537428" y="5459245"/>
              <a:ext cx="0" cy="379060"/>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2590" name="Google Shape;2590;p40"/>
          <p:cNvGrpSpPr/>
          <p:nvPr/>
        </p:nvGrpSpPr>
        <p:grpSpPr>
          <a:xfrm>
            <a:off x="9086001" y="5365035"/>
            <a:ext cx="298450" cy="651728"/>
            <a:chOff x="7391313" y="5459245"/>
            <a:chExt cx="298450" cy="651728"/>
          </a:xfrm>
        </p:grpSpPr>
        <p:sp>
          <p:nvSpPr>
            <p:cNvPr id="2591" name="Google Shape;2591;p40"/>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2" name="Google Shape;2592;p40"/>
            <p:cNvSpPr txBox="1"/>
            <p:nvPr/>
          </p:nvSpPr>
          <p:spPr>
            <a:xfrm>
              <a:off x="739131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cxnSp>
          <p:nvCxnSpPr>
            <p:cNvPr id="2593" name="Google Shape;2593;p40"/>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2594" name="Google Shape;2594;p40"/>
          <p:cNvGrpSpPr/>
          <p:nvPr/>
        </p:nvGrpSpPr>
        <p:grpSpPr>
          <a:xfrm>
            <a:off x="10159452" y="5361155"/>
            <a:ext cx="298450" cy="651727"/>
            <a:chOff x="7391313" y="5459245"/>
            <a:chExt cx="298450" cy="651727"/>
          </a:xfrm>
        </p:grpSpPr>
        <p:sp>
          <p:nvSpPr>
            <p:cNvPr id="2595" name="Google Shape;2595;p40"/>
            <p:cNvSpPr/>
            <p:nvPr/>
          </p:nvSpPr>
          <p:spPr>
            <a:xfrm>
              <a:off x="7426190" y="5843206"/>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6" name="Google Shape;2596;p40"/>
            <p:cNvSpPr txBox="1"/>
            <p:nvPr/>
          </p:nvSpPr>
          <p:spPr>
            <a:xfrm>
              <a:off x="7391313" y="5772217"/>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cxnSp>
          <p:nvCxnSpPr>
            <p:cNvPr id="2597" name="Google Shape;2597;p40"/>
            <p:cNvCxnSpPr/>
            <p:nvPr/>
          </p:nvCxnSpPr>
          <p:spPr>
            <a:xfrm>
              <a:off x="7537428" y="5459245"/>
              <a:ext cx="0" cy="379060"/>
            </a:xfrm>
            <a:prstGeom prst="straightConnector1">
              <a:avLst/>
            </a:prstGeom>
            <a:noFill/>
            <a:ln cap="flat" cmpd="sng" w="25400">
              <a:solidFill>
                <a:srgbClr val="00B050"/>
              </a:solidFill>
              <a:prstDash val="solid"/>
              <a:miter lim="800000"/>
              <a:headEnd len="sm" w="sm" type="none"/>
              <a:tailEnd len="med" w="med" type="triangle"/>
            </a:ln>
          </p:spPr>
        </p:cxnSp>
      </p:grpSp>
      <p:sp>
        <p:nvSpPr>
          <p:cNvPr id="2598" name="Google Shape;2598;p4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7"/>
                                        </p:tgtEl>
                                        <p:attrNameLst>
                                          <p:attrName>style.visibility</p:attrName>
                                        </p:attrNameLst>
                                      </p:cBhvr>
                                      <p:to>
                                        <p:strVal val="visible"/>
                                      </p:to>
                                    </p:set>
                                    <p:animEffect filter="fade" transition="in">
                                      <p:cBhvr>
                                        <p:cTn dur="500"/>
                                        <p:tgtEl>
                                          <p:spTgt spid="2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5"/>
                                        </p:tgtEl>
                                        <p:attrNameLst>
                                          <p:attrName>style.visibility</p:attrName>
                                        </p:attrNameLst>
                                      </p:cBhvr>
                                      <p:to>
                                        <p:strVal val="visible"/>
                                      </p:to>
                                    </p:set>
                                    <p:animEffect filter="fade" transition="in">
                                      <p:cBhvr>
                                        <p:cTn dur="500"/>
                                        <p:tgtEl>
                                          <p:spTgt spid="2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8"/>
                                        </p:tgtEl>
                                        <p:attrNameLst>
                                          <p:attrName>style.visibility</p:attrName>
                                        </p:attrNameLst>
                                      </p:cBhvr>
                                      <p:to>
                                        <p:strVal val="visible"/>
                                      </p:to>
                                    </p:set>
                                    <p:animEffect filter="fade" transition="in">
                                      <p:cBhvr>
                                        <p:cTn dur="500"/>
                                        <p:tgtEl>
                                          <p:spTgt spid="25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20"/>
                                        </p:tgtEl>
                                        <p:attrNameLst>
                                          <p:attrName>style.visibility</p:attrName>
                                        </p:attrNameLst>
                                      </p:cBhvr>
                                      <p:to>
                                        <p:strVal val="visible"/>
                                      </p:to>
                                    </p:set>
                                    <p:animEffect filter="fade" transition="in">
                                      <p:cBhvr>
                                        <p:cTn dur="500"/>
                                        <p:tgtEl>
                                          <p:spTgt spid="2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0"/>
                                        </p:tgtEl>
                                        <p:attrNameLst>
                                          <p:attrName>style.visibility</p:attrName>
                                        </p:attrNameLst>
                                      </p:cBhvr>
                                      <p:to>
                                        <p:strVal val="visible"/>
                                      </p:to>
                                    </p:set>
                                    <p:animEffect filter="fade" transition="in">
                                      <p:cBhvr>
                                        <p:cTn dur="500"/>
                                        <p:tgtEl>
                                          <p:spTgt spid="2570"/>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2562"/>
                                        </p:tgtEl>
                                        <p:attrNameLst>
                                          <p:attrName>style.visibility</p:attrName>
                                        </p:attrNameLst>
                                      </p:cBhvr>
                                      <p:to>
                                        <p:strVal val="visible"/>
                                      </p:to>
                                    </p:set>
                                    <p:animEffect filter="fade" transition="in">
                                      <p:cBhvr>
                                        <p:cTn dur="500"/>
                                        <p:tgtEl>
                                          <p:spTgt spid="2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8"/>
                                        </p:tgtEl>
                                        <p:attrNameLst>
                                          <p:attrName>style.visibility</p:attrName>
                                        </p:attrNameLst>
                                      </p:cBhvr>
                                      <p:to>
                                        <p:strVal val="visible"/>
                                      </p:to>
                                    </p:set>
                                    <p:animEffect filter="fade" transition="in">
                                      <p:cBhvr>
                                        <p:cTn dur="500"/>
                                        <p:tgtEl>
                                          <p:spTgt spid="25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25"/>
                                        </p:tgtEl>
                                        <p:attrNameLst>
                                          <p:attrName>style.visibility</p:attrName>
                                        </p:attrNameLst>
                                      </p:cBhvr>
                                      <p:to>
                                        <p:strVal val="visible"/>
                                      </p:to>
                                    </p:set>
                                    <p:animEffect filter="fade" transition="in">
                                      <p:cBhvr>
                                        <p:cTn dur="500"/>
                                        <p:tgtEl>
                                          <p:spTgt spid="2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2"/>
                                        </p:tgtEl>
                                        <p:attrNameLst>
                                          <p:attrName>style.visibility</p:attrName>
                                        </p:attrNameLst>
                                      </p:cBhvr>
                                      <p:to>
                                        <p:strVal val="visible"/>
                                      </p:to>
                                    </p:set>
                                    <p:animEffect filter="fade" transition="in">
                                      <p:cBhvr>
                                        <p:cTn dur="500"/>
                                        <p:tgtEl>
                                          <p:spTgt spid="258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0"/>
                                        </p:tgtEl>
                                        <p:attrNameLst>
                                          <p:attrName>style.visibility</p:attrName>
                                        </p:attrNameLst>
                                      </p:cBhvr>
                                      <p:to>
                                        <p:strVal val="visible"/>
                                      </p:to>
                                    </p:set>
                                    <p:animEffect filter="fade" transition="in">
                                      <p:cBhvr>
                                        <p:cTn dur="500"/>
                                        <p:tgtEl>
                                          <p:spTgt spid="25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6"/>
                                        </p:tgtEl>
                                        <p:attrNameLst>
                                          <p:attrName>style.visibility</p:attrName>
                                        </p:attrNameLst>
                                      </p:cBhvr>
                                      <p:to>
                                        <p:strVal val="visible"/>
                                      </p:to>
                                    </p:set>
                                    <p:animEffect filter="fade" transition="in">
                                      <p:cBhvr>
                                        <p:cTn dur="500"/>
                                        <p:tgtEl>
                                          <p:spTgt spid="256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86"/>
                                        </p:tgtEl>
                                        <p:attrNameLst>
                                          <p:attrName>style.visibility</p:attrName>
                                        </p:attrNameLst>
                                      </p:cBhvr>
                                      <p:to>
                                        <p:strVal val="visible"/>
                                      </p:to>
                                    </p:set>
                                    <p:animEffect filter="fade" transition="in">
                                      <p:cBhvr>
                                        <p:cTn dur="500"/>
                                        <p:tgtEl>
                                          <p:spTgt spid="25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35"/>
                                        </p:tgtEl>
                                        <p:attrNameLst>
                                          <p:attrName>style.visibility</p:attrName>
                                        </p:attrNameLst>
                                      </p:cBhvr>
                                      <p:to>
                                        <p:strVal val="visible"/>
                                      </p:to>
                                    </p:set>
                                    <p:animEffect filter="fade" transition="in">
                                      <p:cBhvr>
                                        <p:cTn dur="500"/>
                                        <p:tgtEl>
                                          <p:spTgt spid="25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590"/>
                                        </p:tgtEl>
                                        <p:attrNameLst>
                                          <p:attrName>style.visibility</p:attrName>
                                        </p:attrNameLst>
                                      </p:cBhvr>
                                      <p:to>
                                        <p:strVal val="visible"/>
                                      </p:to>
                                    </p:set>
                                    <p:animEffect filter="fade" transition="in">
                                      <p:cBhvr>
                                        <p:cTn dur="500"/>
                                        <p:tgtEl>
                                          <p:spTgt spid="259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74"/>
                                        </p:tgtEl>
                                        <p:attrNameLst>
                                          <p:attrName>style.visibility</p:attrName>
                                        </p:attrNameLst>
                                      </p:cBhvr>
                                      <p:to>
                                        <p:strVal val="visible"/>
                                      </p:to>
                                    </p:set>
                                    <p:animEffect filter="fade" transition="in">
                                      <p:cBhvr>
                                        <p:cTn dur="500"/>
                                        <p:tgtEl>
                                          <p:spTgt spid="257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540"/>
                                        </p:tgtEl>
                                        <p:attrNameLst>
                                          <p:attrName>style.visibility</p:attrName>
                                        </p:attrNameLst>
                                      </p:cBhvr>
                                      <p:to>
                                        <p:strVal val="visible"/>
                                      </p:to>
                                    </p:set>
                                    <p:animEffect filter="fade" transition="in">
                                      <p:cBhvr>
                                        <p:cTn dur="500"/>
                                        <p:tgtEl>
                                          <p:spTgt spid="254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594"/>
                                        </p:tgtEl>
                                        <p:attrNameLst>
                                          <p:attrName>style.visibility</p:attrName>
                                        </p:attrNameLst>
                                      </p:cBhvr>
                                      <p:to>
                                        <p:strVal val="visible"/>
                                      </p:to>
                                    </p:set>
                                    <p:animEffect filter="fade" transition="in">
                                      <p:cBhvr>
                                        <p:cTn dur="500"/>
                                        <p:tgtEl>
                                          <p:spTgt spid="2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3" name="Shape 2603"/>
        <p:cNvGrpSpPr/>
        <p:nvPr/>
      </p:nvGrpSpPr>
      <p:grpSpPr>
        <a:xfrm>
          <a:off x="0" y="0"/>
          <a:ext cx="0" cy="0"/>
          <a:chOff x="0" y="0"/>
          <a:chExt cx="0" cy="0"/>
        </a:xfrm>
      </p:grpSpPr>
      <p:sp>
        <p:nvSpPr>
          <p:cNvPr id="2604" name="Google Shape;2604;p41"/>
          <p:cNvSpPr txBox="1"/>
          <p:nvPr>
            <p:ph idx="1" type="body"/>
          </p:nvPr>
        </p:nvSpPr>
        <p:spPr>
          <a:xfrm>
            <a:off x="722890" y="1409359"/>
            <a:ext cx="5155396" cy="2513284"/>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Round Robin (RR) scheduling:</a:t>
            </a:r>
            <a:endParaRPr/>
          </a:p>
          <a:p>
            <a:pPr indent="-223837" lvl="0" marL="461963" rtl="0" algn="l">
              <a:lnSpc>
                <a:spcPct val="90000"/>
              </a:lnSpc>
              <a:spcBef>
                <a:spcPts val="1000"/>
              </a:spcBef>
              <a:spcAft>
                <a:spcPts val="0"/>
              </a:spcAft>
              <a:buSzPts val="3200"/>
              <a:buChar char="▪"/>
            </a:pPr>
            <a:r>
              <a:rPr lang="en-US" sz="3200"/>
              <a:t>arriving traffic classified, queued by class</a:t>
            </a:r>
            <a:endParaRPr/>
          </a:p>
          <a:p>
            <a:pPr indent="-223837" lvl="1" marL="804863" rtl="0" algn="l">
              <a:lnSpc>
                <a:spcPct val="90000"/>
              </a:lnSpc>
              <a:spcBef>
                <a:spcPts val="500"/>
              </a:spcBef>
              <a:spcAft>
                <a:spcPts val="0"/>
              </a:spcAft>
              <a:buSzPts val="2800"/>
              <a:buChar char="•"/>
            </a:pPr>
            <a:r>
              <a:rPr lang="en-US" sz="2800"/>
              <a:t>any header fields can be used for classification</a:t>
            </a:r>
            <a:endParaRPr/>
          </a:p>
        </p:txBody>
      </p:sp>
      <p:sp>
        <p:nvSpPr>
          <p:cNvPr id="2605" name="Google Shape;2605;p4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round robin</a:t>
            </a:r>
            <a:endParaRPr/>
          </a:p>
        </p:txBody>
      </p:sp>
      <p:cxnSp>
        <p:nvCxnSpPr>
          <p:cNvPr id="2606" name="Google Shape;2606;p41"/>
          <p:cNvCxnSpPr/>
          <p:nvPr/>
        </p:nvCxnSpPr>
        <p:spPr>
          <a:xfrm>
            <a:off x="10755082" y="4071258"/>
            <a:ext cx="457200" cy="0"/>
          </a:xfrm>
          <a:prstGeom prst="straightConnector1">
            <a:avLst/>
          </a:prstGeom>
          <a:noFill/>
          <a:ln cap="flat" cmpd="sng" w="38100">
            <a:solidFill>
              <a:schemeClr val="dk1"/>
            </a:solidFill>
            <a:prstDash val="solid"/>
            <a:miter lim="800000"/>
            <a:headEnd len="sm" w="sm" type="none"/>
            <a:tailEnd len="sm" w="sm" type="none"/>
          </a:ln>
        </p:spPr>
      </p:cxnSp>
      <p:grpSp>
        <p:nvGrpSpPr>
          <p:cNvPr id="2607" name="Google Shape;2607;p41"/>
          <p:cNvGrpSpPr/>
          <p:nvPr/>
        </p:nvGrpSpPr>
        <p:grpSpPr>
          <a:xfrm>
            <a:off x="7990116" y="2719344"/>
            <a:ext cx="1274199" cy="760001"/>
            <a:chOff x="1670312" y="2562997"/>
            <a:chExt cx="940317" cy="565219"/>
          </a:xfrm>
        </p:grpSpPr>
        <p:grpSp>
          <p:nvGrpSpPr>
            <p:cNvPr id="2608" name="Google Shape;2608;p41"/>
            <p:cNvGrpSpPr/>
            <p:nvPr/>
          </p:nvGrpSpPr>
          <p:grpSpPr>
            <a:xfrm>
              <a:off x="1670312" y="2562997"/>
              <a:ext cx="929822" cy="565219"/>
              <a:chOff x="1670312" y="2562997"/>
              <a:chExt cx="929822" cy="565219"/>
            </a:xfrm>
          </p:grpSpPr>
          <p:sp>
            <p:nvSpPr>
              <p:cNvPr id="2609" name="Google Shape;2609;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10" name="Google Shape;2610;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1" name="Google Shape;2611;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2" name="Google Shape;2612;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3" name="Google Shape;2613;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4" name="Google Shape;2614;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5" name="Google Shape;2615;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16" name="Google Shape;2616;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17" name="Google Shape;2617;p41"/>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18" name="Google Shape;2618;p41"/>
          <p:cNvGrpSpPr/>
          <p:nvPr/>
        </p:nvGrpSpPr>
        <p:grpSpPr>
          <a:xfrm>
            <a:off x="8007879" y="3655287"/>
            <a:ext cx="1292387" cy="763274"/>
            <a:chOff x="1670312" y="2562997"/>
            <a:chExt cx="940318" cy="565219"/>
          </a:xfrm>
        </p:grpSpPr>
        <p:grpSp>
          <p:nvGrpSpPr>
            <p:cNvPr id="2619" name="Google Shape;2619;p41"/>
            <p:cNvGrpSpPr/>
            <p:nvPr/>
          </p:nvGrpSpPr>
          <p:grpSpPr>
            <a:xfrm>
              <a:off x="1670312" y="2562997"/>
              <a:ext cx="929822" cy="565219"/>
              <a:chOff x="1670312" y="2562997"/>
              <a:chExt cx="929822" cy="565219"/>
            </a:xfrm>
          </p:grpSpPr>
          <p:sp>
            <p:nvSpPr>
              <p:cNvPr id="2620" name="Google Shape;2620;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21" name="Google Shape;2621;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2" name="Google Shape;2622;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3" name="Google Shape;2623;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4" name="Google Shape;2624;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5" name="Google Shape;2625;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6" name="Google Shape;2626;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27" name="Google Shape;2627;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28" name="Google Shape;2628;p41"/>
            <p:cNvSpPr/>
            <p:nvPr/>
          </p:nvSpPr>
          <p:spPr>
            <a:xfrm>
              <a:off x="2235418" y="2571262"/>
              <a:ext cx="375212" cy="552560"/>
            </a:xfrm>
            <a:prstGeom prst="rect">
              <a:avLst/>
            </a:prstGeom>
            <a:solidFill>
              <a:srgbClr val="00B05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29" name="Google Shape;2629;p41"/>
          <p:cNvGrpSpPr/>
          <p:nvPr/>
        </p:nvGrpSpPr>
        <p:grpSpPr>
          <a:xfrm>
            <a:off x="8004017" y="4563481"/>
            <a:ext cx="1292385" cy="721744"/>
            <a:chOff x="1670312" y="2562997"/>
            <a:chExt cx="940317" cy="565219"/>
          </a:xfrm>
        </p:grpSpPr>
        <p:grpSp>
          <p:nvGrpSpPr>
            <p:cNvPr id="2630" name="Google Shape;2630;p41"/>
            <p:cNvGrpSpPr/>
            <p:nvPr/>
          </p:nvGrpSpPr>
          <p:grpSpPr>
            <a:xfrm>
              <a:off x="1670312" y="2562997"/>
              <a:ext cx="929822" cy="565219"/>
              <a:chOff x="1670312" y="2562997"/>
              <a:chExt cx="929822" cy="565219"/>
            </a:xfrm>
          </p:grpSpPr>
          <p:sp>
            <p:nvSpPr>
              <p:cNvPr id="2631" name="Google Shape;2631;p41"/>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32" name="Google Shape;2632;p41"/>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3" name="Google Shape;2633;p41"/>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4" name="Google Shape;2634;p41"/>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5" name="Google Shape;2635;p41"/>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6" name="Google Shape;2636;p41"/>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7" name="Google Shape;2637;p41"/>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38" name="Google Shape;2638;p41"/>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39" name="Google Shape;2639;p41"/>
            <p:cNvSpPr/>
            <p:nvPr/>
          </p:nvSpPr>
          <p:spPr>
            <a:xfrm>
              <a:off x="2131937" y="2571262"/>
              <a:ext cx="478692" cy="552560"/>
            </a:xfrm>
            <a:prstGeom prst="rect">
              <a:avLst/>
            </a:prstGeom>
            <a:solidFill>
              <a:srgbClr val="3333CC">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640" name="Google Shape;2640;p41"/>
          <p:cNvSpPr/>
          <p:nvPr/>
        </p:nvSpPr>
        <p:spPr>
          <a:xfrm rot="5400000">
            <a:off x="6881445" y="3717354"/>
            <a:ext cx="811706" cy="665402"/>
          </a:xfrm>
          <a:prstGeom prst="triangle">
            <a:avLst>
              <a:gd fmla="val 50000" name="adj"/>
            </a:avLst>
          </a:prstGeom>
          <a:solidFill>
            <a:schemeClr val="lt1"/>
          </a:solidFill>
          <a:ln cap="flat" cmpd="sng" w="317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641" name="Google Shape;2641;p41"/>
          <p:cNvGrpSpPr/>
          <p:nvPr/>
        </p:nvGrpSpPr>
        <p:grpSpPr>
          <a:xfrm>
            <a:off x="6303665" y="3871966"/>
            <a:ext cx="567187" cy="339970"/>
            <a:chOff x="9460523" y="6049108"/>
            <a:chExt cx="567187" cy="339970"/>
          </a:xfrm>
        </p:grpSpPr>
        <p:cxnSp>
          <p:nvCxnSpPr>
            <p:cNvPr id="2642" name="Google Shape;2642;p41"/>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643" name="Google Shape;2643;p41"/>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44" name="Google Shape;2644;p41"/>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grpSp>
        <p:nvGrpSpPr>
          <p:cNvPr id="2645" name="Google Shape;2645;p41"/>
          <p:cNvGrpSpPr/>
          <p:nvPr/>
        </p:nvGrpSpPr>
        <p:grpSpPr>
          <a:xfrm>
            <a:off x="11245773" y="3893738"/>
            <a:ext cx="567187" cy="339970"/>
            <a:chOff x="9460523" y="6049108"/>
            <a:chExt cx="567187" cy="339970"/>
          </a:xfrm>
        </p:grpSpPr>
        <p:cxnSp>
          <p:nvCxnSpPr>
            <p:cNvPr id="2646" name="Google Shape;2646;p41"/>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647" name="Google Shape;2647;p41"/>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48" name="Google Shape;2648;p41"/>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sp>
        <p:nvSpPr>
          <p:cNvPr id="2649" name="Google Shape;2649;p41"/>
          <p:cNvSpPr txBox="1"/>
          <p:nvPr/>
        </p:nvSpPr>
        <p:spPr>
          <a:xfrm>
            <a:off x="6576771" y="4550229"/>
            <a:ext cx="990656"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classify </a:t>
            </a:r>
            <a:endParaRPr/>
          </a:p>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arrivals</a:t>
            </a:r>
            <a:endParaRPr/>
          </a:p>
        </p:txBody>
      </p:sp>
      <p:sp>
        <p:nvSpPr>
          <p:cNvPr id="2650" name="Google Shape;2650;p41"/>
          <p:cNvSpPr txBox="1"/>
          <p:nvPr/>
        </p:nvSpPr>
        <p:spPr>
          <a:xfrm>
            <a:off x="10609189" y="4515922"/>
            <a:ext cx="1332224"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departures</a:t>
            </a:r>
            <a:endParaRPr/>
          </a:p>
        </p:txBody>
      </p:sp>
      <p:cxnSp>
        <p:nvCxnSpPr>
          <p:cNvPr id="2651" name="Google Shape;2651;p41"/>
          <p:cNvCxnSpPr>
            <a:stCxn id="2640" idx="0"/>
          </p:cNvCxnSpPr>
          <p:nvPr/>
        </p:nvCxnSpPr>
        <p:spPr>
          <a:xfrm flipH="1" rot="10800000">
            <a:off x="7619999" y="3067555"/>
            <a:ext cx="682500" cy="982500"/>
          </a:xfrm>
          <a:prstGeom prst="straightConnector1">
            <a:avLst/>
          </a:prstGeom>
          <a:noFill/>
          <a:ln cap="flat" cmpd="sng" w="38100">
            <a:solidFill>
              <a:srgbClr val="FF0000"/>
            </a:solidFill>
            <a:prstDash val="solid"/>
            <a:miter lim="800000"/>
            <a:headEnd len="sm" w="sm" type="none"/>
            <a:tailEnd len="med" w="med" type="triangle"/>
          </a:ln>
        </p:spPr>
      </p:cxnSp>
      <p:cxnSp>
        <p:nvCxnSpPr>
          <p:cNvPr id="2652" name="Google Shape;2652;p41"/>
          <p:cNvCxnSpPr/>
          <p:nvPr/>
        </p:nvCxnSpPr>
        <p:spPr>
          <a:xfrm>
            <a:off x="7635460" y="4051945"/>
            <a:ext cx="696572"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653" name="Google Shape;2653;p41"/>
          <p:cNvCxnSpPr>
            <a:stCxn id="2640" idx="0"/>
          </p:cNvCxnSpPr>
          <p:nvPr/>
        </p:nvCxnSpPr>
        <p:spPr>
          <a:xfrm>
            <a:off x="7619999" y="4050055"/>
            <a:ext cx="682200" cy="871500"/>
          </a:xfrm>
          <a:prstGeom prst="straightConnector1">
            <a:avLst/>
          </a:prstGeom>
          <a:noFill/>
          <a:ln cap="flat" cmpd="sng" w="38100">
            <a:solidFill>
              <a:srgbClr val="3333CC"/>
            </a:solidFill>
            <a:prstDash val="solid"/>
            <a:miter lim="800000"/>
            <a:headEnd len="sm" w="sm" type="none"/>
            <a:tailEnd len="med" w="med" type="triangle"/>
          </a:ln>
        </p:spPr>
      </p:cxnSp>
      <p:cxnSp>
        <p:nvCxnSpPr>
          <p:cNvPr id="2654" name="Google Shape;2654;p41"/>
          <p:cNvCxnSpPr>
            <a:stCxn id="2609" idx="3"/>
            <a:endCxn id="2655" idx="2"/>
          </p:cNvCxnSpPr>
          <p:nvPr/>
        </p:nvCxnSpPr>
        <p:spPr>
          <a:xfrm>
            <a:off x="9250094" y="3097958"/>
            <a:ext cx="664200" cy="942600"/>
          </a:xfrm>
          <a:prstGeom prst="straightConnector1">
            <a:avLst/>
          </a:prstGeom>
          <a:noFill/>
          <a:ln cap="flat" cmpd="sng" w="38100">
            <a:solidFill>
              <a:srgbClr val="FF0000"/>
            </a:solidFill>
            <a:prstDash val="solid"/>
            <a:miter lim="800000"/>
            <a:headEnd len="sm" w="sm" type="none"/>
            <a:tailEnd len="sm" w="sm" type="none"/>
          </a:ln>
        </p:spPr>
      </p:cxnSp>
      <p:cxnSp>
        <p:nvCxnSpPr>
          <p:cNvPr id="2656" name="Google Shape;2656;p41"/>
          <p:cNvCxnSpPr>
            <a:stCxn id="2631" idx="3"/>
            <a:endCxn id="2655" idx="2"/>
          </p:cNvCxnSpPr>
          <p:nvPr/>
        </p:nvCxnSpPr>
        <p:spPr>
          <a:xfrm flipH="1" rot="10800000">
            <a:off x="9281978" y="4040736"/>
            <a:ext cx="632400" cy="882300"/>
          </a:xfrm>
          <a:prstGeom prst="straightConnector1">
            <a:avLst/>
          </a:prstGeom>
          <a:noFill/>
          <a:ln cap="flat" cmpd="sng" w="38100">
            <a:solidFill>
              <a:srgbClr val="3333CC"/>
            </a:solidFill>
            <a:prstDash val="solid"/>
            <a:miter lim="800000"/>
            <a:headEnd len="sm" w="sm" type="none"/>
            <a:tailEnd len="sm" w="sm" type="none"/>
          </a:ln>
        </p:spPr>
      </p:cxnSp>
      <p:cxnSp>
        <p:nvCxnSpPr>
          <p:cNvPr id="2657" name="Google Shape;2657;p41"/>
          <p:cNvCxnSpPr>
            <a:stCxn id="2628" idx="3"/>
            <a:endCxn id="2655" idx="2"/>
          </p:cNvCxnSpPr>
          <p:nvPr/>
        </p:nvCxnSpPr>
        <p:spPr>
          <a:xfrm>
            <a:off x="9300266" y="4039538"/>
            <a:ext cx="614100" cy="1200"/>
          </a:xfrm>
          <a:prstGeom prst="straightConnector1">
            <a:avLst/>
          </a:prstGeom>
          <a:noFill/>
          <a:ln cap="flat" cmpd="sng" w="38100">
            <a:solidFill>
              <a:srgbClr val="00B050"/>
            </a:solidFill>
            <a:prstDash val="solid"/>
            <a:miter lim="800000"/>
            <a:headEnd len="sm" w="sm" type="none"/>
            <a:tailEnd len="sm" w="sm" type="none"/>
          </a:ln>
        </p:spPr>
      </p:cxnSp>
      <p:grpSp>
        <p:nvGrpSpPr>
          <p:cNvPr id="2658" name="Google Shape;2658;p41"/>
          <p:cNvGrpSpPr/>
          <p:nvPr/>
        </p:nvGrpSpPr>
        <p:grpSpPr>
          <a:xfrm>
            <a:off x="9914343" y="3604072"/>
            <a:ext cx="877582" cy="1252645"/>
            <a:chOff x="9827263" y="3125100"/>
            <a:chExt cx="877582" cy="1252645"/>
          </a:xfrm>
        </p:grpSpPr>
        <p:sp>
          <p:nvSpPr>
            <p:cNvPr id="2655" name="Google Shape;2655;p41"/>
            <p:cNvSpPr/>
            <p:nvPr/>
          </p:nvSpPr>
          <p:spPr>
            <a:xfrm>
              <a:off x="9827263" y="3125100"/>
              <a:ext cx="877582" cy="873172"/>
            </a:xfrm>
            <a:prstGeom prst="ellipse">
              <a:avLst/>
            </a:prstGeom>
            <a:solidFill>
              <a:srgbClr val="FFFFFF"/>
            </a:solidFill>
            <a:ln cap="flat" cmpd="sng" w="2857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9" name="Google Shape;2659;p41"/>
            <p:cNvSpPr txBox="1"/>
            <p:nvPr/>
          </p:nvSpPr>
          <p:spPr>
            <a:xfrm>
              <a:off x="9952468" y="4033035"/>
              <a:ext cx="554960"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link</a:t>
              </a:r>
              <a:endParaRPr/>
            </a:p>
          </p:txBody>
        </p:sp>
        <p:sp>
          <p:nvSpPr>
            <p:cNvPr id="2660" name="Google Shape;2660;p41"/>
            <p:cNvSpPr txBox="1"/>
            <p:nvPr/>
          </p:nvSpPr>
          <p:spPr>
            <a:xfrm>
              <a:off x="10086588" y="3391108"/>
              <a:ext cx="351378" cy="39517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2661" name="Google Shape;2661;p41"/>
          <p:cNvSpPr/>
          <p:nvPr/>
        </p:nvSpPr>
        <p:spPr>
          <a:xfrm>
            <a:off x="9470570" y="2939143"/>
            <a:ext cx="348343" cy="2177143"/>
          </a:xfrm>
          <a:prstGeom prst="ellipse">
            <a:avLst/>
          </a:prstGeom>
          <a:noFill/>
          <a:ln cap="flat" cmpd="sng" w="412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2" name="Google Shape;2662;p41"/>
          <p:cNvSpPr/>
          <p:nvPr/>
        </p:nvSpPr>
        <p:spPr>
          <a:xfrm>
            <a:off x="9716218" y="3095651"/>
            <a:ext cx="195532" cy="586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663" name="Google Shape;2663;p41"/>
          <p:cNvCxnSpPr/>
          <p:nvPr/>
        </p:nvCxnSpPr>
        <p:spPr>
          <a:xfrm rot="10800000">
            <a:off x="9812751" y="3556958"/>
            <a:ext cx="0" cy="261257"/>
          </a:xfrm>
          <a:prstGeom prst="straightConnector1">
            <a:avLst/>
          </a:prstGeom>
          <a:noFill/>
          <a:ln cap="flat" cmpd="sng" w="38100">
            <a:solidFill>
              <a:schemeClr val="dk1"/>
            </a:solidFill>
            <a:prstDash val="solid"/>
            <a:miter lim="800000"/>
            <a:headEnd len="sm" w="sm" type="none"/>
            <a:tailEnd len="med" w="med" type="triangle"/>
          </a:ln>
        </p:spPr>
      </p:cxnSp>
      <p:sp>
        <p:nvSpPr>
          <p:cNvPr id="2664" name="Google Shape;2664;p41"/>
          <p:cNvSpPr txBox="1"/>
          <p:nvPr/>
        </p:nvSpPr>
        <p:spPr>
          <a:xfrm>
            <a:off x="703011" y="3920647"/>
            <a:ext cx="5155396" cy="2347632"/>
          </a:xfrm>
          <a:prstGeom prst="rect">
            <a:avLst/>
          </a:prstGeom>
          <a:noFill/>
          <a:ln>
            <a:noFill/>
          </a:ln>
        </p:spPr>
        <p:txBody>
          <a:bodyPr anchorCtr="0" anchor="t" bIns="45700" lIns="91425" spcFirstLastPara="1" rIns="91425" wrap="square" tIns="45700">
            <a:normAutofit/>
          </a:bodyPr>
          <a:lstStyle/>
          <a:p>
            <a:pPr indent="-223837" lvl="0" marL="46196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cyclically, repeatedly  scans class queues, sending one complete packet from each class (if available) in turn</a:t>
            </a:r>
            <a:endParaRPr/>
          </a:p>
        </p:txBody>
      </p:sp>
      <p:sp>
        <p:nvSpPr>
          <p:cNvPr id="2665" name="Google Shape;2665;p41"/>
          <p:cNvSpPr/>
          <p:nvPr/>
        </p:nvSpPr>
        <p:spPr>
          <a:xfrm>
            <a:off x="4419600" y="5203371"/>
            <a:ext cx="5203371" cy="762000"/>
          </a:xfrm>
          <a:custGeom>
            <a:rect b="b" l="l" r="r" t="t"/>
            <a:pathLst>
              <a:path extrusionOk="0" h="762000" w="5203371">
                <a:moveTo>
                  <a:pt x="0" y="762000"/>
                </a:moveTo>
                <a:lnTo>
                  <a:pt x="5203371" y="762000"/>
                </a:lnTo>
                <a:lnTo>
                  <a:pt x="5203371" y="0"/>
                </a:ln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6" name="Google Shape;2666;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4"/>
                                        </p:tgtEl>
                                        <p:attrNameLst>
                                          <p:attrName>style.visibility</p:attrName>
                                        </p:attrNameLst>
                                      </p:cBhvr>
                                      <p:to>
                                        <p:strVal val="visible"/>
                                      </p:to>
                                    </p:set>
                                    <p:animEffect filter="fade" transition="in">
                                      <p:cBhvr>
                                        <p:cTn dur="500"/>
                                        <p:tgtEl>
                                          <p:spTgt spid="26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61"/>
                                        </p:tgtEl>
                                        <p:attrNameLst>
                                          <p:attrName>style.visibility</p:attrName>
                                        </p:attrNameLst>
                                      </p:cBhvr>
                                      <p:to>
                                        <p:strVal val="visible"/>
                                      </p:to>
                                    </p:set>
                                    <p:animEffect filter="fade" transition="in">
                                      <p:cBhvr>
                                        <p:cTn dur="500"/>
                                        <p:tgtEl>
                                          <p:spTgt spid="2661"/>
                                        </p:tgtEl>
                                      </p:cBhvr>
                                    </p:animEffect>
                                  </p:childTnLst>
                                </p:cTn>
                              </p:par>
                              <p:par>
                                <p:cTn fill="hold" nodeType="withEffect" presetClass="entr" presetID="10" presetSubtype="0">
                                  <p:stCondLst>
                                    <p:cond delay="0"/>
                                  </p:stCondLst>
                                  <p:childTnLst>
                                    <p:set>
                                      <p:cBhvr>
                                        <p:cTn dur="1" fill="hold">
                                          <p:stCondLst>
                                            <p:cond delay="0"/>
                                          </p:stCondLst>
                                        </p:cTn>
                                        <p:tgtEl>
                                          <p:spTgt spid="2665"/>
                                        </p:tgtEl>
                                        <p:attrNameLst>
                                          <p:attrName>style.visibility</p:attrName>
                                        </p:attrNameLst>
                                      </p:cBhvr>
                                      <p:to>
                                        <p:strVal val="visible"/>
                                      </p:to>
                                    </p:set>
                                    <p:animEffect filter="fade" transition="in">
                                      <p:cBhvr>
                                        <p:cTn dur="500"/>
                                        <p:tgtEl>
                                          <p:spTgt spid="2665"/>
                                        </p:tgtEl>
                                      </p:cBhvr>
                                    </p:animEffect>
                                  </p:childTnLst>
                                </p:cTn>
                              </p:par>
                              <p:par>
                                <p:cTn fill="hold" nodeType="withEffect" presetClass="entr" presetID="10" presetSubtype="0">
                                  <p:stCondLst>
                                    <p:cond delay="0"/>
                                  </p:stCondLst>
                                  <p:childTnLst>
                                    <p:set>
                                      <p:cBhvr>
                                        <p:cTn dur="1" fill="hold">
                                          <p:stCondLst>
                                            <p:cond delay="0"/>
                                          </p:stCondLst>
                                        </p:cTn>
                                        <p:tgtEl>
                                          <p:spTgt spid="2663"/>
                                        </p:tgtEl>
                                        <p:attrNameLst>
                                          <p:attrName>style.visibility</p:attrName>
                                        </p:attrNameLst>
                                      </p:cBhvr>
                                      <p:to>
                                        <p:strVal val="visible"/>
                                      </p:to>
                                    </p:set>
                                    <p:animEffect filter="fade" transition="in">
                                      <p:cBhvr>
                                        <p:cTn dur="500"/>
                                        <p:tgtEl>
                                          <p:spTgt spid="26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1" name="Shape 2671"/>
        <p:cNvGrpSpPr/>
        <p:nvPr/>
      </p:nvGrpSpPr>
      <p:grpSpPr>
        <a:xfrm>
          <a:off x="0" y="0"/>
          <a:ext cx="0" cy="0"/>
          <a:chOff x="0" y="0"/>
          <a:chExt cx="0" cy="0"/>
        </a:xfrm>
      </p:grpSpPr>
      <p:sp>
        <p:nvSpPr>
          <p:cNvPr id="2672" name="Google Shape;2672;p42"/>
          <p:cNvSpPr txBox="1"/>
          <p:nvPr>
            <p:ph idx="1" type="body"/>
          </p:nvPr>
        </p:nvSpPr>
        <p:spPr>
          <a:xfrm>
            <a:off x="788205" y="1692388"/>
            <a:ext cx="5557988" cy="111612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Weighted Fair Queuing (WFQ): </a:t>
            </a:r>
            <a:endParaRPr/>
          </a:p>
          <a:p>
            <a:pPr indent="-284163" lvl="0" marL="582613" rtl="0" algn="l">
              <a:lnSpc>
                <a:spcPct val="90000"/>
              </a:lnSpc>
              <a:spcBef>
                <a:spcPts val="1000"/>
              </a:spcBef>
              <a:spcAft>
                <a:spcPts val="0"/>
              </a:spcAft>
              <a:buSzPts val="3200"/>
              <a:buChar char="▪"/>
            </a:pPr>
            <a:r>
              <a:rPr lang="en-US" sz="3200"/>
              <a:t>generalized Round Robin</a:t>
            </a:r>
            <a:endParaRPr/>
          </a:p>
        </p:txBody>
      </p:sp>
      <p:sp>
        <p:nvSpPr>
          <p:cNvPr id="2673" name="Google Shape;2673;p4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weighted fair queueing</a:t>
            </a:r>
            <a:endParaRPr/>
          </a:p>
        </p:txBody>
      </p:sp>
      <p:cxnSp>
        <p:nvCxnSpPr>
          <p:cNvPr id="2674" name="Google Shape;2674;p42"/>
          <p:cNvCxnSpPr/>
          <p:nvPr/>
        </p:nvCxnSpPr>
        <p:spPr>
          <a:xfrm>
            <a:off x="10755082" y="4071258"/>
            <a:ext cx="457200" cy="0"/>
          </a:xfrm>
          <a:prstGeom prst="straightConnector1">
            <a:avLst/>
          </a:prstGeom>
          <a:noFill/>
          <a:ln cap="flat" cmpd="sng" w="38100">
            <a:solidFill>
              <a:schemeClr val="dk1"/>
            </a:solidFill>
            <a:prstDash val="solid"/>
            <a:miter lim="800000"/>
            <a:headEnd len="sm" w="sm" type="none"/>
            <a:tailEnd len="sm" w="sm" type="none"/>
          </a:ln>
        </p:spPr>
      </p:cxnSp>
      <p:grpSp>
        <p:nvGrpSpPr>
          <p:cNvPr id="2675" name="Google Shape;2675;p42"/>
          <p:cNvGrpSpPr/>
          <p:nvPr/>
        </p:nvGrpSpPr>
        <p:grpSpPr>
          <a:xfrm>
            <a:off x="7990116" y="2719344"/>
            <a:ext cx="1310150" cy="2565881"/>
            <a:chOff x="8117411" y="2240372"/>
            <a:chExt cx="1444110" cy="2565881"/>
          </a:xfrm>
        </p:grpSpPr>
        <p:grpSp>
          <p:nvGrpSpPr>
            <p:cNvPr id="2676" name="Google Shape;2676;p42"/>
            <p:cNvGrpSpPr/>
            <p:nvPr/>
          </p:nvGrpSpPr>
          <p:grpSpPr>
            <a:xfrm>
              <a:off x="8117411" y="2240372"/>
              <a:ext cx="1404483" cy="760001"/>
              <a:chOff x="1670312" y="2562997"/>
              <a:chExt cx="940317" cy="565219"/>
            </a:xfrm>
          </p:grpSpPr>
          <p:grpSp>
            <p:nvGrpSpPr>
              <p:cNvPr id="2677" name="Google Shape;2677;p42"/>
              <p:cNvGrpSpPr/>
              <p:nvPr/>
            </p:nvGrpSpPr>
            <p:grpSpPr>
              <a:xfrm>
                <a:off x="1670312" y="2562997"/>
                <a:ext cx="929822" cy="565219"/>
                <a:chOff x="1670312" y="2562997"/>
                <a:chExt cx="929822" cy="565219"/>
              </a:xfrm>
            </p:grpSpPr>
            <p:sp>
              <p:nvSpPr>
                <p:cNvPr id="2678" name="Google Shape;2678;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79" name="Google Shape;2679;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0" name="Google Shape;2680;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1" name="Google Shape;2681;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2" name="Google Shape;2682;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3" name="Google Shape;2683;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4" name="Google Shape;2684;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85" name="Google Shape;2685;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86" name="Google Shape;2686;p42"/>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87" name="Google Shape;2687;p42"/>
            <p:cNvGrpSpPr/>
            <p:nvPr/>
          </p:nvGrpSpPr>
          <p:grpSpPr>
            <a:xfrm>
              <a:off x="8136990" y="3176315"/>
              <a:ext cx="1424531" cy="763274"/>
              <a:chOff x="1670312" y="2562997"/>
              <a:chExt cx="940318" cy="565219"/>
            </a:xfrm>
          </p:grpSpPr>
          <p:grpSp>
            <p:nvGrpSpPr>
              <p:cNvPr id="2688" name="Google Shape;2688;p42"/>
              <p:cNvGrpSpPr/>
              <p:nvPr/>
            </p:nvGrpSpPr>
            <p:grpSpPr>
              <a:xfrm>
                <a:off x="1670312" y="2562997"/>
                <a:ext cx="929822" cy="565219"/>
                <a:chOff x="1670312" y="2562997"/>
                <a:chExt cx="929822" cy="565219"/>
              </a:xfrm>
            </p:grpSpPr>
            <p:sp>
              <p:nvSpPr>
                <p:cNvPr id="2689" name="Google Shape;2689;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90" name="Google Shape;2690;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1" name="Google Shape;2691;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2" name="Google Shape;2692;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3" name="Google Shape;2693;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4" name="Google Shape;2694;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5" name="Google Shape;2695;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696" name="Google Shape;2696;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697" name="Google Shape;2697;p42"/>
              <p:cNvSpPr/>
              <p:nvPr/>
            </p:nvSpPr>
            <p:spPr>
              <a:xfrm>
                <a:off x="2235418" y="2571262"/>
                <a:ext cx="375212" cy="552560"/>
              </a:xfrm>
              <a:prstGeom prst="rect">
                <a:avLst/>
              </a:prstGeom>
              <a:solidFill>
                <a:srgbClr val="00B05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98" name="Google Shape;2698;p42"/>
            <p:cNvGrpSpPr/>
            <p:nvPr/>
          </p:nvGrpSpPr>
          <p:grpSpPr>
            <a:xfrm>
              <a:off x="8132733" y="4084509"/>
              <a:ext cx="1424529" cy="721744"/>
              <a:chOff x="1670312" y="2562997"/>
              <a:chExt cx="940317" cy="565219"/>
            </a:xfrm>
          </p:grpSpPr>
          <p:grpSp>
            <p:nvGrpSpPr>
              <p:cNvPr id="2699" name="Google Shape;2699;p42"/>
              <p:cNvGrpSpPr/>
              <p:nvPr/>
            </p:nvGrpSpPr>
            <p:grpSpPr>
              <a:xfrm>
                <a:off x="1670312" y="2562997"/>
                <a:ext cx="929822" cy="565219"/>
                <a:chOff x="1670312" y="2562997"/>
                <a:chExt cx="929822" cy="565219"/>
              </a:xfrm>
            </p:grpSpPr>
            <p:sp>
              <p:nvSpPr>
                <p:cNvPr id="2700" name="Google Shape;2700;p42"/>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701" name="Google Shape;2701;p42"/>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2" name="Google Shape;2702;p42"/>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3" name="Google Shape;2703;p42"/>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4" name="Google Shape;2704;p42"/>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5" name="Google Shape;2705;p42"/>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6" name="Google Shape;2706;p42"/>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2707" name="Google Shape;2707;p42"/>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2708" name="Google Shape;2708;p42"/>
              <p:cNvSpPr/>
              <p:nvPr/>
            </p:nvSpPr>
            <p:spPr>
              <a:xfrm>
                <a:off x="2131937" y="2571262"/>
                <a:ext cx="478692" cy="552560"/>
              </a:xfrm>
              <a:prstGeom prst="rect">
                <a:avLst/>
              </a:prstGeom>
              <a:solidFill>
                <a:srgbClr val="3333CC">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2709" name="Google Shape;2709;p42"/>
          <p:cNvSpPr/>
          <p:nvPr/>
        </p:nvSpPr>
        <p:spPr>
          <a:xfrm rot="5400000">
            <a:off x="6881445" y="3717354"/>
            <a:ext cx="811706" cy="665402"/>
          </a:xfrm>
          <a:prstGeom prst="triangle">
            <a:avLst>
              <a:gd fmla="val 50000" name="adj"/>
            </a:avLst>
          </a:prstGeom>
          <a:solidFill>
            <a:schemeClr val="lt1"/>
          </a:solidFill>
          <a:ln cap="flat" cmpd="sng" w="317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10" name="Google Shape;2710;p42"/>
          <p:cNvGrpSpPr/>
          <p:nvPr/>
        </p:nvGrpSpPr>
        <p:grpSpPr>
          <a:xfrm>
            <a:off x="6303665" y="3871966"/>
            <a:ext cx="567187" cy="339970"/>
            <a:chOff x="9460523" y="6049108"/>
            <a:chExt cx="567187" cy="339970"/>
          </a:xfrm>
        </p:grpSpPr>
        <p:cxnSp>
          <p:nvCxnSpPr>
            <p:cNvPr id="2711" name="Google Shape;2711;p42"/>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712" name="Google Shape;2712;p42"/>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13" name="Google Shape;2713;p42"/>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grpSp>
        <p:nvGrpSpPr>
          <p:cNvPr id="2714" name="Google Shape;2714;p42"/>
          <p:cNvGrpSpPr/>
          <p:nvPr/>
        </p:nvGrpSpPr>
        <p:grpSpPr>
          <a:xfrm>
            <a:off x="11245773" y="3893738"/>
            <a:ext cx="567187" cy="339970"/>
            <a:chOff x="9460523" y="6049108"/>
            <a:chExt cx="567187" cy="339970"/>
          </a:xfrm>
        </p:grpSpPr>
        <p:cxnSp>
          <p:nvCxnSpPr>
            <p:cNvPr id="2715" name="Google Shape;2715;p42"/>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2716" name="Google Shape;2716;p42"/>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17" name="Google Shape;2717;p42"/>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sp>
        <p:nvSpPr>
          <p:cNvPr id="2718" name="Google Shape;2718;p42"/>
          <p:cNvSpPr txBox="1"/>
          <p:nvPr/>
        </p:nvSpPr>
        <p:spPr>
          <a:xfrm>
            <a:off x="6576771" y="4550229"/>
            <a:ext cx="990656"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classify </a:t>
            </a:r>
            <a:endParaRPr/>
          </a:p>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arrivals</a:t>
            </a:r>
            <a:endParaRPr/>
          </a:p>
        </p:txBody>
      </p:sp>
      <p:sp>
        <p:nvSpPr>
          <p:cNvPr id="2719" name="Google Shape;2719;p42"/>
          <p:cNvSpPr txBox="1"/>
          <p:nvPr/>
        </p:nvSpPr>
        <p:spPr>
          <a:xfrm>
            <a:off x="10609189" y="4515922"/>
            <a:ext cx="1332224"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departures</a:t>
            </a:r>
            <a:endParaRPr/>
          </a:p>
        </p:txBody>
      </p:sp>
      <p:cxnSp>
        <p:nvCxnSpPr>
          <p:cNvPr id="2720" name="Google Shape;2720;p42"/>
          <p:cNvCxnSpPr>
            <a:stCxn id="2709" idx="0"/>
          </p:cNvCxnSpPr>
          <p:nvPr/>
        </p:nvCxnSpPr>
        <p:spPr>
          <a:xfrm flipH="1" rot="10800000">
            <a:off x="7619999" y="3067555"/>
            <a:ext cx="682500" cy="982500"/>
          </a:xfrm>
          <a:prstGeom prst="straightConnector1">
            <a:avLst/>
          </a:prstGeom>
          <a:noFill/>
          <a:ln cap="flat" cmpd="sng" w="38100">
            <a:solidFill>
              <a:srgbClr val="FF0000"/>
            </a:solidFill>
            <a:prstDash val="solid"/>
            <a:miter lim="800000"/>
            <a:headEnd len="sm" w="sm" type="none"/>
            <a:tailEnd len="med" w="med" type="triangle"/>
          </a:ln>
        </p:spPr>
      </p:cxnSp>
      <p:cxnSp>
        <p:nvCxnSpPr>
          <p:cNvPr id="2721" name="Google Shape;2721;p42"/>
          <p:cNvCxnSpPr/>
          <p:nvPr/>
        </p:nvCxnSpPr>
        <p:spPr>
          <a:xfrm>
            <a:off x="7635460" y="4051945"/>
            <a:ext cx="696572" cy="0"/>
          </a:xfrm>
          <a:prstGeom prst="straightConnector1">
            <a:avLst/>
          </a:prstGeom>
          <a:noFill/>
          <a:ln cap="flat" cmpd="sng" w="38100">
            <a:solidFill>
              <a:srgbClr val="00B050"/>
            </a:solidFill>
            <a:prstDash val="solid"/>
            <a:miter lim="800000"/>
            <a:headEnd len="sm" w="sm" type="none"/>
            <a:tailEnd len="med" w="med" type="triangle"/>
          </a:ln>
        </p:spPr>
      </p:cxnSp>
      <p:cxnSp>
        <p:nvCxnSpPr>
          <p:cNvPr id="2722" name="Google Shape;2722;p42"/>
          <p:cNvCxnSpPr>
            <a:stCxn id="2709" idx="0"/>
          </p:cNvCxnSpPr>
          <p:nvPr/>
        </p:nvCxnSpPr>
        <p:spPr>
          <a:xfrm>
            <a:off x="7619999" y="4050055"/>
            <a:ext cx="682200" cy="871500"/>
          </a:xfrm>
          <a:prstGeom prst="straightConnector1">
            <a:avLst/>
          </a:prstGeom>
          <a:noFill/>
          <a:ln cap="flat" cmpd="sng" w="38100">
            <a:solidFill>
              <a:srgbClr val="3333CC"/>
            </a:solidFill>
            <a:prstDash val="solid"/>
            <a:miter lim="800000"/>
            <a:headEnd len="sm" w="sm" type="none"/>
            <a:tailEnd len="med" w="med" type="triangle"/>
          </a:ln>
        </p:spPr>
      </p:cxnSp>
      <p:cxnSp>
        <p:nvCxnSpPr>
          <p:cNvPr id="2723" name="Google Shape;2723;p42"/>
          <p:cNvCxnSpPr>
            <a:stCxn id="2678" idx="3"/>
            <a:endCxn id="2724" idx="2"/>
          </p:cNvCxnSpPr>
          <p:nvPr/>
        </p:nvCxnSpPr>
        <p:spPr>
          <a:xfrm>
            <a:off x="9250093" y="3097958"/>
            <a:ext cx="664200" cy="942600"/>
          </a:xfrm>
          <a:prstGeom prst="straightConnector1">
            <a:avLst/>
          </a:prstGeom>
          <a:noFill/>
          <a:ln cap="flat" cmpd="sng" w="38100">
            <a:solidFill>
              <a:srgbClr val="FF0000"/>
            </a:solidFill>
            <a:prstDash val="solid"/>
            <a:miter lim="800000"/>
            <a:headEnd len="sm" w="sm" type="none"/>
            <a:tailEnd len="sm" w="sm" type="none"/>
          </a:ln>
        </p:spPr>
      </p:cxnSp>
      <p:cxnSp>
        <p:nvCxnSpPr>
          <p:cNvPr id="2725" name="Google Shape;2725;p42"/>
          <p:cNvCxnSpPr>
            <a:stCxn id="2700" idx="3"/>
            <a:endCxn id="2724" idx="2"/>
          </p:cNvCxnSpPr>
          <p:nvPr/>
        </p:nvCxnSpPr>
        <p:spPr>
          <a:xfrm flipH="1" rot="10800000">
            <a:off x="9281978" y="4040736"/>
            <a:ext cx="632400" cy="882300"/>
          </a:xfrm>
          <a:prstGeom prst="straightConnector1">
            <a:avLst/>
          </a:prstGeom>
          <a:noFill/>
          <a:ln cap="flat" cmpd="sng" w="38100">
            <a:solidFill>
              <a:srgbClr val="3333CC"/>
            </a:solidFill>
            <a:prstDash val="solid"/>
            <a:miter lim="800000"/>
            <a:headEnd len="sm" w="sm" type="none"/>
            <a:tailEnd len="sm" w="sm" type="none"/>
          </a:ln>
        </p:spPr>
      </p:cxnSp>
      <p:cxnSp>
        <p:nvCxnSpPr>
          <p:cNvPr id="2726" name="Google Shape;2726;p42"/>
          <p:cNvCxnSpPr>
            <a:stCxn id="2697" idx="3"/>
            <a:endCxn id="2724" idx="2"/>
          </p:cNvCxnSpPr>
          <p:nvPr/>
        </p:nvCxnSpPr>
        <p:spPr>
          <a:xfrm>
            <a:off x="9300266" y="4039538"/>
            <a:ext cx="614100" cy="1200"/>
          </a:xfrm>
          <a:prstGeom prst="straightConnector1">
            <a:avLst/>
          </a:prstGeom>
          <a:noFill/>
          <a:ln cap="flat" cmpd="sng" w="38100">
            <a:solidFill>
              <a:srgbClr val="00B050"/>
            </a:solidFill>
            <a:prstDash val="solid"/>
            <a:miter lim="800000"/>
            <a:headEnd len="sm" w="sm" type="none"/>
            <a:tailEnd len="sm" w="sm" type="none"/>
          </a:ln>
        </p:spPr>
      </p:cxnSp>
      <p:grpSp>
        <p:nvGrpSpPr>
          <p:cNvPr id="2727" name="Google Shape;2727;p42"/>
          <p:cNvGrpSpPr/>
          <p:nvPr/>
        </p:nvGrpSpPr>
        <p:grpSpPr>
          <a:xfrm>
            <a:off x="9914343" y="3604072"/>
            <a:ext cx="877582" cy="1252645"/>
            <a:chOff x="9827263" y="3125100"/>
            <a:chExt cx="877582" cy="1252645"/>
          </a:xfrm>
        </p:grpSpPr>
        <p:sp>
          <p:nvSpPr>
            <p:cNvPr id="2724" name="Google Shape;2724;p42"/>
            <p:cNvSpPr/>
            <p:nvPr/>
          </p:nvSpPr>
          <p:spPr>
            <a:xfrm>
              <a:off x="9827263" y="3125100"/>
              <a:ext cx="877582" cy="873172"/>
            </a:xfrm>
            <a:prstGeom prst="ellipse">
              <a:avLst/>
            </a:prstGeom>
            <a:solidFill>
              <a:srgbClr val="FFFFFF"/>
            </a:solidFill>
            <a:ln cap="flat" cmpd="sng" w="2857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8" name="Google Shape;2728;p42"/>
            <p:cNvSpPr txBox="1"/>
            <p:nvPr/>
          </p:nvSpPr>
          <p:spPr>
            <a:xfrm>
              <a:off x="9952468" y="4033035"/>
              <a:ext cx="554960"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link</a:t>
              </a:r>
              <a:endParaRPr/>
            </a:p>
          </p:txBody>
        </p:sp>
        <p:sp>
          <p:nvSpPr>
            <p:cNvPr id="2729" name="Google Shape;2729;p42"/>
            <p:cNvSpPr txBox="1"/>
            <p:nvPr/>
          </p:nvSpPr>
          <p:spPr>
            <a:xfrm>
              <a:off x="10086588" y="3391108"/>
              <a:ext cx="351378" cy="39517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grpSp>
        <p:nvGrpSpPr>
          <p:cNvPr id="2730" name="Google Shape;2730;p42"/>
          <p:cNvGrpSpPr/>
          <p:nvPr/>
        </p:nvGrpSpPr>
        <p:grpSpPr>
          <a:xfrm>
            <a:off x="8807568" y="2894368"/>
            <a:ext cx="1104182" cy="2221918"/>
            <a:chOff x="8807568" y="2894368"/>
            <a:chExt cx="1104182" cy="2221918"/>
          </a:xfrm>
        </p:grpSpPr>
        <p:grpSp>
          <p:nvGrpSpPr>
            <p:cNvPr id="2731" name="Google Shape;2731;p42"/>
            <p:cNvGrpSpPr/>
            <p:nvPr/>
          </p:nvGrpSpPr>
          <p:grpSpPr>
            <a:xfrm>
              <a:off x="9470570" y="2939143"/>
              <a:ext cx="441180" cy="2177143"/>
              <a:chOff x="9470570" y="2939143"/>
              <a:chExt cx="441180" cy="2177143"/>
            </a:xfrm>
          </p:grpSpPr>
          <p:sp>
            <p:nvSpPr>
              <p:cNvPr id="2732" name="Google Shape;2732;p42"/>
              <p:cNvSpPr/>
              <p:nvPr/>
            </p:nvSpPr>
            <p:spPr>
              <a:xfrm>
                <a:off x="9470570" y="2939143"/>
                <a:ext cx="348343" cy="2177143"/>
              </a:xfrm>
              <a:prstGeom prst="ellipse">
                <a:avLst/>
              </a:prstGeom>
              <a:noFill/>
              <a:ln cap="flat" cmpd="sng" w="412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3" name="Google Shape;2733;p42"/>
              <p:cNvSpPr/>
              <p:nvPr/>
            </p:nvSpPr>
            <p:spPr>
              <a:xfrm>
                <a:off x="9716218" y="3095651"/>
                <a:ext cx="195532" cy="586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734" name="Google Shape;2734;p42"/>
              <p:cNvCxnSpPr/>
              <p:nvPr/>
            </p:nvCxnSpPr>
            <p:spPr>
              <a:xfrm rot="10800000">
                <a:off x="9808687" y="3573214"/>
                <a:ext cx="0" cy="261257"/>
              </a:xfrm>
              <a:prstGeom prst="straightConnector1">
                <a:avLst/>
              </a:prstGeom>
              <a:noFill/>
              <a:ln cap="flat" cmpd="sng" w="38100">
                <a:solidFill>
                  <a:schemeClr val="dk1"/>
                </a:solidFill>
                <a:prstDash val="solid"/>
                <a:miter lim="800000"/>
                <a:headEnd len="sm" w="sm" type="none"/>
                <a:tailEnd len="med" w="med" type="triangle"/>
              </a:ln>
            </p:spPr>
          </p:cxnSp>
        </p:grpSp>
        <p:grpSp>
          <p:nvGrpSpPr>
            <p:cNvPr id="2735" name="Google Shape;2735;p42"/>
            <p:cNvGrpSpPr/>
            <p:nvPr/>
          </p:nvGrpSpPr>
          <p:grpSpPr>
            <a:xfrm>
              <a:off x="8807568" y="2894368"/>
              <a:ext cx="457076" cy="2191108"/>
              <a:chOff x="8807568" y="2894368"/>
              <a:chExt cx="457076" cy="2191108"/>
            </a:xfrm>
          </p:grpSpPr>
          <p:grpSp>
            <p:nvGrpSpPr>
              <p:cNvPr id="2736" name="Google Shape;2736;p42"/>
              <p:cNvGrpSpPr/>
              <p:nvPr/>
            </p:nvGrpSpPr>
            <p:grpSpPr>
              <a:xfrm>
                <a:off x="8807568" y="2894368"/>
                <a:ext cx="428322" cy="385312"/>
                <a:chOff x="10311441" y="2346385"/>
                <a:chExt cx="428322" cy="385312"/>
              </a:xfrm>
            </p:grpSpPr>
            <p:sp>
              <p:nvSpPr>
                <p:cNvPr id="2737" name="Google Shape;2737;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38" name="Google Shape;2738;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1</a:t>
                  </a:r>
                  <a:endParaRPr/>
                </a:p>
              </p:txBody>
            </p:sp>
          </p:grpSp>
          <p:grpSp>
            <p:nvGrpSpPr>
              <p:cNvPr id="2739" name="Google Shape;2739;p42"/>
              <p:cNvGrpSpPr/>
              <p:nvPr/>
            </p:nvGrpSpPr>
            <p:grpSpPr>
              <a:xfrm>
                <a:off x="8827696" y="3823145"/>
                <a:ext cx="428322" cy="385312"/>
                <a:chOff x="10311441" y="2346385"/>
                <a:chExt cx="428322" cy="385312"/>
              </a:xfrm>
            </p:grpSpPr>
            <p:sp>
              <p:nvSpPr>
                <p:cNvPr id="2740" name="Google Shape;2740;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1" name="Google Shape;2741;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2</a:t>
                  </a:r>
                  <a:endParaRPr/>
                </a:p>
              </p:txBody>
            </p:sp>
          </p:grpSp>
          <p:grpSp>
            <p:nvGrpSpPr>
              <p:cNvPr id="2742" name="Google Shape;2742;p42"/>
              <p:cNvGrpSpPr/>
              <p:nvPr/>
            </p:nvGrpSpPr>
            <p:grpSpPr>
              <a:xfrm>
                <a:off x="8836322" y="4700164"/>
                <a:ext cx="428322" cy="385312"/>
                <a:chOff x="10311441" y="2346385"/>
                <a:chExt cx="428322" cy="385312"/>
              </a:xfrm>
            </p:grpSpPr>
            <p:sp>
              <p:nvSpPr>
                <p:cNvPr id="2743" name="Google Shape;2743;p42"/>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44" name="Google Shape;2744;p42"/>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3</a:t>
                  </a:r>
                  <a:endParaRPr/>
                </a:p>
              </p:txBody>
            </p:sp>
          </p:grpSp>
        </p:grpSp>
      </p:grpSp>
      <p:grpSp>
        <p:nvGrpSpPr>
          <p:cNvPr id="2745" name="Google Shape;2745;p42"/>
          <p:cNvGrpSpPr/>
          <p:nvPr/>
        </p:nvGrpSpPr>
        <p:grpSpPr>
          <a:xfrm>
            <a:off x="2830287" y="4027715"/>
            <a:ext cx="853119" cy="1129061"/>
            <a:chOff x="6422573" y="5573486"/>
            <a:chExt cx="853119" cy="1129061"/>
          </a:xfrm>
        </p:grpSpPr>
        <p:sp>
          <p:nvSpPr>
            <p:cNvPr id="2746" name="Google Shape;2746;p42"/>
            <p:cNvSpPr txBox="1"/>
            <p:nvPr/>
          </p:nvSpPr>
          <p:spPr>
            <a:xfrm>
              <a:off x="6531429" y="5573486"/>
              <a:ext cx="54053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i</a:t>
              </a:r>
              <a:endParaRPr b="0" i="0" sz="3200" u="none" cap="none" strike="noStrike">
                <a:solidFill>
                  <a:srgbClr val="000000"/>
                </a:solidFill>
                <a:latin typeface="Calibri"/>
                <a:ea typeface="Calibri"/>
                <a:cs typeface="Calibri"/>
                <a:sym typeface="Calibri"/>
              </a:endParaRPr>
            </a:p>
          </p:txBody>
        </p:sp>
        <p:sp>
          <p:nvSpPr>
            <p:cNvPr id="2747" name="Google Shape;2747;p42"/>
            <p:cNvSpPr txBox="1"/>
            <p:nvPr/>
          </p:nvSpPr>
          <p:spPr>
            <a:xfrm>
              <a:off x="6422573" y="6117772"/>
              <a:ext cx="85311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Noto Sans Symbols"/>
                  <a:ea typeface="Noto Sans Symbols"/>
                  <a:cs typeface="Noto Sans Symbols"/>
                  <a:sym typeface="Noto Sans Symbols"/>
                </a:rPr>
                <a:t>Σ</a:t>
              </a:r>
              <a:r>
                <a:rPr b="0" baseline="-25000" i="1" lang="en-US" sz="2400" u="none" cap="none" strike="noStrike">
                  <a:solidFill>
                    <a:srgbClr val="000000"/>
                  </a:solidFill>
                  <a:latin typeface="Calibri"/>
                  <a:ea typeface="Calibri"/>
                  <a:cs typeface="Calibri"/>
                  <a:sym typeface="Calibri"/>
                </a:rPr>
                <a:t>j</a:t>
              </a: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j</a:t>
              </a:r>
              <a:endParaRPr b="0" i="0" sz="3200" u="none" cap="none" strike="noStrike">
                <a:solidFill>
                  <a:srgbClr val="000000"/>
                </a:solidFill>
                <a:latin typeface="Calibri"/>
                <a:ea typeface="Calibri"/>
                <a:cs typeface="Calibri"/>
                <a:sym typeface="Calibri"/>
              </a:endParaRPr>
            </a:p>
          </p:txBody>
        </p:sp>
        <p:cxnSp>
          <p:nvCxnSpPr>
            <p:cNvPr id="2748" name="Google Shape;2748;p42"/>
            <p:cNvCxnSpPr/>
            <p:nvPr/>
          </p:nvCxnSpPr>
          <p:spPr>
            <a:xfrm>
              <a:off x="6553200" y="6173453"/>
              <a:ext cx="478971" cy="0"/>
            </a:xfrm>
            <a:prstGeom prst="straightConnector1">
              <a:avLst/>
            </a:prstGeom>
            <a:noFill/>
            <a:ln cap="rnd" cmpd="sng" w="38100">
              <a:solidFill>
                <a:schemeClr val="dk1"/>
              </a:solidFill>
              <a:prstDash val="solid"/>
              <a:miter lim="800000"/>
              <a:headEnd len="sm" w="sm" type="none"/>
              <a:tailEnd len="sm" w="sm" type="none"/>
            </a:ln>
          </p:spPr>
        </p:cxnSp>
      </p:grpSp>
      <p:sp>
        <p:nvSpPr>
          <p:cNvPr id="2749" name="Google Shape;2749;p42"/>
          <p:cNvSpPr txBox="1"/>
          <p:nvPr/>
        </p:nvSpPr>
        <p:spPr>
          <a:xfrm>
            <a:off x="788204" y="5154045"/>
            <a:ext cx="5557988" cy="1050813"/>
          </a:xfrm>
          <a:prstGeom prst="rect">
            <a:avLst/>
          </a:prstGeom>
          <a:noFill/>
          <a:ln>
            <a:noFill/>
          </a:ln>
        </p:spPr>
        <p:txBody>
          <a:bodyPr anchorCtr="0" anchor="t" bIns="45700" lIns="91425" spcFirstLastPara="1" rIns="91425" wrap="square" tIns="45700">
            <a:normAutofit/>
          </a:bodyPr>
          <a:lstStyle/>
          <a:p>
            <a:pPr indent="-284163" lvl="0" marL="5826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minimum bandwidth guarantee (per-traffic-class)</a:t>
            </a:r>
            <a:endParaRPr/>
          </a:p>
        </p:txBody>
      </p:sp>
      <p:sp>
        <p:nvSpPr>
          <p:cNvPr id="2750" name="Google Shape;2750;p42"/>
          <p:cNvSpPr txBox="1"/>
          <p:nvPr/>
        </p:nvSpPr>
        <p:spPr>
          <a:xfrm>
            <a:off x="766433" y="2740308"/>
            <a:ext cx="5557988" cy="1420926"/>
          </a:xfrm>
          <a:prstGeom prst="rect">
            <a:avLst/>
          </a:prstGeom>
          <a:noFill/>
          <a:ln>
            <a:noFill/>
          </a:ln>
        </p:spPr>
        <p:txBody>
          <a:bodyPr anchorCtr="0" anchor="t" bIns="45700" lIns="91425" spcFirstLastPara="1" rIns="91425" wrap="square" tIns="45700">
            <a:normAutofit/>
          </a:bodyPr>
          <a:lstStyle/>
          <a:p>
            <a:pPr indent="-284163" lvl="0" marL="5826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class, </a:t>
            </a:r>
            <a:r>
              <a:rPr b="0" i="1" lang="en-US" sz="3200" u="none" cap="none" strike="noStrike">
                <a:solidFill>
                  <a:srgbClr val="000000"/>
                </a:solidFill>
                <a:latin typeface="Calibri"/>
                <a:ea typeface="Calibri"/>
                <a:cs typeface="Calibri"/>
                <a:sym typeface="Calibri"/>
              </a:rPr>
              <a:t>i, </a:t>
            </a:r>
            <a:r>
              <a:rPr b="0" i="0" lang="en-US" sz="3200" u="none" cap="none" strike="noStrike">
                <a:solidFill>
                  <a:srgbClr val="000000"/>
                </a:solidFill>
                <a:latin typeface="Calibri"/>
                <a:ea typeface="Calibri"/>
                <a:cs typeface="Calibri"/>
                <a:sym typeface="Calibri"/>
              </a:rPr>
              <a:t>has weight, </a:t>
            </a: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i</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and</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gets weighted amount of service in each cycle:</a:t>
            </a:r>
            <a:endParaRPr/>
          </a:p>
        </p:txBody>
      </p:sp>
      <p:sp>
        <p:nvSpPr>
          <p:cNvPr id="2751" name="Google Shape;2751;p4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0"/>
                                        </p:tgtEl>
                                        <p:attrNameLst>
                                          <p:attrName>style.visibility</p:attrName>
                                        </p:attrNameLst>
                                      </p:cBhvr>
                                      <p:to>
                                        <p:strVal val="visible"/>
                                      </p:to>
                                    </p:set>
                                    <p:animEffect filter="fade" transition="in">
                                      <p:cBhvr>
                                        <p:cTn dur="500"/>
                                        <p:tgtEl>
                                          <p:spTgt spid="2730"/>
                                        </p:tgtEl>
                                      </p:cBhvr>
                                    </p:animEffect>
                                  </p:childTnLst>
                                </p:cTn>
                              </p:par>
                              <p:par>
                                <p:cTn fill="hold" nodeType="withEffect" presetClass="entr" presetID="10" presetSubtype="0">
                                  <p:stCondLst>
                                    <p:cond delay="0"/>
                                  </p:stCondLst>
                                  <p:childTnLst>
                                    <p:set>
                                      <p:cBhvr>
                                        <p:cTn dur="1" fill="hold">
                                          <p:stCondLst>
                                            <p:cond delay="0"/>
                                          </p:stCondLst>
                                        </p:cTn>
                                        <p:tgtEl>
                                          <p:spTgt spid="2745"/>
                                        </p:tgtEl>
                                        <p:attrNameLst>
                                          <p:attrName>style.visibility</p:attrName>
                                        </p:attrNameLst>
                                      </p:cBhvr>
                                      <p:to>
                                        <p:strVal val="visible"/>
                                      </p:to>
                                    </p:set>
                                    <p:animEffect filter="fade" transition="in">
                                      <p:cBhvr>
                                        <p:cTn dur="500"/>
                                        <p:tgtEl>
                                          <p:spTgt spid="2745"/>
                                        </p:tgtEl>
                                      </p:cBhvr>
                                    </p:animEffect>
                                  </p:childTnLst>
                                </p:cTn>
                              </p:par>
                              <p:par>
                                <p:cTn fill="hold" nodeType="withEffect" presetClass="entr" presetID="10" presetSubtype="0">
                                  <p:stCondLst>
                                    <p:cond delay="0"/>
                                  </p:stCondLst>
                                  <p:childTnLst>
                                    <p:set>
                                      <p:cBhvr>
                                        <p:cTn dur="1" fill="hold">
                                          <p:stCondLst>
                                            <p:cond delay="0"/>
                                          </p:stCondLst>
                                        </p:cTn>
                                        <p:tgtEl>
                                          <p:spTgt spid="2750"/>
                                        </p:tgtEl>
                                        <p:attrNameLst>
                                          <p:attrName>style.visibility</p:attrName>
                                        </p:attrNameLst>
                                      </p:cBhvr>
                                      <p:to>
                                        <p:strVal val="visible"/>
                                      </p:to>
                                    </p:set>
                                    <p:animEffect filter="fade" transition="in">
                                      <p:cBhvr>
                                        <p:cTn dur="500"/>
                                        <p:tgtEl>
                                          <p:spTgt spid="27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9"/>
                                        </p:tgtEl>
                                        <p:attrNameLst>
                                          <p:attrName>style.visibility</p:attrName>
                                        </p:attrNameLst>
                                      </p:cBhvr>
                                      <p:to>
                                        <p:strVal val="visible"/>
                                      </p:to>
                                    </p:set>
                                    <p:animEffect filter="fade" transition="in">
                                      <p:cBhvr>
                                        <p:cTn dur="500"/>
                                        <p:tgtEl>
                                          <p:spTgt spid="2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6" name="Shape 2756"/>
        <p:cNvGrpSpPr/>
        <p:nvPr/>
      </p:nvGrpSpPr>
      <p:grpSpPr>
        <a:xfrm>
          <a:off x="0" y="0"/>
          <a:ext cx="0" cy="0"/>
          <a:chOff x="0" y="0"/>
          <a:chExt cx="0" cy="0"/>
        </a:xfrm>
      </p:grpSpPr>
      <p:sp>
        <p:nvSpPr>
          <p:cNvPr id="2757" name="Google Shape;2757;p4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Sidebar: Network Neutrality</a:t>
            </a:r>
            <a:endParaRPr/>
          </a:p>
        </p:txBody>
      </p:sp>
      <p:sp>
        <p:nvSpPr>
          <p:cNvPr id="2758" name="Google Shape;2758;p43"/>
          <p:cNvSpPr txBox="1"/>
          <p:nvPr>
            <p:ph idx="1" type="body"/>
          </p:nvPr>
        </p:nvSpPr>
        <p:spPr>
          <a:xfrm>
            <a:off x="793894" y="1421607"/>
            <a:ext cx="10607531" cy="453030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sz="3600"/>
              <a:t>What is network neutrality?</a:t>
            </a:r>
            <a:endParaRPr/>
          </a:p>
          <a:p>
            <a:pPr indent="-338138" lvl="1" marL="520700" rtl="0" algn="l">
              <a:lnSpc>
                <a:spcPct val="100000"/>
              </a:lnSpc>
              <a:spcBef>
                <a:spcPts val="500"/>
              </a:spcBef>
              <a:spcAft>
                <a:spcPts val="0"/>
              </a:spcAft>
              <a:buSzPts val="3200"/>
              <a:buFont typeface="Noto Sans Symbols"/>
              <a:buChar char="▪"/>
            </a:pPr>
            <a:r>
              <a:rPr i="1" lang="en-US" sz="3200">
                <a:solidFill>
                  <a:srgbClr val="010F90"/>
                </a:solidFill>
              </a:rPr>
              <a:t>technical: </a:t>
            </a:r>
            <a:r>
              <a:rPr lang="en-US" sz="3200"/>
              <a:t>how an ISP should share/allocation its resources</a:t>
            </a:r>
            <a:endParaRPr/>
          </a:p>
          <a:p>
            <a:pPr indent="-279400" lvl="1" marL="922338" rtl="0" algn="l">
              <a:lnSpc>
                <a:spcPct val="100000"/>
              </a:lnSpc>
              <a:spcBef>
                <a:spcPts val="500"/>
              </a:spcBef>
              <a:spcAft>
                <a:spcPts val="0"/>
              </a:spcAft>
              <a:buSzPts val="2800"/>
              <a:buChar char="•"/>
            </a:pPr>
            <a:r>
              <a:rPr lang="en-US" sz="2800"/>
              <a:t>packet scheduling, buffer management are the </a:t>
            </a:r>
            <a:r>
              <a:rPr i="1" lang="en-US" sz="2800"/>
              <a:t>mechanisms</a:t>
            </a:r>
            <a:endParaRPr/>
          </a:p>
          <a:p>
            <a:pPr indent="-282575" lvl="1" marL="465138" rtl="0" algn="l">
              <a:lnSpc>
                <a:spcPct val="100000"/>
              </a:lnSpc>
              <a:spcBef>
                <a:spcPts val="500"/>
              </a:spcBef>
              <a:spcAft>
                <a:spcPts val="0"/>
              </a:spcAft>
              <a:buSzPts val="3200"/>
              <a:buFont typeface="Noto Sans Symbols"/>
              <a:buChar char="▪"/>
            </a:pPr>
            <a:r>
              <a:rPr i="1" lang="en-US" sz="3200">
                <a:solidFill>
                  <a:srgbClr val="0000A3"/>
                </a:solidFill>
              </a:rPr>
              <a:t>social, economic  </a:t>
            </a:r>
            <a:r>
              <a:rPr lang="en-US" sz="3200"/>
              <a:t>principles </a:t>
            </a:r>
            <a:endParaRPr/>
          </a:p>
          <a:p>
            <a:pPr indent="-292100" lvl="2" marL="922338" rtl="0" algn="l">
              <a:lnSpc>
                <a:spcPct val="100000"/>
              </a:lnSpc>
              <a:spcBef>
                <a:spcPts val="500"/>
              </a:spcBef>
              <a:spcAft>
                <a:spcPts val="0"/>
              </a:spcAft>
              <a:buClr>
                <a:srgbClr val="0000A3"/>
              </a:buClr>
              <a:buSzPts val="2800"/>
              <a:buChar char="•"/>
            </a:pPr>
            <a:r>
              <a:rPr lang="en-US" sz="2800"/>
              <a:t>protecting free speech</a:t>
            </a:r>
            <a:endParaRPr/>
          </a:p>
          <a:p>
            <a:pPr indent="-292100" lvl="2" marL="922338" rtl="0" algn="l">
              <a:lnSpc>
                <a:spcPct val="100000"/>
              </a:lnSpc>
              <a:spcBef>
                <a:spcPts val="500"/>
              </a:spcBef>
              <a:spcAft>
                <a:spcPts val="0"/>
              </a:spcAft>
              <a:buClr>
                <a:srgbClr val="0000A3"/>
              </a:buClr>
              <a:buSzPts val="2800"/>
              <a:buChar char="•"/>
            </a:pPr>
            <a:r>
              <a:rPr lang="en-US" sz="2800"/>
              <a:t>encouraging innovation, competition</a:t>
            </a:r>
            <a:endParaRPr/>
          </a:p>
          <a:p>
            <a:pPr indent="-282575" lvl="1" marL="465138" rtl="0" algn="l">
              <a:lnSpc>
                <a:spcPct val="100000"/>
              </a:lnSpc>
              <a:spcBef>
                <a:spcPts val="500"/>
              </a:spcBef>
              <a:spcAft>
                <a:spcPts val="0"/>
              </a:spcAft>
              <a:buSzPts val="3200"/>
              <a:buFont typeface="Noto Sans Symbols"/>
              <a:buChar char="▪"/>
            </a:pPr>
            <a:r>
              <a:rPr lang="en-US" sz="3200"/>
              <a:t>enforced</a:t>
            </a:r>
            <a:r>
              <a:rPr i="1" lang="en-US" sz="3200"/>
              <a:t> </a:t>
            </a:r>
            <a:r>
              <a:rPr i="1" lang="en-US" sz="3200">
                <a:solidFill>
                  <a:srgbClr val="0000A3"/>
                </a:solidFill>
              </a:rPr>
              <a:t>legal</a:t>
            </a:r>
            <a:r>
              <a:rPr i="1" lang="en-US" sz="3200"/>
              <a:t> </a:t>
            </a:r>
            <a:r>
              <a:rPr lang="en-US" sz="3200"/>
              <a:t>rules and policies</a:t>
            </a:r>
            <a:endParaRPr/>
          </a:p>
        </p:txBody>
      </p:sp>
      <p:sp>
        <p:nvSpPr>
          <p:cNvPr id="2759" name="Google Shape;2759;p43"/>
          <p:cNvSpPr txBox="1"/>
          <p:nvPr/>
        </p:nvSpPr>
        <p:spPr>
          <a:xfrm>
            <a:off x="1197032" y="5702531"/>
            <a:ext cx="93601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Different countries have different “takes” on network neutrality</a:t>
            </a:r>
            <a:endParaRPr/>
          </a:p>
        </p:txBody>
      </p:sp>
      <p:sp>
        <p:nvSpPr>
          <p:cNvPr id="2760" name="Google Shape;2760;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58">
                                            <p:txEl>
                                              <p:pRg end="0" st="0"/>
                                            </p:txEl>
                                          </p:spTgt>
                                        </p:tgtEl>
                                        <p:attrNameLst>
                                          <p:attrName>style.visibility</p:attrName>
                                        </p:attrNameLst>
                                      </p:cBhvr>
                                      <p:to>
                                        <p:strVal val="visible"/>
                                      </p:to>
                                    </p:set>
                                    <p:animEffect filter="fade" transition="in">
                                      <p:cBhvr>
                                        <p:cTn dur="500"/>
                                        <p:tgtEl>
                                          <p:spTgt spid="275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1" st="1"/>
                                            </p:txEl>
                                          </p:spTgt>
                                        </p:tgtEl>
                                        <p:attrNameLst>
                                          <p:attrName>style.visibility</p:attrName>
                                        </p:attrNameLst>
                                      </p:cBhvr>
                                      <p:to>
                                        <p:strVal val="visible"/>
                                      </p:to>
                                    </p:set>
                                    <p:animEffect filter="fade" transition="in">
                                      <p:cBhvr>
                                        <p:cTn dur="500"/>
                                        <p:tgtEl>
                                          <p:spTgt spid="275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2" st="2"/>
                                            </p:txEl>
                                          </p:spTgt>
                                        </p:tgtEl>
                                        <p:attrNameLst>
                                          <p:attrName>style.visibility</p:attrName>
                                        </p:attrNameLst>
                                      </p:cBhvr>
                                      <p:to>
                                        <p:strVal val="visible"/>
                                      </p:to>
                                    </p:set>
                                    <p:animEffect filter="fade" transition="in">
                                      <p:cBhvr>
                                        <p:cTn dur="500"/>
                                        <p:tgtEl>
                                          <p:spTgt spid="275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3" st="3"/>
                                            </p:txEl>
                                          </p:spTgt>
                                        </p:tgtEl>
                                        <p:attrNameLst>
                                          <p:attrName>style.visibility</p:attrName>
                                        </p:attrNameLst>
                                      </p:cBhvr>
                                      <p:to>
                                        <p:strVal val="visible"/>
                                      </p:to>
                                    </p:set>
                                    <p:animEffect filter="fade" transition="in">
                                      <p:cBhvr>
                                        <p:cTn dur="500"/>
                                        <p:tgtEl>
                                          <p:spTgt spid="275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4" st="4"/>
                                            </p:txEl>
                                          </p:spTgt>
                                        </p:tgtEl>
                                        <p:attrNameLst>
                                          <p:attrName>style.visibility</p:attrName>
                                        </p:attrNameLst>
                                      </p:cBhvr>
                                      <p:to>
                                        <p:strVal val="visible"/>
                                      </p:to>
                                    </p:set>
                                    <p:animEffect filter="fade" transition="in">
                                      <p:cBhvr>
                                        <p:cTn dur="500"/>
                                        <p:tgtEl>
                                          <p:spTgt spid="2758">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5" st="5"/>
                                            </p:txEl>
                                          </p:spTgt>
                                        </p:tgtEl>
                                        <p:attrNameLst>
                                          <p:attrName>style.visibility</p:attrName>
                                        </p:attrNameLst>
                                      </p:cBhvr>
                                      <p:to>
                                        <p:strVal val="visible"/>
                                      </p:to>
                                    </p:set>
                                    <p:animEffect filter="fade" transition="in">
                                      <p:cBhvr>
                                        <p:cTn dur="500"/>
                                        <p:tgtEl>
                                          <p:spTgt spid="2758">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58">
                                            <p:txEl>
                                              <p:pRg end="6" st="6"/>
                                            </p:txEl>
                                          </p:spTgt>
                                        </p:tgtEl>
                                        <p:attrNameLst>
                                          <p:attrName>style.visibility</p:attrName>
                                        </p:attrNameLst>
                                      </p:cBhvr>
                                      <p:to>
                                        <p:strVal val="visible"/>
                                      </p:to>
                                    </p:set>
                                    <p:animEffect filter="fade" transition="in">
                                      <p:cBhvr>
                                        <p:cTn dur="500"/>
                                        <p:tgtEl>
                                          <p:spTgt spid="27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9"/>
                                        </p:tgtEl>
                                        <p:attrNameLst>
                                          <p:attrName>style.visibility</p:attrName>
                                        </p:attrNameLst>
                                      </p:cBhvr>
                                      <p:to>
                                        <p:strVal val="visible"/>
                                      </p:to>
                                    </p:set>
                                    <p:animEffect filter="fade" transition="in">
                                      <p:cBhvr>
                                        <p:cTn dur="500"/>
                                        <p:tgtEl>
                                          <p:spTgt spid="2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5" name="Shape 2765"/>
        <p:cNvGrpSpPr/>
        <p:nvPr/>
      </p:nvGrpSpPr>
      <p:grpSpPr>
        <a:xfrm>
          <a:off x="0" y="0"/>
          <a:ext cx="0" cy="0"/>
          <a:chOff x="0" y="0"/>
          <a:chExt cx="0" cy="0"/>
        </a:xfrm>
      </p:grpSpPr>
      <p:sp>
        <p:nvSpPr>
          <p:cNvPr id="2766" name="Google Shape;2766;p4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Sidebar: Network Neutrality</a:t>
            </a:r>
            <a:endParaRPr/>
          </a:p>
        </p:txBody>
      </p:sp>
      <p:sp>
        <p:nvSpPr>
          <p:cNvPr id="2767" name="Google Shape;2767;p44"/>
          <p:cNvSpPr txBox="1"/>
          <p:nvPr>
            <p:ph idx="1" type="body"/>
          </p:nvPr>
        </p:nvSpPr>
        <p:spPr>
          <a:xfrm>
            <a:off x="877455" y="1787020"/>
            <a:ext cx="10758487" cy="4648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800"/>
              <a:buNone/>
            </a:pPr>
            <a:r>
              <a:rPr lang="en-US"/>
              <a:t>2015 US FCC </a:t>
            </a:r>
            <a:r>
              <a:rPr i="1" lang="en-US"/>
              <a:t>Order on Protecting and Promoting an Open Internet: </a:t>
            </a:r>
            <a:r>
              <a:rPr lang="en-US"/>
              <a:t>three “clear, bright line” rules:</a:t>
            </a:r>
            <a:endParaRPr/>
          </a:p>
          <a:p>
            <a:pPr indent="-222250" lvl="0" marL="352425" rtl="0" algn="l">
              <a:lnSpc>
                <a:spcPct val="100000"/>
              </a:lnSpc>
              <a:spcBef>
                <a:spcPts val="1000"/>
              </a:spcBef>
              <a:spcAft>
                <a:spcPts val="0"/>
              </a:spcAft>
              <a:buSzPts val="3200"/>
              <a:buChar char="▪"/>
            </a:pPr>
            <a:r>
              <a:rPr lang="en-US" sz="3200">
                <a:solidFill>
                  <a:srgbClr val="010F90"/>
                </a:solidFill>
              </a:rPr>
              <a:t>no blocking </a:t>
            </a:r>
            <a:r>
              <a:rPr lang="en-US"/>
              <a:t>… “shall not block lawful content, applications, services, or non-harmful devices, subject to reasonable network management.”</a:t>
            </a:r>
            <a:endParaRPr/>
          </a:p>
          <a:p>
            <a:pPr indent="-222250" lvl="0" marL="352425" rtl="0" algn="l">
              <a:lnSpc>
                <a:spcPct val="100000"/>
              </a:lnSpc>
              <a:spcBef>
                <a:spcPts val="1000"/>
              </a:spcBef>
              <a:spcAft>
                <a:spcPts val="0"/>
              </a:spcAft>
              <a:buSzPts val="3200"/>
              <a:buChar char="▪"/>
            </a:pPr>
            <a:r>
              <a:rPr lang="en-US" sz="3200">
                <a:solidFill>
                  <a:srgbClr val="010F90"/>
                </a:solidFill>
              </a:rPr>
              <a:t>no throttling  </a:t>
            </a:r>
            <a:r>
              <a:rPr lang="en-US"/>
              <a:t>… “shall not impair or degrade lawful Internet traffic on the basis of Internet content, application, or service, or use of a non-harmful device, subject to reasonable network management.”</a:t>
            </a:r>
            <a:endParaRPr/>
          </a:p>
          <a:p>
            <a:pPr indent="-222250" lvl="0" marL="352425" rtl="0" algn="l">
              <a:lnSpc>
                <a:spcPct val="100000"/>
              </a:lnSpc>
              <a:spcBef>
                <a:spcPts val="1000"/>
              </a:spcBef>
              <a:spcAft>
                <a:spcPts val="0"/>
              </a:spcAft>
              <a:buSzPts val="3200"/>
              <a:buChar char="▪"/>
            </a:pPr>
            <a:r>
              <a:rPr lang="en-US" sz="3200">
                <a:solidFill>
                  <a:srgbClr val="010F90"/>
                </a:solidFill>
              </a:rPr>
              <a:t>no paid prioritization. </a:t>
            </a:r>
            <a:r>
              <a:rPr lang="en-US"/>
              <a:t>… “shall not engage in paid prioritization”</a:t>
            </a:r>
            <a:endParaRPr/>
          </a:p>
          <a:p>
            <a:pPr indent="0" lvl="0" marL="0" rtl="0" algn="l">
              <a:lnSpc>
                <a:spcPct val="90000"/>
              </a:lnSpc>
              <a:spcBef>
                <a:spcPts val="1000"/>
              </a:spcBef>
              <a:spcAft>
                <a:spcPts val="0"/>
              </a:spcAft>
              <a:buSzPts val="2800"/>
              <a:buNone/>
            </a:pPr>
            <a:r>
              <a:t/>
            </a:r>
            <a:endParaRPr/>
          </a:p>
        </p:txBody>
      </p:sp>
      <p:sp>
        <p:nvSpPr>
          <p:cNvPr id="2768" name="Google Shape;2768;p4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3" name="Shape 2773"/>
        <p:cNvGrpSpPr/>
        <p:nvPr/>
      </p:nvGrpSpPr>
      <p:grpSpPr>
        <a:xfrm>
          <a:off x="0" y="0"/>
          <a:ext cx="0" cy="0"/>
          <a:chOff x="0" y="0"/>
          <a:chExt cx="0" cy="0"/>
        </a:xfrm>
      </p:grpSpPr>
      <p:sp>
        <p:nvSpPr>
          <p:cNvPr id="2774" name="Google Shape;2774;p45"/>
          <p:cNvSpPr txBox="1"/>
          <p:nvPr>
            <p:ph type="title"/>
          </p:nvPr>
        </p:nvSpPr>
        <p:spPr>
          <a:xfrm>
            <a:off x="442913" y="230147"/>
            <a:ext cx="11749087"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0"/>
              </a:buClr>
              <a:buSzPts val="4400"/>
              <a:buFont typeface="Calibri"/>
              <a:buNone/>
            </a:pPr>
            <a:r>
              <a:rPr lang="en-US">
                <a:solidFill>
                  <a:srgbClr val="000090"/>
                </a:solidFill>
              </a:rPr>
              <a:t>ISP: telecommunications or information service?</a:t>
            </a:r>
            <a:endParaRPr/>
          </a:p>
        </p:txBody>
      </p:sp>
      <p:sp>
        <p:nvSpPr>
          <p:cNvPr id="2775" name="Google Shape;2775;p45"/>
          <p:cNvSpPr txBox="1"/>
          <p:nvPr>
            <p:ph idx="1" type="body"/>
          </p:nvPr>
        </p:nvSpPr>
        <p:spPr>
          <a:xfrm>
            <a:off x="390805" y="3052761"/>
            <a:ext cx="11015663" cy="34690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None/>
            </a:pPr>
            <a:r>
              <a:rPr lang="en-US" sz="3200"/>
              <a:t>US Telecommunication Act of 1934 and 1996: </a:t>
            </a:r>
            <a:endParaRPr/>
          </a:p>
          <a:p>
            <a:pPr indent="-231775" lvl="1" marL="695325" rtl="0" algn="l">
              <a:lnSpc>
                <a:spcPct val="90000"/>
              </a:lnSpc>
              <a:spcBef>
                <a:spcPts val="500"/>
              </a:spcBef>
              <a:spcAft>
                <a:spcPts val="0"/>
              </a:spcAft>
              <a:buSzPts val="2800"/>
              <a:buChar char="•"/>
            </a:pPr>
            <a:r>
              <a:rPr i="1" lang="en-US" sz="2800">
                <a:solidFill>
                  <a:srgbClr val="C00000"/>
                </a:solidFill>
              </a:rPr>
              <a:t>Title II: </a:t>
            </a:r>
            <a:r>
              <a:rPr lang="en-US" sz="2800"/>
              <a:t>imposes “common carrier duties” on </a:t>
            </a:r>
            <a:r>
              <a:rPr i="1" lang="en-US" sz="2800">
                <a:solidFill>
                  <a:srgbClr val="C00000"/>
                </a:solidFill>
              </a:rPr>
              <a:t>telecommunications services</a:t>
            </a:r>
            <a:r>
              <a:rPr lang="en-US" sz="2800">
                <a:solidFill>
                  <a:srgbClr val="C00000"/>
                </a:solidFill>
              </a:rPr>
              <a:t>:</a:t>
            </a:r>
            <a:r>
              <a:rPr lang="en-US" sz="2800"/>
              <a:t> reasonable rates, non-discrimination and </a:t>
            </a:r>
            <a:r>
              <a:rPr i="1" lang="en-US" sz="2800"/>
              <a:t>requires</a:t>
            </a:r>
            <a:r>
              <a:rPr lang="en-US" sz="2800"/>
              <a:t> </a:t>
            </a:r>
            <a:r>
              <a:rPr i="1" lang="en-US" sz="2800"/>
              <a:t>regulation</a:t>
            </a:r>
            <a:endParaRPr sz="2800"/>
          </a:p>
          <a:p>
            <a:pPr indent="-231775" lvl="1" marL="695325" rtl="0" algn="l">
              <a:lnSpc>
                <a:spcPct val="90000"/>
              </a:lnSpc>
              <a:spcBef>
                <a:spcPts val="500"/>
              </a:spcBef>
              <a:spcAft>
                <a:spcPts val="0"/>
              </a:spcAft>
              <a:buSzPts val="2800"/>
              <a:buChar char="•"/>
            </a:pPr>
            <a:r>
              <a:rPr i="1" lang="en-US" sz="2800">
                <a:solidFill>
                  <a:srgbClr val="C00000"/>
                </a:solidFill>
              </a:rPr>
              <a:t>Title I: </a:t>
            </a:r>
            <a:r>
              <a:rPr lang="en-US" sz="2800"/>
              <a:t>applies to </a:t>
            </a:r>
            <a:r>
              <a:rPr i="1" lang="en-US" sz="2800">
                <a:solidFill>
                  <a:srgbClr val="C00000"/>
                </a:solidFill>
              </a:rPr>
              <a:t>information services: </a:t>
            </a:r>
            <a:endParaRPr/>
          </a:p>
          <a:p>
            <a:pPr indent="-228600" lvl="2" marL="1143000" rtl="0" algn="l">
              <a:lnSpc>
                <a:spcPct val="90000"/>
              </a:lnSpc>
              <a:spcBef>
                <a:spcPts val="500"/>
              </a:spcBef>
              <a:spcAft>
                <a:spcPts val="0"/>
              </a:spcAft>
              <a:buClr>
                <a:schemeClr val="dk1"/>
              </a:buClr>
              <a:buSzPts val="2800"/>
              <a:buChar char="•"/>
            </a:pPr>
            <a:r>
              <a:rPr lang="en-US" sz="2800"/>
              <a:t>no common carrier duties (</a:t>
            </a:r>
            <a:r>
              <a:rPr i="1" lang="en-US" sz="2800"/>
              <a:t>not regulated</a:t>
            </a:r>
            <a:r>
              <a:rPr lang="en-US" sz="2800"/>
              <a:t>)</a:t>
            </a:r>
            <a:endParaRPr/>
          </a:p>
          <a:p>
            <a:pPr indent="-228600" lvl="2" marL="1143000" rtl="0" algn="l">
              <a:lnSpc>
                <a:spcPct val="90000"/>
              </a:lnSpc>
              <a:spcBef>
                <a:spcPts val="500"/>
              </a:spcBef>
              <a:spcAft>
                <a:spcPts val="0"/>
              </a:spcAft>
              <a:buClr>
                <a:schemeClr val="dk1"/>
              </a:buClr>
              <a:buSzPts val="2800"/>
              <a:buChar char="•"/>
            </a:pPr>
            <a:r>
              <a:rPr lang="en-US" sz="2800"/>
              <a:t>but grants FCC authority  “… as may be necessary in the execution of its functions”</a:t>
            </a:r>
            <a:r>
              <a:rPr lang="en-US" sz="500"/>
              <a:t>4</a:t>
            </a:r>
            <a:endParaRPr/>
          </a:p>
        </p:txBody>
      </p:sp>
      <p:sp>
        <p:nvSpPr>
          <p:cNvPr id="2776" name="Google Shape;2776;p45"/>
          <p:cNvSpPr txBox="1"/>
          <p:nvPr/>
        </p:nvSpPr>
        <p:spPr>
          <a:xfrm>
            <a:off x="524437" y="1358153"/>
            <a:ext cx="10542493" cy="140961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Is an ISP a “telecommunications service” or an “information service” provider?</a:t>
            </a:r>
            <a:endParaRPr/>
          </a:p>
          <a:p>
            <a:pPr indent="-280988" lvl="0" marL="5207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 answer </a:t>
            </a:r>
            <a:r>
              <a:rPr b="0" i="1" lang="en-US" sz="2800" u="none" cap="none" strike="noStrike">
                <a:solidFill>
                  <a:srgbClr val="000000"/>
                </a:solidFill>
                <a:latin typeface="Calibri"/>
                <a:ea typeface="Calibri"/>
                <a:cs typeface="Calibri"/>
                <a:sym typeface="Calibri"/>
              </a:rPr>
              <a:t>really</a:t>
            </a:r>
            <a:r>
              <a:rPr b="0" i="0" lang="en-US" sz="2800" u="none" cap="none" strike="noStrike">
                <a:solidFill>
                  <a:srgbClr val="000000"/>
                </a:solidFill>
                <a:latin typeface="Calibri"/>
                <a:ea typeface="Calibri"/>
                <a:cs typeface="Calibri"/>
                <a:sym typeface="Calibri"/>
              </a:rPr>
              <a:t> matters from a regulatory standpoint!</a:t>
            </a:r>
            <a:endParaRPr/>
          </a:p>
        </p:txBody>
      </p:sp>
      <p:sp>
        <p:nvSpPr>
          <p:cNvPr id="2777" name="Google Shape;2777;p4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0" st="0"/>
                                            </p:txEl>
                                          </p:spTgt>
                                        </p:tgtEl>
                                        <p:attrNameLst>
                                          <p:attrName>style.visibility</p:attrName>
                                        </p:attrNameLst>
                                      </p:cBhvr>
                                      <p:to>
                                        <p:strVal val="visible"/>
                                      </p:to>
                                    </p:set>
                                    <p:animEffect filter="fade" transition="in">
                                      <p:cBhvr>
                                        <p:cTn dur="500"/>
                                        <p:tgtEl>
                                          <p:spTgt spid="27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1" st="1"/>
                                            </p:txEl>
                                          </p:spTgt>
                                        </p:tgtEl>
                                        <p:attrNameLst>
                                          <p:attrName>style.visibility</p:attrName>
                                        </p:attrNameLst>
                                      </p:cBhvr>
                                      <p:to>
                                        <p:strVal val="visible"/>
                                      </p:to>
                                    </p:set>
                                    <p:animEffect filter="fade" transition="in">
                                      <p:cBhvr>
                                        <p:cTn dur="500"/>
                                        <p:tgtEl>
                                          <p:spTgt spid="27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2" st="2"/>
                                            </p:txEl>
                                          </p:spTgt>
                                        </p:tgtEl>
                                        <p:attrNameLst>
                                          <p:attrName>style.visibility</p:attrName>
                                        </p:attrNameLst>
                                      </p:cBhvr>
                                      <p:to>
                                        <p:strVal val="visible"/>
                                      </p:to>
                                    </p:set>
                                    <p:animEffect filter="fade" transition="in">
                                      <p:cBhvr>
                                        <p:cTn dur="500"/>
                                        <p:tgtEl>
                                          <p:spTgt spid="27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3" st="3"/>
                                            </p:txEl>
                                          </p:spTgt>
                                        </p:tgtEl>
                                        <p:attrNameLst>
                                          <p:attrName>style.visibility</p:attrName>
                                        </p:attrNameLst>
                                      </p:cBhvr>
                                      <p:to>
                                        <p:strVal val="visible"/>
                                      </p:to>
                                    </p:set>
                                    <p:animEffect filter="fade" transition="in">
                                      <p:cBhvr>
                                        <p:cTn dur="500"/>
                                        <p:tgtEl>
                                          <p:spTgt spid="27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4" st="4"/>
                                            </p:txEl>
                                          </p:spTgt>
                                        </p:tgtEl>
                                        <p:attrNameLst>
                                          <p:attrName>style.visibility</p:attrName>
                                        </p:attrNameLst>
                                      </p:cBhvr>
                                      <p:to>
                                        <p:strVal val="visible"/>
                                      </p:to>
                                    </p:set>
                                    <p:animEffect filter="fade" transition="in">
                                      <p:cBhvr>
                                        <p:cTn dur="500"/>
                                        <p:tgtEl>
                                          <p:spTgt spid="277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2" name="Shape 2782"/>
        <p:cNvGrpSpPr/>
        <p:nvPr/>
      </p:nvGrpSpPr>
      <p:grpSpPr>
        <a:xfrm>
          <a:off x="0" y="0"/>
          <a:ext cx="0" cy="0"/>
          <a:chOff x="0" y="0"/>
          <a:chExt cx="0" cy="0"/>
        </a:xfrm>
      </p:grpSpPr>
      <p:sp>
        <p:nvSpPr>
          <p:cNvPr id="2783" name="Google Shape;2783;p4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2784" name="Google Shape;2784;p46"/>
          <p:cNvSpPr txBox="1"/>
          <p:nvPr>
            <p:ph idx="2" type="body"/>
          </p:nvPr>
        </p:nvSpPr>
        <p:spPr>
          <a:xfrm>
            <a:off x="570089" y="1428299"/>
            <a:ext cx="6618109" cy="5197353"/>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What’s inside a router</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input ports, switching, output ports</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buffer management, scheduling</a:t>
            </a:r>
            <a:endParaRPr/>
          </a:p>
          <a:p>
            <a:pPr indent="-277813" lvl="0" marL="407988" rtl="0" algn="l">
              <a:lnSpc>
                <a:spcPct val="90000"/>
              </a:lnSpc>
              <a:spcBef>
                <a:spcPts val="600"/>
              </a:spcBef>
              <a:spcAft>
                <a:spcPts val="0"/>
              </a:spcAft>
              <a:buSzPts val="3200"/>
              <a:buChar char="▪"/>
            </a:pPr>
            <a:r>
              <a:rPr lang="en-US" sz="3200"/>
              <a:t>IP: the Internet Protocol</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datagram format</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addressing</a:t>
            </a:r>
            <a:endParaRPr/>
          </a:p>
          <a:p>
            <a:pPr indent="-231775" lvl="1" marL="695325" rtl="0" algn="l">
              <a:lnSpc>
                <a:spcPct val="90000"/>
              </a:lnSpc>
              <a:spcBef>
                <a:spcPts val="400"/>
              </a:spcBef>
              <a:spcAft>
                <a:spcPts val="0"/>
              </a:spcAft>
              <a:buClr>
                <a:srgbClr val="0000A3"/>
              </a:buClr>
              <a:buSzPts val="2800"/>
              <a:buChar char="•"/>
            </a:pPr>
            <a:r>
              <a:rPr lang="en-US" sz="2800"/>
              <a:t>network address translation</a:t>
            </a:r>
            <a:endParaRPr/>
          </a:p>
          <a:p>
            <a:pPr indent="-231775" lvl="1" marL="695325" rtl="0" algn="l">
              <a:lnSpc>
                <a:spcPct val="90000"/>
              </a:lnSpc>
              <a:spcBef>
                <a:spcPts val="400"/>
              </a:spcBef>
              <a:spcAft>
                <a:spcPts val="0"/>
              </a:spcAft>
              <a:buClr>
                <a:srgbClr val="0000A3"/>
              </a:buClr>
              <a:buSzPts val="2800"/>
              <a:buChar char="•"/>
            </a:pPr>
            <a:r>
              <a:rPr lang="en-US" sz="2800"/>
              <a:t>IPv6</a:t>
            </a:r>
            <a:endParaRPr/>
          </a:p>
        </p:txBody>
      </p:sp>
      <p:pic>
        <p:nvPicPr>
          <p:cNvPr descr="A train crossing a bridge over a body of water&#10;&#10;Description automatically generated" id="2785" name="Google Shape;2785;p46"/>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2786" name="Google Shape;2786;p46"/>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2787" name="Google Shape;2787;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2" name="Shape 2792"/>
        <p:cNvGrpSpPr/>
        <p:nvPr/>
      </p:nvGrpSpPr>
      <p:grpSpPr>
        <a:xfrm>
          <a:off x="0" y="0"/>
          <a:ext cx="0" cy="0"/>
          <a:chOff x="0" y="0"/>
          <a:chExt cx="0" cy="0"/>
        </a:xfrm>
      </p:grpSpPr>
      <p:sp>
        <p:nvSpPr>
          <p:cNvPr id="2793" name="Google Shape;2793;p4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Network Layer: Internet</a:t>
            </a:r>
            <a:endParaRPr/>
          </a:p>
        </p:txBody>
      </p:sp>
      <p:sp>
        <p:nvSpPr>
          <p:cNvPr id="2794" name="Google Shape;2794;p47"/>
          <p:cNvSpPr/>
          <p:nvPr/>
        </p:nvSpPr>
        <p:spPr>
          <a:xfrm>
            <a:off x="3137317" y="2215552"/>
            <a:ext cx="7370788" cy="4076700"/>
          </a:xfrm>
          <a:prstGeom prst="rect">
            <a:avLst/>
          </a:prstGeom>
          <a:solidFill>
            <a:srgbClr val="FFFFFF"/>
          </a:solidFill>
          <a:ln cap="flat" cmpd="sng" w="19050">
            <a:solidFill>
              <a:srgbClr val="000000"/>
            </a:solidFill>
            <a:prstDash val="solid"/>
            <a:miter lim="800000"/>
            <a:headEnd len="sm" w="sm" type="none"/>
            <a:tailEnd len="sm" w="sm" type="none"/>
          </a:ln>
          <a:effectLst>
            <a:outerShdw blurRad="1651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795" name="Google Shape;2795;p47"/>
          <p:cNvSpPr txBox="1"/>
          <p:nvPr/>
        </p:nvSpPr>
        <p:spPr>
          <a:xfrm>
            <a:off x="888584" y="1413891"/>
            <a:ext cx="7534275" cy="438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000000"/>
                </a:solidFill>
                <a:latin typeface="Calibri"/>
                <a:ea typeface="Calibri"/>
                <a:cs typeface="Calibri"/>
                <a:sym typeface="Calibri"/>
              </a:rPr>
              <a:t>host, router network layer functions:</a:t>
            </a:r>
            <a:endParaRPr/>
          </a:p>
        </p:txBody>
      </p:sp>
      <p:cxnSp>
        <p:nvCxnSpPr>
          <p:cNvPr id="2796" name="Google Shape;2796;p47"/>
          <p:cNvCxnSpPr/>
          <p:nvPr/>
        </p:nvCxnSpPr>
        <p:spPr>
          <a:xfrm flipH="1" rot="10800000">
            <a:off x="3127792" y="5768661"/>
            <a:ext cx="7395303" cy="10828"/>
          </a:xfrm>
          <a:prstGeom prst="straightConnector1">
            <a:avLst/>
          </a:prstGeom>
          <a:noFill/>
          <a:ln cap="flat" cmpd="sng" w="19050">
            <a:solidFill>
              <a:srgbClr val="000000"/>
            </a:solidFill>
            <a:prstDash val="solid"/>
            <a:round/>
            <a:headEnd len="med" w="med" type="none"/>
            <a:tailEnd len="med" w="med" type="none"/>
          </a:ln>
        </p:spPr>
      </p:cxnSp>
      <p:cxnSp>
        <p:nvCxnSpPr>
          <p:cNvPr id="2797" name="Google Shape;2797;p47"/>
          <p:cNvCxnSpPr/>
          <p:nvPr/>
        </p:nvCxnSpPr>
        <p:spPr>
          <a:xfrm flipH="1" rot="10800000">
            <a:off x="3156367" y="5244860"/>
            <a:ext cx="7366728" cy="10754"/>
          </a:xfrm>
          <a:prstGeom prst="straightConnector1">
            <a:avLst/>
          </a:prstGeom>
          <a:noFill/>
          <a:ln cap="flat" cmpd="sng" w="19050">
            <a:solidFill>
              <a:srgbClr val="000000"/>
            </a:solidFill>
            <a:prstDash val="solid"/>
            <a:round/>
            <a:headEnd len="med" w="med" type="none"/>
            <a:tailEnd len="med" w="med" type="none"/>
          </a:ln>
        </p:spPr>
      </p:cxnSp>
      <p:grpSp>
        <p:nvGrpSpPr>
          <p:cNvPr id="2798" name="Google Shape;2798;p47"/>
          <p:cNvGrpSpPr/>
          <p:nvPr/>
        </p:nvGrpSpPr>
        <p:grpSpPr>
          <a:xfrm>
            <a:off x="7184669" y="2927915"/>
            <a:ext cx="3136903" cy="1276350"/>
            <a:chOff x="102" y="1294"/>
            <a:chExt cx="1976" cy="804"/>
          </a:xfrm>
        </p:grpSpPr>
        <p:sp>
          <p:nvSpPr>
            <p:cNvPr id="2799" name="Google Shape;2799;p47"/>
            <p:cNvSpPr/>
            <p:nvPr/>
          </p:nvSpPr>
          <p:spPr>
            <a:xfrm>
              <a:off x="102" y="1314"/>
              <a:ext cx="1976" cy="784"/>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00" name="Google Shape;2800;p47"/>
            <p:cNvSpPr txBox="1"/>
            <p:nvPr/>
          </p:nvSpPr>
          <p:spPr>
            <a:xfrm>
              <a:off x="131" y="1294"/>
              <a:ext cx="1918" cy="7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IP protocol</a:t>
              </a:r>
              <a:endParaRPr b="0" i="0" sz="1800" u="none" cap="none" strike="noStrike">
                <a:solidFill>
                  <a:srgbClr val="000000"/>
                </a:solidFill>
                <a:latin typeface="Calibri"/>
                <a:ea typeface="Calibri"/>
                <a:cs typeface="Calibri"/>
                <a:sym typeface="Calibri"/>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datagram format</a:t>
              </a:r>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addressing</a:t>
              </a:r>
              <a:endParaRPr/>
            </a:p>
            <a:p>
              <a:pPr indent="-114300" lvl="0" marL="0" marR="0" rtl="0" algn="l">
                <a:lnSpc>
                  <a:spcPct val="95000"/>
                </a:lnSpc>
                <a:spcBef>
                  <a:spcPts val="0"/>
                </a:spcBef>
                <a:spcAft>
                  <a:spcPts val="0"/>
                </a:spcAft>
                <a:buClr>
                  <a:srgbClr val="0000A3"/>
                </a:buClr>
                <a:buSzPts val="1800"/>
                <a:buFont typeface="Calibri"/>
                <a:buChar char="•"/>
              </a:pPr>
              <a:r>
                <a:rPr b="0" i="0" lang="en-US" sz="1800" u="none" cap="none" strike="noStrike">
                  <a:solidFill>
                    <a:srgbClr val="000000"/>
                  </a:solidFill>
                  <a:latin typeface="Calibri"/>
                  <a:ea typeface="Calibri"/>
                  <a:cs typeface="Calibri"/>
                  <a:sym typeface="Calibri"/>
                </a:rPr>
                <a:t> packet handling conventions</a:t>
              </a:r>
              <a:endParaRPr b="0" i="0" sz="2000" u="none" cap="none" strike="noStrike">
                <a:solidFill>
                  <a:srgbClr val="000000"/>
                </a:solidFill>
                <a:latin typeface="Calibri"/>
                <a:ea typeface="Calibri"/>
                <a:cs typeface="Calibri"/>
                <a:sym typeface="Calibri"/>
              </a:endParaRPr>
            </a:p>
          </p:txBody>
        </p:sp>
      </p:grpSp>
      <p:sp>
        <p:nvSpPr>
          <p:cNvPr id="2801" name="Google Shape;2801;p47"/>
          <p:cNvSpPr/>
          <p:nvPr/>
        </p:nvSpPr>
        <p:spPr>
          <a:xfrm>
            <a:off x="7723368" y="4279825"/>
            <a:ext cx="2376099" cy="885011"/>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02" name="Google Shape;2802;p47"/>
          <p:cNvSpPr txBox="1"/>
          <p:nvPr/>
        </p:nvSpPr>
        <p:spPr>
          <a:xfrm>
            <a:off x="7779352" y="4233489"/>
            <a:ext cx="2455380" cy="969496"/>
          </a:xfrm>
          <a:prstGeom prst="rect">
            <a:avLst/>
          </a:prstGeom>
          <a:noFill/>
          <a:ln>
            <a:noFill/>
          </a:ln>
        </p:spPr>
        <p:txBody>
          <a:bodyPr anchorCtr="0" anchor="t" bIns="45700" lIns="91425" spcFirstLastPara="1" rIns="91425" wrap="square" tIns="45700">
            <a:spAutoFit/>
          </a:bodyPr>
          <a:lstStyle/>
          <a:p>
            <a:pPr indent="0" lvl="0" marL="0" marR="0" rtl="0" algn="l">
              <a:lnSpc>
                <a:spcPct val="9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ICMP protocol</a:t>
            </a:r>
            <a:endParaRPr/>
          </a:p>
          <a:p>
            <a:pPr indent="-114300" lvl="0" marL="0" marR="0" rtl="0" algn="l">
              <a:lnSpc>
                <a:spcPct val="95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 error reporting</a:t>
            </a:r>
            <a:endParaRPr/>
          </a:p>
          <a:p>
            <a:pPr indent="-114300" lvl="0" marL="0" marR="0" rtl="0" algn="l">
              <a:lnSpc>
                <a:spcPct val="95000"/>
              </a:lnSpc>
              <a:spcBef>
                <a:spcPts val="0"/>
              </a:spcBef>
              <a:spcAft>
                <a:spcPts val="0"/>
              </a:spcAft>
              <a:buClr>
                <a:srgbClr val="000000"/>
              </a:buClr>
              <a:buSzPts val="1800"/>
              <a:buFont typeface="Calibri"/>
              <a:buChar char="•"/>
            </a:pPr>
            <a:r>
              <a:rPr b="0" i="0" lang="en-US" sz="1800" u="none" cap="none" strike="noStrike">
                <a:solidFill>
                  <a:srgbClr val="000000"/>
                </a:solidFill>
                <a:latin typeface="Calibri"/>
                <a:ea typeface="Calibri"/>
                <a:cs typeface="Calibri"/>
                <a:sym typeface="Calibri"/>
              </a:rPr>
              <a:t> router “signaling”</a:t>
            </a:r>
            <a:endParaRPr b="0" i="0" sz="2000" u="none" cap="none" strike="noStrike">
              <a:solidFill>
                <a:srgbClr val="000000"/>
              </a:solidFill>
              <a:latin typeface="Calibri"/>
              <a:ea typeface="Calibri"/>
              <a:cs typeface="Calibri"/>
              <a:sym typeface="Calibri"/>
            </a:endParaRPr>
          </a:p>
        </p:txBody>
      </p:sp>
      <p:cxnSp>
        <p:nvCxnSpPr>
          <p:cNvPr id="2803" name="Google Shape;2803;p47"/>
          <p:cNvCxnSpPr/>
          <p:nvPr/>
        </p:nvCxnSpPr>
        <p:spPr>
          <a:xfrm flipH="1" rot="10800000">
            <a:off x="3156367" y="2825510"/>
            <a:ext cx="7366728" cy="10754"/>
          </a:xfrm>
          <a:prstGeom prst="straightConnector1">
            <a:avLst/>
          </a:prstGeom>
          <a:noFill/>
          <a:ln cap="flat" cmpd="sng" w="19050">
            <a:solidFill>
              <a:srgbClr val="000000"/>
            </a:solidFill>
            <a:prstDash val="solid"/>
            <a:round/>
            <a:headEnd len="med" w="med" type="none"/>
            <a:tailEnd len="med" w="med" type="none"/>
          </a:ln>
        </p:spPr>
      </p:cxnSp>
      <p:sp>
        <p:nvSpPr>
          <p:cNvPr id="2804" name="Google Shape;2804;p47"/>
          <p:cNvSpPr txBox="1"/>
          <p:nvPr/>
        </p:nvSpPr>
        <p:spPr>
          <a:xfrm>
            <a:off x="5347325" y="2318922"/>
            <a:ext cx="283763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transport layer: TCP, UDP</a:t>
            </a:r>
            <a:endParaRPr b="0" i="0" sz="2000" u="none" cap="none" strike="noStrike">
              <a:solidFill>
                <a:srgbClr val="000000"/>
              </a:solidFill>
              <a:latin typeface="Calibri"/>
              <a:ea typeface="Calibri"/>
              <a:cs typeface="Calibri"/>
              <a:sym typeface="Calibri"/>
            </a:endParaRPr>
          </a:p>
        </p:txBody>
      </p:sp>
      <p:sp>
        <p:nvSpPr>
          <p:cNvPr id="2805" name="Google Shape;2805;p47"/>
          <p:cNvSpPr txBox="1"/>
          <p:nvPr/>
        </p:nvSpPr>
        <p:spPr>
          <a:xfrm>
            <a:off x="6161947" y="5335692"/>
            <a:ext cx="112883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link layer</a:t>
            </a:r>
            <a:endParaRPr b="0" i="0" sz="2000" u="none" cap="none" strike="noStrike">
              <a:solidFill>
                <a:srgbClr val="000000"/>
              </a:solidFill>
              <a:latin typeface="Calibri"/>
              <a:ea typeface="Calibri"/>
              <a:cs typeface="Calibri"/>
              <a:sym typeface="Calibri"/>
            </a:endParaRPr>
          </a:p>
        </p:txBody>
      </p:sp>
      <p:sp>
        <p:nvSpPr>
          <p:cNvPr id="2806" name="Google Shape;2806;p47"/>
          <p:cNvSpPr txBox="1"/>
          <p:nvPr/>
        </p:nvSpPr>
        <p:spPr>
          <a:xfrm>
            <a:off x="6039527" y="5844577"/>
            <a:ext cx="159530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8080"/>
              </a:buClr>
              <a:buSzPts val="2000"/>
              <a:buFont typeface="Calibri"/>
              <a:buNone/>
            </a:pPr>
            <a:r>
              <a:rPr b="0" i="0" lang="en-US" sz="2000" u="none" cap="none" strike="noStrike">
                <a:solidFill>
                  <a:srgbClr val="808080"/>
                </a:solidFill>
                <a:latin typeface="Calibri"/>
                <a:ea typeface="Calibri"/>
                <a:cs typeface="Calibri"/>
                <a:sym typeface="Calibri"/>
              </a:rPr>
              <a:t>physical layer</a:t>
            </a:r>
            <a:endParaRPr b="0" i="0" sz="2000" u="none" cap="none" strike="noStrike">
              <a:solidFill>
                <a:srgbClr val="000000"/>
              </a:solidFill>
              <a:latin typeface="Calibri"/>
              <a:ea typeface="Calibri"/>
              <a:cs typeface="Calibri"/>
              <a:sym typeface="Calibri"/>
            </a:endParaRPr>
          </a:p>
        </p:txBody>
      </p:sp>
      <p:sp>
        <p:nvSpPr>
          <p:cNvPr id="2807" name="Google Shape;2807;p47"/>
          <p:cNvSpPr txBox="1"/>
          <p:nvPr/>
        </p:nvSpPr>
        <p:spPr>
          <a:xfrm>
            <a:off x="1664488" y="3618902"/>
            <a:ext cx="1406154" cy="9541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network</a:t>
            </a:r>
            <a:endParaRPr/>
          </a:p>
          <a:p>
            <a:pPr indent="0" lvl="0" marL="0" marR="0" rtl="0" algn="r">
              <a:lnSpc>
                <a:spcPct val="100000"/>
              </a:lnSpc>
              <a:spcBef>
                <a:spcPts val="0"/>
              </a:spcBef>
              <a:spcAft>
                <a:spcPts val="0"/>
              </a:spcAft>
              <a:buClr>
                <a:srgbClr val="CC0000"/>
              </a:buClr>
              <a:buSzPts val="2800"/>
              <a:buFont typeface="Calibri"/>
              <a:buNone/>
            </a:pPr>
            <a:r>
              <a:rPr b="0" i="0" lang="en-US" sz="2800" u="none" cap="none" strike="noStrike">
                <a:solidFill>
                  <a:srgbClr val="CC0000"/>
                </a:solidFill>
                <a:latin typeface="Calibri"/>
                <a:ea typeface="Calibri"/>
                <a:cs typeface="Calibri"/>
                <a:sym typeface="Calibri"/>
              </a:rPr>
              <a:t>layer</a:t>
            </a:r>
            <a:endParaRPr b="0" i="0" sz="2000" u="none" cap="none" strike="noStrike">
              <a:solidFill>
                <a:srgbClr val="CC0000"/>
              </a:solidFill>
              <a:latin typeface="Calibri"/>
              <a:ea typeface="Calibri"/>
              <a:cs typeface="Calibri"/>
              <a:sym typeface="Calibri"/>
            </a:endParaRPr>
          </a:p>
        </p:txBody>
      </p:sp>
      <p:cxnSp>
        <p:nvCxnSpPr>
          <p:cNvPr id="2808" name="Google Shape;2808;p47"/>
          <p:cNvCxnSpPr/>
          <p:nvPr/>
        </p:nvCxnSpPr>
        <p:spPr>
          <a:xfrm rot="10800000">
            <a:off x="2880142" y="2845789"/>
            <a:ext cx="0" cy="742950"/>
          </a:xfrm>
          <a:prstGeom prst="straightConnector1">
            <a:avLst/>
          </a:prstGeom>
          <a:noFill/>
          <a:ln cap="flat" cmpd="sng" w="28575">
            <a:solidFill>
              <a:srgbClr val="CC0000"/>
            </a:solidFill>
            <a:prstDash val="solid"/>
            <a:round/>
            <a:headEnd len="med" w="med" type="none"/>
            <a:tailEnd len="med" w="med" type="triangle"/>
          </a:ln>
        </p:spPr>
      </p:cxnSp>
      <p:cxnSp>
        <p:nvCxnSpPr>
          <p:cNvPr id="2809" name="Google Shape;2809;p47"/>
          <p:cNvCxnSpPr/>
          <p:nvPr/>
        </p:nvCxnSpPr>
        <p:spPr>
          <a:xfrm>
            <a:off x="2894578" y="4512664"/>
            <a:ext cx="0" cy="742950"/>
          </a:xfrm>
          <a:prstGeom prst="straightConnector1">
            <a:avLst/>
          </a:prstGeom>
          <a:noFill/>
          <a:ln cap="flat" cmpd="sng" w="28575">
            <a:solidFill>
              <a:srgbClr val="CC0000"/>
            </a:solidFill>
            <a:prstDash val="solid"/>
            <a:round/>
            <a:headEnd len="med" w="med" type="none"/>
            <a:tailEnd len="med" w="med" type="triangle"/>
          </a:ln>
        </p:spPr>
      </p:cxnSp>
      <p:grpSp>
        <p:nvGrpSpPr>
          <p:cNvPr id="2810" name="Google Shape;2810;p47"/>
          <p:cNvGrpSpPr/>
          <p:nvPr/>
        </p:nvGrpSpPr>
        <p:grpSpPr>
          <a:xfrm>
            <a:off x="3407866" y="3093438"/>
            <a:ext cx="3656521" cy="1988228"/>
            <a:chOff x="3407866" y="3093438"/>
            <a:chExt cx="3656521" cy="1988228"/>
          </a:xfrm>
        </p:grpSpPr>
        <p:grpSp>
          <p:nvGrpSpPr>
            <p:cNvPr id="2811" name="Google Shape;2811;p47"/>
            <p:cNvGrpSpPr/>
            <p:nvPr/>
          </p:nvGrpSpPr>
          <p:grpSpPr>
            <a:xfrm>
              <a:off x="5731569" y="3657572"/>
              <a:ext cx="1332818" cy="1171575"/>
              <a:chOff x="3972" y="2910"/>
              <a:chExt cx="649" cy="738"/>
            </a:xfrm>
          </p:grpSpPr>
          <p:sp>
            <p:nvSpPr>
              <p:cNvPr id="2812" name="Google Shape;2812;p47"/>
              <p:cNvSpPr/>
              <p:nvPr/>
            </p:nvSpPr>
            <p:spPr>
              <a:xfrm>
                <a:off x="3996" y="2910"/>
                <a:ext cx="582" cy="738"/>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13" name="Google Shape;2813;p47"/>
              <p:cNvSpPr txBox="1"/>
              <p:nvPr/>
            </p:nvSpPr>
            <p:spPr>
              <a:xfrm>
                <a:off x="3972" y="3071"/>
                <a:ext cx="649" cy="44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forwarding</a:t>
                </a:r>
                <a:endParaRPr/>
              </a:p>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table</a:t>
                </a:r>
                <a:endParaRPr/>
              </a:p>
            </p:txBody>
          </p:sp>
          <p:cxnSp>
            <p:nvCxnSpPr>
              <p:cNvPr id="2814" name="Google Shape;2814;p47"/>
              <p:cNvCxnSpPr/>
              <p:nvPr/>
            </p:nvCxnSpPr>
            <p:spPr>
              <a:xfrm>
                <a:off x="4065" y="2994"/>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5" name="Google Shape;2815;p47"/>
              <p:cNvCxnSpPr/>
              <p:nvPr/>
            </p:nvCxnSpPr>
            <p:spPr>
              <a:xfrm>
                <a:off x="4071" y="3048"/>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6" name="Google Shape;2816;p47"/>
              <p:cNvCxnSpPr/>
              <p:nvPr/>
            </p:nvCxnSpPr>
            <p:spPr>
              <a:xfrm>
                <a:off x="4074" y="3102"/>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7" name="Google Shape;2817;p47"/>
              <p:cNvCxnSpPr/>
              <p:nvPr/>
            </p:nvCxnSpPr>
            <p:spPr>
              <a:xfrm>
                <a:off x="4065" y="3477"/>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8" name="Google Shape;2818;p47"/>
              <p:cNvCxnSpPr/>
              <p:nvPr/>
            </p:nvCxnSpPr>
            <p:spPr>
              <a:xfrm>
                <a:off x="4068" y="3528"/>
                <a:ext cx="435" cy="0"/>
              </a:xfrm>
              <a:prstGeom prst="straightConnector1">
                <a:avLst/>
              </a:prstGeom>
              <a:noFill/>
              <a:ln cap="flat" cmpd="sng" w="19050">
                <a:solidFill>
                  <a:srgbClr val="000000"/>
                </a:solidFill>
                <a:prstDash val="solid"/>
                <a:round/>
                <a:headEnd len="med" w="med" type="none"/>
                <a:tailEnd len="med" w="med" type="none"/>
              </a:ln>
            </p:spPr>
          </p:cxnSp>
          <p:cxnSp>
            <p:nvCxnSpPr>
              <p:cNvPr id="2819" name="Google Shape;2819;p47"/>
              <p:cNvCxnSpPr/>
              <p:nvPr/>
            </p:nvCxnSpPr>
            <p:spPr>
              <a:xfrm>
                <a:off x="4071" y="3579"/>
                <a:ext cx="435" cy="0"/>
              </a:xfrm>
              <a:prstGeom prst="straightConnector1">
                <a:avLst/>
              </a:prstGeom>
              <a:noFill/>
              <a:ln cap="flat" cmpd="sng" w="19050">
                <a:solidFill>
                  <a:srgbClr val="000000"/>
                </a:solidFill>
                <a:prstDash val="solid"/>
                <a:round/>
                <a:headEnd len="med" w="med" type="none"/>
                <a:tailEnd len="med" w="med" type="none"/>
              </a:ln>
            </p:spPr>
          </p:cxnSp>
        </p:grpSp>
        <p:sp>
          <p:nvSpPr>
            <p:cNvPr id="2820" name="Google Shape;2820;p47"/>
            <p:cNvSpPr/>
            <p:nvPr/>
          </p:nvSpPr>
          <p:spPr>
            <a:xfrm>
              <a:off x="3407866" y="3093438"/>
              <a:ext cx="2048551" cy="1988228"/>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2821" name="Google Shape;2821;p47"/>
            <p:cNvSpPr txBox="1"/>
            <p:nvPr/>
          </p:nvSpPr>
          <p:spPr>
            <a:xfrm>
              <a:off x="3446596" y="3128879"/>
              <a:ext cx="2125210" cy="18466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Path-selection  algorithms: </a:t>
              </a:r>
              <a:r>
                <a:rPr b="0" i="0" lang="en-US" sz="2000" u="none" cap="none" strike="noStrike">
                  <a:solidFill>
                    <a:srgbClr val="000000"/>
                  </a:solidFill>
                  <a:latin typeface="Calibri"/>
                  <a:ea typeface="Calibri"/>
                  <a:cs typeface="Calibri"/>
                  <a:sym typeface="Calibri"/>
                </a:rPr>
                <a:t>implemented in </a:t>
              </a:r>
              <a:endParaRPr/>
            </a:p>
            <a:p>
              <a:pPr indent="-171450" lvl="0" marL="228600" marR="0" rtl="0" algn="l">
                <a:lnSpc>
                  <a:spcPct val="100000"/>
                </a:lnSpc>
                <a:spcBef>
                  <a:spcPts val="0"/>
                </a:spcBef>
                <a:spcAft>
                  <a:spcPts val="0"/>
                </a:spcAft>
                <a:buClr>
                  <a:srgbClr val="0000A3"/>
                </a:buClr>
                <a:buSzPts val="1800"/>
                <a:buFont typeface="Arial"/>
                <a:buChar char="•"/>
              </a:pPr>
              <a:r>
                <a:rPr b="0" i="0" lang="en-US" sz="1800" u="none" cap="none" strike="noStrike">
                  <a:solidFill>
                    <a:srgbClr val="000000"/>
                  </a:solidFill>
                  <a:latin typeface="Calibri"/>
                  <a:ea typeface="Calibri"/>
                  <a:cs typeface="Calibri"/>
                  <a:sym typeface="Calibri"/>
                </a:rPr>
                <a:t>routing protocols (OSPF, BGP)</a:t>
              </a:r>
              <a:endParaRPr/>
            </a:p>
            <a:p>
              <a:pPr indent="-171450" lvl="0" marL="228600" marR="0" rtl="0" algn="l">
                <a:lnSpc>
                  <a:spcPct val="100000"/>
                </a:lnSpc>
                <a:spcBef>
                  <a:spcPts val="0"/>
                </a:spcBef>
                <a:spcAft>
                  <a:spcPts val="0"/>
                </a:spcAft>
                <a:buClr>
                  <a:srgbClr val="0000A3"/>
                </a:buClr>
                <a:buSzPts val="1800"/>
                <a:buFont typeface="Arial"/>
                <a:buChar char="•"/>
              </a:pPr>
              <a:r>
                <a:rPr b="0" i="0" lang="en-US" sz="1800" u="none" cap="none" strike="noStrike">
                  <a:solidFill>
                    <a:srgbClr val="000000"/>
                  </a:solidFill>
                  <a:latin typeface="Calibri"/>
                  <a:ea typeface="Calibri"/>
                  <a:cs typeface="Calibri"/>
                  <a:sym typeface="Calibri"/>
                </a:rPr>
                <a:t>SDN controller</a:t>
              </a:r>
              <a:endParaRPr b="0" i="0" sz="2000" u="none" cap="none" strike="noStrike">
                <a:solidFill>
                  <a:srgbClr val="000000"/>
                </a:solidFill>
                <a:latin typeface="Calibri"/>
                <a:ea typeface="Calibri"/>
                <a:cs typeface="Calibri"/>
                <a:sym typeface="Calibri"/>
              </a:endParaRPr>
            </a:p>
          </p:txBody>
        </p:sp>
        <p:sp>
          <p:nvSpPr>
            <p:cNvPr id="2822" name="Google Shape;2822;p47"/>
            <p:cNvSpPr/>
            <p:nvPr/>
          </p:nvSpPr>
          <p:spPr>
            <a:xfrm rot="5400000">
              <a:off x="5728412" y="2923460"/>
              <a:ext cx="479687" cy="868680"/>
            </a:xfrm>
            <a:prstGeom prst="bentArrow">
              <a:avLst>
                <a:gd fmla="val 25000" name="adj1"/>
                <a:gd fmla="val 25000" name="adj2"/>
                <a:gd fmla="val 25000" name="adj3"/>
                <a:gd fmla="val 43750" name="adj4"/>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823" name="Google Shape;2823;p4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0"/>
                                        </p:tgtEl>
                                        <p:attrNameLst>
                                          <p:attrName>style.visibility</p:attrName>
                                        </p:attrNameLst>
                                      </p:cBhvr>
                                      <p:to>
                                        <p:strVal val="visible"/>
                                      </p:to>
                                    </p:set>
                                    <p:animEffect filter="fade" transition="in">
                                      <p:cBhvr>
                                        <p:cTn dur="500"/>
                                        <p:tgtEl>
                                          <p:spTgt spid="28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8"/>
                                        </p:tgtEl>
                                        <p:attrNameLst>
                                          <p:attrName>style.visibility</p:attrName>
                                        </p:attrNameLst>
                                      </p:cBhvr>
                                      <p:to>
                                        <p:strVal val="visible"/>
                                      </p:to>
                                    </p:set>
                                    <p:animEffect filter="fade" transition="in">
                                      <p:cBhvr>
                                        <p:cTn dur="500"/>
                                        <p:tgtEl>
                                          <p:spTgt spid="27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1"/>
                                        </p:tgtEl>
                                        <p:attrNameLst>
                                          <p:attrName>style.visibility</p:attrName>
                                        </p:attrNameLst>
                                      </p:cBhvr>
                                      <p:to>
                                        <p:strVal val="visible"/>
                                      </p:to>
                                    </p:set>
                                    <p:animEffect filter="fade" transition="in">
                                      <p:cBhvr>
                                        <p:cTn dur="500"/>
                                        <p:tgtEl>
                                          <p:spTgt spid="2801"/>
                                        </p:tgtEl>
                                      </p:cBhvr>
                                    </p:animEffect>
                                  </p:childTnLst>
                                </p:cTn>
                              </p:par>
                              <p:par>
                                <p:cTn fill="hold" nodeType="withEffect" presetClass="entr" presetID="10" presetSubtype="0">
                                  <p:stCondLst>
                                    <p:cond delay="0"/>
                                  </p:stCondLst>
                                  <p:childTnLst>
                                    <p:set>
                                      <p:cBhvr>
                                        <p:cTn dur="1" fill="hold">
                                          <p:stCondLst>
                                            <p:cond delay="0"/>
                                          </p:stCondLst>
                                        </p:cTn>
                                        <p:tgtEl>
                                          <p:spTgt spid="2802"/>
                                        </p:tgtEl>
                                        <p:attrNameLst>
                                          <p:attrName>style.visibility</p:attrName>
                                        </p:attrNameLst>
                                      </p:cBhvr>
                                      <p:to>
                                        <p:strVal val="visible"/>
                                      </p:to>
                                    </p:set>
                                    <p:animEffect filter="fade" transition="in">
                                      <p:cBhvr>
                                        <p:cTn dur="500"/>
                                        <p:tgtEl>
                                          <p:spTgt spid="28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8" name="Shape 2828"/>
        <p:cNvGrpSpPr/>
        <p:nvPr/>
      </p:nvGrpSpPr>
      <p:grpSpPr>
        <a:xfrm>
          <a:off x="0" y="0"/>
          <a:ext cx="0" cy="0"/>
          <a:chOff x="0" y="0"/>
          <a:chExt cx="0" cy="0"/>
        </a:xfrm>
      </p:grpSpPr>
      <p:sp>
        <p:nvSpPr>
          <p:cNvPr id="2829" name="Google Shape;2829;p4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Datagram format</a:t>
            </a:r>
            <a:endParaRPr/>
          </a:p>
        </p:txBody>
      </p:sp>
      <p:grpSp>
        <p:nvGrpSpPr>
          <p:cNvPr id="2830" name="Google Shape;2830;p48"/>
          <p:cNvGrpSpPr/>
          <p:nvPr/>
        </p:nvGrpSpPr>
        <p:grpSpPr>
          <a:xfrm>
            <a:off x="4441383" y="1263416"/>
            <a:ext cx="4040188" cy="5326062"/>
            <a:chOff x="1929" y="607"/>
            <a:chExt cx="2545" cy="3355"/>
          </a:xfrm>
        </p:grpSpPr>
        <p:sp>
          <p:nvSpPr>
            <p:cNvPr id="2831" name="Google Shape;2831;p48"/>
            <p:cNvSpPr/>
            <p:nvPr/>
          </p:nvSpPr>
          <p:spPr>
            <a:xfrm>
              <a:off x="1980" y="935"/>
              <a:ext cx="2489" cy="3027"/>
            </a:xfrm>
            <a:prstGeom prst="rect">
              <a:avLst/>
            </a:prstGeom>
            <a:solidFill>
              <a:srgbClr val="FFFFFF"/>
            </a:solidFill>
            <a:ln cap="flat" cmpd="sng" w="19050">
              <a:solidFill>
                <a:srgbClr val="000000"/>
              </a:solidFill>
              <a:prstDash val="solid"/>
              <a:miter lim="800000"/>
              <a:headEnd len="sm" w="sm" type="none"/>
              <a:tailEnd len="sm" w="sm" type="none"/>
            </a:ln>
            <a:effectLst>
              <a:outerShdw blurRad="1397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2832" name="Google Shape;2832;p48"/>
            <p:cNvSpPr txBox="1"/>
            <p:nvPr/>
          </p:nvSpPr>
          <p:spPr>
            <a:xfrm>
              <a:off x="1954" y="973"/>
              <a:ext cx="31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ver</a:t>
              </a:r>
              <a:endParaRPr b="0" i="0" sz="2400" u="none" cap="none" strike="noStrike">
                <a:solidFill>
                  <a:srgbClr val="000000"/>
                </a:solidFill>
                <a:latin typeface="Arial"/>
                <a:ea typeface="Arial"/>
                <a:cs typeface="Arial"/>
                <a:sym typeface="Arial"/>
              </a:endParaRPr>
            </a:p>
          </p:txBody>
        </p:sp>
        <p:sp>
          <p:nvSpPr>
            <p:cNvPr id="2833" name="Google Shape;2833;p48"/>
            <p:cNvSpPr txBox="1"/>
            <p:nvPr/>
          </p:nvSpPr>
          <p:spPr>
            <a:xfrm>
              <a:off x="3529" y="1012"/>
              <a:ext cx="508"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p:txBody>
        </p:sp>
        <p:cxnSp>
          <p:nvCxnSpPr>
            <p:cNvPr id="2834" name="Google Shape;2834;p48"/>
            <p:cNvCxnSpPr/>
            <p:nvPr/>
          </p:nvCxnSpPr>
          <p:spPr>
            <a:xfrm>
              <a:off x="1988" y="1261"/>
              <a:ext cx="2486" cy="3"/>
            </a:xfrm>
            <a:prstGeom prst="straightConnector1">
              <a:avLst/>
            </a:prstGeom>
            <a:noFill/>
            <a:ln cap="flat" cmpd="sng" w="19050">
              <a:solidFill>
                <a:srgbClr val="000000"/>
              </a:solidFill>
              <a:prstDash val="solid"/>
              <a:round/>
              <a:headEnd len="med" w="med" type="none"/>
              <a:tailEnd len="med" w="med" type="none"/>
            </a:ln>
          </p:spPr>
        </p:cxnSp>
        <p:cxnSp>
          <p:nvCxnSpPr>
            <p:cNvPr id="2835" name="Google Shape;2835;p48"/>
            <p:cNvCxnSpPr/>
            <p:nvPr/>
          </p:nvCxnSpPr>
          <p:spPr>
            <a:xfrm rot="10800000">
              <a:off x="3210" y="941"/>
              <a:ext cx="0" cy="319"/>
            </a:xfrm>
            <a:prstGeom prst="straightConnector1">
              <a:avLst/>
            </a:prstGeom>
            <a:noFill/>
            <a:ln cap="flat" cmpd="sng" w="19050">
              <a:solidFill>
                <a:srgbClr val="000000"/>
              </a:solidFill>
              <a:prstDash val="solid"/>
              <a:round/>
              <a:headEnd len="med" w="med" type="none"/>
              <a:tailEnd len="med" w="med" type="none"/>
            </a:ln>
          </p:spPr>
        </p:cxnSp>
        <p:sp>
          <p:nvSpPr>
            <p:cNvPr id="2836" name="Google Shape;2836;p48"/>
            <p:cNvSpPr txBox="1"/>
            <p:nvPr/>
          </p:nvSpPr>
          <p:spPr>
            <a:xfrm>
              <a:off x="2922" y="607"/>
              <a:ext cx="5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b="0" i="0" sz="2400" u="none" cap="none" strike="noStrike">
                <a:solidFill>
                  <a:srgbClr val="000000"/>
                </a:solidFill>
                <a:latin typeface="Arial"/>
                <a:ea typeface="Arial"/>
                <a:cs typeface="Arial"/>
                <a:sym typeface="Arial"/>
              </a:endParaRPr>
            </a:p>
          </p:txBody>
        </p:sp>
        <p:cxnSp>
          <p:nvCxnSpPr>
            <p:cNvPr id="2837" name="Google Shape;2837;p48"/>
            <p:cNvCxnSpPr/>
            <p:nvPr/>
          </p:nvCxnSpPr>
          <p:spPr>
            <a:xfrm>
              <a:off x="3552" y="762"/>
              <a:ext cx="899" cy="3"/>
            </a:xfrm>
            <a:prstGeom prst="straightConnector1">
              <a:avLst/>
            </a:prstGeom>
            <a:noFill/>
            <a:ln cap="flat" cmpd="sng" w="19050">
              <a:solidFill>
                <a:srgbClr val="000000"/>
              </a:solidFill>
              <a:prstDash val="solid"/>
              <a:round/>
              <a:headEnd len="med" w="med" type="none"/>
              <a:tailEnd len="med" w="med" type="triangle"/>
            </a:ln>
          </p:spPr>
        </p:cxnSp>
        <p:cxnSp>
          <p:nvCxnSpPr>
            <p:cNvPr id="2838" name="Google Shape;2838;p48"/>
            <p:cNvCxnSpPr/>
            <p:nvPr/>
          </p:nvCxnSpPr>
          <p:spPr>
            <a:xfrm rot="10800000">
              <a:off x="1972" y="769"/>
              <a:ext cx="845" cy="0"/>
            </a:xfrm>
            <a:prstGeom prst="straightConnector1">
              <a:avLst/>
            </a:prstGeom>
            <a:noFill/>
            <a:ln cap="flat" cmpd="sng" w="19050">
              <a:solidFill>
                <a:srgbClr val="000000"/>
              </a:solidFill>
              <a:prstDash val="solid"/>
              <a:round/>
              <a:headEnd len="med" w="med" type="none"/>
              <a:tailEnd len="med" w="med" type="triangle"/>
            </a:ln>
          </p:spPr>
        </p:cxnSp>
        <p:sp>
          <p:nvSpPr>
            <p:cNvPr id="2839" name="Google Shape;2839;p48"/>
            <p:cNvSpPr txBox="1"/>
            <p:nvPr/>
          </p:nvSpPr>
          <p:spPr>
            <a:xfrm>
              <a:off x="2578" y="2943"/>
              <a:ext cx="1351" cy="8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payload data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(variable length,</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typically a TCP </a:t>
              </a:r>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 UDP segment)</a:t>
              </a:r>
              <a:endParaRPr b="0" i="0" sz="2400" u="none" cap="none" strike="noStrike">
                <a:solidFill>
                  <a:srgbClr val="000000"/>
                </a:solidFill>
                <a:latin typeface="Arial"/>
                <a:ea typeface="Arial"/>
                <a:cs typeface="Arial"/>
                <a:sym typeface="Arial"/>
              </a:endParaRPr>
            </a:p>
          </p:txBody>
        </p:sp>
        <p:sp>
          <p:nvSpPr>
            <p:cNvPr id="2840" name="Google Shape;2840;p48"/>
            <p:cNvSpPr txBox="1"/>
            <p:nvPr/>
          </p:nvSpPr>
          <p:spPr>
            <a:xfrm>
              <a:off x="1929" y="1320"/>
              <a:ext cx="135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16-bit identifier</a:t>
              </a:r>
              <a:endParaRPr b="0" i="0" sz="2000" u="none" cap="none" strike="noStrike">
                <a:solidFill>
                  <a:srgbClr val="000000"/>
                </a:solidFill>
                <a:latin typeface="Arial"/>
                <a:ea typeface="Arial"/>
                <a:cs typeface="Arial"/>
                <a:sym typeface="Arial"/>
              </a:endParaRPr>
            </a:p>
          </p:txBody>
        </p:sp>
        <p:cxnSp>
          <p:nvCxnSpPr>
            <p:cNvPr id="2841" name="Google Shape;2841;p48"/>
            <p:cNvCxnSpPr/>
            <p:nvPr/>
          </p:nvCxnSpPr>
          <p:spPr>
            <a:xfrm>
              <a:off x="1984" y="2205"/>
              <a:ext cx="2489" cy="0"/>
            </a:xfrm>
            <a:prstGeom prst="straightConnector1">
              <a:avLst/>
            </a:prstGeom>
            <a:noFill/>
            <a:ln cap="flat" cmpd="sng" w="19050">
              <a:solidFill>
                <a:srgbClr val="000000"/>
              </a:solidFill>
              <a:prstDash val="solid"/>
              <a:round/>
              <a:headEnd len="med" w="med" type="none"/>
              <a:tailEnd len="med" w="med" type="none"/>
            </a:ln>
          </p:spPr>
        </p:cxnSp>
        <p:cxnSp>
          <p:nvCxnSpPr>
            <p:cNvPr id="2842" name="Google Shape;2842;p48"/>
            <p:cNvCxnSpPr/>
            <p:nvPr/>
          </p:nvCxnSpPr>
          <p:spPr>
            <a:xfrm>
              <a:off x="1984" y="2505"/>
              <a:ext cx="2489" cy="0"/>
            </a:xfrm>
            <a:prstGeom prst="straightConnector1">
              <a:avLst/>
            </a:prstGeom>
            <a:noFill/>
            <a:ln cap="flat" cmpd="sng" w="19050">
              <a:solidFill>
                <a:srgbClr val="000000"/>
              </a:solidFill>
              <a:prstDash val="solid"/>
              <a:round/>
              <a:headEnd len="med" w="med" type="none"/>
              <a:tailEnd len="med" w="med" type="none"/>
            </a:ln>
          </p:spPr>
        </p:cxnSp>
        <p:sp>
          <p:nvSpPr>
            <p:cNvPr id="2843" name="Google Shape;2843;p48"/>
            <p:cNvSpPr txBox="1"/>
            <p:nvPr/>
          </p:nvSpPr>
          <p:spPr>
            <a:xfrm>
              <a:off x="3464" y="1549"/>
              <a:ext cx="80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checksum</a:t>
              </a:r>
              <a:endParaRPr/>
            </a:p>
          </p:txBody>
        </p:sp>
        <p:sp>
          <p:nvSpPr>
            <p:cNvPr id="2844" name="Google Shape;2844;p48"/>
            <p:cNvSpPr txBox="1"/>
            <p:nvPr/>
          </p:nvSpPr>
          <p:spPr>
            <a:xfrm>
              <a:off x="2008" y="1531"/>
              <a:ext cx="54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time to</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live</a:t>
              </a:r>
              <a:endParaRPr/>
            </a:p>
          </p:txBody>
        </p:sp>
        <p:sp>
          <p:nvSpPr>
            <p:cNvPr id="2845" name="Google Shape;2845;p48"/>
            <p:cNvSpPr txBox="1"/>
            <p:nvPr/>
          </p:nvSpPr>
          <p:spPr>
            <a:xfrm>
              <a:off x="2539" y="1959"/>
              <a:ext cx="1328"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source IP address</a:t>
              </a:r>
              <a:endParaRPr b="0" i="0" sz="2400" u="none" cap="none" strike="noStrike">
                <a:solidFill>
                  <a:srgbClr val="000000"/>
                </a:solidFill>
                <a:latin typeface="Arial"/>
                <a:ea typeface="Arial"/>
                <a:cs typeface="Arial"/>
                <a:sym typeface="Arial"/>
              </a:endParaRPr>
            </a:p>
          </p:txBody>
        </p:sp>
        <p:sp>
          <p:nvSpPr>
            <p:cNvPr id="2846" name="Google Shape;2846;p48"/>
            <p:cNvSpPr txBox="1"/>
            <p:nvPr/>
          </p:nvSpPr>
          <p:spPr>
            <a:xfrm>
              <a:off x="2222" y="907"/>
              <a:ext cx="47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a:t>
              </a:r>
              <a:endParaRPr b="0" i="0" sz="2400" u="none" cap="none" strike="noStrike">
                <a:solidFill>
                  <a:srgbClr val="000000"/>
                </a:solidFill>
                <a:latin typeface="Arial"/>
                <a:ea typeface="Arial"/>
                <a:cs typeface="Arial"/>
                <a:sym typeface="Arial"/>
              </a:endParaRPr>
            </a:p>
          </p:txBody>
        </p:sp>
        <p:sp>
          <p:nvSpPr>
            <p:cNvPr id="2847" name="Google Shape;2847;p48"/>
            <p:cNvSpPr txBox="1"/>
            <p:nvPr/>
          </p:nvSpPr>
          <p:spPr>
            <a:xfrm>
              <a:off x="2646" y="901"/>
              <a:ext cx="572"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type of</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service</a:t>
              </a:r>
              <a:endParaRPr b="0" i="0" sz="2400" u="none" cap="none" strike="noStrike">
                <a:solidFill>
                  <a:srgbClr val="000000"/>
                </a:solidFill>
                <a:latin typeface="Arial"/>
                <a:ea typeface="Arial"/>
                <a:cs typeface="Arial"/>
                <a:sym typeface="Arial"/>
              </a:endParaRPr>
            </a:p>
          </p:txBody>
        </p:sp>
        <p:cxnSp>
          <p:nvCxnSpPr>
            <p:cNvPr id="2848" name="Google Shape;2848;p48"/>
            <p:cNvCxnSpPr/>
            <p:nvPr/>
          </p:nvCxnSpPr>
          <p:spPr>
            <a:xfrm rot="10800000">
              <a:off x="2646" y="938"/>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49" name="Google Shape;2849;p48"/>
            <p:cNvCxnSpPr/>
            <p:nvPr/>
          </p:nvCxnSpPr>
          <p:spPr>
            <a:xfrm rot="10800000">
              <a:off x="2259" y="944"/>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50" name="Google Shape;2850;p48"/>
            <p:cNvCxnSpPr/>
            <p:nvPr/>
          </p:nvCxnSpPr>
          <p:spPr>
            <a:xfrm rot="10800000">
              <a:off x="3210" y="1265"/>
              <a:ext cx="0" cy="319"/>
            </a:xfrm>
            <a:prstGeom prst="straightConnector1">
              <a:avLst/>
            </a:prstGeom>
            <a:noFill/>
            <a:ln cap="flat" cmpd="sng" w="19050">
              <a:solidFill>
                <a:srgbClr val="000000"/>
              </a:solidFill>
              <a:prstDash val="solid"/>
              <a:round/>
              <a:headEnd len="med" w="med" type="none"/>
              <a:tailEnd len="med" w="med" type="none"/>
            </a:ln>
          </p:spPr>
        </p:cxnSp>
        <p:sp>
          <p:nvSpPr>
            <p:cNvPr id="2851" name="Google Shape;2851;p48"/>
            <p:cNvSpPr txBox="1"/>
            <p:nvPr/>
          </p:nvSpPr>
          <p:spPr>
            <a:xfrm>
              <a:off x="3117" y="1314"/>
              <a:ext cx="48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flgs</a:t>
              </a:r>
              <a:endParaRPr b="0" i="0" sz="2000" u="none" cap="none" strike="noStrike">
                <a:solidFill>
                  <a:srgbClr val="000000"/>
                </a:solidFill>
                <a:latin typeface="Arial"/>
                <a:ea typeface="Arial"/>
                <a:cs typeface="Arial"/>
                <a:sym typeface="Arial"/>
              </a:endParaRPr>
            </a:p>
          </p:txBody>
        </p:sp>
        <p:cxnSp>
          <p:nvCxnSpPr>
            <p:cNvPr id="2852" name="Google Shape;2852;p48"/>
            <p:cNvCxnSpPr/>
            <p:nvPr/>
          </p:nvCxnSpPr>
          <p:spPr>
            <a:xfrm rot="10800000">
              <a:off x="3504" y="1259"/>
              <a:ext cx="0" cy="319"/>
            </a:xfrm>
            <a:prstGeom prst="straightConnector1">
              <a:avLst/>
            </a:prstGeom>
            <a:noFill/>
            <a:ln cap="flat" cmpd="sng" w="19050">
              <a:solidFill>
                <a:srgbClr val="000000"/>
              </a:solidFill>
              <a:prstDash val="solid"/>
              <a:round/>
              <a:headEnd len="med" w="med" type="none"/>
              <a:tailEnd len="med" w="med" type="none"/>
            </a:ln>
          </p:spPr>
        </p:cxnSp>
        <p:sp>
          <p:nvSpPr>
            <p:cNvPr id="2853" name="Google Shape;2853;p48"/>
            <p:cNvSpPr txBox="1"/>
            <p:nvPr/>
          </p:nvSpPr>
          <p:spPr>
            <a:xfrm>
              <a:off x="3531" y="1230"/>
              <a:ext cx="900"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fragment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offset</a:t>
              </a:r>
              <a:endParaRPr b="0" i="0" sz="2000" u="none" cap="none" strike="noStrike">
                <a:solidFill>
                  <a:srgbClr val="000000"/>
                </a:solidFill>
                <a:latin typeface="Arial"/>
                <a:ea typeface="Arial"/>
                <a:cs typeface="Arial"/>
                <a:sym typeface="Arial"/>
              </a:endParaRPr>
            </a:p>
          </p:txBody>
        </p:sp>
        <p:cxnSp>
          <p:nvCxnSpPr>
            <p:cNvPr id="2854" name="Google Shape;2854;p48"/>
            <p:cNvCxnSpPr/>
            <p:nvPr/>
          </p:nvCxnSpPr>
          <p:spPr>
            <a:xfrm>
              <a:off x="1984" y="1581"/>
              <a:ext cx="2489" cy="0"/>
            </a:xfrm>
            <a:prstGeom prst="straightConnector1">
              <a:avLst/>
            </a:prstGeom>
            <a:noFill/>
            <a:ln cap="flat" cmpd="sng" w="19050">
              <a:solidFill>
                <a:srgbClr val="000000"/>
              </a:solidFill>
              <a:prstDash val="solid"/>
              <a:round/>
              <a:headEnd len="med" w="med" type="none"/>
              <a:tailEnd len="med" w="med" type="none"/>
            </a:ln>
          </p:spPr>
        </p:cxnSp>
        <p:cxnSp>
          <p:nvCxnSpPr>
            <p:cNvPr id="2855" name="Google Shape;2855;p48"/>
            <p:cNvCxnSpPr/>
            <p:nvPr/>
          </p:nvCxnSpPr>
          <p:spPr>
            <a:xfrm rot="10800000">
              <a:off x="3210" y="1583"/>
              <a:ext cx="0" cy="319"/>
            </a:xfrm>
            <a:prstGeom prst="straightConnector1">
              <a:avLst/>
            </a:prstGeom>
            <a:noFill/>
            <a:ln cap="flat" cmpd="sng" w="19050">
              <a:solidFill>
                <a:srgbClr val="000000"/>
              </a:solidFill>
              <a:prstDash val="solid"/>
              <a:round/>
              <a:headEnd len="med" w="med" type="none"/>
              <a:tailEnd len="med" w="med" type="none"/>
            </a:ln>
          </p:spPr>
        </p:cxnSp>
        <p:cxnSp>
          <p:nvCxnSpPr>
            <p:cNvPr id="2856" name="Google Shape;2856;p48"/>
            <p:cNvCxnSpPr/>
            <p:nvPr/>
          </p:nvCxnSpPr>
          <p:spPr>
            <a:xfrm>
              <a:off x="1972" y="1905"/>
              <a:ext cx="2489" cy="0"/>
            </a:xfrm>
            <a:prstGeom prst="straightConnector1">
              <a:avLst/>
            </a:prstGeom>
            <a:noFill/>
            <a:ln cap="flat" cmpd="sng" w="19050">
              <a:solidFill>
                <a:srgbClr val="000000"/>
              </a:solidFill>
              <a:prstDash val="solid"/>
              <a:round/>
              <a:headEnd len="med" w="med" type="none"/>
              <a:tailEnd len="med" w="med" type="none"/>
            </a:ln>
          </p:spPr>
        </p:cxnSp>
        <p:sp>
          <p:nvSpPr>
            <p:cNvPr id="2857" name="Google Shape;2857;p48"/>
            <p:cNvSpPr txBox="1"/>
            <p:nvPr/>
          </p:nvSpPr>
          <p:spPr>
            <a:xfrm>
              <a:off x="2668" y="1525"/>
              <a:ext cx="48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upper</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layer</a:t>
              </a:r>
              <a:endParaRPr/>
            </a:p>
          </p:txBody>
        </p:sp>
        <p:cxnSp>
          <p:nvCxnSpPr>
            <p:cNvPr id="2858" name="Google Shape;2858;p48"/>
            <p:cNvCxnSpPr/>
            <p:nvPr/>
          </p:nvCxnSpPr>
          <p:spPr>
            <a:xfrm rot="10800000">
              <a:off x="2610" y="1589"/>
              <a:ext cx="0" cy="319"/>
            </a:xfrm>
            <a:prstGeom prst="straightConnector1">
              <a:avLst/>
            </a:prstGeom>
            <a:noFill/>
            <a:ln cap="flat" cmpd="sng" w="19050">
              <a:solidFill>
                <a:srgbClr val="000000"/>
              </a:solidFill>
              <a:prstDash val="solid"/>
              <a:round/>
              <a:headEnd len="med" w="med" type="none"/>
              <a:tailEnd len="med" w="med" type="none"/>
            </a:ln>
          </p:spPr>
        </p:cxnSp>
        <p:sp>
          <p:nvSpPr>
            <p:cNvPr id="2859" name="Google Shape;2859;p48"/>
            <p:cNvSpPr txBox="1"/>
            <p:nvPr/>
          </p:nvSpPr>
          <p:spPr>
            <a:xfrm>
              <a:off x="2450" y="2235"/>
              <a:ext cx="1554" cy="23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IP address</a:t>
              </a:r>
              <a:endParaRPr b="0" i="0" sz="2400" u="none" cap="none" strike="noStrike">
                <a:solidFill>
                  <a:srgbClr val="000000"/>
                </a:solidFill>
                <a:latin typeface="Arial"/>
                <a:ea typeface="Arial"/>
                <a:cs typeface="Arial"/>
                <a:sym typeface="Arial"/>
              </a:endParaRPr>
            </a:p>
          </p:txBody>
        </p:sp>
        <p:cxnSp>
          <p:nvCxnSpPr>
            <p:cNvPr id="2860" name="Google Shape;2860;p48"/>
            <p:cNvCxnSpPr/>
            <p:nvPr/>
          </p:nvCxnSpPr>
          <p:spPr>
            <a:xfrm>
              <a:off x="1984" y="2787"/>
              <a:ext cx="2489" cy="0"/>
            </a:xfrm>
            <a:prstGeom prst="straightConnector1">
              <a:avLst/>
            </a:prstGeom>
            <a:noFill/>
            <a:ln cap="flat" cmpd="sng" w="19050">
              <a:solidFill>
                <a:srgbClr val="000000"/>
              </a:solidFill>
              <a:prstDash val="solid"/>
              <a:round/>
              <a:headEnd len="med" w="med" type="none"/>
              <a:tailEnd len="med" w="med" type="none"/>
            </a:ln>
          </p:spPr>
        </p:cxnSp>
        <p:sp>
          <p:nvSpPr>
            <p:cNvPr id="2861" name="Google Shape;2861;p48"/>
            <p:cNvSpPr txBox="1"/>
            <p:nvPr/>
          </p:nvSpPr>
          <p:spPr>
            <a:xfrm>
              <a:off x="2673" y="2529"/>
              <a:ext cx="106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options (if any)</a:t>
              </a:r>
              <a:endParaRPr b="0" i="0" sz="2400" u="none" cap="none" strike="noStrike">
                <a:solidFill>
                  <a:srgbClr val="000000"/>
                </a:solidFill>
                <a:latin typeface="Arial"/>
                <a:ea typeface="Arial"/>
                <a:cs typeface="Arial"/>
                <a:sym typeface="Arial"/>
              </a:endParaRPr>
            </a:p>
          </p:txBody>
        </p:sp>
      </p:grpSp>
      <p:grpSp>
        <p:nvGrpSpPr>
          <p:cNvPr id="2862" name="Google Shape;2862;p48"/>
          <p:cNvGrpSpPr/>
          <p:nvPr/>
        </p:nvGrpSpPr>
        <p:grpSpPr>
          <a:xfrm>
            <a:off x="1064770" y="1650761"/>
            <a:ext cx="3598863" cy="369886"/>
            <a:chOff x="-198" y="851"/>
            <a:chExt cx="2267" cy="233"/>
          </a:xfrm>
        </p:grpSpPr>
        <p:sp>
          <p:nvSpPr>
            <p:cNvPr id="2863" name="Google Shape;2863;p48"/>
            <p:cNvSpPr txBox="1"/>
            <p:nvPr/>
          </p:nvSpPr>
          <p:spPr>
            <a:xfrm>
              <a:off x="-198" y="851"/>
              <a:ext cx="1965"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 protocol version number</a:t>
              </a:r>
              <a:endParaRPr b="0" i="0" sz="1000" u="none" cap="none" strike="noStrike">
                <a:solidFill>
                  <a:srgbClr val="000000"/>
                </a:solidFill>
                <a:latin typeface="Arial"/>
                <a:ea typeface="Arial"/>
                <a:cs typeface="Arial"/>
                <a:sym typeface="Arial"/>
              </a:endParaRPr>
            </a:p>
          </p:txBody>
        </p:sp>
        <p:cxnSp>
          <p:nvCxnSpPr>
            <p:cNvPr id="2864" name="Google Shape;2864;p48"/>
            <p:cNvCxnSpPr/>
            <p:nvPr/>
          </p:nvCxnSpPr>
          <p:spPr>
            <a:xfrm>
              <a:off x="1740" y="996"/>
              <a:ext cx="329" cy="0"/>
            </a:xfrm>
            <a:prstGeom prst="straightConnector1">
              <a:avLst/>
            </a:prstGeom>
            <a:noFill/>
            <a:ln cap="flat" cmpd="sng" w="19050">
              <a:solidFill>
                <a:srgbClr val="C00000"/>
              </a:solidFill>
              <a:prstDash val="solid"/>
              <a:round/>
              <a:headEnd len="med" w="med" type="none"/>
              <a:tailEnd len="med" w="med" type="none"/>
            </a:ln>
          </p:spPr>
        </p:cxnSp>
      </p:grpSp>
      <p:grpSp>
        <p:nvGrpSpPr>
          <p:cNvPr id="2865" name="Google Shape;2865;p48"/>
          <p:cNvGrpSpPr/>
          <p:nvPr/>
        </p:nvGrpSpPr>
        <p:grpSpPr>
          <a:xfrm>
            <a:off x="1228282" y="2004782"/>
            <a:ext cx="3817939" cy="369888"/>
            <a:chOff x="-95" y="1074"/>
            <a:chExt cx="2405" cy="233"/>
          </a:xfrm>
        </p:grpSpPr>
        <p:sp>
          <p:nvSpPr>
            <p:cNvPr id="2866" name="Google Shape;2866;p48"/>
            <p:cNvSpPr txBox="1"/>
            <p:nvPr/>
          </p:nvSpPr>
          <p:spPr>
            <a:xfrm>
              <a:off x="-95" y="1074"/>
              <a:ext cx="1855"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 length(bytes)</a:t>
              </a:r>
              <a:endParaRPr b="0" i="0" sz="1000" u="none" cap="none" strike="noStrike">
                <a:solidFill>
                  <a:srgbClr val="000000"/>
                </a:solidFill>
                <a:latin typeface="Arial"/>
                <a:ea typeface="Arial"/>
                <a:cs typeface="Arial"/>
                <a:sym typeface="Arial"/>
              </a:endParaRPr>
            </a:p>
          </p:txBody>
        </p:sp>
        <p:cxnSp>
          <p:nvCxnSpPr>
            <p:cNvPr id="2867" name="Google Shape;2867;p48"/>
            <p:cNvCxnSpPr/>
            <p:nvPr/>
          </p:nvCxnSpPr>
          <p:spPr>
            <a:xfrm>
              <a:off x="1748" y="1184"/>
              <a:ext cx="562" cy="0"/>
            </a:xfrm>
            <a:prstGeom prst="straightConnector1">
              <a:avLst/>
            </a:prstGeom>
            <a:noFill/>
            <a:ln cap="flat" cmpd="sng" w="19050">
              <a:solidFill>
                <a:srgbClr val="C00000"/>
              </a:solidFill>
              <a:prstDash val="solid"/>
              <a:round/>
              <a:headEnd len="med" w="med" type="none"/>
              <a:tailEnd len="med" w="med" type="none"/>
            </a:ln>
          </p:spPr>
        </p:cxnSp>
      </p:grpSp>
      <p:grpSp>
        <p:nvGrpSpPr>
          <p:cNvPr id="2868" name="Google Shape;2868;p48"/>
          <p:cNvGrpSpPr/>
          <p:nvPr/>
        </p:nvGrpSpPr>
        <p:grpSpPr>
          <a:xfrm>
            <a:off x="151955" y="3111541"/>
            <a:ext cx="5535615" cy="1247776"/>
            <a:chOff x="-773" y="1434"/>
            <a:chExt cx="3487" cy="786"/>
          </a:xfrm>
        </p:grpSpPr>
        <p:sp>
          <p:nvSpPr>
            <p:cNvPr id="2869" name="Google Shape;2869;p48"/>
            <p:cNvSpPr txBox="1"/>
            <p:nvPr/>
          </p:nvSpPr>
          <p:spPr>
            <a:xfrm>
              <a:off x="-773" y="1987"/>
              <a:ext cx="2568" cy="23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upper layer protocol </a:t>
              </a:r>
              <a:r>
                <a:rPr b="0" i="0" lang="en-US" sz="1600" u="none" cap="none" strike="noStrike">
                  <a:solidFill>
                    <a:srgbClr val="000000"/>
                  </a:solidFill>
                  <a:latin typeface="Arial"/>
                  <a:ea typeface="Arial"/>
                  <a:cs typeface="Arial"/>
                  <a:sym typeface="Arial"/>
                </a:rPr>
                <a:t>(e.g., TCP or UDP)</a:t>
              </a:r>
              <a:endParaRPr b="0" i="0" sz="1800" u="none" cap="none" strike="noStrike">
                <a:solidFill>
                  <a:srgbClr val="000000"/>
                </a:solidFill>
                <a:latin typeface="Arial"/>
                <a:ea typeface="Arial"/>
                <a:cs typeface="Arial"/>
                <a:sym typeface="Arial"/>
              </a:endParaRPr>
            </a:p>
          </p:txBody>
        </p:sp>
        <p:cxnSp>
          <p:nvCxnSpPr>
            <p:cNvPr id="2870" name="Google Shape;2870;p48"/>
            <p:cNvCxnSpPr/>
            <p:nvPr/>
          </p:nvCxnSpPr>
          <p:spPr>
            <a:xfrm flipH="1" rot="10800000">
              <a:off x="1766" y="1434"/>
              <a:ext cx="948" cy="672"/>
            </a:xfrm>
            <a:prstGeom prst="straightConnector1">
              <a:avLst/>
            </a:prstGeom>
            <a:noFill/>
            <a:ln cap="flat" cmpd="sng" w="19050">
              <a:solidFill>
                <a:srgbClr val="C00000"/>
              </a:solidFill>
              <a:prstDash val="solid"/>
              <a:round/>
              <a:headEnd len="med" w="med" type="none"/>
              <a:tailEnd len="med" w="med" type="none"/>
            </a:ln>
          </p:spPr>
        </p:cxnSp>
      </p:grpSp>
      <p:grpSp>
        <p:nvGrpSpPr>
          <p:cNvPr id="2871" name="Google Shape;2871;p48"/>
          <p:cNvGrpSpPr/>
          <p:nvPr/>
        </p:nvGrpSpPr>
        <p:grpSpPr>
          <a:xfrm>
            <a:off x="8102158" y="1652352"/>
            <a:ext cx="2322512" cy="641350"/>
            <a:chOff x="4235" y="852"/>
            <a:chExt cx="1463" cy="404"/>
          </a:xfrm>
        </p:grpSpPr>
        <p:sp>
          <p:nvSpPr>
            <p:cNvPr id="2872" name="Google Shape;2872;p48"/>
            <p:cNvSpPr txBox="1"/>
            <p:nvPr/>
          </p:nvSpPr>
          <p:spPr>
            <a:xfrm>
              <a:off x="4662" y="852"/>
              <a:ext cx="1036"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total datagram</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 (bytes)</a:t>
              </a:r>
              <a:endParaRPr/>
            </a:p>
          </p:txBody>
        </p:sp>
        <p:cxnSp>
          <p:nvCxnSpPr>
            <p:cNvPr id="2873" name="Google Shape;2873;p48"/>
            <p:cNvCxnSpPr/>
            <p:nvPr/>
          </p:nvCxnSpPr>
          <p:spPr>
            <a:xfrm rot="10800000">
              <a:off x="4235" y="1149"/>
              <a:ext cx="429" cy="0"/>
            </a:xfrm>
            <a:prstGeom prst="straightConnector1">
              <a:avLst/>
            </a:prstGeom>
            <a:noFill/>
            <a:ln cap="flat" cmpd="sng" w="19050">
              <a:solidFill>
                <a:srgbClr val="C00000"/>
              </a:solidFill>
              <a:prstDash val="solid"/>
              <a:round/>
              <a:headEnd len="med" w="med" type="none"/>
              <a:tailEnd len="med" w="med" type="none"/>
            </a:ln>
          </p:spPr>
        </p:cxnSp>
      </p:grpSp>
      <p:grpSp>
        <p:nvGrpSpPr>
          <p:cNvPr id="2874" name="Google Shape;2874;p48"/>
          <p:cNvGrpSpPr/>
          <p:nvPr/>
        </p:nvGrpSpPr>
        <p:grpSpPr>
          <a:xfrm>
            <a:off x="2323661" y="2060348"/>
            <a:ext cx="3378202" cy="1452568"/>
            <a:chOff x="595" y="1109"/>
            <a:chExt cx="2128" cy="915"/>
          </a:xfrm>
        </p:grpSpPr>
        <p:sp>
          <p:nvSpPr>
            <p:cNvPr id="2875" name="Google Shape;2875;p48"/>
            <p:cNvSpPr txBox="1"/>
            <p:nvPr/>
          </p:nvSpPr>
          <p:spPr>
            <a:xfrm>
              <a:off x="595" y="1307"/>
              <a:ext cx="1202" cy="7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“type” of service:</a:t>
              </a:r>
              <a:endParaRPr/>
            </a:p>
            <a:p>
              <a:pPr indent="-165100" lvl="0" marL="285750" marR="0" rtl="0" algn="l">
                <a:lnSpc>
                  <a:spcPct val="100000"/>
                </a:lnSpc>
                <a:spcBef>
                  <a:spcPts val="0"/>
                </a:spcBef>
                <a:spcAft>
                  <a:spcPts val="0"/>
                </a:spcAft>
                <a:buClr>
                  <a:srgbClr val="0000A8"/>
                </a:buClr>
                <a:buSzPts val="1600"/>
                <a:buFont typeface="Noto Sans Symbols"/>
                <a:buChar char="▪"/>
              </a:pPr>
              <a:r>
                <a:rPr b="0" i="0" lang="en-US" sz="1600" u="none" cap="none" strike="noStrike">
                  <a:solidFill>
                    <a:srgbClr val="000000"/>
                  </a:solidFill>
                  <a:latin typeface="Arial"/>
                  <a:ea typeface="Arial"/>
                  <a:cs typeface="Arial"/>
                  <a:sym typeface="Arial"/>
                </a:rPr>
                <a:t>diffserv (0:5)</a:t>
              </a:r>
              <a:endParaRPr/>
            </a:p>
            <a:p>
              <a:pPr indent="-165100" lvl="0" marL="285750" marR="0" rtl="0" algn="l">
                <a:lnSpc>
                  <a:spcPct val="100000"/>
                </a:lnSpc>
                <a:spcBef>
                  <a:spcPts val="0"/>
                </a:spcBef>
                <a:spcAft>
                  <a:spcPts val="0"/>
                </a:spcAft>
                <a:buClr>
                  <a:srgbClr val="0000A8"/>
                </a:buClr>
                <a:buSzPts val="1600"/>
                <a:buFont typeface="Noto Sans Symbols"/>
                <a:buChar char="▪"/>
              </a:pPr>
              <a:r>
                <a:rPr b="0" i="0" lang="en-US" sz="1600" u="none" cap="none" strike="noStrike">
                  <a:solidFill>
                    <a:srgbClr val="000000"/>
                  </a:solidFill>
                  <a:latin typeface="Arial"/>
                  <a:ea typeface="Arial"/>
                  <a:cs typeface="Arial"/>
                  <a:sym typeface="Arial"/>
                </a:rPr>
                <a:t>ECN (6:7)</a:t>
              </a:r>
              <a:endParaRPr/>
            </a:p>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p:txBody>
        </p:sp>
        <p:cxnSp>
          <p:nvCxnSpPr>
            <p:cNvPr id="2876" name="Google Shape;2876;p48"/>
            <p:cNvCxnSpPr/>
            <p:nvPr/>
          </p:nvCxnSpPr>
          <p:spPr>
            <a:xfrm flipH="1" rot="10800000">
              <a:off x="1746" y="1109"/>
              <a:ext cx="977" cy="320"/>
            </a:xfrm>
            <a:prstGeom prst="straightConnector1">
              <a:avLst/>
            </a:prstGeom>
            <a:noFill/>
            <a:ln cap="flat" cmpd="sng" w="19050">
              <a:solidFill>
                <a:srgbClr val="C00000"/>
              </a:solidFill>
              <a:prstDash val="solid"/>
              <a:round/>
              <a:headEnd len="med" w="med" type="none"/>
              <a:tailEnd len="med" w="med" type="none"/>
            </a:ln>
          </p:spPr>
        </p:cxnSp>
      </p:grpSp>
      <p:grpSp>
        <p:nvGrpSpPr>
          <p:cNvPr id="2877" name="Google Shape;2877;p48"/>
          <p:cNvGrpSpPr/>
          <p:nvPr/>
        </p:nvGrpSpPr>
        <p:grpSpPr>
          <a:xfrm>
            <a:off x="6330509" y="2273066"/>
            <a:ext cx="4110038" cy="646113"/>
            <a:chOff x="3119" y="1243"/>
            <a:chExt cx="2589" cy="407"/>
          </a:xfrm>
        </p:grpSpPr>
        <p:sp>
          <p:nvSpPr>
            <p:cNvPr id="2878" name="Google Shape;2878;p48"/>
            <p:cNvSpPr txBox="1"/>
            <p:nvPr/>
          </p:nvSpPr>
          <p:spPr>
            <a:xfrm>
              <a:off x="4663" y="1243"/>
              <a:ext cx="1045"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fragmentation/</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reassembly</a:t>
              </a:r>
              <a:endParaRPr/>
            </a:p>
          </p:txBody>
        </p:sp>
        <p:cxnSp>
          <p:nvCxnSpPr>
            <p:cNvPr id="2879" name="Google Shape;2879;p48"/>
            <p:cNvCxnSpPr/>
            <p:nvPr/>
          </p:nvCxnSpPr>
          <p:spPr>
            <a:xfrm flipH="1">
              <a:off x="3443" y="1358"/>
              <a:ext cx="1228" cy="177"/>
            </a:xfrm>
            <a:prstGeom prst="straightConnector1">
              <a:avLst/>
            </a:prstGeom>
            <a:noFill/>
            <a:ln cap="flat" cmpd="sng" w="19050">
              <a:solidFill>
                <a:srgbClr val="C00000"/>
              </a:solidFill>
              <a:prstDash val="solid"/>
              <a:round/>
              <a:headEnd len="med" w="med" type="none"/>
              <a:tailEnd len="med" w="med" type="none"/>
            </a:ln>
          </p:spPr>
        </p:cxnSp>
        <p:cxnSp>
          <p:nvCxnSpPr>
            <p:cNvPr id="2880" name="Google Shape;2880;p48"/>
            <p:cNvCxnSpPr/>
            <p:nvPr/>
          </p:nvCxnSpPr>
          <p:spPr>
            <a:xfrm rot="10800000">
              <a:off x="4301" y="1349"/>
              <a:ext cx="381" cy="2"/>
            </a:xfrm>
            <a:prstGeom prst="straightConnector1">
              <a:avLst/>
            </a:prstGeom>
            <a:noFill/>
            <a:ln cap="flat" cmpd="sng" w="19050">
              <a:solidFill>
                <a:srgbClr val="C00000"/>
              </a:solidFill>
              <a:prstDash val="solid"/>
              <a:round/>
              <a:headEnd len="med" w="med" type="none"/>
              <a:tailEnd len="med" w="med" type="none"/>
            </a:ln>
          </p:spPr>
        </p:cxnSp>
        <p:cxnSp>
          <p:nvCxnSpPr>
            <p:cNvPr id="2881" name="Google Shape;2881;p48"/>
            <p:cNvCxnSpPr/>
            <p:nvPr/>
          </p:nvCxnSpPr>
          <p:spPr>
            <a:xfrm flipH="1">
              <a:off x="3119" y="1354"/>
              <a:ext cx="1555" cy="103"/>
            </a:xfrm>
            <a:prstGeom prst="straightConnector1">
              <a:avLst/>
            </a:prstGeom>
            <a:noFill/>
            <a:ln cap="flat" cmpd="sng" w="19050">
              <a:solidFill>
                <a:srgbClr val="C00000"/>
              </a:solidFill>
              <a:prstDash val="solid"/>
              <a:round/>
              <a:headEnd len="med" w="med" type="none"/>
              <a:tailEnd len="med" w="med" type="none"/>
            </a:ln>
          </p:spPr>
        </p:cxnSp>
      </p:grpSp>
      <p:grpSp>
        <p:nvGrpSpPr>
          <p:cNvPr id="2882" name="Google Shape;2882;p48"/>
          <p:cNvGrpSpPr/>
          <p:nvPr/>
        </p:nvGrpSpPr>
        <p:grpSpPr>
          <a:xfrm>
            <a:off x="786919" y="3200477"/>
            <a:ext cx="3975103" cy="723900"/>
            <a:chOff x="-366" y="1483"/>
            <a:chExt cx="2504" cy="456"/>
          </a:xfrm>
        </p:grpSpPr>
        <p:sp>
          <p:nvSpPr>
            <p:cNvPr id="2883" name="Google Shape;2883;p48"/>
            <p:cNvSpPr txBox="1"/>
            <p:nvPr/>
          </p:nvSpPr>
          <p:spPr>
            <a:xfrm>
              <a:off x="-366" y="1551"/>
              <a:ext cx="2144" cy="38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TTL: remaining  max hops</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(decremented at each router)</a:t>
              </a:r>
              <a:endParaRPr/>
            </a:p>
          </p:txBody>
        </p:sp>
        <p:cxnSp>
          <p:nvCxnSpPr>
            <p:cNvPr id="2884" name="Google Shape;2884;p48"/>
            <p:cNvCxnSpPr/>
            <p:nvPr/>
          </p:nvCxnSpPr>
          <p:spPr>
            <a:xfrm flipH="1" rot="10800000">
              <a:off x="1753" y="1483"/>
              <a:ext cx="385" cy="277"/>
            </a:xfrm>
            <a:prstGeom prst="straightConnector1">
              <a:avLst/>
            </a:prstGeom>
            <a:noFill/>
            <a:ln cap="flat" cmpd="sng" w="19050">
              <a:solidFill>
                <a:srgbClr val="C00000"/>
              </a:solidFill>
              <a:prstDash val="solid"/>
              <a:round/>
              <a:headEnd len="med" w="med" type="none"/>
              <a:tailEnd len="med" w="med" type="none"/>
            </a:ln>
          </p:spPr>
        </p:cxnSp>
      </p:grpSp>
      <p:grpSp>
        <p:nvGrpSpPr>
          <p:cNvPr id="2885" name="Google Shape;2885;p48"/>
          <p:cNvGrpSpPr/>
          <p:nvPr/>
        </p:nvGrpSpPr>
        <p:grpSpPr>
          <a:xfrm>
            <a:off x="1134317" y="4446414"/>
            <a:ext cx="2823045" cy="2083632"/>
            <a:chOff x="419725" y="4467070"/>
            <a:chExt cx="2823045" cy="2083632"/>
          </a:xfrm>
        </p:grpSpPr>
        <p:sp>
          <p:nvSpPr>
            <p:cNvPr id="2886" name="Google Shape;2886;p48"/>
            <p:cNvSpPr/>
            <p:nvPr/>
          </p:nvSpPr>
          <p:spPr>
            <a:xfrm>
              <a:off x="437293" y="4954788"/>
              <a:ext cx="2805477" cy="1465471"/>
            </a:xfrm>
            <a:prstGeom prst="rect">
              <a:avLst/>
            </a:prstGeom>
            <a:noFill/>
            <a:ln>
              <a:noFill/>
            </a:ln>
          </p:spPr>
          <p:txBody>
            <a:bodyPr anchorCtr="0" anchor="t" bIns="45700" lIns="91425" spcFirstLastPara="1" rIns="91425" wrap="square" tIns="45700">
              <a:noAutofit/>
            </a:bodyPr>
            <a:lstStyle/>
            <a:p>
              <a:pPr indent="-223837" lvl="0" marL="342900" marR="0" rtl="0" algn="l">
                <a:lnSpc>
                  <a:spcPct val="85000"/>
                </a:lnSpc>
                <a:spcBef>
                  <a:spcPts val="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20 bytes of TCP</a:t>
              </a:r>
              <a:endParaRPr/>
            </a:p>
            <a:p>
              <a:pPr indent="-223837" lvl="0" marL="342900" marR="0" rtl="0" algn="l">
                <a:lnSpc>
                  <a:spcPct val="85000"/>
                </a:lnSpc>
                <a:spcBef>
                  <a:spcPts val="40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20 bytes of IP</a:t>
              </a:r>
              <a:endParaRPr/>
            </a:p>
            <a:p>
              <a:pPr indent="-223837" lvl="0" marL="342900" marR="0" rtl="0" algn="l">
                <a:lnSpc>
                  <a:spcPct val="95000"/>
                </a:lnSpc>
                <a:spcBef>
                  <a:spcPts val="400"/>
                </a:spcBef>
                <a:spcAft>
                  <a:spcPts val="0"/>
                </a:spcAft>
                <a:buClr>
                  <a:srgbClr val="0000A3"/>
                </a:buClr>
                <a:buSzPts val="2000"/>
                <a:buFont typeface="Noto Sans Symbols"/>
                <a:buChar char="▪"/>
              </a:pPr>
              <a:r>
                <a:rPr b="0" i="0" lang="en-US" sz="2000" u="none" cap="none" strike="noStrike">
                  <a:solidFill>
                    <a:srgbClr val="000000"/>
                  </a:solidFill>
                  <a:latin typeface="Arial"/>
                  <a:ea typeface="Arial"/>
                  <a:cs typeface="Arial"/>
                  <a:sym typeface="Arial"/>
                </a:rPr>
                <a:t>= 40 bytes + app layer overhead for TCP+IP</a:t>
              </a:r>
              <a:endParaRPr/>
            </a:p>
          </p:txBody>
        </p:sp>
        <p:sp>
          <p:nvSpPr>
            <p:cNvPr id="2887" name="Google Shape;2887;p48"/>
            <p:cNvSpPr/>
            <p:nvPr/>
          </p:nvSpPr>
          <p:spPr>
            <a:xfrm>
              <a:off x="419725" y="4751882"/>
              <a:ext cx="2683239" cy="1798820"/>
            </a:xfrm>
            <a:prstGeom prst="rect">
              <a:avLst/>
            </a:pr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8" name="Google Shape;2888;p48"/>
            <p:cNvSpPr txBox="1"/>
            <p:nvPr/>
          </p:nvSpPr>
          <p:spPr>
            <a:xfrm>
              <a:off x="599607" y="4467070"/>
              <a:ext cx="1561325" cy="52322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overhead</a:t>
              </a:r>
              <a:endParaRPr/>
            </a:p>
          </p:txBody>
        </p:sp>
      </p:grpSp>
      <p:grpSp>
        <p:nvGrpSpPr>
          <p:cNvPr id="2889" name="Google Shape;2889;p48"/>
          <p:cNvGrpSpPr/>
          <p:nvPr/>
        </p:nvGrpSpPr>
        <p:grpSpPr>
          <a:xfrm>
            <a:off x="7719934" y="4348085"/>
            <a:ext cx="3971903" cy="646113"/>
            <a:chOff x="7719934" y="4348085"/>
            <a:chExt cx="3971903" cy="646113"/>
          </a:xfrm>
        </p:grpSpPr>
        <p:sp>
          <p:nvSpPr>
            <p:cNvPr id="2890" name="Google Shape;2890;p48"/>
            <p:cNvSpPr txBox="1"/>
            <p:nvPr/>
          </p:nvSpPr>
          <p:spPr>
            <a:xfrm>
              <a:off x="8778774" y="4348085"/>
              <a:ext cx="2913063" cy="646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 timestamp, record route taken</a:t>
              </a:r>
              <a:endParaRPr/>
            </a:p>
          </p:txBody>
        </p:sp>
        <p:cxnSp>
          <p:nvCxnSpPr>
            <p:cNvPr id="2891" name="Google Shape;2891;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2" name="Google Shape;2892;p48"/>
          <p:cNvGrpSpPr/>
          <p:nvPr/>
        </p:nvGrpSpPr>
        <p:grpSpPr>
          <a:xfrm>
            <a:off x="7739650" y="3384606"/>
            <a:ext cx="3971903" cy="369332"/>
            <a:chOff x="7719934" y="4348085"/>
            <a:chExt cx="3971903" cy="369332"/>
          </a:xfrm>
        </p:grpSpPr>
        <p:sp>
          <p:nvSpPr>
            <p:cNvPr id="2893" name="Google Shape;2893;p48"/>
            <p:cNvSpPr txBox="1"/>
            <p:nvPr/>
          </p:nvSpPr>
          <p:spPr>
            <a:xfrm>
              <a:off x="8778774" y="4348085"/>
              <a:ext cx="29130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32-bit source IP address</a:t>
              </a:r>
              <a:endParaRPr/>
            </a:p>
          </p:txBody>
        </p:sp>
        <p:cxnSp>
          <p:nvCxnSpPr>
            <p:cNvPr id="2894" name="Google Shape;2894;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5" name="Google Shape;2895;p48"/>
          <p:cNvGrpSpPr/>
          <p:nvPr/>
        </p:nvGrpSpPr>
        <p:grpSpPr>
          <a:xfrm>
            <a:off x="7721569" y="3862471"/>
            <a:ext cx="4181130" cy="369332"/>
            <a:chOff x="7719934" y="4348085"/>
            <a:chExt cx="4181130" cy="369332"/>
          </a:xfrm>
        </p:grpSpPr>
        <p:sp>
          <p:nvSpPr>
            <p:cNvPr id="2896" name="Google Shape;2896;p48"/>
            <p:cNvSpPr txBox="1"/>
            <p:nvPr/>
          </p:nvSpPr>
          <p:spPr>
            <a:xfrm>
              <a:off x="8778774" y="4348085"/>
              <a:ext cx="312229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32-bit destination IP address</a:t>
              </a:r>
              <a:endParaRPr/>
            </a:p>
          </p:txBody>
        </p:sp>
        <p:cxnSp>
          <p:nvCxnSpPr>
            <p:cNvPr id="2897" name="Google Shape;2897;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898" name="Google Shape;2898;p48"/>
          <p:cNvGrpSpPr/>
          <p:nvPr/>
        </p:nvGrpSpPr>
        <p:grpSpPr>
          <a:xfrm>
            <a:off x="7737066" y="2920899"/>
            <a:ext cx="3971903" cy="369332"/>
            <a:chOff x="7719934" y="4348085"/>
            <a:chExt cx="3971903" cy="369332"/>
          </a:xfrm>
        </p:grpSpPr>
        <p:sp>
          <p:nvSpPr>
            <p:cNvPr id="2899" name="Google Shape;2899;p48"/>
            <p:cNvSpPr txBox="1"/>
            <p:nvPr/>
          </p:nvSpPr>
          <p:spPr>
            <a:xfrm>
              <a:off x="8778774" y="4348085"/>
              <a:ext cx="291306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header checksum</a:t>
              </a:r>
              <a:endParaRPr/>
            </a:p>
          </p:txBody>
        </p:sp>
        <p:cxnSp>
          <p:nvCxnSpPr>
            <p:cNvPr id="2900" name="Google Shape;2900;p48"/>
            <p:cNvCxnSpPr/>
            <p:nvPr/>
          </p:nvCxnSpPr>
          <p:spPr>
            <a:xfrm>
              <a:off x="7719934" y="4542020"/>
              <a:ext cx="989350"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2901" name="Google Shape;2901;p48"/>
          <p:cNvGrpSpPr/>
          <p:nvPr/>
        </p:nvGrpSpPr>
        <p:grpSpPr>
          <a:xfrm>
            <a:off x="8948060" y="1758043"/>
            <a:ext cx="2808718" cy="4833257"/>
            <a:chOff x="9209324" y="1834243"/>
            <a:chExt cx="2808718" cy="4833257"/>
          </a:xfrm>
        </p:grpSpPr>
        <p:cxnSp>
          <p:nvCxnSpPr>
            <p:cNvPr id="2902" name="Google Shape;2902;p48"/>
            <p:cNvCxnSpPr/>
            <p:nvPr/>
          </p:nvCxnSpPr>
          <p:spPr>
            <a:xfrm>
              <a:off x="11097988" y="1834243"/>
              <a:ext cx="0" cy="4833257"/>
            </a:xfrm>
            <a:prstGeom prst="straightConnector1">
              <a:avLst/>
            </a:prstGeom>
            <a:noFill/>
            <a:ln cap="flat" cmpd="sng" w="44450">
              <a:solidFill>
                <a:srgbClr val="C00000"/>
              </a:solidFill>
              <a:prstDash val="solid"/>
              <a:miter lim="800000"/>
              <a:headEnd len="med" w="med" type="triangle"/>
              <a:tailEnd len="med" w="med" type="triangle"/>
            </a:ln>
          </p:spPr>
        </p:cxnSp>
        <p:cxnSp>
          <p:nvCxnSpPr>
            <p:cNvPr id="2903" name="Google Shape;2903;p48"/>
            <p:cNvCxnSpPr/>
            <p:nvPr/>
          </p:nvCxnSpPr>
          <p:spPr>
            <a:xfrm>
              <a:off x="10823536" y="1839686"/>
              <a:ext cx="600364" cy="0"/>
            </a:xfrm>
            <a:prstGeom prst="straightConnector1">
              <a:avLst/>
            </a:prstGeom>
            <a:noFill/>
            <a:ln cap="flat" cmpd="sng" w="44450">
              <a:solidFill>
                <a:srgbClr val="C00000"/>
              </a:solidFill>
              <a:prstDash val="solid"/>
              <a:miter lim="800000"/>
              <a:headEnd len="sm" w="sm" type="none"/>
              <a:tailEnd len="sm" w="sm" type="none"/>
            </a:ln>
          </p:spPr>
        </p:cxnSp>
        <p:cxnSp>
          <p:nvCxnSpPr>
            <p:cNvPr id="2904" name="Google Shape;2904;p48"/>
            <p:cNvCxnSpPr/>
            <p:nvPr/>
          </p:nvCxnSpPr>
          <p:spPr>
            <a:xfrm>
              <a:off x="10828978" y="6645729"/>
              <a:ext cx="600364" cy="0"/>
            </a:xfrm>
            <a:prstGeom prst="straightConnector1">
              <a:avLst/>
            </a:prstGeom>
            <a:noFill/>
            <a:ln cap="flat" cmpd="sng" w="44450">
              <a:solidFill>
                <a:srgbClr val="C00000"/>
              </a:solidFill>
              <a:prstDash val="solid"/>
              <a:miter lim="800000"/>
              <a:headEnd len="sm" w="sm" type="none"/>
              <a:tailEnd len="sm" w="sm" type="none"/>
            </a:ln>
          </p:spPr>
        </p:cxnSp>
        <p:sp>
          <p:nvSpPr>
            <p:cNvPr id="2905" name="Google Shape;2905;p48"/>
            <p:cNvSpPr txBox="1"/>
            <p:nvPr/>
          </p:nvSpPr>
          <p:spPr>
            <a:xfrm>
              <a:off x="9209324" y="3788229"/>
              <a:ext cx="2808718"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Maximum length: 64K bytes</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Typically: 1500 bytes or less</a:t>
              </a:r>
              <a:endParaRPr/>
            </a:p>
          </p:txBody>
        </p:sp>
      </p:grpSp>
      <p:sp>
        <p:nvSpPr>
          <p:cNvPr id="2906" name="Google Shape;2906;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2"/>
                                        </p:tgtEl>
                                        <p:attrNameLst>
                                          <p:attrName>style.visibility</p:attrName>
                                        </p:attrNameLst>
                                      </p:cBhvr>
                                      <p:to>
                                        <p:strVal val="visible"/>
                                      </p:to>
                                    </p:set>
                                    <p:animEffect filter="fade" transition="in">
                                      <p:cBhvr>
                                        <p:cTn dur="500"/>
                                        <p:tgtEl>
                                          <p:spTgt spid="28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5"/>
                                        </p:tgtEl>
                                        <p:attrNameLst>
                                          <p:attrName>style.visibility</p:attrName>
                                        </p:attrNameLst>
                                      </p:cBhvr>
                                      <p:to>
                                        <p:strVal val="visible"/>
                                      </p:to>
                                    </p:set>
                                    <p:animEffect filter="fade" transition="in">
                                      <p:cBhvr>
                                        <p:cTn dur="500"/>
                                        <p:tgtEl>
                                          <p:spTgt spid="28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1"/>
                                        </p:tgtEl>
                                        <p:attrNameLst>
                                          <p:attrName>style.visibility</p:attrName>
                                        </p:attrNameLst>
                                      </p:cBhvr>
                                      <p:to>
                                        <p:strVal val="visible"/>
                                      </p:to>
                                    </p:set>
                                    <p:animEffect filter="fade" transition="in">
                                      <p:cBhvr>
                                        <p:cTn dur="500"/>
                                        <p:tgtEl>
                                          <p:spTgt spid="28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1"/>
                                        </p:tgtEl>
                                        <p:attrNameLst>
                                          <p:attrName>style.visibility</p:attrName>
                                        </p:attrNameLst>
                                      </p:cBhvr>
                                      <p:to>
                                        <p:strVal val="visible"/>
                                      </p:to>
                                    </p:set>
                                    <p:animEffect filter="fade" transition="in">
                                      <p:cBhvr>
                                        <p:cTn dur="500"/>
                                        <p:tgtEl>
                                          <p:spTgt spid="29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901"/>
                                        </p:tgtEl>
                                      </p:cBhvr>
                                    </p:animEffect>
                                    <p:set>
                                      <p:cBhvr>
                                        <p:cTn dur="1" fill="hold">
                                          <p:stCondLst>
                                            <p:cond delay="500"/>
                                          </p:stCondLst>
                                        </p:cTn>
                                        <p:tgtEl>
                                          <p:spTgt spid="290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874"/>
                                        </p:tgtEl>
                                        <p:attrNameLst>
                                          <p:attrName>style.visibility</p:attrName>
                                        </p:attrNameLst>
                                      </p:cBhvr>
                                      <p:to>
                                        <p:strVal val="visible"/>
                                      </p:to>
                                    </p:set>
                                    <p:animEffect filter="fade" transition="in">
                                      <p:cBhvr>
                                        <p:cTn dur="500"/>
                                        <p:tgtEl>
                                          <p:spTgt spid="28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2"/>
                                        </p:tgtEl>
                                        <p:attrNameLst>
                                          <p:attrName>style.visibility</p:attrName>
                                        </p:attrNameLst>
                                      </p:cBhvr>
                                      <p:to>
                                        <p:strVal val="visible"/>
                                      </p:to>
                                    </p:set>
                                    <p:animEffect filter="fade" transition="in">
                                      <p:cBhvr>
                                        <p:cTn dur="500"/>
                                        <p:tgtEl>
                                          <p:spTgt spid="2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68"/>
                                        </p:tgtEl>
                                        <p:attrNameLst>
                                          <p:attrName>style.visibility</p:attrName>
                                        </p:attrNameLst>
                                      </p:cBhvr>
                                      <p:to>
                                        <p:strVal val="visible"/>
                                      </p:to>
                                    </p:set>
                                    <p:animEffect filter="fade" transition="in">
                                      <p:cBhvr>
                                        <p:cTn dur="500"/>
                                        <p:tgtEl>
                                          <p:spTgt spid="28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7"/>
                                        </p:tgtEl>
                                        <p:attrNameLst>
                                          <p:attrName>style.visibility</p:attrName>
                                        </p:attrNameLst>
                                      </p:cBhvr>
                                      <p:to>
                                        <p:strVal val="visible"/>
                                      </p:to>
                                    </p:set>
                                    <p:animEffect filter="fade" transition="in">
                                      <p:cBhvr>
                                        <p:cTn dur="500"/>
                                        <p:tgtEl>
                                          <p:spTgt spid="2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8"/>
                                        </p:tgtEl>
                                        <p:attrNameLst>
                                          <p:attrName>style.visibility</p:attrName>
                                        </p:attrNameLst>
                                      </p:cBhvr>
                                      <p:to>
                                        <p:strVal val="visible"/>
                                      </p:to>
                                    </p:set>
                                    <p:animEffect filter="fade" transition="in">
                                      <p:cBhvr>
                                        <p:cTn dur="500"/>
                                        <p:tgtEl>
                                          <p:spTgt spid="28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2"/>
                                        </p:tgtEl>
                                        <p:attrNameLst>
                                          <p:attrName>style.visibility</p:attrName>
                                        </p:attrNameLst>
                                      </p:cBhvr>
                                      <p:to>
                                        <p:strVal val="visible"/>
                                      </p:to>
                                    </p:set>
                                    <p:animEffect filter="fade" transition="in">
                                      <p:cBhvr>
                                        <p:cTn dur="500"/>
                                        <p:tgtEl>
                                          <p:spTgt spid="2892"/>
                                        </p:tgtEl>
                                      </p:cBhvr>
                                    </p:animEffect>
                                  </p:childTnLst>
                                </p:cTn>
                              </p:par>
                              <p:par>
                                <p:cTn fill="hold" nodeType="withEffect" presetClass="entr" presetID="10" presetSubtype="0">
                                  <p:stCondLst>
                                    <p:cond delay="0"/>
                                  </p:stCondLst>
                                  <p:childTnLst>
                                    <p:set>
                                      <p:cBhvr>
                                        <p:cTn dur="1" fill="hold">
                                          <p:stCondLst>
                                            <p:cond delay="0"/>
                                          </p:stCondLst>
                                        </p:cTn>
                                        <p:tgtEl>
                                          <p:spTgt spid="2895"/>
                                        </p:tgtEl>
                                        <p:attrNameLst>
                                          <p:attrName>style.visibility</p:attrName>
                                        </p:attrNameLst>
                                      </p:cBhvr>
                                      <p:to>
                                        <p:strVal val="visible"/>
                                      </p:to>
                                    </p:set>
                                    <p:animEffect filter="fade" transition="in">
                                      <p:cBhvr>
                                        <p:cTn dur="500"/>
                                        <p:tgtEl>
                                          <p:spTgt spid="2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9"/>
                                        </p:tgtEl>
                                        <p:attrNameLst>
                                          <p:attrName>style.visibility</p:attrName>
                                        </p:attrNameLst>
                                      </p:cBhvr>
                                      <p:to>
                                        <p:strVal val="visible"/>
                                      </p:to>
                                    </p:set>
                                    <p:animEffect filter="fade" transition="in">
                                      <p:cBhvr>
                                        <p:cTn dur="500"/>
                                        <p:tgtEl>
                                          <p:spTgt spid="2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5"/>
                                        </p:tgtEl>
                                        <p:attrNameLst>
                                          <p:attrName>style.visibility</p:attrName>
                                        </p:attrNameLst>
                                      </p:cBhvr>
                                      <p:to>
                                        <p:strVal val="visible"/>
                                      </p:to>
                                    </p:set>
                                    <p:animEffect filter="fade" transition="in">
                                      <p:cBhvr>
                                        <p:cTn dur="500"/>
                                        <p:tgtEl>
                                          <p:spTgt spid="28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1" name="Shape 2911"/>
        <p:cNvGrpSpPr/>
        <p:nvPr/>
      </p:nvGrpSpPr>
      <p:grpSpPr>
        <a:xfrm>
          <a:off x="0" y="0"/>
          <a:ext cx="0" cy="0"/>
          <a:chOff x="0" y="0"/>
          <a:chExt cx="0" cy="0"/>
        </a:xfrm>
      </p:grpSpPr>
      <p:sp>
        <p:nvSpPr>
          <p:cNvPr id="2912" name="Google Shape;2912;p49"/>
          <p:cNvSpPr txBox="1"/>
          <p:nvPr>
            <p:ph idx="1" type="body"/>
          </p:nvPr>
        </p:nvSpPr>
        <p:spPr>
          <a:xfrm>
            <a:off x="872790" y="1409001"/>
            <a:ext cx="5557988" cy="4841896"/>
          </a:xfrm>
          <a:prstGeom prst="rect">
            <a:avLst/>
          </a:prstGeom>
          <a:noFill/>
          <a:ln>
            <a:noFill/>
          </a:ln>
        </p:spPr>
        <p:txBody>
          <a:bodyPr anchorCtr="0" anchor="t" bIns="45700" lIns="91425" spcFirstLastPara="1" rIns="91425" wrap="square" tIns="45700">
            <a:normAutofit/>
          </a:bodyPr>
          <a:lstStyle/>
          <a:p>
            <a:pPr indent="-293688" lvl="0" marL="352425" rtl="0" algn="l">
              <a:lnSpc>
                <a:spcPct val="90000"/>
              </a:lnSpc>
              <a:spcBef>
                <a:spcPts val="0"/>
              </a:spcBef>
              <a:spcAft>
                <a:spcPts val="0"/>
              </a:spcAft>
              <a:buSzPts val="3200"/>
              <a:buChar char="▪"/>
            </a:pPr>
            <a:r>
              <a:rPr lang="en-US" sz="3200">
                <a:solidFill>
                  <a:srgbClr val="C00000"/>
                </a:solidFill>
              </a:rPr>
              <a:t>IP address:</a:t>
            </a:r>
            <a:r>
              <a:rPr lang="en-US">
                <a:solidFill>
                  <a:srgbClr val="C00000"/>
                </a:solidFill>
              </a:rPr>
              <a:t> </a:t>
            </a:r>
            <a:r>
              <a:rPr lang="en-US"/>
              <a:t>32-bit identifier associated with each host or router </a:t>
            </a:r>
            <a:r>
              <a:rPr i="1" lang="en-US">
                <a:solidFill>
                  <a:srgbClr val="0000A3"/>
                </a:solidFill>
              </a:rPr>
              <a:t>interface</a:t>
            </a:r>
            <a:r>
              <a:rPr lang="en-US"/>
              <a:t> </a:t>
            </a:r>
            <a:endParaRPr/>
          </a:p>
          <a:p>
            <a:pPr indent="-293688" lvl="0" marL="352425" rtl="0" algn="l">
              <a:lnSpc>
                <a:spcPct val="90000"/>
              </a:lnSpc>
              <a:spcBef>
                <a:spcPts val="1000"/>
              </a:spcBef>
              <a:spcAft>
                <a:spcPts val="0"/>
              </a:spcAft>
              <a:buSzPts val="3200"/>
              <a:buChar char="▪"/>
            </a:pPr>
            <a:r>
              <a:rPr lang="en-US" sz="3200">
                <a:solidFill>
                  <a:srgbClr val="CC0000"/>
                </a:solidFill>
              </a:rPr>
              <a:t>interface:</a:t>
            </a:r>
            <a:r>
              <a:rPr lang="en-US"/>
              <a:t> connection between host/router and physical link</a:t>
            </a:r>
            <a:endParaRPr/>
          </a:p>
          <a:p>
            <a:pPr indent="-298449" lvl="1" marL="522288" rtl="0" algn="l">
              <a:lnSpc>
                <a:spcPct val="90000"/>
              </a:lnSpc>
              <a:spcBef>
                <a:spcPts val="500"/>
              </a:spcBef>
              <a:spcAft>
                <a:spcPts val="0"/>
              </a:spcAft>
              <a:buSzPts val="2800"/>
              <a:buChar char="•"/>
            </a:pPr>
            <a:r>
              <a:rPr lang="en-US" sz="2800"/>
              <a:t>router’s typically have multiple interfaces</a:t>
            </a:r>
            <a:endParaRPr/>
          </a:p>
          <a:p>
            <a:pPr indent="-298449" lvl="1" marL="522288" rtl="0" algn="l">
              <a:lnSpc>
                <a:spcPct val="90000"/>
              </a:lnSpc>
              <a:spcBef>
                <a:spcPts val="500"/>
              </a:spcBef>
              <a:spcAft>
                <a:spcPts val="0"/>
              </a:spcAft>
              <a:buSzPts val="2800"/>
              <a:buChar char="•"/>
            </a:pPr>
            <a:r>
              <a:rPr lang="en-US" sz="2800"/>
              <a:t>host typically has one or two interfaces </a:t>
            </a:r>
            <a:r>
              <a:rPr lang="en-US"/>
              <a:t>(e.g., wired Ethernet, wireless 802.11)</a:t>
            </a:r>
            <a:endParaRPr/>
          </a:p>
          <a:p>
            <a:pPr indent="0" lvl="0" marL="298450" rtl="0" algn="l">
              <a:lnSpc>
                <a:spcPct val="90000"/>
              </a:lnSpc>
              <a:spcBef>
                <a:spcPts val="1000"/>
              </a:spcBef>
              <a:spcAft>
                <a:spcPts val="0"/>
              </a:spcAft>
              <a:buSzPts val="3200"/>
              <a:buNone/>
            </a:pPr>
            <a:r>
              <a:t/>
            </a:r>
            <a:endParaRPr sz="3200"/>
          </a:p>
        </p:txBody>
      </p:sp>
      <p:sp>
        <p:nvSpPr>
          <p:cNvPr id="2913" name="Google Shape;2913;p4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2914" name="Google Shape;2914;p49"/>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5" name="Google Shape;2915;p49"/>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6" name="Google Shape;2916;p49"/>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17" name="Google Shape;2917;p49"/>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2918" name="Google Shape;2918;p49"/>
          <p:cNvGrpSpPr/>
          <p:nvPr/>
        </p:nvGrpSpPr>
        <p:grpSpPr>
          <a:xfrm>
            <a:off x="6557963" y="2093236"/>
            <a:ext cx="920750" cy="276225"/>
            <a:chOff x="3251" y="608"/>
            <a:chExt cx="580" cy="174"/>
          </a:xfrm>
        </p:grpSpPr>
        <p:sp>
          <p:nvSpPr>
            <p:cNvPr id="2919" name="Google Shape;2919;p49"/>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20" name="Google Shape;2920;p49"/>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2921" name="Google Shape;2921;p49"/>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2922" name="Google Shape;2922;p49"/>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2923" name="Google Shape;2923;p49"/>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2924" name="Google Shape;2924;p49"/>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2925" name="Google Shape;2925;p49"/>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2926" name="Google Shape;2926;p49"/>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2927" name="Google Shape;2927;p49"/>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2928" name="Google Shape;2928;p49"/>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2929" name="Google Shape;2929;p49"/>
          <p:cNvGrpSpPr/>
          <p:nvPr/>
        </p:nvGrpSpPr>
        <p:grpSpPr>
          <a:xfrm>
            <a:off x="8885238" y="2996523"/>
            <a:ext cx="912812" cy="276225"/>
            <a:chOff x="4550" y="1257"/>
            <a:chExt cx="575" cy="174"/>
          </a:xfrm>
        </p:grpSpPr>
        <p:sp>
          <p:nvSpPr>
            <p:cNvPr id="2930" name="Google Shape;2930;p49"/>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31" name="Google Shape;2931;p49"/>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2932" name="Google Shape;2932;p49"/>
          <p:cNvGrpSpPr/>
          <p:nvPr/>
        </p:nvGrpSpPr>
        <p:grpSpPr>
          <a:xfrm>
            <a:off x="6858453" y="5763539"/>
            <a:ext cx="5043488" cy="947504"/>
            <a:chOff x="6727825" y="5192036"/>
            <a:chExt cx="5043488" cy="822325"/>
          </a:xfrm>
        </p:grpSpPr>
        <p:sp>
          <p:nvSpPr>
            <p:cNvPr id="2933" name="Google Shape;2933;p49"/>
            <p:cNvSpPr txBox="1"/>
            <p:nvPr/>
          </p:nvSpPr>
          <p:spPr>
            <a:xfrm>
              <a:off x="6727825" y="5192036"/>
              <a:ext cx="5043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223.1.1.1 = 11011111 00000001 00000001 00000001</a:t>
              </a:r>
              <a:endParaRPr b="0" i="0" sz="1800" u="none" cap="none" strike="noStrike">
                <a:solidFill>
                  <a:srgbClr val="000000"/>
                </a:solidFill>
                <a:latin typeface="Comic Sans MS"/>
                <a:ea typeface="Comic Sans MS"/>
                <a:cs typeface="Comic Sans MS"/>
                <a:sym typeface="Comic Sans MS"/>
              </a:endParaRPr>
            </a:p>
          </p:txBody>
        </p:sp>
        <p:sp>
          <p:nvSpPr>
            <p:cNvPr id="2934" name="Google Shape;2934;p49"/>
            <p:cNvSpPr/>
            <p:nvPr/>
          </p:nvSpPr>
          <p:spPr>
            <a:xfrm>
              <a:off x="7905750" y="5447623"/>
              <a:ext cx="892175" cy="92075"/>
            </a:xfrm>
            <a:custGeom>
              <a:rect b="b" l="l" r="r" t="t"/>
              <a:pathLst>
                <a:path extrusionOk="0" h="58" w="562">
                  <a:moveTo>
                    <a:pt x="0" y="0"/>
                  </a:moveTo>
                  <a:lnTo>
                    <a:pt x="0" y="58"/>
                  </a:lnTo>
                  <a:lnTo>
                    <a:pt x="562" y="58"/>
                  </a:lnTo>
                  <a:lnTo>
                    <a:pt x="562" y="16"/>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5" name="Google Shape;2935;p49"/>
            <p:cNvSpPr/>
            <p:nvPr/>
          </p:nvSpPr>
          <p:spPr>
            <a:xfrm>
              <a:off x="8867775" y="5466673"/>
              <a:ext cx="892175"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6" name="Google Shape;2936;p49"/>
            <p:cNvSpPr/>
            <p:nvPr/>
          </p:nvSpPr>
          <p:spPr>
            <a:xfrm>
              <a:off x="9832975" y="5469848"/>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7" name="Google Shape;2937;p49"/>
            <p:cNvSpPr/>
            <p:nvPr/>
          </p:nvSpPr>
          <p:spPr>
            <a:xfrm>
              <a:off x="10798175" y="5473023"/>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38" name="Google Shape;2938;p49"/>
            <p:cNvSpPr txBox="1"/>
            <p:nvPr/>
          </p:nvSpPr>
          <p:spPr>
            <a:xfrm>
              <a:off x="8104188" y="5668286"/>
              <a:ext cx="5222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a:t>
              </a:r>
              <a:endParaRPr b="0" i="0" sz="1800" u="none" cap="none" strike="noStrike">
                <a:solidFill>
                  <a:srgbClr val="000000"/>
                </a:solidFill>
                <a:latin typeface="Comic Sans MS"/>
                <a:ea typeface="Comic Sans MS"/>
                <a:cs typeface="Comic Sans MS"/>
                <a:sym typeface="Comic Sans MS"/>
              </a:endParaRPr>
            </a:p>
          </p:txBody>
        </p:sp>
        <p:sp>
          <p:nvSpPr>
            <p:cNvPr id="2939" name="Google Shape;2939;p49"/>
            <p:cNvSpPr txBox="1"/>
            <p:nvPr/>
          </p:nvSpPr>
          <p:spPr>
            <a:xfrm>
              <a:off x="9147175" y="5677811"/>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2940" name="Google Shape;2940;p49"/>
            <p:cNvSpPr txBox="1"/>
            <p:nvPr/>
          </p:nvSpPr>
          <p:spPr>
            <a:xfrm>
              <a:off x="11104563"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2941" name="Google Shape;2941;p49"/>
            <p:cNvSpPr txBox="1"/>
            <p:nvPr/>
          </p:nvSpPr>
          <p:spPr>
            <a:xfrm>
              <a:off x="10085388"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grpSp>
      <p:grpSp>
        <p:nvGrpSpPr>
          <p:cNvPr id="2942" name="Google Shape;2942;p49"/>
          <p:cNvGrpSpPr/>
          <p:nvPr/>
        </p:nvGrpSpPr>
        <p:grpSpPr>
          <a:xfrm>
            <a:off x="7116763" y="1378861"/>
            <a:ext cx="641350" cy="558800"/>
            <a:chOff x="-44" y="1473"/>
            <a:chExt cx="981" cy="1105"/>
          </a:xfrm>
        </p:grpSpPr>
        <p:pic>
          <p:nvPicPr>
            <p:cNvPr descr="desktop_computer_stylized_medium" id="2943" name="Google Shape;2943;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4" name="Google Shape;2944;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45" name="Google Shape;2945;p49"/>
          <p:cNvGrpSpPr/>
          <p:nvPr/>
        </p:nvGrpSpPr>
        <p:grpSpPr>
          <a:xfrm>
            <a:off x="7112000" y="1977348"/>
            <a:ext cx="641350" cy="558800"/>
            <a:chOff x="-44" y="1473"/>
            <a:chExt cx="981" cy="1105"/>
          </a:xfrm>
        </p:grpSpPr>
        <p:pic>
          <p:nvPicPr>
            <p:cNvPr descr="desktop_computer_stylized_medium" id="2946" name="Google Shape;2946;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47" name="Google Shape;2947;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48" name="Google Shape;2948;p49"/>
          <p:cNvGrpSpPr/>
          <p:nvPr/>
        </p:nvGrpSpPr>
        <p:grpSpPr>
          <a:xfrm>
            <a:off x="7140575" y="2586948"/>
            <a:ext cx="641350" cy="558800"/>
            <a:chOff x="-44" y="1473"/>
            <a:chExt cx="981" cy="1105"/>
          </a:xfrm>
        </p:grpSpPr>
        <p:pic>
          <p:nvPicPr>
            <p:cNvPr descr="desktop_computer_stylized_medium" id="2949" name="Google Shape;2949;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0" name="Google Shape;2950;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1" name="Google Shape;2951;p49"/>
          <p:cNvGrpSpPr/>
          <p:nvPr/>
        </p:nvGrpSpPr>
        <p:grpSpPr>
          <a:xfrm flipH="1">
            <a:off x="10799763" y="1536023"/>
            <a:ext cx="641350" cy="558800"/>
            <a:chOff x="-44" y="1473"/>
            <a:chExt cx="981" cy="1105"/>
          </a:xfrm>
        </p:grpSpPr>
        <p:pic>
          <p:nvPicPr>
            <p:cNvPr descr="desktop_computer_stylized_medium" id="2952" name="Google Shape;2952;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3" name="Google Shape;2953;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4" name="Google Shape;2954;p49"/>
          <p:cNvGrpSpPr/>
          <p:nvPr/>
        </p:nvGrpSpPr>
        <p:grpSpPr>
          <a:xfrm flipH="1">
            <a:off x="10814050" y="2815548"/>
            <a:ext cx="641350" cy="558800"/>
            <a:chOff x="-44" y="1473"/>
            <a:chExt cx="981" cy="1105"/>
          </a:xfrm>
        </p:grpSpPr>
        <p:pic>
          <p:nvPicPr>
            <p:cNvPr descr="desktop_computer_stylized_medium" id="2955" name="Google Shape;2955;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6" name="Google Shape;2956;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57" name="Google Shape;2957;p49"/>
          <p:cNvGrpSpPr/>
          <p:nvPr/>
        </p:nvGrpSpPr>
        <p:grpSpPr>
          <a:xfrm flipH="1">
            <a:off x="9715500" y="4339548"/>
            <a:ext cx="641350" cy="558800"/>
            <a:chOff x="-44" y="1473"/>
            <a:chExt cx="981" cy="1105"/>
          </a:xfrm>
        </p:grpSpPr>
        <p:pic>
          <p:nvPicPr>
            <p:cNvPr descr="desktop_computer_stylized_medium" id="2958" name="Google Shape;2958;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59" name="Google Shape;2959;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2960" name="Google Shape;2960;p49"/>
          <p:cNvGrpSpPr/>
          <p:nvPr/>
        </p:nvGrpSpPr>
        <p:grpSpPr>
          <a:xfrm flipH="1">
            <a:off x="8551863" y="4380823"/>
            <a:ext cx="641350" cy="558800"/>
            <a:chOff x="-44" y="1473"/>
            <a:chExt cx="981" cy="1105"/>
          </a:xfrm>
        </p:grpSpPr>
        <p:pic>
          <p:nvPicPr>
            <p:cNvPr descr="desktop_computer_stylized_medium" id="2961" name="Google Shape;2961;p4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962" name="Google Shape;2962;p4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2963" name="Google Shape;2963;p49"/>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4" name="Google Shape;2964;p49"/>
          <p:cNvCxnSpPr/>
          <p:nvPr/>
        </p:nvCxnSpPr>
        <p:spPr>
          <a:xfrm>
            <a:off x="7706916"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5" name="Google Shape;2965;p49"/>
          <p:cNvCxnSpPr/>
          <p:nvPr/>
        </p:nvCxnSpPr>
        <p:spPr>
          <a:xfrm>
            <a:off x="7734301"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2966" name="Google Shape;2966;p49"/>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2967" name="Google Shape;2967;p49"/>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2968" name="Google Shape;2968;p49"/>
          <p:cNvGrpSpPr/>
          <p:nvPr/>
        </p:nvGrpSpPr>
        <p:grpSpPr>
          <a:xfrm>
            <a:off x="9053641" y="2438501"/>
            <a:ext cx="632991" cy="300938"/>
            <a:chOff x="7493876" y="2774731"/>
            <a:chExt cx="1481958" cy="894622"/>
          </a:xfrm>
        </p:grpSpPr>
        <p:sp>
          <p:nvSpPr>
            <p:cNvPr id="2969" name="Google Shape;2969;p4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2970" name="Google Shape;2970;p4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2971" name="Google Shape;2971;p49"/>
            <p:cNvGrpSpPr/>
            <p:nvPr/>
          </p:nvGrpSpPr>
          <p:grpSpPr>
            <a:xfrm>
              <a:off x="7713663" y="2848339"/>
              <a:ext cx="1042107" cy="425543"/>
              <a:chOff x="7786941" y="2884917"/>
              <a:chExt cx="897649" cy="353919"/>
            </a:xfrm>
          </p:grpSpPr>
          <p:sp>
            <p:nvSpPr>
              <p:cNvPr id="2972" name="Google Shape;2972;p4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3" name="Google Shape;2973;p4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4" name="Google Shape;2974;p4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75" name="Google Shape;2975;p4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2976" name="Google Shape;2976;p49"/>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2977" name="Google Shape;2977;p49"/>
          <p:cNvCxnSpPr/>
          <p:nvPr/>
        </p:nvCxnSpPr>
        <p:spPr>
          <a:xfrm>
            <a:off x="10631261" y="3225575"/>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2978" name="Google Shape;2978;p49"/>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2979" name="Google Shape;2979;p49"/>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2980" name="Google Shape;2980;p49"/>
          <p:cNvSpPr txBox="1"/>
          <p:nvPr/>
        </p:nvSpPr>
        <p:spPr>
          <a:xfrm>
            <a:off x="6841671" y="5290457"/>
            <a:ext cx="46530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dotted-decimal IP address notation:</a:t>
            </a:r>
            <a:endParaRPr/>
          </a:p>
        </p:txBody>
      </p:sp>
      <p:sp>
        <p:nvSpPr>
          <p:cNvPr id="2981" name="Google Shape;2981;p4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0" st="0"/>
                                            </p:txEl>
                                          </p:spTgt>
                                        </p:tgtEl>
                                        <p:attrNameLst>
                                          <p:attrName>style.visibility</p:attrName>
                                        </p:attrNameLst>
                                      </p:cBhvr>
                                      <p:to>
                                        <p:strVal val="visible"/>
                                      </p:to>
                                    </p:set>
                                    <p:animEffect filter="fade" transition="in">
                                      <p:cBhvr>
                                        <p:cTn dur="500"/>
                                        <p:tgtEl>
                                          <p:spTgt spid="29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1" st="1"/>
                                            </p:txEl>
                                          </p:spTgt>
                                        </p:tgtEl>
                                        <p:attrNameLst>
                                          <p:attrName>style.visibility</p:attrName>
                                        </p:attrNameLst>
                                      </p:cBhvr>
                                      <p:to>
                                        <p:strVal val="visible"/>
                                      </p:to>
                                    </p:set>
                                    <p:animEffect filter="fade" transition="in">
                                      <p:cBhvr>
                                        <p:cTn dur="500"/>
                                        <p:tgtEl>
                                          <p:spTgt spid="29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2" st="2"/>
                                            </p:txEl>
                                          </p:spTgt>
                                        </p:tgtEl>
                                        <p:attrNameLst>
                                          <p:attrName>style.visibility</p:attrName>
                                        </p:attrNameLst>
                                      </p:cBhvr>
                                      <p:to>
                                        <p:strVal val="visible"/>
                                      </p:to>
                                    </p:set>
                                    <p:animEffect filter="fade" transition="in">
                                      <p:cBhvr>
                                        <p:cTn dur="500"/>
                                        <p:tgtEl>
                                          <p:spTgt spid="29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3" st="3"/>
                                            </p:txEl>
                                          </p:spTgt>
                                        </p:tgtEl>
                                        <p:attrNameLst>
                                          <p:attrName>style.visibility</p:attrName>
                                        </p:attrNameLst>
                                      </p:cBhvr>
                                      <p:to>
                                        <p:strVal val="visible"/>
                                      </p:to>
                                    </p:set>
                                    <p:animEffect filter="fade" transition="in">
                                      <p:cBhvr>
                                        <p:cTn dur="500"/>
                                        <p:tgtEl>
                                          <p:spTgt spid="29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2">
                                            <p:txEl>
                                              <p:pRg end="4" st="4"/>
                                            </p:txEl>
                                          </p:spTgt>
                                        </p:tgtEl>
                                        <p:attrNameLst>
                                          <p:attrName>style.visibility</p:attrName>
                                        </p:attrNameLst>
                                      </p:cBhvr>
                                      <p:to>
                                        <p:strVal val="visible"/>
                                      </p:to>
                                    </p:set>
                                    <p:animEffect filter="fade" transition="in">
                                      <p:cBhvr>
                                        <p:cTn dur="500"/>
                                        <p:tgtEl>
                                          <p:spTgt spid="29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2"/>
                                        </p:tgtEl>
                                        <p:attrNameLst>
                                          <p:attrName>style.visibility</p:attrName>
                                        </p:attrNameLst>
                                      </p:cBhvr>
                                      <p:to>
                                        <p:strVal val="visible"/>
                                      </p:to>
                                    </p:set>
                                    <p:animEffect filter="fade" transition="in">
                                      <p:cBhvr>
                                        <p:cTn dur="500"/>
                                        <p:tgtEl>
                                          <p:spTgt spid="2932"/>
                                        </p:tgtEl>
                                      </p:cBhvr>
                                    </p:animEffect>
                                  </p:childTnLst>
                                </p:cTn>
                              </p:par>
                              <p:par>
                                <p:cTn fill="hold" nodeType="withEffect" presetClass="entr" presetID="10" presetSubtype="0">
                                  <p:stCondLst>
                                    <p:cond delay="0"/>
                                  </p:stCondLst>
                                  <p:childTnLst>
                                    <p:set>
                                      <p:cBhvr>
                                        <p:cTn dur="1" fill="hold">
                                          <p:stCondLst>
                                            <p:cond delay="0"/>
                                          </p:stCondLst>
                                        </p:cTn>
                                        <p:tgtEl>
                                          <p:spTgt spid="2980"/>
                                        </p:tgtEl>
                                        <p:attrNameLst>
                                          <p:attrName>style.visibility</p:attrName>
                                        </p:attrNameLst>
                                      </p:cBhvr>
                                      <p:to>
                                        <p:strVal val="visible"/>
                                      </p:to>
                                    </p:set>
                                    <p:animEffect filter="fade" transition="in">
                                      <p:cBhvr>
                                        <p:cTn dur="500"/>
                                        <p:tgtEl>
                                          <p:spTgt spid="29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6" name="Shape 2986"/>
        <p:cNvGrpSpPr/>
        <p:nvPr/>
      </p:nvGrpSpPr>
      <p:grpSpPr>
        <a:xfrm>
          <a:off x="0" y="0"/>
          <a:ext cx="0" cy="0"/>
          <a:chOff x="0" y="0"/>
          <a:chExt cx="0" cy="0"/>
        </a:xfrm>
      </p:grpSpPr>
      <p:sp>
        <p:nvSpPr>
          <p:cNvPr id="2987" name="Google Shape;2987;p50"/>
          <p:cNvSpPr txBox="1"/>
          <p:nvPr>
            <p:ph idx="1" type="body"/>
          </p:nvPr>
        </p:nvSpPr>
        <p:spPr>
          <a:xfrm>
            <a:off x="872790" y="1409001"/>
            <a:ext cx="5557988" cy="4841896"/>
          </a:xfrm>
          <a:prstGeom prst="rect">
            <a:avLst/>
          </a:prstGeom>
          <a:noFill/>
          <a:ln>
            <a:noFill/>
          </a:ln>
        </p:spPr>
        <p:txBody>
          <a:bodyPr anchorCtr="0" anchor="t" bIns="45700" lIns="91425" spcFirstLastPara="1" rIns="91425" wrap="square" tIns="45700">
            <a:normAutofit/>
          </a:bodyPr>
          <a:lstStyle/>
          <a:p>
            <a:pPr indent="-293688" lvl="0" marL="352425" rtl="0" algn="l">
              <a:lnSpc>
                <a:spcPct val="90000"/>
              </a:lnSpc>
              <a:spcBef>
                <a:spcPts val="0"/>
              </a:spcBef>
              <a:spcAft>
                <a:spcPts val="0"/>
              </a:spcAft>
              <a:buSzPts val="3200"/>
              <a:buChar char="▪"/>
            </a:pPr>
            <a:r>
              <a:rPr lang="en-US" sz="3200">
                <a:solidFill>
                  <a:srgbClr val="C00000"/>
                </a:solidFill>
              </a:rPr>
              <a:t>IP address:</a:t>
            </a:r>
            <a:r>
              <a:rPr lang="en-US">
                <a:solidFill>
                  <a:srgbClr val="C00000"/>
                </a:solidFill>
              </a:rPr>
              <a:t> </a:t>
            </a:r>
            <a:r>
              <a:rPr lang="en-US"/>
              <a:t>32-bit identifier associated with each host or router </a:t>
            </a:r>
            <a:r>
              <a:rPr i="1" lang="en-US">
                <a:solidFill>
                  <a:srgbClr val="0000A3"/>
                </a:solidFill>
              </a:rPr>
              <a:t>interface</a:t>
            </a:r>
            <a:r>
              <a:rPr lang="en-US"/>
              <a:t> </a:t>
            </a:r>
            <a:endParaRPr/>
          </a:p>
          <a:p>
            <a:pPr indent="-293688" lvl="0" marL="352425" rtl="0" algn="l">
              <a:lnSpc>
                <a:spcPct val="90000"/>
              </a:lnSpc>
              <a:spcBef>
                <a:spcPts val="1000"/>
              </a:spcBef>
              <a:spcAft>
                <a:spcPts val="0"/>
              </a:spcAft>
              <a:buSzPts val="3200"/>
              <a:buChar char="▪"/>
            </a:pPr>
            <a:r>
              <a:rPr lang="en-US" sz="3200">
                <a:solidFill>
                  <a:srgbClr val="CC0000"/>
                </a:solidFill>
              </a:rPr>
              <a:t>interface:</a:t>
            </a:r>
            <a:r>
              <a:rPr lang="en-US"/>
              <a:t> connection between host/router and physical link</a:t>
            </a:r>
            <a:endParaRPr/>
          </a:p>
          <a:p>
            <a:pPr indent="-298449" lvl="1" marL="522288" rtl="0" algn="l">
              <a:lnSpc>
                <a:spcPct val="90000"/>
              </a:lnSpc>
              <a:spcBef>
                <a:spcPts val="500"/>
              </a:spcBef>
              <a:spcAft>
                <a:spcPts val="0"/>
              </a:spcAft>
              <a:buSzPts val="2800"/>
              <a:buChar char="•"/>
            </a:pPr>
            <a:r>
              <a:rPr lang="en-US" sz="2800"/>
              <a:t>router’s typically have multiple interfaces</a:t>
            </a:r>
            <a:endParaRPr/>
          </a:p>
          <a:p>
            <a:pPr indent="-298449" lvl="1" marL="522288" rtl="0" algn="l">
              <a:lnSpc>
                <a:spcPct val="90000"/>
              </a:lnSpc>
              <a:spcBef>
                <a:spcPts val="500"/>
              </a:spcBef>
              <a:spcAft>
                <a:spcPts val="0"/>
              </a:spcAft>
              <a:buSzPts val="2800"/>
              <a:buChar char="•"/>
            </a:pPr>
            <a:r>
              <a:rPr lang="en-US" sz="2800"/>
              <a:t>host typically has one or two interfaces </a:t>
            </a:r>
            <a:r>
              <a:rPr lang="en-US"/>
              <a:t>(e.g., wired Ethernet, wireless 802.11)</a:t>
            </a:r>
            <a:endParaRPr/>
          </a:p>
          <a:p>
            <a:pPr indent="0" lvl="0" marL="298450" rtl="0" algn="l">
              <a:lnSpc>
                <a:spcPct val="90000"/>
              </a:lnSpc>
              <a:spcBef>
                <a:spcPts val="1000"/>
              </a:spcBef>
              <a:spcAft>
                <a:spcPts val="0"/>
              </a:spcAft>
              <a:buSzPts val="3200"/>
              <a:buNone/>
            </a:pPr>
            <a:r>
              <a:t/>
            </a:r>
            <a:endParaRPr sz="3200"/>
          </a:p>
        </p:txBody>
      </p:sp>
      <p:sp>
        <p:nvSpPr>
          <p:cNvPr id="2988" name="Google Shape;2988;p5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2989" name="Google Shape;2989;p50"/>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0" name="Google Shape;2990;p50"/>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1" name="Google Shape;2991;p50"/>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2992" name="Google Shape;2992;p50"/>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2993" name="Google Shape;2993;p50"/>
          <p:cNvGrpSpPr/>
          <p:nvPr/>
        </p:nvGrpSpPr>
        <p:grpSpPr>
          <a:xfrm>
            <a:off x="6557963" y="2093236"/>
            <a:ext cx="920750" cy="276225"/>
            <a:chOff x="3251" y="608"/>
            <a:chExt cx="580" cy="174"/>
          </a:xfrm>
        </p:grpSpPr>
        <p:sp>
          <p:nvSpPr>
            <p:cNvPr id="2994" name="Google Shape;2994;p50"/>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95" name="Google Shape;2995;p50"/>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2996" name="Google Shape;2996;p50"/>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2997" name="Google Shape;2997;p50"/>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2998" name="Google Shape;2998;p50"/>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2999" name="Google Shape;2999;p50"/>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000" name="Google Shape;3000;p50"/>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001" name="Google Shape;3001;p50"/>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002" name="Google Shape;3002;p50"/>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003" name="Google Shape;3003;p50"/>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004" name="Google Shape;3004;p50"/>
          <p:cNvGrpSpPr/>
          <p:nvPr/>
        </p:nvGrpSpPr>
        <p:grpSpPr>
          <a:xfrm>
            <a:off x="8885238" y="2996523"/>
            <a:ext cx="912812" cy="276225"/>
            <a:chOff x="4550" y="1257"/>
            <a:chExt cx="575" cy="174"/>
          </a:xfrm>
        </p:grpSpPr>
        <p:sp>
          <p:nvSpPr>
            <p:cNvPr id="3005" name="Google Shape;3005;p50"/>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06" name="Google Shape;3006;p50"/>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007" name="Google Shape;3007;p50"/>
          <p:cNvGrpSpPr/>
          <p:nvPr/>
        </p:nvGrpSpPr>
        <p:grpSpPr>
          <a:xfrm>
            <a:off x="6858453" y="5763539"/>
            <a:ext cx="5043488" cy="947504"/>
            <a:chOff x="6727825" y="5192036"/>
            <a:chExt cx="5043488" cy="822325"/>
          </a:xfrm>
        </p:grpSpPr>
        <p:sp>
          <p:nvSpPr>
            <p:cNvPr id="3008" name="Google Shape;3008;p50"/>
            <p:cNvSpPr txBox="1"/>
            <p:nvPr/>
          </p:nvSpPr>
          <p:spPr>
            <a:xfrm>
              <a:off x="6727825" y="5192036"/>
              <a:ext cx="5043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223.1.1.1 = 11011111 00000001 00000001 00000001</a:t>
              </a:r>
              <a:endParaRPr b="0" i="0" sz="1800" u="none" cap="none" strike="noStrike">
                <a:solidFill>
                  <a:srgbClr val="000000"/>
                </a:solidFill>
                <a:latin typeface="Comic Sans MS"/>
                <a:ea typeface="Comic Sans MS"/>
                <a:cs typeface="Comic Sans MS"/>
                <a:sym typeface="Comic Sans MS"/>
              </a:endParaRPr>
            </a:p>
          </p:txBody>
        </p:sp>
        <p:sp>
          <p:nvSpPr>
            <p:cNvPr id="3009" name="Google Shape;3009;p50"/>
            <p:cNvSpPr/>
            <p:nvPr/>
          </p:nvSpPr>
          <p:spPr>
            <a:xfrm>
              <a:off x="7905750" y="5447623"/>
              <a:ext cx="892175" cy="92075"/>
            </a:xfrm>
            <a:custGeom>
              <a:rect b="b" l="l" r="r" t="t"/>
              <a:pathLst>
                <a:path extrusionOk="0" h="58" w="562">
                  <a:moveTo>
                    <a:pt x="0" y="0"/>
                  </a:moveTo>
                  <a:lnTo>
                    <a:pt x="0" y="58"/>
                  </a:lnTo>
                  <a:lnTo>
                    <a:pt x="562" y="58"/>
                  </a:lnTo>
                  <a:lnTo>
                    <a:pt x="562" y="16"/>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0" name="Google Shape;3010;p50"/>
            <p:cNvSpPr/>
            <p:nvPr/>
          </p:nvSpPr>
          <p:spPr>
            <a:xfrm>
              <a:off x="8867775" y="5466673"/>
              <a:ext cx="892175"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1" name="Google Shape;3011;p50"/>
            <p:cNvSpPr/>
            <p:nvPr/>
          </p:nvSpPr>
          <p:spPr>
            <a:xfrm>
              <a:off x="9832975" y="5469848"/>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2" name="Google Shape;3012;p50"/>
            <p:cNvSpPr/>
            <p:nvPr/>
          </p:nvSpPr>
          <p:spPr>
            <a:xfrm>
              <a:off x="10798175" y="5473023"/>
              <a:ext cx="869950" cy="79375"/>
            </a:xfrm>
            <a:custGeom>
              <a:rect b="b" l="l" r="r" t="t"/>
              <a:pathLst>
                <a:path extrusionOk="0" h="50" w="562">
                  <a:moveTo>
                    <a:pt x="0" y="0"/>
                  </a:moveTo>
                  <a:lnTo>
                    <a:pt x="0" y="50"/>
                  </a:lnTo>
                  <a:lnTo>
                    <a:pt x="562" y="50"/>
                  </a:lnTo>
                  <a:lnTo>
                    <a:pt x="562" y="8"/>
                  </a:lnTo>
                </a:path>
              </a:pathLst>
            </a:custGeom>
            <a:noFill/>
            <a:ln cap="flat" cmpd="sng" w="1905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13" name="Google Shape;3013;p50"/>
            <p:cNvSpPr txBox="1"/>
            <p:nvPr/>
          </p:nvSpPr>
          <p:spPr>
            <a:xfrm>
              <a:off x="8104188" y="5668286"/>
              <a:ext cx="5222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a:t>
              </a:r>
              <a:endParaRPr b="0" i="0" sz="1800" u="none" cap="none" strike="noStrike">
                <a:solidFill>
                  <a:srgbClr val="000000"/>
                </a:solidFill>
                <a:latin typeface="Comic Sans MS"/>
                <a:ea typeface="Comic Sans MS"/>
                <a:cs typeface="Comic Sans MS"/>
                <a:sym typeface="Comic Sans MS"/>
              </a:endParaRPr>
            </a:p>
          </p:txBody>
        </p:sp>
        <p:sp>
          <p:nvSpPr>
            <p:cNvPr id="3014" name="Google Shape;3014;p50"/>
            <p:cNvSpPr txBox="1"/>
            <p:nvPr/>
          </p:nvSpPr>
          <p:spPr>
            <a:xfrm>
              <a:off x="9147175" y="5677811"/>
              <a:ext cx="29686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3015" name="Google Shape;3015;p50"/>
            <p:cNvSpPr txBox="1"/>
            <p:nvPr/>
          </p:nvSpPr>
          <p:spPr>
            <a:xfrm>
              <a:off x="11104563"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sp>
          <p:nvSpPr>
            <p:cNvPr id="3016" name="Google Shape;3016;p50"/>
            <p:cNvSpPr txBox="1"/>
            <p:nvPr/>
          </p:nvSpPr>
          <p:spPr>
            <a:xfrm>
              <a:off x="10085388" y="5677811"/>
              <a:ext cx="2968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b="0" i="0" sz="1800" u="none" cap="none" strike="noStrike">
                <a:solidFill>
                  <a:srgbClr val="000000"/>
                </a:solidFill>
                <a:latin typeface="Comic Sans MS"/>
                <a:ea typeface="Comic Sans MS"/>
                <a:cs typeface="Comic Sans MS"/>
                <a:sym typeface="Comic Sans MS"/>
              </a:endParaRPr>
            </a:p>
          </p:txBody>
        </p:sp>
      </p:grpSp>
      <p:grpSp>
        <p:nvGrpSpPr>
          <p:cNvPr id="3017" name="Google Shape;3017;p50"/>
          <p:cNvGrpSpPr/>
          <p:nvPr/>
        </p:nvGrpSpPr>
        <p:grpSpPr>
          <a:xfrm>
            <a:off x="7116763" y="1378861"/>
            <a:ext cx="641350" cy="558800"/>
            <a:chOff x="-44" y="1473"/>
            <a:chExt cx="981" cy="1105"/>
          </a:xfrm>
        </p:grpSpPr>
        <p:pic>
          <p:nvPicPr>
            <p:cNvPr descr="desktop_computer_stylized_medium" id="3018" name="Google Shape;3018;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19" name="Google Shape;3019;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0" name="Google Shape;3020;p50"/>
          <p:cNvGrpSpPr/>
          <p:nvPr/>
        </p:nvGrpSpPr>
        <p:grpSpPr>
          <a:xfrm>
            <a:off x="7112000" y="1977348"/>
            <a:ext cx="641350" cy="558800"/>
            <a:chOff x="-44" y="1473"/>
            <a:chExt cx="981" cy="1105"/>
          </a:xfrm>
        </p:grpSpPr>
        <p:pic>
          <p:nvPicPr>
            <p:cNvPr descr="desktop_computer_stylized_medium" id="3021" name="Google Shape;3021;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2" name="Google Shape;3022;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3" name="Google Shape;3023;p50"/>
          <p:cNvGrpSpPr/>
          <p:nvPr/>
        </p:nvGrpSpPr>
        <p:grpSpPr>
          <a:xfrm>
            <a:off x="7140575" y="2586948"/>
            <a:ext cx="641350" cy="558800"/>
            <a:chOff x="-44" y="1473"/>
            <a:chExt cx="981" cy="1105"/>
          </a:xfrm>
        </p:grpSpPr>
        <p:pic>
          <p:nvPicPr>
            <p:cNvPr descr="desktop_computer_stylized_medium" id="3024" name="Google Shape;3024;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5" name="Google Shape;3025;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6" name="Google Shape;3026;p50"/>
          <p:cNvGrpSpPr/>
          <p:nvPr/>
        </p:nvGrpSpPr>
        <p:grpSpPr>
          <a:xfrm flipH="1">
            <a:off x="10799763" y="1536023"/>
            <a:ext cx="641350" cy="558800"/>
            <a:chOff x="-44" y="1473"/>
            <a:chExt cx="981" cy="1105"/>
          </a:xfrm>
        </p:grpSpPr>
        <p:pic>
          <p:nvPicPr>
            <p:cNvPr descr="desktop_computer_stylized_medium" id="3027" name="Google Shape;3027;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28" name="Google Shape;3028;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29" name="Google Shape;3029;p50"/>
          <p:cNvGrpSpPr/>
          <p:nvPr/>
        </p:nvGrpSpPr>
        <p:grpSpPr>
          <a:xfrm flipH="1">
            <a:off x="10814050" y="2815548"/>
            <a:ext cx="641350" cy="558800"/>
            <a:chOff x="-44" y="1473"/>
            <a:chExt cx="981" cy="1105"/>
          </a:xfrm>
        </p:grpSpPr>
        <p:pic>
          <p:nvPicPr>
            <p:cNvPr descr="desktop_computer_stylized_medium" id="3030" name="Google Shape;3030;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1" name="Google Shape;3031;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32" name="Google Shape;3032;p50"/>
          <p:cNvGrpSpPr/>
          <p:nvPr/>
        </p:nvGrpSpPr>
        <p:grpSpPr>
          <a:xfrm flipH="1">
            <a:off x="9715500" y="4339548"/>
            <a:ext cx="641350" cy="558800"/>
            <a:chOff x="-44" y="1473"/>
            <a:chExt cx="981" cy="1105"/>
          </a:xfrm>
        </p:grpSpPr>
        <p:pic>
          <p:nvPicPr>
            <p:cNvPr descr="desktop_computer_stylized_medium" id="3033" name="Google Shape;3033;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4" name="Google Shape;3034;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35" name="Google Shape;3035;p50"/>
          <p:cNvGrpSpPr/>
          <p:nvPr/>
        </p:nvGrpSpPr>
        <p:grpSpPr>
          <a:xfrm flipH="1">
            <a:off x="8551863" y="4380823"/>
            <a:ext cx="641350" cy="558800"/>
            <a:chOff x="-44" y="1473"/>
            <a:chExt cx="981" cy="1105"/>
          </a:xfrm>
        </p:grpSpPr>
        <p:pic>
          <p:nvPicPr>
            <p:cNvPr descr="desktop_computer_stylized_medium" id="3036" name="Google Shape;3036;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37" name="Google Shape;3037;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038" name="Google Shape;3038;p50"/>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39" name="Google Shape;3039;p50"/>
          <p:cNvCxnSpPr/>
          <p:nvPr/>
        </p:nvCxnSpPr>
        <p:spPr>
          <a:xfrm>
            <a:off x="7706916"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40" name="Google Shape;3040;p50"/>
          <p:cNvCxnSpPr/>
          <p:nvPr/>
        </p:nvCxnSpPr>
        <p:spPr>
          <a:xfrm>
            <a:off x="7734301"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041" name="Google Shape;3041;p50"/>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042" name="Google Shape;3042;p50"/>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043" name="Google Shape;3043;p50"/>
          <p:cNvGrpSpPr/>
          <p:nvPr/>
        </p:nvGrpSpPr>
        <p:grpSpPr>
          <a:xfrm>
            <a:off x="9053641" y="2438501"/>
            <a:ext cx="632991" cy="300938"/>
            <a:chOff x="7493876" y="2774731"/>
            <a:chExt cx="1481958" cy="894622"/>
          </a:xfrm>
        </p:grpSpPr>
        <p:sp>
          <p:nvSpPr>
            <p:cNvPr id="3044" name="Google Shape;3044;p5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045" name="Google Shape;3045;p5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046" name="Google Shape;3046;p50"/>
            <p:cNvGrpSpPr/>
            <p:nvPr/>
          </p:nvGrpSpPr>
          <p:grpSpPr>
            <a:xfrm>
              <a:off x="7713663" y="2848339"/>
              <a:ext cx="1042107" cy="425543"/>
              <a:chOff x="7786941" y="2884917"/>
              <a:chExt cx="897649" cy="353919"/>
            </a:xfrm>
          </p:grpSpPr>
          <p:sp>
            <p:nvSpPr>
              <p:cNvPr id="3047" name="Google Shape;3047;p5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8" name="Google Shape;3048;p5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49" name="Google Shape;3049;p5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0" name="Google Shape;3050;p5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051" name="Google Shape;3051;p50"/>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052" name="Google Shape;3052;p50"/>
          <p:cNvCxnSpPr/>
          <p:nvPr/>
        </p:nvCxnSpPr>
        <p:spPr>
          <a:xfrm>
            <a:off x="10631261" y="3225575"/>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053" name="Google Shape;3053;p50"/>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054" name="Google Shape;3054;p50"/>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055" name="Google Shape;3055;p50"/>
          <p:cNvSpPr txBox="1"/>
          <p:nvPr/>
        </p:nvSpPr>
        <p:spPr>
          <a:xfrm>
            <a:off x="6841671" y="5290457"/>
            <a:ext cx="46530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dotted-decimal IP address notation:</a:t>
            </a:r>
            <a:endParaRPr/>
          </a:p>
        </p:txBody>
      </p:sp>
      <p:sp>
        <p:nvSpPr>
          <p:cNvPr id="3056" name="Google Shape;3056;p50"/>
          <p:cNvSpPr/>
          <p:nvPr/>
        </p:nvSpPr>
        <p:spPr>
          <a:xfrm>
            <a:off x="587829" y="1257300"/>
            <a:ext cx="5878285" cy="5192486"/>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7" name="Google Shape;3057;p50"/>
          <p:cNvSpPr/>
          <p:nvPr/>
        </p:nvSpPr>
        <p:spPr>
          <a:xfrm>
            <a:off x="6014358" y="5165271"/>
            <a:ext cx="5878285" cy="1692729"/>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058" name="Google Shape;3058;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56"/>
                                        </p:tgtEl>
                                        <p:attrNameLst>
                                          <p:attrName>style.visibility</p:attrName>
                                        </p:attrNameLst>
                                      </p:cBhvr>
                                      <p:to>
                                        <p:strVal val="visible"/>
                                      </p:to>
                                    </p:set>
                                    <p:animEffect filter="fade" transition="in">
                                      <p:cBhvr>
                                        <p:cTn dur="1000"/>
                                        <p:tgtEl>
                                          <p:spTgt spid="3056"/>
                                        </p:tgtEl>
                                      </p:cBhvr>
                                    </p:animEffect>
                                  </p:childTnLst>
                                </p:cTn>
                              </p:par>
                              <p:par>
                                <p:cTn fill="hold" nodeType="withEffect" presetClass="entr" presetID="10" presetSubtype="0">
                                  <p:stCondLst>
                                    <p:cond delay="0"/>
                                  </p:stCondLst>
                                  <p:childTnLst>
                                    <p:set>
                                      <p:cBhvr>
                                        <p:cTn dur="1" fill="hold">
                                          <p:stCondLst>
                                            <p:cond delay="0"/>
                                          </p:stCondLst>
                                        </p:cTn>
                                        <p:tgtEl>
                                          <p:spTgt spid="3057"/>
                                        </p:tgtEl>
                                        <p:attrNameLst>
                                          <p:attrName>style.visibility</p:attrName>
                                        </p:attrNameLst>
                                      </p:cBhvr>
                                      <p:to>
                                        <p:strVal val="visible"/>
                                      </p:to>
                                    </p:set>
                                    <p:animEffect filter="fade" transition="in">
                                      <p:cBhvr>
                                        <p:cTn dur="1000"/>
                                        <p:tgtEl>
                                          <p:spTgt spid="30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3" name="Shape 3063"/>
        <p:cNvGrpSpPr/>
        <p:nvPr/>
      </p:nvGrpSpPr>
      <p:grpSpPr>
        <a:xfrm>
          <a:off x="0" y="0"/>
          <a:ext cx="0" cy="0"/>
          <a:chOff x="0" y="0"/>
          <a:chExt cx="0" cy="0"/>
        </a:xfrm>
      </p:grpSpPr>
      <p:sp>
        <p:nvSpPr>
          <p:cNvPr id="3064" name="Google Shape;3064;p5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introduction</a:t>
            </a:r>
            <a:endParaRPr/>
          </a:p>
        </p:txBody>
      </p:sp>
      <p:sp>
        <p:nvSpPr>
          <p:cNvPr id="3065" name="Google Shape;3065;p51"/>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6" name="Google Shape;3066;p51"/>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7" name="Google Shape;3067;p51"/>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068" name="Google Shape;3068;p51"/>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069" name="Google Shape;3069;p51"/>
          <p:cNvGrpSpPr/>
          <p:nvPr/>
        </p:nvGrpSpPr>
        <p:grpSpPr>
          <a:xfrm>
            <a:off x="6557963" y="2093236"/>
            <a:ext cx="920750" cy="276225"/>
            <a:chOff x="3251" y="608"/>
            <a:chExt cx="580" cy="174"/>
          </a:xfrm>
        </p:grpSpPr>
        <p:sp>
          <p:nvSpPr>
            <p:cNvPr id="3070" name="Google Shape;3070;p51"/>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71" name="Google Shape;3071;p51"/>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072" name="Google Shape;3072;p51"/>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073" name="Google Shape;3073;p51"/>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074" name="Google Shape;3074;p51"/>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075" name="Google Shape;3075;p51"/>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076" name="Google Shape;3076;p51"/>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077" name="Google Shape;3077;p51"/>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078" name="Google Shape;3078;p51"/>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079" name="Google Shape;3079;p51"/>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080" name="Google Shape;3080;p51"/>
          <p:cNvGrpSpPr/>
          <p:nvPr/>
        </p:nvGrpSpPr>
        <p:grpSpPr>
          <a:xfrm>
            <a:off x="8885238" y="2996523"/>
            <a:ext cx="912812" cy="276225"/>
            <a:chOff x="4550" y="1257"/>
            <a:chExt cx="575" cy="174"/>
          </a:xfrm>
        </p:grpSpPr>
        <p:sp>
          <p:nvSpPr>
            <p:cNvPr id="3081" name="Google Shape;3081;p51"/>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82" name="Google Shape;3082;p51"/>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083" name="Google Shape;3083;p51"/>
          <p:cNvGrpSpPr/>
          <p:nvPr/>
        </p:nvGrpSpPr>
        <p:grpSpPr>
          <a:xfrm>
            <a:off x="7116763" y="1378861"/>
            <a:ext cx="641350" cy="558800"/>
            <a:chOff x="-44" y="1473"/>
            <a:chExt cx="981" cy="1105"/>
          </a:xfrm>
        </p:grpSpPr>
        <p:pic>
          <p:nvPicPr>
            <p:cNvPr descr="desktop_computer_stylized_medium" id="3084" name="Google Shape;3084;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85" name="Google Shape;3085;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86" name="Google Shape;3086;p51"/>
          <p:cNvGrpSpPr/>
          <p:nvPr/>
        </p:nvGrpSpPr>
        <p:grpSpPr>
          <a:xfrm>
            <a:off x="7112000" y="1977348"/>
            <a:ext cx="641350" cy="558800"/>
            <a:chOff x="-44" y="1473"/>
            <a:chExt cx="981" cy="1105"/>
          </a:xfrm>
        </p:grpSpPr>
        <p:pic>
          <p:nvPicPr>
            <p:cNvPr descr="desktop_computer_stylized_medium" id="3087" name="Google Shape;3087;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88" name="Google Shape;3088;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89" name="Google Shape;3089;p51"/>
          <p:cNvGrpSpPr/>
          <p:nvPr/>
        </p:nvGrpSpPr>
        <p:grpSpPr>
          <a:xfrm>
            <a:off x="7140575" y="2586948"/>
            <a:ext cx="641350" cy="558800"/>
            <a:chOff x="-44" y="1473"/>
            <a:chExt cx="981" cy="1105"/>
          </a:xfrm>
        </p:grpSpPr>
        <p:pic>
          <p:nvPicPr>
            <p:cNvPr descr="desktop_computer_stylized_medium" id="3090" name="Google Shape;3090;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1" name="Google Shape;3091;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2" name="Google Shape;3092;p51"/>
          <p:cNvGrpSpPr/>
          <p:nvPr/>
        </p:nvGrpSpPr>
        <p:grpSpPr>
          <a:xfrm flipH="1">
            <a:off x="10799763" y="1536023"/>
            <a:ext cx="641350" cy="558800"/>
            <a:chOff x="-44" y="1473"/>
            <a:chExt cx="981" cy="1105"/>
          </a:xfrm>
        </p:grpSpPr>
        <p:pic>
          <p:nvPicPr>
            <p:cNvPr descr="desktop_computer_stylized_medium" id="3093" name="Google Shape;3093;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4" name="Google Shape;3094;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5" name="Google Shape;3095;p51"/>
          <p:cNvGrpSpPr/>
          <p:nvPr/>
        </p:nvGrpSpPr>
        <p:grpSpPr>
          <a:xfrm flipH="1">
            <a:off x="10814050" y="2815548"/>
            <a:ext cx="641350" cy="558800"/>
            <a:chOff x="-44" y="1473"/>
            <a:chExt cx="981" cy="1105"/>
          </a:xfrm>
        </p:grpSpPr>
        <p:pic>
          <p:nvPicPr>
            <p:cNvPr descr="desktop_computer_stylized_medium" id="3096" name="Google Shape;3096;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097" name="Google Shape;3097;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098" name="Google Shape;3098;p51"/>
          <p:cNvGrpSpPr/>
          <p:nvPr/>
        </p:nvGrpSpPr>
        <p:grpSpPr>
          <a:xfrm flipH="1">
            <a:off x="9715500" y="4339548"/>
            <a:ext cx="641350" cy="558800"/>
            <a:chOff x="-44" y="1473"/>
            <a:chExt cx="981" cy="1105"/>
          </a:xfrm>
        </p:grpSpPr>
        <p:pic>
          <p:nvPicPr>
            <p:cNvPr descr="desktop_computer_stylized_medium" id="3099" name="Google Shape;3099;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0" name="Google Shape;3100;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01" name="Google Shape;3101;p51"/>
          <p:cNvGrpSpPr/>
          <p:nvPr/>
        </p:nvGrpSpPr>
        <p:grpSpPr>
          <a:xfrm flipH="1">
            <a:off x="8551863" y="4380823"/>
            <a:ext cx="641350" cy="558800"/>
            <a:chOff x="-44" y="1473"/>
            <a:chExt cx="981" cy="1105"/>
          </a:xfrm>
        </p:grpSpPr>
        <p:pic>
          <p:nvPicPr>
            <p:cNvPr descr="desktop_computer_stylized_medium" id="3102" name="Google Shape;3102;p5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03" name="Google Shape;3103;p5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104" name="Google Shape;3104;p51"/>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5" name="Google Shape;3105;p51"/>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6" name="Google Shape;3106;p51"/>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07" name="Google Shape;3107;p51"/>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108" name="Google Shape;3108;p51"/>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109" name="Google Shape;3109;p51"/>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110" name="Google Shape;3110;p51"/>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111" name="Google Shape;3111;p51"/>
          <p:cNvSpPr txBox="1"/>
          <p:nvPr/>
        </p:nvSpPr>
        <p:spPr>
          <a:xfrm>
            <a:off x="879206" y="1475622"/>
            <a:ext cx="3496144" cy="1681163"/>
          </a:xfrm>
          <a:prstGeom prst="rect">
            <a:avLst/>
          </a:prstGeom>
          <a:noFill/>
          <a:ln>
            <a:noFill/>
          </a:ln>
        </p:spPr>
        <p:txBody>
          <a:bodyPr anchorCtr="0" anchor="t" bIns="45700" lIns="91425" spcFirstLastPara="1" rIns="91425" wrap="square" tIns="45700">
            <a:normAutofit/>
          </a:bodyPr>
          <a:lstStyle/>
          <a:p>
            <a:pPr indent="-403225" lvl="0" marL="4032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Q: how are interfaces actually connected?</a:t>
            </a:r>
            <a:endParaRPr/>
          </a:p>
        </p:txBody>
      </p:sp>
      <p:grpSp>
        <p:nvGrpSpPr>
          <p:cNvPr id="3112" name="Google Shape;3112;p51"/>
          <p:cNvGrpSpPr/>
          <p:nvPr/>
        </p:nvGrpSpPr>
        <p:grpSpPr>
          <a:xfrm>
            <a:off x="4691921" y="2355418"/>
            <a:ext cx="3185855" cy="1323439"/>
            <a:chOff x="4692210" y="2354697"/>
            <a:chExt cx="3185636" cy="1323881"/>
          </a:xfrm>
        </p:grpSpPr>
        <p:sp>
          <p:nvSpPr>
            <p:cNvPr id="3113" name="Google Shape;3113;p51"/>
            <p:cNvSpPr txBox="1"/>
            <p:nvPr/>
          </p:nvSpPr>
          <p:spPr>
            <a:xfrm>
              <a:off x="4692210" y="2354697"/>
              <a:ext cx="2548153" cy="13238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A: </a:t>
              </a:r>
              <a:r>
                <a:rPr b="0" i="0" lang="en-US" sz="2000" u="none" cap="none" strike="noStrike">
                  <a:solidFill>
                    <a:srgbClr val="000000"/>
                  </a:solidFill>
                  <a:latin typeface="Arial"/>
                  <a:ea typeface="Arial"/>
                  <a:cs typeface="Arial"/>
                  <a:sym typeface="Arial"/>
                </a:rPr>
                <a:t>wired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Ethernet interfaces connected by Ethernet switches</a:t>
              </a:r>
              <a:endParaRPr/>
            </a:p>
          </p:txBody>
        </p:sp>
        <p:cxnSp>
          <p:nvCxnSpPr>
            <p:cNvPr id="3114" name="Google Shape;3114;p51"/>
            <p:cNvCxnSpPr/>
            <p:nvPr/>
          </p:nvCxnSpPr>
          <p:spPr>
            <a:xfrm rot="10800000">
              <a:off x="5801407" y="2510599"/>
              <a:ext cx="2076439" cy="0"/>
            </a:xfrm>
            <a:prstGeom prst="straightConnector1">
              <a:avLst/>
            </a:prstGeom>
            <a:noFill/>
            <a:ln cap="flat" cmpd="sng" w="9525">
              <a:solidFill>
                <a:srgbClr val="C00000"/>
              </a:solidFill>
              <a:prstDash val="solid"/>
              <a:round/>
              <a:headEnd len="med" w="med" type="none"/>
              <a:tailEnd len="med" w="med" type="none"/>
            </a:ln>
          </p:spPr>
        </p:cxnSp>
      </p:grpSp>
      <p:grpSp>
        <p:nvGrpSpPr>
          <p:cNvPr id="3115" name="Google Shape;3115;p51"/>
          <p:cNvGrpSpPr/>
          <p:nvPr/>
        </p:nvGrpSpPr>
        <p:grpSpPr>
          <a:xfrm>
            <a:off x="7689955" y="3656040"/>
            <a:ext cx="4167265" cy="2436076"/>
            <a:chOff x="5036498" y="3790332"/>
            <a:chExt cx="4168379" cy="2435958"/>
          </a:xfrm>
        </p:grpSpPr>
        <p:pic>
          <p:nvPicPr>
            <p:cNvPr descr="access_point_stylized_small" id="3116" name="Google Shape;3116;p51"/>
            <p:cNvPicPr preferRelativeResize="0"/>
            <p:nvPr/>
          </p:nvPicPr>
          <p:blipFill rotWithShape="1">
            <a:blip r:embed="rId4">
              <a:alphaModFix/>
            </a:blip>
            <a:srcRect b="0" l="0" r="0" t="0"/>
            <a:stretch/>
          </p:blipFill>
          <p:spPr>
            <a:xfrm>
              <a:off x="6312411" y="3790332"/>
              <a:ext cx="587569" cy="486906"/>
            </a:xfrm>
            <a:prstGeom prst="rect">
              <a:avLst/>
            </a:prstGeom>
            <a:noFill/>
            <a:ln>
              <a:noFill/>
            </a:ln>
          </p:spPr>
        </p:pic>
        <p:sp>
          <p:nvSpPr>
            <p:cNvPr id="3117" name="Google Shape;3117;p51"/>
            <p:cNvSpPr txBox="1"/>
            <p:nvPr/>
          </p:nvSpPr>
          <p:spPr>
            <a:xfrm>
              <a:off x="5036498" y="5518438"/>
              <a:ext cx="4168379" cy="7078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A: </a:t>
              </a:r>
              <a:r>
                <a:rPr b="0" i="0" lang="en-US" sz="2000" u="none" cap="none" strike="noStrike">
                  <a:solidFill>
                    <a:srgbClr val="000000"/>
                  </a:solidFill>
                  <a:latin typeface="Arial"/>
                  <a:ea typeface="Arial"/>
                  <a:cs typeface="Arial"/>
                  <a:sym typeface="Arial"/>
                </a:rPr>
                <a:t>wireless WiFi interfaces connected by WiFi base station</a:t>
              </a:r>
              <a:endParaRPr/>
            </a:p>
          </p:txBody>
        </p:sp>
        <p:cxnSp>
          <p:nvCxnSpPr>
            <p:cNvPr id="3118" name="Google Shape;3118;p51"/>
            <p:cNvCxnSpPr/>
            <p:nvPr/>
          </p:nvCxnSpPr>
          <p:spPr>
            <a:xfrm rot="10800000">
              <a:off x="6850795" y="4241577"/>
              <a:ext cx="0" cy="1289090"/>
            </a:xfrm>
            <a:prstGeom prst="straightConnector1">
              <a:avLst/>
            </a:prstGeom>
            <a:noFill/>
            <a:ln cap="flat" cmpd="sng" w="12700">
              <a:solidFill>
                <a:srgbClr val="C00000"/>
              </a:solidFill>
              <a:prstDash val="solid"/>
              <a:round/>
              <a:headEnd len="med" w="med" type="none"/>
              <a:tailEnd len="med" w="med" type="none"/>
            </a:ln>
          </p:spPr>
        </p:cxnSp>
      </p:grpSp>
      <p:sp>
        <p:nvSpPr>
          <p:cNvPr id="3119" name="Google Shape;3119;p51"/>
          <p:cNvSpPr txBox="1"/>
          <p:nvPr/>
        </p:nvSpPr>
        <p:spPr>
          <a:xfrm>
            <a:off x="1329751" y="4355476"/>
            <a:ext cx="432153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For now: </a:t>
            </a:r>
            <a:r>
              <a:rPr b="0" i="0" lang="en-US" sz="2400" u="none" cap="none" strike="noStrike">
                <a:solidFill>
                  <a:srgbClr val="000000"/>
                </a:solidFill>
                <a:latin typeface="Calibri"/>
                <a:ea typeface="Calibri"/>
                <a:cs typeface="Calibri"/>
                <a:sym typeface="Calibri"/>
              </a:rPr>
              <a:t>don’t need to worry about how one interface is connected to another (with no intervening router) </a:t>
            </a:r>
            <a:endParaRPr b="0" i="0" sz="2400" u="none" cap="none" strike="noStrike">
              <a:solidFill>
                <a:srgbClr val="000000"/>
              </a:solidFill>
              <a:latin typeface="Calibri"/>
              <a:ea typeface="Calibri"/>
              <a:cs typeface="Calibri"/>
              <a:sym typeface="Calibri"/>
            </a:endParaRPr>
          </a:p>
        </p:txBody>
      </p:sp>
      <p:cxnSp>
        <p:nvCxnSpPr>
          <p:cNvPr id="3120" name="Google Shape;3120;p51"/>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121" name="Google Shape;3121;p51"/>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122" name="Google Shape;3122;p51"/>
          <p:cNvGrpSpPr/>
          <p:nvPr/>
        </p:nvGrpSpPr>
        <p:grpSpPr>
          <a:xfrm>
            <a:off x="9053641" y="2438501"/>
            <a:ext cx="632991" cy="300938"/>
            <a:chOff x="7493876" y="2774731"/>
            <a:chExt cx="1481958" cy="894622"/>
          </a:xfrm>
        </p:grpSpPr>
        <p:sp>
          <p:nvSpPr>
            <p:cNvPr id="3123" name="Google Shape;3123;p5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124" name="Google Shape;3124;p5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125" name="Google Shape;3125;p51"/>
            <p:cNvGrpSpPr/>
            <p:nvPr/>
          </p:nvGrpSpPr>
          <p:grpSpPr>
            <a:xfrm>
              <a:off x="7713663" y="2848339"/>
              <a:ext cx="1042107" cy="425543"/>
              <a:chOff x="7786941" y="2884917"/>
              <a:chExt cx="897649" cy="353919"/>
            </a:xfrm>
          </p:grpSpPr>
          <p:sp>
            <p:nvSpPr>
              <p:cNvPr id="3126" name="Google Shape;3126;p5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7" name="Google Shape;3127;p5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8" name="Google Shape;3128;p5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29" name="Google Shape;3129;p5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130" name="Google Shape;3130;p51"/>
          <p:cNvGrpSpPr/>
          <p:nvPr/>
        </p:nvGrpSpPr>
        <p:grpSpPr>
          <a:xfrm>
            <a:off x="7865822" y="1784294"/>
            <a:ext cx="3069150" cy="1444428"/>
            <a:chOff x="7865822" y="1784294"/>
            <a:chExt cx="3069150" cy="1444428"/>
          </a:xfrm>
        </p:grpSpPr>
        <p:cxnSp>
          <p:nvCxnSpPr>
            <p:cNvPr id="3131" name="Google Shape;3131;p51"/>
            <p:cNvCxnSpPr/>
            <p:nvPr/>
          </p:nvCxnSpPr>
          <p:spPr>
            <a:xfrm>
              <a:off x="8043483" y="1784294"/>
              <a:ext cx="0" cy="1217851"/>
            </a:xfrm>
            <a:prstGeom prst="straightConnector1">
              <a:avLst/>
            </a:prstGeom>
            <a:noFill/>
            <a:ln cap="flat" cmpd="sng" w="19050">
              <a:solidFill>
                <a:schemeClr val="dk1"/>
              </a:solidFill>
              <a:prstDash val="solid"/>
              <a:miter lim="800000"/>
              <a:headEnd len="sm" w="sm" type="none"/>
              <a:tailEnd len="sm" w="sm" type="none"/>
            </a:ln>
          </p:spPr>
        </p:cxnSp>
        <p:grpSp>
          <p:nvGrpSpPr>
            <p:cNvPr id="3132" name="Google Shape;3132;p51"/>
            <p:cNvGrpSpPr/>
            <p:nvPr/>
          </p:nvGrpSpPr>
          <p:grpSpPr>
            <a:xfrm>
              <a:off x="7865822" y="2488367"/>
              <a:ext cx="618612" cy="329734"/>
              <a:chOff x="3668110" y="2448910"/>
              <a:chExt cx="3794234" cy="2165130"/>
            </a:xfrm>
          </p:grpSpPr>
          <p:sp>
            <p:nvSpPr>
              <p:cNvPr id="3133" name="Google Shape;3133;p5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4" name="Google Shape;3134;p5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135" name="Google Shape;3135;p51"/>
              <p:cNvGrpSpPr/>
              <p:nvPr/>
            </p:nvGrpSpPr>
            <p:grpSpPr>
              <a:xfrm>
                <a:off x="3941378" y="2603243"/>
                <a:ext cx="3202061" cy="1066110"/>
                <a:chOff x="7939341" y="3037317"/>
                <a:chExt cx="897649" cy="353919"/>
              </a:xfrm>
            </p:grpSpPr>
            <p:sp>
              <p:nvSpPr>
                <p:cNvPr id="3136" name="Google Shape;3136;p5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7" name="Google Shape;3137;p5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8" name="Google Shape;3138;p5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39" name="Google Shape;3139;p5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140" name="Google Shape;3140;p51"/>
            <p:cNvCxnSpPr/>
            <p:nvPr/>
          </p:nvCxnSpPr>
          <p:spPr>
            <a:xfrm>
              <a:off x="10631585" y="1932648"/>
              <a:ext cx="0" cy="1296074"/>
            </a:xfrm>
            <a:prstGeom prst="straightConnector1">
              <a:avLst/>
            </a:prstGeom>
            <a:noFill/>
            <a:ln cap="flat" cmpd="sng" w="19050">
              <a:solidFill>
                <a:schemeClr val="dk1"/>
              </a:solidFill>
              <a:prstDash val="solid"/>
              <a:miter lim="800000"/>
              <a:headEnd len="sm" w="sm" type="none"/>
              <a:tailEnd len="sm" w="sm" type="none"/>
            </a:ln>
          </p:spPr>
        </p:cxnSp>
        <p:grpSp>
          <p:nvGrpSpPr>
            <p:cNvPr id="3141" name="Google Shape;3141;p51"/>
            <p:cNvGrpSpPr/>
            <p:nvPr/>
          </p:nvGrpSpPr>
          <p:grpSpPr>
            <a:xfrm>
              <a:off x="10316360" y="2442512"/>
              <a:ext cx="618612" cy="329734"/>
              <a:chOff x="3668110" y="2448910"/>
              <a:chExt cx="3794234" cy="2165130"/>
            </a:xfrm>
          </p:grpSpPr>
          <p:sp>
            <p:nvSpPr>
              <p:cNvPr id="3142" name="Google Shape;3142;p5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3" name="Google Shape;3143;p5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144" name="Google Shape;3144;p51"/>
              <p:cNvGrpSpPr/>
              <p:nvPr/>
            </p:nvGrpSpPr>
            <p:grpSpPr>
              <a:xfrm>
                <a:off x="3941378" y="2603243"/>
                <a:ext cx="3202061" cy="1066110"/>
                <a:chOff x="7939341" y="3037317"/>
                <a:chExt cx="897649" cy="353919"/>
              </a:xfrm>
            </p:grpSpPr>
            <p:sp>
              <p:nvSpPr>
                <p:cNvPr id="3145" name="Google Shape;3145;p5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6" name="Google Shape;3146;p5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7" name="Google Shape;3147;p5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148" name="Google Shape;3148;p5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149" name="Google Shape;3149;p51"/>
          <p:cNvSpPr txBox="1"/>
          <p:nvPr/>
        </p:nvSpPr>
        <p:spPr>
          <a:xfrm>
            <a:off x="884650" y="2297495"/>
            <a:ext cx="3496144" cy="1066192"/>
          </a:xfrm>
          <a:prstGeom prst="rect">
            <a:avLst/>
          </a:prstGeom>
          <a:noFill/>
          <a:ln>
            <a:noFill/>
          </a:ln>
        </p:spPr>
        <p:txBody>
          <a:bodyPr anchorCtr="0" anchor="t" bIns="45700" lIns="91425" spcFirstLastPara="1" rIns="91425" wrap="square" tIns="45700">
            <a:normAutofit/>
          </a:bodyPr>
          <a:lstStyle/>
          <a:p>
            <a:pPr indent="-388938" lvl="0" marL="4032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A: </a:t>
            </a:r>
            <a:r>
              <a:rPr b="0" i="0" lang="en-US" sz="2800" u="none" cap="none" strike="noStrike">
                <a:solidFill>
                  <a:srgbClr val="000000"/>
                </a:solidFill>
                <a:latin typeface="Calibri"/>
                <a:ea typeface="Calibri"/>
                <a:cs typeface="Calibri"/>
                <a:sym typeface="Calibri"/>
              </a:rPr>
              <a:t>we’ll learn about that in chapters 6, 7</a:t>
            </a:r>
            <a:endParaRPr/>
          </a:p>
        </p:txBody>
      </p:sp>
      <p:sp>
        <p:nvSpPr>
          <p:cNvPr id="3150" name="Google Shape;3150;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9"/>
                                        </p:tgtEl>
                                        <p:attrNameLst>
                                          <p:attrName>style.visibility</p:attrName>
                                        </p:attrNameLst>
                                      </p:cBhvr>
                                      <p:to>
                                        <p:strVal val="visible"/>
                                      </p:to>
                                    </p:set>
                                    <p:animEffect filter="fade" transition="in">
                                      <p:cBhvr>
                                        <p:cTn dur="500"/>
                                        <p:tgtEl>
                                          <p:spTgt spid="3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2"/>
                                        </p:tgtEl>
                                        <p:attrNameLst>
                                          <p:attrName>style.visibility</p:attrName>
                                        </p:attrNameLst>
                                      </p:cBhvr>
                                      <p:to>
                                        <p:strVal val="visible"/>
                                      </p:to>
                                    </p:set>
                                    <p:animEffect filter="fade" transition="in">
                                      <p:cBhvr>
                                        <p:cTn dur="500"/>
                                        <p:tgtEl>
                                          <p:spTgt spid="3112"/>
                                        </p:tgtEl>
                                      </p:cBhvr>
                                    </p:animEffect>
                                  </p:childTnLst>
                                </p:cTn>
                              </p:par>
                              <p:par>
                                <p:cTn fill="hold" nodeType="withEffect" presetClass="entr" presetID="10" presetSubtype="0">
                                  <p:stCondLst>
                                    <p:cond delay="0"/>
                                  </p:stCondLst>
                                  <p:childTnLst>
                                    <p:set>
                                      <p:cBhvr>
                                        <p:cTn dur="1" fill="hold">
                                          <p:stCondLst>
                                            <p:cond delay="0"/>
                                          </p:stCondLst>
                                        </p:cTn>
                                        <p:tgtEl>
                                          <p:spTgt spid="3130"/>
                                        </p:tgtEl>
                                        <p:attrNameLst>
                                          <p:attrName>style.visibility</p:attrName>
                                        </p:attrNameLst>
                                      </p:cBhvr>
                                      <p:to>
                                        <p:strVal val="visible"/>
                                      </p:to>
                                    </p:set>
                                    <p:animEffect filter="fade" transition="in">
                                      <p:cBhvr>
                                        <p:cTn dur="500"/>
                                        <p:tgtEl>
                                          <p:spTgt spid="3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5"/>
                                        </p:tgtEl>
                                        <p:attrNameLst>
                                          <p:attrName>style.visibility</p:attrName>
                                        </p:attrNameLst>
                                      </p:cBhvr>
                                      <p:to>
                                        <p:strVal val="visible"/>
                                      </p:to>
                                    </p:set>
                                    <p:animEffect filter="fade" transition="in">
                                      <p:cBhvr>
                                        <p:cTn dur="500"/>
                                        <p:tgtEl>
                                          <p:spTgt spid="3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9"/>
                                        </p:tgtEl>
                                        <p:attrNameLst>
                                          <p:attrName>style.visibility</p:attrName>
                                        </p:attrNameLst>
                                      </p:cBhvr>
                                      <p:to>
                                        <p:strVal val="visible"/>
                                      </p:to>
                                    </p:set>
                                    <p:animEffect filter="fade" transition="in">
                                      <p:cBhvr>
                                        <p:cTn dur="500"/>
                                        <p:tgtEl>
                                          <p:spTgt spid="3119"/>
                                        </p:tgtEl>
                                      </p:cBhvr>
                                    </p:animEffect>
                                  </p:childTnLst>
                                </p:cTn>
                              </p:par>
                              <p:par>
                                <p:cTn fill="hold" nodeType="withEffect" presetClass="exit" presetID="10" presetSubtype="0">
                                  <p:stCondLst>
                                    <p:cond delay="0"/>
                                  </p:stCondLst>
                                  <p:childTnLst>
                                    <p:animEffect filter="fade" transition="out">
                                      <p:cBhvr>
                                        <p:cTn dur="500"/>
                                        <p:tgtEl>
                                          <p:spTgt spid="3112"/>
                                        </p:tgtEl>
                                      </p:cBhvr>
                                    </p:animEffect>
                                    <p:set>
                                      <p:cBhvr>
                                        <p:cTn dur="1" fill="hold">
                                          <p:stCondLst>
                                            <p:cond delay="500"/>
                                          </p:stCondLst>
                                        </p:cTn>
                                        <p:tgtEl>
                                          <p:spTgt spid="311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115"/>
                                        </p:tgtEl>
                                      </p:cBhvr>
                                    </p:animEffect>
                                    <p:set>
                                      <p:cBhvr>
                                        <p:cTn dur="1" fill="hold">
                                          <p:stCondLst>
                                            <p:cond delay="500"/>
                                          </p:stCondLst>
                                        </p:cTn>
                                        <p:tgtEl>
                                          <p:spTgt spid="311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130"/>
                                        </p:tgtEl>
                                      </p:cBhvr>
                                    </p:animEffect>
                                    <p:set>
                                      <p:cBhvr>
                                        <p:cTn dur="1" fill="hold">
                                          <p:stCondLst>
                                            <p:cond delay="500"/>
                                          </p:stCondLst>
                                        </p:cTn>
                                        <p:tgtEl>
                                          <p:spTgt spid="31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5" name="Shape 3155"/>
        <p:cNvGrpSpPr/>
        <p:nvPr/>
      </p:nvGrpSpPr>
      <p:grpSpPr>
        <a:xfrm>
          <a:off x="0" y="0"/>
          <a:ext cx="0" cy="0"/>
          <a:chOff x="0" y="0"/>
          <a:chExt cx="0" cy="0"/>
        </a:xfrm>
      </p:grpSpPr>
      <p:sp>
        <p:nvSpPr>
          <p:cNvPr id="3156" name="Google Shape;3156;p5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157" name="Google Shape;3157;p52"/>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58" name="Google Shape;3158;p52"/>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59" name="Google Shape;3159;p52"/>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160" name="Google Shape;3160;p52"/>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161" name="Google Shape;3161;p52"/>
          <p:cNvGrpSpPr/>
          <p:nvPr/>
        </p:nvGrpSpPr>
        <p:grpSpPr>
          <a:xfrm>
            <a:off x="6557963" y="2093236"/>
            <a:ext cx="920750" cy="276225"/>
            <a:chOff x="3251" y="608"/>
            <a:chExt cx="580" cy="174"/>
          </a:xfrm>
        </p:grpSpPr>
        <p:sp>
          <p:nvSpPr>
            <p:cNvPr id="3162" name="Google Shape;3162;p52"/>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63" name="Google Shape;3163;p52"/>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164" name="Google Shape;3164;p52"/>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165" name="Google Shape;3165;p52"/>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166" name="Google Shape;3166;p52"/>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167" name="Google Shape;3167;p52"/>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168" name="Google Shape;3168;p52"/>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169" name="Google Shape;3169;p52"/>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170" name="Google Shape;3170;p52"/>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171" name="Google Shape;3171;p52"/>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172" name="Google Shape;3172;p52"/>
          <p:cNvGrpSpPr/>
          <p:nvPr/>
        </p:nvGrpSpPr>
        <p:grpSpPr>
          <a:xfrm>
            <a:off x="8885238" y="2996523"/>
            <a:ext cx="912812" cy="276225"/>
            <a:chOff x="4550" y="1257"/>
            <a:chExt cx="575" cy="174"/>
          </a:xfrm>
        </p:grpSpPr>
        <p:sp>
          <p:nvSpPr>
            <p:cNvPr id="3173" name="Google Shape;3173;p52"/>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74" name="Google Shape;3174;p52"/>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grpSp>
        <p:nvGrpSpPr>
          <p:cNvPr id="3175" name="Google Shape;3175;p52"/>
          <p:cNvGrpSpPr/>
          <p:nvPr/>
        </p:nvGrpSpPr>
        <p:grpSpPr>
          <a:xfrm>
            <a:off x="7116763" y="1378861"/>
            <a:ext cx="641350" cy="558800"/>
            <a:chOff x="-44" y="1473"/>
            <a:chExt cx="981" cy="1105"/>
          </a:xfrm>
        </p:grpSpPr>
        <p:pic>
          <p:nvPicPr>
            <p:cNvPr descr="desktop_computer_stylized_medium" id="3176" name="Google Shape;3176;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77" name="Google Shape;3177;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78" name="Google Shape;3178;p52"/>
          <p:cNvGrpSpPr/>
          <p:nvPr/>
        </p:nvGrpSpPr>
        <p:grpSpPr>
          <a:xfrm>
            <a:off x="7112000" y="1977348"/>
            <a:ext cx="641350" cy="558800"/>
            <a:chOff x="-44" y="1473"/>
            <a:chExt cx="981" cy="1105"/>
          </a:xfrm>
        </p:grpSpPr>
        <p:pic>
          <p:nvPicPr>
            <p:cNvPr descr="desktop_computer_stylized_medium" id="3179" name="Google Shape;3179;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0" name="Google Shape;3180;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1" name="Google Shape;3181;p52"/>
          <p:cNvGrpSpPr/>
          <p:nvPr/>
        </p:nvGrpSpPr>
        <p:grpSpPr>
          <a:xfrm>
            <a:off x="7140575" y="2586948"/>
            <a:ext cx="641350" cy="558800"/>
            <a:chOff x="-44" y="1473"/>
            <a:chExt cx="981" cy="1105"/>
          </a:xfrm>
        </p:grpSpPr>
        <p:pic>
          <p:nvPicPr>
            <p:cNvPr descr="desktop_computer_stylized_medium" id="3182" name="Google Shape;3182;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3" name="Google Shape;3183;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4" name="Google Shape;3184;p52"/>
          <p:cNvGrpSpPr/>
          <p:nvPr/>
        </p:nvGrpSpPr>
        <p:grpSpPr>
          <a:xfrm flipH="1">
            <a:off x="10799763" y="1536023"/>
            <a:ext cx="641350" cy="558800"/>
            <a:chOff x="-44" y="1473"/>
            <a:chExt cx="981" cy="1105"/>
          </a:xfrm>
        </p:grpSpPr>
        <p:pic>
          <p:nvPicPr>
            <p:cNvPr descr="desktop_computer_stylized_medium" id="3185" name="Google Shape;3185;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6" name="Google Shape;3186;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87" name="Google Shape;3187;p52"/>
          <p:cNvGrpSpPr/>
          <p:nvPr/>
        </p:nvGrpSpPr>
        <p:grpSpPr>
          <a:xfrm flipH="1">
            <a:off x="10814050" y="2815548"/>
            <a:ext cx="641350" cy="558800"/>
            <a:chOff x="-44" y="1473"/>
            <a:chExt cx="981" cy="1105"/>
          </a:xfrm>
        </p:grpSpPr>
        <p:pic>
          <p:nvPicPr>
            <p:cNvPr descr="desktop_computer_stylized_medium" id="3188" name="Google Shape;3188;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89" name="Google Shape;3189;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90" name="Google Shape;3190;p52"/>
          <p:cNvGrpSpPr/>
          <p:nvPr/>
        </p:nvGrpSpPr>
        <p:grpSpPr>
          <a:xfrm flipH="1">
            <a:off x="9715500" y="4339548"/>
            <a:ext cx="641350" cy="558800"/>
            <a:chOff x="-44" y="1473"/>
            <a:chExt cx="981" cy="1105"/>
          </a:xfrm>
        </p:grpSpPr>
        <p:pic>
          <p:nvPicPr>
            <p:cNvPr descr="desktop_computer_stylized_medium" id="3191" name="Google Shape;3191;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2" name="Google Shape;3192;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193" name="Google Shape;3193;p52"/>
          <p:cNvGrpSpPr/>
          <p:nvPr/>
        </p:nvGrpSpPr>
        <p:grpSpPr>
          <a:xfrm flipH="1">
            <a:off x="8551863" y="4380823"/>
            <a:ext cx="641350" cy="558800"/>
            <a:chOff x="-44" y="1473"/>
            <a:chExt cx="981" cy="1105"/>
          </a:xfrm>
        </p:grpSpPr>
        <p:pic>
          <p:nvPicPr>
            <p:cNvPr descr="desktop_computer_stylized_medium" id="3194" name="Google Shape;3194;p5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195" name="Google Shape;3195;p5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3196" name="Google Shape;3196;p52"/>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7" name="Google Shape;3197;p52"/>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8" name="Google Shape;3198;p52"/>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199" name="Google Shape;3199;p52"/>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00" name="Google Shape;3200;p52"/>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01" name="Google Shape;3201;p52"/>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202" name="Google Shape;3202;p52"/>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203" name="Google Shape;3203;p52"/>
          <p:cNvSpPr txBox="1"/>
          <p:nvPr/>
        </p:nvSpPr>
        <p:spPr>
          <a:xfrm>
            <a:off x="910964" y="1504586"/>
            <a:ext cx="5504825" cy="2215008"/>
          </a:xfrm>
          <a:prstGeom prst="rect">
            <a:avLst/>
          </a:prstGeom>
          <a:noFill/>
          <a:ln>
            <a:noFill/>
          </a:ln>
        </p:spPr>
        <p:txBody>
          <a:bodyPr anchorCtr="0" anchor="t" bIns="45700" lIns="91425" spcFirstLastPara="1" rIns="91425" wrap="square" tIns="45700">
            <a:normAutofit/>
          </a:bodyPr>
          <a:lstStyle/>
          <a:p>
            <a:pPr indent="-234950" lvl="0" marL="234950" marR="0" rtl="0" algn="l">
              <a:lnSpc>
                <a:spcPct val="90000"/>
              </a:lnSpc>
              <a:spcBef>
                <a:spcPts val="0"/>
              </a:spcBef>
              <a:spcAft>
                <a:spcPts val="0"/>
              </a:spcAft>
              <a:buClr>
                <a:srgbClr val="0000A3"/>
              </a:buClr>
              <a:buSzPts val="3200"/>
              <a:buFont typeface="Noto Sans Symbols"/>
              <a:buChar char="▪"/>
            </a:pPr>
            <a:r>
              <a:rPr b="0" i="1" lang="en-US" sz="3200" u="none" cap="none" strike="noStrike">
                <a:solidFill>
                  <a:srgbClr val="000099"/>
                </a:solidFill>
                <a:latin typeface="Calibri"/>
                <a:ea typeface="Calibri"/>
                <a:cs typeface="Calibri"/>
                <a:sym typeface="Calibri"/>
              </a:rPr>
              <a:t>What’s a subnet ?</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device interfaces that can physically reach each other </a:t>
            </a:r>
            <a:r>
              <a:rPr b="0" i="0" lang="en-US" sz="2800" u="none" cap="none" strike="noStrike">
                <a:solidFill>
                  <a:srgbClr val="C00000"/>
                </a:solidFill>
                <a:latin typeface="Calibri"/>
                <a:ea typeface="Calibri"/>
                <a:cs typeface="Calibri"/>
                <a:sym typeface="Calibri"/>
              </a:rPr>
              <a:t>without passing through an intervening router</a:t>
            </a:r>
            <a:endParaRPr b="0" i="1" sz="2800" u="none" cap="none" strike="noStrike">
              <a:solidFill>
                <a:srgbClr val="CC0000"/>
              </a:solidFill>
              <a:latin typeface="Calibri"/>
              <a:ea typeface="Calibri"/>
              <a:cs typeface="Calibri"/>
              <a:sym typeface="Calibri"/>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cxnSp>
        <p:nvCxnSpPr>
          <p:cNvPr id="3204" name="Google Shape;3204;p52"/>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205" name="Google Shape;3205;p52"/>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206" name="Google Shape;3206;p52"/>
          <p:cNvGrpSpPr/>
          <p:nvPr/>
        </p:nvGrpSpPr>
        <p:grpSpPr>
          <a:xfrm>
            <a:off x="9053641" y="2438501"/>
            <a:ext cx="632991" cy="300938"/>
            <a:chOff x="7493876" y="2774731"/>
            <a:chExt cx="1481958" cy="894622"/>
          </a:xfrm>
        </p:grpSpPr>
        <p:sp>
          <p:nvSpPr>
            <p:cNvPr id="3207" name="Google Shape;3207;p5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08" name="Google Shape;3208;p5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09" name="Google Shape;3209;p52"/>
            <p:cNvGrpSpPr/>
            <p:nvPr/>
          </p:nvGrpSpPr>
          <p:grpSpPr>
            <a:xfrm>
              <a:off x="7713663" y="2848339"/>
              <a:ext cx="1042107" cy="425543"/>
              <a:chOff x="7786941" y="2884917"/>
              <a:chExt cx="897649" cy="353919"/>
            </a:xfrm>
          </p:grpSpPr>
          <p:sp>
            <p:nvSpPr>
              <p:cNvPr id="3210" name="Google Shape;3210;p5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1" name="Google Shape;3211;p5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2" name="Google Shape;3212;p5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13" name="Google Shape;3213;p5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3214" name="Google Shape;3214;p52"/>
          <p:cNvSpPr txBox="1"/>
          <p:nvPr/>
        </p:nvSpPr>
        <p:spPr>
          <a:xfrm>
            <a:off x="7810084" y="5139102"/>
            <a:ext cx="37242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network consisting of 3 subnets</a:t>
            </a:r>
            <a:endParaRPr/>
          </a:p>
        </p:txBody>
      </p:sp>
      <p:sp>
        <p:nvSpPr>
          <p:cNvPr id="3215" name="Google Shape;3215;p52"/>
          <p:cNvSpPr txBox="1"/>
          <p:nvPr/>
        </p:nvSpPr>
        <p:spPr>
          <a:xfrm>
            <a:off x="923879" y="3718261"/>
            <a:ext cx="6050358" cy="2667042"/>
          </a:xfrm>
          <a:prstGeom prst="rect">
            <a:avLst/>
          </a:prstGeom>
          <a:noFill/>
          <a:ln>
            <a:noFill/>
          </a:ln>
        </p:spPr>
        <p:txBody>
          <a:bodyPr anchorCtr="0" anchor="t" bIns="45700" lIns="91425" spcFirstLastPara="1" rIns="91425" wrap="square" tIns="45700">
            <a:normAutofit/>
          </a:bodyPr>
          <a:lstStyle/>
          <a:p>
            <a:pPr indent="-234950" lvl="0" marL="234950"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99"/>
                </a:solidFill>
                <a:latin typeface="Calibri"/>
                <a:ea typeface="Calibri"/>
                <a:cs typeface="Calibri"/>
                <a:sym typeface="Calibri"/>
              </a:rPr>
              <a:t>IP addresses have structure:</a:t>
            </a:r>
            <a:r>
              <a:rPr b="0" i="0" lang="en-US" sz="3200" u="none" cap="none" strike="noStrike">
                <a:solidFill>
                  <a:srgbClr val="000000"/>
                </a:solidFill>
                <a:latin typeface="Calibri"/>
                <a:ea typeface="Calibri"/>
                <a:cs typeface="Calibri"/>
                <a:sym typeface="Calibri"/>
              </a:rPr>
              <a:t> </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subnet part: </a:t>
            </a:r>
            <a:r>
              <a:rPr b="0" i="0" lang="en-US" sz="2800" u="none" cap="none" strike="noStrike">
                <a:solidFill>
                  <a:srgbClr val="000000"/>
                </a:solidFill>
                <a:latin typeface="Calibri"/>
                <a:ea typeface="Calibri"/>
                <a:cs typeface="Calibri"/>
                <a:sym typeface="Calibri"/>
              </a:rPr>
              <a:t>devices in same subnet have common high order bits</a:t>
            </a:r>
            <a:endParaRPr/>
          </a:p>
          <a:p>
            <a:pPr indent="-233362" lvl="1" marL="58261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C00000"/>
                </a:solidFill>
                <a:latin typeface="Calibri"/>
                <a:ea typeface="Calibri"/>
                <a:cs typeface="Calibri"/>
                <a:sym typeface="Calibri"/>
              </a:rPr>
              <a:t>host part: remaining</a:t>
            </a:r>
            <a:r>
              <a:rPr b="0" i="0" lang="en-US" sz="2800" u="none" cap="none" strike="noStrike">
                <a:solidFill>
                  <a:srgbClr val="000000"/>
                </a:solidFill>
                <a:latin typeface="Calibri"/>
                <a:ea typeface="Calibri"/>
                <a:cs typeface="Calibri"/>
                <a:sym typeface="Calibri"/>
              </a:rPr>
              <a:t> low order bits </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216" name="Google Shape;3216;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3"/>
                                        </p:tgtEl>
                                        <p:attrNameLst>
                                          <p:attrName>style.visibility</p:attrName>
                                        </p:attrNameLst>
                                      </p:cBhvr>
                                      <p:to>
                                        <p:strVal val="visible"/>
                                      </p:to>
                                    </p:set>
                                    <p:animEffect filter="fade" transition="in">
                                      <p:cBhvr>
                                        <p:cTn dur="500"/>
                                        <p:tgtEl>
                                          <p:spTgt spid="3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5"/>
                                        </p:tgtEl>
                                        <p:attrNameLst>
                                          <p:attrName>style.visibility</p:attrName>
                                        </p:attrNameLst>
                                      </p:cBhvr>
                                      <p:to>
                                        <p:strVal val="visible"/>
                                      </p:to>
                                    </p:set>
                                    <p:animEffect filter="fade" transition="in">
                                      <p:cBhvr>
                                        <p:cTn dur="500"/>
                                        <p:tgtEl>
                                          <p:spTgt spid="3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1" name="Shape 3221"/>
        <p:cNvGrpSpPr/>
        <p:nvPr/>
      </p:nvGrpSpPr>
      <p:grpSpPr>
        <a:xfrm>
          <a:off x="0" y="0"/>
          <a:ext cx="0" cy="0"/>
          <a:chOff x="0" y="0"/>
          <a:chExt cx="0" cy="0"/>
        </a:xfrm>
      </p:grpSpPr>
      <p:sp>
        <p:nvSpPr>
          <p:cNvPr id="3222" name="Google Shape;3222;p5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223" name="Google Shape;3223;p53"/>
          <p:cNvSpPr/>
          <p:nvPr/>
        </p:nvSpPr>
        <p:spPr>
          <a:xfrm rot="-5400000">
            <a:off x="8946356" y="3046530"/>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4" name="Google Shape;3224;p53"/>
          <p:cNvSpPr/>
          <p:nvPr/>
        </p:nvSpPr>
        <p:spPr>
          <a:xfrm rot="10800000">
            <a:off x="9944100" y="1720173"/>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5" name="Google Shape;3225;p53"/>
          <p:cNvSpPr/>
          <p:nvPr/>
        </p:nvSpPr>
        <p:spPr>
          <a:xfrm>
            <a:off x="7908925" y="1302661"/>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226" name="Google Shape;3226;p53"/>
          <p:cNvSpPr txBox="1"/>
          <p:nvPr/>
        </p:nvSpPr>
        <p:spPr>
          <a:xfrm>
            <a:off x="7291388" y="1132798"/>
            <a:ext cx="825500"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223.1.1.1</a:t>
            </a:r>
            <a:endParaRPr b="0" i="0" sz="1200" u="none" cap="none" strike="noStrike">
              <a:solidFill>
                <a:srgbClr val="000000"/>
              </a:solidFill>
              <a:latin typeface="Comic Sans MS"/>
              <a:ea typeface="Comic Sans MS"/>
              <a:cs typeface="Comic Sans MS"/>
              <a:sym typeface="Comic Sans MS"/>
            </a:endParaRPr>
          </a:p>
        </p:txBody>
      </p:sp>
      <p:grpSp>
        <p:nvGrpSpPr>
          <p:cNvPr id="3227" name="Google Shape;3227;p53"/>
          <p:cNvGrpSpPr/>
          <p:nvPr/>
        </p:nvGrpSpPr>
        <p:grpSpPr>
          <a:xfrm>
            <a:off x="6557963" y="2093236"/>
            <a:ext cx="920750" cy="276225"/>
            <a:chOff x="3251" y="608"/>
            <a:chExt cx="580" cy="174"/>
          </a:xfrm>
        </p:grpSpPr>
        <p:sp>
          <p:nvSpPr>
            <p:cNvPr id="3228" name="Google Shape;3228;p53"/>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29" name="Google Shape;3229;p53"/>
            <p:cNvSpPr txBox="1"/>
            <p:nvPr/>
          </p:nvSpPr>
          <p:spPr>
            <a:xfrm>
              <a:off x="3251" y="608"/>
              <a:ext cx="521"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223.1.1.2</a:t>
              </a:r>
              <a:endParaRPr b="0" i="0" sz="1200" u="none" cap="none" strike="noStrike">
                <a:solidFill>
                  <a:srgbClr val="000000"/>
                </a:solidFill>
                <a:latin typeface="Comic Sans MS"/>
                <a:ea typeface="Comic Sans MS"/>
                <a:cs typeface="Comic Sans MS"/>
                <a:sym typeface="Comic Sans MS"/>
              </a:endParaRPr>
            </a:p>
          </p:txBody>
        </p:sp>
      </p:grpSp>
      <p:sp>
        <p:nvSpPr>
          <p:cNvPr id="3230" name="Google Shape;3230;p53"/>
          <p:cNvSpPr txBox="1"/>
          <p:nvPr/>
        </p:nvSpPr>
        <p:spPr>
          <a:xfrm>
            <a:off x="7396163" y="3088598"/>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223.1.1.3</a:t>
            </a:r>
            <a:endParaRPr b="0" i="0" sz="1200" u="none" cap="none" strike="noStrike">
              <a:solidFill>
                <a:srgbClr val="000000"/>
              </a:solidFill>
              <a:latin typeface="Comic Sans MS"/>
              <a:ea typeface="Comic Sans MS"/>
              <a:cs typeface="Comic Sans MS"/>
              <a:sym typeface="Comic Sans MS"/>
            </a:endParaRPr>
          </a:p>
        </p:txBody>
      </p:sp>
      <p:sp>
        <p:nvSpPr>
          <p:cNvPr id="3231" name="Google Shape;3231;p53"/>
          <p:cNvSpPr txBox="1"/>
          <p:nvPr/>
        </p:nvSpPr>
        <p:spPr>
          <a:xfrm>
            <a:off x="8365672" y="2275798"/>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223.1.1.4</a:t>
            </a:r>
            <a:endParaRPr b="0" i="0" sz="1200" u="none" cap="none" strike="noStrike">
              <a:solidFill>
                <a:srgbClr val="000000"/>
              </a:solidFill>
              <a:latin typeface="Comic Sans MS"/>
              <a:ea typeface="Comic Sans MS"/>
              <a:cs typeface="Comic Sans MS"/>
              <a:sym typeface="Comic Sans MS"/>
            </a:endParaRPr>
          </a:p>
        </p:txBody>
      </p:sp>
      <p:sp>
        <p:nvSpPr>
          <p:cNvPr id="3232" name="Google Shape;3232;p53"/>
          <p:cNvSpPr txBox="1"/>
          <p:nvPr/>
        </p:nvSpPr>
        <p:spPr>
          <a:xfrm>
            <a:off x="9578749" y="2277157"/>
            <a:ext cx="827087"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223.1.2.9</a:t>
            </a:r>
            <a:endParaRPr b="0" i="0" sz="1200" u="none" cap="none" strike="noStrike">
              <a:solidFill>
                <a:srgbClr val="000000"/>
              </a:solidFill>
              <a:latin typeface="Comic Sans MS"/>
              <a:ea typeface="Comic Sans MS"/>
              <a:cs typeface="Comic Sans MS"/>
              <a:sym typeface="Comic Sans MS"/>
            </a:endParaRPr>
          </a:p>
        </p:txBody>
      </p:sp>
      <p:sp>
        <p:nvSpPr>
          <p:cNvPr id="3233" name="Google Shape;3233;p53"/>
          <p:cNvSpPr txBox="1"/>
          <p:nvPr/>
        </p:nvSpPr>
        <p:spPr>
          <a:xfrm>
            <a:off x="10148207" y="3220134"/>
            <a:ext cx="82708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223.1.2.2</a:t>
            </a:r>
            <a:endParaRPr b="0" i="0" sz="1200" u="none" cap="none" strike="noStrike">
              <a:solidFill>
                <a:srgbClr val="000000"/>
              </a:solidFill>
              <a:latin typeface="Comic Sans MS"/>
              <a:ea typeface="Comic Sans MS"/>
              <a:cs typeface="Comic Sans MS"/>
              <a:sym typeface="Comic Sans MS"/>
            </a:endParaRPr>
          </a:p>
        </p:txBody>
      </p:sp>
      <p:sp>
        <p:nvSpPr>
          <p:cNvPr id="3234" name="Google Shape;3234;p53"/>
          <p:cNvSpPr txBox="1"/>
          <p:nvPr/>
        </p:nvSpPr>
        <p:spPr>
          <a:xfrm>
            <a:off x="10107612" y="1703391"/>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223.1.2.1</a:t>
            </a:r>
            <a:endParaRPr b="0" i="0" sz="1200" u="none" cap="none" strike="noStrike">
              <a:solidFill>
                <a:srgbClr val="000000"/>
              </a:solidFill>
              <a:latin typeface="Comic Sans MS"/>
              <a:ea typeface="Comic Sans MS"/>
              <a:cs typeface="Comic Sans MS"/>
              <a:sym typeface="Comic Sans MS"/>
            </a:endParaRPr>
          </a:p>
        </p:txBody>
      </p:sp>
      <p:cxnSp>
        <p:nvCxnSpPr>
          <p:cNvPr id="3235" name="Google Shape;3235;p53"/>
          <p:cNvCxnSpPr/>
          <p:nvPr/>
        </p:nvCxnSpPr>
        <p:spPr>
          <a:xfrm>
            <a:off x="9359900" y="2735036"/>
            <a:ext cx="0" cy="879025"/>
          </a:xfrm>
          <a:prstGeom prst="straightConnector1">
            <a:avLst/>
          </a:prstGeom>
          <a:noFill/>
          <a:ln cap="flat" cmpd="sng" w="19050">
            <a:solidFill>
              <a:srgbClr val="000000"/>
            </a:solidFill>
            <a:prstDash val="solid"/>
            <a:round/>
            <a:headEnd len="med" w="med" type="none"/>
            <a:tailEnd len="med" w="med" type="none"/>
          </a:ln>
        </p:spPr>
      </p:cxnSp>
      <p:sp>
        <p:nvSpPr>
          <p:cNvPr id="3236" name="Google Shape;3236;p53"/>
          <p:cNvSpPr txBox="1"/>
          <p:nvPr/>
        </p:nvSpPr>
        <p:spPr>
          <a:xfrm>
            <a:off x="9955213" y="4195086"/>
            <a:ext cx="82708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a:t>
            </a:r>
            <a:endParaRPr b="0" i="0" sz="1200" u="none" cap="none" strike="noStrike">
              <a:solidFill>
                <a:srgbClr val="000000"/>
              </a:solidFill>
              <a:latin typeface="Comic Sans MS"/>
              <a:ea typeface="Comic Sans MS"/>
              <a:cs typeface="Comic Sans MS"/>
              <a:sym typeface="Comic Sans MS"/>
            </a:endParaRPr>
          </a:p>
        </p:txBody>
      </p:sp>
      <p:sp>
        <p:nvSpPr>
          <p:cNvPr id="3237" name="Google Shape;3237;p53"/>
          <p:cNvSpPr txBox="1"/>
          <p:nvPr/>
        </p:nvSpPr>
        <p:spPr>
          <a:xfrm>
            <a:off x="8712200" y="4199848"/>
            <a:ext cx="827088"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223.1.3.1</a:t>
            </a:r>
            <a:endParaRPr b="0" i="0" sz="1200" u="none" cap="none" strike="noStrike">
              <a:solidFill>
                <a:srgbClr val="000000"/>
              </a:solidFill>
              <a:latin typeface="Comic Sans MS"/>
              <a:ea typeface="Comic Sans MS"/>
              <a:cs typeface="Comic Sans MS"/>
              <a:sym typeface="Comic Sans MS"/>
            </a:endParaRPr>
          </a:p>
        </p:txBody>
      </p:sp>
      <p:grpSp>
        <p:nvGrpSpPr>
          <p:cNvPr id="3238" name="Google Shape;3238;p53"/>
          <p:cNvGrpSpPr/>
          <p:nvPr/>
        </p:nvGrpSpPr>
        <p:grpSpPr>
          <a:xfrm>
            <a:off x="8885238" y="2996523"/>
            <a:ext cx="912812" cy="276225"/>
            <a:chOff x="4550" y="1257"/>
            <a:chExt cx="575" cy="174"/>
          </a:xfrm>
        </p:grpSpPr>
        <p:sp>
          <p:nvSpPr>
            <p:cNvPr id="3239" name="Google Shape;3239;p53"/>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240" name="Google Shape;3240;p53"/>
            <p:cNvSpPr txBox="1"/>
            <p:nvPr/>
          </p:nvSpPr>
          <p:spPr>
            <a:xfrm>
              <a:off x="4550" y="1257"/>
              <a:ext cx="575" cy="1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223.1.3.27</a:t>
              </a:r>
              <a:endParaRPr b="0" i="0" sz="1200" u="none" cap="none" strike="noStrike">
                <a:solidFill>
                  <a:srgbClr val="000000"/>
                </a:solidFill>
                <a:latin typeface="Comic Sans MS"/>
                <a:ea typeface="Comic Sans MS"/>
                <a:cs typeface="Comic Sans MS"/>
                <a:sym typeface="Comic Sans MS"/>
              </a:endParaRPr>
            </a:p>
          </p:txBody>
        </p:sp>
      </p:grpSp>
      <p:cxnSp>
        <p:nvCxnSpPr>
          <p:cNvPr id="3241" name="Google Shape;3241;p53"/>
          <p:cNvCxnSpPr/>
          <p:nvPr/>
        </p:nvCxnSpPr>
        <p:spPr>
          <a:xfrm>
            <a:off x="7697391" y="1785938"/>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2" name="Google Shape;3242;p53"/>
          <p:cNvCxnSpPr/>
          <p:nvPr/>
        </p:nvCxnSpPr>
        <p:spPr>
          <a:xfrm>
            <a:off x="7698824" y="2384823"/>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3" name="Google Shape;3243;p53"/>
          <p:cNvCxnSpPr/>
          <p:nvPr/>
        </p:nvCxnSpPr>
        <p:spPr>
          <a:xfrm>
            <a:off x="7705979" y="299799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244" name="Google Shape;3244;p53"/>
          <p:cNvCxnSpPr/>
          <p:nvPr/>
        </p:nvCxnSpPr>
        <p:spPr>
          <a:xfrm>
            <a:off x="10629900" y="194242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45" name="Google Shape;3245;p53"/>
          <p:cNvCxnSpPr/>
          <p:nvPr/>
        </p:nvCxnSpPr>
        <p:spPr>
          <a:xfrm>
            <a:off x="10631261" y="3221529"/>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246" name="Google Shape;3246;p53"/>
          <p:cNvCxnSpPr/>
          <p:nvPr/>
        </p:nvCxnSpPr>
        <p:spPr>
          <a:xfrm>
            <a:off x="8740878" y="4181988"/>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247" name="Google Shape;3247;p53"/>
          <p:cNvCxnSpPr/>
          <p:nvPr/>
        </p:nvCxnSpPr>
        <p:spPr>
          <a:xfrm>
            <a:off x="9886336" y="4144298"/>
            <a:ext cx="0" cy="232696"/>
          </a:xfrm>
          <a:prstGeom prst="straightConnector1">
            <a:avLst/>
          </a:prstGeom>
          <a:noFill/>
          <a:ln cap="flat" cmpd="sng" w="19050">
            <a:solidFill>
              <a:schemeClr val="dk1"/>
            </a:solidFill>
            <a:prstDash val="solid"/>
            <a:miter lim="800000"/>
            <a:headEnd len="sm" w="sm" type="none"/>
            <a:tailEnd len="sm" w="sm" type="none"/>
          </a:ln>
        </p:spPr>
      </p:cxnSp>
      <p:sp>
        <p:nvSpPr>
          <p:cNvPr id="3248" name="Google Shape;3248;p53"/>
          <p:cNvSpPr txBox="1"/>
          <p:nvPr/>
        </p:nvSpPr>
        <p:spPr>
          <a:xfrm>
            <a:off x="910964" y="1504585"/>
            <a:ext cx="5504825" cy="498615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Recipe for defining subnets: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detach each interface from its host or router, creating “islands” of isolated networks</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isolated network is called a </a:t>
            </a:r>
            <a:r>
              <a:rPr b="0" i="1" lang="en-US" sz="3200" u="none" cap="none" strike="noStrike">
                <a:solidFill>
                  <a:srgbClr val="CC0000"/>
                </a:solidFill>
                <a:latin typeface="Calibri"/>
                <a:ea typeface="Calibri"/>
                <a:cs typeface="Calibri"/>
                <a:sym typeface="Calibri"/>
              </a:rPr>
              <a:t>subnet</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cxnSp>
        <p:nvCxnSpPr>
          <p:cNvPr id="3249" name="Google Shape;3249;p53"/>
          <p:cNvCxnSpPr/>
          <p:nvPr/>
        </p:nvCxnSpPr>
        <p:spPr>
          <a:xfrm>
            <a:off x="8364512" y="2578622"/>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250" name="Google Shape;3250;p53"/>
          <p:cNvCxnSpPr/>
          <p:nvPr/>
        </p:nvCxnSpPr>
        <p:spPr>
          <a:xfrm>
            <a:off x="9547622" y="2584574"/>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251" name="Google Shape;3251;p53"/>
          <p:cNvGrpSpPr/>
          <p:nvPr/>
        </p:nvGrpSpPr>
        <p:grpSpPr>
          <a:xfrm>
            <a:off x="7112000" y="1378861"/>
            <a:ext cx="4343400" cy="3560762"/>
            <a:chOff x="7112000" y="1378861"/>
            <a:chExt cx="4343400" cy="3560762"/>
          </a:xfrm>
        </p:grpSpPr>
        <p:grpSp>
          <p:nvGrpSpPr>
            <p:cNvPr id="3252" name="Google Shape;3252;p53"/>
            <p:cNvGrpSpPr/>
            <p:nvPr/>
          </p:nvGrpSpPr>
          <p:grpSpPr>
            <a:xfrm>
              <a:off x="7116763" y="1378861"/>
              <a:ext cx="641350" cy="558800"/>
              <a:chOff x="-44" y="1473"/>
              <a:chExt cx="981" cy="1105"/>
            </a:xfrm>
          </p:grpSpPr>
          <p:pic>
            <p:nvPicPr>
              <p:cNvPr descr="desktop_computer_stylized_medium" id="3253" name="Google Shape;3253;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54" name="Google Shape;3254;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55" name="Google Shape;3255;p53"/>
            <p:cNvGrpSpPr/>
            <p:nvPr/>
          </p:nvGrpSpPr>
          <p:grpSpPr>
            <a:xfrm>
              <a:off x="7112000" y="1977348"/>
              <a:ext cx="641350" cy="558800"/>
              <a:chOff x="-44" y="1473"/>
              <a:chExt cx="981" cy="1105"/>
            </a:xfrm>
          </p:grpSpPr>
          <p:pic>
            <p:nvPicPr>
              <p:cNvPr descr="desktop_computer_stylized_medium" id="3256" name="Google Shape;3256;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57" name="Google Shape;3257;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58" name="Google Shape;3258;p53"/>
            <p:cNvGrpSpPr/>
            <p:nvPr/>
          </p:nvGrpSpPr>
          <p:grpSpPr>
            <a:xfrm>
              <a:off x="7140575" y="2586948"/>
              <a:ext cx="641350" cy="558800"/>
              <a:chOff x="-44" y="1473"/>
              <a:chExt cx="981" cy="1105"/>
            </a:xfrm>
          </p:grpSpPr>
          <p:pic>
            <p:nvPicPr>
              <p:cNvPr descr="desktop_computer_stylized_medium" id="3259" name="Google Shape;3259;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0" name="Google Shape;3260;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1" name="Google Shape;3261;p53"/>
            <p:cNvGrpSpPr/>
            <p:nvPr/>
          </p:nvGrpSpPr>
          <p:grpSpPr>
            <a:xfrm flipH="1">
              <a:off x="10799763" y="1536023"/>
              <a:ext cx="641350" cy="558800"/>
              <a:chOff x="-44" y="1473"/>
              <a:chExt cx="981" cy="1105"/>
            </a:xfrm>
          </p:grpSpPr>
          <p:pic>
            <p:nvPicPr>
              <p:cNvPr descr="desktop_computer_stylized_medium" id="3262" name="Google Shape;3262;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3" name="Google Shape;3263;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4" name="Google Shape;3264;p53"/>
            <p:cNvGrpSpPr/>
            <p:nvPr/>
          </p:nvGrpSpPr>
          <p:grpSpPr>
            <a:xfrm flipH="1">
              <a:off x="10814050" y="2815548"/>
              <a:ext cx="641350" cy="558800"/>
              <a:chOff x="-44" y="1473"/>
              <a:chExt cx="981" cy="1105"/>
            </a:xfrm>
          </p:grpSpPr>
          <p:pic>
            <p:nvPicPr>
              <p:cNvPr descr="desktop_computer_stylized_medium" id="3265" name="Google Shape;3265;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6" name="Google Shape;3266;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67" name="Google Shape;3267;p53"/>
            <p:cNvGrpSpPr/>
            <p:nvPr/>
          </p:nvGrpSpPr>
          <p:grpSpPr>
            <a:xfrm flipH="1">
              <a:off x="9715500" y="4339548"/>
              <a:ext cx="641350" cy="558800"/>
              <a:chOff x="-44" y="1473"/>
              <a:chExt cx="981" cy="1105"/>
            </a:xfrm>
          </p:grpSpPr>
          <p:pic>
            <p:nvPicPr>
              <p:cNvPr descr="desktop_computer_stylized_medium" id="3268" name="Google Shape;3268;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69" name="Google Shape;3269;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70" name="Google Shape;3270;p53"/>
            <p:cNvGrpSpPr/>
            <p:nvPr/>
          </p:nvGrpSpPr>
          <p:grpSpPr>
            <a:xfrm flipH="1">
              <a:off x="8551863" y="4380823"/>
              <a:ext cx="641350" cy="558800"/>
              <a:chOff x="-44" y="1473"/>
              <a:chExt cx="981" cy="1105"/>
            </a:xfrm>
          </p:grpSpPr>
          <p:pic>
            <p:nvPicPr>
              <p:cNvPr descr="desktop_computer_stylized_medium" id="3271" name="Google Shape;3271;p53"/>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272" name="Google Shape;3272;p5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273" name="Google Shape;3273;p53"/>
            <p:cNvGrpSpPr/>
            <p:nvPr/>
          </p:nvGrpSpPr>
          <p:grpSpPr>
            <a:xfrm>
              <a:off x="9053641" y="2438501"/>
              <a:ext cx="632991" cy="300938"/>
              <a:chOff x="7493876" y="2774731"/>
              <a:chExt cx="1481958" cy="894622"/>
            </a:xfrm>
          </p:grpSpPr>
          <p:sp>
            <p:nvSpPr>
              <p:cNvPr id="3274" name="Google Shape;3274;p5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275" name="Google Shape;3275;p5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276" name="Google Shape;3276;p53"/>
              <p:cNvGrpSpPr/>
              <p:nvPr/>
            </p:nvGrpSpPr>
            <p:grpSpPr>
              <a:xfrm>
                <a:off x="7713663" y="2848339"/>
                <a:ext cx="1042107" cy="425543"/>
                <a:chOff x="7786941" y="2884917"/>
                <a:chExt cx="897649" cy="353919"/>
              </a:xfrm>
            </p:grpSpPr>
            <p:sp>
              <p:nvSpPr>
                <p:cNvPr id="3277" name="Google Shape;3277;p5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8" name="Google Shape;3278;p5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9" name="Google Shape;3279;p5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80" name="Google Shape;3280;p5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281" name="Google Shape;3281;p53"/>
          <p:cNvSpPr txBox="1"/>
          <p:nvPr/>
        </p:nvSpPr>
        <p:spPr>
          <a:xfrm>
            <a:off x="6282921" y="5092127"/>
            <a:ext cx="5863785"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subnet mask: /24</a:t>
            </a:r>
            <a:endParaRPr/>
          </a:p>
          <a:p>
            <a:pPr indent="0" lvl="0" marL="0" marR="0" rtl="0" algn="ct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(high-order 24 bits: subnet part of IP address)</a:t>
            </a:r>
            <a:endParaRPr/>
          </a:p>
        </p:txBody>
      </p:sp>
      <p:grpSp>
        <p:nvGrpSpPr>
          <p:cNvPr id="3282" name="Google Shape;3282;p53"/>
          <p:cNvGrpSpPr/>
          <p:nvPr/>
        </p:nvGrpSpPr>
        <p:grpSpPr>
          <a:xfrm>
            <a:off x="6239437" y="3859589"/>
            <a:ext cx="2574780" cy="707886"/>
            <a:chOff x="6239437" y="3859589"/>
            <a:chExt cx="2574780" cy="707886"/>
          </a:xfrm>
        </p:grpSpPr>
        <p:sp>
          <p:nvSpPr>
            <p:cNvPr id="3283" name="Google Shape;3283;p53"/>
            <p:cNvSpPr txBox="1"/>
            <p:nvPr/>
          </p:nvSpPr>
          <p:spPr>
            <a:xfrm>
              <a:off x="6239437" y="3859589"/>
              <a:ext cx="1608133"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a:t>
              </a:r>
              <a:endParaRPr/>
            </a:p>
            <a:p>
              <a:pPr indent="0" lvl="0" marL="0" marR="0" rtl="0" algn="r">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223.1.3.0/24</a:t>
              </a:r>
              <a:endParaRPr/>
            </a:p>
          </p:txBody>
        </p:sp>
        <p:cxnSp>
          <p:nvCxnSpPr>
            <p:cNvPr id="3284" name="Google Shape;3284;p53"/>
            <p:cNvCxnSpPr/>
            <p:nvPr/>
          </p:nvCxnSpPr>
          <p:spPr>
            <a:xfrm>
              <a:off x="7794885" y="4062334"/>
              <a:ext cx="1019332" cy="0"/>
            </a:xfrm>
            <a:prstGeom prst="straightConnector1">
              <a:avLst/>
            </a:prstGeom>
            <a:noFill/>
            <a:ln cap="flat" cmpd="sng" w="15875">
              <a:solidFill>
                <a:srgbClr val="C00000"/>
              </a:solidFill>
              <a:prstDash val="solid"/>
              <a:miter lim="800000"/>
              <a:headEnd len="sm" w="sm" type="none"/>
              <a:tailEnd len="sm" w="sm" type="none"/>
            </a:ln>
          </p:spPr>
        </p:cxnSp>
      </p:grpSp>
      <p:grpSp>
        <p:nvGrpSpPr>
          <p:cNvPr id="3285" name="Google Shape;3285;p53"/>
          <p:cNvGrpSpPr/>
          <p:nvPr/>
        </p:nvGrpSpPr>
        <p:grpSpPr>
          <a:xfrm>
            <a:off x="7255489" y="607842"/>
            <a:ext cx="2491388" cy="1475790"/>
            <a:chOff x="7255489" y="607842"/>
            <a:chExt cx="2491388" cy="1475790"/>
          </a:xfrm>
        </p:grpSpPr>
        <p:sp>
          <p:nvSpPr>
            <p:cNvPr id="3286" name="Google Shape;3286;p53"/>
            <p:cNvSpPr txBox="1"/>
            <p:nvPr/>
          </p:nvSpPr>
          <p:spPr>
            <a:xfrm>
              <a:off x="7255489" y="607842"/>
              <a:ext cx="249138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 223.1.1.0/24</a:t>
              </a:r>
              <a:endParaRPr/>
            </a:p>
          </p:txBody>
        </p:sp>
        <p:cxnSp>
          <p:nvCxnSpPr>
            <p:cNvPr id="3287" name="Google Shape;3287;p53"/>
            <p:cNvCxnSpPr/>
            <p:nvPr/>
          </p:nvCxnSpPr>
          <p:spPr>
            <a:xfrm>
              <a:off x="8289561" y="944379"/>
              <a:ext cx="0" cy="1139253"/>
            </a:xfrm>
            <a:prstGeom prst="straightConnector1">
              <a:avLst/>
            </a:prstGeom>
            <a:noFill/>
            <a:ln cap="flat" cmpd="sng" w="19050">
              <a:solidFill>
                <a:srgbClr val="C00000"/>
              </a:solidFill>
              <a:prstDash val="solid"/>
              <a:miter lim="800000"/>
              <a:headEnd len="sm" w="sm" type="none"/>
              <a:tailEnd len="sm" w="sm" type="none"/>
            </a:ln>
          </p:spPr>
        </p:cxnSp>
      </p:grpSp>
      <p:grpSp>
        <p:nvGrpSpPr>
          <p:cNvPr id="3288" name="Google Shape;3288;p53"/>
          <p:cNvGrpSpPr/>
          <p:nvPr/>
        </p:nvGrpSpPr>
        <p:grpSpPr>
          <a:xfrm>
            <a:off x="9531133" y="1000631"/>
            <a:ext cx="2491388" cy="1475243"/>
            <a:chOff x="9531133" y="1000631"/>
            <a:chExt cx="2491388" cy="1475243"/>
          </a:xfrm>
        </p:grpSpPr>
        <p:sp>
          <p:nvSpPr>
            <p:cNvPr id="3289" name="Google Shape;3289;p53"/>
            <p:cNvSpPr txBox="1"/>
            <p:nvPr/>
          </p:nvSpPr>
          <p:spPr>
            <a:xfrm>
              <a:off x="9531133" y="1000631"/>
              <a:ext cx="249138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subnet 223.1.2.0/24</a:t>
              </a:r>
              <a:endParaRPr/>
            </a:p>
          </p:txBody>
        </p:sp>
        <p:cxnSp>
          <p:nvCxnSpPr>
            <p:cNvPr id="3290" name="Google Shape;3290;p53"/>
            <p:cNvCxnSpPr/>
            <p:nvPr/>
          </p:nvCxnSpPr>
          <p:spPr>
            <a:xfrm>
              <a:off x="10630525" y="1336621"/>
              <a:ext cx="0" cy="1139253"/>
            </a:xfrm>
            <a:prstGeom prst="straightConnector1">
              <a:avLst/>
            </a:prstGeom>
            <a:noFill/>
            <a:ln cap="flat" cmpd="sng" w="19050">
              <a:solidFill>
                <a:srgbClr val="C00000"/>
              </a:solidFill>
              <a:prstDash val="solid"/>
              <a:miter lim="800000"/>
              <a:headEnd len="sm" w="sm" type="none"/>
              <a:tailEnd len="sm" w="sm" type="none"/>
            </a:ln>
          </p:spPr>
        </p:cxnSp>
      </p:grpSp>
      <p:sp>
        <p:nvSpPr>
          <p:cNvPr id="3291" name="Google Shape;3291;p5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251"/>
                                        </p:tgtEl>
                                      </p:cBhvr>
                                    </p:animEffect>
                                    <p:set>
                                      <p:cBhvr>
                                        <p:cTn dur="1" fill="hold">
                                          <p:stCondLst>
                                            <p:cond delay="500"/>
                                          </p:stCondLst>
                                        </p:cTn>
                                        <p:tgtEl>
                                          <p:spTgt spid="32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2"/>
                                        </p:tgtEl>
                                        <p:attrNameLst>
                                          <p:attrName>style.visibility</p:attrName>
                                        </p:attrNameLst>
                                      </p:cBhvr>
                                      <p:to>
                                        <p:strVal val="visible"/>
                                      </p:to>
                                    </p:set>
                                    <p:animEffect filter="fade" transition="in">
                                      <p:cBhvr>
                                        <p:cTn dur="500"/>
                                        <p:tgtEl>
                                          <p:spTgt spid="3282"/>
                                        </p:tgtEl>
                                      </p:cBhvr>
                                    </p:animEffect>
                                  </p:childTnLst>
                                </p:cTn>
                              </p:par>
                              <p:par>
                                <p:cTn fill="hold" nodeType="withEffect" presetClass="entr" presetID="10" presetSubtype="0">
                                  <p:stCondLst>
                                    <p:cond delay="0"/>
                                  </p:stCondLst>
                                  <p:childTnLst>
                                    <p:set>
                                      <p:cBhvr>
                                        <p:cTn dur="1" fill="hold">
                                          <p:stCondLst>
                                            <p:cond delay="0"/>
                                          </p:stCondLst>
                                        </p:cTn>
                                        <p:tgtEl>
                                          <p:spTgt spid="3281"/>
                                        </p:tgtEl>
                                        <p:attrNameLst>
                                          <p:attrName>style.visibility</p:attrName>
                                        </p:attrNameLst>
                                      </p:cBhvr>
                                      <p:to>
                                        <p:strVal val="visible"/>
                                      </p:to>
                                    </p:set>
                                    <p:animEffect filter="fade" transition="in">
                                      <p:cBhvr>
                                        <p:cTn dur="500"/>
                                        <p:tgtEl>
                                          <p:spTgt spid="3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5"/>
                                        </p:tgtEl>
                                        <p:attrNameLst>
                                          <p:attrName>style.visibility</p:attrName>
                                        </p:attrNameLst>
                                      </p:cBhvr>
                                      <p:to>
                                        <p:strVal val="visible"/>
                                      </p:to>
                                    </p:set>
                                    <p:animEffect filter="fade" transition="in">
                                      <p:cBhvr>
                                        <p:cTn dur="500"/>
                                        <p:tgtEl>
                                          <p:spTgt spid="3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8"/>
                                        </p:tgtEl>
                                        <p:attrNameLst>
                                          <p:attrName>style.visibility</p:attrName>
                                        </p:attrNameLst>
                                      </p:cBhvr>
                                      <p:to>
                                        <p:strVal val="visible"/>
                                      </p:to>
                                    </p:set>
                                    <p:animEffect filter="fade" transition="in">
                                      <p:cBhvr>
                                        <p:cTn dur="500"/>
                                        <p:tgtEl>
                                          <p:spTgt spid="3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6" name="Shape 3296"/>
        <p:cNvGrpSpPr/>
        <p:nvPr/>
      </p:nvGrpSpPr>
      <p:grpSpPr>
        <a:xfrm>
          <a:off x="0" y="0"/>
          <a:ext cx="0" cy="0"/>
          <a:chOff x="0" y="0"/>
          <a:chExt cx="0" cy="0"/>
        </a:xfrm>
      </p:grpSpPr>
      <p:sp>
        <p:nvSpPr>
          <p:cNvPr id="3297" name="Google Shape;3297;p54"/>
          <p:cNvSpPr txBox="1"/>
          <p:nvPr>
            <p:ph type="title"/>
          </p:nvPr>
        </p:nvSpPr>
        <p:spPr>
          <a:xfrm>
            <a:off x="838200" y="311144"/>
            <a:ext cx="364385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Subnets</a:t>
            </a:r>
            <a:endParaRPr/>
          </a:p>
        </p:txBody>
      </p:sp>
      <p:sp>
        <p:nvSpPr>
          <p:cNvPr id="3298" name="Google Shape;3298;p54"/>
          <p:cNvSpPr txBox="1"/>
          <p:nvPr/>
        </p:nvSpPr>
        <p:spPr>
          <a:xfrm>
            <a:off x="1015714" y="1485533"/>
            <a:ext cx="2992759" cy="2827014"/>
          </a:xfrm>
          <a:prstGeom prst="rect">
            <a:avLst/>
          </a:prstGeom>
          <a:noFill/>
          <a:ln>
            <a:noFill/>
          </a:ln>
        </p:spPr>
        <p:txBody>
          <a:bodyPr anchorCtr="0" anchor="t" bIns="45700" lIns="91425" spcFirstLastPara="1" rIns="91425" wrap="square" tIns="45700">
            <a:normAutofit/>
          </a:bodyPr>
          <a:lstStyle/>
          <a:p>
            <a:pPr indent="-342900" lvl="0" marL="4730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where are the subnets?</a:t>
            </a:r>
            <a:endParaRPr/>
          </a:p>
          <a:p>
            <a:pPr indent="-342900" lvl="0" marL="4730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what are the /24 subnet addresses?</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299" name="Google Shape;3299;p54"/>
          <p:cNvSpPr/>
          <p:nvPr/>
        </p:nvSpPr>
        <p:spPr>
          <a:xfrm>
            <a:off x="7898119" y="2985309"/>
            <a:ext cx="1268413" cy="1463675"/>
          </a:xfrm>
          <a:custGeom>
            <a:rect b="b" l="l" r="r" t="t"/>
            <a:pathLst>
              <a:path extrusionOk="0" h="922" w="799">
                <a:moveTo>
                  <a:pt x="6" y="66"/>
                </a:moveTo>
                <a:cubicBezTo>
                  <a:pt x="13" y="117"/>
                  <a:pt x="234" y="314"/>
                  <a:pt x="341" y="446"/>
                </a:cubicBezTo>
                <a:cubicBezTo>
                  <a:pt x="448" y="578"/>
                  <a:pt x="577" y="794"/>
                  <a:pt x="648" y="858"/>
                </a:cubicBezTo>
                <a:cubicBezTo>
                  <a:pt x="719" y="922"/>
                  <a:pt x="799" y="912"/>
                  <a:pt x="768" y="828"/>
                </a:cubicBezTo>
                <a:cubicBezTo>
                  <a:pt x="737" y="744"/>
                  <a:pt x="581" y="492"/>
                  <a:pt x="463" y="354"/>
                </a:cubicBezTo>
                <a:cubicBezTo>
                  <a:pt x="345" y="216"/>
                  <a:pt x="136" y="48"/>
                  <a:pt x="60" y="0"/>
                </a:cubicBezTo>
                <a:cubicBezTo>
                  <a:pt x="25" y="47"/>
                  <a:pt x="0" y="15"/>
                  <a:pt x="6" y="6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0" name="Google Shape;3300;p54"/>
          <p:cNvSpPr/>
          <p:nvPr/>
        </p:nvSpPr>
        <p:spPr>
          <a:xfrm>
            <a:off x="6699842" y="4496609"/>
            <a:ext cx="2098623" cy="361221"/>
          </a:xfrm>
          <a:custGeom>
            <a:rect b="b" l="l" r="r" t="t"/>
            <a:pathLst>
              <a:path extrusionOk="0" h="206" w="1422">
                <a:moveTo>
                  <a:pt x="42" y="176"/>
                </a:moveTo>
                <a:cubicBezTo>
                  <a:pt x="84" y="206"/>
                  <a:pt x="437" y="167"/>
                  <a:pt x="641" y="166"/>
                </a:cubicBezTo>
                <a:cubicBezTo>
                  <a:pt x="845" y="165"/>
                  <a:pt x="1153" y="192"/>
                  <a:pt x="1266" y="170"/>
                </a:cubicBezTo>
                <a:cubicBezTo>
                  <a:pt x="1379" y="148"/>
                  <a:pt x="1422" y="58"/>
                  <a:pt x="1320" y="32"/>
                </a:cubicBezTo>
                <a:cubicBezTo>
                  <a:pt x="1218" y="6"/>
                  <a:pt x="869" y="15"/>
                  <a:pt x="657" y="14"/>
                </a:cubicBezTo>
                <a:cubicBezTo>
                  <a:pt x="445" y="13"/>
                  <a:pt x="147" y="0"/>
                  <a:pt x="45" y="27"/>
                </a:cubicBezTo>
                <a:cubicBezTo>
                  <a:pt x="56" y="84"/>
                  <a:pt x="0" y="146"/>
                  <a:pt x="42" y="17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1" name="Google Shape;3301;p54"/>
          <p:cNvSpPr/>
          <p:nvPr/>
        </p:nvSpPr>
        <p:spPr>
          <a:xfrm>
            <a:off x="6345544" y="2909109"/>
            <a:ext cx="1158875" cy="1547813"/>
          </a:xfrm>
          <a:custGeom>
            <a:rect b="b" l="l" r="r" t="t"/>
            <a:pathLst>
              <a:path extrusionOk="0" h="975" w="730">
                <a:moveTo>
                  <a:pt x="157" y="952"/>
                </a:moveTo>
                <a:cubicBezTo>
                  <a:pt x="272" y="930"/>
                  <a:pt x="357" y="644"/>
                  <a:pt x="462" y="498"/>
                </a:cubicBezTo>
                <a:cubicBezTo>
                  <a:pt x="554" y="363"/>
                  <a:pt x="686" y="220"/>
                  <a:pt x="708" y="144"/>
                </a:cubicBezTo>
                <a:cubicBezTo>
                  <a:pt x="730" y="68"/>
                  <a:pt x="654" y="0"/>
                  <a:pt x="594" y="42"/>
                </a:cubicBezTo>
                <a:cubicBezTo>
                  <a:pt x="534" y="84"/>
                  <a:pt x="447" y="253"/>
                  <a:pt x="348" y="396"/>
                </a:cubicBezTo>
                <a:cubicBezTo>
                  <a:pt x="249" y="539"/>
                  <a:pt x="32" y="807"/>
                  <a:pt x="0" y="900"/>
                </a:cubicBezTo>
                <a:cubicBezTo>
                  <a:pt x="53" y="924"/>
                  <a:pt x="43" y="975"/>
                  <a:pt x="157" y="952"/>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02" name="Google Shape;3302;p54"/>
          <p:cNvSpPr/>
          <p:nvPr/>
        </p:nvSpPr>
        <p:spPr>
          <a:xfrm rot="5265760">
            <a:off x="7334817" y="866004"/>
            <a:ext cx="1078238" cy="216217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03" name="Google Shape;3303;p54"/>
          <p:cNvCxnSpPr/>
          <p:nvPr/>
        </p:nvCxnSpPr>
        <p:spPr>
          <a:xfrm flipH="1">
            <a:off x="7639357" y="1956609"/>
            <a:ext cx="3175" cy="592138"/>
          </a:xfrm>
          <a:prstGeom prst="straightConnector1">
            <a:avLst/>
          </a:prstGeom>
          <a:noFill/>
          <a:ln cap="flat" cmpd="sng" w="19050">
            <a:solidFill>
              <a:schemeClr val="dk1"/>
            </a:solidFill>
            <a:prstDash val="solid"/>
            <a:round/>
            <a:headEnd len="med" w="med" type="none"/>
            <a:tailEnd len="med" w="med" type="none"/>
          </a:ln>
        </p:spPr>
      </p:cxnSp>
      <p:sp>
        <p:nvSpPr>
          <p:cNvPr id="3304" name="Google Shape;3304;p54"/>
          <p:cNvSpPr txBox="1"/>
          <p:nvPr/>
        </p:nvSpPr>
        <p:spPr>
          <a:xfrm>
            <a:off x="6099456" y="140389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223.1.1.1</a:t>
            </a:r>
            <a:endParaRPr b="0" i="0" sz="1800" u="none" cap="none" strike="noStrike">
              <a:solidFill>
                <a:srgbClr val="000000"/>
              </a:solidFill>
              <a:latin typeface="Calibri"/>
              <a:ea typeface="Calibri"/>
              <a:cs typeface="Calibri"/>
              <a:sym typeface="Calibri"/>
            </a:endParaRPr>
          </a:p>
        </p:txBody>
      </p:sp>
      <p:sp>
        <p:nvSpPr>
          <p:cNvPr id="3305" name="Google Shape;3305;p54"/>
          <p:cNvSpPr/>
          <p:nvPr/>
        </p:nvSpPr>
        <p:spPr>
          <a:xfrm>
            <a:off x="7474572" y="2218547"/>
            <a:ext cx="309562"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06" name="Google Shape;3306;p54"/>
          <p:cNvSpPr txBox="1"/>
          <p:nvPr/>
        </p:nvSpPr>
        <p:spPr>
          <a:xfrm>
            <a:off x="7211846" y="2127679"/>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223.1.1.3</a:t>
            </a:r>
            <a:endParaRPr b="0" i="0" sz="1800" u="none" cap="none" strike="noStrike">
              <a:solidFill>
                <a:srgbClr val="000000"/>
              </a:solidFill>
              <a:latin typeface="Calibri"/>
              <a:ea typeface="Calibri"/>
              <a:cs typeface="Calibri"/>
              <a:sym typeface="Calibri"/>
            </a:endParaRPr>
          </a:p>
        </p:txBody>
      </p:sp>
      <p:sp>
        <p:nvSpPr>
          <p:cNvPr id="3307" name="Google Shape;3307;p54"/>
          <p:cNvSpPr txBox="1"/>
          <p:nvPr/>
        </p:nvSpPr>
        <p:spPr>
          <a:xfrm>
            <a:off x="8486925" y="1514459"/>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223.1.1.4</a:t>
            </a:r>
            <a:endParaRPr b="0" i="0" sz="1800" u="none" cap="none" strike="noStrike">
              <a:solidFill>
                <a:srgbClr val="000000"/>
              </a:solidFill>
              <a:latin typeface="Calibri"/>
              <a:ea typeface="Calibri"/>
              <a:cs typeface="Calibri"/>
              <a:sym typeface="Calibri"/>
            </a:endParaRPr>
          </a:p>
        </p:txBody>
      </p:sp>
      <p:sp>
        <p:nvSpPr>
          <p:cNvPr id="3308" name="Google Shape;3308;p54"/>
          <p:cNvSpPr/>
          <p:nvPr/>
        </p:nvSpPr>
        <p:spPr>
          <a:xfrm>
            <a:off x="5405744" y="4847609"/>
            <a:ext cx="1539875" cy="1070265"/>
          </a:xfrm>
          <a:custGeom>
            <a:rect b="b" l="l" r="r" t="t"/>
            <a:pathLst>
              <a:path extrusionOk="0" h="939" w="970">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09" name="Google Shape;3309;p54"/>
          <p:cNvCxnSpPr/>
          <p:nvPr/>
        </p:nvCxnSpPr>
        <p:spPr>
          <a:xfrm>
            <a:off x="6161394" y="4833159"/>
            <a:ext cx="7938" cy="561975"/>
          </a:xfrm>
          <a:prstGeom prst="straightConnector1">
            <a:avLst/>
          </a:prstGeom>
          <a:noFill/>
          <a:ln cap="flat" cmpd="sng" w="19050">
            <a:solidFill>
              <a:schemeClr val="dk1"/>
            </a:solidFill>
            <a:prstDash val="solid"/>
            <a:round/>
            <a:headEnd len="med" w="med" type="none"/>
            <a:tailEnd len="med" w="med" type="none"/>
          </a:ln>
        </p:spPr>
      </p:cxnSp>
      <p:sp>
        <p:nvSpPr>
          <p:cNvPr id="3310" name="Google Shape;3310;p54"/>
          <p:cNvSpPr txBox="1"/>
          <p:nvPr/>
        </p:nvSpPr>
        <p:spPr>
          <a:xfrm>
            <a:off x="6523633" y="5561966"/>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223.1.2.2</a:t>
            </a:r>
            <a:endParaRPr b="0" i="0" sz="1800" u="none" cap="none" strike="noStrike">
              <a:solidFill>
                <a:srgbClr val="000000"/>
              </a:solidFill>
              <a:latin typeface="Calibri"/>
              <a:ea typeface="Calibri"/>
              <a:cs typeface="Calibri"/>
              <a:sym typeface="Calibri"/>
            </a:endParaRPr>
          </a:p>
        </p:txBody>
      </p:sp>
      <p:sp>
        <p:nvSpPr>
          <p:cNvPr id="3311" name="Google Shape;3311;p54"/>
          <p:cNvSpPr/>
          <p:nvPr/>
        </p:nvSpPr>
        <p:spPr>
          <a:xfrm>
            <a:off x="6109914" y="4958572"/>
            <a:ext cx="128587"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2" name="Google Shape;3312;p54"/>
          <p:cNvSpPr txBox="1"/>
          <p:nvPr/>
        </p:nvSpPr>
        <p:spPr>
          <a:xfrm>
            <a:off x="5577277" y="487598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223.1.2.6</a:t>
            </a:r>
            <a:endParaRPr b="0" i="0" sz="1800" u="none" cap="none" strike="noStrike">
              <a:solidFill>
                <a:srgbClr val="000000"/>
              </a:solidFill>
              <a:latin typeface="Calibri"/>
              <a:ea typeface="Calibri"/>
              <a:cs typeface="Calibri"/>
              <a:sym typeface="Calibri"/>
            </a:endParaRPr>
          </a:p>
        </p:txBody>
      </p:sp>
      <p:sp>
        <p:nvSpPr>
          <p:cNvPr id="3313" name="Google Shape;3313;p54"/>
          <p:cNvSpPr/>
          <p:nvPr/>
        </p:nvSpPr>
        <p:spPr>
          <a:xfrm>
            <a:off x="8423582" y="4858944"/>
            <a:ext cx="1539875" cy="1129777"/>
          </a:xfrm>
          <a:custGeom>
            <a:rect b="b" l="l" r="r" t="t"/>
            <a:pathLst>
              <a:path extrusionOk="0" h="939" w="970">
                <a:moveTo>
                  <a:pt x="451" y="41"/>
                </a:moveTo>
                <a:cubicBezTo>
                  <a:pt x="415" y="47"/>
                  <a:pt x="452" y="358"/>
                  <a:pt x="388" y="431"/>
                </a:cubicBezTo>
                <a:cubicBezTo>
                  <a:pt x="324" y="504"/>
                  <a:pt x="128" y="419"/>
                  <a:pt x="64" y="479"/>
                </a:cubicBezTo>
                <a:cubicBezTo>
                  <a:pt x="0" y="539"/>
                  <a:pt x="1" y="718"/>
                  <a:pt x="7" y="791"/>
                </a:cubicBezTo>
                <a:cubicBezTo>
                  <a:pt x="13" y="864"/>
                  <a:pt x="31" y="901"/>
                  <a:pt x="100" y="920"/>
                </a:cubicBezTo>
                <a:cubicBezTo>
                  <a:pt x="169" y="939"/>
                  <a:pt x="329" y="908"/>
                  <a:pt x="421" y="905"/>
                </a:cubicBezTo>
                <a:cubicBezTo>
                  <a:pt x="513" y="902"/>
                  <a:pt x="572" y="913"/>
                  <a:pt x="652" y="905"/>
                </a:cubicBezTo>
                <a:cubicBezTo>
                  <a:pt x="732" y="897"/>
                  <a:pt x="860" y="929"/>
                  <a:pt x="904" y="857"/>
                </a:cubicBezTo>
                <a:cubicBezTo>
                  <a:pt x="948" y="785"/>
                  <a:pt x="970" y="542"/>
                  <a:pt x="916" y="473"/>
                </a:cubicBezTo>
                <a:cubicBezTo>
                  <a:pt x="862" y="404"/>
                  <a:pt x="645" y="511"/>
                  <a:pt x="580" y="443"/>
                </a:cubicBezTo>
                <a:cubicBezTo>
                  <a:pt x="515" y="375"/>
                  <a:pt x="534" y="130"/>
                  <a:pt x="526" y="65"/>
                </a:cubicBezTo>
                <a:cubicBezTo>
                  <a:pt x="518" y="0"/>
                  <a:pt x="542" y="57"/>
                  <a:pt x="529" y="53"/>
                </a:cubicBezTo>
                <a:cubicBezTo>
                  <a:pt x="520" y="26"/>
                  <a:pt x="487" y="35"/>
                  <a:pt x="451" y="4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314" name="Google Shape;3314;p54"/>
          <p:cNvCxnSpPr/>
          <p:nvPr/>
        </p:nvCxnSpPr>
        <p:spPr>
          <a:xfrm>
            <a:off x="9190344" y="4852209"/>
            <a:ext cx="1588" cy="520700"/>
          </a:xfrm>
          <a:prstGeom prst="straightConnector1">
            <a:avLst/>
          </a:prstGeom>
          <a:noFill/>
          <a:ln cap="flat" cmpd="sng" w="19050">
            <a:solidFill>
              <a:schemeClr val="dk1"/>
            </a:solidFill>
            <a:prstDash val="solid"/>
            <a:round/>
            <a:headEnd len="med" w="med" type="none"/>
            <a:tailEnd len="med" w="med" type="none"/>
          </a:ln>
        </p:spPr>
      </p:cxnSp>
      <p:sp>
        <p:nvSpPr>
          <p:cNvPr id="3315" name="Google Shape;3315;p54"/>
          <p:cNvSpPr txBox="1"/>
          <p:nvPr/>
        </p:nvSpPr>
        <p:spPr>
          <a:xfrm>
            <a:off x="9708446" y="575766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223.1.3.2</a:t>
            </a:r>
            <a:endParaRPr b="0" i="0" sz="1800" u="none" cap="none" strike="noStrike">
              <a:solidFill>
                <a:srgbClr val="000000"/>
              </a:solidFill>
              <a:latin typeface="Calibri"/>
              <a:ea typeface="Calibri"/>
              <a:cs typeface="Calibri"/>
              <a:sym typeface="Calibri"/>
            </a:endParaRPr>
          </a:p>
        </p:txBody>
      </p:sp>
      <p:sp>
        <p:nvSpPr>
          <p:cNvPr id="3316" name="Google Shape;3316;p54"/>
          <p:cNvSpPr txBox="1"/>
          <p:nvPr/>
        </p:nvSpPr>
        <p:spPr>
          <a:xfrm>
            <a:off x="7937662" y="5659381"/>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223.1.3.1</a:t>
            </a:r>
            <a:endParaRPr b="0" i="0" sz="1800" u="none" cap="none" strike="noStrike">
              <a:solidFill>
                <a:srgbClr val="000000"/>
              </a:solidFill>
              <a:latin typeface="Calibri"/>
              <a:ea typeface="Calibri"/>
              <a:cs typeface="Calibri"/>
              <a:sym typeface="Calibri"/>
            </a:endParaRPr>
          </a:p>
        </p:txBody>
      </p:sp>
      <p:sp>
        <p:nvSpPr>
          <p:cNvPr id="3317" name="Google Shape;3317;p54"/>
          <p:cNvSpPr/>
          <p:nvPr/>
        </p:nvSpPr>
        <p:spPr>
          <a:xfrm>
            <a:off x="9131607" y="4952222"/>
            <a:ext cx="128587" cy="180975"/>
          </a:xfrm>
          <a:prstGeom prst="rect">
            <a:avLst/>
          </a:pr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8" name="Google Shape;3318;p54"/>
          <p:cNvSpPr txBox="1"/>
          <p:nvPr/>
        </p:nvSpPr>
        <p:spPr>
          <a:xfrm>
            <a:off x="8621888" y="4864398"/>
            <a:ext cx="106792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223.1.3.27</a:t>
            </a:r>
            <a:endParaRPr b="0" i="0" sz="1800" u="none" cap="none" strike="noStrike">
              <a:solidFill>
                <a:srgbClr val="000000"/>
              </a:solidFill>
              <a:latin typeface="Calibri"/>
              <a:ea typeface="Calibri"/>
              <a:cs typeface="Calibri"/>
              <a:sym typeface="Calibri"/>
            </a:endParaRPr>
          </a:p>
        </p:txBody>
      </p:sp>
      <p:sp>
        <p:nvSpPr>
          <p:cNvPr id="3319" name="Google Shape;3319;p54"/>
          <p:cNvSpPr txBox="1"/>
          <p:nvPr/>
        </p:nvSpPr>
        <p:spPr>
          <a:xfrm>
            <a:off x="7401232" y="55823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223.1.1.2</a:t>
            </a:r>
            <a:endParaRPr/>
          </a:p>
        </p:txBody>
      </p:sp>
      <p:cxnSp>
        <p:nvCxnSpPr>
          <p:cNvPr id="3320" name="Google Shape;3320;p54"/>
          <p:cNvCxnSpPr/>
          <p:nvPr/>
        </p:nvCxnSpPr>
        <p:spPr>
          <a:xfrm flipH="1" rot="10800000">
            <a:off x="6374119" y="2928159"/>
            <a:ext cx="1114425" cy="1543050"/>
          </a:xfrm>
          <a:prstGeom prst="straightConnector1">
            <a:avLst/>
          </a:prstGeom>
          <a:noFill/>
          <a:ln cap="flat" cmpd="sng" w="28575">
            <a:solidFill>
              <a:schemeClr val="dk1"/>
            </a:solidFill>
            <a:prstDash val="solid"/>
            <a:round/>
            <a:headEnd len="med" w="med" type="none"/>
            <a:tailEnd len="med" w="med" type="none"/>
          </a:ln>
        </p:spPr>
      </p:cxnSp>
      <p:cxnSp>
        <p:nvCxnSpPr>
          <p:cNvPr id="3321" name="Google Shape;3321;p54"/>
          <p:cNvCxnSpPr/>
          <p:nvPr/>
        </p:nvCxnSpPr>
        <p:spPr>
          <a:xfrm rot="10800000">
            <a:off x="7888594" y="2909109"/>
            <a:ext cx="1276350" cy="1543050"/>
          </a:xfrm>
          <a:prstGeom prst="straightConnector1">
            <a:avLst/>
          </a:prstGeom>
          <a:noFill/>
          <a:ln cap="flat" cmpd="sng" w="28575">
            <a:solidFill>
              <a:schemeClr val="dk1"/>
            </a:solidFill>
            <a:prstDash val="solid"/>
            <a:round/>
            <a:headEnd len="med" w="med" type="none"/>
            <a:tailEnd len="med" w="med" type="none"/>
          </a:ln>
        </p:spPr>
      </p:cxnSp>
      <p:cxnSp>
        <p:nvCxnSpPr>
          <p:cNvPr id="3322" name="Google Shape;3322;p54"/>
          <p:cNvCxnSpPr/>
          <p:nvPr/>
        </p:nvCxnSpPr>
        <p:spPr>
          <a:xfrm rot="10800000">
            <a:off x="6564619" y="4671234"/>
            <a:ext cx="2305050" cy="9525"/>
          </a:xfrm>
          <a:prstGeom prst="straightConnector1">
            <a:avLst/>
          </a:prstGeom>
          <a:noFill/>
          <a:ln cap="flat" cmpd="sng" w="28575">
            <a:solidFill>
              <a:schemeClr val="dk1"/>
            </a:solidFill>
            <a:prstDash val="solid"/>
            <a:round/>
            <a:headEnd len="med" w="med" type="none"/>
            <a:tailEnd len="med" w="med" type="none"/>
          </a:ln>
        </p:spPr>
      </p:cxnSp>
      <p:sp>
        <p:nvSpPr>
          <p:cNvPr id="3323" name="Google Shape;3323;p54"/>
          <p:cNvSpPr txBox="1"/>
          <p:nvPr/>
        </p:nvSpPr>
        <p:spPr>
          <a:xfrm>
            <a:off x="7967969" y="282179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223.1.7.0</a:t>
            </a:r>
            <a:endParaRPr b="0" i="0" sz="1800" u="none" cap="none" strike="noStrike">
              <a:solidFill>
                <a:srgbClr val="000000"/>
              </a:solidFill>
              <a:latin typeface="Calibri"/>
              <a:ea typeface="Calibri"/>
              <a:cs typeface="Calibri"/>
              <a:sym typeface="Calibri"/>
            </a:endParaRPr>
          </a:p>
        </p:txBody>
      </p:sp>
      <p:sp>
        <p:nvSpPr>
          <p:cNvPr id="3324" name="Google Shape;3324;p54"/>
          <p:cNvSpPr txBox="1"/>
          <p:nvPr/>
        </p:nvSpPr>
        <p:spPr>
          <a:xfrm>
            <a:off x="9044294" y="410767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223.1.7.1</a:t>
            </a:r>
            <a:endParaRPr b="0" i="0" sz="1800" u="none" cap="none" strike="noStrike">
              <a:solidFill>
                <a:srgbClr val="000000"/>
              </a:solidFill>
              <a:latin typeface="Calibri"/>
              <a:ea typeface="Calibri"/>
              <a:cs typeface="Calibri"/>
              <a:sym typeface="Calibri"/>
            </a:endParaRPr>
          </a:p>
        </p:txBody>
      </p:sp>
      <p:sp>
        <p:nvSpPr>
          <p:cNvPr id="3325" name="Google Shape;3325;p54"/>
          <p:cNvSpPr txBox="1"/>
          <p:nvPr/>
        </p:nvSpPr>
        <p:spPr>
          <a:xfrm>
            <a:off x="7806044" y="436484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223.1.8.0</a:t>
            </a:r>
            <a:endParaRPr b="0" i="0" sz="1800" u="none" cap="none" strike="noStrike">
              <a:solidFill>
                <a:srgbClr val="000000"/>
              </a:solidFill>
              <a:latin typeface="Calibri"/>
              <a:ea typeface="Calibri"/>
              <a:cs typeface="Calibri"/>
              <a:sym typeface="Calibri"/>
            </a:endParaRPr>
          </a:p>
        </p:txBody>
      </p:sp>
      <p:sp>
        <p:nvSpPr>
          <p:cNvPr id="3326" name="Google Shape;3326;p54"/>
          <p:cNvSpPr txBox="1"/>
          <p:nvPr/>
        </p:nvSpPr>
        <p:spPr>
          <a:xfrm>
            <a:off x="6558269" y="4364847"/>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223.1.8.1</a:t>
            </a:r>
            <a:endParaRPr b="0" i="0" sz="1800" u="none" cap="none" strike="noStrike">
              <a:solidFill>
                <a:srgbClr val="000000"/>
              </a:solidFill>
              <a:latin typeface="Calibri"/>
              <a:ea typeface="Calibri"/>
              <a:cs typeface="Calibri"/>
              <a:sym typeface="Calibri"/>
            </a:endParaRPr>
          </a:p>
        </p:txBody>
      </p:sp>
      <p:sp>
        <p:nvSpPr>
          <p:cNvPr id="3327" name="Google Shape;3327;p54"/>
          <p:cNvSpPr txBox="1"/>
          <p:nvPr/>
        </p:nvSpPr>
        <p:spPr>
          <a:xfrm>
            <a:off x="5481944" y="406957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223.1.9.1</a:t>
            </a:r>
            <a:endParaRPr b="0" i="0" sz="1800" u="none" cap="none" strike="noStrike">
              <a:solidFill>
                <a:srgbClr val="000000"/>
              </a:solidFill>
              <a:latin typeface="Calibri"/>
              <a:ea typeface="Calibri"/>
              <a:cs typeface="Calibri"/>
              <a:sym typeface="Calibri"/>
            </a:endParaRPr>
          </a:p>
        </p:txBody>
      </p:sp>
      <p:sp>
        <p:nvSpPr>
          <p:cNvPr id="3328" name="Google Shape;3328;p54"/>
          <p:cNvSpPr txBox="1"/>
          <p:nvPr/>
        </p:nvSpPr>
        <p:spPr>
          <a:xfrm>
            <a:off x="6348719" y="2831322"/>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223.1.9.2</a:t>
            </a:r>
            <a:endParaRPr b="0" i="0" sz="1800" u="none" cap="none" strike="noStrike">
              <a:solidFill>
                <a:srgbClr val="000000"/>
              </a:solidFill>
              <a:latin typeface="Calibri"/>
              <a:ea typeface="Calibri"/>
              <a:cs typeface="Calibri"/>
              <a:sym typeface="Calibri"/>
            </a:endParaRPr>
          </a:p>
        </p:txBody>
      </p:sp>
      <p:cxnSp>
        <p:nvCxnSpPr>
          <p:cNvPr id="3329" name="Google Shape;3329;p54"/>
          <p:cNvCxnSpPr/>
          <p:nvPr/>
        </p:nvCxnSpPr>
        <p:spPr>
          <a:xfrm>
            <a:off x="7907727" y="1333593"/>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0" name="Google Shape;3330;p54"/>
          <p:cNvCxnSpPr/>
          <p:nvPr/>
        </p:nvCxnSpPr>
        <p:spPr>
          <a:xfrm>
            <a:off x="7077714" y="1391530"/>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1" name="Google Shape;3331;p54"/>
          <p:cNvCxnSpPr/>
          <p:nvPr/>
        </p:nvCxnSpPr>
        <p:spPr>
          <a:xfrm>
            <a:off x="8747817" y="1349966"/>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2" name="Google Shape;3332;p54"/>
          <p:cNvCxnSpPr/>
          <p:nvPr/>
        </p:nvCxnSpPr>
        <p:spPr>
          <a:xfrm>
            <a:off x="9721099" y="5845766"/>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3" name="Google Shape;3333;p54"/>
          <p:cNvCxnSpPr/>
          <p:nvPr/>
        </p:nvCxnSpPr>
        <p:spPr>
          <a:xfrm>
            <a:off x="8855191" y="5831911"/>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4" name="Google Shape;3334;p54"/>
          <p:cNvCxnSpPr/>
          <p:nvPr/>
        </p:nvCxnSpPr>
        <p:spPr>
          <a:xfrm>
            <a:off x="6527626" y="5717611"/>
            <a:ext cx="0" cy="222933"/>
          </a:xfrm>
          <a:prstGeom prst="straightConnector1">
            <a:avLst/>
          </a:prstGeom>
          <a:noFill/>
          <a:ln cap="flat" cmpd="sng" w="19050">
            <a:solidFill>
              <a:schemeClr val="dk1"/>
            </a:solidFill>
            <a:prstDash val="solid"/>
            <a:miter lim="800000"/>
            <a:headEnd len="sm" w="sm" type="none"/>
            <a:tailEnd len="sm" w="sm" type="none"/>
          </a:ln>
        </p:spPr>
      </p:cxnSp>
      <p:cxnSp>
        <p:nvCxnSpPr>
          <p:cNvPr id="3335" name="Google Shape;3335;p54"/>
          <p:cNvCxnSpPr/>
          <p:nvPr/>
        </p:nvCxnSpPr>
        <p:spPr>
          <a:xfrm>
            <a:off x="5734453" y="5755711"/>
            <a:ext cx="0" cy="222933"/>
          </a:xfrm>
          <a:prstGeom prst="straightConnector1">
            <a:avLst/>
          </a:prstGeom>
          <a:noFill/>
          <a:ln cap="flat" cmpd="sng" w="19050">
            <a:solidFill>
              <a:schemeClr val="dk1"/>
            </a:solidFill>
            <a:prstDash val="solid"/>
            <a:miter lim="800000"/>
            <a:headEnd len="sm" w="sm" type="none"/>
            <a:tailEnd len="sm" w="sm" type="none"/>
          </a:ln>
        </p:spPr>
      </p:cxnSp>
      <p:grpSp>
        <p:nvGrpSpPr>
          <p:cNvPr id="3336" name="Google Shape;3336;p54"/>
          <p:cNvGrpSpPr/>
          <p:nvPr/>
        </p:nvGrpSpPr>
        <p:grpSpPr>
          <a:xfrm>
            <a:off x="5269942" y="831439"/>
            <a:ext cx="4571749" cy="5747039"/>
            <a:chOff x="3921589" y="800442"/>
            <a:chExt cx="4571749" cy="5747039"/>
          </a:xfrm>
        </p:grpSpPr>
        <p:grpSp>
          <p:nvGrpSpPr>
            <p:cNvPr id="3337" name="Google Shape;3337;p54"/>
            <p:cNvGrpSpPr/>
            <p:nvPr/>
          </p:nvGrpSpPr>
          <p:grpSpPr>
            <a:xfrm>
              <a:off x="6912267" y="813299"/>
              <a:ext cx="641350" cy="558800"/>
              <a:chOff x="-44" y="1473"/>
              <a:chExt cx="981" cy="1105"/>
            </a:xfrm>
          </p:grpSpPr>
          <p:pic>
            <p:nvPicPr>
              <p:cNvPr descr="desktop_computer_stylized_medium" id="3338" name="Google Shape;3338;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39" name="Google Shape;3339;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0" name="Google Shape;3340;p54"/>
            <p:cNvGrpSpPr/>
            <p:nvPr/>
          </p:nvGrpSpPr>
          <p:grpSpPr>
            <a:xfrm>
              <a:off x="5243214" y="845876"/>
              <a:ext cx="641350" cy="558800"/>
              <a:chOff x="-44" y="1473"/>
              <a:chExt cx="981" cy="1105"/>
            </a:xfrm>
          </p:grpSpPr>
          <p:pic>
            <p:nvPicPr>
              <p:cNvPr descr="desktop_computer_stylized_medium" id="3341" name="Google Shape;3341;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42" name="Google Shape;3342;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3" name="Google Shape;3343;p54"/>
            <p:cNvGrpSpPr/>
            <p:nvPr/>
          </p:nvGrpSpPr>
          <p:grpSpPr>
            <a:xfrm>
              <a:off x="6075064" y="800442"/>
              <a:ext cx="641350" cy="558800"/>
              <a:chOff x="-44" y="1473"/>
              <a:chExt cx="981" cy="1105"/>
            </a:xfrm>
          </p:grpSpPr>
          <p:pic>
            <p:nvPicPr>
              <p:cNvPr descr="desktop_computer_stylized_medium" id="3344" name="Google Shape;3344;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45" name="Google Shape;3345;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46" name="Google Shape;3346;p54"/>
            <p:cNvGrpSpPr/>
            <p:nvPr/>
          </p:nvGrpSpPr>
          <p:grpSpPr>
            <a:xfrm>
              <a:off x="5951096" y="2488367"/>
              <a:ext cx="764498" cy="449705"/>
              <a:chOff x="7493876" y="2774731"/>
              <a:chExt cx="1481958" cy="894622"/>
            </a:xfrm>
          </p:grpSpPr>
          <p:sp>
            <p:nvSpPr>
              <p:cNvPr id="3347" name="Google Shape;3347;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48" name="Google Shape;3348;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49" name="Google Shape;3349;p54"/>
              <p:cNvGrpSpPr/>
              <p:nvPr/>
            </p:nvGrpSpPr>
            <p:grpSpPr>
              <a:xfrm>
                <a:off x="7713663" y="2848339"/>
                <a:ext cx="1042107" cy="425543"/>
                <a:chOff x="7786941" y="2884917"/>
                <a:chExt cx="897649" cy="353919"/>
              </a:xfrm>
            </p:grpSpPr>
            <p:sp>
              <p:nvSpPr>
                <p:cNvPr id="3350" name="Google Shape;3350;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1" name="Google Shape;3351;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2" name="Google Shape;3352;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3" name="Google Shape;3353;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54" name="Google Shape;3354;p54"/>
            <p:cNvGrpSpPr/>
            <p:nvPr/>
          </p:nvGrpSpPr>
          <p:grpSpPr>
            <a:xfrm>
              <a:off x="7452610" y="4364636"/>
              <a:ext cx="764498" cy="449705"/>
              <a:chOff x="7493876" y="2774731"/>
              <a:chExt cx="1481958" cy="894622"/>
            </a:xfrm>
          </p:grpSpPr>
          <p:sp>
            <p:nvSpPr>
              <p:cNvPr id="3355" name="Google Shape;3355;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56" name="Google Shape;3356;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57" name="Google Shape;3357;p54"/>
              <p:cNvGrpSpPr/>
              <p:nvPr/>
            </p:nvGrpSpPr>
            <p:grpSpPr>
              <a:xfrm>
                <a:off x="7713663" y="2848339"/>
                <a:ext cx="1042107" cy="425543"/>
                <a:chOff x="7786941" y="2884917"/>
                <a:chExt cx="897649" cy="353919"/>
              </a:xfrm>
            </p:grpSpPr>
            <p:sp>
              <p:nvSpPr>
                <p:cNvPr id="3358" name="Google Shape;3358;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59" name="Google Shape;3359;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0" name="Google Shape;3360;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1" name="Google Shape;3361;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62" name="Google Shape;3362;p54"/>
            <p:cNvGrpSpPr/>
            <p:nvPr/>
          </p:nvGrpSpPr>
          <p:grpSpPr>
            <a:xfrm>
              <a:off x="4517036" y="4382125"/>
              <a:ext cx="764498" cy="449705"/>
              <a:chOff x="7493876" y="2774731"/>
              <a:chExt cx="1481958" cy="894622"/>
            </a:xfrm>
          </p:grpSpPr>
          <p:sp>
            <p:nvSpPr>
              <p:cNvPr id="3363" name="Google Shape;3363;p5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364" name="Google Shape;3364;p5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365" name="Google Shape;3365;p54"/>
              <p:cNvGrpSpPr/>
              <p:nvPr/>
            </p:nvGrpSpPr>
            <p:grpSpPr>
              <a:xfrm>
                <a:off x="7713663" y="2848339"/>
                <a:ext cx="1042107" cy="425543"/>
                <a:chOff x="7786941" y="2884917"/>
                <a:chExt cx="897649" cy="353919"/>
              </a:xfrm>
            </p:grpSpPr>
            <p:sp>
              <p:nvSpPr>
                <p:cNvPr id="3366" name="Google Shape;3366;p5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7" name="Google Shape;3367;p5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8" name="Google Shape;3368;p5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69" name="Google Shape;3369;p5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370" name="Google Shape;3370;p54"/>
            <p:cNvGrpSpPr/>
            <p:nvPr/>
          </p:nvGrpSpPr>
          <p:grpSpPr>
            <a:xfrm>
              <a:off x="7851988" y="5988681"/>
              <a:ext cx="641350" cy="558800"/>
              <a:chOff x="-44" y="1473"/>
              <a:chExt cx="981" cy="1105"/>
            </a:xfrm>
          </p:grpSpPr>
          <p:pic>
            <p:nvPicPr>
              <p:cNvPr descr="desktop_computer_stylized_medium" id="3371" name="Google Shape;3371;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2" name="Google Shape;3372;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3" name="Google Shape;3373;p54"/>
            <p:cNvGrpSpPr/>
            <p:nvPr/>
          </p:nvGrpSpPr>
          <p:grpSpPr>
            <a:xfrm>
              <a:off x="6916190" y="5955947"/>
              <a:ext cx="641350" cy="558800"/>
              <a:chOff x="-44" y="1473"/>
              <a:chExt cx="981" cy="1105"/>
            </a:xfrm>
          </p:grpSpPr>
          <p:pic>
            <p:nvPicPr>
              <p:cNvPr descr="desktop_computer_stylized_medium" id="3374" name="Google Shape;3374;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5" name="Google Shape;3375;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6" name="Google Shape;3376;p54"/>
            <p:cNvGrpSpPr/>
            <p:nvPr/>
          </p:nvGrpSpPr>
          <p:grpSpPr>
            <a:xfrm>
              <a:off x="3921589" y="5865644"/>
              <a:ext cx="641350" cy="558800"/>
              <a:chOff x="-44" y="1473"/>
              <a:chExt cx="981" cy="1105"/>
            </a:xfrm>
          </p:grpSpPr>
          <p:pic>
            <p:nvPicPr>
              <p:cNvPr descr="desktop_computer_stylized_medium" id="3377" name="Google Shape;3377;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78" name="Google Shape;3378;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379" name="Google Shape;3379;p54"/>
            <p:cNvGrpSpPr/>
            <p:nvPr/>
          </p:nvGrpSpPr>
          <p:grpSpPr>
            <a:xfrm>
              <a:off x="4833534" y="5813400"/>
              <a:ext cx="641350" cy="558800"/>
              <a:chOff x="-44" y="1473"/>
              <a:chExt cx="981" cy="1105"/>
            </a:xfrm>
          </p:grpSpPr>
          <p:pic>
            <p:nvPicPr>
              <p:cNvPr descr="desktop_computer_stylized_medium" id="3380" name="Google Shape;3380;p5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381" name="Google Shape;3381;p5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3382" name="Google Shape;3382;p54"/>
          <p:cNvSpPr txBox="1"/>
          <p:nvPr/>
        </p:nvSpPr>
        <p:spPr>
          <a:xfrm>
            <a:off x="4790324" y="5542214"/>
            <a:ext cx="96372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223.1.2.1</a:t>
            </a:r>
            <a:endParaRPr b="0" i="0" sz="1800" u="none" cap="none" strike="noStrike">
              <a:solidFill>
                <a:srgbClr val="000000"/>
              </a:solidFill>
              <a:latin typeface="Calibri"/>
              <a:ea typeface="Calibri"/>
              <a:cs typeface="Calibri"/>
              <a:sym typeface="Calibri"/>
            </a:endParaRPr>
          </a:p>
        </p:txBody>
      </p:sp>
      <p:grpSp>
        <p:nvGrpSpPr>
          <p:cNvPr id="3383" name="Google Shape;3383;p54"/>
          <p:cNvGrpSpPr/>
          <p:nvPr/>
        </p:nvGrpSpPr>
        <p:grpSpPr>
          <a:xfrm>
            <a:off x="2970204" y="933306"/>
            <a:ext cx="9056493" cy="4702911"/>
            <a:chOff x="2970204" y="933306"/>
            <a:chExt cx="9056493" cy="4702911"/>
          </a:xfrm>
        </p:grpSpPr>
        <p:grpSp>
          <p:nvGrpSpPr>
            <p:cNvPr id="3384" name="Google Shape;3384;p54"/>
            <p:cNvGrpSpPr/>
            <p:nvPr/>
          </p:nvGrpSpPr>
          <p:grpSpPr>
            <a:xfrm>
              <a:off x="8152109" y="933306"/>
              <a:ext cx="3244327" cy="864497"/>
              <a:chOff x="6090834" y="607842"/>
              <a:chExt cx="3244327" cy="864497"/>
            </a:xfrm>
          </p:grpSpPr>
          <p:sp>
            <p:nvSpPr>
              <p:cNvPr id="3385" name="Google Shape;3385;p54"/>
              <p:cNvSpPr txBox="1"/>
              <p:nvPr/>
            </p:nvSpPr>
            <p:spPr>
              <a:xfrm>
                <a:off x="7255489" y="607842"/>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223.1.1/24</a:t>
                </a:r>
                <a:endParaRPr/>
              </a:p>
            </p:txBody>
          </p:sp>
          <p:cxnSp>
            <p:nvCxnSpPr>
              <p:cNvPr id="3386" name="Google Shape;3386;p54"/>
              <p:cNvCxnSpPr/>
              <p:nvPr/>
            </p:nvCxnSpPr>
            <p:spPr>
              <a:xfrm flipH="1">
                <a:off x="6090834" y="866887"/>
                <a:ext cx="1222333" cy="605452"/>
              </a:xfrm>
              <a:prstGeom prst="straightConnector1">
                <a:avLst/>
              </a:prstGeom>
              <a:noFill/>
              <a:ln cap="flat" cmpd="sng" w="19050">
                <a:solidFill>
                  <a:srgbClr val="C00000"/>
                </a:solidFill>
                <a:prstDash val="solid"/>
                <a:miter lim="800000"/>
                <a:headEnd len="sm" w="sm" type="none"/>
                <a:tailEnd len="sm" w="sm" type="none"/>
              </a:ln>
            </p:spPr>
          </p:cxnSp>
        </p:grpSp>
        <p:grpSp>
          <p:nvGrpSpPr>
            <p:cNvPr id="3387" name="Google Shape;3387;p54"/>
            <p:cNvGrpSpPr/>
            <p:nvPr/>
          </p:nvGrpSpPr>
          <p:grpSpPr>
            <a:xfrm>
              <a:off x="8567981" y="2945502"/>
              <a:ext cx="2717381" cy="632023"/>
              <a:chOff x="6090835" y="840316"/>
              <a:chExt cx="2717381" cy="632023"/>
            </a:xfrm>
          </p:grpSpPr>
          <p:sp>
            <p:nvSpPr>
              <p:cNvPr id="3388" name="Google Shape;3388;p54"/>
              <p:cNvSpPr txBox="1"/>
              <p:nvPr/>
            </p:nvSpPr>
            <p:spPr>
              <a:xfrm>
                <a:off x="6728544" y="840316"/>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223.1.7/24</a:t>
                </a:r>
                <a:endParaRPr/>
              </a:p>
            </p:txBody>
          </p:sp>
          <p:cxnSp>
            <p:nvCxnSpPr>
              <p:cNvPr id="3389" name="Google Shape;3389;p54"/>
              <p:cNvCxnSpPr/>
              <p:nvPr/>
            </p:nvCxnSpPr>
            <p:spPr>
              <a:xfrm flipH="1">
                <a:off x="6090835" y="1102963"/>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0" name="Google Shape;3390;p54"/>
            <p:cNvGrpSpPr/>
            <p:nvPr/>
          </p:nvGrpSpPr>
          <p:grpSpPr>
            <a:xfrm>
              <a:off x="9262822" y="5019691"/>
              <a:ext cx="2763875" cy="616526"/>
              <a:chOff x="6090835" y="855813"/>
              <a:chExt cx="2763875" cy="616526"/>
            </a:xfrm>
          </p:grpSpPr>
          <p:sp>
            <p:nvSpPr>
              <p:cNvPr id="3391" name="Google Shape;3391;p54"/>
              <p:cNvSpPr txBox="1"/>
              <p:nvPr/>
            </p:nvSpPr>
            <p:spPr>
              <a:xfrm>
                <a:off x="6775038" y="855813"/>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223.1.3/24</a:t>
                </a:r>
                <a:endParaRPr/>
              </a:p>
            </p:txBody>
          </p:sp>
          <p:cxnSp>
            <p:nvCxnSpPr>
              <p:cNvPr id="3392" name="Google Shape;3392;p54"/>
              <p:cNvCxnSpPr/>
              <p:nvPr/>
            </p:nvCxnSpPr>
            <p:spPr>
              <a:xfrm flipH="1">
                <a:off x="6090835" y="1102963"/>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3" name="Google Shape;3393;p54"/>
            <p:cNvGrpSpPr/>
            <p:nvPr/>
          </p:nvGrpSpPr>
          <p:grpSpPr>
            <a:xfrm>
              <a:off x="2970204" y="4924121"/>
              <a:ext cx="2681511" cy="616523"/>
              <a:chOff x="2350272" y="4955118"/>
              <a:chExt cx="2681511" cy="616523"/>
            </a:xfrm>
          </p:grpSpPr>
          <p:sp>
            <p:nvSpPr>
              <p:cNvPr id="3394" name="Google Shape;3394;p54"/>
              <p:cNvSpPr txBox="1"/>
              <p:nvPr/>
            </p:nvSpPr>
            <p:spPr>
              <a:xfrm>
                <a:off x="2350272" y="4955118"/>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223.1.2/24</a:t>
                </a:r>
                <a:endParaRPr/>
              </a:p>
            </p:txBody>
          </p:sp>
          <p:cxnSp>
            <p:nvCxnSpPr>
              <p:cNvPr id="3395" name="Google Shape;3395;p54"/>
              <p:cNvCxnSpPr/>
              <p:nvPr/>
            </p:nvCxnSpPr>
            <p:spPr>
              <a:xfrm>
                <a:off x="4331778" y="5202265"/>
                <a:ext cx="700005" cy="369376"/>
              </a:xfrm>
              <a:prstGeom prst="straightConnector1">
                <a:avLst/>
              </a:prstGeom>
              <a:noFill/>
              <a:ln cap="flat" cmpd="sng" w="19050">
                <a:solidFill>
                  <a:srgbClr val="C00000"/>
                </a:solidFill>
                <a:prstDash val="solid"/>
                <a:miter lim="800000"/>
                <a:headEnd len="sm" w="sm" type="none"/>
                <a:tailEnd len="sm" w="sm" type="none"/>
              </a:ln>
            </p:spPr>
          </p:cxnSp>
        </p:grpSp>
        <p:grpSp>
          <p:nvGrpSpPr>
            <p:cNvPr id="3396" name="Google Shape;3396;p54"/>
            <p:cNvGrpSpPr/>
            <p:nvPr/>
          </p:nvGrpSpPr>
          <p:grpSpPr>
            <a:xfrm>
              <a:off x="4362467" y="3185728"/>
              <a:ext cx="2495532" cy="492537"/>
              <a:chOff x="2536251" y="5079104"/>
              <a:chExt cx="2495532" cy="492537"/>
            </a:xfrm>
          </p:grpSpPr>
          <p:sp>
            <p:nvSpPr>
              <p:cNvPr id="3397" name="Google Shape;3397;p54"/>
              <p:cNvSpPr txBox="1"/>
              <p:nvPr/>
            </p:nvSpPr>
            <p:spPr>
              <a:xfrm>
                <a:off x="2536251" y="5079104"/>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223.1.9/24</a:t>
                </a:r>
                <a:endParaRPr/>
              </a:p>
            </p:txBody>
          </p:sp>
          <p:cxnSp>
            <p:nvCxnSpPr>
              <p:cNvPr id="3398" name="Google Shape;3398;p54"/>
              <p:cNvCxnSpPr/>
              <p:nvPr/>
            </p:nvCxnSpPr>
            <p:spPr>
              <a:xfrm>
                <a:off x="4559085" y="5349499"/>
                <a:ext cx="472698" cy="222142"/>
              </a:xfrm>
              <a:prstGeom prst="straightConnector1">
                <a:avLst/>
              </a:prstGeom>
              <a:noFill/>
              <a:ln cap="flat" cmpd="sng" w="19050">
                <a:solidFill>
                  <a:srgbClr val="C00000"/>
                </a:solidFill>
                <a:prstDash val="solid"/>
                <a:miter lim="800000"/>
                <a:headEnd len="sm" w="sm" type="none"/>
                <a:tailEnd len="sm" w="sm" type="none"/>
              </a:ln>
            </p:spPr>
          </p:cxnSp>
        </p:grpSp>
        <p:grpSp>
          <p:nvGrpSpPr>
            <p:cNvPr id="3399" name="Google Shape;3399;p54"/>
            <p:cNvGrpSpPr/>
            <p:nvPr/>
          </p:nvGrpSpPr>
          <p:grpSpPr>
            <a:xfrm>
              <a:off x="6605504" y="4602997"/>
              <a:ext cx="2079672" cy="648084"/>
              <a:chOff x="1320582" y="5594888"/>
              <a:chExt cx="2079672" cy="648084"/>
            </a:xfrm>
          </p:grpSpPr>
          <p:sp>
            <p:nvSpPr>
              <p:cNvPr id="3400" name="Google Shape;3400;p54"/>
              <p:cNvSpPr txBox="1"/>
              <p:nvPr/>
            </p:nvSpPr>
            <p:spPr>
              <a:xfrm>
                <a:off x="1320582" y="5842862"/>
                <a:ext cx="207967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000"/>
                  <a:buFont typeface="Calibri"/>
                  <a:buNone/>
                </a:pPr>
                <a:r>
                  <a:rPr b="0" i="1" lang="en-US" sz="2000" u="none" cap="none" strike="noStrike">
                    <a:solidFill>
                      <a:srgbClr val="CC0000"/>
                    </a:solidFill>
                    <a:latin typeface="Calibri"/>
                    <a:ea typeface="Calibri"/>
                    <a:cs typeface="Calibri"/>
                    <a:sym typeface="Calibri"/>
                  </a:rPr>
                  <a:t>subnet 223.1.8/24</a:t>
                </a:r>
                <a:endParaRPr/>
              </a:p>
            </p:txBody>
          </p:sp>
          <p:cxnSp>
            <p:nvCxnSpPr>
              <p:cNvPr id="3401" name="Google Shape;3401;p54"/>
              <p:cNvCxnSpPr/>
              <p:nvPr/>
            </p:nvCxnSpPr>
            <p:spPr>
              <a:xfrm rot="10800000">
                <a:off x="2355742" y="5594888"/>
                <a:ext cx="0" cy="340963"/>
              </a:xfrm>
              <a:prstGeom prst="straightConnector1">
                <a:avLst/>
              </a:prstGeom>
              <a:noFill/>
              <a:ln cap="flat" cmpd="sng" w="19050">
                <a:solidFill>
                  <a:srgbClr val="C00000"/>
                </a:solidFill>
                <a:prstDash val="solid"/>
                <a:miter lim="800000"/>
                <a:headEnd len="sm" w="sm" type="none"/>
                <a:tailEnd len="sm" w="sm" type="none"/>
              </a:ln>
            </p:spPr>
          </p:cxnSp>
        </p:grpSp>
      </p:grpSp>
      <p:sp>
        <p:nvSpPr>
          <p:cNvPr id="3402" name="Google Shape;3402;p5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336"/>
                                        </p:tgtEl>
                                      </p:cBhvr>
                                    </p:animEffect>
                                    <p:set>
                                      <p:cBhvr>
                                        <p:cTn dur="1" fill="hold">
                                          <p:stCondLst>
                                            <p:cond delay="500"/>
                                          </p:stCondLst>
                                        </p:cTn>
                                        <p:tgtEl>
                                          <p:spTgt spid="33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3"/>
                                        </p:tgtEl>
                                        <p:attrNameLst>
                                          <p:attrName>style.visibility</p:attrName>
                                        </p:attrNameLst>
                                      </p:cBhvr>
                                      <p:to>
                                        <p:strVal val="visible"/>
                                      </p:to>
                                    </p:set>
                                    <p:animEffect filter="fade" transition="in">
                                      <p:cBhvr>
                                        <p:cTn dur="500"/>
                                        <p:tgtEl>
                                          <p:spTgt spid="3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7" name="Shape 3407"/>
        <p:cNvGrpSpPr/>
        <p:nvPr/>
      </p:nvGrpSpPr>
      <p:grpSpPr>
        <a:xfrm>
          <a:off x="0" y="0"/>
          <a:ext cx="0" cy="0"/>
          <a:chOff x="0" y="0"/>
          <a:chExt cx="0" cy="0"/>
        </a:xfrm>
      </p:grpSpPr>
      <p:sp>
        <p:nvSpPr>
          <p:cNvPr id="3408" name="Google Shape;3408;p5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addressing: CIDR</a:t>
            </a:r>
            <a:endParaRPr/>
          </a:p>
        </p:txBody>
      </p:sp>
      <p:sp>
        <p:nvSpPr>
          <p:cNvPr id="3409" name="Google Shape;3409;p55"/>
          <p:cNvSpPr txBox="1"/>
          <p:nvPr/>
        </p:nvSpPr>
        <p:spPr>
          <a:xfrm>
            <a:off x="910964" y="1504586"/>
            <a:ext cx="11096157" cy="207806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600"/>
              <a:buFont typeface="Noto Sans Symbols"/>
              <a:buNone/>
            </a:pPr>
            <a:r>
              <a:rPr b="0" i="0" lang="en-US" sz="3600" u="none" cap="none" strike="noStrike">
                <a:solidFill>
                  <a:srgbClr val="CC0000"/>
                </a:solidFill>
                <a:latin typeface="Calibri"/>
                <a:ea typeface="Calibri"/>
                <a:cs typeface="Calibri"/>
                <a:sym typeface="Calibri"/>
              </a:rPr>
              <a:t>CIDR:</a:t>
            </a:r>
            <a:r>
              <a:rPr b="0" i="0" lang="en-US" sz="3600" u="none" cap="none" strike="noStrike">
                <a:solidFill>
                  <a:srgbClr val="000000"/>
                </a:solidFill>
                <a:latin typeface="Calibri"/>
                <a:ea typeface="Calibri"/>
                <a:cs typeface="Calibri"/>
                <a:sym typeface="Calibri"/>
              </a:rPr>
              <a:t> </a:t>
            </a:r>
            <a:r>
              <a:rPr b="0" i="0" lang="en-US" sz="3600" u="none" cap="none" strike="noStrike">
                <a:solidFill>
                  <a:srgbClr val="CC0000"/>
                </a:solidFill>
                <a:latin typeface="Calibri"/>
                <a:ea typeface="Calibri"/>
                <a:cs typeface="Calibri"/>
                <a:sym typeface="Calibri"/>
              </a:rPr>
              <a:t>C</a:t>
            </a:r>
            <a:r>
              <a:rPr b="0" i="0" lang="en-US" sz="3600" u="none" cap="none" strike="noStrike">
                <a:solidFill>
                  <a:srgbClr val="000000"/>
                </a:solidFill>
                <a:latin typeface="Calibri"/>
                <a:ea typeface="Calibri"/>
                <a:cs typeface="Calibri"/>
                <a:sym typeface="Calibri"/>
              </a:rPr>
              <a:t>lassless </a:t>
            </a:r>
            <a:r>
              <a:rPr b="0" i="0" lang="en-US" sz="3600" u="none" cap="none" strike="noStrike">
                <a:solidFill>
                  <a:srgbClr val="CC0000"/>
                </a:solidFill>
                <a:latin typeface="Calibri"/>
                <a:ea typeface="Calibri"/>
                <a:cs typeface="Calibri"/>
                <a:sym typeface="Calibri"/>
              </a:rPr>
              <a:t>I</a:t>
            </a:r>
            <a:r>
              <a:rPr b="0" i="0" lang="en-US" sz="3600" u="none" cap="none" strike="noStrike">
                <a:solidFill>
                  <a:srgbClr val="000000"/>
                </a:solidFill>
                <a:latin typeface="Calibri"/>
                <a:ea typeface="Calibri"/>
                <a:cs typeface="Calibri"/>
                <a:sym typeface="Calibri"/>
              </a:rPr>
              <a:t>nter</a:t>
            </a:r>
            <a:r>
              <a:rPr b="0" i="0" lang="en-US" sz="3600" u="none" cap="none" strike="noStrike">
                <a:solidFill>
                  <a:srgbClr val="CC0000"/>
                </a:solidFill>
                <a:latin typeface="Calibri"/>
                <a:ea typeface="Calibri"/>
                <a:cs typeface="Calibri"/>
                <a:sym typeface="Calibri"/>
              </a:rPr>
              <a:t>D</a:t>
            </a:r>
            <a:r>
              <a:rPr b="0" i="0" lang="en-US" sz="3600" u="none" cap="none" strike="noStrike">
                <a:solidFill>
                  <a:srgbClr val="000000"/>
                </a:solidFill>
                <a:latin typeface="Calibri"/>
                <a:ea typeface="Calibri"/>
                <a:cs typeface="Calibri"/>
                <a:sym typeface="Calibri"/>
              </a:rPr>
              <a:t>omain </a:t>
            </a:r>
            <a:r>
              <a:rPr b="0" i="0" lang="en-US" sz="3600" u="none" cap="none" strike="noStrike">
                <a:solidFill>
                  <a:srgbClr val="CC0000"/>
                </a:solidFill>
                <a:latin typeface="Calibri"/>
                <a:ea typeface="Calibri"/>
                <a:cs typeface="Calibri"/>
                <a:sym typeface="Calibri"/>
              </a:rPr>
              <a:t>R</a:t>
            </a:r>
            <a:r>
              <a:rPr b="0" i="0" lang="en-US" sz="3600" u="none" cap="none" strike="noStrike">
                <a:solidFill>
                  <a:srgbClr val="000000"/>
                </a:solidFill>
                <a:latin typeface="Calibri"/>
                <a:ea typeface="Calibri"/>
                <a:cs typeface="Calibri"/>
                <a:sym typeface="Calibri"/>
              </a:rPr>
              <a:t>outing </a:t>
            </a:r>
            <a:r>
              <a:rPr b="0" i="0" lang="en-US" sz="2800" u="none" cap="none" strike="noStrike">
                <a:solidFill>
                  <a:srgbClr val="000000"/>
                </a:solidFill>
                <a:latin typeface="Calibri"/>
                <a:ea typeface="Calibri"/>
                <a:cs typeface="Calibri"/>
                <a:sym typeface="Calibri"/>
              </a:rPr>
              <a:t>(pronounced “cider”)</a:t>
            </a:r>
            <a:endParaRPr b="0" i="0" sz="36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subnet portion of address of arbitrary length</a:t>
            </a:r>
            <a:endParaRPr/>
          </a:p>
          <a:p>
            <a:pPr indent="-231775" lvl="1" marL="695325" marR="0" rtl="0" algn="l">
              <a:lnSpc>
                <a:spcPct val="90000"/>
              </a:lnSpc>
              <a:spcBef>
                <a:spcPts val="500"/>
              </a:spcBef>
              <a:spcAft>
                <a:spcPts val="0"/>
              </a:spcAft>
              <a:buClr>
                <a:srgbClr val="0000A8"/>
              </a:buClr>
              <a:buSzPts val="3200"/>
              <a:buFont typeface="Arial"/>
              <a:buChar char="•"/>
            </a:pPr>
            <a:r>
              <a:rPr b="0" i="0" lang="en-US" sz="3200" u="none" cap="none" strike="noStrike">
                <a:solidFill>
                  <a:srgbClr val="000000"/>
                </a:solidFill>
                <a:latin typeface="Calibri"/>
                <a:ea typeface="Calibri"/>
                <a:cs typeface="Calibri"/>
                <a:sym typeface="Calibri"/>
              </a:rPr>
              <a:t>address format: </a:t>
            </a:r>
            <a:r>
              <a:rPr b="0" i="0" lang="en-US" sz="3200" u="none" cap="none" strike="noStrike">
                <a:solidFill>
                  <a:srgbClr val="CC0000"/>
                </a:solidFill>
                <a:latin typeface="Calibri"/>
                <a:ea typeface="Calibri"/>
                <a:cs typeface="Calibri"/>
                <a:sym typeface="Calibri"/>
              </a:rPr>
              <a:t>a.b.c.d/x</a:t>
            </a:r>
            <a:r>
              <a:rPr b="0" i="0" lang="en-US" sz="3200" u="none" cap="none" strike="noStrike">
                <a:solidFill>
                  <a:srgbClr val="000000"/>
                </a:solidFill>
                <a:latin typeface="Calibri"/>
                <a:ea typeface="Calibri"/>
                <a:cs typeface="Calibri"/>
                <a:sym typeface="Calibri"/>
              </a:rPr>
              <a:t>, where x is # bits in subnet portion of address</a:t>
            </a:r>
            <a:endParaRPr/>
          </a:p>
          <a:p>
            <a:pPr indent="-55562" lvl="1" marL="582613"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grpSp>
        <p:nvGrpSpPr>
          <p:cNvPr id="3410" name="Google Shape;3410;p55"/>
          <p:cNvGrpSpPr/>
          <p:nvPr/>
        </p:nvGrpSpPr>
        <p:grpSpPr>
          <a:xfrm>
            <a:off x="3242716" y="3863272"/>
            <a:ext cx="6124575" cy="1624012"/>
            <a:chOff x="3242716" y="3863272"/>
            <a:chExt cx="6124575" cy="1624012"/>
          </a:xfrm>
        </p:grpSpPr>
        <p:sp>
          <p:nvSpPr>
            <p:cNvPr id="3411" name="Google Shape;3411;p55"/>
            <p:cNvSpPr txBox="1"/>
            <p:nvPr/>
          </p:nvSpPr>
          <p:spPr>
            <a:xfrm>
              <a:off x="3242716" y="4444297"/>
              <a:ext cx="61245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Arial"/>
                <a:buNone/>
              </a:pPr>
              <a:r>
                <a:rPr b="0" i="0" lang="en-US" sz="2400" u="none" cap="none" strike="noStrike">
                  <a:solidFill>
                    <a:srgbClr val="000099"/>
                  </a:solidFill>
                  <a:latin typeface="Arial"/>
                  <a:ea typeface="Arial"/>
                  <a:cs typeface="Arial"/>
                  <a:sym typeface="Arial"/>
                </a:rPr>
                <a:t>11001000  00010111  0001000</a:t>
              </a:r>
              <a:r>
                <a:rPr b="0" i="0" lang="en-US" sz="2400" u="none" cap="none" strike="noStrike">
                  <a:solidFill>
                    <a:srgbClr val="000000"/>
                  </a:solidFill>
                  <a:latin typeface="Arial"/>
                  <a:ea typeface="Arial"/>
                  <a:cs typeface="Arial"/>
                  <a:sym typeface="Arial"/>
                </a:rPr>
                <a:t>0  00000000</a:t>
              </a:r>
              <a:endParaRPr b="0" i="0" sz="2400" u="none" cap="none" strike="noStrike">
                <a:solidFill>
                  <a:srgbClr val="000000"/>
                </a:solidFill>
                <a:latin typeface="Times New Roman"/>
                <a:ea typeface="Times New Roman"/>
                <a:cs typeface="Times New Roman"/>
                <a:sym typeface="Times New Roman"/>
              </a:endParaRPr>
            </a:p>
          </p:txBody>
        </p:sp>
        <p:sp>
          <p:nvSpPr>
            <p:cNvPr id="3412" name="Google Shape;3412;p55"/>
            <p:cNvSpPr txBox="1"/>
            <p:nvPr/>
          </p:nvSpPr>
          <p:spPr>
            <a:xfrm>
              <a:off x="4904829" y="3899784"/>
              <a:ext cx="869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800"/>
                <a:buFont typeface="Arial"/>
                <a:buNone/>
              </a:pPr>
              <a:r>
                <a:rPr b="0" i="0" lang="en-US" sz="1800" u="none" cap="none" strike="noStrike">
                  <a:solidFill>
                    <a:srgbClr val="000099"/>
                  </a:solidFill>
                  <a:latin typeface="Arial"/>
                  <a:ea typeface="Arial"/>
                  <a:cs typeface="Arial"/>
                  <a:sym typeface="Arial"/>
                </a:rPr>
                <a:t>subnet</a:t>
              </a:r>
              <a:endParaRPr/>
            </a:p>
            <a:p>
              <a:pPr indent="0" lvl="0" marL="0" marR="0" rtl="0" algn="ctr">
                <a:lnSpc>
                  <a:spcPct val="100000"/>
                </a:lnSpc>
                <a:spcBef>
                  <a:spcPts val="0"/>
                </a:spcBef>
                <a:spcAft>
                  <a:spcPts val="0"/>
                </a:spcAft>
                <a:buClr>
                  <a:srgbClr val="000099"/>
                </a:buClr>
                <a:buSzPts val="1800"/>
                <a:buFont typeface="Arial"/>
                <a:buNone/>
              </a:pPr>
              <a:r>
                <a:rPr b="0" i="0" lang="en-US" sz="1800" u="none" cap="none" strike="noStrike">
                  <a:solidFill>
                    <a:srgbClr val="000099"/>
                  </a:solidFill>
                  <a:latin typeface="Arial"/>
                  <a:ea typeface="Arial"/>
                  <a:cs typeface="Arial"/>
                  <a:sym typeface="Arial"/>
                </a:rPr>
                <a:t>part</a:t>
              </a:r>
              <a:endParaRPr/>
            </a:p>
          </p:txBody>
        </p:sp>
        <p:sp>
          <p:nvSpPr>
            <p:cNvPr id="3413" name="Google Shape;3413;p55"/>
            <p:cNvSpPr txBox="1"/>
            <p:nvPr/>
          </p:nvSpPr>
          <p:spPr>
            <a:xfrm>
              <a:off x="8184604" y="3863272"/>
              <a:ext cx="61595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part</a:t>
              </a:r>
              <a:endParaRPr/>
            </a:p>
          </p:txBody>
        </p:sp>
        <p:cxnSp>
          <p:nvCxnSpPr>
            <p:cNvPr id="3414" name="Google Shape;3414;p55"/>
            <p:cNvCxnSpPr/>
            <p:nvPr/>
          </p:nvCxnSpPr>
          <p:spPr>
            <a:xfrm>
              <a:off x="5911304" y="4209347"/>
              <a:ext cx="1620837" cy="0"/>
            </a:xfrm>
            <a:prstGeom prst="straightConnector1">
              <a:avLst/>
            </a:prstGeom>
            <a:noFill/>
            <a:ln cap="flat" cmpd="sng" w="28575">
              <a:solidFill>
                <a:srgbClr val="000099"/>
              </a:solidFill>
              <a:prstDash val="solid"/>
              <a:round/>
              <a:headEnd len="med" w="med" type="none"/>
              <a:tailEnd len="med" w="med" type="triangle"/>
            </a:ln>
          </p:spPr>
        </p:cxnSp>
        <p:cxnSp>
          <p:nvCxnSpPr>
            <p:cNvPr id="3415" name="Google Shape;3415;p55"/>
            <p:cNvCxnSpPr/>
            <p:nvPr/>
          </p:nvCxnSpPr>
          <p:spPr>
            <a:xfrm>
              <a:off x="8702129" y="4198234"/>
              <a:ext cx="595312" cy="0"/>
            </a:xfrm>
            <a:prstGeom prst="straightConnector1">
              <a:avLst/>
            </a:prstGeom>
            <a:noFill/>
            <a:ln cap="flat" cmpd="sng" w="28575">
              <a:solidFill>
                <a:schemeClr val="dk1"/>
              </a:solidFill>
              <a:prstDash val="solid"/>
              <a:round/>
              <a:headEnd len="med" w="med" type="none"/>
              <a:tailEnd len="med" w="med" type="triangle"/>
            </a:ln>
          </p:spPr>
        </p:cxnSp>
        <p:sp>
          <p:nvSpPr>
            <p:cNvPr id="3416" name="Google Shape;3416;p55"/>
            <p:cNvSpPr txBox="1"/>
            <p:nvPr/>
          </p:nvSpPr>
          <p:spPr>
            <a:xfrm>
              <a:off x="5179466" y="5030084"/>
              <a:ext cx="22193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cxnSp>
          <p:nvCxnSpPr>
            <p:cNvPr id="3417" name="Google Shape;3417;p55"/>
            <p:cNvCxnSpPr/>
            <p:nvPr/>
          </p:nvCxnSpPr>
          <p:spPr>
            <a:xfrm rot="10800000">
              <a:off x="3312566" y="4199822"/>
              <a:ext cx="1438275" cy="0"/>
            </a:xfrm>
            <a:prstGeom prst="straightConnector1">
              <a:avLst/>
            </a:prstGeom>
            <a:noFill/>
            <a:ln cap="flat" cmpd="sng" w="28575">
              <a:solidFill>
                <a:srgbClr val="000099"/>
              </a:solidFill>
              <a:prstDash val="solid"/>
              <a:round/>
              <a:headEnd len="med" w="med" type="none"/>
              <a:tailEnd len="med" w="med" type="triangle"/>
            </a:ln>
          </p:spPr>
        </p:cxnSp>
        <p:cxnSp>
          <p:nvCxnSpPr>
            <p:cNvPr id="3418" name="Google Shape;3418;p55"/>
            <p:cNvCxnSpPr/>
            <p:nvPr/>
          </p:nvCxnSpPr>
          <p:spPr>
            <a:xfrm rot="10800000">
              <a:off x="7571829" y="4210934"/>
              <a:ext cx="647700" cy="0"/>
            </a:xfrm>
            <a:prstGeom prst="straightConnector1">
              <a:avLst/>
            </a:prstGeom>
            <a:noFill/>
            <a:ln cap="flat" cmpd="sng" w="19050">
              <a:solidFill>
                <a:schemeClr val="dk1"/>
              </a:solidFill>
              <a:prstDash val="solid"/>
              <a:round/>
              <a:headEnd len="med" w="med" type="none"/>
              <a:tailEnd len="med" w="med" type="triangle"/>
            </a:ln>
          </p:spPr>
        </p:cxnSp>
      </p:grpSp>
      <p:sp>
        <p:nvSpPr>
          <p:cNvPr id="3419" name="Google Shape;3419;p5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0"/>
                                        </p:tgtEl>
                                        <p:attrNameLst>
                                          <p:attrName>style.visibility</p:attrName>
                                        </p:attrNameLst>
                                      </p:cBhvr>
                                      <p:to>
                                        <p:strVal val="visible"/>
                                      </p:to>
                                    </p:set>
                                    <p:animEffect filter="fade" transition="in">
                                      <p:cBhvr>
                                        <p:cTn dur="500"/>
                                        <p:tgtEl>
                                          <p:spTgt spid="3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4" name="Shape 3424"/>
        <p:cNvGrpSpPr/>
        <p:nvPr/>
      </p:nvGrpSpPr>
      <p:grpSpPr>
        <a:xfrm>
          <a:off x="0" y="0"/>
          <a:ext cx="0" cy="0"/>
          <a:chOff x="0" y="0"/>
          <a:chExt cx="0" cy="0"/>
        </a:xfrm>
      </p:grpSpPr>
      <p:sp>
        <p:nvSpPr>
          <p:cNvPr id="3425" name="Google Shape;3425;p5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addresses: how to get one?</a:t>
            </a:r>
            <a:endParaRPr/>
          </a:p>
        </p:txBody>
      </p:sp>
      <p:sp>
        <p:nvSpPr>
          <p:cNvPr id="3426" name="Google Shape;3426;p56"/>
          <p:cNvSpPr txBox="1"/>
          <p:nvPr/>
        </p:nvSpPr>
        <p:spPr>
          <a:xfrm>
            <a:off x="910964" y="1504585"/>
            <a:ext cx="11096157" cy="2677671"/>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That’s actually </a:t>
            </a:r>
            <a:r>
              <a:rPr b="0" i="0" lang="en-US" sz="3200" u="none" cap="none" strike="noStrike">
                <a:solidFill>
                  <a:srgbClr val="C00000"/>
                </a:solidFill>
                <a:latin typeface="Calibri"/>
                <a:ea typeface="Calibri"/>
                <a:cs typeface="Calibri"/>
                <a:sym typeface="Calibri"/>
              </a:rPr>
              <a:t>two</a:t>
            </a:r>
            <a:r>
              <a:rPr b="0" i="0" lang="en-US" sz="3200" u="none" cap="none" strike="noStrike">
                <a:solidFill>
                  <a:srgbClr val="000000"/>
                </a:solidFill>
                <a:latin typeface="Calibri"/>
                <a:ea typeface="Calibri"/>
                <a:cs typeface="Calibri"/>
                <a:sym typeface="Calibri"/>
              </a:rPr>
              <a:t> questions:</a:t>
            </a:r>
            <a:endParaRPr/>
          </a:p>
          <a:p>
            <a:pPr indent="-346075" lvl="0" marL="644525" marR="0" rtl="0" algn="l">
              <a:lnSpc>
                <a:spcPct val="90000"/>
              </a:lnSpc>
              <a:spcBef>
                <a:spcPts val="1000"/>
              </a:spcBef>
              <a:spcAft>
                <a:spcPts val="0"/>
              </a:spcAft>
              <a:buClr>
                <a:srgbClr val="0000A3"/>
              </a:buClr>
              <a:buSzPts val="3000"/>
              <a:buFont typeface="Calibri"/>
              <a:buAutoNum type="arabicPeriod"/>
            </a:pPr>
            <a:r>
              <a:rPr b="0" i="0" lang="en-US" sz="3000" u="none" cap="none" strike="noStrike">
                <a:solidFill>
                  <a:srgbClr val="000000"/>
                </a:solidFill>
                <a:latin typeface="Calibri"/>
                <a:ea typeface="Calibri"/>
                <a:cs typeface="Calibri"/>
                <a:sym typeface="Calibri"/>
              </a:rPr>
              <a:t>Q: How does a </a:t>
            </a:r>
            <a:r>
              <a:rPr b="0" i="1" lang="en-US" sz="3000" u="none" cap="none" strike="noStrike">
                <a:solidFill>
                  <a:srgbClr val="000000"/>
                </a:solidFill>
                <a:latin typeface="Calibri"/>
                <a:ea typeface="Calibri"/>
                <a:cs typeface="Calibri"/>
                <a:sym typeface="Calibri"/>
              </a:rPr>
              <a:t>host</a:t>
            </a:r>
            <a:r>
              <a:rPr b="0" i="0" lang="en-US" sz="3000" u="none" cap="none" strike="noStrike">
                <a:solidFill>
                  <a:srgbClr val="000000"/>
                </a:solidFill>
                <a:latin typeface="Calibri"/>
                <a:ea typeface="Calibri"/>
                <a:cs typeface="Calibri"/>
                <a:sym typeface="Calibri"/>
              </a:rPr>
              <a:t> get IP address within its network (host part of address)?</a:t>
            </a:r>
            <a:endParaRPr/>
          </a:p>
          <a:p>
            <a:pPr indent="-346075" lvl="0" marL="644525" marR="0" rtl="0" algn="l">
              <a:lnSpc>
                <a:spcPct val="90000"/>
              </a:lnSpc>
              <a:spcBef>
                <a:spcPts val="1000"/>
              </a:spcBef>
              <a:spcAft>
                <a:spcPts val="0"/>
              </a:spcAft>
              <a:buClr>
                <a:srgbClr val="0000A3"/>
              </a:buClr>
              <a:buSzPts val="3000"/>
              <a:buFont typeface="Calibri"/>
              <a:buAutoNum type="arabicPeriod"/>
            </a:pPr>
            <a:r>
              <a:rPr b="0" i="0" lang="en-US" sz="3000" u="none" cap="none" strike="noStrike">
                <a:solidFill>
                  <a:srgbClr val="000000"/>
                </a:solidFill>
                <a:latin typeface="Calibri"/>
                <a:ea typeface="Calibri"/>
                <a:cs typeface="Calibri"/>
                <a:sym typeface="Calibri"/>
              </a:rPr>
              <a:t>Q: How does a </a:t>
            </a:r>
            <a:r>
              <a:rPr b="0" i="1" lang="en-US" sz="3000" u="none" cap="none" strike="noStrike">
                <a:solidFill>
                  <a:srgbClr val="000000"/>
                </a:solidFill>
                <a:latin typeface="Calibri"/>
                <a:ea typeface="Calibri"/>
                <a:cs typeface="Calibri"/>
                <a:sym typeface="Calibri"/>
              </a:rPr>
              <a:t>network</a:t>
            </a:r>
            <a:r>
              <a:rPr b="0" i="0" lang="en-US" sz="3000" u="none" cap="none" strike="noStrike">
                <a:solidFill>
                  <a:srgbClr val="000000"/>
                </a:solidFill>
                <a:latin typeface="Calibri"/>
                <a:ea typeface="Calibri"/>
                <a:cs typeface="Calibri"/>
                <a:sym typeface="Calibri"/>
              </a:rPr>
              <a:t> get IP address for itself (network part of address)</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27" name="Google Shape;3427;p56"/>
          <p:cNvSpPr/>
          <p:nvPr/>
        </p:nvSpPr>
        <p:spPr>
          <a:xfrm>
            <a:off x="1104900" y="4234164"/>
            <a:ext cx="10533088" cy="22467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How does </a:t>
            </a:r>
            <a:r>
              <a:rPr b="0" i="1" lang="en-US" sz="3200" u="none" cap="none" strike="noStrike">
                <a:solidFill>
                  <a:srgbClr val="000000"/>
                </a:solidFill>
                <a:latin typeface="Calibri"/>
                <a:ea typeface="Calibri"/>
                <a:cs typeface="Calibri"/>
                <a:sym typeface="Calibri"/>
              </a:rPr>
              <a:t>host</a:t>
            </a:r>
            <a:r>
              <a:rPr b="0" i="0" lang="en-US" sz="3200" u="none" cap="none" strike="noStrike">
                <a:solidFill>
                  <a:srgbClr val="000000"/>
                </a:solidFill>
                <a:latin typeface="Calibri"/>
                <a:ea typeface="Calibri"/>
                <a:cs typeface="Calibri"/>
                <a:sym typeface="Calibri"/>
              </a:rPr>
              <a:t> get IP address?</a:t>
            </a:r>
            <a:endParaRPr/>
          </a:p>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hard-coded by sysadmin in config file (e.g., /etc/rc.config in UNIX)</a:t>
            </a:r>
            <a:endParaRPr b="0" i="0" sz="28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DHCP:</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ynamic </a:t>
            </a:r>
            <a:r>
              <a:rPr b="0" i="0" lang="en-US" sz="2800" u="none" cap="none" strike="noStrike">
                <a:solidFill>
                  <a:srgbClr val="CC0000"/>
                </a:solidFill>
                <a:latin typeface="Calibri"/>
                <a:ea typeface="Calibri"/>
                <a:cs typeface="Calibri"/>
                <a:sym typeface="Calibri"/>
              </a:rPr>
              <a:t>H</a:t>
            </a:r>
            <a:r>
              <a:rPr b="0" i="0" lang="en-US" sz="2800" u="none" cap="none" strike="noStrike">
                <a:solidFill>
                  <a:srgbClr val="000000"/>
                </a:solidFill>
                <a:latin typeface="Calibri"/>
                <a:ea typeface="Calibri"/>
                <a:cs typeface="Calibri"/>
                <a:sym typeface="Calibri"/>
              </a:rPr>
              <a:t>ost </a:t>
            </a:r>
            <a:r>
              <a:rPr b="0" i="0" lang="en-US" sz="2800" u="none" cap="none" strike="noStrike">
                <a:solidFill>
                  <a:srgbClr val="CC0000"/>
                </a:solidFill>
                <a:latin typeface="Calibri"/>
                <a:ea typeface="Calibri"/>
                <a:cs typeface="Calibri"/>
                <a:sym typeface="Calibri"/>
              </a:rPr>
              <a:t>C</a:t>
            </a:r>
            <a:r>
              <a:rPr b="0" i="0" lang="en-US" sz="2800" u="none" cap="none" strike="noStrike">
                <a:solidFill>
                  <a:srgbClr val="000000"/>
                </a:solidFill>
                <a:latin typeface="Calibri"/>
                <a:ea typeface="Calibri"/>
                <a:cs typeface="Calibri"/>
                <a:sym typeface="Calibri"/>
              </a:rPr>
              <a:t>onfiguration </a:t>
            </a:r>
            <a:r>
              <a:rPr b="0" i="0" lang="en-US" sz="2800" u="none" cap="none" strike="noStrike">
                <a:solidFill>
                  <a:srgbClr val="CC0000"/>
                </a:solidFill>
                <a:latin typeface="Calibri"/>
                <a:ea typeface="Calibri"/>
                <a:cs typeface="Calibri"/>
                <a:sym typeface="Calibri"/>
              </a:rPr>
              <a:t>P</a:t>
            </a:r>
            <a:r>
              <a:rPr b="0" i="0" lang="en-US" sz="2800" u="none" cap="none" strike="noStrike">
                <a:solidFill>
                  <a:srgbClr val="000000"/>
                </a:solidFill>
                <a:latin typeface="Calibri"/>
                <a:ea typeface="Calibri"/>
                <a:cs typeface="Calibri"/>
                <a:sym typeface="Calibri"/>
              </a:rPr>
              <a:t>rotocol: dynamically get address from as server</a:t>
            </a:r>
            <a:endParaRPr/>
          </a:p>
          <a:p>
            <a:pPr indent="-342900" lvl="1" marL="8001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“plug-and-play”</a:t>
            </a:r>
            <a:endParaRPr/>
          </a:p>
        </p:txBody>
      </p:sp>
      <p:sp>
        <p:nvSpPr>
          <p:cNvPr id="3428" name="Google Shape;3428;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7"/>
                                        </p:tgtEl>
                                        <p:attrNameLst>
                                          <p:attrName>style.visibility</p:attrName>
                                        </p:attrNameLst>
                                      </p:cBhvr>
                                      <p:to>
                                        <p:strVal val="visible"/>
                                      </p:to>
                                    </p:set>
                                    <p:animEffect filter="fade" transition="in">
                                      <p:cBhvr>
                                        <p:cTn dur="500"/>
                                        <p:tgtEl>
                                          <p:spTgt spid="34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3" name="Shape 3433"/>
        <p:cNvGrpSpPr/>
        <p:nvPr/>
      </p:nvGrpSpPr>
      <p:grpSpPr>
        <a:xfrm>
          <a:off x="0" y="0"/>
          <a:ext cx="0" cy="0"/>
          <a:chOff x="0" y="0"/>
          <a:chExt cx="0" cy="0"/>
        </a:xfrm>
      </p:grpSpPr>
      <p:sp>
        <p:nvSpPr>
          <p:cNvPr id="3434" name="Google Shape;3434;p5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Dynamic Host Configuration Protocol</a:t>
            </a:r>
            <a:endParaRPr/>
          </a:p>
        </p:txBody>
      </p:sp>
      <p:sp>
        <p:nvSpPr>
          <p:cNvPr id="3435" name="Google Shape;3435;p57"/>
          <p:cNvSpPr txBox="1"/>
          <p:nvPr/>
        </p:nvSpPr>
        <p:spPr>
          <a:xfrm>
            <a:off x="895974" y="1369673"/>
            <a:ext cx="11096157" cy="231790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goal:</a:t>
            </a:r>
            <a:r>
              <a:rPr b="0" i="0" lang="en-US" sz="2800" u="none" cap="none" strike="noStrike">
                <a:solidFill>
                  <a:srgbClr val="000000"/>
                </a:solidFill>
                <a:latin typeface="Calibri"/>
                <a:ea typeface="Calibri"/>
                <a:cs typeface="Calibri"/>
                <a:sym typeface="Calibri"/>
              </a:rPr>
              <a:t> host </a:t>
            </a:r>
            <a:r>
              <a:rPr b="0" i="1" lang="en-US" sz="2800" u="none" cap="none" strike="noStrike">
                <a:solidFill>
                  <a:srgbClr val="000000"/>
                </a:solidFill>
                <a:latin typeface="Calibri"/>
                <a:ea typeface="Calibri"/>
                <a:cs typeface="Calibri"/>
                <a:sym typeface="Calibri"/>
              </a:rPr>
              <a:t>dynamically </a:t>
            </a:r>
            <a:r>
              <a:rPr b="0" i="0" lang="en-US" sz="2800" u="none" cap="none" strike="noStrike">
                <a:solidFill>
                  <a:srgbClr val="000000"/>
                </a:solidFill>
                <a:latin typeface="Calibri"/>
                <a:ea typeface="Calibri"/>
                <a:cs typeface="Calibri"/>
                <a:sym typeface="Calibri"/>
              </a:rPr>
              <a:t>obtains IP address from network server when it “joins” network</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can renew its lease on address in use</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allows reuse of addresses (only hold address while connected/on)</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Gill Sans"/>
                <a:ea typeface="Gill Sans"/>
                <a:cs typeface="Gill Sans"/>
                <a:sym typeface="Gill Sans"/>
              </a:rPr>
              <a:t>support for mobile users who join/leave network </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36" name="Google Shape;3436;p57"/>
          <p:cNvSpPr txBox="1"/>
          <p:nvPr/>
        </p:nvSpPr>
        <p:spPr>
          <a:xfrm>
            <a:off x="869430" y="3920499"/>
            <a:ext cx="11096157" cy="2345389"/>
          </a:xfrm>
          <a:prstGeom prst="rect">
            <a:avLst/>
          </a:prstGeom>
          <a:noFill/>
          <a:ln>
            <a:noFill/>
          </a:ln>
        </p:spPr>
        <p:txBody>
          <a:bodyPr anchorCtr="0" anchor="t" bIns="45700" lIns="91425" spcFirstLastPara="1" rIns="91425" wrap="square" tIns="45700">
            <a:normAutofit/>
          </a:bodyPr>
          <a:lstStyle/>
          <a:p>
            <a:pPr indent="0" lvl="0" marL="120650"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A3"/>
                </a:solidFill>
                <a:latin typeface="Calibri"/>
                <a:ea typeface="Calibri"/>
                <a:cs typeface="Calibri"/>
                <a:sym typeface="Calibri"/>
              </a:rPr>
              <a:t>DHCP overview:</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 broadcasts </a:t>
            </a:r>
            <a:r>
              <a:rPr b="0" i="0" lang="en-US" sz="2800" u="none" cap="none" strike="noStrike">
                <a:solidFill>
                  <a:srgbClr val="CC0000"/>
                </a:solidFill>
                <a:latin typeface="Calibri"/>
                <a:ea typeface="Calibri"/>
                <a:cs typeface="Calibri"/>
                <a:sym typeface="Calibri"/>
              </a:rPr>
              <a:t>DHCP discover</a:t>
            </a:r>
            <a:r>
              <a:rPr b="0" i="0" lang="en-US" sz="2800" u="none" cap="none" strike="noStrike">
                <a:solidFill>
                  <a:srgbClr val="000000"/>
                </a:solidFill>
                <a:latin typeface="Calibri"/>
                <a:ea typeface="Calibri"/>
                <a:cs typeface="Calibri"/>
                <a:sym typeface="Calibri"/>
              </a:rPr>
              <a:t> msg [optional]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DHCP server responds with </a:t>
            </a:r>
            <a:r>
              <a:rPr b="0" i="0" lang="en-US" sz="2800" u="none" cap="none" strike="noStrike">
                <a:solidFill>
                  <a:srgbClr val="CC0000"/>
                </a:solidFill>
                <a:latin typeface="Calibri"/>
                <a:ea typeface="Calibri"/>
                <a:cs typeface="Calibri"/>
                <a:sym typeface="Calibri"/>
              </a:rPr>
              <a:t>DHCP offer</a:t>
            </a:r>
            <a:r>
              <a:rPr b="0" i="0" lang="en-US" sz="2800" u="none" cap="none" strike="noStrike">
                <a:solidFill>
                  <a:srgbClr val="000000"/>
                </a:solidFill>
                <a:latin typeface="Calibri"/>
                <a:ea typeface="Calibri"/>
                <a:cs typeface="Calibri"/>
                <a:sym typeface="Calibri"/>
              </a:rPr>
              <a:t> msg [optional]</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host requests IP address: </a:t>
            </a:r>
            <a:r>
              <a:rPr b="0" i="0" lang="en-US" sz="2800" u="none" cap="none" strike="noStrike">
                <a:solidFill>
                  <a:srgbClr val="CC0000"/>
                </a:solidFill>
                <a:latin typeface="Calibri"/>
                <a:ea typeface="Calibri"/>
                <a:cs typeface="Calibri"/>
                <a:sym typeface="Calibri"/>
              </a:rPr>
              <a:t>DHCP request </a:t>
            </a:r>
            <a:r>
              <a:rPr b="0" i="0" lang="en-US" sz="2800" u="none" cap="none" strike="noStrike">
                <a:solidFill>
                  <a:srgbClr val="000000"/>
                </a:solidFill>
                <a:latin typeface="Calibri"/>
                <a:ea typeface="Calibri"/>
                <a:cs typeface="Calibri"/>
                <a:sym typeface="Calibri"/>
              </a:rPr>
              <a:t>msg</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DHCP server sends address: </a:t>
            </a:r>
            <a:r>
              <a:rPr b="0" i="0" lang="en-US" sz="2800" u="none" cap="none" strike="noStrike">
                <a:solidFill>
                  <a:srgbClr val="CC0000"/>
                </a:solidFill>
                <a:latin typeface="Calibri"/>
                <a:ea typeface="Calibri"/>
                <a:cs typeface="Calibri"/>
                <a:sym typeface="Calibri"/>
              </a:rPr>
              <a:t>DHCP ack</a:t>
            </a:r>
            <a:r>
              <a:rPr b="0" i="0" lang="en-US" sz="2800" u="none" cap="none" strike="noStrike">
                <a:solidFill>
                  <a:srgbClr val="000000"/>
                </a:solidFill>
                <a:latin typeface="Calibri"/>
                <a:ea typeface="Calibri"/>
                <a:cs typeface="Calibri"/>
                <a:sym typeface="Calibri"/>
              </a:rPr>
              <a:t> msg </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437" name="Google Shape;3437;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6"/>
                                        </p:tgtEl>
                                        <p:attrNameLst>
                                          <p:attrName>style.visibility</p:attrName>
                                        </p:attrNameLst>
                                      </p:cBhvr>
                                      <p:to>
                                        <p:strVal val="visible"/>
                                      </p:to>
                                    </p:set>
                                    <p:animEffect filter="fade" transition="in">
                                      <p:cBhvr>
                                        <p:cTn dur="500"/>
                                        <p:tgtEl>
                                          <p:spTgt spid="34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2" name="Shape 3442"/>
        <p:cNvGrpSpPr/>
        <p:nvPr/>
      </p:nvGrpSpPr>
      <p:grpSpPr>
        <a:xfrm>
          <a:off x="0" y="0"/>
          <a:ext cx="0" cy="0"/>
          <a:chOff x="0" y="0"/>
          <a:chExt cx="0" cy="0"/>
        </a:xfrm>
      </p:grpSpPr>
      <p:sp>
        <p:nvSpPr>
          <p:cNvPr id="3443" name="Google Shape;3443;p5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client-server scenario</a:t>
            </a:r>
            <a:endParaRPr/>
          </a:p>
        </p:txBody>
      </p:sp>
      <p:sp>
        <p:nvSpPr>
          <p:cNvPr id="3444" name="Google Shape;3444;p58"/>
          <p:cNvSpPr/>
          <p:nvPr/>
        </p:nvSpPr>
        <p:spPr>
          <a:xfrm rot="-5400000">
            <a:off x="3939641" y="4185782"/>
            <a:ext cx="846137"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5" name="Google Shape;3445;p58"/>
          <p:cNvSpPr/>
          <p:nvPr/>
        </p:nvSpPr>
        <p:spPr>
          <a:xfrm rot="10800000">
            <a:off x="4937385" y="2859425"/>
            <a:ext cx="846138" cy="1593850"/>
          </a:xfrm>
          <a:custGeom>
            <a:rect b="b" l="l" r="r" t="t"/>
            <a:pathLst>
              <a:path extrusionOk="0" h="10000" w="10315">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6" name="Google Shape;3446;p58"/>
          <p:cNvSpPr/>
          <p:nvPr/>
        </p:nvSpPr>
        <p:spPr>
          <a:xfrm>
            <a:off x="2902210" y="2441913"/>
            <a:ext cx="1038225" cy="1927225"/>
          </a:xfrm>
          <a:custGeom>
            <a:rect b="b" l="l" r="r" t="t"/>
            <a:pathLst>
              <a:path extrusionOk="0" h="1291" w="1223">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sp>
        <p:nvSpPr>
          <p:cNvPr id="3447" name="Google Shape;3447;p58"/>
          <p:cNvSpPr txBox="1"/>
          <p:nvPr/>
        </p:nvSpPr>
        <p:spPr>
          <a:xfrm>
            <a:off x="2284673" y="2272050"/>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223.1.1.1</a:t>
            </a:r>
            <a:endParaRPr b="0" i="0" sz="1400" u="none" cap="none" strike="noStrike">
              <a:solidFill>
                <a:srgbClr val="000000"/>
              </a:solidFill>
              <a:latin typeface="Comic Sans MS"/>
              <a:ea typeface="Comic Sans MS"/>
              <a:cs typeface="Comic Sans MS"/>
              <a:sym typeface="Comic Sans MS"/>
            </a:endParaRPr>
          </a:p>
        </p:txBody>
      </p:sp>
      <p:grpSp>
        <p:nvGrpSpPr>
          <p:cNvPr id="3448" name="Google Shape;3448;p58"/>
          <p:cNvGrpSpPr/>
          <p:nvPr/>
        </p:nvGrpSpPr>
        <p:grpSpPr>
          <a:xfrm>
            <a:off x="1460763" y="3097551"/>
            <a:ext cx="1011238" cy="393700"/>
            <a:chOff x="3194" y="523"/>
            <a:chExt cx="637" cy="248"/>
          </a:xfrm>
        </p:grpSpPr>
        <p:sp>
          <p:nvSpPr>
            <p:cNvPr id="3449" name="Google Shape;3449;p58"/>
            <p:cNvSpPr/>
            <p:nvPr/>
          </p:nvSpPr>
          <p:spPr>
            <a:xfrm>
              <a:off x="3306" y="657"/>
              <a:ext cx="525"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0" name="Google Shape;3450;p58"/>
            <p:cNvSpPr txBox="1"/>
            <p:nvPr/>
          </p:nvSpPr>
          <p:spPr>
            <a:xfrm>
              <a:off x="3194" y="523"/>
              <a:ext cx="586"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223.1.1.2</a:t>
              </a:r>
              <a:endParaRPr b="0" i="0" sz="1400" u="none" cap="none" strike="noStrike">
                <a:solidFill>
                  <a:srgbClr val="000000"/>
                </a:solidFill>
                <a:latin typeface="Comic Sans MS"/>
                <a:ea typeface="Comic Sans MS"/>
                <a:cs typeface="Comic Sans MS"/>
                <a:sym typeface="Comic Sans MS"/>
              </a:endParaRPr>
            </a:p>
          </p:txBody>
        </p:sp>
      </p:grpSp>
      <p:sp>
        <p:nvSpPr>
          <p:cNvPr id="3451" name="Google Shape;3451;p58"/>
          <p:cNvSpPr txBox="1"/>
          <p:nvPr/>
        </p:nvSpPr>
        <p:spPr>
          <a:xfrm>
            <a:off x="2389448" y="4227850"/>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223.1.1.3</a:t>
            </a:r>
            <a:endParaRPr b="0" i="0" sz="1400" u="none" cap="none" strike="noStrike">
              <a:solidFill>
                <a:srgbClr val="000000"/>
              </a:solidFill>
              <a:latin typeface="Comic Sans MS"/>
              <a:ea typeface="Comic Sans MS"/>
              <a:cs typeface="Comic Sans MS"/>
              <a:sym typeface="Comic Sans MS"/>
            </a:endParaRPr>
          </a:p>
        </p:txBody>
      </p:sp>
      <p:sp>
        <p:nvSpPr>
          <p:cNvPr id="3452" name="Google Shape;3452;p58"/>
          <p:cNvSpPr txBox="1"/>
          <p:nvPr/>
        </p:nvSpPr>
        <p:spPr>
          <a:xfrm>
            <a:off x="3209055" y="3445031"/>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223.1.1.4</a:t>
            </a:r>
            <a:endParaRPr b="0" i="0" sz="1400" u="none" cap="none" strike="noStrike">
              <a:solidFill>
                <a:srgbClr val="000000"/>
              </a:solidFill>
              <a:latin typeface="Comic Sans MS"/>
              <a:ea typeface="Comic Sans MS"/>
              <a:cs typeface="Comic Sans MS"/>
              <a:sym typeface="Comic Sans MS"/>
            </a:endParaRPr>
          </a:p>
        </p:txBody>
      </p:sp>
      <p:sp>
        <p:nvSpPr>
          <p:cNvPr id="3453" name="Google Shape;3453;p58"/>
          <p:cNvSpPr txBox="1"/>
          <p:nvPr/>
        </p:nvSpPr>
        <p:spPr>
          <a:xfrm>
            <a:off x="4572034" y="3416409"/>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223.1.2.9</a:t>
            </a:r>
            <a:endParaRPr b="0" i="0" sz="1400" u="none" cap="none" strike="noStrike">
              <a:solidFill>
                <a:srgbClr val="000000"/>
              </a:solidFill>
              <a:latin typeface="Comic Sans MS"/>
              <a:ea typeface="Comic Sans MS"/>
              <a:cs typeface="Comic Sans MS"/>
              <a:sym typeface="Comic Sans MS"/>
            </a:endParaRPr>
          </a:p>
        </p:txBody>
      </p:sp>
      <p:sp>
        <p:nvSpPr>
          <p:cNvPr id="3454" name="Google Shape;3454;p58"/>
          <p:cNvSpPr txBox="1"/>
          <p:nvPr/>
        </p:nvSpPr>
        <p:spPr>
          <a:xfrm>
            <a:off x="5576206" y="4449327"/>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223.1.2.2</a:t>
            </a:r>
            <a:endParaRPr b="0" i="0" sz="1400" u="none" cap="none" strike="noStrike">
              <a:solidFill>
                <a:srgbClr val="000000"/>
              </a:solidFill>
              <a:latin typeface="Comic Sans MS"/>
              <a:ea typeface="Comic Sans MS"/>
              <a:cs typeface="Comic Sans MS"/>
              <a:sym typeface="Comic Sans MS"/>
            </a:endParaRPr>
          </a:p>
        </p:txBody>
      </p:sp>
      <p:sp>
        <p:nvSpPr>
          <p:cNvPr id="3455" name="Google Shape;3455;p58"/>
          <p:cNvSpPr txBox="1"/>
          <p:nvPr/>
        </p:nvSpPr>
        <p:spPr>
          <a:xfrm>
            <a:off x="5700504" y="2407928"/>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223.1.2.1</a:t>
            </a:r>
            <a:endParaRPr b="0" i="0" sz="1400" u="none" cap="none" strike="noStrike">
              <a:solidFill>
                <a:srgbClr val="000000"/>
              </a:solidFill>
              <a:latin typeface="Comic Sans MS"/>
              <a:ea typeface="Comic Sans MS"/>
              <a:cs typeface="Comic Sans MS"/>
              <a:sym typeface="Comic Sans MS"/>
            </a:endParaRPr>
          </a:p>
        </p:txBody>
      </p:sp>
      <p:cxnSp>
        <p:nvCxnSpPr>
          <p:cNvPr id="3456" name="Google Shape;3456;p58"/>
          <p:cNvCxnSpPr/>
          <p:nvPr/>
        </p:nvCxnSpPr>
        <p:spPr>
          <a:xfrm>
            <a:off x="4353185" y="3874288"/>
            <a:ext cx="0" cy="879025"/>
          </a:xfrm>
          <a:prstGeom prst="straightConnector1">
            <a:avLst/>
          </a:prstGeom>
          <a:noFill/>
          <a:ln cap="flat" cmpd="sng" w="19050">
            <a:solidFill>
              <a:srgbClr val="000000"/>
            </a:solidFill>
            <a:prstDash val="solid"/>
            <a:round/>
            <a:headEnd len="med" w="med" type="none"/>
            <a:tailEnd len="med" w="med" type="none"/>
          </a:ln>
        </p:spPr>
      </p:cxnSp>
      <p:sp>
        <p:nvSpPr>
          <p:cNvPr id="3457" name="Google Shape;3457;p58"/>
          <p:cNvSpPr txBox="1"/>
          <p:nvPr/>
        </p:nvSpPr>
        <p:spPr>
          <a:xfrm>
            <a:off x="4965677" y="5374255"/>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223.1.3.2</a:t>
            </a:r>
            <a:endParaRPr b="0" i="0" sz="1400" u="none" cap="none" strike="noStrike">
              <a:solidFill>
                <a:srgbClr val="000000"/>
              </a:solidFill>
              <a:latin typeface="Comic Sans MS"/>
              <a:ea typeface="Comic Sans MS"/>
              <a:cs typeface="Comic Sans MS"/>
              <a:sym typeface="Comic Sans MS"/>
            </a:endParaRPr>
          </a:p>
        </p:txBody>
      </p:sp>
      <p:sp>
        <p:nvSpPr>
          <p:cNvPr id="3458" name="Google Shape;3458;p58"/>
          <p:cNvSpPr txBox="1"/>
          <p:nvPr/>
        </p:nvSpPr>
        <p:spPr>
          <a:xfrm>
            <a:off x="3900694" y="5359648"/>
            <a:ext cx="93006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223.1.3.1</a:t>
            </a:r>
            <a:endParaRPr b="0" i="0" sz="1400" u="none" cap="none" strike="noStrike">
              <a:solidFill>
                <a:srgbClr val="000000"/>
              </a:solidFill>
              <a:latin typeface="Comic Sans MS"/>
              <a:ea typeface="Comic Sans MS"/>
              <a:cs typeface="Comic Sans MS"/>
              <a:sym typeface="Comic Sans MS"/>
            </a:endParaRPr>
          </a:p>
        </p:txBody>
      </p:sp>
      <p:grpSp>
        <p:nvGrpSpPr>
          <p:cNvPr id="3459" name="Google Shape;3459;p58"/>
          <p:cNvGrpSpPr/>
          <p:nvPr/>
        </p:nvGrpSpPr>
        <p:grpSpPr>
          <a:xfrm>
            <a:off x="3878520" y="4135775"/>
            <a:ext cx="1028699" cy="307975"/>
            <a:chOff x="4550" y="1257"/>
            <a:chExt cx="648" cy="194"/>
          </a:xfrm>
        </p:grpSpPr>
        <p:sp>
          <p:nvSpPr>
            <p:cNvPr id="3460" name="Google Shape;3460;p58"/>
            <p:cNvSpPr/>
            <p:nvPr/>
          </p:nvSpPr>
          <p:spPr>
            <a:xfrm>
              <a:off x="4587" y="1284"/>
              <a:ext cx="534" cy="11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1" name="Google Shape;3461;p58"/>
            <p:cNvSpPr txBox="1"/>
            <p:nvPr/>
          </p:nvSpPr>
          <p:spPr>
            <a:xfrm>
              <a:off x="4550" y="1257"/>
              <a:ext cx="648" cy="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223.1.3.27</a:t>
              </a:r>
              <a:endParaRPr b="0" i="0" sz="1400" u="none" cap="none" strike="noStrike">
                <a:solidFill>
                  <a:srgbClr val="000000"/>
                </a:solidFill>
                <a:latin typeface="Comic Sans MS"/>
                <a:ea typeface="Comic Sans MS"/>
                <a:cs typeface="Comic Sans MS"/>
                <a:sym typeface="Comic Sans MS"/>
              </a:endParaRPr>
            </a:p>
          </p:txBody>
        </p:sp>
      </p:grpSp>
      <p:grpSp>
        <p:nvGrpSpPr>
          <p:cNvPr id="3462" name="Google Shape;3462;p58"/>
          <p:cNvGrpSpPr/>
          <p:nvPr/>
        </p:nvGrpSpPr>
        <p:grpSpPr>
          <a:xfrm>
            <a:off x="2110048" y="2518113"/>
            <a:ext cx="641350" cy="558800"/>
            <a:chOff x="-44" y="1473"/>
            <a:chExt cx="981" cy="1105"/>
          </a:xfrm>
        </p:grpSpPr>
        <p:pic>
          <p:nvPicPr>
            <p:cNvPr descr="desktop_computer_stylized_medium" id="3463" name="Google Shape;3463;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64" name="Google Shape;3464;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65" name="Google Shape;3465;p58"/>
          <p:cNvGrpSpPr/>
          <p:nvPr/>
        </p:nvGrpSpPr>
        <p:grpSpPr>
          <a:xfrm>
            <a:off x="2105285" y="3116600"/>
            <a:ext cx="641350" cy="558800"/>
            <a:chOff x="-44" y="1473"/>
            <a:chExt cx="981" cy="1105"/>
          </a:xfrm>
        </p:grpSpPr>
        <p:pic>
          <p:nvPicPr>
            <p:cNvPr descr="desktop_computer_stylized_medium" id="3466" name="Google Shape;3466;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67" name="Google Shape;3467;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68" name="Google Shape;3468;p58"/>
          <p:cNvGrpSpPr/>
          <p:nvPr/>
        </p:nvGrpSpPr>
        <p:grpSpPr>
          <a:xfrm>
            <a:off x="2133860" y="3726200"/>
            <a:ext cx="641350" cy="558800"/>
            <a:chOff x="-44" y="1473"/>
            <a:chExt cx="981" cy="1105"/>
          </a:xfrm>
        </p:grpSpPr>
        <p:pic>
          <p:nvPicPr>
            <p:cNvPr descr="desktop_computer_stylized_medium" id="3469" name="Google Shape;3469;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0" name="Google Shape;3470;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1" name="Google Shape;3471;p58"/>
          <p:cNvGrpSpPr/>
          <p:nvPr/>
        </p:nvGrpSpPr>
        <p:grpSpPr>
          <a:xfrm flipH="1">
            <a:off x="5793048" y="2675275"/>
            <a:ext cx="641350" cy="558800"/>
            <a:chOff x="-44" y="1473"/>
            <a:chExt cx="981" cy="1105"/>
          </a:xfrm>
        </p:grpSpPr>
        <p:pic>
          <p:nvPicPr>
            <p:cNvPr descr="desktop_computer_stylized_medium" id="3472" name="Google Shape;3472;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3" name="Google Shape;3473;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4" name="Google Shape;3474;p58"/>
          <p:cNvGrpSpPr/>
          <p:nvPr/>
        </p:nvGrpSpPr>
        <p:grpSpPr>
          <a:xfrm flipH="1">
            <a:off x="5807335" y="3954800"/>
            <a:ext cx="641350" cy="558800"/>
            <a:chOff x="-44" y="1473"/>
            <a:chExt cx="981" cy="1105"/>
          </a:xfrm>
        </p:grpSpPr>
        <p:pic>
          <p:nvPicPr>
            <p:cNvPr descr="desktop_computer_stylized_medium" id="3475" name="Google Shape;3475;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6" name="Google Shape;3476;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77" name="Google Shape;3477;p58"/>
          <p:cNvGrpSpPr/>
          <p:nvPr/>
        </p:nvGrpSpPr>
        <p:grpSpPr>
          <a:xfrm flipH="1">
            <a:off x="5193019" y="4884750"/>
            <a:ext cx="641350" cy="558800"/>
            <a:chOff x="-44" y="1473"/>
            <a:chExt cx="981" cy="1105"/>
          </a:xfrm>
        </p:grpSpPr>
        <p:pic>
          <p:nvPicPr>
            <p:cNvPr descr="desktop_computer_stylized_medium" id="3478" name="Google Shape;3478;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79" name="Google Shape;3479;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grpSp>
        <p:nvGrpSpPr>
          <p:cNvPr id="3480" name="Google Shape;3480;p58"/>
          <p:cNvGrpSpPr/>
          <p:nvPr/>
        </p:nvGrpSpPr>
        <p:grpSpPr>
          <a:xfrm flipH="1">
            <a:off x="3683849" y="5545761"/>
            <a:ext cx="641350" cy="558800"/>
            <a:chOff x="-44" y="1473"/>
            <a:chExt cx="981" cy="1105"/>
          </a:xfrm>
        </p:grpSpPr>
        <p:pic>
          <p:nvPicPr>
            <p:cNvPr descr="desktop_computer_stylized_medium" id="3481" name="Google Shape;3481;p5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482" name="Google Shape;3482;p5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rgbClr val="000000"/>
                </a:solidFill>
                <a:latin typeface="Arial"/>
                <a:ea typeface="Arial"/>
                <a:cs typeface="Arial"/>
                <a:sym typeface="Arial"/>
              </a:endParaRPr>
            </a:p>
          </p:txBody>
        </p:sp>
      </p:grpSp>
      <p:cxnSp>
        <p:nvCxnSpPr>
          <p:cNvPr id="3483" name="Google Shape;3483;p58"/>
          <p:cNvCxnSpPr/>
          <p:nvPr/>
        </p:nvCxnSpPr>
        <p:spPr>
          <a:xfrm>
            <a:off x="2690676" y="2925190"/>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4" name="Google Shape;3484;p58"/>
          <p:cNvCxnSpPr/>
          <p:nvPr/>
        </p:nvCxnSpPr>
        <p:spPr>
          <a:xfrm>
            <a:off x="2692109" y="3524075"/>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5" name="Google Shape;3485;p58"/>
          <p:cNvCxnSpPr/>
          <p:nvPr/>
        </p:nvCxnSpPr>
        <p:spPr>
          <a:xfrm>
            <a:off x="2699264" y="4137247"/>
            <a:ext cx="342900" cy="0"/>
          </a:xfrm>
          <a:prstGeom prst="straightConnector1">
            <a:avLst/>
          </a:prstGeom>
          <a:noFill/>
          <a:ln cap="flat" cmpd="sng" w="19050">
            <a:solidFill>
              <a:schemeClr val="dk1"/>
            </a:solidFill>
            <a:prstDash val="solid"/>
            <a:miter lim="800000"/>
            <a:headEnd len="sm" w="sm" type="none"/>
            <a:tailEnd len="sm" w="sm" type="none"/>
          </a:ln>
        </p:spPr>
      </p:cxnSp>
      <p:cxnSp>
        <p:nvCxnSpPr>
          <p:cNvPr id="3486" name="Google Shape;3486;p58"/>
          <p:cNvCxnSpPr/>
          <p:nvPr/>
        </p:nvCxnSpPr>
        <p:spPr>
          <a:xfrm>
            <a:off x="5623185" y="3081673"/>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487" name="Google Shape;3487;p58"/>
          <p:cNvCxnSpPr/>
          <p:nvPr/>
        </p:nvCxnSpPr>
        <p:spPr>
          <a:xfrm>
            <a:off x="5624546" y="4360781"/>
            <a:ext cx="261087" cy="0"/>
          </a:xfrm>
          <a:prstGeom prst="straightConnector1">
            <a:avLst/>
          </a:prstGeom>
          <a:noFill/>
          <a:ln cap="flat" cmpd="sng" w="19050">
            <a:solidFill>
              <a:schemeClr val="dk1"/>
            </a:solidFill>
            <a:prstDash val="solid"/>
            <a:miter lim="800000"/>
            <a:headEnd len="sm" w="sm" type="none"/>
            <a:tailEnd len="sm" w="sm" type="none"/>
          </a:ln>
        </p:spPr>
      </p:cxnSp>
      <p:cxnSp>
        <p:nvCxnSpPr>
          <p:cNvPr id="3488" name="Google Shape;3488;p58"/>
          <p:cNvCxnSpPr/>
          <p:nvPr/>
        </p:nvCxnSpPr>
        <p:spPr>
          <a:xfrm>
            <a:off x="3883139" y="5341789"/>
            <a:ext cx="0" cy="232696"/>
          </a:xfrm>
          <a:prstGeom prst="straightConnector1">
            <a:avLst/>
          </a:prstGeom>
          <a:noFill/>
          <a:ln cap="flat" cmpd="sng" w="19050">
            <a:solidFill>
              <a:schemeClr val="dk1"/>
            </a:solidFill>
            <a:prstDash val="solid"/>
            <a:miter lim="800000"/>
            <a:headEnd len="sm" w="sm" type="none"/>
            <a:tailEnd len="sm" w="sm" type="none"/>
          </a:ln>
        </p:spPr>
      </p:cxnSp>
      <p:cxnSp>
        <p:nvCxnSpPr>
          <p:cNvPr id="3489" name="Google Shape;3489;p58"/>
          <p:cNvCxnSpPr/>
          <p:nvPr/>
        </p:nvCxnSpPr>
        <p:spPr>
          <a:xfrm>
            <a:off x="4911047" y="5304616"/>
            <a:ext cx="380145" cy="0"/>
          </a:xfrm>
          <a:prstGeom prst="straightConnector1">
            <a:avLst/>
          </a:prstGeom>
          <a:noFill/>
          <a:ln cap="flat" cmpd="sng" w="19050">
            <a:solidFill>
              <a:schemeClr val="dk1"/>
            </a:solidFill>
            <a:prstDash val="solid"/>
            <a:miter lim="800000"/>
            <a:headEnd len="sm" w="sm" type="none"/>
            <a:tailEnd len="sm" w="sm" type="none"/>
          </a:ln>
        </p:spPr>
      </p:cxnSp>
      <p:cxnSp>
        <p:nvCxnSpPr>
          <p:cNvPr id="3490" name="Google Shape;3490;p58"/>
          <p:cNvCxnSpPr/>
          <p:nvPr/>
        </p:nvCxnSpPr>
        <p:spPr>
          <a:xfrm>
            <a:off x="3357797" y="3717874"/>
            <a:ext cx="794264" cy="0"/>
          </a:xfrm>
          <a:prstGeom prst="straightConnector1">
            <a:avLst/>
          </a:prstGeom>
          <a:noFill/>
          <a:ln cap="flat" cmpd="sng" w="19050">
            <a:solidFill>
              <a:schemeClr val="dk1"/>
            </a:solidFill>
            <a:prstDash val="solid"/>
            <a:miter lim="800000"/>
            <a:headEnd len="sm" w="sm" type="none"/>
            <a:tailEnd len="sm" w="sm" type="none"/>
          </a:ln>
        </p:spPr>
      </p:cxnSp>
      <p:cxnSp>
        <p:nvCxnSpPr>
          <p:cNvPr id="3491" name="Google Shape;3491;p58"/>
          <p:cNvCxnSpPr/>
          <p:nvPr/>
        </p:nvCxnSpPr>
        <p:spPr>
          <a:xfrm>
            <a:off x="4540907" y="3723826"/>
            <a:ext cx="975473" cy="0"/>
          </a:xfrm>
          <a:prstGeom prst="straightConnector1">
            <a:avLst/>
          </a:prstGeom>
          <a:noFill/>
          <a:ln cap="flat" cmpd="sng" w="19050">
            <a:solidFill>
              <a:schemeClr val="dk1"/>
            </a:solidFill>
            <a:prstDash val="solid"/>
            <a:miter lim="800000"/>
            <a:headEnd len="sm" w="sm" type="none"/>
            <a:tailEnd len="sm" w="sm" type="none"/>
          </a:ln>
        </p:spPr>
      </p:cxnSp>
      <p:grpSp>
        <p:nvGrpSpPr>
          <p:cNvPr id="3492" name="Google Shape;3492;p58"/>
          <p:cNvGrpSpPr/>
          <p:nvPr/>
        </p:nvGrpSpPr>
        <p:grpSpPr>
          <a:xfrm>
            <a:off x="4046926" y="3577753"/>
            <a:ext cx="632991" cy="300938"/>
            <a:chOff x="7493876" y="2774731"/>
            <a:chExt cx="1481958" cy="894622"/>
          </a:xfrm>
        </p:grpSpPr>
        <p:sp>
          <p:nvSpPr>
            <p:cNvPr id="3493" name="Google Shape;3493;p5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                   </a:t>
              </a:r>
              <a:endParaRPr/>
            </a:p>
          </p:txBody>
        </p:sp>
        <p:sp>
          <p:nvSpPr>
            <p:cNvPr id="3494" name="Google Shape;3494;p5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              </a:t>
              </a:r>
              <a:endParaRPr/>
            </a:p>
          </p:txBody>
        </p:sp>
        <p:grpSp>
          <p:nvGrpSpPr>
            <p:cNvPr id="3495" name="Google Shape;3495;p58"/>
            <p:cNvGrpSpPr/>
            <p:nvPr/>
          </p:nvGrpSpPr>
          <p:grpSpPr>
            <a:xfrm>
              <a:off x="7713663" y="2848339"/>
              <a:ext cx="1042107" cy="425543"/>
              <a:chOff x="7786941" y="2884917"/>
              <a:chExt cx="897649" cy="353919"/>
            </a:xfrm>
          </p:grpSpPr>
          <p:sp>
            <p:nvSpPr>
              <p:cNvPr id="3496" name="Google Shape;3496;p5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7" name="Google Shape;3497;p5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8" name="Google Shape;3498;p5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sp>
            <p:nvSpPr>
              <p:cNvPr id="3499" name="Google Shape;3499;p5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000"/>
                  <a:buFont typeface="Calibri"/>
                  <a:buNone/>
                </a:pPr>
                <a:r>
                  <a:t/>
                </a:r>
                <a:endParaRPr b="0" i="0" sz="2000" u="none" cap="none" strike="noStrike">
                  <a:solidFill>
                    <a:srgbClr val="FFFFFF"/>
                  </a:solidFill>
                  <a:latin typeface="Calibri"/>
                  <a:ea typeface="Calibri"/>
                  <a:cs typeface="Calibri"/>
                  <a:sym typeface="Calibri"/>
                </a:endParaRPr>
              </a:p>
            </p:txBody>
          </p:sp>
        </p:grpSp>
      </p:grpSp>
      <p:grpSp>
        <p:nvGrpSpPr>
          <p:cNvPr id="3500" name="Google Shape;3500;p58"/>
          <p:cNvGrpSpPr/>
          <p:nvPr/>
        </p:nvGrpSpPr>
        <p:grpSpPr>
          <a:xfrm>
            <a:off x="4199467" y="1861963"/>
            <a:ext cx="1778000" cy="1399961"/>
            <a:chOff x="4199467" y="1861963"/>
            <a:chExt cx="1778000" cy="1399961"/>
          </a:xfrm>
        </p:grpSpPr>
        <p:sp>
          <p:nvSpPr>
            <p:cNvPr id="3501" name="Google Shape;3501;p58"/>
            <p:cNvSpPr txBox="1"/>
            <p:nvPr/>
          </p:nvSpPr>
          <p:spPr>
            <a:xfrm>
              <a:off x="4199467" y="1861963"/>
              <a:ext cx="1778000" cy="409023"/>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400"/>
                <a:buFont typeface="Calibri"/>
                <a:buNone/>
              </a:pPr>
              <a:r>
                <a:rPr b="0" i="0" lang="en-US" sz="2400" u="none" cap="none" strike="noStrike">
                  <a:solidFill>
                    <a:srgbClr val="CC0000"/>
                  </a:solidFill>
                  <a:latin typeface="Calibri"/>
                  <a:ea typeface="Calibri"/>
                  <a:cs typeface="Calibri"/>
                  <a:sym typeface="Calibri"/>
                </a:rPr>
                <a:t>DHCP server</a:t>
              </a:r>
              <a:endParaRPr/>
            </a:p>
          </p:txBody>
        </p:sp>
        <p:grpSp>
          <p:nvGrpSpPr>
            <p:cNvPr id="3502" name="Google Shape;3502;p58"/>
            <p:cNvGrpSpPr/>
            <p:nvPr/>
          </p:nvGrpSpPr>
          <p:grpSpPr>
            <a:xfrm>
              <a:off x="4496295" y="2275617"/>
              <a:ext cx="1061308" cy="986307"/>
              <a:chOff x="4496295" y="2275617"/>
              <a:chExt cx="1061308" cy="986307"/>
            </a:xfrm>
          </p:grpSpPr>
          <p:grpSp>
            <p:nvGrpSpPr>
              <p:cNvPr id="3503" name="Google Shape;3503;p58"/>
              <p:cNvGrpSpPr/>
              <p:nvPr/>
            </p:nvGrpSpPr>
            <p:grpSpPr>
              <a:xfrm>
                <a:off x="4733925" y="2275617"/>
                <a:ext cx="365672" cy="681037"/>
                <a:chOff x="4140" y="429"/>
                <a:chExt cx="1425" cy="2396"/>
              </a:xfrm>
            </p:grpSpPr>
            <p:sp>
              <p:nvSpPr>
                <p:cNvPr id="3504" name="Google Shape;3504;p5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5" name="Google Shape;3505;p58"/>
                <p:cNvSpPr/>
                <p:nvPr/>
              </p:nvSpPr>
              <p:spPr>
                <a:xfrm>
                  <a:off x="4208" y="429"/>
                  <a:ext cx="1048"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6" name="Google Shape;3506;p5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7" name="Google Shape;3507;p5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08" name="Google Shape;3508;p58"/>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09" name="Google Shape;3509;p58"/>
                <p:cNvGrpSpPr/>
                <p:nvPr/>
              </p:nvGrpSpPr>
              <p:grpSpPr>
                <a:xfrm>
                  <a:off x="4748" y="669"/>
                  <a:ext cx="580" cy="145"/>
                  <a:chOff x="613" y="2569"/>
                  <a:chExt cx="724" cy="139"/>
                </a:xfrm>
              </p:grpSpPr>
              <p:sp>
                <p:nvSpPr>
                  <p:cNvPr id="3510" name="Google Shape;3510;p58"/>
                  <p:cNvSpPr/>
                  <p:nvPr/>
                </p:nvSpPr>
                <p:spPr>
                  <a:xfrm>
                    <a:off x="613" y="2569"/>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1" name="Google Shape;3511;p58"/>
                  <p:cNvSpPr/>
                  <p:nvPr/>
                </p:nvSpPr>
                <p:spPr>
                  <a:xfrm>
                    <a:off x="627" y="2585"/>
                    <a:ext cx="689"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2" name="Google Shape;3512;p58"/>
                <p:cNvSpPr/>
                <p:nvPr/>
              </p:nvSpPr>
              <p:spPr>
                <a:xfrm>
                  <a:off x="4224" y="1021"/>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13" name="Google Shape;3513;p58"/>
                <p:cNvGrpSpPr/>
                <p:nvPr/>
              </p:nvGrpSpPr>
              <p:grpSpPr>
                <a:xfrm>
                  <a:off x="4749" y="993"/>
                  <a:ext cx="580" cy="134"/>
                  <a:chOff x="616" y="2567"/>
                  <a:chExt cx="724" cy="139"/>
                </a:xfrm>
              </p:grpSpPr>
              <p:sp>
                <p:nvSpPr>
                  <p:cNvPr id="3514" name="Google Shape;3514;p58"/>
                  <p:cNvSpPr/>
                  <p:nvPr/>
                </p:nvSpPr>
                <p:spPr>
                  <a:xfrm>
                    <a:off x="616" y="2567"/>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5" name="Google Shape;3515;p58"/>
                  <p:cNvSpPr/>
                  <p:nvPr/>
                </p:nvSpPr>
                <p:spPr>
                  <a:xfrm>
                    <a:off x="630" y="2584"/>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16" name="Google Shape;3516;p58"/>
                <p:cNvSpPr/>
                <p:nvPr/>
              </p:nvSpPr>
              <p:spPr>
                <a:xfrm>
                  <a:off x="4219" y="1356"/>
                  <a:ext cx="591"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7" name="Google Shape;3517;p58"/>
                <p:cNvSpPr/>
                <p:nvPr/>
              </p:nvSpPr>
              <p:spPr>
                <a:xfrm>
                  <a:off x="4230" y="1658"/>
                  <a:ext cx="591"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18" name="Google Shape;3518;p58"/>
                <p:cNvGrpSpPr/>
                <p:nvPr/>
              </p:nvGrpSpPr>
              <p:grpSpPr>
                <a:xfrm>
                  <a:off x="4737" y="1636"/>
                  <a:ext cx="580" cy="151"/>
                  <a:chOff x="617" y="2576"/>
                  <a:chExt cx="723" cy="139"/>
                </a:xfrm>
              </p:grpSpPr>
              <p:sp>
                <p:nvSpPr>
                  <p:cNvPr id="3519" name="Google Shape;3519;p58"/>
                  <p:cNvSpPr/>
                  <p:nvPr/>
                </p:nvSpPr>
                <p:spPr>
                  <a:xfrm>
                    <a:off x="617" y="2576"/>
                    <a:ext cx="723"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0" name="Google Shape;3520;p58"/>
                  <p:cNvSpPr/>
                  <p:nvPr/>
                </p:nvSpPr>
                <p:spPr>
                  <a:xfrm>
                    <a:off x="631" y="2586"/>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1" name="Google Shape;3521;p5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22" name="Google Shape;3522;p58"/>
                <p:cNvGrpSpPr/>
                <p:nvPr/>
              </p:nvGrpSpPr>
              <p:grpSpPr>
                <a:xfrm>
                  <a:off x="4737" y="1328"/>
                  <a:ext cx="586" cy="140"/>
                  <a:chOff x="612" y="2569"/>
                  <a:chExt cx="730" cy="140"/>
                </a:xfrm>
              </p:grpSpPr>
              <p:sp>
                <p:nvSpPr>
                  <p:cNvPr id="3523" name="Google Shape;3523;p58"/>
                  <p:cNvSpPr/>
                  <p:nvPr/>
                </p:nvSpPr>
                <p:spPr>
                  <a:xfrm>
                    <a:off x="612" y="2569"/>
                    <a:ext cx="730"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4" name="Google Shape;3524;p58"/>
                  <p:cNvSpPr/>
                  <p:nvPr/>
                </p:nvSpPr>
                <p:spPr>
                  <a:xfrm>
                    <a:off x="626" y="2586"/>
                    <a:ext cx="695"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5" name="Google Shape;3525;p58"/>
                <p:cNvSpPr/>
                <p:nvPr/>
              </p:nvSpPr>
              <p:spPr>
                <a:xfrm>
                  <a:off x="5250"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6" name="Google Shape;3526;p5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7" name="Google Shape;3527;p5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28" name="Google Shape;3528;p58"/>
                <p:cNvSpPr/>
                <p:nvPr/>
              </p:nvSpPr>
              <p:spPr>
                <a:xfrm>
                  <a:off x="5514" y="2613"/>
                  <a:ext cx="51"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9" name="Google Shape;3529;p5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30" name="Google Shape;3530;p58"/>
                <p:cNvSpPr/>
                <p:nvPr/>
              </p:nvSpPr>
              <p:spPr>
                <a:xfrm>
                  <a:off x="4140" y="2680"/>
                  <a:ext cx="1200" cy="1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1" name="Google Shape;3531;p58"/>
                <p:cNvSpPr/>
                <p:nvPr/>
              </p:nvSpPr>
              <p:spPr>
                <a:xfrm>
                  <a:off x="4208" y="2713"/>
                  <a:ext cx="1070" cy="78"/>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2" name="Google Shape;3532;p58"/>
                <p:cNvSpPr/>
                <p:nvPr/>
              </p:nvSpPr>
              <p:spPr>
                <a:xfrm>
                  <a:off x="4309" y="2384"/>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3" name="Google Shape;3533;p58"/>
                <p:cNvSpPr/>
                <p:nvPr/>
              </p:nvSpPr>
              <p:spPr>
                <a:xfrm>
                  <a:off x="4484" y="2384"/>
                  <a:ext cx="163"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FF0000"/>
                    </a:solidFill>
                    <a:latin typeface="Arial"/>
                    <a:ea typeface="Arial"/>
                    <a:cs typeface="Arial"/>
                    <a:sym typeface="Arial"/>
                  </a:endParaRPr>
                </a:p>
              </p:txBody>
            </p:sp>
            <p:sp>
              <p:nvSpPr>
                <p:cNvPr id="3534" name="Google Shape;3534;p58"/>
                <p:cNvSpPr/>
                <p:nvPr/>
              </p:nvSpPr>
              <p:spPr>
                <a:xfrm>
                  <a:off x="4664" y="2384"/>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5" name="Google Shape;3535;p58"/>
                <p:cNvSpPr/>
                <p:nvPr/>
              </p:nvSpPr>
              <p:spPr>
                <a:xfrm>
                  <a:off x="5064" y="1836"/>
                  <a:ext cx="84"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536" name="Google Shape;3536;p58"/>
              <p:cNvCxnSpPr/>
              <p:nvPr/>
            </p:nvCxnSpPr>
            <p:spPr>
              <a:xfrm rot="10800000">
                <a:off x="5013585" y="2937914"/>
                <a:ext cx="544018" cy="0"/>
              </a:xfrm>
              <a:prstGeom prst="straightConnector1">
                <a:avLst/>
              </a:prstGeom>
              <a:noFill/>
              <a:ln cap="flat" cmpd="sng" w="19050">
                <a:solidFill>
                  <a:schemeClr val="dk1"/>
                </a:solidFill>
                <a:prstDash val="solid"/>
                <a:miter lim="800000"/>
                <a:headEnd len="sm" w="sm" type="none"/>
                <a:tailEnd len="sm" w="sm" type="none"/>
              </a:ln>
            </p:spPr>
          </p:cxnSp>
          <p:sp>
            <p:nvSpPr>
              <p:cNvPr id="3537" name="Google Shape;3537;p58"/>
              <p:cNvSpPr txBox="1"/>
              <p:nvPr/>
            </p:nvSpPr>
            <p:spPr>
              <a:xfrm>
                <a:off x="4496295" y="2923370"/>
                <a:ext cx="104067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223.1.2.5</a:t>
                </a:r>
                <a:endParaRPr b="0" i="0" sz="1400" u="none" cap="none" strike="noStrike">
                  <a:solidFill>
                    <a:srgbClr val="000000"/>
                  </a:solidFill>
                  <a:latin typeface="Comic Sans MS"/>
                  <a:ea typeface="Comic Sans MS"/>
                  <a:cs typeface="Comic Sans MS"/>
                  <a:sym typeface="Comic Sans MS"/>
                </a:endParaRPr>
              </a:p>
            </p:txBody>
          </p:sp>
        </p:grpSp>
      </p:grpSp>
      <p:pic>
        <p:nvPicPr>
          <p:cNvPr descr="access_point_stylized_small" id="3538" name="Google Shape;3538;p58"/>
          <p:cNvPicPr preferRelativeResize="0"/>
          <p:nvPr/>
        </p:nvPicPr>
        <p:blipFill rotWithShape="1">
          <a:blip r:embed="rId4">
            <a:alphaModFix/>
          </a:blip>
          <a:srcRect b="0" l="0" r="0" t="0"/>
          <a:stretch/>
        </p:blipFill>
        <p:spPr>
          <a:xfrm>
            <a:off x="5480205" y="3404249"/>
            <a:ext cx="587412" cy="486930"/>
          </a:xfrm>
          <a:prstGeom prst="rect">
            <a:avLst/>
          </a:prstGeom>
          <a:noFill/>
          <a:ln>
            <a:noFill/>
          </a:ln>
        </p:spPr>
      </p:pic>
      <p:grpSp>
        <p:nvGrpSpPr>
          <p:cNvPr id="3539" name="Google Shape;3539;p58"/>
          <p:cNvGrpSpPr/>
          <p:nvPr/>
        </p:nvGrpSpPr>
        <p:grpSpPr>
          <a:xfrm>
            <a:off x="6417296" y="3245381"/>
            <a:ext cx="4688026" cy="1596861"/>
            <a:chOff x="6417296" y="3245381"/>
            <a:chExt cx="4688026" cy="1596861"/>
          </a:xfrm>
        </p:grpSpPr>
        <p:grpSp>
          <p:nvGrpSpPr>
            <p:cNvPr id="3540" name="Google Shape;3540;p58"/>
            <p:cNvGrpSpPr/>
            <p:nvPr/>
          </p:nvGrpSpPr>
          <p:grpSpPr>
            <a:xfrm>
              <a:off x="7290172" y="3245381"/>
              <a:ext cx="1015378" cy="926641"/>
              <a:chOff x="7432700" y="2327293"/>
              <a:chExt cx="534987" cy="414882"/>
            </a:xfrm>
          </p:grpSpPr>
          <p:pic>
            <p:nvPicPr>
              <p:cNvPr descr="antenna_stylized" id="3541" name="Google Shape;3541;p58"/>
              <p:cNvPicPr preferRelativeResize="0"/>
              <p:nvPr/>
            </p:nvPicPr>
            <p:blipFill rotWithShape="1">
              <a:blip r:embed="rId5">
                <a:alphaModFix/>
              </a:blip>
              <a:srcRect b="0" l="0" r="0" t="0"/>
              <a:stretch/>
            </p:blipFill>
            <p:spPr>
              <a:xfrm>
                <a:off x="7432700" y="2327293"/>
                <a:ext cx="530702" cy="223756"/>
              </a:xfrm>
              <a:prstGeom prst="rect">
                <a:avLst/>
              </a:prstGeom>
              <a:noFill/>
              <a:ln>
                <a:noFill/>
              </a:ln>
            </p:spPr>
          </p:pic>
          <p:pic>
            <p:nvPicPr>
              <p:cNvPr descr="laptop_keyboard" id="3542" name="Google Shape;3542;p58"/>
              <p:cNvPicPr preferRelativeResize="0"/>
              <p:nvPr/>
            </p:nvPicPr>
            <p:blipFill rotWithShape="1">
              <a:blip r:embed="rId6">
                <a:alphaModFix/>
              </a:blip>
              <a:srcRect b="0" l="0" r="0" t="0"/>
              <a:stretch/>
            </p:blipFill>
            <p:spPr>
              <a:xfrm flipH="1" rot="109064">
                <a:off x="7458407" y="2575770"/>
                <a:ext cx="437221" cy="159511"/>
              </a:xfrm>
              <a:prstGeom prst="rect">
                <a:avLst/>
              </a:prstGeom>
              <a:noFill/>
              <a:ln>
                <a:noFill/>
              </a:ln>
            </p:spPr>
          </p:pic>
          <p:sp>
            <p:nvSpPr>
              <p:cNvPr id="3543" name="Google Shape;3543;p58"/>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3544" name="Google Shape;3544;p58"/>
              <p:cNvPicPr preferRelativeResize="0"/>
              <p:nvPr/>
            </p:nvPicPr>
            <p:blipFill rotWithShape="1">
              <a:blip r:embed="rId7">
                <a:alphaModFix/>
              </a:blip>
              <a:srcRect b="0" l="0" r="0" t="0"/>
              <a:stretch/>
            </p:blipFill>
            <p:spPr>
              <a:xfrm>
                <a:off x="7620637" y="2426338"/>
                <a:ext cx="319785" cy="189429"/>
              </a:xfrm>
              <a:prstGeom prst="rect">
                <a:avLst/>
              </a:prstGeom>
              <a:noFill/>
              <a:ln>
                <a:noFill/>
              </a:ln>
            </p:spPr>
          </p:pic>
          <p:sp>
            <p:nvSpPr>
              <p:cNvPr id="3545" name="Google Shape;3545;p58"/>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6" name="Google Shape;3546;p58"/>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7" name="Google Shape;3547;p58"/>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8" name="Google Shape;3548;p58"/>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49" name="Google Shape;3549;p58"/>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0" name="Google Shape;3550;p58"/>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551" name="Google Shape;3551;p58"/>
              <p:cNvGrpSpPr/>
              <p:nvPr/>
            </p:nvGrpSpPr>
            <p:grpSpPr>
              <a:xfrm>
                <a:off x="7594735" y="2642220"/>
                <a:ext cx="98740" cy="36846"/>
                <a:chOff x="1740" y="2642"/>
                <a:chExt cx="752" cy="327"/>
              </a:xfrm>
            </p:grpSpPr>
            <p:sp>
              <p:nvSpPr>
                <p:cNvPr id="3552" name="Google Shape;3552;p5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3" name="Google Shape;3553;p5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4" name="Google Shape;3554;p5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5" name="Google Shape;3555;p5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6" name="Google Shape;3556;p5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7" name="Google Shape;3557;p5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58" name="Google Shape;3558;p58"/>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59" name="Google Shape;3559;p58"/>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0" name="Google Shape;3560;p58"/>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1" name="Google Shape;3561;p58"/>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2" name="Google Shape;3562;p58"/>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563" name="Google Shape;3563;p58"/>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564" name="Google Shape;3564;p58"/>
            <p:cNvSpPr txBox="1"/>
            <p:nvPr/>
          </p:nvSpPr>
          <p:spPr>
            <a:xfrm>
              <a:off x="7489203" y="4119287"/>
              <a:ext cx="3616119"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arriving </a:t>
              </a:r>
              <a:r>
                <a:rPr b="0" i="0" lang="en-US" sz="2400" u="none" cap="none" strike="noStrike">
                  <a:solidFill>
                    <a:srgbClr val="CC0000"/>
                  </a:solidFill>
                  <a:latin typeface="Calibri"/>
                  <a:ea typeface="Calibri"/>
                  <a:cs typeface="Calibri"/>
                  <a:sym typeface="Calibri"/>
                </a:rPr>
                <a:t>DHCP client</a:t>
              </a:r>
              <a:r>
                <a:rPr b="0" i="0" lang="en-US" sz="2400" u="none" cap="none" strike="noStrike">
                  <a:solidFill>
                    <a:srgbClr val="000000"/>
                  </a:solidFill>
                  <a:latin typeface="Calibri"/>
                  <a:ea typeface="Calibri"/>
                  <a:cs typeface="Calibri"/>
                  <a:sym typeface="Calibri"/>
                </a:rPr>
                <a:t> needs </a:t>
              </a:r>
              <a:endParaRPr/>
            </a:p>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address in this network</a:t>
              </a:r>
              <a:endParaRPr/>
            </a:p>
          </p:txBody>
        </p:sp>
        <p:sp>
          <p:nvSpPr>
            <p:cNvPr id="3565" name="Google Shape;3565;p58"/>
            <p:cNvSpPr/>
            <p:nvPr/>
          </p:nvSpPr>
          <p:spPr>
            <a:xfrm>
              <a:off x="6417296" y="3433832"/>
              <a:ext cx="976312" cy="374650"/>
            </a:xfrm>
            <a:prstGeom prst="leftArrow">
              <a:avLst>
                <a:gd fmla="val 50000" name="adj1"/>
                <a:gd fmla="val 65148" name="adj2"/>
              </a:avLst>
            </a:prstGeom>
            <a:gradFill>
              <a:gsLst>
                <a:gs pos="0">
                  <a:srgbClr val="CC0000"/>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66" name="Google Shape;3566;p58"/>
          <p:cNvSpPr txBox="1"/>
          <p:nvPr/>
        </p:nvSpPr>
        <p:spPr>
          <a:xfrm>
            <a:off x="7145867" y="1456267"/>
            <a:ext cx="4690533"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Typically, DHCP server will be  co-located in router, serving all subnets to which router is attached</a:t>
            </a:r>
            <a:endParaRPr/>
          </a:p>
        </p:txBody>
      </p:sp>
      <p:sp>
        <p:nvSpPr>
          <p:cNvPr id="3567" name="Google Shape;3567;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0"/>
                                        </p:tgtEl>
                                        <p:attrNameLst>
                                          <p:attrName>style.visibility</p:attrName>
                                        </p:attrNameLst>
                                      </p:cBhvr>
                                      <p:to>
                                        <p:strVal val="visible"/>
                                      </p:to>
                                    </p:set>
                                    <p:animEffect filter="fade" transition="in">
                                      <p:cBhvr>
                                        <p:cTn dur="500"/>
                                        <p:tgtEl>
                                          <p:spTgt spid="3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6"/>
                                        </p:tgtEl>
                                        <p:attrNameLst>
                                          <p:attrName>style.visibility</p:attrName>
                                        </p:attrNameLst>
                                      </p:cBhvr>
                                      <p:to>
                                        <p:strVal val="visible"/>
                                      </p:to>
                                    </p:set>
                                    <p:animEffect filter="fade" transition="in">
                                      <p:cBhvr>
                                        <p:cTn dur="500"/>
                                        <p:tgtEl>
                                          <p:spTgt spid="3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9"/>
                                        </p:tgtEl>
                                        <p:attrNameLst>
                                          <p:attrName>style.visibility</p:attrName>
                                        </p:attrNameLst>
                                      </p:cBhvr>
                                      <p:to>
                                        <p:strVal val="visible"/>
                                      </p:to>
                                    </p:set>
                                    <p:animEffect filter="fade" transition="in">
                                      <p:cBhvr>
                                        <p:cTn dur="500"/>
                                        <p:tgtEl>
                                          <p:spTgt spid="35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2" name="Shape 3572"/>
        <p:cNvGrpSpPr/>
        <p:nvPr/>
      </p:nvGrpSpPr>
      <p:grpSpPr>
        <a:xfrm>
          <a:off x="0" y="0"/>
          <a:ext cx="0" cy="0"/>
          <a:chOff x="0" y="0"/>
          <a:chExt cx="0" cy="0"/>
        </a:xfrm>
      </p:grpSpPr>
      <p:sp>
        <p:nvSpPr>
          <p:cNvPr id="3573" name="Google Shape;3573;p5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client-server scenario</a:t>
            </a:r>
            <a:endParaRPr/>
          </a:p>
        </p:txBody>
      </p:sp>
      <p:sp>
        <p:nvSpPr>
          <p:cNvPr id="3574" name="Google Shape;3574;p59"/>
          <p:cNvSpPr txBox="1"/>
          <p:nvPr/>
        </p:nvSpPr>
        <p:spPr>
          <a:xfrm>
            <a:off x="2603536" y="1300439"/>
            <a:ext cx="2342181"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DHCP server: 223.1.2.5</a:t>
            </a:r>
            <a:endParaRPr/>
          </a:p>
        </p:txBody>
      </p:sp>
      <p:sp>
        <p:nvSpPr>
          <p:cNvPr id="3575" name="Google Shape;3575;p59"/>
          <p:cNvSpPr/>
          <p:nvPr/>
        </p:nvSpPr>
        <p:spPr>
          <a:xfrm>
            <a:off x="8680174" y="1466575"/>
            <a:ext cx="2066580" cy="329834"/>
          </a:xfrm>
          <a:prstGeom prst="rect">
            <a:avLst/>
          </a:prstGeom>
          <a:no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Arriving client</a:t>
            </a:r>
            <a:endParaRPr b="0" i="0" sz="1800" u="none" cap="none" strike="noStrike">
              <a:solidFill>
                <a:srgbClr val="000000"/>
              </a:solidFill>
              <a:latin typeface="Calibri"/>
              <a:ea typeface="Calibri"/>
              <a:cs typeface="Calibri"/>
              <a:sym typeface="Calibri"/>
            </a:endParaRPr>
          </a:p>
        </p:txBody>
      </p:sp>
      <p:cxnSp>
        <p:nvCxnSpPr>
          <p:cNvPr id="3576" name="Google Shape;3576;p59"/>
          <p:cNvCxnSpPr/>
          <p:nvPr/>
        </p:nvCxnSpPr>
        <p:spPr>
          <a:xfrm flipH="1">
            <a:off x="4572552" y="2256526"/>
            <a:ext cx="11113" cy="4027487"/>
          </a:xfrm>
          <a:prstGeom prst="straightConnector1">
            <a:avLst/>
          </a:prstGeom>
          <a:noFill/>
          <a:ln cap="flat" cmpd="sng" w="9525">
            <a:solidFill>
              <a:srgbClr val="808080"/>
            </a:solidFill>
            <a:prstDash val="solid"/>
            <a:round/>
            <a:headEnd len="med" w="med" type="none"/>
            <a:tailEnd len="med" w="med" type="triangle"/>
          </a:ln>
        </p:spPr>
      </p:cxnSp>
      <p:cxnSp>
        <p:nvCxnSpPr>
          <p:cNvPr id="3577" name="Google Shape;3577;p59"/>
          <p:cNvCxnSpPr/>
          <p:nvPr/>
        </p:nvCxnSpPr>
        <p:spPr>
          <a:xfrm flipH="1">
            <a:off x="9098515" y="2332726"/>
            <a:ext cx="11112" cy="4140200"/>
          </a:xfrm>
          <a:prstGeom prst="straightConnector1">
            <a:avLst/>
          </a:prstGeom>
          <a:noFill/>
          <a:ln cap="flat" cmpd="sng" w="9525">
            <a:solidFill>
              <a:srgbClr val="808080"/>
            </a:solidFill>
            <a:prstDash val="solid"/>
            <a:round/>
            <a:headEnd len="med" w="med" type="none"/>
            <a:tailEnd len="med" w="med" type="triangle"/>
          </a:ln>
        </p:spPr>
      </p:cxnSp>
      <p:grpSp>
        <p:nvGrpSpPr>
          <p:cNvPr id="3578" name="Google Shape;3578;p59"/>
          <p:cNvGrpSpPr/>
          <p:nvPr/>
        </p:nvGrpSpPr>
        <p:grpSpPr>
          <a:xfrm>
            <a:off x="4617002" y="1435788"/>
            <a:ext cx="4395788" cy="1401763"/>
            <a:chOff x="1860550" y="1343025"/>
            <a:chExt cx="4395788" cy="1401763"/>
          </a:xfrm>
        </p:grpSpPr>
        <p:cxnSp>
          <p:nvCxnSpPr>
            <p:cNvPr id="3579" name="Google Shape;3579;p59"/>
            <p:cNvCxnSpPr/>
            <p:nvPr/>
          </p:nvCxnSpPr>
          <p:spPr>
            <a:xfrm flipH="1">
              <a:off x="1860550" y="2208213"/>
              <a:ext cx="4395788" cy="536575"/>
            </a:xfrm>
            <a:prstGeom prst="straightConnector1">
              <a:avLst/>
            </a:prstGeom>
            <a:noFill/>
            <a:ln cap="flat" cmpd="sng" w="19050">
              <a:solidFill>
                <a:srgbClr val="000000"/>
              </a:solidFill>
              <a:prstDash val="solid"/>
              <a:round/>
              <a:headEnd len="med" w="med" type="none"/>
              <a:tailEnd len="med" w="med" type="triangle"/>
            </a:ln>
          </p:spPr>
        </p:cxnSp>
        <p:grpSp>
          <p:nvGrpSpPr>
            <p:cNvPr id="3580" name="Google Shape;3580;p59"/>
            <p:cNvGrpSpPr/>
            <p:nvPr/>
          </p:nvGrpSpPr>
          <p:grpSpPr>
            <a:xfrm>
              <a:off x="3389313" y="1343025"/>
              <a:ext cx="2673350" cy="1116013"/>
              <a:chOff x="11865" y="3885"/>
              <a:chExt cx="3720" cy="1260"/>
            </a:xfrm>
          </p:grpSpPr>
          <p:sp>
            <p:nvSpPr>
              <p:cNvPr id="3581" name="Google Shape;3581;p59"/>
              <p:cNvSpPr txBox="1"/>
              <p:nvPr/>
            </p:nvSpPr>
            <p:spPr>
              <a:xfrm>
                <a:off x="11865" y="3885"/>
                <a:ext cx="2062" cy="49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discover</a:t>
                </a:r>
                <a:endParaRPr b="1" i="0" sz="1200" u="none" cap="none" strike="noStrike">
                  <a:solidFill>
                    <a:srgbClr val="000000"/>
                  </a:solidFill>
                  <a:latin typeface="Comic Sans MS"/>
                  <a:ea typeface="Comic Sans MS"/>
                  <a:cs typeface="Comic Sans MS"/>
                  <a:sym typeface="Comic Sans MS"/>
                </a:endParaRPr>
              </a:p>
            </p:txBody>
          </p:sp>
          <p:sp>
            <p:nvSpPr>
              <p:cNvPr id="3582" name="Google Shape;3582;p59"/>
              <p:cNvSpPr txBox="1"/>
              <p:nvPr/>
            </p:nvSpPr>
            <p:spPr>
              <a:xfrm>
                <a:off x="12015" y="4231"/>
                <a:ext cx="3570" cy="914"/>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 0.0.0.0, 68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255.255.255.255,67</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    0.0.0.0</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654</a:t>
                </a:r>
                <a:endParaRPr b="0" i="0" sz="1600" u="none" cap="none" strike="noStrike">
                  <a:solidFill>
                    <a:srgbClr val="000000"/>
                  </a:solidFill>
                  <a:latin typeface="Comic Sans MS"/>
                  <a:ea typeface="Comic Sans MS"/>
                  <a:cs typeface="Comic Sans MS"/>
                  <a:sym typeface="Comic Sans MS"/>
                </a:endParaRPr>
              </a:p>
            </p:txBody>
          </p:sp>
        </p:grpSp>
      </p:grpSp>
      <p:cxnSp>
        <p:nvCxnSpPr>
          <p:cNvPr id="3583" name="Google Shape;3583;p59"/>
          <p:cNvCxnSpPr/>
          <p:nvPr/>
        </p:nvCxnSpPr>
        <p:spPr>
          <a:xfrm>
            <a:off x="4659865" y="3286813"/>
            <a:ext cx="4395787" cy="538163"/>
          </a:xfrm>
          <a:prstGeom prst="straightConnector1">
            <a:avLst/>
          </a:prstGeom>
          <a:noFill/>
          <a:ln cap="flat" cmpd="sng" w="19050">
            <a:solidFill>
              <a:srgbClr val="000000"/>
            </a:solidFill>
            <a:prstDash val="solid"/>
            <a:round/>
            <a:headEnd len="med" w="med" type="none"/>
            <a:tailEnd len="med" w="med" type="triangle"/>
          </a:ln>
        </p:spPr>
      </p:cxnSp>
      <p:grpSp>
        <p:nvGrpSpPr>
          <p:cNvPr id="3584" name="Google Shape;3584;p59"/>
          <p:cNvGrpSpPr/>
          <p:nvPr/>
        </p:nvGrpSpPr>
        <p:grpSpPr>
          <a:xfrm>
            <a:off x="6318802" y="2672451"/>
            <a:ext cx="2520950" cy="1217612"/>
            <a:chOff x="3562350" y="2579688"/>
            <a:chExt cx="2520950" cy="1217612"/>
          </a:xfrm>
        </p:grpSpPr>
        <p:sp>
          <p:nvSpPr>
            <p:cNvPr id="3585" name="Google Shape;3585;p59"/>
            <p:cNvSpPr txBox="1"/>
            <p:nvPr/>
          </p:nvSpPr>
          <p:spPr>
            <a:xfrm>
              <a:off x="3562350" y="2579688"/>
              <a:ext cx="1379538" cy="3302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offer</a:t>
              </a:r>
              <a:endParaRPr b="0" i="0" sz="1600" u="none" cap="none" strike="noStrike">
                <a:solidFill>
                  <a:srgbClr val="000000"/>
                </a:solidFill>
                <a:latin typeface="Comic Sans MS"/>
                <a:ea typeface="Comic Sans MS"/>
                <a:cs typeface="Comic Sans MS"/>
                <a:sym typeface="Comic Sans MS"/>
              </a:endParaRPr>
            </a:p>
          </p:txBody>
        </p:sp>
        <p:sp>
          <p:nvSpPr>
            <p:cNvPr id="3586" name="Google Shape;3586;p59"/>
            <p:cNvSpPr txBox="1"/>
            <p:nvPr/>
          </p:nvSpPr>
          <p:spPr>
            <a:xfrm>
              <a:off x="3659188" y="2832100"/>
              <a:ext cx="2424112" cy="9652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223.1.2.5, 67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68</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800" u="none" cap="none" strike="noStrike">
                <a:solidFill>
                  <a:srgbClr val="000000"/>
                </a:solidFill>
                <a:latin typeface="Comic Sans MS"/>
                <a:ea typeface="Comic Sans MS"/>
                <a:cs typeface="Comic Sans MS"/>
                <a:sym typeface="Comic Sans MS"/>
              </a:endParaRPr>
            </a:p>
          </p:txBody>
        </p:sp>
      </p:grpSp>
      <p:cxnSp>
        <p:nvCxnSpPr>
          <p:cNvPr id="3587" name="Google Shape;3587;p59"/>
          <p:cNvCxnSpPr/>
          <p:nvPr/>
        </p:nvCxnSpPr>
        <p:spPr>
          <a:xfrm flipH="1">
            <a:off x="4551915" y="4515538"/>
            <a:ext cx="4395787" cy="536575"/>
          </a:xfrm>
          <a:prstGeom prst="straightConnector1">
            <a:avLst/>
          </a:prstGeom>
          <a:noFill/>
          <a:ln cap="flat" cmpd="sng" w="19050">
            <a:solidFill>
              <a:srgbClr val="000000"/>
            </a:solidFill>
            <a:prstDash val="solid"/>
            <a:round/>
            <a:headEnd len="med" w="med" type="none"/>
            <a:tailEnd len="med" w="med" type="triangle"/>
          </a:ln>
        </p:spPr>
      </p:cxnSp>
      <p:grpSp>
        <p:nvGrpSpPr>
          <p:cNvPr id="3588" name="Google Shape;3588;p59"/>
          <p:cNvGrpSpPr/>
          <p:nvPr/>
        </p:nvGrpSpPr>
        <p:grpSpPr>
          <a:xfrm>
            <a:off x="4723365" y="3858313"/>
            <a:ext cx="2887662" cy="1260475"/>
            <a:chOff x="1966913" y="3765550"/>
            <a:chExt cx="2887662" cy="1260475"/>
          </a:xfrm>
        </p:grpSpPr>
        <p:sp>
          <p:nvSpPr>
            <p:cNvPr id="3589" name="Google Shape;3589;p59"/>
            <p:cNvSpPr txBox="1"/>
            <p:nvPr/>
          </p:nvSpPr>
          <p:spPr>
            <a:xfrm>
              <a:off x="1966913" y="3765550"/>
              <a:ext cx="1379537" cy="3286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request</a:t>
              </a:r>
              <a:endParaRPr b="0" i="0" sz="1600" u="none" cap="none" strike="noStrike">
                <a:solidFill>
                  <a:srgbClr val="000000"/>
                </a:solidFill>
                <a:latin typeface="Comic Sans MS"/>
                <a:ea typeface="Comic Sans MS"/>
                <a:cs typeface="Comic Sans MS"/>
                <a:sym typeface="Comic Sans MS"/>
              </a:endParaRPr>
            </a:p>
          </p:txBody>
        </p:sp>
        <p:sp>
          <p:nvSpPr>
            <p:cNvPr id="3590" name="Google Shape;3590;p59"/>
            <p:cNvSpPr txBox="1"/>
            <p:nvPr/>
          </p:nvSpPr>
          <p:spPr>
            <a:xfrm>
              <a:off x="2097088" y="4027488"/>
              <a:ext cx="2757487" cy="99853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0.0.0.0, 68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67</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655</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1600" u="none" cap="none" strike="noStrike">
                <a:solidFill>
                  <a:srgbClr val="000000"/>
                </a:solidFill>
                <a:latin typeface="Comic Sans MS"/>
                <a:ea typeface="Comic Sans MS"/>
                <a:cs typeface="Comic Sans MS"/>
                <a:sym typeface="Comic Sans MS"/>
              </a:endParaRPr>
            </a:p>
          </p:txBody>
        </p:sp>
      </p:grpSp>
      <p:cxnSp>
        <p:nvCxnSpPr>
          <p:cNvPr id="3591" name="Google Shape;3591;p59"/>
          <p:cNvCxnSpPr/>
          <p:nvPr/>
        </p:nvCxnSpPr>
        <p:spPr>
          <a:xfrm>
            <a:off x="4637640" y="5545826"/>
            <a:ext cx="4395787" cy="538162"/>
          </a:xfrm>
          <a:prstGeom prst="straightConnector1">
            <a:avLst/>
          </a:prstGeom>
          <a:noFill/>
          <a:ln cap="flat" cmpd="sng" w="19050">
            <a:solidFill>
              <a:srgbClr val="000000"/>
            </a:solidFill>
            <a:prstDash val="solid"/>
            <a:round/>
            <a:headEnd len="med" w="med" type="none"/>
            <a:tailEnd len="med" w="med" type="triangle"/>
          </a:ln>
        </p:spPr>
      </p:cxnSp>
      <p:grpSp>
        <p:nvGrpSpPr>
          <p:cNvPr id="3592" name="Google Shape;3592;p59"/>
          <p:cNvGrpSpPr/>
          <p:nvPr/>
        </p:nvGrpSpPr>
        <p:grpSpPr>
          <a:xfrm>
            <a:off x="6275940" y="5261663"/>
            <a:ext cx="2509837" cy="1271588"/>
            <a:chOff x="3519488" y="5168900"/>
            <a:chExt cx="2509837" cy="1271588"/>
          </a:xfrm>
        </p:grpSpPr>
        <p:sp>
          <p:nvSpPr>
            <p:cNvPr id="3593" name="Google Shape;3593;p59"/>
            <p:cNvSpPr txBox="1"/>
            <p:nvPr/>
          </p:nvSpPr>
          <p:spPr>
            <a:xfrm>
              <a:off x="3519488" y="5168900"/>
              <a:ext cx="1379537" cy="3286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DHCP ACK</a:t>
              </a:r>
              <a:endParaRPr b="0" i="0" sz="1600" u="none" cap="none" strike="noStrike">
                <a:solidFill>
                  <a:srgbClr val="000000"/>
                </a:solidFill>
                <a:latin typeface="Comic Sans MS"/>
                <a:ea typeface="Comic Sans MS"/>
                <a:cs typeface="Comic Sans MS"/>
                <a:sym typeface="Comic Sans MS"/>
              </a:endParaRPr>
            </a:p>
          </p:txBody>
        </p:sp>
        <p:sp>
          <p:nvSpPr>
            <p:cNvPr id="3594" name="Google Shape;3594;p59"/>
            <p:cNvSpPr txBox="1"/>
            <p:nvPr/>
          </p:nvSpPr>
          <p:spPr>
            <a:xfrm>
              <a:off x="3616325" y="5421313"/>
              <a:ext cx="2413000" cy="10191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src: 223.1.2.5, 67      </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dest:  255.255.255.255, 68</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yiaddrr: 223.1.2.4</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transaction ID: 655</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lifetime: 3600 secs</a:t>
              </a:r>
              <a:endParaRPr b="0" i="0" sz="1000" u="none" cap="none" strike="noStrike">
                <a:solidFill>
                  <a:srgbClr val="000000"/>
                </a:solidFill>
                <a:latin typeface="Comic Sans MS"/>
                <a:ea typeface="Comic Sans MS"/>
                <a:cs typeface="Comic Sans MS"/>
                <a:sym typeface="Comic Sans MS"/>
              </a:endParaRPr>
            </a:p>
          </p:txBody>
        </p:sp>
      </p:grpSp>
      <p:grpSp>
        <p:nvGrpSpPr>
          <p:cNvPr id="3595" name="Google Shape;3595;p59"/>
          <p:cNvGrpSpPr/>
          <p:nvPr/>
        </p:nvGrpSpPr>
        <p:grpSpPr>
          <a:xfrm>
            <a:off x="9046441" y="1873938"/>
            <a:ext cx="788674" cy="559230"/>
            <a:chOff x="4417" y="878"/>
            <a:chExt cx="617" cy="466"/>
          </a:xfrm>
        </p:grpSpPr>
        <p:pic>
          <p:nvPicPr>
            <p:cNvPr descr="laptop_keyboard" id="3596" name="Google Shape;3596;p59"/>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597" name="Google Shape;3597;p59"/>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598" name="Google Shape;3598;p59"/>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599" name="Google Shape;3599;p59"/>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0" name="Google Shape;3600;p59"/>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1" name="Google Shape;3601;p59"/>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2" name="Google Shape;3602;p59"/>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3" name="Google Shape;3603;p59"/>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4" name="Google Shape;3604;p59"/>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05" name="Google Shape;3605;p59"/>
            <p:cNvGrpSpPr/>
            <p:nvPr/>
          </p:nvGrpSpPr>
          <p:grpSpPr>
            <a:xfrm>
              <a:off x="4584" y="1203"/>
              <a:ext cx="119" cy="53"/>
              <a:chOff x="1740" y="2642"/>
              <a:chExt cx="752" cy="327"/>
            </a:xfrm>
          </p:grpSpPr>
          <p:sp>
            <p:nvSpPr>
              <p:cNvPr id="3606" name="Google Shape;3606;p5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7" name="Google Shape;3607;p5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8" name="Google Shape;3608;p5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09" name="Google Shape;3609;p5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0" name="Google Shape;3610;p5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1" name="Google Shape;3611;p5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612" name="Google Shape;3612;p59"/>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3" name="Google Shape;3613;p59"/>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4" name="Google Shape;3614;p59"/>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5" name="Google Shape;3615;p59"/>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6" name="Google Shape;3616;p59"/>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17" name="Google Shape;3617;p59"/>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3618" name="Google Shape;3618;p59"/>
          <p:cNvGrpSpPr/>
          <p:nvPr/>
        </p:nvGrpSpPr>
        <p:grpSpPr>
          <a:xfrm>
            <a:off x="4474127" y="1683438"/>
            <a:ext cx="334963" cy="536575"/>
            <a:chOff x="4140" y="429"/>
            <a:chExt cx="1425" cy="2396"/>
          </a:xfrm>
        </p:grpSpPr>
        <p:sp>
          <p:nvSpPr>
            <p:cNvPr id="3619" name="Google Shape;3619;p5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0" name="Google Shape;3620;p59"/>
            <p:cNvSpPr/>
            <p:nvPr/>
          </p:nvSpPr>
          <p:spPr>
            <a:xfrm>
              <a:off x="4208" y="429"/>
              <a:ext cx="1047"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21" name="Google Shape;3621;p5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2" name="Google Shape;3622;p5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23" name="Google Shape;3623;p59"/>
            <p:cNvSpPr/>
            <p:nvPr/>
          </p:nvSpPr>
          <p:spPr>
            <a:xfrm>
              <a:off x="4214" y="691"/>
              <a:ext cx="594"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24" name="Google Shape;3624;p59"/>
            <p:cNvGrpSpPr/>
            <p:nvPr/>
          </p:nvGrpSpPr>
          <p:grpSpPr>
            <a:xfrm>
              <a:off x="4748" y="670"/>
              <a:ext cx="581" cy="142"/>
              <a:chOff x="613" y="2570"/>
              <a:chExt cx="725" cy="136"/>
            </a:xfrm>
          </p:grpSpPr>
          <p:sp>
            <p:nvSpPr>
              <p:cNvPr id="3625" name="Google Shape;3625;p59"/>
              <p:cNvSpPr/>
              <p:nvPr/>
            </p:nvSpPr>
            <p:spPr>
              <a:xfrm>
                <a:off x="613" y="2570"/>
                <a:ext cx="725" cy="136"/>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26" name="Google Shape;3626;p59"/>
              <p:cNvSpPr/>
              <p:nvPr/>
            </p:nvSpPr>
            <p:spPr>
              <a:xfrm>
                <a:off x="629" y="2584"/>
                <a:ext cx="691"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27" name="Google Shape;3627;p59"/>
            <p:cNvSpPr/>
            <p:nvPr/>
          </p:nvSpPr>
          <p:spPr>
            <a:xfrm>
              <a:off x="4221" y="1017"/>
              <a:ext cx="601"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28" name="Google Shape;3628;p59"/>
            <p:cNvGrpSpPr/>
            <p:nvPr/>
          </p:nvGrpSpPr>
          <p:grpSpPr>
            <a:xfrm>
              <a:off x="4748" y="996"/>
              <a:ext cx="581" cy="135"/>
              <a:chOff x="615" y="2570"/>
              <a:chExt cx="725" cy="140"/>
            </a:xfrm>
          </p:grpSpPr>
          <p:sp>
            <p:nvSpPr>
              <p:cNvPr id="3629" name="Google Shape;3629;p59"/>
              <p:cNvSpPr/>
              <p:nvPr/>
            </p:nvSpPr>
            <p:spPr>
              <a:xfrm>
                <a:off x="615" y="2570"/>
                <a:ext cx="725"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0" name="Google Shape;3630;p59"/>
              <p:cNvSpPr/>
              <p:nvPr/>
            </p:nvSpPr>
            <p:spPr>
              <a:xfrm>
                <a:off x="632" y="2585"/>
                <a:ext cx="691"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31" name="Google Shape;3631;p59"/>
            <p:cNvSpPr/>
            <p:nvPr/>
          </p:nvSpPr>
          <p:spPr>
            <a:xfrm>
              <a:off x="4214" y="1358"/>
              <a:ext cx="601"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2" name="Google Shape;3632;p59"/>
            <p:cNvSpPr/>
            <p:nvPr/>
          </p:nvSpPr>
          <p:spPr>
            <a:xfrm>
              <a:off x="4228" y="1655"/>
              <a:ext cx="594" cy="50"/>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nvGrpSpPr>
            <p:cNvPr id="3633" name="Google Shape;3633;p59"/>
            <p:cNvGrpSpPr/>
            <p:nvPr/>
          </p:nvGrpSpPr>
          <p:grpSpPr>
            <a:xfrm>
              <a:off x="4734" y="1627"/>
              <a:ext cx="581" cy="149"/>
              <a:chOff x="613" y="2568"/>
              <a:chExt cx="724" cy="137"/>
            </a:xfrm>
          </p:grpSpPr>
          <p:sp>
            <p:nvSpPr>
              <p:cNvPr id="3634" name="Google Shape;3634;p59"/>
              <p:cNvSpPr/>
              <p:nvPr/>
            </p:nvSpPr>
            <p:spPr>
              <a:xfrm>
                <a:off x="613" y="2568"/>
                <a:ext cx="724"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5" name="Google Shape;3635;p59"/>
              <p:cNvSpPr/>
              <p:nvPr/>
            </p:nvSpPr>
            <p:spPr>
              <a:xfrm>
                <a:off x="630" y="2581"/>
                <a:ext cx="690"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36" name="Google Shape;3636;p5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37" name="Google Shape;3637;p59"/>
            <p:cNvGrpSpPr/>
            <p:nvPr/>
          </p:nvGrpSpPr>
          <p:grpSpPr>
            <a:xfrm>
              <a:off x="4741" y="1329"/>
              <a:ext cx="581" cy="135"/>
              <a:chOff x="617" y="2570"/>
              <a:chExt cx="724" cy="135"/>
            </a:xfrm>
          </p:grpSpPr>
          <p:sp>
            <p:nvSpPr>
              <p:cNvPr id="3638" name="Google Shape;3638;p59"/>
              <p:cNvSpPr/>
              <p:nvPr/>
            </p:nvSpPr>
            <p:spPr>
              <a:xfrm>
                <a:off x="617" y="2570"/>
                <a:ext cx="724"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39" name="Google Shape;3639;p59"/>
              <p:cNvSpPr/>
              <p:nvPr/>
            </p:nvSpPr>
            <p:spPr>
              <a:xfrm>
                <a:off x="633" y="2584"/>
                <a:ext cx="690"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sp>
          <p:nvSpPr>
            <p:cNvPr id="3640" name="Google Shape;3640;p59"/>
            <p:cNvSpPr/>
            <p:nvPr/>
          </p:nvSpPr>
          <p:spPr>
            <a:xfrm>
              <a:off x="5248" y="429"/>
              <a:ext cx="68"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1" name="Google Shape;3641;p5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2" name="Google Shape;3642;p5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3" name="Google Shape;3643;p59"/>
            <p:cNvSpPr/>
            <p:nvPr/>
          </p:nvSpPr>
          <p:spPr>
            <a:xfrm>
              <a:off x="5518" y="2612"/>
              <a:ext cx="47" cy="92"/>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4" name="Google Shape;3644;p5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645" name="Google Shape;3645;p59"/>
            <p:cNvSpPr/>
            <p:nvPr/>
          </p:nvSpPr>
          <p:spPr>
            <a:xfrm>
              <a:off x="4140" y="2676"/>
              <a:ext cx="1202" cy="149"/>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6" name="Google Shape;3646;p59"/>
            <p:cNvSpPr/>
            <p:nvPr/>
          </p:nvSpPr>
          <p:spPr>
            <a:xfrm>
              <a:off x="4208" y="2712"/>
              <a:ext cx="1067" cy="78"/>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7" name="Google Shape;3647;p59"/>
            <p:cNvSpPr/>
            <p:nvPr/>
          </p:nvSpPr>
          <p:spPr>
            <a:xfrm>
              <a:off x="4309" y="2385"/>
              <a:ext cx="155"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48" name="Google Shape;3648;p59"/>
            <p:cNvSpPr/>
            <p:nvPr/>
          </p:nvSpPr>
          <p:spPr>
            <a:xfrm>
              <a:off x="4484" y="2385"/>
              <a:ext cx="162"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FF0000"/>
                </a:solidFill>
                <a:latin typeface="Tahoma"/>
                <a:ea typeface="Tahoma"/>
                <a:cs typeface="Tahoma"/>
                <a:sym typeface="Tahoma"/>
              </a:endParaRPr>
            </a:p>
          </p:txBody>
        </p:sp>
        <p:sp>
          <p:nvSpPr>
            <p:cNvPr id="3649" name="Google Shape;3649;p59"/>
            <p:cNvSpPr/>
            <p:nvPr/>
          </p:nvSpPr>
          <p:spPr>
            <a:xfrm>
              <a:off x="4660" y="2378"/>
              <a:ext cx="162"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0" name="Google Shape;3650;p59"/>
            <p:cNvSpPr/>
            <p:nvPr/>
          </p:nvSpPr>
          <p:spPr>
            <a:xfrm>
              <a:off x="5065" y="1833"/>
              <a:ext cx="81" cy="766"/>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grpSp>
      <p:grpSp>
        <p:nvGrpSpPr>
          <p:cNvPr id="3651" name="Google Shape;3651;p59"/>
          <p:cNvGrpSpPr/>
          <p:nvPr/>
        </p:nvGrpSpPr>
        <p:grpSpPr>
          <a:xfrm>
            <a:off x="6261653" y="1756463"/>
            <a:ext cx="2540000" cy="733425"/>
            <a:chOff x="7333086" y="2736938"/>
            <a:chExt cx="2539755" cy="733428"/>
          </a:xfrm>
        </p:grpSpPr>
        <p:sp>
          <p:nvSpPr>
            <p:cNvPr id="3652" name="Google Shape;3652;p59"/>
            <p:cNvSpPr/>
            <p:nvPr/>
          </p:nvSpPr>
          <p:spPr>
            <a:xfrm>
              <a:off x="7333086" y="2736938"/>
              <a:ext cx="2521866" cy="73342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3" name="Google Shape;3653;p59"/>
            <p:cNvSpPr txBox="1"/>
            <p:nvPr/>
          </p:nvSpPr>
          <p:spPr>
            <a:xfrm>
              <a:off x="7344918" y="2797391"/>
              <a:ext cx="2527923" cy="58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is there a DHCP server out there?</a:t>
              </a:r>
              <a:endParaRPr/>
            </a:p>
          </p:txBody>
        </p:sp>
      </p:grpSp>
      <p:grpSp>
        <p:nvGrpSpPr>
          <p:cNvPr id="3654" name="Google Shape;3654;p59"/>
          <p:cNvGrpSpPr/>
          <p:nvPr/>
        </p:nvGrpSpPr>
        <p:grpSpPr>
          <a:xfrm>
            <a:off x="6426752" y="2964551"/>
            <a:ext cx="2528888" cy="884237"/>
            <a:chOff x="9144000" y="3229217"/>
            <a:chExt cx="2527923" cy="885135"/>
          </a:xfrm>
        </p:grpSpPr>
        <p:sp>
          <p:nvSpPr>
            <p:cNvPr id="3655" name="Google Shape;3655;p59"/>
            <p:cNvSpPr/>
            <p:nvPr/>
          </p:nvSpPr>
          <p:spPr>
            <a:xfrm>
              <a:off x="9144000" y="3229217"/>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6" name="Google Shape;3656;p59"/>
            <p:cNvSpPr txBox="1"/>
            <p:nvPr/>
          </p:nvSpPr>
          <p:spPr>
            <a:xfrm>
              <a:off x="9144000" y="3271783"/>
              <a:ext cx="2527923"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I’m a DHCP server! Here’s an IP address you can use </a:t>
              </a:r>
              <a:endParaRPr/>
            </a:p>
          </p:txBody>
        </p:sp>
      </p:grpSp>
      <p:grpSp>
        <p:nvGrpSpPr>
          <p:cNvPr id="3657" name="Google Shape;3657;p59"/>
          <p:cNvGrpSpPr/>
          <p:nvPr/>
        </p:nvGrpSpPr>
        <p:grpSpPr>
          <a:xfrm>
            <a:off x="4944534" y="4190101"/>
            <a:ext cx="2625219" cy="884237"/>
            <a:chOff x="8858631" y="4615923"/>
            <a:chExt cx="2625866" cy="885135"/>
          </a:xfrm>
        </p:grpSpPr>
        <p:sp>
          <p:nvSpPr>
            <p:cNvPr id="3658" name="Google Shape;3658;p59"/>
            <p:cNvSpPr/>
            <p:nvPr/>
          </p:nvSpPr>
          <p:spPr>
            <a:xfrm>
              <a:off x="8956574" y="4615923"/>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59" name="Google Shape;3659;p59"/>
            <p:cNvSpPr txBox="1"/>
            <p:nvPr/>
          </p:nvSpPr>
          <p:spPr>
            <a:xfrm>
              <a:off x="8858631" y="4765817"/>
              <a:ext cx="2625866" cy="585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OK.  I would like to use this IP address!</a:t>
              </a:r>
              <a:endParaRPr/>
            </a:p>
          </p:txBody>
        </p:sp>
      </p:grpSp>
      <p:grpSp>
        <p:nvGrpSpPr>
          <p:cNvPr id="3660" name="Google Shape;3660;p59"/>
          <p:cNvGrpSpPr/>
          <p:nvPr/>
        </p:nvGrpSpPr>
        <p:grpSpPr>
          <a:xfrm>
            <a:off x="6409290" y="5558526"/>
            <a:ext cx="2528887" cy="885825"/>
            <a:chOff x="9144000" y="5555417"/>
            <a:chExt cx="2527923" cy="885135"/>
          </a:xfrm>
        </p:grpSpPr>
        <p:sp>
          <p:nvSpPr>
            <p:cNvPr id="3661" name="Google Shape;3661;p59"/>
            <p:cNvSpPr/>
            <p:nvPr/>
          </p:nvSpPr>
          <p:spPr>
            <a:xfrm>
              <a:off x="9144000" y="5555417"/>
              <a:ext cx="2351575" cy="88513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3662" name="Google Shape;3662;p59"/>
            <p:cNvSpPr txBox="1"/>
            <p:nvPr/>
          </p:nvSpPr>
          <p:spPr>
            <a:xfrm>
              <a:off x="9144000" y="5705311"/>
              <a:ext cx="2527923" cy="5847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0" lang="en-US" sz="1600" u="none" cap="none" strike="noStrike">
                  <a:solidFill>
                    <a:srgbClr val="FF0000"/>
                  </a:solidFill>
                  <a:latin typeface="Tahoma"/>
                  <a:ea typeface="Tahoma"/>
                  <a:cs typeface="Tahoma"/>
                  <a:sym typeface="Tahoma"/>
                </a:rPr>
                <a:t>Broadcast: OK.  You’ve got that IP address!</a:t>
              </a:r>
              <a:endParaRPr/>
            </a:p>
          </p:txBody>
        </p:sp>
      </p:grpSp>
      <p:sp>
        <p:nvSpPr>
          <p:cNvPr id="3663" name="Google Shape;3663;p59"/>
          <p:cNvSpPr txBox="1"/>
          <p:nvPr/>
        </p:nvSpPr>
        <p:spPr>
          <a:xfrm>
            <a:off x="9296400" y="3522133"/>
            <a:ext cx="2455333"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The two steps above can be skipped “if a client remembers and wishes to reuse a previously allocated network address” </a:t>
            </a:r>
            <a:r>
              <a:rPr b="0" i="0" lang="en-US" sz="1400" u="none" cap="none" strike="noStrike">
                <a:solidFill>
                  <a:srgbClr val="000000"/>
                </a:solidFill>
                <a:latin typeface="Calibri"/>
                <a:ea typeface="Calibri"/>
                <a:cs typeface="Calibri"/>
                <a:sym typeface="Calibri"/>
              </a:rPr>
              <a:t>[RFC 2131]</a:t>
            </a:r>
            <a:endParaRPr b="0" i="0" sz="1600" u="none" cap="none" strike="noStrike">
              <a:solidFill>
                <a:srgbClr val="000000"/>
              </a:solidFill>
              <a:latin typeface="Calibri"/>
              <a:ea typeface="Calibri"/>
              <a:cs typeface="Calibri"/>
              <a:sym typeface="Calibri"/>
            </a:endParaRPr>
          </a:p>
        </p:txBody>
      </p:sp>
      <p:sp>
        <p:nvSpPr>
          <p:cNvPr id="3664" name="Google Shape;3664;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8"/>
                                        </p:tgtEl>
                                        <p:attrNameLst>
                                          <p:attrName>style.visibility</p:attrName>
                                        </p:attrNameLst>
                                      </p:cBhvr>
                                      <p:to>
                                        <p:strVal val="visible"/>
                                      </p:to>
                                    </p:set>
                                    <p:animEffect filter="fade" transition="in">
                                      <p:cBhvr>
                                        <p:cTn dur="500"/>
                                        <p:tgtEl>
                                          <p:spTgt spid="3578"/>
                                        </p:tgtEl>
                                      </p:cBhvr>
                                    </p:animEffect>
                                  </p:childTnLst>
                                </p:cTn>
                              </p:par>
                              <p:par>
                                <p:cTn fill="hold" nodeType="withEffect" presetClass="entr" presetID="10" presetSubtype="0">
                                  <p:stCondLst>
                                    <p:cond delay="0"/>
                                  </p:stCondLst>
                                  <p:childTnLst>
                                    <p:set>
                                      <p:cBhvr>
                                        <p:cTn dur="1" fill="hold">
                                          <p:stCondLst>
                                            <p:cond delay="0"/>
                                          </p:stCondLst>
                                        </p:cTn>
                                        <p:tgtEl>
                                          <p:spTgt spid="3651"/>
                                        </p:tgtEl>
                                        <p:attrNameLst>
                                          <p:attrName>style.visibility</p:attrName>
                                        </p:attrNameLst>
                                      </p:cBhvr>
                                      <p:to>
                                        <p:strVal val="visible"/>
                                      </p:to>
                                    </p:set>
                                    <p:animEffect filter="fade" transition="in">
                                      <p:cBhvr>
                                        <p:cTn dur="500"/>
                                        <p:tgtEl>
                                          <p:spTgt spid="3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1"/>
                                        </p:tgtEl>
                                      </p:cBhvr>
                                    </p:animEffect>
                                    <p:set>
                                      <p:cBhvr>
                                        <p:cTn dur="1" fill="hold">
                                          <p:stCondLst>
                                            <p:cond delay="500"/>
                                          </p:stCondLst>
                                        </p:cTn>
                                        <p:tgtEl>
                                          <p:spTgt spid="365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4"/>
                                        </p:tgtEl>
                                        <p:attrNameLst>
                                          <p:attrName>style.visibility</p:attrName>
                                        </p:attrNameLst>
                                      </p:cBhvr>
                                      <p:to>
                                        <p:strVal val="visible"/>
                                      </p:to>
                                    </p:set>
                                    <p:animEffect filter="fade" transition="in">
                                      <p:cBhvr>
                                        <p:cTn dur="500"/>
                                        <p:tgtEl>
                                          <p:spTgt spid="3584"/>
                                        </p:tgtEl>
                                      </p:cBhvr>
                                    </p:animEffect>
                                  </p:childTnLst>
                                </p:cTn>
                              </p:par>
                              <p:par>
                                <p:cTn fill="hold" nodeType="withEffect" presetClass="entr" presetID="10" presetSubtype="0">
                                  <p:stCondLst>
                                    <p:cond delay="0"/>
                                  </p:stCondLst>
                                  <p:childTnLst>
                                    <p:set>
                                      <p:cBhvr>
                                        <p:cTn dur="1" fill="hold">
                                          <p:stCondLst>
                                            <p:cond delay="0"/>
                                          </p:stCondLst>
                                        </p:cTn>
                                        <p:tgtEl>
                                          <p:spTgt spid="3583"/>
                                        </p:tgtEl>
                                        <p:attrNameLst>
                                          <p:attrName>style.visibility</p:attrName>
                                        </p:attrNameLst>
                                      </p:cBhvr>
                                      <p:to>
                                        <p:strVal val="visible"/>
                                      </p:to>
                                    </p:set>
                                    <p:animEffect filter="fade" transition="in">
                                      <p:cBhvr>
                                        <p:cTn dur="500"/>
                                        <p:tgtEl>
                                          <p:spTgt spid="3583"/>
                                        </p:tgtEl>
                                      </p:cBhvr>
                                    </p:animEffect>
                                  </p:childTnLst>
                                </p:cTn>
                              </p:par>
                              <p:par>
                                <p:cTn fill="hold" nodeType="withEffect" presetClass="entr" presetID="10" presetSubtype="0">
                                  <p:stCondLst>
                                    <p:cond delay="0"/>
                                  </p:stCondLst>
                                  <p:childTnLst>
                                    <p:set>
                                      <p:cBhvr>
                                        <p:cTn dur="1" fill="hold">
                                          <p:stCondLst>
                                            <p:cond delay="0"/>
                                          </p:stCondLst>
                                        </p:cTn>
                                        <p:tgtEl>
                                          <p:spTgt spid="3654"/>
                                        </p:tgtEl>
                                        <p:attrNameLst>
                                          <p:attrName>style.visibility</p:attrName>
                                        </p:attrNameLst>
                                      </p:cBhvr>
                                      <p:to>
                                        <p:strVal val="visible"/>
                                      </p:to>
                                    </p:set>
                                    <p:animEffect filter="fade" transition="in">
                                      <p:cBhvr>
                                        <p:cTn dur="500"/>
                                        <p:tgtEl>
                                          <p:spTgt spid="3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4"/>
                                        </p:tgtEl>
                                      </p:cBhvr>
                                    </p:animEffect>
                                    <p:set>
                                      <p:cBhvr>
                                        <p:cTn dur="1" fill="hold">
                                          <p:stCondLst>
                                            <p:cond delay="500"/>
                                          </p:stCondLst>
                                        </p:cTn>
                                        <p:tgtEl>
                                          <p:spTgt spid="36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3"/>
                                        </p:tgtEl>
                                        <p:attrNameLst>
                                          <p:attrName>style.visibility</p:attrName>
                                        </p:attrNameLst>
                                      </p:cBhvr>
                                      <p:to>
                                        <p:strVal val="visible"/>
                                      </p:to>
                                    </p:set>
                                    <p:animEffect filter="fade" transition="in">
                                      <p:cBhvr>
                                        <p:cTn dur="500"/>
                                        <p:tgtEl>
                                          <p:spTgt spid="3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8"/>
                                        </p:tgtEl>
                                        <p:attrNameLst>
                                          <p:attrName>style.visibility</p:attrName>
                                        </p:attrNameLst>
                                      </p:cBhvr>
                                      <p:to>
                                        <p:strVal val="visible"/>
                                      </p:to>
                                    </p:set>
                                    <p:animEffect filter="fade" transition="in">
                                      <p:cBhvr>
                                        <p:cTn dur="500"/>
                                        <p:tgtEl>
                                          <p:spTgt spid="3588"/>
                                        </p:tgtEl>
                                      </p:cBhvr>
                                    </p:animEffect>
                                  </p:childTnLst>
                                </p:cTn>
                              </p:par>
                              <p:par>
                                <p:cTn fill="hold" nodeType="withEffect" presetClass="exit" presetID="10" presetSubtype="0">
                                  <p:stCondLst>
                                    <p:cond delay="0"/>
                                  </p:stCondLst>
                                  <p:childTnLst>
                                    <p:animEffect filter="fade" transition="out">
                                      <p:cBhvr>
                                        <p:cTn dur="500"/>
                                        <p:tgtEl>
                                          <p:spTgt spid="3663"/>
                                        </p:tgtEl>
                                      </p:cBhvr>
                                    </p:animEffect>
                                    <p:set>
                                      <p:cBhvr>
                                        <p:cTn dur="1" fill="hold">
                                          <p:stCondLst>
                                            <p:cond delay="500"/>
                                          </p:stCondLst>
                                        </p:cTn>
                                        <p:tgtEl>
                                          <p:spTgt spid="366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587"/>
                                        </p:tgtEl>
                                        <p:attrNameLst>
                                          <p:attrName>style.visibility</p:attrName>
                                        </p:attrNameLst>
                                      </p:cBhvr>
                                      <p:to>
                                        <p:strVal val="visible"/>
                                      </p:to>
                                    </p:set>
                                    <p:animEffect filter="fade" transition="in">
                                      <p:cBhvr>
                                        <p:cTn dur="500"/>
                                        <p:tgtEl>
                                          <p:spTgt spid="3587"/>
                                        </p:tgtEl>
                                      </p:cBhvr>
                                    </p:animEffect>
                                  </p:childTnLst>
                                </p:cTn>
                              </p:par>
                              <p:par>
                                <p:cTn fill="hold" nodeType="withEffect" presetClass="entr" presetID="10" presetSubtype="0">
                                  <p:stCondLst>
                                    <p:cond delay="0"/>
                                  </p:stCondLst>
                                  <p:childTnLst>
                                    <p:set>
                                      <p:cBhvr>
                                        <p:cTn dur="1" fill="hold">
                                          <p:stCondLst>
                                            <p:cond delay="0"/>
                                          </p:stCondLst>
                                        </p:cTn>
                                        <p:tgtEl>
                                          <p:spTgt spid="3657"/>
                                        </p:tgtEl>
                                        <p:attrNameLst>
                                          <p:attrName>style.visibility</p:attrName>
                                        </p:attrNameLst>
                                      </p:cBhvr>
                                      <p:to>
                                        <p:strVal val="visible"/>
                                      </p:to>
                                    </p:set>
                                    <p:animEffect filter="fade" transition="in">
                                      <p:cBhvr>
                                        <p:cTn dur="500"/>
                                        <p:tgtEl>
                                          <p:spTgt spid="36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57"/>
                                        </p:tgtEl>
                                      </p:cBhvr>
                                    </p:animEffect>
                                    <p:set>
                                      <p:cBhvr>
                                        <p:cTn dur="1" fill="hold">
                                          <p:stCondLst>
                                            <p:cond delay="500"/>
                                          </p:stCondLst>
                                        </p:cTn>
                                        <p:tgtEl>
                                          <p:spTgt spid="36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2"/>
                                        </p:tgtEl>
                                        <p:attrNameLst>
                                          <p:attrName>style.visibility</p:attrName>
                                        </p:attrNameLst>
                                      </p:cBhvr>
                                      <p:to>
                                        <p:strVal val="visible"/>
                                      </p:to>
                                    </p:set>
                                    <p:animEffect filter="fade" transition="in">
                                      <p:cBhvr>
                                        <p:cTn dur="500"/>
                                        <p:tgtEl>
                                          <p:spTgt spid="3592"/>
                                        </p:tgtEl>
                                      </p:cBhvr>
                                    </p:animEffect>
                                  </p:childTnLst>
                                </p:cTn>
                              </p:par>
                              <p:par>
                                <p:cTn fill="hold" nodeType="withEffect" presetClass="entr" presetID="10" presetSubtype="0">
                                  <p:stCondLst>
                                    <p:cond delay="0"/>
                                  </p:stCondLst>
                                  <p:childTnLst>
                                    <p:set>
                                      <p:cBhvr>
                                        <p:cTn dur="1" fill="hold">
                                          <p:stCondLst>
                                            <p:cond delay="0"/>
                                          </p:stCondLst>
                                        </p:cTn>
                                        <p:tgtEl>
                                          <p:spTgt spid="3591"/>
                                        </p:tgtEl>
                                        <p:attrNameLst>
                                          <p:attrName>style.visibility</p:attrName>
                                        </p:attrNameLst>
                                      </p:cBhvr>
                                      <p:to>
                                        <p:strVal val="visible"/>
                                      </p:to>
                                    </p:set>
                                    <p:animEffect filter="fade" transition="in">
                                      <p:cBhvr>
                                        <p:cTn dur="500"/>
                                        <p:tgtEl>
                                          <p:spTgt spid="3591"/>
                                        </p:tgtEl>
                                      </p:cBhvr>
                                    </p:animEffect>
                                  </p:childTnLst>
                                </p:cTn>
                              </p:par>
                              <p:par>
                                <p:cTn fill="hold" nodeType="withEffect" presetClass="entr" presetID="10" presetSubtype="0">
                                  <p:stCondLst>
                                    <p:cond delay="0"/>
                                  </p:stCondLst>
                                  <p:childTnLst>
                                    <p:set>
                                      <p:cBhvr>
                                        <p:cTn dur="1" fill="hold">
                                          <p:stCondLst>
                                            <p:cond delay="0"/>
                                          </p:stCondLst>
                                        </p:cTn>
                                        <p:tgtEl>
                                          <p:spTgt spid="3660"/>
                                        </p:tgtEl>
                                        <p:attrNameLst>
                                          <p:attrName>style.visibility</p:attrName>
                                        </p:attrNameLst>
                                      </p:cBhvr>
                                      <p:to>
                                        <p:strVal val="visible"/>
                                      </p:to>
                                    </p:set>
                                    <p:animEffect filter="fade" transition="in">
                                      <p:cBhvr>
                                        <p:cTn dur="500"/>
                                        <p:tgtEl>
                                          <p:spTgt spid="3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660"/>
                                        </p:tgtEl>
                                      </p:cBhvr>
                                    </p:animEffect>
                                    <p:set>
                                      <p:cBhvr>
                                        <p:cTn dur="1" fill="hold">
                                          <p:stCondLst>
                                            <p:cond delay="500"/>
                                          </p:stCondLst>
                                        </p:cTn>
                                        <p:tgtEl>
                                          <p:spTgt spid="36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9" name="Shape 3669"/>
        <p:cNvGrpSpPr/>
        <p:nvPr/>
      </p:nvGrpSpPr>
      <p:grpSpPr>
        <a:xfrm>
          <a:off x="0" y="0"/>
          <a:ext cx="0" cy="0"/>
          <a:chOff x="0" y="0"/>
          <a:chExt cx="0" cy="0"/>
        </a:xfrm>
      </p:grpSpPr>
      <p:sp>
        <p:nvSpPr>
          <p:cNvPr id="3670" name="Google Shape;3670;p6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more than IP addresses</a:t>
            </a:r>
            <a:endParaRPr/>
          </a:p>
        </p:txBody>
      </p:sp>
      <p:sp>
        <p:nvSpPr>
          <p:cNvPr id="3671" name="Google Shape;3671;p60"/>
          <p:cNvSpPr txBox="1"/>
          <p:nvPr/>
        </p:nvSpPr>
        <p:spPr>
          <a:xfrm>
            <a:off x="895974" y="1369673"/>
            <a:ext cx="10751383" cy="439502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000000"/>
                </a:solidFill>
                <a:latin typeface="Calibri"/>
                <a:ea typeface="Calibri"/>
                <a:cs typeface="Calibri"/>
                <a:sym typeface="Calibri"/>
              </a:rPr>
              <a:t>DHCP can return more than just allocated IP address on subnet:</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address of first-hop router for client</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name and IP address of DNS sever</a:t>
            </a:r>
            <a:endParaRPr/>
          </a:p>
          <a:p>
            <a:pPr indent="-282575" lvl="1" marL="7461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network mask (indicating network versus host portion of address)</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3672" name="Google Shape;3672;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7" name="Shape 3677"/>
        <p:cNvGrpSpPr/>
        <p:nvPr/>
      </p:nvGrpSpPr>
      <p:grpSpPr>
        <a:xfrm>
          <a:off x="0" y="0"/>
          <a:ext cx="0" cy="0"/>
          <a:chOff x="0" y="0"/>
          <a:chExt cx="0" cy="0"/>
        </a:xfrm>
      </p:grpSpPr>
      <p:sp>
        <p:nvSpPr>
          <p:cNvPr id="3678" name="Google Shape;3678;p61"/>
          <p:cNvSpPr/>
          <p:nvPr/>
        </p:nvSpPr>
        <p:spPr>
          <a:xfrm>
            <a:off x="1867395" y="1818492"/>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679" name="Google Shape;3679;p61"/>
          <p:cNvGrpSpPr/>
          <p:nvPr/>
        </p:nvGrpSpPr>
        <p:grpSpPr>
          <a:xfrm>
            <a:off x="3772175" y="3890885"/>
            <a:ext cx="1040553" cy="431082"/>
            <a:chOff x="7493876" y="2774731"/>
            <a:chExt cx="1481958" cy="894622"/>
          </a:xfrm>
        </p:grpSpPr>
        <p:sp>
          <p:nvSpPr>
            <p:cNvPr id="3680" name="Google Shape;368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81" name="Google Shape;368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82" name="Google Shape;3682;p61"/>
            <p:cNvGrpSpPr/>
            <p:nvPr/>
          </p:nvGrpSpPr>
          <p:grpSpPr>
            <a:xfrm>
              <a:off x="7713663" y="2848339"/>
              <a:ext cx="1042107" cy="425543"/>
              <a:chOff x="7786941" y="2884917"/>
              <a:chExt cx="897649" cy="353919"/>
            </a:xfrm>
          </p:grpSpPr>
          <p:sp>
            <p:nvSpPr>
              <p:cNvPr id="3683" name="Google Shape;3683;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4" name="Google Shape;3684;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5" name="Google Shape;3685;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6" name="Google Shape;3686;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87" name="Google Shape;3687;p61"/>
          <p:cNvGrpSpPr/>
          <p:nvPr/>
        </p:nvGrpSpPr>
        <p:grpSpPr>
          <a:xfrm>
            <a:off x="4283172" y="2940116"/>
            <a:ext cx="918415" cy="390629"/>
            <a:chOff x="3668110" y="2448910"/>
            <a:chExt cx="3794234" cy="2165130"/>
          </a:xfrm>
        </p:grpSpPr>
        <p:sp>
          <p:nvSpPr>
            <p:cNvPr id="3688" name="Google Shape;3688;p61"/>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9" name="Google Shape;3689;p61"/>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690" name="Google Shape;3690;p61"/>
            <p:cNvGrpSpPr/>
            <p:nvPr/>
          </p:nvGrpSpPr>
          <p:grpSpPr>
            <a:xfrm>
              <a:off x="3941378" y="2603243"/>
              <a:ext cx="3202061" cy="1066110"/>
              <a:chOff x="7939341" y="3037317"/>
              <a:chExt cx="897649" cy="353919"/>
            </a:xfrm>
          </p:grpSpPr>
          <p:sp>
            <p:nvSpPr>
              <p:cNvPr id="3691" name="Google Shape;3691;p61"/>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2" name="Google Shape;3692;p61"/>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3" name="Google Shape;3693;p61"/>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4" name="Google Shape;3694;p61"/>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3695" name="Google Shape;3695;p61"/>
          <p:cNvCxnSpPr/>
          <p:nvPr/>
        </p:nvCxnSpPr>
        <p:spPr>
          <a:xfrm flipH="1" rot="10800000">
            <a:off x="4391025" y="3324223"/>
            <a:ext cx="460375" cy="571501"/>
          </a:xfrm>
          <a:prstGeom prst="straightConnector1">
            <a:avLst/>
          </a:prstGeom>
          <a:noFill/>
          <a:ln cap="flat" cmpd="sng" w="9525">
            <a:solidFill>
              <a:srgbClr val="000000"/>
            </a:solidFill>
            <a:prstDash val="solid"/>
            <a:round/>
            <a:headEnd len="med" w="med" type="none"/>
            <a:tailEnd len="med" w="med" type="none"/>
          </a:ln>
        </p:spPr>
      </p:cxnSp>
      <p:sp>
        <p:nvSpPr>
          <p:cNvPr id="3696" name="Google Shape;3696;p61"/>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example</a:t>
            </a:r>
            <a:endParaRPr/>
          </a:p>
        </p:txBody>
      </p:sp>
      <p:sp>
        <p:nvSpPr>
          <p:cNvPr id="3697" name="Google Shape;3697;p61"/>
          <p:cNvSpPr txBox="1"/>
          <p:nvPr/>
        </p:nvSpPr>
        <p:spPr>
          <a:xfrm>
            <a:off x="6131419" y="1674030"/>
            <a:ext cx="4751439" cy="1262062"/>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Connecting laptop will use DHCP to get IP address, address of first-hop router, address of DNS server.</a:t>
            </a:r>
            <a:endParaRPr/>
          </a:p>
        </p:txBody>
      </p:sp>
      <p:cxnSp>
        <p:nvCxnSpPr>
          <p:cNvPr id="3698" name="Google Shape;3698;p61"/>
          <p:cNvCxnSpPr/>
          <p:nvPr/>
        </p:nvCxnSpPr>
        <p:spPr>
          <a:xfrm flipH="1" rot="10800000">
            <a:off x="3759695" y="3062253"/>
            <a:ext cx="562325" cy="839"/>
          </a:xfrm>
          <a:prstGeom prst="straightConnector1">
            <a:avLst/>
          </a:prstGeom>
          <a:noFill/>
          <a:ln cap="flat" cmpd="sng" w="9525">
            <a:solidFill>
              <a:srgbClr val="000000"/>
            </a:solidFill>
            <a:prstDash val="solid"/>
            <a:round/>
            <a:headEnd len="med" w="med" type="none"/>
            <a:tailEnd len="med" w="med" type="none"/>
          </a:ln>
        </p:spPr>
      </p:cxnSp>
      <p:sp>
        <p:nvSpPr>
          <p:cNvPr id="3699" name="Google Shape;3699;p61"/>
          <p:cNvSpPr txBox="1"/>
          <p:nvPr/>
        </p:nvSpPr>
        <p:spPr>
          <a:xfrm>
            <a:off x="3656507" y="4356905"/>
            <a:ext cx="202565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 with DHCP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server built into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a:t>
            </a:r>
            <a:endParaRPr/>
          </a:p>
        </p:txBody>
      </p:sp>
      <p:sp>
        <p:nvSpPr>
          <p:cNvPr id="3700" name="Google Shape;3700;p61"/>
          <p:cNvSpPr/>
          <p:nvPr/>
        </p:nvSpPr>
        <p:spPr>
          <a:xfrm>
            <a:off x="6131420" y="2964667"/>
            <a:ext cx="5406278" cy="1306513"/>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DHCP REQUEST message encapsulated in UDP, encapsulated in IP, encapsulated in Ethernet</a:t>
            </a:r>
            <a:endParaRPr/>
          </a:p>
        </p:txBody>
      </p:sp>
      <p:sp>
        <p:nvSpPr>
          <p:cNvPr id="3701" name="Google Shape;3701;p61"/>
          <p:cNvSpPr/>
          <p:nvPr/>
        </p:nvSpPr>
        <p:spPr>
          <a:xfrm>
            <a:off x="6150469" y="4210855"/>
            <a:ext cx="5450375" cy="1563687"/>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Ethernet frame broadcast (dest: </a:t>
            </a:r>
            <a:r>
              <a:rPr b="0" i="0" lang="en-US" sz="1800" u="none" cap="none" strike="noStrike">
                <a:solidFill>
                  <a:srgbClr val="000000"/>
                </a:solidFill>
                <a:latin typeface="Calibri"/>
                <a:ea typeface="Calibri"/>
                <a:cs typeface="Calibri"/>
                <a:sym typeface="Calibri"/>
              </a:rPr>
              <a:t>FFFFFFFFFFFF</a:t>
            </a:r>
            <a:r>
              <a:rPr b="0" i="0" lang="en-US" sz="2400" u="none" cap="none" strike="noStrike">
                <a:solidFill>
                  <a:srgbClr val="000000"/>
                </a:solidFill>
                <a:latin typeface="Calibri"/>
                <a:ea typeface="Calibri"/>
                <a:cs typeface="Calibri"/>
                <a:sym typeface="Calibri"/>
              </a:rPr>
              <a:t>) on LAN, received at router running DHCP server</a:t>
            </a:r>
            <a:endParaRPr/>
          </a:p>
        </p:txBody>
      </p:sp>
      <p:sp>
        <p:nvSpPr>
          <p:cNvPr id="3702" name="Google Shape;3702;p61"/>
          <p:cNvSpPr/>
          <p:nvPr/>
        </p:nvSpPr>
        <p:spPr>
          <a:xfrm>
            <a:off x="6128245" y="5547530"/>
            <a:ext cx="5280602" cy="1292225"/>
          </a:xfrm>
          <a:prstGeom prst="rect">
            <a:avLst/>
          </a:prstGeom>
          <a:noFill/>
          <a:ln>
            <a:noFill/>
          </a:ln>
        </p:spPr>
        <p:txBody>
          <a:bodyPr anchorCtr="0" anchor="t" bIns="45700" lIns="91425" spcFirstLastPara="1" rIns="91425" wrap="square" tIns="45700">
            <a:noAutofit/>
          </a:bodyPr>
          <a:lstStyle/>
          <a:p>
            <a:pPr indent="-233363" lvl="0" marL="233363" marR="0" rtl="0" algn="l">
              <a:lnSpc>
                <a:spcPct val="90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Ethernet demux’ed to IP demux’ed, UDP demux’ed to DHCP </a:t>
            </a:r>
            <a:endParaRPr/>
          </a:p>
        </p:txBody>
      </p:sp>
      <p:sp>
        <p:nvSpPr>
          <p:cNvPr id="3703" name="Google Shape;3703;p61"/>
          <p:cNvSpPr txBox="1"/>
          <p:nvPr/>
        </p:nvSpPr>
        <p:spPr>
          <a:xfrm>
            <a:off x="4421682" y="3674280"/>
            <a:ext cx="10477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168.1.1.1</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04" name="Google Shape;3704;p61"/>
          <p:cNvGrpSpPr/>
          <p:nvPr/>
        </p:nvGrpSpPr>
        <p:grpSpPr>
          <a:xfrm>
            <a:off x="3067479" y="2685267"/>
            <a:ext cx="855728" cy="627114"/>
            <a:chOff x="4417" y="878"/>
            <a:chExt cx="617" cy="466"/>
          </a:xfrm>
        </p:grpSpPr>
        <p:pic>
          <p:nvPicPr>
            <p:cNvPr descr="laptop_keyboard" id="3705" name="Google Shape;3705;p61"/>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706" name="Google Shape;3706;p61"/>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707" name="Google Shape;3707;p61"/>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708" name="Google Shape;3708;p61"/>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09" name="Google Shape;3709;p61"/>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0" name="Google Shape;3710;p61"/>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1" name="Google Shape;3711;p61"/>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2" name="Google Shape;3712;p61"/>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3" name="Google Shape;3713;p61"/>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14" name="Google Shape;3714;p61"/>
            <p:cNvGrpSpPr/>
            <p:nvPr/>
          </p:nvGrpSpPr>
          <p:grpSpPr>
            <a:xfrm>
              <a:off x="4584" y="1203"/>
              <a:ext cx="119" cy="53"/>
              <a:chOff x="1740" y="2642"/>
              <a:chExt cx="752" cy="327"/>
            </a:xfrm>
          </p:grpSpPr>
          <p:sp>
            <p:nvSpPr>
              <p:cNvPr id="3715" name="Google Shape;3715;p61"/>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6" name="Google Shape;3716;p61"/>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7" name="Google Shape;3717;p61"/>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8" name="Google Shape;3718;p61"/>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19" name="Google Shape;3719;p61"/>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0" name="Google Shape;3720;p61"/>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721" name="Google Shape;3721;p61"/>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2" name="Google Shape;3722;p61"/>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3" name="Google Shape;3723;p61"/>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4" name="Google Shape;3724;p61"/>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5" name="Google Shape;3725;p61"/>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726" name="Google Shape;3726;p61"/>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727" name="Google Shape;3727;p61"/>
          <p:cNvSpPr/>
          <p:nvPr/>
        </p:nvSpPr>
        <p:spPr>
          <a:xfrm>
            <a:off x="1924545" y="2812267"/>
            <a:ext cx="976312" cy="485775"/>
          </a:xfrm>
          <a:custGeom>
            <a:rect b="b" l="l" r="r" t="t"/>
            <a:pathLst>
              <a:path extrusionOk="0" h="21600" w="21600">
                <a:moveTo>
                  <a:pt x="16200" y="0"/>
                </a:moveTo>
                <a:lnTo>
                  <a:pt x="16200" y="5400"/>
                </a:lnTo>
                <a:lnTo>
                  <a:pt x="3375" y="5400"/>
                </a:lnTo>
                <a:lnTo>
                  <a:pt x="3375" y="16200"/>
                </a:lnTo>
                <a:lnTo>
                  <a:pt x="16200" y="16200"/>
                </a:lnTo>
                <a:lnTo>
                  <a:pt x="16200" y="21600"/>
                </a:lnTo>
                <a:lnTo>
                  <a:pt x="21600" y="10800"/>
                </a:lnTo>
                <a:lnTo>
                  <a:pt x="16200" y="0"/>
                </a:lnTo>
                <a:close/>
              </a:path>
              <a:path extrusionOk="0" h="21600" w="21600">
                <a:moveTo>
                  <a:pt x="1350" y="5400"/>
                </a:moveTo>
                <a:lnTo>
                  <a:pt x="1350" y="16200"/>
                </a:lnTo>
                <a:lnTo>
                  <a:pt x="2700" y="16200"/>
                </a:lnTo>
                <a:lnTo>
                  <a:pt x="2700" y="5400"/>
                </a:lnTo>
                <a:lnTo>
                  <a:pt x="1350" y="5400"/>
                </a:lnTo>
                <a:close/>
              </a:path>
              <a:path extrusionOk="0" h="21600" w="21600">
                <a:moveTo>
                  <a:pt x="0" y="5400"/>
                </a:moveTo>
                <a:lnTo>
                  <a:pt x="0" y="16200"/>
                </a:lnTo>
                <a:lnTo>
                  <a:pt x="675" y="16200"/>
                </a:lnTo>
                <a:lnTo>
                  <a:pt x="675" y="5400"/>
                </a:lnTo>
                <a:lnTo>
                  <a:pt x="0" y="5400"/>
                </a:lnTo>
                <a:close/>
              </a:path>
            </a:pathLst>
          </a:cu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28" name="Google Shape;3728;p61"/>
          <p:cNvGrpSpPr/>
          <p:nvPr/>
        </p:nvGrpSpPr>
        <p:grpSpPr>
          <a:xfrm>
            <a:off x="2289670" y="1648630"/>
            <a:ext cx="976312" cy="1460500"/>
            <a:chOff x="651" y="681"/>
            <a:chExt cx="615" cy="920"/>
          </a:xfrm>
        </p:grpSpPr>
        <p:sp>
          <p:nvSpPr>
            <p:cNvPr id="3729" name="Google Shape;3729;p61"/>
            <p:cNvSpPr/>
            <p:nvPr/>
          </p:nvSpPr>
          <p:spPr>
            <a:xfrm>
              <a:off x="662" y="698"/>
              <a:ext cx="604" cy="903"/>
            </a:xfrm>
            <a:custGeom>
              <a:rect b="b" l="l" r="r" t="t"/>
              <a:pathLst>
                <a:path extrusionOk="0" h="903" w="604">
                  <a:moveTo>
                    <a:pt x="496" y="0"/>
                  </a:moveTo>
                  <a:lnTo>
                    <a:pt x="604" y="903"/>
                  </a:lnTo>
                  <a:lnTo>
                    <a:pt x="0" y="788"/>
                  </a:lnTo>
                  <a:lnTo>
                    <a:pt x="456" y="750"/>
                  </a:lnTo>
                  <a:lnTo>
                    <a:pt x="496" y="0"/>
                  </a:lnTo>
                  <a:close/>
                </a:path>
              </a:pathLst>
            </a:custGeom>
            <a:gradFill>
              <a:gsLst>
                <a:gs pos="0">
                  <a:srgbClr val="FFFFFF">
                    <a:alpha val="65882"/>
                  </a:srgbClr>
                </a:gs>
                <a:gs pos="100000">
                  <a:srgbClr val="000099">
                    <a:alpha val="66666"/>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30" name="Google Shape;3730;p61"/>
            <p:cNvGrpSpPr/>
            <p:nvPr/>
          </p:nvGrpSpPr>
          <p:grpSpPr>
            <a:xfrm>
              <a:off x="651" y="681"/>
              <a:ext cx="501" cy="828"/>
              <a:chOff x="569" y="2954"/>
              <a:chExt cx="501" cy="828"/>
            </a:xfrm>
          </p:grpSpPr>
          <p:sp>
            <p:nvSpPr>
              <p:cNvPr id="3731" name="Google Shape;3731;p61"/>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chemeClr val="dk1">
                    <a:alpha val="40000"/>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2" name="Google Shape;3732;p61"/>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733" name="Google Shape;3733;p61"/>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4" name="Google Shape;3734;p61"/>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5" name="Google Shape;3735;p61"/>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736" name="Google Shape;3736;p61"/>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737" name="Google Shape;3737;p61"/>
          <p:cNvGrpSpPr/>
          <p:nvPr/>
        </p:nvGrpSpPr>
        <p:grpSpPr>
          <a:xfrm>
            <a:off x="1614982" y="1707367"/>
            <a:ext cx="544513" cy="244475"/>
            <a:chOff x="844" y="3337"/>
            <a:chExt cx="343" cy="154"/>
          </a:xfrm>
        </p:grpSpPr>
        <p:sp>
          <p:nvSpPr>
            <p:cNvPr id="3738" name="Google Shape;3738;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9" name="Google Shape;3739;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40" name="Google Shape;3740;p61"/>
          <p:cNvGrpSpPr/>
          <p:nvPr/>
        </p:nvGrpSpPr>
        <p:grpSpPr>
          <a:xfrm>
            <a:off x="1160957" y="1726417"/>
            <a:ext cx="1081088" cy="1166813"/>
            <a:chOff x="42" y="744"/>
            <a:chExt cx="681" cy="735"/>
          </a:xfrm>
        </p:grpSpPr>
        <p:grpSp>
          <p:nvGrpSpPr>
            <p:cNvPr id="3741" name="Google Shape;3741;p61"/>
            <p:cNvGrpSpPr/>
            <p:nvPr/>
          </p:nvGrpSpPr>
          <p:grpSpPr>
            <a:xfrm>
              <a:off x="42" y="886"/>
              <a:ext cx="681" cy="468"/>
              <a:chOff x="42" y="886"/>
              <a:chExt cx="681" cy="468"/>
            </a:xfrm>
          </p:grpSpPr>
          <p:grpSp>
            <p:nvGrpSpPr>
              <p:cNvPr id="3742" name="Google Shape;3742;p61"/>
              <p:cNvGrpSpPr/>
              <p:nvPr/>
            </p:nvGrpSpPr>
            <p:grpSpPr>
              <a:xfrm>
                <a:off x="278" y="886"/>
                <a:ext cx="397" cy="154"/>
                <a:chOff x="740" y="3209"/>
                <a:chExt cx="397" cy="154"/>
              </a:xfrm>
            </p:grpSpPr>
            <p:grpSp>
              <p:nvGrpSpPr>
                <p:cNvPr id="3743" name="Google Shape;3743;p61"/>
                <p:cNvGrpSpPr/>
                <p:nvPr/>
              </p:nvGrpSpPr>
              <p:grpSpPr>
                <a:xfrm>
                  <a:off x="794" y="3209"/>
                  <a:ext cx="343" cy="154"/>
                  <a:chOff x="844" y="3337"/>
                  <a:chExt cx="343" cy="154"/>
                </a:xfrm>
              </p:grpSpPr>
              <p:sp>
                <p:nvSpPr>
                  <p:cNvPr id="3744" name="Google Shape;3744;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5" name="Google Shape;3745;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746" name="Google Shape;3746;p61"/>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7" name="Google Shape;3747;p61"/>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48" name="Google Shape;3748;p61"/>
              <p:cNvGrpSpPr/>
              <p:nvPr/>
            </p:nvGrpSpPr>
            <p:grpSpPr>
              <a:xfrm>
                <a:off x="278" y="1034"/>
                <a:ext cx="397" cy="154"/>
                <a:chOff x="836" y="3305"/>
                <a:chExt cx="397" cy="154"/>
              </a:xfrm>
            </p:grpSpPr>
            <p:grpSp>
              <p:nvGrpSpPr>
                <p:cNvPr id="3749" name="Google Shape;3749;p61"/>
                <p:cNvGrpSpPr/>
                <p:nvPr/>
              </p:nvGrpSpPr>
              <p:grpSpPr>
                <a:xfrm>
                  <a:off x="890" y="3305"/>
                  <a:ext cx="343" cy="154"/>
                  <a:chOff x="844" y="3337"/>
                  <a:chExt cx="343" cy="154"/>
                </a:xfrm>
              </p:grpSpPr>
              <p:sp>
                <p:nvSpPr>
                  <p:cNvPr id="3750" name="Google Shape;375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1" name="Google Shape;375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52" name="Google Shape;3752;p61"/>
                <p:cNvGrpSpPr/>
                <p:nvPr/>
              </p:nvGrpSpPr>
              <p:grpSpPr>
                <a:xfrm>
                  <a:off x="836" y="3334"/>
                  <a:ext cx="354" cy="94"/>
                  <a:chOff x="836" y="3334"/>
                  <a:chExt cx="354" cy="94"/>
                </a:xfrm>
              </p:grpSpPr>
              <p:sp>
                <p:nvSpPr>
                  <p:cNvPr id="3753" name="Google Shape;3753;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4" name="Google Shape;3754;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755" name="Google Shape;3755;p61"/>
              <p:cNvGrpSpPr/>
              <p:nvPr/>
            </p:nvGrpSpPr>
            <p:grpSpPr>
              <a:xfrm>
                <a:off x="165" y="1054"/>
                <a:ext cx="480" cy="112"/>
                <a:chOff x="627" y="3377"/>
                <a:chExt cx="480" cy="112"/>
              </a:xfrm>
            </p:grpSpPr>
            <p:sp>
              <p:nvSpPr>
                <p:cNvPr id="3756" name="Google Shape;3756;p61"/>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57" name="Google Shape;3757;p61"/>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58" name="Google Shape;3758;p61"/>
              <p:cNvGrpSpPr/>
              <p:nvPr/>
            </p:nvGrpSpPr>
            <p:grpSpPr>
              <a:xfrm>
                <a:off x="42" y="1200"/>
                <a:ext cx="681" cy="154"/>
                <a:chOff x="504" y="3523"/>
                <a:chExt cx="681" cy="154"/>
              </a:xfrm>
            </p:grpSpPr>
            <p:grpSp>
              <p:nvGrpSpPr>
                <p:cNvPr id="3759" name="Google Shape;3759;p61"/>
                <p:cNvGrpSpPr/>
                <p:nvPr/>
              </p:nvGrpSpPr>
              <p:grpSpPr>
                <a:xfrm>
                  <a:off x="623" y="3523"/>
                  <a:ext cx="510" cy="154"/>
                  <a:chOff x="723" y="3453"/>
                  <a:chExt cx="510" cy="154"/>
                </a:xfrm>
              </p:grpSpPr>
              <p:grpSp>
                <p:nvGrpSpPr>
                  <p:cNvPr id="3760" name="Google Shape;3760;p61"/>
                  <p:cNvGrpSpPr/>
                  <p:nvPr/>
                </p:nvGrpSpPr>
                <p:grpSpPr>
                  <a:xfrm>
                    <a:off x="836" y="3453"/>
                    <a:ext cx="397" cy="154"/>
                    <a:chOff x="836" y="3305"/>
                    <a:chExt cx="397" cy="154"/>
                  </a:xfrm>
                </p:grpSpPr>
                <p:grpSp>
                  <p:nvGrpSpPr>
                    <p:cNvPr id="3761" name="Google Shape;3761;p61"/>
                    <p:cNvGrpSpPr/>
                    <p:nvPr/>
                  </p:nvGrpSpPr>
                  <p:grpSpPr>
                    <a:xfrm>
                      <a:off x="890" y="3305"/>
                      <a:ext cx="343" cy="154"/>
                      <a:chOff x="844" y="3337"/>
                      <a:chExt cx="343" cy="154"/>
                    </a:xfrm>
                  </p:grpSpPr>
                  <p:sp>
                    <p:nvSpPr>
                      <p:cNvPr id="3762" name="Google Shape;3762;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3" name="Google Shape;3763;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64" name="Google Shape;3764;p61"/>
                    <p:cNvGrpSpPr/>
                    <p:nvPr/>
                  </p:nvGrpSpPr>
                  <p:grpSpPr>
                    <a:xfrm>
                      <a:off x="836" y="3334"/>
                      <a:ext cx="354" cy="94"/>
                      <a:chOff x="836" y="3334"/>
                      <a:chExt cx="354" cy="94"/>
                    </a:xfrm>
                  </p:grpSpPr>
                  <p:sp>
                    <p:nvSpPr>
                      <p:cNvPr id="3765" name="Google Shape;3765;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6" name="Google Shape;3766;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67" name="Google Shape;3767;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8" name="Google Shape;3768;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769" name="Google Shape;3769;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0" name="Google Shape;3770;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1" name="Google Shape;3771;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72" name="Google Shape;3772;p61"/>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73" name="Google Shape;3773;p61"/>
          <p:cNvGrpSpPr/>
          <p:nvPr/>
        </p:nvGrpSpPr>
        <p:grpSpPr>
          <a:xfrm>
            <a:off x="1745157" y="2934505"/>
            <a:ext cx="1081088" cy="244475"/>
            <a:chOff x="504" y="3523"/>
            <a:chExt cx="681" cy="154"/>
          </a:xfrm>
        </p:grpSpPr>
        <p:grpSp>
          <p:nvGrpSpPr>
            <p:cNvPr id="3774" name="Google Shape;3774;p61"/>
            <p:cNvGrpSpPr/>
            <p:nvPr/>
          </p:nvGrpSpPr>
          <p:grpSpPr>
            <a:xfrm>
              <a:off x="623" y="3523"/>
              <a:ext cx="510" cy="154"/>
              <a:chOff x="723" y="3453"/>
              <a:chExt cx="510" cy="154"/>
            </a:xfrm>
          </p:grpSpPr>
          <p:grpSp>
            <p:nvGrpSpPr>
              <p:cNvPr id="3775" name="Google Shape;3775;p61"/>
              <p:cNvGrpSpPr/>
              <p:nvPr/>
            </p:nvGrpSpPr>
            <p:grpSpPr>
              <a:xfrm>
                <a:off x="836" y="3453"/>
                <a:ext cx="397" cy="154"/>
                <a:chOff x="836" y="3305"/>
                <a:chExt cx="397" cy="154"/>
              </a:xfrm>
            </p:grpSpPr>
            <p:grpSp>
              <p:nvGrpSpPr>
                <p:cNvPr id="3776" name="Google Shape;3776;p61"/>
                <p:cNvGrpSpPr/>
                <p:nvPr/>
              </p:nvGrpSpPr>
              <p:grpSpPr>
                <a:xfrm>
                  <a:off x="890" y="3305"/>
                  <a:ext cx="343" cy="154"/>
                  <a:chOff x="844" y="3337"/>
                  <a:chExt cx="343" cy="154"/>
                </a:xfrm>
              </p:grpSpPr>
              <p:sp>
                <p:nvSpPr>
                  <p:cNvPr id="3777" name="Google Shape;3777;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78" name="Google Shape;3778;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779" name="Google Shape;3779;p61"/>
                <p:cNvGrpSpPr/>
                <p:nvPr/>
              </p:nvGrpSpPr>
              <p:grpSpPr>
                <a:xfrm>
                  <a:off x="836" y="3334"/>
                  <a:ext cx="354" cy="94"/>
                  <a:chOff x="836" y="3334"/>
                  <a:chExt cx="354" cy="94"/>
                </a:xfrm>
              </p:grpSpPr>
              <p:sp>
                <p:nvSpPr>
                  <p:cNvPr id="3780" name="Google Shape;3780;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1" name="Google Shape;3781;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782" name="Google Shape;3782;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3" name="Google Shape;3783;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784" name="Google Shape;3784;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5" name="Google Shape;3785;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6" name="Google Shape;3786;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87" name="Google Shape;3787;p61"/>
          <p:cNvGrpSpPr/>
          <p:nvPr/>
        </p:nvGrpSpPr>
        <p:grpSpPr>
          <a:xfrm>
            <a:off x="2572245" y="3626655"/>
            <a:ext cx="1316037" cy="1314450"/>
            <a:chOff x="931" y="1941"/>
            <a:chExt cx="829" cy="828"/>
          </a:xfrm>
        </p:grpSpPr>
        <p:sp>
          <p:nvSpPr>
            <p:cNvPr id="3788" name="Google Shape;3788;p61"/>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FFFFFF">
                    <a:alpha val="64705"/>
                  </a:srgbClr>
                </a:gs>
                <a:gs pos="100000">
                  <a:srgbClr val="000099">
                    <a:alpha val="64705"/>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789" name="Google Shape;3789;p61"/>
            <p:cNvGrpSpPr/>
            <p:nvPr/>
          </p:nvGrpSpPr>
          <p:grpSpPr>
            <a:xfrm>
              <a:off x="931" y="1941"/>
              <a:ext cx="501" cy="828"/>
              <a:chOff x="569" y="2954"/>
              <a:chExt cx="501" cy="828"/>
            </a:xfrm>
          </p:grpSpPr>
          <p:sp>
            <p:nvSpPr>
              <p:cNvPr id="3790" name="Google Shape;3790;p61"/>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1" name="Google Shape;3791;p61"/>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792" name="Google Shape;3792;p61"/>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3" name="Google Shape;3793;p61"/>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4" name="Google Shape;3794;p61"/>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795" name="Google Shape;3795;p61"/>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796" name="Google Shape;3796;p61"/>
          <p:cNvGrpSpPr/>
          <p:nvPr/>
        </p:nvGrpSpPr>
        <p:grpSpPr>
          <a:xfrm>
            <a:off x="1434007" y="3526642"/>
            <a:ext cx="1081088" cy="1217613"/>
            <a:chOff x="1404" y="3105"/>
            <a:chExt cx="681" cy="767"/>
          </a:xfrm>
        </p:grpSpPr>
        <p:grpSp>
          <p:nvGrpSpPr>
            <p:cNvPr id="3797" name="Google Shape;3797;p61"/>
            <p:cNvGrpSpPr/>
            <p:nvPr/>
          </p:nvGrpSpPr>
          <p:grpSpPr>
            <a:xfrm>
              <a:off x="1404" y="3355"/>
              <a:ext cx="681" cy="468"/>
              <a:chOff x="42" y="886"/>
              <a:chExt cx="681" cy="468"/>
            </a:xfrm>
          </p:grpSpPr>
          <p:grpSp>
            <p:nvGrpSpPr>
              <p:cNvPr id="3798" name="Google Shape;3798;p61"/>
              <p:cNvGrpSpPr/>
              <p:nvPr/>
            </p:nvGrpSpPr>
            <p:grpSpPr>
              <a:xfrm>
                <a:off x="278" y="886"/>
                <a:ext cx="397" cy="154"/>
                <a:chOff x="740" y="3209"/>
                <a:chExt cx="397" cy="154"/>
              </a:xfrm>
            </p:grpSpPr>
            <p:grpSp>
              <p:nvGrpSpPr>
                <p:cNvPr id="3799" name="Google Shape;3799;p61"/>
                <p:cNvGrpSpPr/>
                <p:nvPr/>
              </p:nvGrpSpPr>
              <p:grpSpPr>
                <a:xfrm>
                  <a:off x="794" y="3209"/>
                  <a:ext cx="343" cy="154"/>
                  <a:chOff x="844" y="3337"/>
                  <a:chExt cx="343" cy="154"/>
                </a:xfrm>
              </p:grpSpPr>
              <p:sp>
                <p:nvSpPr>
                  <p:cNvPr id="3800" name="Google Shape;380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1" name="Google Shape;380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802" name="Google Shape;3802;p61"/>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3" name="Google Shape;3803;p61"/>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04" name="Google Shape;3804;p61"/>
              <p:cNvGrpSpPr/>
              <p:nvPr/>
            </p:nvGrpSpPr>
            <p:grpSpPr>
              <a:xfrm>
                <a:off x="278" y="1034"/>
                <a:ext cx="397" cy="154"/>
                <a:chOff x="836" y="3305"/>
                <a:chExt cx="397" cy="154"/>
              </a:xfrm>
            </p:grpSpPr>
            <p:grpSp>
              <p:nvGrpSpPr>
                <p:cNvPr id="3805" name="Google Shape;3805;p61"/>
                <p:cNvGrpSpPr/>
                <p:nvPr/>
              </p:nvGrpSpPr>
              <p:grpSpPr>
                <a:xfrm>
                  <a:off x="890" y="3305"/>
                  <a:ext cx="343" cy="154"/>
                  <a:chOff x="844" y="3337"/>
                  <a:chExt cx="343" cy="154"/>
                </a:xfrm>
              </p:grpSpPr>
              <p:sp>
                <p:nvSpPr>
                  <p:cNvPr id="3806" name="Google Shape;3806;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7" name="Google Shape;3807;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08" name="Google Shape;3808;p61"/>
                <p:cNvGrpSpPr/>
                <p:nvPr/>
              </p:nvGrpSpPr>
              <p:grpSpPr>
                <a:xfrm>
                  <a:off x="836" y="3334"/>
                  <a:ext cx="354" cy="94"/>
                  <a:chOff x="836" y="3334"/>
                  <a:chExt cx="354" cy="94"/>
                </a:xfrm>
              </p:grpSpPr>
              <p:sp>
                <p:nvSpPr>
                  <p:cNvPr id="3809" name="Google Shape;3809;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0" name="Google Shape;3810;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811" name="Google Shape;3811;p61"/>
              <p:cNvGrpSpPr/>
              <p:nvPr/>
            </p:nvGrpSpPr>
            <p:grpSpPr>
              <a:xfrm>
                <a:off x="165" y="1054"/>
                <a:ext cx="480" cy="112"/>
                <a:chOff x="627" y="3377"/>
                <a:chExt cx="480" cy="112"/>
              </a:xfrm>
            </p:grpSpPr>
            <p:sp>
              <p:nvSpPr>
                <p:cNvPr id="3812" name="Google Shape;3812;p61"/>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3" name="Google Shape;3813;p61"/>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14" name="Google Shape;3814;p61"/>
              <p:cNvGrpSpPr/>
              <p:nvPr/>
            </p:nvGrpSpPr>
            <p:grpSpPr>
              <a:xfrm>
                <a:off x="42" y="1200"/>
                <a:ext cx="681" cy="154"/>
                <a:chOff x="504" y="3523"/>
                <a:chExt cx="681" cy="154"/>
              </a:xfrm>
            </p:grpSpPr>
            <p:grpSp>
              <p:nvGrpSpPr>
                <p:cNvPr id="3815" name="Google Shape;3815;p61"/>
                <p:cNvGrpSpPr/>
                <p:nvPr/>
              </p:nvGrpSpPr>
              <p:grpSpPr>
                <a:xfrm>
                  <a:off x="623" y="3523"/>
                  <a:ext cx="510" cy="154"/>
                  <a:chOff x="723" y="3453"/>
                  <a:chExt cx="510" cy="154"/>
                </a:xfrm>
              </p:grpSpPr>
              <p:grpSp>
                <p:nvGrpSpPr>
                  <p:cNvPr id="3816" name="Google Shape;3816;p61"/>
                  <p:cNvGrpSpPr/>
                  <p:nvPr/>
                </p:nvGrpSpPr>
                <p:grpSpPr>
                  <a:xfrm>
                    <a:off x="836" y="3453"/>
                    <a:ext cx="397" cy="154"/>
                    <a:chOff x="836" y="3305"/>
                    <a:chExt cx="397" cy="154"/>
                  </a:xfrm>
                </p:grpSpPr>
                <p:grpSp>
                  <p:nvGrpSpPr>
                    <p:cNvPr id="3817" name="Google Shape;3817;p61"/>
                    <p:cNvGrpSpPr/>
                    <p:nvPr/>
                  </p:nvGrpSpPr>
                  <p:grpSpPr>
                    <a:xfrm>
                      <a:off x="890" y="3305"/>
                      <a:ext cx="343" cy="154"/>
                      <a:chOff x="844" y="3337"/>
                      <a:chExt cx="343" cy="154"/>
                    </a:xfrm>
                  </p:grpSpPr>
                  <p:sp>
                    <p:nvSpPr>
                      <p:cNvPr id="3818" name="Google Shape;3818;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9" name="Google Shape;3819;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20" name="Google Shape;3820;p61"/>
                    <p:cNvGrpSpPr/>
                    <p:nvPr/>
                  </p:nvGrpSpPr>
                  <p:grpSpPr>
                    <a:xfrm>
                      <a:off x="836" y="3334"/>
                      <a:ext cx="354" cy="94"/>
                      <a:chOff x="836" y="3334"/>
                      <a:chExt cx="354" cy="94"/>
                    </a:xfrm>
                  </p:grpSpPr>
                  <p:sp>
                    <p:nvSpPr>
                      <p:cNvPr id="3821" name="Google Shape;3821;p61"/>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2" name="Google Shape;3822;p61"/>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823" name="Google Shape;3823;p61"/>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4" name="Google Shape;3824;p61"/>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25" name="Google Shape;3825;p61"/>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6" name="Google Shape;3826;p61"/>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7" name="Google Shape;3827;p61"/>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828" name="Google Shape;3828;p61"/>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29" name="Google Shape;3829;p61"/>
            <p:cNvGrpSpPr/>
            <p:nvPr/>
          </p:nvGrpSpPr>
          <p:grpSpPr>
            <a:xfrm>
              <a:off x="1695" y="3227"/>
              <a:ext cx="343" cy="154"/>
              <a:chOff x="844" y="3337"/>
              <a:chExt cx="343" cy="154"/>
            </a:xfrm>
          </p:grpSpPr>
          <p:sp>
            <p:nvSpPr>
              <p:cNvPr id="3830" name="Google Shape;3830;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1" name="Google Shape;3831;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grpSp>
        <p:nvGrpSpPr>
          <p:cNvPr id="3832" name="Google Shape;3832;p61"/>
          <p:cNvGrpSpPr/>
          <p:nvPr/>
        </p:nvGrpSpPr>
        <p:grpSpPr>
          <a:xfrm>
            <a:off x="1897557" y="3723492"/>
            <a:ext cx="544513" cy="244475"/>
            <a:chOff x="844" y="3337"/>
            <a:chExt cx="343" cy="154"/>
          </a:xfrm>
        </p:grpSpPr>
        <p:sp>
          <p:nvSpPr>
            <p:cNvPr id="3833" name="Google Shape;3833;p61"/>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4" name="Google Shape;3834;p61"/>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835" name="Google Shape;3835;p61"/>
          <p:cNvGrpSpPr/>
          <p:nvPr/>
        </p:nvGrpSpPr>
        <p:grpSpPr>
          <a:xfrm>
            <a:off x="3800970" y="3720317"/>
            <a:ext cx="423862" cy="647700"/>
            <a:chOff x="4140" y="429"/>
            <a:chExt cx="1425" cy="2396"/>
          </a:xfrm>
        </p:grpSpPr>
        <p:sp>
          <p:nvSpPr>
            <p:cNvPr id="3836" name="Google Shape;3836;p6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37" name="Google Shape;3837;p61"/>
            <p:cNvSpPr/>
            <p:nvPr/>
          </p:nvSpPr>
          <p:spPr>
            <a:xfrm>
              <a:off x="4204" y="429"/>
              <a:ext cx="1051"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8" name="Google Shape;3838;p6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39" name="Google Shape;3839;p6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40" name="Google Shape;3840;p61"/>
            <p:cNvSpPr/>
            <p:nvPr/>
          </p:nvSpPr>
          <p:spPr>
            <a:xfrm>
              <a:off x="4209" y="693"/>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41" name="Google Shape;3841;p61"/>
            <p:cNvGrpSpPr/>
            <p:nvPr/>
          </p:nvGrpSpPr>
          <p:grpSpPr>
            <a:xfrm>
              <a:off x="4748" y="670"/>
              <a:ext cx="582" cy="141"/>
              <a:chOff x="613" y="2570"/>
              <a:chExt cx="726" cy="135"/>
            </a:xfrm>
          </p:grpSpPr>
          <p:sp>
            <p:nvSpPr>
              <p:cNvPr id="3842" name="Google Shape;3842;p61"/>
              <p:cNvSpPr/>
              <p:nvPr/>
            </p:nvSpPr>
            <p:spPr>
              <a:xfrm>
                <a:off x="613" y="2570"/>
                <a:ext cx="726"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3" name="Google Shape;3843;p61"/>
              <p:cNvSpPr/>
              <p:nvPr/>
            </p:nvSpPr>
            <p:spPr>
              <a:xfrm>
                <a:off x="627" y="2587"/>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44" name="Google Shape;3844;p61"/>
            <p:cNvSpPr/>
            <p:nvPr/>
          </p:nvSpPr>
          <p:spPr>
            <a:xfrm>
              <a:off x="4225" y="1016"/>
              <a:ext cx="592"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45" name="Google Shape;3845;p61"/>
            <p:cNvGrpSpPr/>
            <p:nvPr/>
          </p:nvGrpSpPr>
          <p:grpSpPr>
            <a:xfrm>
              <a:off x="4749" y="993"/>
              <a:ext cx="582" cy="135"/>
              <a:chOff x="616" y="2567"/>
              <a:chExt cx="726" cy="140"/>
            </a:xfrm>
          </p:grpSpPr>
          <p:sp>
            <p:nvSpPr>
              <p:cNvPr id="3846" name="Google Shape;3846;p61"/>
              <p:cNvSpPr/>
              <p:nvPr/>
            </p:nvSpPr>
            <p:spPr>
              <a:xfrm>
                <a:off x="616" y="2567"/>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7" name="Google Shape;3847;p61"/>
              <p:cNvSpPr/>
              <p:nvPr/>
            </p:nvSpPr>
            <p:spPr>
              <a:xfrm>
                <a:off x="629" y="2585"/>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48" name="Google Shape;3848;p61"/>
            <p:cNvSpPr/>
            <p:nvPr/>
          </p:nvSpPr>
          <p:spPr>
            <a:xfrm>
              <a:off x="4215" y="1357"/>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9" name="Google Shape;3849;p61"/>
            <p:cNvSpPr/>
            <p:nvPr/>
          </p:nvSpPr>
          <p:spPr>
            <a:xfrm>
              <a:off x="4225" y="1656"/>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850" name="Google Shape;3850;p61"/>
            <p:cNvGrpSpPr/>
            <p:nvPr/>
          </p:nvGrpSpPr>
          <p:grpSpPr>
            <a:xfrm>
              <a:off x="4733" y="1627"/>
              <a:ext cx="587" cy="153"/>
              <a:chOff x="611" y="2568"/>
              <a:chExt cx="731" cy="141"/>
            </a:xfrm>
          </p:grpSpPr>
          <p:sp>
            <p:nvSpPr>
              <p:cNvPr id="3851" name="Google Shape;3851;p61"/>
              <p:cNvSpPr/>
              <p:nvPr/>
            </p:nvSpPr>
            <p:spPr>
              <a:xfrm>
                <a:off x="611" y="2568"/>
                <a:ext cx="731"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2" name="Google Shape;3852;p61"/>
              <p:cNvSpPr/>
              <p:nvPr/>
            </p:nvSpPr>
            <p:spPr>
              <a:xfrm>
                <a:off x="624" y="2584"/>
                <a:ext cx="69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53" name="Google Shape;3853;p6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854" name="Google Shape;3854;p61"/>
            <p:cNvGrpSpPr/>
            <p:nvPr/>
          </p:nvGrpSpPr>
          <p:grpSpPr>
            <a:xfrm>
              <a:off x="4737" y="1328"/>
              <a:ext cx="582" cy="147"/>
              <a:chOff x="612" y="2569"/>
              <a:chExt cx="725" cy="147"/>
            </a:xfrm>
          </p:grpSpPr>
          <p:sp>
            <p:nvSpPr>
              <p:cNvPr id="3855" name="Google Shape;3855;p61"/>
              <p:cNvSpPr/>
              <p:nvPr/>
            </p:nvSpPr>
            <p:spPr>
              <a:xfrm>
                <a:off x="612" y="2569"/>
                <a:ext cx="725" cy="14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6" name="Google Shape;3856;p61"/>
              <p:cNvSpPr/>
              <p:nvPr/>
            </p:nvSpPr>
            <p:spPr>
              <a:xfrm>
                <a:off x="626" y="2586"/>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57" name="Google Shape;3857;p61"/>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58" name="Google Shape;3858;p6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59" name="Google Shape;3859;p6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60" name="Google Shape;3860;p61"/>
            <p:cNvSpPr/>
            <p:nvPr/>
          </p:nvSpPr>
          <p:spPr>
            <a:xfrm>
              <a:off x="5517" y="2614"/>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1" name="Google Shape;3861;p6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862" name="Google Shape;3862;p61"/>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3" name="Google Shape;3863;p61"/>
            <p:cNvSpPr/>
            <p:nvPr/>
          </p:nvSpPr>
          <p:spPr>
            <a:xfrm>
              <a:off x="4204" y="2713"/>
              <a:ext cx="1073"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4" name="Google Shape;3864;p61"/>
            <p:cNvSpPr/>
            <p:nvPr/>
          </p:nvSpPr>
          <p:spPr>
            <a:xfrm>
              <a:off x="4305" y="2385"/>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5" name="Google Shape;3865;p61"/>
            <p:cNvSpPr/>
            <p:nvPr/>
          </p:nvSpPr>
          <p:spPr>
            <a:xfrm>
              <a:off x="4487" y="2385"/>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3866" name="Google Shape;3866;p61"/>
            <p:cNvSpPr/>
            <p:nvPr/>
          </p:nvSpPr>
          <p:spPr>
            <a:xfrm>
              <a:off x="4663" y="2379"/>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67" name="Google Shape;3867;p61"/>
            <p:cNvSpPr/>
            <p:nvPr/>
          </p:nvSpPr>
          <p:spPr>
            <a:xfrm>
              <a:off x="5063" y="1833"/>
              <a:ext cx="85" cy="763"/>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68" name="Google Shape;3868;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7"/>
                                        </p:tgtEl>
                                        <p:attrNameLst>
                                          <p:attrName>style.visibility</p:attrName>
                                        </p:attrNameLst>
                                      </p:cBhvr>
                                      <p:to>
                                        <p:strVal val="visible"/>
                                      </p:to>
                                    </p:set>
                                    <p:animEffect filter="fade" transition="in">
                                      <p:cBhvr>
                                        <p:cTn dur="500"/>
                                        <p:tgtEl>
                                          <p:spTgt spid="372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3727"/>
                                        </p:tgtEl>
                                      </p:cBhvr>
                                    </p:animEffect>
                                    <p:set>
                                      <p:cBhvr>
                                        <p:cTn dur="1" fill="hold">
                                          <p:stCondLst>
                                            <p:cond delay="500"/>
                                          </p:stCondLst>
                                        </p:cTn>
                                        <p:tgtEl>
                                          <p:spTgt spid="37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8"/>
                                        </p:tgtEl>
                                        <p:attrNameLst>
                                          <p:attrName>style.visibility</p:attrName>
                                        </p:attrNameLst>
                                      </p:cBhvr>
                                      <p:to>
                                        <p:strVal val="visible"/>
                                      </p:to>
                                    </p:set>
                                    <p:animEffect filter="fade" transition="in">
                                      <p:cBhvr>
                                        <p:cTn dur="500"/>
                                        <p:tgtEl>
                                          <p:spTgt spid="372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37"/>
                                        </p:tgtEl>
                                        <p:attrNameLst>
                                          <p:attrName>style.visibility</p:attrName>
                                        </p:attrNameLst>
                                      </p:cBhvr>
                                      <p:to>
                                        <p:strVal val="visible"/>
                                      </p:to>
                                    </p:set>
                                    <p:animEffect filter="fade" transition="in">
                                      <p:cBhvr>
                                        <p:cTn dur="500"/>
                                        <p:tgtEl>
                                          <p:spTgt spid="3737"/>
                                        </p:tgtEl>
                                      </p:cBhvr>
                                    </p:animEffect>
                                  </p:childTnLst>
                                </p:cTn>
                              </p:par>
                              <p:par>
                                <p:cTn fill="hold" nodeType="withEffect" presetClass="entr" presetID="1" presetSubtype="0">
                                  <p:stCondLst>
                                    <p:cond delay="0"/>
                                  </p:stCondLst>
                                  <p:childTnLst>
                                    <p:set>
                                      <p:cBhvr>
                                        <p:cTn dur="1" fill="hold">
                                          <p:stCondLst>
                                            <p:cond delay="0"/>
                                          </p:stCondLst>
                                        </p:cTn>
                                        <p:tgtEl>
                                          <p:spTgt spid="36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0"/>
                                        </p:tgtEl>
                                        <p:attrNameLst>
                                          <p:attrName>style.visibility</p:attrName>
                                        </p:attrNameLst>
                                      </p:cBhvr>
                                      <p:to>
                                        <p:strVal val="visible"/>
                                      </p:to>
                                    </p:set>
                                    <p:animEffect filter="fade" transition="in">
                                      <p:cBhvr>
                                        <p:cTn dur="500"/>
                                        <p:tgtEl>
                                          <p:spTgt spid="3740"/>
                                        </p:tgtEl>
                                      </p:cBhvr>
                                    </p:animEffect>
                                  </p:childTnLst>
                                </p:cTn>
                              </p:par>
                              <p:par>
                                <p:cTn fill="hold" nodeType="withEffect" presetClass="entr" presetID="1" presetSubtype="0">
                                  <p:stCondLst>
                                    <p:cond delay="0"/>
                                  </p:stCondLst>
                                  <p:childTnLst>
                                    <p:set>
                                      <p:cBhvr>
                                        <p:cTn dur="1" fill="hold">
                                          <p:stCondLst>
                                            <p:cond delay="0"/>
                                          </p:stCondLst>
                                        </p:cTn>
                                        <p:tgtEl>
                                          <p:spTgt spid="37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73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74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7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1"/>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3787"/>
                                        </p:tgtEl>
                                        <p:attrNameLst>
                                          <p:attrName>style.visibility</p:attrName>
                                        </p:attrNameLst>
                                      </p:cBhvr>
                                      <p:to>
                                        <p:strVal val="visible"/>
                                      </p:to>
                                    </p:set>
                                    <p:animEffect filter="fade" transition="in">
                                      <p:cBhvr>
                                        <p:cTn dur="500"/>
                                        <p:tgtEl>
                                          <p:spTgt spid="37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6"/>
                                        </p:tgtEl>
                                        <p:attrNameLst>
                                          <p:attrName>style.visibility</p:attrName>
                                        </p:attrNameLst>
                                      </p:cBhvr>
                                      <p:to>
                                        <p:strVal val="visible"/>
                                      </p:to>
                                    </p:set>
                                    <p:animEffect filter="fade" transition="in">
                                      <p:cBhvr>
                                        <p:cTn dur="1000"/>
                                        <p:tgtEl>
                                          <p:spTgt spid="3796"/>
                                        </p:tgtEl>
                                      </p:cBhvr>
                                    </p:animEffect>
                                  </p:childTnLst>
                                </p:cTn>
                              </p:par>
                              <p:par>
                                <p:cTn fill="hold" nodeType="withEffect" presetClass="exit" presetID="1" presetSubtype="0">
                                  <p:stCondLst>
                                    <p:cond delay="0"/>
                                  </p:stCondLst>
                                  <p:childTnLst>
                                    <p:set>
                                      <p:cBhvr>
                                        <p:cTn dur="1" fill="hold">
                                          <p:stCondLst>
                                            <p:cond delay="1"/>
                                          </p:stCondLst>
                                        </p:cTn>
                                        <p:tgtEl>
                                          <p:spTgt spid="3773"/>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 presetSubtype="0">
                                  <p:stCondLst>
                                    <p:cond delay="1000"/>
                                  </p:stCondLst>
                                  <p:childTnLst>
                                    <p:set>
                                      <p:cBhvr>
                                        <p:cTn dur="1" fill="hold">
                                          <p:stCondLst>
                                            <p:cond delay="1"/>
                                          </p:stCondLst>
                                        </p:cTn>
                                        <p:tgtEl>
                                          <p:spTgt spid="379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702"/>
                                        </p:tgtEl>
                                        <p:attrNameLst>
                                          <p:attrName>style.visibility</p:attrName>
                                        </p:attrNameLst>
                                      </p:cBhvr>
                                      <p:to>
                                        <p:strVal val="visible"/>
                                      </p:to>
                                    </p:set>
                                  </p:childTnLst>
                                </p:cTn>
                              </p:par>
                              <p:par>
                                <p:cTn fill="hold" nodeType="withEffect" presetClass="entr" presetID="1" presetSubtype="0">
                                  <p:stCondLst>
                                    <p:cond delay="1000"/>
                                  </p:stCondLst>
                                  <p:childTnLst>
                                    <p:set>
                                      <p:cBhvr>
                                        <p:cTn dur="1" fill="hold">
                                          <p:stCondLst>
                                            <p:cond delay="0"/>
                                          </p:stCondLst>
                                        </p:cTn>
                                        <p:tgtEl>
                                          <p:spTgt spid="38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3" name="Shape 3873"/>
        <p:cNvGrpSpPr/>
        <p:nvPr/>
      </p:nvGrpSpPr>
      <p:grpSpPr>
        <a:xfrm>
          <a:off x="0" y="0"/>
          <a:ext cx="0" cy="0"/>
          <a:chOff x="0" y="0"/>
          <a:chExt cx="0" cy="0"/>
        </a:xfrm>
      </p:grpSpPr>
      <p:sp>
        <p:nvSpPr>
          <p:cNvPr id="3874" name="Google Shape;3874;p62"/>
          <p:cNvSpPr/>
          <p:nvPr/>
        </p:nvSpPr>
        <p:spPr>
          <a:xfrm>
            <a:off x="1867395" y="1818495"/>
            <a:ext cx="3554412" cy="2754313"/>
          </a:xfrm>
          <a:custGeom>
            <a:rect b="b" l="l" r="r" t="t"/>
            <a:pathLst>
              <a:path extrusionOk="0" h="958" w="2406">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875" name="Google Shape;3875;p62"/>
          <p:cNvGrpSpPr/>
          <p:nvPr/>
        </p:nvGrpSpPr>
        <p:grpSpPr>
          <a:xfrm>
            <a:off x="4283172" y="2940116"/>
            <a:ext cx="918415" cy="390629"/>
            <a:chOff x="3668110" y="2448910"/>
            <a:chExt cx="3794234" cy="2165130"/>
          </a:xfrm>
        </p:grpSpPr>
        <p:sp>
          <p:nvSpPr>
            <p:cNvPr id="3876" name="Google Shape;3876;p62"/>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77" name="Google Shape;3877;p62"/>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878" name="Google Shape;3878;p62"/>
            <p:cNvGrpSpPr/>
            <p:nvPr/>
          </p:nvGrpSpPr>
          <p:grpSpPr>
            <a:xfrm>
              <a:off x="3941378" y="2603243"/>
              <a:ext cx="3202061" cy="1066110"/>
              <a:chOff x="7939341" y="3037317"/>
              <a:chExt cx="897649" cy="353919"/>
            </a:xfrm>
          </p:grpSpPr>
          <p:sp>
            <p:nvSpPr>
              <p:cNvPr id="3879" name="Google Shape;3879;p62"/>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0" name="Google Shape;3880;p62"/>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1" name="Google Shape;3881;p62"/>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2" name="Google Shape;3882;p62"/>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883" name="Google Shape;3883;p62"/>
          <p:cNvGrpSpPr/>
          <p:nvPr/>
        </p:nvGrpSpPr>
        <p:grpSpPr>
          <a:xfrm>
            <a:off x="3772175" y="3890885"/>
            <a:ext cx="1040553" cy="431082"/>
            <a:chOff x="7493876" y="2774731"/>
            <a:chExt cx="1481958" cy="894622"/>
          </a:xfrm>
        </p:grpSpPr>
        <p:sp>
          <p:nvSpPr>
            <p:cNvPr id="3884" name="Google Shape;3884;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885" name="Google Shape;3885;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886" name="Google Shape;3886;p62"/>
            <p:cNvGrpSpPr/>
            <p:nvPr/>
          </p:nvGrpSpPr>
          <p:grpSpPr>
            <a:xfrm>
              <a:off x="7713663" y="2848339"/>
              <a:ext cx="1042107" cy="425543"/>
              <a:chOff x="7786941" y="2884917"/>
              <a:chExt cx="897649" cy="353919"/>
            </a:xfrm>
          </p:grpSpPr>
          <p:sp>
            <p:nvSpPr>
              <p:cNvPr id="3887" name="Google Shape;3887;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8" name="Google Shape;3888;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89" name="Google Shape;3889;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890" name="Google Shape;3890;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3891" name="Google Shape;3891;p6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example</a:t>
            </a:r>
            <a:endParaRPr/>
          </a:p>
        </p:txBody>
      </p:sp>
      <p:sp>
        <p:nvSpPr>
          <p:cNvPr id="3892" name="Google Shape;3892;p62"/>
          <p:cNvSpPr txBox="1"/>
          <p:nvPr/>
        </p:nvSpPr>
        <p:spPr>
          <a:xfrm>
            <a:off x="6131420" y="1548620"/>
            <a:ext cx="5216134" cy="1573213"/>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DCP server formulates DHCP ACK containing client’s IP address, IP address of first-hop router for client, name &amp; IP address of DNS server</a:t>
            </a:r>
            <a:endParaRPr/>
          </a:p>
          <a:p>
            <a:pPr indent="-106363" lvl="0" marL="233363" marR="0" rtl="0" algn="l">
              <a:lnSpc>
                <a:spcPct val="85000"/>
              </a:lnSpc>
              <a:spcBef>
                <a:spcPts val="400"/>
              </a:spcBef>
              <a:spcAft>
                <a:spcPts val="0"/>
              </a:spcAft>
              <a:buClr>
                <a:srgbClr val="000099"/>
              </a:buClr>
              <a:buSzPts val="2000"/>
              <a:buFont typeface="Noto Sans Symbols"/>
              <a:buNone/>
            </a:pPr>
            <a:r>
              <a:t/>
            </a:r>
            <a:endParaRPr b="0" i="0" sz="2000" u="none" cap="none" strike="noStrike">
              <a:solidFill>
                <a:srgbClr val="000000"/>
              </a:solidFill>
              <a:latin typeface="Calibri"/>
              <a:ea typeface="Calibri"/>
              <a:cs typeface="Calibri"/>
              <a:sym typeface="Calibri"/>
            </a:endParaRPr>
          </a:p>
        </p:txBody>
      </p:sp>
      <p:cxnSp>
        <p:nvCxnSpPr>
          <p:cNvPr id="3893" name="Google Shape;3893;p62"/>
          <p:cNvCxnSpPr/>
          <p:nvPr/>
        </p:nvCxnSpPr>
        <p:spPr>
          <a:xfrm>
            <a:off x="3759695" y="3063094"/>
            <a:ext cx="555747" cy="2447"/>
          </a:xfrm>
          <a:prstGeom prst="straightConnector1">
            <a:avLst/>
          </a:prstGeom>
          <a:noFill/>
          <a:ln cap="flat" cmpd="sng" w="9525">
            <a:solidFill>
              <a:srgbClr val="000000"/>
            </a:solidFill>
            <a:prstDash val="solid"/>
            <a:round/>
            <a:headEnd len="med" w="med" type="none"/>
            <a:tailEnd len="med" w="med" type="none"/>
          </a:ln>
        </p:spPr>
      </p:cxnSp>
      <p:cxnSp>
        <p:nvCxnSpPr>
          <p:cNvPr id="3894" name="Google Shape;3894;p62"/>
          <p:cNvCxnSpPr/>
          <p:nvPr/>
        </p:nvCxnSpPr>
        <p:spPr>
          <a:xfrm flipH="1" rot="10800000">
            <a:off x="4391025" y="3324223"/>
            <a:ext cx="460375" cy="571501"/>
          </a:xfrm>
          <a:prstGeom prst="straightConnector1">
            <a:avLst/>
          </a:prstGeom>
          <a:noFill/>
          <a:ln cap="flat" cmpd="sng" w="9525">
            <a:solidFill>
              <a:srgbClr val="000000"/>
            </a:solidFill>
            <a:prstDash val="solid"/>
            <a:round/>
            <a:headEnd len="med" w="med" type="none"/>
            <a:tailEnd len="med" w="med" type="none"/>
          </a:ln>
        </p:spPr>
      </p:cxnSp>
      <p:sp>
        <p:nvSpPr>
          <p:cNvPr id="3895" name="Google Shape;3895;p62"/>
          <p:cNvSpPr/>
          <p:nvPr/>
        </p:nvSpPr>
        <p:spPr>
          <a:xfrm>
            <a:off x="6125069" y="3320270"/>
            <a:ext cx="5201651" cy="13620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encapsulated DHCP server reply forwarded to client, demuxing up to DHCP at client</a:t>
            </a:r>
            <a:endParaRPr/>
          </a:p>
        </p:txBody>
      </p:sp>
      <p:grpSp>
        <p:nvGrpSpPr>
          <p:cNvPr id="3896" name="Google Shape;3896;p62"/>
          <p:cNvGrpSpPr/>
          <p:nvPr/>
        </p:nvGrpSpPr>
        <p:grpSpPr>
          <a:xfrm>
            <a:off x="3067479" y="2685270"/>
            <a:ext cx="855728" cy="627114"/>
            <a:chOff x="4417" y="878"/>
            <a:chExt cx="617" cy="466"/>
          </a:xfrm>
        </p:grpSpPr>
        <p:pic>
          <p:nvPicPr>
            <p:cNvPr descr="laptop_keyboard" id="3897" name="Google Shape;3897;p62"/>
            <p:cNvPicPr preferRelativeResize="0"/>
            <p:nvPr/>
          </p:nvPicPr>
          <p:blipFill rotWithShape="1">
            <a:blip r:embed="rId3">
              <a:alphaModFix/>
            </a:blip>
            <a:srcRect b="0" l="0" r="0" t="0"/>
            <a:stretch/>
          </p:blipFill>
          <p:spPr>
            <a:xfrm flipH="1" rot="109064">
              <a:off x="4420" y="1108"/>
              <a:ext cx="527" cy="228"/>
            </a:xfrm>
            <a:prstGeom prst="rect">
              <a:avLst/>
            </a:prstGeom>
            <a:noFill/>
            <a:ln>
              <a:noFill/>
            </a:ln>
          </p:spPr>
        </p:pic>
        <p:sp>
          <p:nvSpPr>
            <p:cNvPr id="3898" name="Google Shape;3898;p62"/>
            <p:cNvSpPr/>
            <p:nvPr/>
          </p:nvSpPr>
          <p:spPr>
            <a:xfrm>
              <a:off x="4595" y="888"/>
              <a:ext cx="424" cy="297"/>
            </a:xfrm>
            <a:custGeom>
              <a:rect b="b" l="l" r="r" t="t"/>
              <a:pathLst>
                <a:path extrusionOk="0" h="2442" w="2982">
                  <a:moveTo>
                    <a:pt x="540" y="0"/>
                  </a:moveTo>
                  <a:lnTo>
                    <a:pt x="0" y="1734"/>
                  </a:lnTo>
                  <a:lnTo>
                    <a:pt x="2394" y="2442"/>
                  </a:lnTo>
                  <a:lnTo>
                    <a:pt x="2982" y="318"/>
                  </a:lnTo>
                  <a:lnTo>
                    <a:pt x="540" y="0"/>
                  </a:lnTo>
                  <a:close/>
                </a:path>
              </a:pathLst>
            </a:cu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pic>
          <p:nvPicPr>
            <p:cNvPr descr="screen" id="3899" name="Google Shape;3899;p62"/>
            <p:cNvPicPr preferRelativeResize="0"/>
            <p:nvPr/>
          </p:nvPicPr>
          <p:blipFill rotWithShape="1">
            <a:blip r:embed="rId4">
              <a:alphaModFix/>
            </a:blip>
            <a:srcRect b="0" l="0" r="0" t="0"/>
            <a:stretch/>
          </p:blipFill>
          <p:spPr>
            <a:xfrm>
              <a:off x="4616" y="895"/>
              <a:ext cx="385" cy="271"/>
            </a:xfrm>
            <a:prstGeom prst="rect">
              <a:avLst/>
            </a:prstGeom>
            <a:noFill/>
            <a:ln>
              <a:noFill/>
            </a:ln>
          </p:spPr>
        </p:pic>
        <p:sp>
          <p:nvSpPr>
            <p:cNvPr id="3900" name="Google Shape;3900;p62"/>
            <p:cNvSpPr/>
            <p:nvPr/>
          </p:nvSpPr>
          <p:spPr>
            <a:xfrm>
              <a:off x="4672" y="879"/>
              <a:ext cx="359" cy="5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1" name="Google Shape;3901;p62"/>
            <p:cNvSpPr/>
            <p:nvPr/>
          </p:nvSpPr>
          <p:spPr>
            <a:xfrm>
              <a:off x="4591" y="878"/>
              <a:ext cx="100" cy="23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2" name="Google Shape;3902;p62"/>
            <p:cNvSpPr/>
            <p:nvPr/>
          </p:nvSpPr>
          <p:spPr>
            <a:xfrm>
              <a:off x="4921" y="920"/>
              <a:ext cx="108" cy="26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3" name="Google Shape;3903;p62"/>
            <p:cNvSpPr/>
            <p:nvPr/>
          </p:nvSpPr>
          <p:spPr>
            <a:xfrm>
              <a:off x="4590" y="1097"/>
              <a:ext cx="394" cy="8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rgbClr val="FFFFF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4" name="Google Shape;3904;p62"/>
            <p:cNvSpPr/>
            <p:nvPr/>
          </p:nvSpPr>
          <p:spPr>
            <a:xfrm>
              <a:off x="4933" y="922"/>
              <a:ext cx="101" cy="266"/>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5" name="Google Shape;3905;p62"/>
            <p:cNvSpPr/>
            <p:nvPr/>
          </p:nvSpPr>
          <p:spPr>
            <a:xfrm>
              <a:off x="4590" y="1109"/>
              <a:ext cx="351" cy="8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06" name="Google Shape;3906;p62"/>
            <p:cNvGrpSpPr/>
            <p:nvPr/>
          </p:nvGrpSpPr>
          <p:grpSpPr>
            <a:xfrm>
              <a:off x="4584" y="1203"/>
              <a:ext cx="119" cy="53"/>
              <a:chOff x="1740" y="2642"/>
              <a:chExt cx="752" cy="327"/>
            </a:xfrm>
          </p:grpSpPr>
          <p:sp>
            <p:nvSpPr>
              <p:cNvPr id="3907" name="Google Shape;3907;p6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8" name="Google Shape;3908;p6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09" name="Google Shape;3909;p6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0" name="Google Shape;3910;p6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1" name="Google Shape;3911;p6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2" name="Google Shape;3912;p6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913" name="Google Shape;3913;p62"/>
            <p:cNvSpPr/>
            <p:nvPr/>
          </p:nvSpPr>
          <p:spPr>
            <a:xfrm>
              <a:off x="4788" y="1211"/>
              <a:ext cx="144" cy="11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4" name="Google Shape;3914;p62"/>
            <p:cNvSpPr/>
            <p:nvPr/>
          </p:nvSpPr>
          <p:spPr>
            <a:xfrm>
              <a:off x="4420" y="1220"/>
              <a:ext cx="369" cy="10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5" name="Google Shape;3915;p62"/>
            <p:cNvSpPr/>
            <p:nvPr/>
          </p:nvSpPr>
          <p:spPr>
            <a:xfrm>
              <a:off x="4420" y="1201"/>
              <a:ext cx="4" cy="21"/>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6" name="Google Shape;3916;p62"/>
            <p:cNvSpPr/>
            <p:nvPr/>
          </p:nvSpPr>
          <p:spPr>
            <a:xfrm>
              <a:off x="4421" y="1114"/>
              <a:ext cx="171" cy="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7" name="Google Shape;3917;p62"/>
            <p:cNvSpPr/>
            <p:nvPr/>
          </p:nvSpPr>
          <p:spPr>
            <a:xfrm>
              <a:off x="4432" y="1205"/>
              <a:ext cx="350" cy="1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3918" name="Google Shape;3918;p62"/>
            <p:cNvSpPr/>
            <p:nvPr/>
          </p:nvSpPr>
          <p:spPr>
            <a:xfrm flipH="1" rot="10800000">
              <a:off x="4782" y="1198"/>
              <a:ext cx="142" cy="10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3919" name="Google Shape;3919;p62"/>
          <p:cNvSpPr txBox="1"/>
          <p:nvPr/>
        </p:nvSpPr>
        <p:spPr>
          <a:xfrm>
            <a:off x="3656507" y="4356908"/>
            <a:ext cx="2025650" cy="915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 with DHCP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server built into </a:t>
            </a:r>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router</a:t>
            </a:r>
            <a:endParaRPr/>
          </a:p>
        </p:txBody>
      </p:sp>
      <p:grpSp>
        <p:nvGrpSpPr>
          <p:cNvPr id="3920" name="Google Shape;3920;p62"/>
          <p:cNvGrpSpPr/>
          <p:nvPr/>
        </p:nvGrpSpPr>
        <p:grpSpPr>
          <a:xfrm>
            <a:off x="1446707" y="3709208"/>
            <a:ext cx="1081088" cy="1166812"/>
            <a:chOff x="42" y="744"/>
            <a:chExt cx="681" cy="735"/>
          </a:xfrm>
        </p:grpSpPr>
        <p:grpSp>
          <p:nvGrpSpPr>
            <p:cNvPr id="3921" name="Google Shape;3921;p62"/>
            <p:cNvGrpSpPr/>
            <p:nvPr/>
          </p:nvGrpSpPr>
          <p:grpSpPr>
            <a:xfrm>
              <a:off x="42" y="886"/>
              <a:ext cx="681" cy="468"/>
              <a:chOff x="42" y="886"/>
              <a:chExt cx="681" cy="468"/>
            </a:xfrm>
          </p:grpSpPr>
          <p:grpSp>
            <p:nvGrpSpPr>
              <p:cNvPr id="3922" name="Google Shape;3922;p62"/>
              <p:cNvGrpSpPr/>
              <p:nvPr/>
            </p:nvGrpSpPr>
            <p:grpSpPr>
              <a:xfrm>
                <a:off x="278" y="886"/>
                <a:ext cx="397" cy="154"/>
                <a:chOff x="740" y="3209"/>
                <a:chExt cx="397" cy="154"/>
              </a:xfrm>
            </p:grpSpPr>
            <p:grpSp>
              <p:nvGrpSpPr>
                <p:cNvPr id="3923" name="Google Shape;3923;p62"/>
                <p:cNvGrpSpPr/>
                <p:nvPr/>
              </p:nvGrpSpPr>
              <p:grpSpPr>
                <a:xfrm>
                  <a:off x="794" y="3209"/>
                  <a:ext cx="343" cy="154"/>
                  <a:chOff x="844" y="3337"/>
                  <a:chExt cx="343" cy="154"/>
                </a:xfrm>
              </p:grpSpPr>
              <p:sp>
                <p:nvSpPr>
                  <p:cNvPr id="3924" name="Google Shape;3924;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5" name="Google Shape;3925;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926" name="Google Shape;3926;p62"/>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7" name="Google Shape;3927;p62"/>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28" name="Google Shape;3928;p62"/>
              <p:cNvGrpSpPr/>
              <p:nvPr/>
            </p:nvGrpSpPr>
            <p:grpSpPr>
              <a:xfrm>
                <a:off x="278" y="1034"/>
                <a:ext cx="397" cy="154"/>
                <a:chOff x="836" y="3305"/>
                <a:chExt cx="397" cy="154"/>
              </a:xfrm>
            </p:grpSpPr>
            <p:grpSp>
              <p:nvGrpSpPr>
                <p:cNvPr id="3929" name="Google Shape;3929;p62"/>
                <p:cNvGrpSpPr/>
                <p:nvPr/>
              </p:nvGrpSpPr>
              <p:grpSpPr>
                <a:xfrm>
                  <a:off x="890" y="3305"/>
                  <a:ext cx="343" cy="154"/>
                  <a:chOff x="844" y="3337"/>
                  <a:chExt cx="343" cy="154"/>
                </a:xfrm>
              </p:grpSpPr>
              <p:sp>
                <p:nvSpPr>
                  <p:cNvPr id="3930" name="Google Shape;3930;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1" name="Google Shape;3931;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32" name="Google Shape;3932;p62"/>
                <p:cNvGrpSpPr/>
                <p:nvPr/>
              </p:nvGrpSpPr>
              <p:grpSpPr>
                <a:xfrm>
                  <a:off x="836" y="3334"/>
                  <a:ext cx="354" cy="94"/>
                  <a:chOff x="836" y="3334"/>
                  <a:chExt cx="354" cy="94"/>
                </a:xfrm>
              </p:grpSpPr>
              <p:sp>
                <p:nvSpPr>
                  <p:cNvPr id="3933" name="Google Shape;3933;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4" name="Google Shape;3934;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935" name="Google Shape;3935;p62"/>
              <p:cNvGrpSpPr/>
              <p:nvPr/>
            </p:nvGrpSpPr>
            <p:grpSpPr>
              <a:xfrm>
                <a:off x="165" y="1054"/>
                <a:ext cx="480" cy="112"/>
                <a:chOff x="627" y="3377"/>
                <a:chExt cx="480" cy="112"/>
              </a:xfrm>
            </p:grpSpPr>
            <p:sp>
              <p:nvSpPr>
                <p:cNvPr id="3936" name="Google Shape;3936;p62"/>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37" name="Google Shape;3937;p62"/>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38" name="Google Shape;3938;p62"/>
              <p:cNvGrpSpPr/>
              <p:nvPr/>
            </p:nvGrpSpPr>
            <p:grpSpPr>
              <a:xfrm>
                <a:off x="42" y="1200"/>
                <a:ext cx="681" cy="154"/>
                <a:chOff x="504" y="3523"/>
                <a:chExt cx="681" cy="154"/>
              </a:xfrm>
            </p:grpSpPr>
            <p:grpSp>
              <p:nvGrpSpPr>
                <p:cNvPr id="3939" name="Google Shape;3939;p62"/>
                <p:cNvGrpSpPr/>
                <p:nvPr/>
              </p:nvGrpSpPr>
              <p:grpSpPr>
                <a:xfrm>
                  <a:off x="623" y="3523"/>
                  <a:ext cx="510" cy="154"/>
                  <a:chOff x="723" y="3453"/>
                  <a:chExt cx="510" cy="154"/>
                </a:xfrm>
              </p:grpSpPr>
              <p:grpSp>
                <p:nvGrpSpPr>
                  <p:cNvPr id="3940" name="Google Shape;3940;p62"/>
                  <p:cNvGrpSpPr/>
                  <p:nvPr/>
                </p:nvGrpSpPr>
                <p:grpSpPr>
                  <a:xfrm>
                    <a:off x="836" y="3453"/>
                    <a:ext cx="397" cy="154"/>
                    <a:chOff x="836" y="3305"/>
                    <a:chExt cx="397" cy="154"/>
                  </a:xfrm>
                </p:grpSpPr>
                <p:grpSp>
                  <p:nvGrpSpPr>
                    <p:cNvPr id="3941" name="Google Shape;3941;p62"/>
                    <p:cNvGrpSpPr/>
                    <p:nvPr/>
                  </p:nvGrpSpPr>
                  <p:grpSpPr>
                    <a:xfrm>
                      <a:off x="890" y="3305"/>
                      <a:ext cx="343" cy="154"/>
                      <a:chOff x="844" y="3337"/>
                      <a:chExt cx="343" cy="154"/>
                    </a:xfrm>
                  </p:grpSpPr>
                  <p:sp>
                    <p:nvSpPr>
                      <p:cNvPr id="3942" name="Google Shape;394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3" name="Google Shape;394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44" name="Google Shape;3944;p62"/>
                    <p:cNvGrpSpPr/>
                    <p:nvPr/>
                  </p:nvGrpSpPr>
                  <p:grpSpPr>
                    <a:xfrm>
                      <a:off x="836" y="3334"/>
                      <a:ext cx="354" cy="94"/>
                      <a:chOff x="836" y="3334"/>
                      <a:chExt cx="354" cy="94"/>
                    </a:xfrm>
                  </p:grpSpPr>
                  <p:sp>
                    <p:nvSpPr>
                      <p:cNvPr id="3945" name="Google Shape;3945;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6" name="Google Shape;3946;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47" name="Google Shape;3947;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8" name="Google Shape;3948;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49" name="Google Shape;3949;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0" name="Google Shape;3950;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1" name="Google Shape;3951;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52" name="Google Shape;3952;p62"/>
            <p:cNvSpPr/>
            <p:nvPr/>
          </p:nvSpPr>
          <p:spPr>
            <a:xfrm>
              <a:off x="384" y="744"/>
              <a:ext cx="240" cy="735"/>
            </a:xfrm>
            <a:prstGeom prst="downArrow">
              <a:avLst>
                <a:gd fmla="val 54167" name="adj1"/>
                <a:gd fmla="val 49170"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53" name="Google Shape;3953;p62"/>
          <p:cNvGrpSpPr/>
          <p:nvPr/>
        </p:nvGrpSpPr>
        <p:grpSpPr>
          <a:xfrm>
            <a:off x="1543545" y="4795058"/>
            <a:ext cx="1081087" cy="244475"/>
            <a:chOff x="504" y="3523"/>
            <a:chExt cx="681" cy="154"/>
          </a:xfrm>
        </p:grpSpPr>
        <p:grpSp>
          <p:nvGrpSpPr>
            <p:cNvPr id="3954" name="Google Shape;3954;p62"/>
            <p:cNvGrpSpPr/>
            <p:nvPr/>
          </p:nvGrpSpPr>
          <p:grpSpPr>
            <a:xfrm>
              <a:off x="623" y="3523"/>
              <a:ext cx="510" cy="154"/>
              <a:chOff x="723" y="3453"/>
              <a:chExt cx="510" cy="154"/>
            </a:xfrm>
          </p:grpSpPr>
          <p:grpSp>
            <p:nvGrpSpPr>
              <p:cNvPr id="3955" name="Google Shape;3955;p62"/>
              <p:cNvGrpSpPr/>
              <p:nvPr/>
            </p:nvGrpSpPr>
            <p:grpSpPr>
              <a:xfrm>
                <a:off x="836" y="3453"/>
                <a:ext cx="397" cy="154"/>
                <a:chOff x="836" y="3305"/>
                <a:chExt cx="397" cy="154"/>
              </a:xfrm>
            </p:grpSpPr>
            <p:grpSp>
              <p:nvGrpSpPr>
                <p:cNvPr id="3956" name="Google Shape;3956;p62"/>
                <p:cNvGrpSpPr/>
                <p:nvPr/>
              </p:nvGrpSpPr>
              <p:grpSpPr>
                <a:xfrm>
                  <a:off x="890" y="3305"/>
                  <a:ext cx="343" cy="154"/>
                  <a:chOff x="844" y="3337"/>
                  <a:chExt cx="343" cy="154"/>
                </a:xfrm>
              </p:grpSpPr>
              <p:sp>
                <p:nvSpPr>
                  <p:cNvPr id="3957" name="Google Shape;3957;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8" name="Google Shape;3958;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59" name="Google Shape;3959;p62"/>
                <p:cNvGrpSpPr/>
                <p:nvPr/>
              </p:nvGrpSpPr>
              <p:grpSpPr>
                <a:xfrm>
                  <a:off x="836" y="3334"/>
                  <a:ext cx="354" cy="94"/>
                  <a:chOff x="836" y="3334"/>
                  <a:chExt cx="354" cy="94"/>
                </a:xfrm>
              </p:grpSpPr>
              <p:sp>
                <p:nvSpPr>
                  <p:cNvPr id="3960" name="Google Shape;3960;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1" name="Google Shape;3961;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3962" name="Google Shape;3962;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3" name="Google Shape;3963;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64" name="Google Shape;3964;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5" name="Google Shape;3965;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66" name="Google Shape;3966;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67" name="Google Shape;3967;p62"/>
          <p:cNvGrpSpPr/>
          <p:nvPr/>
        </p:nvGrpSpPr>
        <p:grpSpPr>
          <a:xfrm>
            <a:off x="2572245" y="3626658"/>
            <a:ext cx="1316037" cy="1314450"/>
            <a:chOff x="931" y="1941"/>
            <a:chExt cx="829" cy="828"/>
          </a:xfrm>
        </p:grpSpPr>
        <p:sp>
          <p:nvSpPr>
            <p:cNvPr id="3968" name="Google Shape;3968;p62"/>
            <p:cNvSpPr/>
            <p:nvPr/>
          </p:nvSpPr>
          <p:spPr>
            <a:xfrm>
              <a:off x="1424" y="1965"/>
              <a:ext cx="336" cy="801"/>
            </a:xfrm>
            <a:custGeom>
              <a:rect b="b" l="l" r="r" t="t"/>
              <a:pathLst>
                <a:path extrusionOk="0" h="801" w="551">
                  <a:moveTo>
                    <a:pt x="14" y="0"/>
                  </a:moveTo>
                  <a:lnTo>
                    <a:pt x="551" y="402"/>
                  </a:lnTo>
                  <a:lnTo>
                    <a:pt x="6" y="801"/>
                  </a:lnTo>
                  <a:lnTo>
                    <a:pt x="13" y="535"/>
                  </a:lnTo>
                  <a:lnTo>
                    <a:pt x="0" y="371"/>
                  </a:lnTo>
                  <a:lnTo>
                    <a:pt x="14" y="0"/>
                  </a:lnTo>
                  <a:close/>
                </a:path>
              </a:pathLst>
            </a:custGeom>
            <a:gradFill>
              <a:gsLst>
                <a:gs pos="0">
                  <a:srgbClr val="FFFFFF">
                    <a:alpha val="65882"/>
                  </a:srgbClr>
                </a:gs>
                <a:gs pos="100000">
                  <a:srgbClr val="000099">
                    <a:alpha val="65882"/>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69" name="Google Shape;3969;p62"/>
            <p:cNvGrpSpPr/>
            <p:nvPr/>
          </p:nvGrpSpPr>
          <p:grpSpPr>
            <a:xfrm>
              <a:off x="931" y="1941"/>
              <a:ext cx="501" cy="828"/>
              <a:chOff x="569" y="2954"/>
              <a:chExt cx="501" cy="828"/>
            </a:xfrm>
          </p:grpSpPr>
          <p:sp>
            <p:nvSpPr>
              <p:cNvPr id="3970" name="Google Shape;3970;p62"/>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1" name="Google Shape;3971;p62"/>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972" name="Google Shape;3972;p62"/>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3" name="Google Shape;3973;p62"/>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4" name="Google Shape;3974;p62"/>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975" name="Google Shape;3975;p62"/>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976" name="Google Shape;3976;p62"/>
          <p:cNvGrpSpPr/>
          <p:nvPr/>
        </p:nvGrpSpPr>
        <p:grpSpPr>
          <a:xfrm>
            <a:off x="1897557" y="3734608"/>
            <a:ext cx="544513" cy="244475"/>
            <a:chOff x="844" y="3337"/>
            <a:chExt cx="343" cy="154"/>
          </a:xfrm>
        </p:grpSpPr>
        <p:sp>
          <p:nvSpPr>
            <p:cNvPr id="3977" name="Google Shape;3977;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8" name="Google Shape;3978;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3979" name="Google Shape;3979;p62"/>
          <p:cNvGrpSpPr/>
          <p:nvPr/>
        </p:nvGrpSpPr>
        <p:grpSpPr>
          <a:xfrm>
            <a:off x="2289670" y="1637520"/>
            <a:ext cx="976312" cy="1460500"/>
            <a:chOff x="651" y="681"/>
            <a:chExt cx="615" cy="920"/>
          </a:xfrm>
        </p:grpSpPr>
        <p:sp>
          <p:nvSpPr>
            <p:cNvPr id="3980" name="Google Shape;3980;p62"/>
            <p:cNvSpPr/>
            <p:nvPr/>
          </p:nvSpPr>
          <p:spPr>
            <a:xfrm>
              <a:off x="662" y="698"/>
              <a:ext cx="604" cy="903"/>
            </a:xfrm>
            <a:custGeom>
              <a:rect b="b" l="l" r="r" t="t"/>
              <a:pathLst>
                <a:path extrusionOk="0" h="903" w="604">
                  <a:moveTo>
                    <a:pt x="496" y="0"/>
                  </a:moveTo>
                  <a:lnTo>
                    <a:pt x="604" y="903"/>
                  </a:lnTo>
                  <a:lnTo>
                    <a:pt x="0" y="788"/>
                  </a:lnTo>
                  <a:lnTo>
                    <a:pt x="456" y="750"/>
                  </a:lnTo>
                  <a:lnTo>
                    <a:pt x="496" y="0"/>
                  </a:lnTo>
                  <a:close/>
                </a:path>
              </a:pathLst>
            </a:custGeom>
            <a:gradFill>
              <a:gsLst>
                <a:gs pos="0">
                  <a:srgbClr val="FFFFFF">
                    <a:alpha val="65882"/>
                  </a:srgbClr>
                </a:gs>
                <a:gs pos="100000">
                  <a:srgbClr val="000099">
                    <a:alpha val="65882"/>
                  </a:srgbClr>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3981" name="Google Shape;3981;p62"/>
            <p:cNvGrpSpPr/>
            <p:nvPr/>
          </p:nvGrpSpPr>
          <p:grpSpPr>
            <a:xfrm>
              <a:off x="651" y="681"/>
              <a:ext cx="501" cy="828"/>
              <a:chOff x="569" y="2954"/>
              <a:chExt cx="501" cy="828"/>
            </a:xfrm>
          </p:grpSpPr>
          <p:sp>
            <p:nvSpPr>
              <p:cNvPr id="3982" name="Google Shape;3982;p62"/>
              <p:cNvSpPr/>
              <p:nvPr/>
            </p:nvSpPr>
            <p:spPr>
              <a:xfrm>
                <a:off x="576" y="2973"/>
                <a:ext cx="493" cy="790"/>
              </a:xfrm>
              <a:prstGeom prst="rect">
                <a:avLst/>
              </a:prstGeom>
              <a:solidFill>
                <a:srgbClr val="FFFFFF"/>
              </a:solidFill>
              <a:ln cap="flat" cmpd="sng" w="9525">
                <a:solidFill>
                  <a:srgbClr val="000000"/>
                </a:solidFill>
                <a:prstDash val="solid"/>
                <a:miter lim="800000"/>
                <a:headEnd len="sm" w="sm" type="none"/>
                <a:tailEnd len="sm" w="sm" type="none"/>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3" name="Google Shape;3983;p62"/>
              <p:cNvSpPr txBox="1"/>
              <p:nvPr/>
            </p:nvSpPr>
            <p:spPr>
              <a:xfrm>
                <a:off x="593" y="2954"/>
                <a:ext cx="477" cy="82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DHCP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Eth</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Phy</a:t>
                </a:r>
                <a:endParaRPr/>
              </a:p>
            </p:txBody>
          </p:sp>
          <p:cxnSp>
            <p:nvCxnSpPr>
              <p:cNvPr id="3984" name="Google Shape;3984;p62"/>
              <p:cNvCxnSpPr/>
              <p:nvPr/>
            </p:nvCxnSpPr>
            <p:spPr>
              <a:xfrm>
                <a:off x="578" y="3130"/>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5" name="Google Shape;3985;p62"/>
              <p:cNvCxnSpPr/>
              <p:nvPr/>
            </p:nvCxnSpPr>
            <p:spPr>
              <a:xfrm>
                <a:off x="575" y="3289"/>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6" name="Google Shape;3986;p62"/>
              <p:cNvCxnSpPr/>
              <p:nvPr/>
            </p:nvCxnSpPr>
            <p:spPr>
              <a:xfrm>
                <a:off x="572" y="3448"/>
                <a:ext cx="489" cy="0"/>
              </a:xfrm>
              <a:prstGeom prst="straightConnector1">
                <a:avLst/>
              </a:prstGeom>
              <a:noFill/>
              <a:ln cap="flat" cmpd="sng" w="9525">
                <a:solidFill>
                  <a:srgbClr val="000000"/>
                </a:solidFill>
                <a:prstDash val="solid"/>
                <a:round/>
                <a:headEnd len="med" w="med" type="none"/>
                <a:tailEnd len="med" w="med" type="none"/>
              </a:ln>
            </p:spPr>
          </p:cxnSp>
          <p:cxnSp>
            <p:nvCxnSpPr>
              <p:cNvPr id="3987" name="Google Shape;3987;p62"/>
              <p:cNvCxnSpPr/>
              <p:nvPr/>
            </p:nvCxnSpPr>
            <p:spPr>
              <a:xfrm>
                <a:off x="569" y="3607"/>
                <a:ext cx="489" cy="0"/>
              </a:xfrm>
              <a:prstGeom prst="straightConnector1">
                <a:avLst/>
              </a:prstGeom>
              <a:noFill/>
              <a:ln cap="flat" cmpd="sng" w="9525">
                <a:solidFill>
                  <a:srgbClr val="000000"/>
                </a:solidFill>
                <a:prstDash val="solid"/>
                <a:round/>
                <a:headEnd len="med" w="med" type="none"/>
                <a:tailEnd len="med" w="med" type="none"/>
              </a:ln>
            </p:spPr>
          </p:cxnSp>
        </p:grpSp>
      </p:grpSp>
      <p:grpSp>
        <p:nvGrpSpPr>
          <p:cNvPr id="3988" name="Google Shape;3988;p62"/>
          <p:cNvGrpSpPr/>
          <p:nvPr/>
        </p:nvGrpSpPr>
        <p:grpSpPr>
          <a:xfrm>
            <a:off x="1165720" y="1526395"/>
            <a:ext cx="1081087" cy="1217613"/>
            <a:chOff x="1404" y="3105"/>
            <a:chExt cx="681" cy="767"/>
          </a:xfrm>
        </p:grpSpPr>
        <p:grpSp>
          <p:nvGrpSpPr>
            <p:cNvPr id="3989" name="Google Shape;3989;p62"/>
            <p:cNvGrpSpPr/>
            <p:nvPr/>
          </p:nvGrpSpPr>
          <p:grpSpPr>
            <a:xfrm>
              <a:off x="1404" y="3355"/>
              <a:ext cx="681" cy="468"/>
              <a:chOff x="42" y="886"/>
              <a:chExt cx="681" cy="468"/>
            </a:xfrm>
          </p:grpSpPr>
          <p:grpSp>
            <p:nvGrpSpPr>
              <p:cNvPr id="3990" name="Google Shape;3990;p62"/>
              <p:cNvGrpSpPr/>
              <p:nvPr/>
            </p:nvGrpSpPr>
            <p:grpSpPr>
              <a:xfrm>
                <a:off x="278" y="886"/>
                <a:ext cx="397" cy="154"/>
                <a:chOff x="740" y="3209"/>
                <a:chExt cx="397" cy="154"/>
              </a:xfrm>
            </p:grpSpPr>
            <p:grpSp>
              <p:nvGrpSpPr>
                <p:cNvPr id="3991" name="Google Shape;3991;p62"/>
                <p:cNvGrpSpPr/>
                <p:nvPr/>
              </p:nvGrpSpPr>
              <p:grpSpPr>
                <a:xfrm>
                  <a:off x="794" y="3209"/>
                  <a:ext cx="343" cy="154"/>
                  <a:chOff x="844" y="3337"/>
                  <a:chExt cx="343" cy="154"/>
                </a:xfrm>
              </p:grpSpPr>
              <p:sp>
                <p:nvSpPr>
                  <p:cNvPr id="3992" name="Google Shape;399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3" name="Google Shape;399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sp>
              <p:nvSpPr>
                <p:cNvPr id="3994" name="Google Shape;3994;p62"/>
                <p:cNvSpPr/>
                <p:nvPr/>
              </p:nvSpPr>
              <p:spPr>
                <a:xfrm>
                  <a:off x="750" y="3244"/>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5" name="Google Shape;3995;p62"/>
                <p:cNvSpPr/>
                <p:nvPr/>
              </p:nvSpPr>
              <p:spPr>
                <a:xfrm>
                  <a:off x="740" y="3238"/>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96" name="Google Shape;3996;p62"/>
              <p:cNvGrpSpPr/>
              <p:nvPr/>
            </p:nvGrpSpPr>
            <p:grpSpPr>
              <a:xfrm>
                <a:off x="278" y="1034"/>
                <a:ext cx="397" cy="154"/>
                <a:chOff x="836" y="3305"/>
                <a:chExt cx="397" cy="154"/>
              </a:xfrm>
            </p:grpSpPr>
            <p:grpSp>
              <p:nvGrpSpPr>
                <p:cNvPr id="3997" name="Google Shape;3997;p62"/>
                <p:cNvGrpSpPr/>
                <p:nvPr/>
              </p:nvGrpSpPr>
              <p:grpSpPr>
                <a:xfrm>
                  <a:off x="890" y="3305"/>
                  <a:ext cx="343" cy="154"/>
                  <a:chOff x="844" y="3337"/>
                  <a:chExt cx="343" cy="154"/>
                </a:xfrm>
              </p:grpSpPr>
              <p:sp>
                <p:nvSpPr>
                  <p:cNvPr id="3998" name="Google Shape;3998;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9" name="Google Shape;3999;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000" name="Google Shape;4000;p62"/>
                <p:cNvGrpSpPr/>
                <p:nvPr/>
              </p:nvGrpSpPr>
              <p:grpSpPr>
                <a:xfrm>
                  <a:off x="836" y="3334"/>
                  <a:ext cx="354" cy="94"/>
                  <a:chOff x="836" y="3334"/>
                  <a:chExt cx="354" cy="94"/>
                </a:xfrm>
              </p:grpSpPr>
              <p:sp>
                <p:nvSpPr>
                  <p:cNvPr id="4001" name="Google Shape;4001;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2" name="Google Shape;4002;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003" name="Google Shape;4003;p62"/>
              <p:cNvGrpSpPr/>
              <p:nvPr/>
            </p:nvGrpSpPr>
            <p:grpSpPr>
              <a:xfrm>
                <a:off x="165" y="1054"/>
                <a:ext cx="480" cy="112"/>
                <a:chOff x="627" y="3377"/>
                <a:chExt cx="480" cy="112"/>
              </a:xfrm>
            </p:grpSpPr>
            <p:sp>
              <p:nvSpPr>
                <p:cNvPr id="4004" name="Google Shape;4004;p62"/>
                <p:cNvSpPr/>
                <p:nvPr/>
              </p:nvSpPr>
              <p:spPr>
                <a:xfrm>
                  <a:off x="636" y="3388"/>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5" name="Google Shape;4005;p62"/>
                <p:cNvSpPr/>
                <p:nvPr/>
              </p:nvSpPr>
              <p:spPr>
                <a:xfrm>
                  <a:off x="627" y="3377"/>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06" name="Google Shape;4006;p62"/>
              <p:cNvGrpSpPr/>
              <p:nvPr/>
            </p:nvGrpSpPr>
            <p:grpSpPr>
              <a:xfrm>
                <a:off x="42" y="1200"/>
                <a:ext cx="681" cy="154"/>
                <a:chOff x="504" y="3523"/>
                <a:chExt cx="681" cy="154"/>
              </a:xfrm>
            </p:grpSpPr>
            <p:grpSp>
              <p:nvGrpSpPr>
                <p:cNvPr id="4007" name="Google Shape;4007;p62"/>
                <p:cNvGrpSpPr/>
                <p:nvPr/>
              </p:nvGrpSpPr>
              <p:grpSpPr>
                <a:xfrm>
                  <a:off x="623" y="3523"/>
                  <a:ext cx="510" cy="154"/>
                  <a:chOff x="723" y="3453"/>
                  <a:chExt cx="510" cy="154"/>
                </a:xfrm>
              </p:grpSpPr>
              <p:grpSp>
                <p:nvGrpSpPr>
                  <p:cNvPr id="4008" name="Google Shape;4008;p62"/>
                  <p:cNvGrpSpPr/>
                  <p:nvPr/>
                </p:nvGrpSpPr>
                <p:grpSpPr>
                  <a:xfrm>
                    <a:off x="836" y="3453"/>
                    <a:ext cx="397" cy="154"/>
                    <a:chOff x="836" y="3305"/>
                    <a:chExt cx="397" cy="154"/>
                  </a:xfrm>
                </p:grpSpPr>
                <p:grpSp>
                  <p:nvGrpSpPr>
                    <p:cNvPr id="4009" name="Google Shape;4009;p62"/>
                    <p:cNvGrpSpPr/>
                    <p:nvPr/>
                  </p:nvGrpSpPr>
                  <p:grpSpPr>
                    <a:xfrm>
                      <a:off x="890" y="3305"/>
                      <a:ext cx="343" cy="154"/>
                      <a:chOff x="844" y="3337"/>
                      <a:chExt cx="343" cy="154"/>
                    </a:xfrm>
                  </p:grpSpPr>
                  <p:sp>
                    <p:nvSpPr>
                      <p:cNvPr id="4010" name="Google Shape;4010;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1" name="Google Shape;4011;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nvGrpSpPr>
                    <p:cNvPr id="4012" name="Google Shape;4012;p62"/>
                    <p:cNvGrpSpPr/>
                    <p:nvPr/>
                  </p:nvGrpSpPr>
                  <p:grpSpPr>
                    <a:xfrm>
                      <a:off x="836" y="3334"/>
                      <a:ext cx="354" cy="94"/>
                      <a:chOff x="836" y="3334"/>
                      <a:chExt cx="354" cy="94"/>
                    </a:xfrm>
                  </p:grpSpPr>
                  <p:sp>
                    <p:nvSpPr>
                      <p:cNvPr id="4013" name="Google Shape;4013;p62"/>
                      <p:cNvSpPr/>
                      <p:nvPr/>
                    </p:nvSpPr>
                    <p:spPr>
                      <a:xfrm>
                        <a:off x="846" y="3340"/>
                        <a:ext cx="88" cy="82"/>
                      </a:xfrm>
                      <a:prstGeom prst="rect">
                        <a:avLst/>
                      </a:prstGeom>
                      <a:solidFill>
                        <a:srgbClr val="00CC99"/>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4" name="Google Shape;4014;p62"/>
                      <p:cNvSpPr/>
                      <p:nvPr/>
                    </p:nvSpPr>
                    <p:spPr>
                      <a:xfrm>
                        <a:off x="836" y="3334"/>
                        <a:ext cx="354" cy="94"/>
                      </a:xfrm>
                      <a:prstGeom prst="rect">
                        <a:avLst/>
                      </a:prstGeom>
                      <a:noFill/>
                      <a:ln cap="flat" cmpd="sng" w="9525">
                        <a:solidFill>
                          <a:srgbClr val="00CC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015" name="Google Shape;4015;p62"/>
                  <p:cNvSpPr/>
                  <p:nvPr/>
                </p:nvSpPr>
                <p:spPr>
                  <a:xfrm>
                    <a:off x="732" y="3484"/>
                    <a:ext cx="96" cy="93"/>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6" name="Google Shape;4016;p62"/>
                  <p:cNvSpPr/>
                  <p:nvPr/>
                </p:nvSpPr>
                <p:spPr>
                  <a:xfrm>
                    <a:off x="723" y="3473"/>
                    <a:ext cx="480" cy="112"/>
                  </a:xfrm>
                  <a:prstGeom prst="rect">
                    <a:avLst/>
                  </a:prstGeom>
                  <a:noFill/>
                  <a:ln cap="flat" cmpd="sng" w="952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17" name="Google Shape;4017;p62"/>
                <p:cNvSpPr/>
                <p:nvPr/>
              </p:nvSpPr>
              <p:spPr>
                <a:xfrm>
                  <a:off x="517" y="3545"/>
                  <a:ext cx="94"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8" name="Google Shape;4018;p62"/>
                <p:cNvSpPr/>
                <p:nvPr/>
              </p:nvSpPr>
              <p:spPr>
                <a:xfrm>
                  <a:off x="1115" y="3544"/>
                  <a:ext cx="60" cy="108"/>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9" name="Google Shape;4019;p62"/>
                <p:cNvSpPr/>
                <p:nvPr/>
              </p:nvSpPr>
              <p:spPr>
                <a:xfrm>
                  <a:off x="504" y="3529"/>
                  <a:ext cx="681" cy="13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4020" name="Google Shape;4020;p62"/>
            <p:cNvSpPr/>
            <p:nvPr/>
          </p:nvSpPr>
          <p:spPr>
            <a:xfrm rot="10800000">
              <a:off x="1727" y="3105"/>
              <a:ext cx="240" cy="767"/>
            </a:xfrm>
            <a:prstGeom prst="downArrow">
              <a:avLst>
                <a:gd fmla="val 54167" name="adj1"/>
                <a:gd fmla="val 51311" name="adj2"/>
              </a:avLst>
            </a:prstGeom>
            <a:gradFill>
              <a:gsLst>
                <a:gs pos="0">
                  <a:srgbClr val="FF0000">
                    <a:alpha val="24705"/>
                  </a:srgbClr>
                </a:gs>
                <a:gs pos="100000">
                  <a:srgbClr val="FF0000">
                    <a:alpha val="24705"/>
                  </a:srgbClr>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21" name="Google Shape;4021;p62"/>
            <p:cNvGrpSpPr/>
            <p:nvPr/>
          </p:nvGrpSpPr>
          <p:grpSpPr>
            <a:xfrm>
              <a:off x="1695" y="3227"/>
              <a:ext cx="343" cy="154"/>
              <a:chOff x="844" y="3337"/>
              <a:chExt cx="343" cy="154"/>
            </a:xfrm>
          </p:grpSpPr>
          <p:sp>
            <p:nvSpPr>
              <p:cNvPr id="4022" name="Google Shape;4022;p62"/>
              <p:cNvSpPr/>
              <p:nvPr/>
            </p:nvSpPr>
            <p:spPr>
              <a:xfrm>
                <a:off x="889" y="3370"/>
                <a:ext cx="245" cy="86"/>
              </a:xfrm>
              <a:prstGeom prst="rect">
                <a:avLst/>
              </a:prstGeom>
              <a:solidFill>
                <a:srgbClr val="FF0000"/>
              </a:solidFill>
              <a:ln cap="flat" cmpd="sng" w="95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3" name="Google Shape;4023;p62"/>
              <p:cNvSpPr txBox="1"/>
              <p:nvPr/>
            </p:nvSpPr>
            <p:spPr>
              <a:xfrm>
                <a:off x="844" y="3337"/>
                <a:ext cx="343" cy="1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DHCP</a:t>
                </a:r>
                <a:endParaRPr/>
              </a:p>
            </p:txBody>
          </p:sp>
        </p:grpSp>
      </p:grpSp>
      <p:sp>
        <p:nvSpPr>
          <p:cNvPr id="4024" name="Google Shape;4024;p62"/>
          <p:cNvSpPr/>
          <p:nvPr/>
        </p:nvSpPr>
        <p:spPr>
          <a:xfrm>
            <a:off x="6120307" y="4620433"/>
            <a:ext cx="5201653" cy="1362075"/>
          </a:xfrm>
          <a:prstGeom prst="rect">
            <a:avLst/>
          </a:prstGeom>
          <a:noFill/>
          <a:ln>
            <a:noFill/>
          </a:ln>
        </p:spPr>
        <p:txBody>
          <a:bodyPr anchorCtr="0" anchor="t" bIns="45700" lIns="91425" spcFirstLastPara="1" rIns="91425" wrap="square" tIns="45700">
            <a:noAutofit/>
          </a:bodyPr>
          <a:lstStyle/>
          <a:p>
            <a:pPr indent="-233363" lvl="0" marL="233363" marR="0" rtl="0" algn="l">
              <a:lnSpc>
                <a:spcPct val="85000"/>
              </a:lnSpc>
              <a:spcBef>
                <a:spcPts val="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client now knows its IP address, name and IP address of DNS server, IP address of its first-hop router</a:t>
            </a:r>
            <a:endParaRPr/>
          </a:p>
          <a:p>
            <a:pPr indent="-243840" lvl="0" marL="342900" marR="0" rtl="0" algn="l">
              <a:lnSpc>
                <a:spcPct val="85000"/>
              </a:lnSpc>
              <a:spcBef>
                <a:spcPts val="48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p:txBody>
      </p:sp>
      <p:grpSp>
        <p:nvGrpSpPr>
          <p:cNvPr id="4025" name="Google Shape;4025;p62"/>
          <p:cNvGrpSpPr/>
          <p:nvPr/>
        </p:nvGrpSpPr>
        <p:grpSpPr>
          <a:xfrm>
            <a:off x="3800970" y="3720320"/>
            <a:ext cx="423862" cy="647700"/>
            <a:chOff x="4140" y="429"/>
            <a:chExt cx="1425" cy="2396"/>
          </a:xfrm>
        </p:grpSpPr>
        <p:sp>
          <p:nvSpPr>
            <p:cNvPr id="4026" name="Google Shape;4026;p6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27" name="Google Shape;4027;p62"/>
            <p:cNvSpPr/>
            <p:nvPr/>
          </p:nvSpPr>
          <p:spPr>
            <a:xfrm>
              <a:off x="4204" y="429"/>
              <a:ext cx="1051"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8" name="Google Shape;4028;p6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29" name="Google Shape;4029;p6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30" name="Google Shape;4030;p62"/>
            <p:cNvSpPr/>
            <p:nvPr/>
          </p:nvSpPr>
          <p:spPr>
            <a:xfrm>
              <a:off x="4209" y="693"/>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31" name="Google Shape;4031;p62"/>
            <p:cNvGrpSpPr/>
            <p:nvPr/>
          </p:nvGrpSpPr>
          <p:grpSpPr>
            <a:xfrm>
              <a:off x="4748" y="670"/>
              <a:ext cx="582" cy="141"/>
              <a:chOff x="613" y="2570"/>
              <a:chExt cx="726" cy="135"/>
            </a:xfrm>
          </p:grpSpPr>
          <p:sp>
            <p:nvSpPr>
              <p:cNvPr id="4032" name="Google Shape;4032;p62"/>
              <p:cNvSpPr/>
              <p:nvPr/>
            </p:nvSpPr>
            <p:spPr>
              <a:xfrm>
                <a:off x="613" y="2570"/>
                <a:ext cx="726" cy="135"/>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3" name="Google Shape;4033;p62"/>
              <p:cNvSpPr/>
              <p:nvPr/>
            </p:nvSpPr>
            <p:spPr>
              <a:xfrm>
                <a:off x="627" y="2587"/>
                <a:ext cx="693" cy="10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34" name="Google Shape;4034;p62"/>
            <p:cNvSpPr/>
            <p:nvPr/>
          </p:nvSpPr>
          <p:spPr>
            <a:xfrm>
              <a:off x="4225" y="1016"/>
              <a:ext cx="592"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35" name="Google Shape;4035;p62"/>
            <p:cNvGrpSpPr/>
            <p:nvPr/>
          </p:nvGrpSpPr>
          <p:grpSpPr>
            <a:xfrm>
              <a:off x="4749" y="993"/>
              <a:ext cx="582" cy="135"/>
              <a:chOff x="616" y="2567"/>
              <a:chExt cx="726" cy="140"/>
            </a:xfrm>
          </p:grpSpPr>
          <p:sp>
            <p:nvSpPr>
              <p:cNvPr id="4036" name="Google Shape;4036;p62"/>
              <p:cNvSpPr/>
              <p:nvPr/>
            </p:nvSpPr>
            <p:spPr>
              <a:xfrm>
                <a:off x="616" y="2567"/>
                <a:ext cx="726"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7" name="Google Shape;4037;p62"/>
              <p:cNvSpPr/>
              <p:nvPr/>
            </p:nvSpPr>
            <p:spPr>
              <a:xfrm>
                <a:off x="629" y="2585"/>
                <a:ext cx="693"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38" name="Google Shape;4038;p62"/>
            <p:cNvSpPr/>
            <p:nvPr/>
          </p:nvSpPr>
          <p:spPr>
            <a:xfrm>
              <a:off x="4215" y="1357"/>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9" name="Google Shape;4039;p62"/>
            <p:cNvSpPr/>
            <p:nvPr/>
          </p:nvSpPr>
          <p:spPr>
            <a:xfrm>
              <a:off x="4225" y="1656"/>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040" name="Google Shape;4040;p62"/>
            <p:cNvGrpSpPr/>
            <p:nvPr/>
          </p:nvGrpSpPr>
          <p:grpSpPr>
            <a:xfrm>
              <a:off x="4733" y="1627"/>
              <a:ext cx="587" cy="153"/>
              <a:chOff x="611" y="2568"/>
              <a:chExt cx="731" cy="141"/>
            </a:xfrm>
          </p:grpSpPr>
          <p:sp>
            <p:nvSpPr>
              <p:cNvPr id="4041" name="Google Shape;4041;p62"/>
              <p:cNvSpPr/>
              <p:nvPr/>
            </p:nvSpPr>
            <p:spPr>
              <a:xfrm>
                <a:off x="611" y="2568"/>
                <a:ext cx="731" cy="141"/>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2" name="Google Shape;4042;p62"/>
              <p:cNvSpPr/>
              <p:nvPr/>
            </p:nvSpPr>
            <p:spPr>
              <a:xfrm>
                <a:off x="624" y="2584"/>
                <a:ext cx="69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43" name="Google Shape;4043;p6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4044" name="Google Shape;4044;p62"/>
            <p:cNvGrpSpPr/>
            <p:nvPr/>
          </p:nvGrpSpPr>
          <p:grpSpPr>
            <a:xfrm>
              <a:off x="4737" y="1328"/>
              <a:ext cx="582" cy="147"/>
              <a:chOff x="612" y="2569"/>
              <a:chExt cx="725" cy="147"/>
            </a:xfrm>
          </p:grpSpPr>
          <p:sp>
            <p:nvSpPr>
              <p:cNvPr id="4045" name="Google Shape;4045;p62"/>
              <p:cNvSpPr/>
              <p:nvPr/>
            </p:nvSpPr>
            <p:spPr>
              <a:xfrm>
                <a:off x="612" y="2569"/>
                <a:ext cx="725" cy="14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6" name="Google Shape;4046;p62"/>
              <p:cNvSpPr/>
              <p:nvPr/>
            </p:nvSpPr>
            <p:spPr>
              <a:xfrm>
                <a:off x="626" y="2586"/>
                <a:ext cx="691"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47" name="Google Shape;4047;p62"/>
            <p:cNvSpPr/>
            <p:nvPr/>
          </p:nvSpPr>
          <p:spPr>
            <a:xfrm>
              <a:off x="5250" y="429"/>
              <a:ext cx="69" cy="2290"/>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8" name="Google Shape;4048;p6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49" name="Google Shape;4049;p6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50" name="Google Shape;4050;p62"/>
            <p:cNvSpPr/>
            <p:nvPr/>
          </p:nvSpPr>
          <p:spPr>
            <a:xfrm>
              <a:off x="5517" y="2614"/>
              <a:ext cx="48"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1" name="Google Shape;4051;p6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52" name="Google Shape;4052;p62"/>
            <p:cNvSpPr/>
            <p:nvPr/>
          </p:nvSpPr>
          <p:spPr>
            <a:xfrm>
              <a:off x="4140" y="2678"/>
              <a:ext cx="1201" cy="147"/>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3" name="Google Shape;4053;p62"/>
            <p:cNvSpPr/>
            <p:nvPr/>
          </p:nvSpPr>
          <p:spPr>
            <a:xfrm>
              <a:off x="4204" y="2713"/>
              <a:ext cx="1073"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4" name="Google Shape;4054;p62"/>
            <p:cNvSpPr/>
            <p:nvPr/>
          </p:nvSpPr>
          <p:spPr>
            <a:xfrm>
              <a:off x="4305" y="2385"/>
              <a:ext cx="160"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5" name="Google Shape;4055;p62"/>
            <p:cNvSpPr/>
            <p:nvPr/>
          </p:nvSpPr>
          <p:spPr>
            <a:xfrm>
              <a:off x="4487" y="2385"/>
              <a:ext cx="160" cy="141"/>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4056" name="Google Shape;4056;p62"/>
            <p:cNvSpPr/>
            <p:nvPr/>
          </p:nvSpPr>
          <p:spPr>
            <a:xfrm>
              <a:off x="4663" y="2379"/>
              <a:ext cx="155"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7" name="Google Shape;4057;p62"/>
            <p:cNvSpPr/>
            <p:nvPr/>
          </p:nvSpPr>
          <p:spPr>
            <a:xfrm>
              <a:off x="5063" y="1833"/>
              <a:ext cx="85" cy="763"/>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058" name="Google Shape;4058;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0"/>
                                        </p:tgtEl>
                                        <p:attrNameLst>
                                          <p:attrName>style.visibility</p:attrName>
                                        </p:attrNameLst>
                                      </p:cBhvr>
                                      <p:to>
                                        <p:strVal val="visible"/>
                                      </p:to>
                                    </p:set>
                                    <p:animEffect filter="fade" transition="in">
                                      <p:cBhvr>
                                        <p:cTn dur="500"/>
                                        <p:tgtEl>
                                          <p:spTgt spid="3920"/>
                                        </p:tgtEl>
                                      </p:cBhvr>
                                    </p:animEffect>
                                  </p:childTnLst>
                                </p:cTn>
                              </p:par>
                              <p:par>
                                <p:cTn fill="hold" nodeType="withEffect" presetClass="entr" presetID="1" presetSubtype="0">
                                  <p:stCondLst>
                                    <p:cond delay="0"/>
                                  </p:stCondLst>
                                  <p:childTnLst>
                                    <p:set>
                                      <p:cBhvr>
                                        <p:cTn dur="1" fill="hold">
                                          <p:stCondLst>
                                            <p:cond delay="0"/>
                                          </p:stCondLst>
                                        </p:cTn>
                                        <p:tgtEl>
                                          <p:spTgt spid="3895">
                                            <p:txEl>
                                              <p:pRg end="0" st="0"/>
                                            </p:txEl>
                                          </p:spTgt>
                                        </p:tgtEl>
                                        <p:attrNameLst>
                                          <p:attrName>style.visibility</p:attrName>
                                        </p:attrNameLst>
                                      </p:cBhvr>
                                      <p:to>
                                        <p:strVal val="visible"/>
                                      </p:to>
                                    </p:se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953"/>
                                        </p:tgtEl>
                                        <p:attrNameLst>
                                          <p:attrName>style.visibility</p:attrName>
                                        </p:attrNameLst>
                                      </p:cBhvr>
                                      <p:to>
                                        <p:strVal val="visible"/>
                                      </p:to>
                                    </p:set>
                                  </p:childTnLst>
                                </p:cTn>
                              </p:par>
                            </p:childTnLst>
                          </p:cTn>
                        </p:par>
                        <p:par>
                          <p:cTn fill="hold">
                            <p:stCondLst>
                              <p:cond delay="501"/>
                            </p:stCondLst>
                            <p:childTnLst>
                              <p:par>
                                <p:cTn fill="hold" nodeType="afterEffect" presetClass="exit" presetID="1" presetSubtype="0">
                                  <p:stCondLst>
                                    <p:cond delay="0"/>
                                  </p:stCondLst>
                                  <p:childTnLst>
                                    <p:set>
                                      <p:cBhvr>
                                        <p:cTn dur="1" fill="hold">
                                          <p:stCondLst>
                                            <p:cond delay="1"/>
                                          </p:stCondLst>
                                        </p:cTn>
                                        <p:tgtEl>
                                          <p:spTgt spid="39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97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920"/>
                                        </p:tgtEl>
                                        <p:attrNameLst>
                                          <p:attrName>style.visibility</p:attrName>
                                        </p:attrNameLst>
                                      </p:cBhvr>
                                      <p:to>
                                        <p:strVal val="hidden"/>
                                      </p:to>
                                    </p:set>
                                  </p:childTnLst>
                                </p:cTn>
                              </p:par>
                            </p:childTnLst>
                          </p:cTn>
                        </p:par>
                        <p:par>
                          <p:cTn fill="hold">
                            <p:stCondLst>
                              <p:cond delay="502"/>
                            </p:stCondLst>
                            <p:childTnLst>
                              <p:par>
                                <p:cTn fill="hold" nodeType="afterEffect" presetClass="entr" presetID="10" presetSubtype="0">
                                  <p:stCondLst>
                                    <p:cond delay="0"/>
                                  </p:stCondLst>
                                  <p:childTnLst>
                                    <p:set>
                                      <p:cBhvr>
                                        <p:cTn dur="1" fill="hold">
                                          <p:stCondLst>
                                            <p:cond delay="0"/>
                                          </p:stCondLst>
                                        </p:cTn>
                                        <p:tgtEl>
                                          <p:spTgt spid="3979"/>
                                        </p:tgtEl>
                                        <p:attrNameLst>
                                          <p:attrName>style.visibility</p:attrName>
                                        </p:attrNameLst>
                                      </p:cBhvr>
                                      <p:to>
                                        <p:strVal val="visible"/>
                                      </p:to>
                                    </p:set>
                                    <p:animEffect filter="fade" transition="in">
                                      <p:cBhvr>
                                        <p:cTn dur="500"/>
                                        <p:tgtEl>
                                          <p:spTgt spid="3979"/>
                                        </p:tgtEl>
                                      </p:cBhvr>
                                    </p:animEffect>
                                  </p:childTnLst>
                                </p:cTn>
                              </p:par>
                            </p:childTnLst>
                          </p:cTn>
                        </p:par>
                        <p:par>
                          <p:cTn fill="hold">
                            <p:stCondLst>
                              <p:cond delay="1002"/>
                            </p:stCondLst>
                            <p:childTnLst>
                              <p:par>
                                <p:cTn fill="hold" nodeType="afterEffect" presetClass="entr" presetID="10" presetSubtype="0">
                                  <p:stCondLst>
                                    <p:cond delay="0"/>
                                  </p:stCondLst>
                                  <p:childTnLst>
                                    <p:set>
                                      <p:cBhvr>
                                        <p:cTn dur="1" fill="hold">
                                          <p:stCondLst>
                                            <p:cond delay="0"/>
                                          </p:stCondLst>
                                        </p:cTn>
                                        <p:tgtEl>
                                          <p:spTgt spid="3988"/>
                                        </p:tgtEl>
                                        <p:attrNameLst>
                                          <p:attrName>style.visibility</p:attrName>
                                        </p:attrNameLst>
                                      </p:cBhvr>
                                      <p:to>
                                        <p:strVal val="visible"/>
                                      </p:to>
                                    </p:set>
                                    <p:animEffect filter="fade" transition="in">
                                      <p:cBhvr>
                                        <p:cTn dur="1000"/>
                                        <p:tgtEl>
                                          <p:spTgt spid="3988"/>
                                        </p:tgtEl>
                                      </p:cBhvr>
                                    </p:animEffect>
                                  </p:childTnLst>
                                </p:cTn>
                              </p:par>
                              <p:par>
                                <p:cTn fill="hold" nodeType="withEffect" presetClass="exit" presetID="1" presetSubtype="0">
                                  <p:stCondLst>
                                    <p:cond delay="0"/>
                                  </p:stCondLst>
                                  <p:childTnLst>
                                    <p:set>
                                      <p:cBhvr>
                                        <p:cTn dur="1" fill="hold">
                                          <p:stCondLst>
                                            <p:cond delay="1"/>
                                          </p:stCondLst>
                                        </p:cTn>
                                        <p:tgtEl>
                                          <p:spTgt spid="39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3" name="Shape 4063"/>
        <p:cNvGrpSpPr/>
        <p:nvPr/>
      </p:nvGrpSpPr>
      <p:grpSpPr>
        <a:xfrm>
          <a:off x="0" y="0"/>
          <a:ext cx="0" cy="0"/>
          <a:chOff x="0" y="0"/>
          <a:chExt cx="0" cy="0"/>
        </a:xfrm>
      </p:grpSpPr>
      <p:sp>
        <p:nvSpPr>
          <p:cNvPr id="4064" name="Google Shape;4064;p6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addresses: how to get one?</a:t>
            </a:r>
            <a:endParaRPr/>
          </a:p>
        </p:txBody>
      </p:sp>
      <p:sp>
        <p:nvSpPr>
          <p:cNvPr id="4065" name="Google Shape;4065;p63"/>
          <p:cNvSpPr txBox="1"/>
          <p:nvPr/>
        </p:nvSpPr>
        <p:spPr>
          <a:xfrm>
            <a:off x="837133" y="1343025"/>
            <a:ext cx="11354867" cy="180975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Q:</a:t>
            </a:r>
            <a:r>
              <a:rPr b="0" i="0" lang="en-US" sz="3200" u="none" cap="none" strike="noStrike">
                <a:solidFill>
                  <a:srgbClr val="000000"/>
                </a:solidFill>
                <a:latin typeface="Calibri"/>
                <a:ea typeface="Calibri"/>
                <a:cs typeface="Calibri"/>
                <a:sym typeface="Calibri"/>
              </a:rPr>
              <a:t> how does </a:t>
            </a:r>
            <a:r>
              <a:rPr b="0" i="1" lang="en-US" sz="3200" u="none" cap="none" strike="noStrike">
                <a:solidFill>
                  <a:srgbClr val="000000"/>
                </a:solidFill>
                <a:latin typeface="Calibri"/>
                <a:ea typeface="Calibri"/>
                <a:cs typeface="Calibri"/>
                <a:sym typeface="Calibri"/>
              </a:rPr>
              <a:t>network</a:t>
            </a:r>
            <a:r>
              <a:rPr b="0" i="0" lang="en-US" sz="3200" u="none" cap="none" strike="noStrike">
                <a:solidFill>
                  <a:srgbClr val="000000"/>
                </a:solidFill>
                <a:latin typeface="Calibri"/>
                <a:ea typeface="Calibri"/>
                <a:cs typeface="Calibri"/>
                <a:sym typeface="Calibri"/>
              </a:rPr>
              <a:t> get subnet part of IP address?</a:t>
            </a:r>
            <a:endParaRPr/>
          </a:p>
          <a:p>
            <a:pPr indent="-222250" lvl="0" marL="352425" marR="0" rtl="0" algn="l">
              <a:lnSpc>
                <a:spcPct val="90000"/>
              </a:lnSpc>
              <a:spcBef>
                <a:spcPts val="100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a:t>
            </a:r>
            <a:r>
              <a:rPr b="0" i="0" lang="en-US" sz="3200" u="none" cap="none" strike="noStrike">
                <a:solidFill>
                  <a:srgbClr val="000000"/>
                </a:solidFill>
                <a:latin typeface="Calibri"/>
                <a:ea typeface="Calibri"/>
                <a:cs typeface="Calibri"/>
                <a:sym typeface="Calibri"/>
              </a:rPr>
              <a:t> gets allocated portion of its provider ISP’s address space</a:t>
            </a:r>
            <a:endParaRPr b="0" i="0" sz="2800" u="none" cap="none" strike="noStrike">
              <a:solidFill>
                <a:srgbClr val="000000"/>
              </a:solidFill>
              <a:latin typeface="Calibri"/>
              <a:ea typeface="Calibri"/>
              <a:cs typeface="Calibri"/>
              <a:sym typeface="Calibri"/>
            </a:endParaRPr>
          </a:p>
        </p:txBody>
      </p:sp>
      <p:sp>
        <p:nvSpPr>
          <p:cNvPr id="4066" name="Google Shape;4066;p63"/>
          <p:cNvSpPr txBox="1"/>
          <p:nvPr/>
        </p:nvSpPr>
        <p:spPr>
          <a:xfrm>
            <a:off x="1371628" y="2739402"/>
            <a:ext cx="1021577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Arial"/>
              <a:buNone/>
            </a:pPr>
            <a:r>
              <a:rPr b="0" i="0" lang="en-US" sz="2000" u="none" cap="none" strike="noStrike">
                <a:solidFill>
                  <a:srgbClr val="000099"/>
                </a:solidFill>
                <a:latin typeface="Arial"/>
                <a:ea typeface="Arial"/>
                <a:cs typeface="Arial"/>
                <a:sym typeface="Arial"/>
              </a:rPr>
              <a:t>ISP's block          </a:t>
            </a:r>
            <a:r>
              <a:rPr b="0" i="0" lang="en-US" sz="2000" u="sng" cap="none" strike="noStrike">
                <a:solidFill>
                  <a:srgbClr val="000099"/>
                </a:solidFill>
                <a:latin typeface="Arial"/>
                <a:ea typeface="Arial"/>
                <a:cs typeface="Arial"/>
                <a:sym typeface="Arial"/>
              </a:rPr>
              <a:t>11001000  00010111  0001</a:t>
            </a:r>
            <a:r>
              <a:rPr b="0" i="0" lang="en-US" sz="2000" u="none" cap="none" strike="noStrike">
                <a:solidFill>
                  <a:srgbClr val="000099"/>
                </a:solidFill>
                <a:latin typeface="Arial"/>
                <a:ea typeface="Arial"/>
                <a:cs typeface="Arial"/>
                <a:sym typeface="Arial"/>
              </a:rPr>
              <a:t>0000  00000000    200.23.16.0/20</a:t>
            </a:r>
            <a:r>
              <a:rPr b="0" i="0" lang="en-US" sz="2000" u="none" cap="none" strike="noStrike">
                <a:solidFill>
                  <a:srgbClr val="ED7D3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omic Sans MS"/>
              <a:ea typeface="Comic Sans MS"/>
              <a:cs typeface="Comic Sans MS"/>
              <a:sym typeface="Comic Sans MS"/>
            </a:endParaRPr>
          </a:p>
        </p:txBody>
      </p:sp>
      <p:sp>
        <p:nvSpPr>
          <p:cNvPr id="4067" name="Google Shape;4067;p63"/>
          <p:cNvSpPr txBox="1"/>
          <p:nvPr/>
        </p:nvSpPr>
        <p:spPr>
          <a:xfrm>
            <a:off x="1371600" y="3687667"/>
            <a:ext cx="10215770" cy="28007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ISP can then allocate out its address space in 8 blocks: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0    </a:t>
            </a:r>
            <a:r>
              <a:rPr b="0" i="0" lang="en-US" sz="2000" u="sng" cap="none" strike="noStrike">
                <a:solidFill>
                  <a:srgbClr val="000000"/>
                </a:solidFill>
                <a:latin typeface="Arial"/>
                <a:ea typeface="Arial"/>
                <a:cs typeface="Arial"/>
                <a:sym typeface="Arial"/>
              </a:rPr>
              <a:t>11001000  00010111  0001000</a:t>
            </a:r>
            <a:r>
              <a:rPr b="0" i="0" lang="en-US" sz="2000" u="none" cap="none" strike="noStrike">
                <a:solidFill>
                  <a:srgbClr val="000000"/>
                </a:solidFill>
                <a:latin typeface="Arial"/>
                <a:ea typeface="Arial"/>
                <a:cs typeface="Arial"/>
                <a:sym typeface="Arial"/>
              </a:rPr>
              <a:t>0  00000000    200.23.16.0/23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1    </a:t>
            </a:r>
            <a:r>
              <a:rPr b="0" i="0" lang="en-US" sz="2000" u="sng" cap="none" strike="noStrike">
                <a:solidFill>
                  <a:srgbClr val="000000"/>
                </a:solidFill>
                <a:latin typeface="Arial"/>
                <a:ea typeface="Arial"/>
                <a:cs typeface="Arial"/>
                <a:sym typeface="Arial"/>
              </a:rPr>
              <a:t>11001000  00010111  0001001</a:t>
            </a:r>
            <a:r>
              <a:rPr b="0" i="0" lang="en-US" sz="2000" u="none" cap="none" strike="noStrike">
                <a:solidFill>
                  <a:srgbClr val="000000"/>
                </a:solidFill>
                <a:latin typeface="Arial"/>
                <a:ea typeface="Arial"/>
                <a:cs typeface="Arial"/>
                <a:sym typeface="Arial"/>
              </a:rPr>
              <a:t>0  00000000    200.23.18.0/23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2    </a:t>
            </a:r>
            <a:r>
              <a:rPr b="0" i="0" lang="en-US" sz="2000" u="sng" cap="none" strike="noStrike">
                <a:solidFill>
                  <a:srgbClr val="000000"/>
                </a:solidFill>
                <a:latin typeface="Arial"/>
                <a:ea typeface="Arial"/>
                <a:cs typeface="Arial"/>
                <a:sym typeface="Arial"/>
              </a:rPr>
              <a:t>11001000  00010111  0001010</a:t>
            </a:r>
            <a:r>
              <a:rPr b="0" i="0" lang="en-US" sz="2000" u="none" cap="none" strike="noStrike">
                <a:solidFill>
                  <a:srgbClr val="000000"/>
                </a:solidFill>
                <a:latin typeface="Arial"/>
                <a:ea typeface="Arial"/>
                <a:cs typeface="Arial"/>
                <a:sym typeface="Arial"/>
              </a:rPr>
              <a:t>0  00000000    200.23.20.0/23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   ...                                          …..                                   ….                ….</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Organization 7    </a:t>
            </a:r>
            <a:r>
              <a:rPr b="0" i="0" lang="en-US" sz="2000" u="sng" cap="none" strike="noStrike">
                <a:solidFill>
                  <a:srgbClr val="000000"/>
                </a:solidFill>
                <a:latin typeface="Arial"/>
                <a:ea typeface="Arial"/>
                <a:cs typeface="Arial"/>
                <a:sym typeface="Arial"/>
              </a:rPr>
              <a:t>11001000  00010111  0001111</a:t>
            </a:r>
            <a:r>
              <a:rPr b="0" i="0" lang="en-US" sz="2000" u="none" cap="none" strike="noStrike">
                <a:solidFill>
                  <a:srgbClr val="000000"/>
                </a:solidFill>
                <a:latin typeface="Arial"/>
                <a:ea typeface="Arial"/>
                <a:cs typeface="Arial"/>
                <a:sym typeface="Arial"/>
              </a:rPr>
              <a:t>0   00000000    200.23.30.0/23</a:t>
            </a:r>
            <a:r>
              <a:rPr b="0" i="0" lang="en-US" sz="2800" u="none" cap="none" strike="noStrike">
                <a:solidFill>
                  <a:srgbClr val="00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omic Sans MS"/>
              <a:ea typeface="Comic Sans MS"/>
              <a:cs typeface="Comic Sans MS"/>
              <a:sym typeface="Comic Sans MS"/>
            </a:endParaRPr>
          </a:p>
        </p:txBody>
      </p:sp>
      <p:sp>
        <p:nvSpPr>
          <p:cNvPr id="4068" name="Google Shape;4068;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7"/>
                                        </p:tgtEl>
                                        <p:attrNameLst>
                                          <p:attrName>style.visibility</p:attrName>
                                        </p:attrNameLst>
                                      </p:cBhvr>
                                      <p:to>
                                        <p:strVal val="visible"/>
                                      </p:to>
                                    </p:set>
                                    <p:animEffect filter="fade" transition="in">
                                      <p:cBhvr>
                                        <p:cTn dur="500"/>
                                        <p:tgtEl>
                                          <p:spTgt spid="40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3" name="Shape 4073"/>
        <p:cNvGrpSpPr/>
        <p:nvPr/>
      </p:nvGrpSpPr>
      <p:grpSpPr>
        <a:xfrm>
          <a:off x="0" y="0"/>
          <a:ext cx="0" cy="0"/>
          <a:chOff x="0" y="0"/>
          <a:chExt cx="0" cy="0"/>
        </a:xfrm>
      </p:grpSpPr>
      <p:sp>
        <p:nvSpPr>
          <p:cNvPr id="4074" name="Google Shape;4074;p64"/>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Hierarchical addressing: route aggregation</a:t>
            </a:r>
            <a:endParaRPr sz="4800"/>
          </a:p>
        </p:txBody>
      </p:sp>
      <p:sp>
        <p:nvSpPr>
          <p:cNvPr id="4075" name="Google Shape;4075;p64"/>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076" name="Google Shape;4076;p64"/>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077" name="Google Shape;4077;p64"/>
          <p:cNvCxnSpPr/>
          <p:nvPr/>
        </p:nvCxnSpPr>
        <p:spPr>
          <a:xfrm>
            <a:off x="3939967" y="3858666"/>
            <a:ext cx="752475" cy="171450"/>
          </a:xfrm>
          <a:prstGeom prst="straightConnector1">
            <a:avLst/>
          </a:prstGeom>
          <a:noFill/>
          <a:ln cap="flat" cmpd="sng" w="19050">
            <a:solidFill>
              <a:srgbClr val="000000"/>
            </a:solidFill>
            <a:prstDash val="solid"/>
            <a:round/>
            <a:headEnd len="med" w="med" type="none"/>
            <a:tailEnd len="med" w="med" type="none"/>
          </a:ln>
        </p:spPr>
      </p:cxnSp>
      <p:cxnSp>
        <p:nvCxnSpPr>
          <p:cNvPr id="4078" name="Google Shape;4078;p64"/>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079" name="Google Shape;4079;p64"/>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0" name="Google Shape;4080;p64"/>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081" name="Google Shape;4081;p64"/>
          <p:cNvGrpSpPr/>
          <p:nvPr/>
        </p:nvGrpSpPr>
        <p:grpSpPr>
          <a:xfrm>
            <a:off x="1838117" y="2850604"/>
            <a:ext cx="2338388" cy="404812"/>
            <a:chOff x="1004" y="1639"/>
            <a:chExt cx="1473" cy="255"/>
          </a:xfrm>
        </p:grpSpPr>
        <p:sp>
          <p:nvSpPr>
            <p:cNvPr id="4082" name="Google Shape;4082;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3" name="Google Shape;4083;p64"/>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084" name="Google Shape;4084;p64"/>
          <p:cNvGrpSpPr/>
          <p:nvPr/>
        </p:nvGrpSpPr>
        <p:grpSpPr>
          <a:xfrm>
            <a:off x="1866692" y="3441154"/>
            <a:ext cx="2338388" cy="404812"/>
            <a:chOff x="1004" y="1639"/>
            <a:chExt cx="1473" cy="255"/>
          </a:xfrm>
        </p:grpSpPr>
        <p:sp>
          <p:nvSpPr>
            <p:cNvPr id="4085" name="Google Shape;4085;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6" name="Google Shape;4086;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grpSp>
        <p:nvGrpSpPr>
          <p:cNvPr id="4087" name="Google Shape;4087;p64"/>
          <p:cNvGrpSpPr/>
          <p:nvPr/>
        </p:nvGrpSpPr>
        <p:grpSpPr>
          <a:xfrm>
            <a:off x="1780967" y="4860379"/>
            <a:ext cx="2338388" cy="404812"/>
            <a:chOff x="1004" y="1639"/>
            <a:chExt cx="1473" cy="255"/>
          </a:xfrm>
        </p:grpSpPr>
        <p:sp>
          <p:nvSpPr>
            <p:cNvPr id="4088" name="Google Shape;4088;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89" name="Google Shape;4089;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090" name="Google Shape;4090;p64"/>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091" name="Google Shape;4091;p64"/>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92" name="Google Shape;4092;p64"/>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093" name="Google Shape;4093;p64"/>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094" name="Google Shape;4094;p64"/>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sp>
        <p:nvSpPr>
          <p:cNvPr id="4095" name="Google Shape;4095;p64"/>
          <p:cNvSpPr txBox="1"/>
          <p:nvPr/>
        </p:nvSpPr>
        <p:spPr>
          <a:xfrm>
            <a:off x="1847642" y="32411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sp>
        <p:nvSpPr>
          <p:cNvPr id="4096" name="Google Shape;4096;p64"/>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097" name="Google Shape;4097;p64"/>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098" name="Google Shape;4098;p64"/>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099" name="Google Shape;4099;p64"/>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00" name="Google Shape;4100;p64"/>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101" name="Google Shape;4101;p64"/>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102" name="Google Shape;4102;p64"/>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103" name="Google Shape;4103;p64"/>
          <p:cNvGrpSpPr/>
          <p:nvPr/>
        </p:nvGrpSpPr>
        <p:grpSpPr>
          <a:xfrm>
            <a:off x="1885742" y="4031704"/>
            <a:ext cx="2338388" cy="404812"/>
            <a:chOff x="1004" y="1639"/>
            <a:chExt cx="1473" cy="255"/>
          </a:xfrm>
        </p:grpSpPr>
        <p:sp>
          <p:nvSpPr>
            <p:cNvPr id="4104" name="Google Shape;4104;p64"/>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05" name="Google Shape;4105;p64"/>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106" name="Google Shape;4106;p64"/>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107" name="Google Shape;4107;p64"/>
          <p:cNvGrpSpPr/>
          <p:nvPr/>
        </p:nvGrpSpPr>
        <p:grpSpPr>
          <a:xfrm>
            <a:off x="3235117" y="4288879"/>
            <a:ext cx="257175" cy="663575"/>
            <a:chOff x="870" y="2941"/>
            <a:chExt cx="162" cy="418"/>
          </a:xfrm>
        </p:grpSpPr>
        <p:sp>
          <p:nvSpPr>
            <p:cNvPr id="4108" name="Google Shape;4108;p64"/>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09" name="Google Shape;4109;p64"/>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0" name="Google Shape;4110;p64"/>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111" name="Google Shape;4111;p64"/>
          <p:cNvGrpSpPr/>
          <p:nvPr/>
        </p:nvGrpSpPr>
        <p:grpSpPr>
          <a:xfrm>
            <a:off x="4263817" y="3993604"/>
            <a:ext cx="257175" cy="663575"/>
            <a:chOff x="870" y="2941"/>
            <a:chExt cx="162" cy="418"/>
          </a:xfrm>
        </p:grpSpPr>
        <p:sp>
          <p:nvSpPr>
            <p:cNvPr id="4112" name="Google Shape;4112;p64"/>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3" name="Google Shape;4113;p64"/>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14" name="Google Shape;4114;p64"/>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115" name="Google Shape;4115;p64"/>
          <p:cNvSpPr txBox="1"/>
          <p:nvPr/>
        </p:nvSpPr>
        <p:spPr>
          <a:xfrm>
            <a:off x="794480" y="1297352"/>
            <a:ext cx="10717966"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hierarchical addressing allows efficient advertisement of routing  information:</a:t>
            </a:r>
            <a:endParaRPr/>
          </a:p>
        </p:txBody>
      </p:sp>
      <p:sp>
        <p:nvSpPr>
          <p:cNvPr id="4116" name="Google Shape;4116;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1" name="Shape 4121"/>
        <p:cNvGrpSpPr/>
        <p:nvPr/>
      </p:nvGrpSpPr>
      <p:grpSpPr>
        <a:xfrm>
          <a:off x="0" y="0"/>
          <a:ext cx="0" cy="0"/>
          <a:chOff x="0" y="0"/>
          <a:chExt cx="0" cy="0"/>
        </a:xfrm>
      </p:grpSpPr>
      <p:sp>
        <p:nvSpPr>
          <p:cNvPr id="4122" name="Google Shape;4122;p65"/>
          <p:cNvSpPr txBox="1"/>
          <p:nvPr>
            <p:ph type="title"/>
          </p:nvPr>
        </p:nvSpPr>
        <p:spPr>
          <a:xfrm>
            <a:off x="703287" y="281163"/>
            <a:ext cx="11078981" cy="106795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900"/>
              <a:t>Hierarchical addressing</a:t>
            </a:r>
            <a:r>
              <a:rPr lang="en-US" sz="4800"/>
              <a:t>: more specific routes</a:t>
            </a:r>
            <a:endParaRPr/>
          </a:p>
        </p:txBody>
      </p:sp>
      <p:sp>
        <p:nvSpPr>
          <p:cNvPr id="4123" name="Google Shape;4123;p65"/>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24" name="Google Shape;4124;p65"/>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125" name="Google Shape;4125;p65"/>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126" name="Google Shape;4126;p65"/>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27" name="Google Shape;4127;p65"/>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128" name="Google Shape;4128;p65"/>
          <p:cNvGrpSpPr/>
          <p:nvPr/>
        </p:nvGrpSpPr>
        <p:grpSpPr>
          <a:xfrm>
            <a:off x="1838117" y="2850604"/>
            <a:ext cx="2338388" cy="404812"/>
            <a:chOff x="1004" y="1639"/>
            <a:chExt cx="1473" cy="255"/>
          </a:xfrm>
        </p:grpSpPr>
        <p:sp>
          <p:nvSpPr>
            <p:cNvPr id="4129" name="Google Shape;4129;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0" name="Google Shape;4130;p65"/>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131" name="Google Shape;4131;p65"/>
          <p:cNvGrpSpPr/>
          <p:nvPr/>
        </p:nvGrpSpPr>
        <p:grpSpPr>
          <a:xfrm>
            <a:off x="1780967" y="4860379"/>
            <a:ext cx="2338388" cy="404812"/>
            <a:chOff x="1004" y="1639"/>
            <a:chExt cx="1473" cy="255"/>
          </a:xfrm>
        </p:grpSpPr>
        <p:sp>
          <p:nvSpPr>
            <p:cNvPr id="4132" name="Google Shape;4132;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3" name="Google Shape;4133;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134" name="Google Shape;4134;p65"/>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135" name="Google Shape;4135;p65"/>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36" name="Google Shape;4136;p65"/>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137" name="Google Shape;4137;p65"/>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138" name="Google Shape;4138;p65"/>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grpSp>
        <p:nvGrpSpPr>
          <p:cNvPr id="4139" name="Google Shape;4139;p65"/>
          <p:cNvGrpSpPr/>
          <p:nvPr/>
        </p:nvGrpSpPr>
        <p:grpSpPr>
          <a:xfrm>
            <a:off x="1847642" y="3241129"/>
            <a:ext cx="2844800" cy="788987"/>
            <a:chOff x="1847642" y="3241129"/>
            <a:chExt cx="2844800" cy="788987"/>
          </a:xfrm>
        </p:grpSpPr>
        <p:cxnSp>
          <p:nvCxnSpPr>
            <p:cNvPr id="4140" name="Google Shape;4140;p65"/>
            <p:cNvCxnSpPr/>
            <p:nvPr/>
          </p:nvCxnSpPr>
          <p:spPr>
            <a:xfrm>
              <a:off x="3939967" y="3858666"/>
              <a:ext cx="752475" cy="171450"/>
            </a:xfrm>
            <a:prstGeom prst="straightConnector1">
              <a:avLst/>
            </a:prstGeom>
            <a:noFill/>
            <a:ln cap="flat" cmpd="sng" w="19050">
              <a:solidFill>
                <a:srgbClr val="000000"/>
              </a:solidFill>
              <a:prstDash val="solid"/>
              <a:round/>
              <a:headEnd len="med" w="med" type="none"/>
              <a:tailEnd len="med" w="med" type="none"/>
            </a:ln>
          </p:spPr>
        </p:cxnSp>
        <p:grpSp>
          <p:nvGrpSpPr>
            <p:cNvPr id="4141" name="Google Shape;4141;p65"/>
            <p:cNvGrpSpPr/>
            <p:nvPr/>
          </p:nvGrpSpPr>
          <p:grpSpPr>
            <a:xfrm>
              <a:off x="1866692" y="3441154"/>
              <a:ext cx="2338388" cy="404812"/>
              <a:chOff x="1004" y="1639"/>
              <a:chExt cx="1473" cy="255"/>
            </a:xfrm>
          </p:grpSpPr>
          <p:sp>
            <p:nvSpPr>
              <p:cNvPr id="4142" name="Google Shape;4142;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43" name="Google Shape;4143;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144" name="Google Shape;4144;p65"/>
            <p:cNvSpPr txBox="1"/>
            <p:nvPr/>
          </p:nvSpPr>
          <p:spPr>
            <a:xfrm>
              <a:off x="1847642" y="32411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145" name="Google Shape;4145;p65"/>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46" name="Google Shape;4146;p65"/>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147" name="Google Shape;4147;p65"/>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48" name="Google Shape;4148;p65"/>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49" name="Google Shape;4149;p65"/>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150" name="Google Shape;4150;p65"/>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151" name="Google Shape;4151;p65"/>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152" name="Google Shape;4152;p65"/>
          <p:cNvGrpSpPr/>
          <p:nvPr/>
        </p:nvGrpSpPr>
        <p:grpSpPr>
          <a:xfrm>
            <a:off x="1885742" y="4031704"/>
            <a:ext cx="2338388" cy="404812"/>
            <a:chOff x="1004" y="1639"/>
            <a:chExt cx="1473" cy="255"/>
          </a:xfrm>
        </p:grpSpPr>
        <p:sp>
          <p:nvSpPr>
            <p:cNvPr id="4153" name="Google Shape;4153;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54" name="Google Shape;4154;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155" name="Google Shape;4155;p65"/>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156" name="Google Shape;4156;p65"/>
          <p:cNvGrpSpPr/>
          <p:nvPr/>
        </p:nvGrpSpPr>
        <p:grpSpPr>
          <a:xfrm>
            <a:off x="3235117" y="4288879"/>
            <a:ext cx="257175" cy="663575"/>
            <a:chOff x="870" y="2941"/>
            <a:chExt cx="162" cy="418"/>
          </a:xfrm>
        </p:grpSpPr>
        <p:sp>
          <p:nvSpPr>
            <p:cNvPr id="4157" name="Google Shape;4157;p65"/>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58" name="Google Shape;4158;p65"/>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59" name="Google Shape;4159;p65"/>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160" name="Google Shape;4160;p65"/>
          <p:cNvGrpSpPr/>
          <p:nvPr/>
        </p:nvGrpSpPr>
        <p:grpSpPr>
          <a:xfrm>
            <a:off x="4263817" y="3993604"/>
            <a:ext cx="257175" cy="663575"/>
            <a:chOff x="870" y="2941"/>
            <a:chExt cx="162" cy="418"/>
          </a:xfrm>
        </p:grpSpPr>
        <p:sp>
          <p:nvSpPr>
            <p:cNvPr id="4161" name="Google Shape;4161;p65"/>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62" name="Google Shape;4162;p65"/>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163" name="Google Shape;4163;p65"/>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164" name="Google Shape;4164;p65"/>
          <p:cNvSpPr txBox="1"/>
          <p:nvPr/>
        </p:nvSpPr>
        <p:spPr>
          <a:xfrm>
            <a:off x="741737" y="1253772"/>
            <a:ext cx="11002779" cy="107721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Organization 1 </a:t>
            </a:r>
            <a:r>
              <a:rPr b="0" i="0" lang="en-US" sz="3200" u="none" cap="none" strike="noStrike">
                <a:solidFill>
                  <a:srgbClr val="000000"/>
                </a:solidFill>
                <a:latin typeface="Calibri"/>
                <a:ea typeface="Calibri"/>
                <a:cs typeface="Calibri"/>
                <a:sym typeface="Calibri"/>
              </a:rPr>
              <a:t>moves from Fly-By-Night-ISP to ISPs-R-Us</a:t>
            </a:r>
            <a:endParaRPr/>
          </a:p>
          <a:p>
            <a:pPr indent="-342900" lvl="0" marL="3429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ISPs-R-Us now advertises a more specific route to </a:t>
            </a:r>
            <a:r>
              <a:rPr b="0" i="0" lang="en-US" sz="2800" u="none" cap="none" strike="noStrike">
                <a:solidFill>
                  <a:srgbClr val="000000"/>
                </a:solidFill>
                <a:latin typeface="Calibri"/>
                <a:ea typeface="Calibri"/>
                <a:cs typeface="Calibri"/>
                <a:sym typeface="Calibri"/>
              </a:rPr>
              <a:t>Organization 1</a:t>
            </a:r>
            <a:endParaRPr b="0" i="0" sz="3200" u="none" cap="none" strike="noStrike">
              <a:solidFill>
                <a:srgbClr val="000000"/>
              </a:solidFill>
              <a:latin typeface="Calibri"/>
              <a:ea typeface="Calibri"/>
              <a:cs typeface="Calibri"/>
              <a:sym typeface="Calibri"/>
            </a:endParaRPr>
          </a:p>
        </p:txBody>
      </p:sp>
      <p:cxnSp>
        <p:nvCxnSpPr>
          <p:cNvPr id="4165" name="Google Shape;4165;p65"/>
          <p:cNvCxnSpPr/>
          <p:nvPr/>
        </p:nvCxnSpPr>
        <p:spPr>
          <a:xfrm flipH="1" rot="10800000">
            <a:off x="4303322" y="5787297"/>
            <a:ext cx="333375" cy="247650"/>
          </a:xfrm>
          <a:prstGeom prst="straightConnector1">
            <a:avLst/>
          </a:prstGeom>
          <a:noFill/>
          <a:ln cap="flat" cmpd="sng" w="19050">
            <a:solidFill>
              <a:schemeClr val="dk1"/>
            </a:solidFill>
            <a:prstDash val="solid"/>
            <a:round/>
            <a:headEnd len="med" w="med" type="none"/>
            <a:tailEnd len="med" w="med" type="none"/>
          </a:ln>
        </p:spPr>
      </p:cxnSp>
      <p:grpSp>
        <p:nvGrpSpPr>
          <p:cNvPr id="4166" name="Google Shape;4166;p65"/>
          <p:cNvGrpSpPr/>
          <p:nvPr/>
        </p:nvGrpSpPr>
        <p:grpSpPr>
          <a:xfrm>
            <a:off x="2073587" y="5735794"/>
            <a:ext cx="2342448" cy="619828"/>
            <a:chOff x="2073587" y="5735794"/>
            <a:chExt cx="2342448" cy="619828"/>
          </a:xfrm>
        </p:grpSpPr>
        <p:grpSp>
          <p:nvGrpSpPr>
            <p:cNvPr id="4167" name="Google Shape;4167;p65"/>
            <p:cNvGrpSpPr/>
            <p:nvPr/>
          </p:nvGrpSpPr>
          <p:grpSpPr>
            <a:xfrm>
              <a:off x="2077647" y="5950810"/>
              <a:ext cx="2338388" cy="404812"/>
              <a:chOff x="1004" y="1639"/>
              <a:chExt cx="1473" cy="255"/>
            </a:xfrm>
          </p:grpSpPr>
          <p:sp>
            <p:nvSpPr>
              <p:cNvPr id="4168" name="Google Shape;4168;p65"/>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169" name="Google Shape;4169;p65"/>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170" name="Google Shape;4170;p65"/>
            <p:cNvSpPr txBox="1"/>
            <p:nvPr/>
          </p:nvSpPr>
          <p:spPr>
            <a:xfrm>
              <a:off x="2073587" y="573579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171" name="Google Shape;4171;p65"/>
          <p:cNvSpPr txBox="1"/>
          <p:nvPr/>
        </p:nvSpPr>
        <p:spPr>
          <a:xfrm>
            <a:off x="6580161" y="6089469"/>
            <a:ext cx="1739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 </a:t>
            </a:r>
            <a:r>
              <a:rPr b="0" i="0" lang="en-US" sz="1400" u="sng" cap="none" strike="noStrike">
                <a:solidFill>
                  <a:srgbClr val="CC0000"/>
                </a:solidFill>
                <a:latin typeface="Arial"/>
                <a:ea typeface="Arial"/>
                <a:cs typeface="Arial"/>
                <a:sym typeface="Arial"/>
              </a:rPr>
              <a:t>200.23.18.0/23</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72" name="Google Shape;4172;p6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139"/>
                                        </p:tgtEl>
                                      </p:cBhvr>
                                    </p:animEffect>
                                    <p:set>
                                      <p:cBhvr>
                                        <p:cTn dur="1" fill="hold">
                                          <p:stCondLst>
                                            <p:cond delay="500"/>
                                          </p:stCondLst>
                                        </p:cTn>
                                        <p:tgtEl>
                                          <p:spTgt spid="41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6"/>
                                        </p:tgtEl>
                                        <p:attrNameLst>
                                          <p:attrName>style.visibility</p:attrName>
                                        </p:attrNameLst>
                                      </p:cBhvr>
                                      <p:to>
                                        <p:strVal val="visible"/>
                                      </p:to>
                                    </p:set>
                                    <p:animEffect filter="fade" transition="in">
                                      <p:cBhvr>
                                        <p:cTn dur="500"/>
                                        <p:tgtEl>
                                          <p:spTgt spid="4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1"/>
                                        </p:tgtEl>
                                        <p:attrNameLst>
                                          <p:attrName>style.visibility</p:attrName>
                                        </p:attrNameLst>
                                      </p:cBhvr>
                                      <p:to>
                                        <p:strVal val="visible"/>
                                      </p:to>
                                    </p:set>
                                    <p:animEffect filter="fade" transition="in">
                                      <p:cBhvr>
                                        <p:cTn dur="500"/>
                                        <p:tgtEl>
                                          <p:spTgt spid="4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7" name="Shape 4177"/>
        <p:cNvGrpSpPr/>
        <p:nvPr/>
      </p:nvGrpSpPr>
      <p:grpSpPr>
        <a:xfrm>
          <a:off x="0" y="0"/>
          <a:ext cx="0" cy="0"/>
          <a:chOff x="0" y="0"/>
          <a:chExt cx="0" cy="0"/>
        </a:xfrm>
      </p:grpSpPr>
      <p:sp>
        <p:nvSpPr>
          <p:cNvPr id="4178" name="Google Shape;4178;p66"/>
          <p:cNvSpPr txBox="1"/>
          <p:nvPr>
            <p:ph type="title"/>
          </p:nvPr>
        </p:nvSpPr>
        <p:spPr>
          <a:xfrm>
            <a:off x="703287" y="281163"/>
            <a:ext cx="11078981" cy="106795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900"/>
              <a:t>Hierarchical addressing</a:t>
            </a:r>
            <a:r>
              <a:rPr lang="en-US" sz="4800"/>
              <a:t>: more specific routes</a:t>
            </a:r>
            <a:endParaRPr/>
          </a:p>
        </p:txBody>
      </p:sp>
      <p:sp>
        <p:nvSpPr>
          <p:cNvPr id="4179" name="Google Shape;4179;p66"/>
          <p:cNvSpPr/>
          <p:nvPr/>
        </p:nvSpPr>
        <p:spPr>
          <a:xfrm>
            <a:off x="6254542" y="421109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80" name="Google Shape;4180;p66"/>
          <p:cNvCxnSpPr/>
          <p:nvPr/>
        </p:nvCxnSpPr>
        <p:spPr>
          <a:xfrm flipH="1" rot="10800000">
            <a:off x="3911392" y="4487316"/>
            <a:ext cx="895350" cy="457200"/>
          </a:xfrm>
          <a:prstGeom prst="straightConnector1">
            <a:avLst/>
          </a:prstGeom>
          <a:noFill/>
          <a:ln cap="flat" cmpd="sng" w="19050">
            <a:solidFill>
              <a:srgbClr val="000000"/>
            </a:solidFill>
            <a:prstDash val="solid"/>
            <a:round/>
            <a:headEnd len="med" w="med" type="none"/>
            <a:tailEnd len="med" w="med" type="none"/>
          </a:ln>
        </p:spPr>
      </p:cxnSp>
      <p:cxnSp>
        <p:nvCxnSpPr>
          <p:cNvPr id="4181" name="Google Shape;4181;p66"/>
          <p:cNvCxnSpPr/>
          <p:nvPr/>
        </p:nvCxnSpPr>
        <p:spPr>
          <a:xfrm>
            <a:off x="4006642" y="3077616"/>
            <a:ext cx="847725" cy="762000"/>
          </a:xfrm>
          <a:prstGeom prst="straightConnector1">
            <a:avLst/>
          </a:prstGeom>
          <a:noFill/>
          <a:ln cap="flat" cmpd="sng" w="19050">
            <a:solidFill>
              <a:srgbClr val="000000"/>
            </a:solidFill>
            <a:prstDash val="solid"/>
            <a:round/>
            <a:headEnd len="med" w="med" type="none"/>
            <a:tailEnd len="med" w="med" type="none"/>
          </a:ln>
        </p:spPr>
      </p:cxnSp>
      <p:sp>
        <p:nvSpPr>
          <p:cNvPr id="4182" name="Google Shape;4182;p66"/>
          <p:cNvSpPr/>
          <p:nvPr/>
        </p:nvSpPr>
        <p:spPr>
          <a:xfrm>
            <a:off x="4652755" y="365705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3" name="Google Shape;4183;p66"/>
          <p:cNvSpPr txBox="1"/>
          <p:nvPr/>
        </p:nvSpPr>
        <p:spPr>
          <a:xfrm>
            <a:off x="6486317" y="3384004"/>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200.23.16.0/20”</a:t>
            </a:r>
            <a:endParaRPr b="0" i="0" sz="1400" u="none" cap="none" strike="noStrike">
              <a:solidFill>
                <a:srgbClr val="000000"/>
              </a:solidFill>
              <a:latin typeface="Arial"/>
              <a:ea typeface="Arial"/>
              <a:cs typeface="Arial"/>
              <a:sym typeface="Arial"/>
            </a:endParaRPr>
          </a:p>
        </p:txBody>
      </p:sp>
      <p:grpSp>
        <p:nvGrpSpPr>
          <p:cNvPr id="4184" name="Google Shape;4184;p66"/>
          <p:cNvGrpSpPr/>
          <p:nvPr/>
        </p:nvGrpSpPr>
        <p:grpSpPr>
          <a:xfrm>
            <a:off x="1838117" y="2850604"/>
            <a:ext cx="2338388" cy="404812"/>
            <a:chOff x="1004" y="1639"/>
            <a:chExt cx="1473" cy="255"/>
          </a:xfrm>
        </p:grpSpPr>
        <p:sp>
          <p:nvSpPr>
            <p:cNvPr id="4185" name="Google Shape;4185;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6" name="Google Shape;4186;p66"/>
            <p:cNvSpPr txBox="1"/>
            <p:nvPr/>
          </p:nvSpPr>
          <p:spPr>
            <a:xfrm>
              <a:off x="1226" y="1664"/>
              <a:ext cx="9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200.23.16.0/23</a:t>
              </a:r>
              <a:endParaRPr b="0" i="0" sz="1800" u="none" cap="none" strike="noStrike">
                <a:solidFill>
                  <a:srgbClr val="000000"/>
                </a:solidFill>
                <a:latin typeface="Arial"/>
                <a:ea typeface="Arial"/>
                <a:cs typeface="Arial"/>
                <a:sym typeface="Arial"/>
              </a:endParaRPr>
            </a:p>
          </p:txBody>
        </p:sp>
      </p:grpSp>
      <p:grpSp>
        <p:nvGrpSpPr>
          <p:cNvPr id="4187" name="Google Shape;4187;p66"/>
          <p:cNvGrpSpPr/>
          <p:nvPr/>
        </p:nvGrpSpPr>
        <p:grpSpPr>
          <a:xfrm>
            <a:off x="1780967" y="4860379"/>
            <a:ext cx="2338388" cy="404812"/>
            <a:chOff x="1004" y="1639"/>
            <a:chExt cx="1473" cy="255"/>
          </a:xfrm>
        </p:grpSpPr>
        <p:sp>
          <p:nvSpPr>
            <p:cNvPr id="4188" name="Google Shape;4188;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89" name="Google Shape;4189;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200.23.30.0/23</a:t>
              </a:r>
              <a:endParaRPr b="0" i="0" sz="1800" u="none" cap="none" strike="noStrike">
                <a:solidFill>
                  <a:srgbClr val="000000"/>
                </a:solidFill>
                <a:latin typeface="Arial"/>
                <a:ea typeface="Arial"/>
                <a:cs typeface="Arial"/>
                <a:sym typeface="Arial"/>
              </a:endParaRPr>
            </a:p>
          </p:txBody>
        </p:sp>
      </p:grpSp>
      <p:sp>
        <p:nvSpPr>
          <p:cNvPr id="4190" name="Google Shape;4190;p66"/>
          <p:cNvSpPr txBox="1"/>
          <p:nvPr/>
        </p:nvSpPr>
        <p:spPr>
          <a:xfrm>
            <a:off x="4686092" y="4088854"/>
            <a:ext cx="15065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Fly-By-Night-ISP</a:t>
            </a:r>
            <a:endParaRPr b="0" i="0" sz="1800" u="none" cap="none" strike="noStrike">
              <a:solidFill>
                <a:srgbClr val="000000"/>
              </a:solidFill>
              <a:latin typeface="Arial"/>
              <a:ea typeface="Arial"/>
              <a:cs typeface="Arial"/>
              <a:sym typeface="Arial"/>
            </a:endParaRPr>
          </a:p>
        </p:txBody>
      </p:sp>
      <p:sp>
        <p:nvSpPr>
          <p:cNvPr id="4191" name="Google Shape;4191;p66"/>
          <p:cNvSpPr/>
          <p:nvPr/>
        </p:nvSpPr>
        <p:spPr>
          <a:xfrm>
            <a:off x="8248442" y="3185566"/>
            <a:ext cx="1444625" cy="2714625"/>
          </a:xfrm>
          <a:custGeom>
            <a:rect b="b" l="l" r="r" t="t"/>
            <a:pathLst>
              <a:path extrusionOk="0" h="1710" w="910">
                <a:moveTo>
                  <a:pt x="766" y="38"/>
                </a:moveTo>
                <a:cubicBezTo>
                  <a:pt x="714" y="0"/>
                  <a:pt x="520" y="186"/>
                  <a:pt x="411" y="282"/>
                </a:cubicBezTo>
                <a:cubicBezTo>
                  <a:pt x="302" y="378"/>
                  <a:pt x="180" y="490"/>
                  <a:pt x="115" y="611"/>
                </a:cubicBezTo>
                <a:cubicBezTo>
                  <a:pt x="49" y="732"/>
                  <a:pt x="0" y="907"/>
                  <a:pt x="14" y="1008"/>
                </a:cubicBezTo>
                <a:cubicBezTo>
                  <a:pt x="28" y="1108"/>
                  <a:pt x="127" y="1139"/>
                  <a:pt x="198" y="1214"/>
                </a:cubicBezTo>
                <a:cubicBezTo>
                  <a:pt x="269" y="1288"/>
                  <a:pt x="328" y="1380"/>
                  <a:pt x="435" y="1456"/>
                </a:cubicBezTo>
                <a:cubicBezTo>
                  <a:pt x="542" y="1533"/>
                  <a:pt x="768" y="1710"/>
                  <a:pt x="839" y="1674"/>
                </a:cubicBezTo>
                <a:cubicBezTo>
                  <a:pt x="910" y="1638"/>
                  <a:pt x="863" y="1328"/>
                  <a:pt x="863" y="1239"/>
                </a:cubicBezTo>
                <a:cubicBezTo>
                  <a:pt x="863" y="1150"/>
                  <a:pt x="868" y="1189"/>
                  <a:pt x="839" y="1139"/>
                </a:cubicBezTo>
                <a:cubicBezTo>
                  <a:pt x="809" y="1090"/>
                  <a:pt x="703" y="1045"/>
                  <a:pt x="684" y="940"/>
                </a:cubicBezTo>
                <a:cubicBezTo>
                  <a:pt x="665" y="835"/>
                  <a:pt x="710" y="659"/>
                  <a:pt x="724" y="509"/>
                </a:cubicBezTo>
                <a:cubicBezTo>
                  <a:pt x="738" y="359"/>
                  <a:pt x="818" y="76"/>
                  <a:pt x="766" y="38"/>
                </a:cubicBezTo>
                <a:close/>
              </a:path>
            </a:pathLst>
          </a:custGeom>
          <a:gradFill>
            <a:gsLst>
              <a:gs pos="0">
                <a:srgbClr val="66CCFF"/>
              </a:gs>
              <a:gs pos="100000">
                <a:srgbClr val="FFFF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92" name="Google Shape;4192;p66"/>
          <p:cNvSpPr txBox="1"/>
          <p:nvPr/>
        </p:nvSpPr>
        <p:spPr>
          <a:xfrm>
            <a:off x="1838117" y="259342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0</a:t>
            </a:r>
            <a:endParaRPr/>
          </a:p>
        </p:txBody>
      </p:sp>
      <p:sp>
        <p:nvSpPr>
          <p:cNvPr id="4193" name="Google Shape;4193;p66"/>
          <p:cNvSpPr txBox="1"/>
          <p:nvPr/>
        </p:nvSpPr>
        <p:spPr>
          <a:xfrm>
            <a:off x="1866692" y="460320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7</a:t>
            </a:r>
            <a:endParaRPr/>
          </a:p>
        </p:txBody>
      </p:sp>
      <p:sp>
        <p:nvSpPr>
          <p:cNvPr id="4194" name="Google Shape;4194;p66"/>
          <p:cNvSpPr txBox="1"/>
          <p:nvPr/>
        </p:nvSpPr>
        <p:spPr>
          <a:xfrm>
            <a:off x="8486567" y="4412704"/>
            <a:ext cx="78422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Internet</a:t>
            </a:r>
            <a:endParaRPr/>
          </a:p>
        </p:txBody>
      </p:sp>
      <p:sp>
        <p:nvSpPr>
          <p:cNvPr id="4195" name="Google Shape;4195;p66"/>
          <p:cNvSpPr/>
          <p:nvPr/>
        </p:nvSpPr>
        <p:spPr>
          <a:xfrm>
            <a:off x="4595605" y="4971504"/>
            <a:ext cx="1773237" cy="979487"/>
          </a:xfrm>
          <a:custGeom>
            <a:rect b="b" l="l" r="r" t="t"/>
            <a:pathLst>
              <a:path extrusionOk="0" h="617" w="1117">
                <a:moveTo>
                  <a:pt x="439" y="97"/>
                </a:moveTo>
                <a:cubicBezTo>
                  <a:pt x="358" y="85"/>
                  <a:pt x="269" y="23"/>
                  <a:pt x="205" y="19"/>
                </a:cubicBezTo>
                <a:cubicBezTo>
                  <a:pt x="141" y="15"/>
                  <a:pt x="89" y="0"/>
                  <a:pt x="55" y="73"/>
                </a:cubicBezTo>
                <a:cubicBezTo>
                  <a:pt x="21" y="146"/>
                  <a:pt x="0" y="371"/>
                  <a:pt x="4" y="456"/>
                </a:cubicBezTo>
                <a:cubicBezTo>
                  <a:pt x="8" y="541"/>
                  <a:pt x="3" y="560"/>
                  <a:pt x="77" y="582"/>
                </a:cubicBezTo>
                <a:cubicBezTo>
                  <a:pt x="152" y="604"/>
                  <a:pt x="350" y="582"/>
                  <a:pt x="451" y="587"/>
                </a:cubicBezTo>
                <a:cubicBezTo>
                  <a:pt x="552" y="592"/>
                  <a:pt x="606" y="617"/>
                  <a:pt x="685" y="613"/>
                </a:cubicBezTo>
                <a:cubicBezTo>
                  <a:pt x="764" y="609"/>
                  <a:pt x="856" y="612"/>
                  <a:pt x="925" y="565"/>
                </a:cubicBezTo>
                <a:cubicBezTo>
                  <a:pt x="994" y="518"/>
                  <a:pt x="1081" y="401"/>
                  <a:pt x="1099" y="330"/>
                </a:cubicBezTo>
                <a:cubicBezTo>
                  <a:pt x="1117" y="259"/>
                  <a:pt x="1104" y="178"/>
                  <a:pt x="1036" y="138"/>
                </a:cubicBezTo>
                <a:cubicBezTo>
                  <a:pt x="968" y="98"/>
                  <a:pt x="790" y="98"/>
                  <a:pt x="691" y="91"/>
                </a:cubicBezTo>
                <a:cubicBezTo>
                  <a:pt x="592" y="84"/>
                  <a:pt x="520" y="109"/>
                  <a:pt x="439" y="9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196" name="Google Shape;4196;p66"/>
          <p:cNvSpPr txBox="1"/>
          <p:nvPr/>
        </p:nvSpPr>
        <p:spPr>
          <a:xfrm>
            <a:off x="4895642" y="5346154"/>
            <a:ext cx="1023938"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ISPs-R-Us</a:t>
            </a:r>
            <a:endParaRPr b="0" i="0" sz="1800" u="none" cap="none" strike="noStrike">
              <a:solidFill>
                <a:srgbClr val="000000"/>
              </a:solidFill>
              <a:latin typeface="Arial"/>
              <a:ea typeface="Arial"/>
              <a:cs typeface="Arial"/>
              <a:sym typeface="Arial"/>
            </a:endParaRPr>
          </a:p>
        </p:txBody>
      </p:sp>
      <p:sp>
        <p:nvSpPr>
          <p:cNvPr id="4197" name="Google Shape;4197;p66"/>
          <p:cNvSpPr/>
          <p:nvPr/>
        </p:nvSpPr>
        <p:spPr>
          <a:xfrm flipH="1" rot="10800000">
            <a:off x="6321217" y="4992141"/>
            <a:ext cx="2019300" cy="295275"/>
          </a:xfrm>
          <a:custGeom>
            <a:rect b="b" l="l" r="r" t="t"/>
            <a:pathLst>
              <a:path extrusionOk="0" h="186" w="1272">
                <a:moveTo>
                  <a:pt x="0" y="0"/>
                </a:moveTo>
                <a:lnTo>
                  <a:pt x="1272" y="186"/>
                </a:lnTo>
              </a:path>
            </a:pathLst>
          </a:custGeom>
          <a:noFill/>
          <a:ln cap="flat" cmpd="sng" w="19050">
            <a:solidFill>
              <a:srgbClr val="000000"/>
            </a:solidFill>
            <a:prstDash val="solid"/>
            <a:round/>
            <a:headEnd len="sm" w="sm" type="none"/>
            <a:tailEnd len="med" w="med" type="stealth"/>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4198" name="Google Shape;4198;p66"/>
          <p:cNvCxnSpPr/>
          <p:nvPr/>
        </p:nvCxnSpPr>
        <p:spPr>
          <a:xfrm>
            <a:off x="4111417" y="5535066"/>
            <a:ext cx="485775" cy="0"/>
          </a:xfrm>
          <a:prstGeom prst="straightConnector1">
            <a:avLst/>
          </a:prstGeom>
          <a:noFill/>
          <a:ln cap="flat" cmpd="sng" w="19050">
            <a:solidFill>
              <a:srgbClr val="000000"/>
            </a:solidFill>
            <a:prstDash val="solid"/>
            <a:round/>
            <a:headEnd len="med" w="med" type="none"/>
            <a:tailEnd len="med" w="med" type="none"/>
          </a:ln>
        </p:spPr>
      </p:cxnSp>
      <p:cxnSp>
        <p:nvCxnSpPr>
          <p:cNvPr id="4199" name="Google Shape;4199;p66"/>
          <p:cNvCxnSpPr/>
          <p:nvPr/>
        </p:nvCxnSpPr>
        <p:spPr>
          <a:xfrm flipH="1" rot="10800000">
            <a:off x="3959017" y="5601741"/>
            <a:ext cx="638175" cy="171450"/>
          </a:xfrm>
          <a:prstGeom prst="straightConnector1">
            <a:avLst/>
          </a:prstGeom>
          <a:noFill/>
          <a:ln cap="flat" cmpd="sng" w="19050">
            <a:solidFill>
              <a:srgbClr val="000000"/>
            </a:solidFill>
            <a:prstDash val="solid"/>
            <a:round/>
            <a:headEnd len="med" w="med" type="none"/>
            <a:tailEnd len="med" w="med" type="none"/>
          </a:ln>
        </p:spPr>
      </p:cxnSp>
      <p:cxnSp>
        <p:nvCxnSpPr>
          <p:cNvPr id="4200" name="Google Shape;4200;p66"/>
          <p:cNvCxnSpPr/>
          <p:nvPr/>
        </p:nvCxnSpPr>
        <p:spPr>
          <a:xfrm flipH="1" rot="10800000">
            <a:off x="4397167" y="5849391"/>
            <a:ext cx="247650" cy="409575"/>
          </a:xfrm>
          <a:prstGeom prst="straightConnector1">
            <a:avLst/>
          </a:prstGeom>
          <a:noFill/>
          <a:ln cap="flat" cmpd="sng" w="19050">
            <a:solidFill>
              <a:srgbClr val="000000"/>
            </a:solidFill>
            <a:prstDash val="solid"/>
            <a:round/>
            <a:headEnd len="med" w="med" type="none"/>
            <a:tailEnd len="med" w="med" type="none"/>
          </a:ln>
        </p:spPr>
      </p:cxnSp>
      <p:sp>
        <p:nvSpPr>
          <p:cNvPr id="4201" name="Google Shape;4201;p66"/>
          <p:cNvSpPr txBox="1"/>
          <p:nvPr/>
        </p:nvSpPr>
        <p:spPr>
          <a:xfrm>
            <a:off x="6610142" y="5241379"/>
            <a:ext cx="1671638" cy="942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“Send me anything</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addresses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beginning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199.31.0.0/16”</a:t>
            </a:r>
            <a:endParaRPr b="0" i="0" sz="1400" u="none" cap="none" strike="noStrike">
              <a:solidFill>
                <a:srgbClr val="000000"/>
              </a:solidFill>
              <a:latin typeface="Arial"/>
              <a:ea typeface="Arial"/>
              <a:cs typeface="Arial"/>
              <a:sym typeface="Arial"/>
            </a:endParaRPr>
          </a:p>
        </p:txBody>
      </p:sp>
      <p:grpSp>
        <p:nvGrpSpPr>
          <p:cNvPr id="4202" name="Google Shape;4202;p66"/>
          <p:cNvGrpSpPr/>
          <p:nvPr/>
        </p:nvGrpSpPr>
        <p:grpSpPr>
          <a:xfrm>
            <a:off x="1885742" y="4031704"/>
            <a:ext cx="2338388" cy="404812"/>
            <a:chOff x="1004" y="1639"/>
            <a:chExt cx="1473" cy="255"/>
          </a:xfrm>
        </p:grpSpPr>
        <p:sp>
          <p:nvSpPr>
            <p:cNvPr id="4203" name="Google Shape;4203;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04" name="Google Shape;4204;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200.23.20.0/23</a:t>
              </a:r>
              <a:endParaRPr b="0" i="0" sz="1800" u="none" cap="none" strike="noStrike">
                <a:solidFill>
                  <a:srgbClr val="000000"/>
                </a:solidFill>
                <a:latin typeface="Arial"/>
                <a:ea typeface="Arial"/>
                <a:cs typeface="Arial"/>
                <a:sym typeface="Arial"/>
              </a:endParaRPr>
            </a:p>
          </p:txBody>
        </p:sp>
      </p:grpSp>
      <p:sp>
        <p:nvSpPr>
          <p:cNvPr id="4205" name="Google Shape;4205;p66"/>
          <p:cNvSpPr txBox="1"/>
          <p:nvPr/>
        </p:nvSpPr>
        <p:spPr>
          <a:xfrm>
            <a:off x="1866692" y="3831679"/>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2</a:t>
            </a:r>
            <a:endParaRPr/>
          </a:p>
        </p:txBody>
      </p:sp>
      <p:grpSp>
        <p:nvGrpSpPr>
          <p:cNvPr id="4206" name="Google Shape;4206;p66"/>
          <p:cNvGrpSpPr/>
          <p:nvPr/>
        </p:nvGrpSpPr>
        <p:grpSpPr>
          <a:xfrm>
            <a:off x="3235117" y="4288879"/>
            <a:ext cx="257175" cy="663575"/>
            <a:chOff x="870" y="2941"/>
            <a:chExt cx="162" cy="418"/>
          </a:xfrm>
        </p:grpSpPr>
        <p:sp>
          <p:nvSpPr>
            <p:cNvPr id="4207" name="Google Shape;4207;p66"/>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08" name="Google Shape;4208;p66"/>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09" name="Google Shape;4209;p66"/>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grpSp>
        <p:nvGrpSpPr>
          <p:cNvPr id="4210" name="Google Shape;4210;p66"/>
          <p:cNvGrpSpPr/>
          <p:nvPr/>
        </p:nvGrpSpPr>
        <p:grpSpPr>
          <a:xfrm>
            <a:off x="4263817" y="3993604"/>
            <a:ext cx="257175" cy="663575"/>
            <a:chOff x="870" y="2941"/>
            <a:chExt cx="162" cy="418"/>
          </a:xfrm>
        </p:grpSpPr>
        <p:sp>
          <p:nvSpPr>
            <p:cNvPr id="4211" name="Google Shape;4211;p66"/>
            <p:cNvSpPr txBox="1"/>
            <p:nvPr/>
          </p:nvSpPr>
          <p:spPr>
            <a:xfrm>
              <a:off x="872" y="2941"/>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12" name="Google Shape;4212;p66"/>
            <p:cNvSpPr txBox="1"/>
            <p:nvPr/>
          </p:nvSpPr>
          <p:spPr>
            <a:xfrm>
              <a:off x="870" y="3026"/>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sp>
          <p:nvSpPr>
            <p:cNvPr id="4213" name="Google Shape;4213;p66"/>
            <p:cNvSpPr txBox="1"/>
            <p:nvPr/>
          </p:nvSpPr>
          <p:spPr>
            <a:xfrm>
              <a:off x="871" y="3109"/>
              <a:ext cx="160"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grpSp>
      <p:sp>
        <p:nvSpPr>
          <p:cNvPr id="4214" name="Google Shape;4214;p66"/>
          <p:cNvSpPr txBox="1"/>
          <p:nvPr/>
        </p:nvSpPr>
        <p:spPr>
          <a:xfrm>
            <a:off x="741737" y="1253772"/>
            <a:ext cx="11002779" cy="107721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Organization 1 </a:t>
            </a:r>
            <a:r>
              <a:rPr b="0" i="0" lang="en-US" sz="3200" u="none" cap="none" strike="noStrike">
                <a:solidFill>
                  <a:srgbClr val="000000"/>
                </a:solidFill>
                <a:latin typeface="Calibri"/>
                <a:ea typeface="Calibri"/>
                <a:cs typeface="Calibri"/>
                <a:sym typeface="Calibri"/>
              </a:rPr>
              <a:t>moves from Fly-By-Night-ISP to ISPs-R-Us</a:t>
            </a:r>
            <a:endParaRPr/>
          </a:p>
          <a:p>
            <a:pPr indent="-342900" lvl="0" marL="3429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ISPs-R-Us now advertises a more specific route to </a:t>
            </a:r>
            <a:r>
              <a:rPr b="0" i="0" lang="en-US" sz="2800" u="none" cap="none" strike="noStrike">
                <a:solidFill>
                  <a:srgbClr val="000000"/>
                </a:solidFill>
                <a:latin typeface="Calibri"/>
                <a:ea typeface="Calibri"/>
                <a:cs typeface="Calibri"/>
                <a:sym typeface="Calibri"/>
              </a:rPr>
              <a:t>Organization 1</a:t>
            </a:r>
            <a:endParaRPr b="0" i="0" sz="3200" u="none" cap="none" strike="noStrike">
              <a:solidFill>
                <a:srgbClr val="000000"/>
              </a:solidFill>
              <a:latin typeface="Calibri"/>
              <a:ea typeface="Calibri"/>
              <a:cs typeface="Calibri"/>
              <a:sym typeface="Calibri"/>
            </a:endParaRPr>
          </a:p>
        </p:txBody>
      </p:sp>
      <p:cxnSp>
        <p:nvCxnSpPr>
          <p:cNvPr id="4215" name="Google Shape;4215;p66"/>
          <p:cNvCxnSpPr/>
          <p:nvPr/>
        </p:nvCxnSpPr>
        <p:spPr>
          <a:xfrm flipH="1" rot="10800000">
            <a:off x="4303322" y="5787297"/>
            <a:ext cx="333375" cy="247650"/>
          </a:xfrm>
          <a:prstGeom prst="straightConnector1">
            <a:avLst/>
          </a:prstGeom>
          <a:noFill/>
          <a:ln cap="flat" cmpd="sng" w="19050">
            <a:solidFill>
              <a:schemeClr val="dk1"/>
            </a:solidFill>
            <a:prstDash val="solid"/>
            <a:round/>
            <a:headEnd len="med" w="med" type="none"/>
            <a:tailEnd len="med" w="med" type="none"/>
          </a:ln>
        </p:spPr>
      </p:cxnSp>
      <p:grpSp>
        <p:nvGrpSpPr>
          <p:cNvPr id="4216" name="Google Shape;4216;p66"/>
          <p:cNvGrpSpPr/>
          <p:nvPr/>
        </p:nvGrpSpPr>
        <p:grpSpPr>
          <a:xfrm>
            <a:off x="2073587" y="5735794"/>
            <a:ext cx="2342448" cy="619828"/>
            <a:chOff x="2073587" y="5735794"/>
            <a:chExt cx="2342448" cy="619828"/>
          </a:xfrm>
        </p:grpSpPr>
        <p:grpSp>
          <p:nvGrpSpPr>
            <p:cNvPr id="4217" name="Google Shape;4217;p66"/>
            <p:cNvGrpSpPr/>
            <p:nvPr/>
          </p:nvGrpSpPr>
          <p:grpSpPr>
            <a:xfrm>
              <a:off x="2077647" y="5950810"/>
              <a:ext cx="2338388" cy="404812"/>
              <a:chOff x="1004" y="1639"/>
              <a:chExt cx="1473" cy="255"/>
            </a:xfrm>
          </p:grpSpPr>
          <p:sp>
            <p:nvSpPr>
              <p:cNvPr id="4218" name="Google Shape;4218;p66"/>
              <p:cNvSpPr/>
              <p:nvPr/>
            </p:nvSpPr>
            <p:spPr>
              <a:xfrm>
                <a:off x="1004" y="1639"/>
                <a:ext cx="1473" cy="255"/>
              </a:xfrm>
              <a:custGeom>
                <a:rect b="b" l="l" r="r" t="t"/>
                <a:pathLst>
                  <a:path extrusionOk="0" h="255" w="1473">
                    <a:moveTo>
                      <a:pt x="172" y="11"/>
                    </a:moveTo>
                    <a:cubicBezTo>
                      <a:pt x="0" y="64"/>
                      <a:pt x="77" y="59"/>
                      <a:pt x="73" y="94"/>
                    </a:cubicBezTo>
                    <a:cubicBezTo>
                      <a:pt x="69" y="129"/>
                      <a:pt x="72" y="198"/>
                      <a:pt x="146" y="220"/>
                    </a:cubicBezTo>
                    <a:cubicBezTo>
                      <a:pt x="221" y="242"/>
                      <a:pt x="419" y="220"/>
                      <a:pt x="520" y="225"/>
                    </a:cubicBezTo>
                    <a:cubicBezTo>
                      <a:pt x="621" y="230"/>
                      <a:pt x="623" y="255"/>
                      <a:pt x="754" y="251"/>
                    </a:cubicBezTo>
                    <a:cubicBezTo>
                      <a:pt x="885" y="247"/>
                      <a:pt x="1205" y="240"/>
                      <a:pt x="1306" y="203"/>
                    </a:cubicBezTo>
                    <a:cubicBezTo>
                      <a:pt x="1407" y="166"/>
                      <a:pt x="1473" y="58"/>
                      <a:pt x="1360" y="29"/>
                    </a:cubicBezTo>
                    <a:cubicBezTo>
                      <a:pt x="1247" y="0"/>
                      <a:pt x="826" y="32"/>
                      <a:pt x="628" y="29"/>
                    </a:cubicBezTo>
                    <a:cubicBezTo>
                      <a:pt x="430" y="26"/>
                      <a:pt x="267" y="15"/>
                      <a:pt x="172" y="1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219" name="Google Shape;4219;p66"/>
              <p:cNvSpPr txBox="1"/>
              <p:nvPr/>
            </p:nvSpPr>
            <p:spPr>
              <a:xfrm>
                <a:off x="1226" y="1664"/>
                <a:ext cx="970" cy="212"/>
              </a:xfrm>
              <a:prstGeom prst="rect">
                <a:avLst/>
              </a:prstGeom>
              <a:solidFill>
                <a:srgbClr val="9CE0F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200.23.18.0/23</a:t>
                </a:r>
                <a:endParaRPr b="0" i="0" sz="1800" u="none" cap="none" strike="noStrike">
                  <a:solidFill>
                    <a:srgbClr val="000000"/>
                  </a:solidFill>
                  <a:latin typeface="Arial"/>
                  <a:ea typeface="Arial"/>
                  <a:cs typeface="Arial"/>
                  <a:sym typeface="Arial"/>
                </a:endParaRPr>
              </a:p>
            </p:txBody>
          </p:sp>
        </p:grpSp>
        <p:sp>
          <p:nvSpPr>
            <p:cNvPr id="4220" name="Google Shape;4220;p66"/>
            <p:cNvSpPr txBox="1"/>
            <p:nvPr/>
          </p:nvSpPr>
          <p:spPr>
            <a:xfrm>
              <a:off x="2073587" y="5735794"/>
              <a:ext cx="1336675"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Organization 1</a:t>
              </a:r>
              <a:endParaRPr/>
            </a:p>
          </p:txBody>
        </p:sp>
      </p:grpSp>
      <p:sp>
        <p:nvSpPr>
          <p:cNvPr id="4221" name="Google Shape;4221;p66"/>
          <p:cNvSpPr txBox="1"/>
          <p:nvPr/>
        </p:nvSpPr>
        <p:spPr>
          <a:xfrm>
            <a:off x="6580161" y="6089469"/>
            <a:ext cx="173957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“or </a:t>
            </a:r>
            <a:r>
              <a:rPr b="0" i="0" lang="en-US" sz="1400" u="sng" cap="none" strike="noStrike">
                <a:solidFill>
                  <a:srgbClr val="CC0000"/>
                </a:solidFill>
                <a:latin typeface="Arial"/>
                <a:ea typeface="Arial"/>
                <a:cs typeface="Arial"/>
                <a:sym typeface="Arial"/>
              </a:rPr>
              <a:t>200.23.18.0/23</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222" name="Google Shape;4222;p66"/>
          <p:cNvSpPr/>
          <p:nvPr/>
        </p:nvSpPr>
        <p:spPr>
          <a:xfrm>
            <a:off x="4049486" y="4865915"/>
            <a:ext cx="5274129" cy="1257299"/>
          </a:xfrm>
          <a:custGeom>
            <a:rect b="b" l="l" r="r" t="t"/>
            <a:pathLst>
              <a:path extrusionOk="0" h="1257299" w="5274129">
                <a:moveTo>
                  <a:pt x="5274129" y="0"/>
                </a:moveTo>
                <a:lnTo>
                  <a:pt x="849085" y="718457"/>
                </a:lnTo>
                <a:lnTo>
                  <a:pt x="0" y="1257299"/>
                </a:lnTo>
              </a:path>
            </a:pathLst>
          </a:custGeom>
          <a:noFill/>
          <a:ln cap="flat" cmpd="sng" w="76200">
            <a:solidFill>
              <a:srgbClr val="3333CC"/>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23" name="Google Shape;4223;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2"/>
                                        </p:tgtEl>
                                        <p:attrNameLst>
                                          <p:attrName>style.visibility</p:attrName>
                                        </p:attrNameLst>
                                      </p:cBhvr>
                                      <p:to>
                                        <p:strVal val="visible"/>
                                      </p:to>
                                    </p:set>
                                    <p:animEffect filter="fade" transition="in">
                                      <p:cBhvr>
                                        <p:cTn dur="1000"/>
                                        <p:tgtEl>
                                          <p:spTgt spid="4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8" name="Shape 4228"/>
        <p:cNvGrpSpPr/>
        <p:nvPr/>
      </p:nvGrpSpPr>
      <p:grpSpPr>
        <a:xfrm>
          <a:off x="0" y="0"/>
          <a:ext cx="0" cy="0"/>
          <a:chOff x="0" y="0"/>
          <a:chExt cx="0" cy="0"/>
        </a:xfrm>
      </p:grpSpPr>
      <p:sp>
        <p:nvSpPr>
          <p:cNvPr id="4229" name="Google Shape;4229;p67"/>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 addressing: last words ...</a:t>
            </a:r>
            <a:endParaRPr sz="4800"/>
          </a:p>
        </p:txBody>
      </p:sp>
      <p:sp>
        <p:nvSpPr>
          <p:cNvPr id="4230" name="Google Shape;4230;p67"/>
          <p:cNvSpPr txBox="1"/>
          <p:nvPr/>
        </p:nvSpPr>
        <p:spPr>
          <a:xfrm>
            <a:off x="519278" y="1328204"/>
            <a:ext cx="5815260" cy="5099099"/>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how does an ISP get block of addresses?</a:t>
            </a:r>
            <a:endParaRPr/>
          </a:p>
          <a:p>
            <a:pPr indent="-222250" lvl="0" marL="352425" marR="0" rtl="0" algn="l">
              <a:lnSpc>
                <a:spcPct val="90000"/>
              </a:lnSpc>
              <a:spcBef>
                <a:spcPts val="100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A:</a:t>
            </a:r>
            <a:r>
              <a:rPr b="0" i="0" lang="en-US" sz="2800" u="none" cap="none" strike="noStrike">
                <a:solidFill>
                  <a:srgbClr val="FF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ICANN</a:t>
            </a: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000099"/>
                </a:solidFill>
                <a:latin typeface="Calibri"/>
                <a:ea typeface="Calibri"/>
                <a:cs typeface="Calibri"/>
                <a:sym typeface="Calibri"/>
              </a:rPr>
              <a:t>I</a:t>
            </a:r>
            <a:r>
              <a:rPr b="0" i="0" lang="en-US" sz="2800" u="none" cap="none" strike="noStrike">
                <a:solidFill>
                  <a:srgbClr val="000000"/>
                </a:solidFill>
                <a:latin typeface="Calibri"/>
                <a:ea typeface="Calibri"/>
                <a:cs typeface="Calibri"/>
                <a:sym typeface="Calibri"/>
              </a:rPr>
              <a:t>nternet </a:t>
            </a:r>
            <a:r>
              <a:rPr b="0" i="0" lang="en-US" sz="2800" u="none" cap="none" strike="noStrike">
                <a:solidFill>
                  <a:srgbClr val="000099"/>
                </a:solidFill>
                <a:latin typeface="Calibri"/>
                <a:ea typeface="Calibri"/>
                <a:cs typeface="Calibri"/>
                <a:sym typeface="Calibri"/>
              </a:rPr>
              <a:t>C</a:t>
            </a:r>
            <a:r>
              <a:rPr b="0" i="0" lang="en-US" sz="2800" u="none" cap="none" strike="noStrike">
                <a:solidFill>
                  <a:srgbClr val="000000"/>
                </a:solidFill>
                <a:latin typeface="Calibri"/>
                <a:ea typeface="Calibri"/>
                <a:cs typeface="Calibri"/>
                <a:sym typeface="Calibri"/>
              </a:rPr>
              <a:t>orporation for </a:t>
            </a:r>
            <a:r>
              <a:rPr b="0" i="0" lang="en-US" sz="2800" u="none" cap="none" strike="noStrike">
                <a:solidFill>
                  <a:srgbClr val="000099"/>
                </a:solidFill>
                <a:latin typeface="Calibri"/>
                <a:ea typeface="Calibri"/>
                <a:cs typeface="Calibri"/>
                <a:sym typeface="Calibri"/>
              </a:rPr>
              <a:t>A</a:t>
            </a:r>
            <a:r>
              <a:rPr b="0" i="0" lang="en-US" sz="2800" u="none" cap="none" strike="noStrike">
                <a:solidFill>
                  <a:srgbClr val="000000"/>
                </a:solidFill>
                <a:latin typeface="Calibri"/>
                <a:ea typeface="Calibri"/>
                <a:cs typeface="Calibri"/>
                <a:sym typeface="Calibri"/>
              </a:rPr>
              <a:t>ssigned  </a:t>
            </a:r>
            <a:r>
              <a:rPr b="0" i="0" lang="en-US" sz="2800" u="none" cap="none" strike="noStrike">
                <a:solidFill>
                  <a:srgbClr val="000099"/>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ames and </a:t>
            </a:r>
            <a:r>
              <a:rPr b="0" i="0" lang="en-US" sz="2800" u="none" cap="none" strike="noStrike">
                <a:solidFill>
                  <a:srgbClr val="000099"/>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umbers http://www.icann.org/</a:t>
            </a:r>
            <a:endParaRPr/>
          </a:p>
          <a:p>
            <a:pPr indent="-234950" lvl="1" marL="57467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allocates IP addresses, through </a:t>
            </a:r>
            <a:r>
              <a:rPr b="0" i="0" lang="en-US" sz="2800" u="none" cap="none" strike="noStrike">
                <a:solidFill>
                  <a:srgbClr val="0000A3"/>
                </a:solidFill>
                <a:latin typeface="Calibri"/>
                <a:ea typeface="Calibri"/>
                <a:cs typeface="Calibri"/>
                <a:sym typeface="Calibri"/>
              </a:rPr>
              <a:t>5 regional registries (RRs) </a:t>
            </a:r>
            <a:r>
              <a:rPr b="0" i="0" lang="en-US" sz="2400" u="none" cap="none" strike="noStrike">
                <a:solidFill>
                  <a:srgbClr val="000000"/>
                </a:solidFill>
                <a:latin typeface="Calibri"/>
                <a:ea typeface="Calibri"/>
                <a:cs typeface="Calibri"/>
                <a:sym typeface="Calibri"/>
              </a:rPr>
              <a:t>(who may then allocate to local registries)</a:t>
            </a:r>
            <a:endParaRPr/>
          </a:p>
          <a:p>
            <a:pPr indent="-234950" lvl="1" marL="57467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manages DNS root zone, including delegation of individual TLD (.com, .edu , …) management </a:t>
            </a:r>
            <a:endParaRPr/>
          </a:p>
          <a:p>
            <a:pPr indent="0" lvl="1" marL="463550"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4231" name="Google Shape;4231;p67"/>
          <p:cNvSpPr txBox="1"/>
          <p:nvPr/>
        </p:nvSpPr>
        <p:spPr>
          <a:xfrm>
            <a:off x="6780931" y="1374589"/>
            <a:ext cx="5040009" cy="363473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1"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are there enough 32-bit IP addresses?</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ICANN allocated last chunk of IPv4 addresses to RRs in 2011</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NAT (next) helps IPv4 address space exhaustion</a:t>
            </a:r>
            <a:endParaRPr/>
          </a:p>
          <a:p>
            <a:pPr indent="-274638" lvl="0" marL="404813"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IPv6 has 128-bit address space</a:t>
            </a:r>
            <a:endParaRPr/>
          </a:p>
        </p:txBody>
      </p:sp>
      <p:sp>
        <p:nvSpPr>
          <p:cNvPr id="4232" name="Google Shape;4232;p67"/>
          <p:cNvSpPr txBox="1"/>
          <p:nvPr/>
        </p:nvSpPr>
        <p:spPr>
          <a:xfrm flipH="1">
            <a:off x="7150541" y="5049079"/>
            <a:ext cx="4511372"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"Who the hell knew how much address space we needed?"  Vint Cerf (reflecting on decision to make IPv4 address 32 bits long)</a:t>
            </a:r>
            <a:endParaRPr/>
          </a:p>
        </p:txBody>
      </p:sp>
      <p:sp>
        <p:nvSpPr>
          <p:cNvPr id="4233" name="Google Shape;4233;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0" st="0"/>
                                            </p:txEl>
                                          </p:spTgt>
                                        </p:tgtEl>
                                        <p:attrNameLst>
                                          <p:attrName>style.visibility</p:attrName>
                                        </p:attrNameLst>
                                      </p:cBhvr>
                                      <p:to>
                                        <p:strVal val="visible"/>
                                      </p:to>
                                    </p:set>
                                    <p:animEffect filter="fade" transition="in">
                                      <p:cBhvr>
                                        <p:cTn dur="500"/>
                                        <p:tgtEl>
                                          <p:spTgt spid="4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1" st="1"/>
                                            </p:txEl>
                                          </p:spTgt>
                                        </p:tgtEl>
                                        <p:attrNameLst>
                                          <p:attrName>style.visibility</p:attrName>
                                        </p:attrNameLst>
                                      </p:cBhvr>
                                      <p:to>
                                        <p:strVal val="visible"/>
                                      </p:to>
                                    </p:set>
                                    <p:animEffect filter="fade" transition="in">
                                      <p:cBhvr>
                                        <p:cTn dur="500"/>
                                        <p:tgtEl>
                                          <p:spTgt spid="4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2" st="2"/>
                                            </p:txEl>
                                          </p:spTgt>
                                        </p:tgtEl>
                                        <p:attrNameLst>
                                          <p:attrName>style.visibility</p:attrName>
                                        </p:attrNameLst>
                                      </p:cBhvr>
                                      <p:to>
                                        <p:strVal val="visible"/>
                                      </p:to>
                                    </p:set>
                                    <p:animEffect filter="fade" transition="in">
                                      <p:cBhvr>
                                        <p:cTn dur="500"/>
                                        <p:tgtEl>
                                          <p:spTgt spid="4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3" st="3"/>
                                            </p:txEl>
                                          </p:spTgt>
                                        </p:tgtEl>
                                        <p:attrNameLst>
                                          <p:attrName>style.visibility</p:attrName>
                                        </p:attrNameLst>
                                      </p:cBhvr>
                                      <p:to>
                                        <p:strVal val="visible"/>
                                      </p:to>
                                    </p:set>
                                    <p:animEffect filter="fade" transition="in">
                                      <p:cBhvr>
                                        <p:cTn dur="500"/>
                                        <p:tgtEl>
                                          <p:spTgt spid="4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0">
                                            <p:txEl>
                                              <p:pRg end="4" st="4"/>
                                            </p:txEl>
                                          </p:spTgt>
                                        </p:tgtEl>
                                        <p:attrNameLst>
                                          <p:attrName>style.visibility</p:attrName>
                                        </p:attrNameLst>
                                      </p:cBhvr>
                                      <p:to>
                                        <p:strVal val="visible"/>
                                      </p:to>
                                    </p:set>
                                    <p:animEffect filter="fade" transition="in">
                                      <p:cBhvr>
                                        <p:cTn dur="500"/>
                                        <p:tgtEl>
                                          <p:spTgt spid="42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0" st="0"/>
                                            </p:txEl>
                                          </p:spTgt>
                                        </p:tgtEl>
                                        <p:attrNameLst>
                                          <p:attrName>style.visibility</p:attrName>
                                        </p:attrNameLst>
                                      </p:cBhvr>
                                      <p:to>
                                        <p:strVal val="visible"/>
                                      </p:to>
                                    </p:set>
                                    <p:animEffect filter="fade" transition="in">
                                      <p:cBhvr>
                                        <p:cTn dur="500"/>
                                        <p:tgtEl>
                                          <p:spTgt spid="4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1" st="1"/>
                                            </p:txEl>
                                          </p:spTgt>
                                        </p:tgtEl>
                                        <p:attrNameLst>
                                          <p:attrName>style.visibility</p:attrName>
                                        </p:attrNameLst>
                                      </p:cBhvr>
                                      <p:to>
                                        <p:strVal val="visible"/>
                                      </p:to>
                                    </p:set>
                                    <p:animEffect filter="fade" transition="in">
                                      <p:cBhvr>
                                        <p:cTn dur="500"/>
                                        <p:tgtEl>
                                          <p:spTgt spid="4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2" st="2"/>
                                            </p:txEl>
                                          </p:spTgt>
                                        </p:tgtEl>
                                        <p:attrNameLst>
                                          <p:attrName>style.visibility</p:attrName>
                                        </p:attrNameLst>
                                      </p:cBhvr>
                                      <p:to>
                                        <p:strVal val="visible"/>
                                      </p:to>
                                    </p:set>
                                    <p:animEffect filter="fade" transition="in">
                                      <p:cBhvr>
                                        <p:cTn dur="500"/>
                                        <p:tgtEl>
                                          <p:spTgt spid="4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1">
                                            <p:txEl>
                                              <p:pRg end="3" st="3"/>
                                            </p:txEl>
                                          </p:spTgt>
                                        </p:tgtEl>
                                        <p:attrNameLst>
                                          <p:attrName>style.visibility</p:attrName>
                                        </p:attrNameLst>
                                      </p:cBhvr>
                                      <p:to>
                                        <p:strVal val="visible"/>
                                      </p:to>
                                    </p:set>
                                    <p:animEffect filter="fade" transition="in">
                                      <p:cBhvr>
                                        <p:cTn dur="500"/>
                                        <p:tgtEl>
                                          <p:spTgt spid="4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2"/>
                                        </p:tgtEl>
                                        <p:attrNameLst>
                                          <p:attrName>style.visibility</p:attrName>
                                        </p:attrNameLst>
                                      </p:cBhvr>
                                      <p:to>
                                        <p:strVal val="visible"/>
                                      </p:to>
                                    </p:set>
                                    <p:animEffect filter="fade" transition="in">
                                      <p:cBhvr>
                                        <p:cTn dur="500"/>
                                        <p:tgtEl>
                                          <p:spTgt spid="4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8" name="Shape 4238"/>
        <p:cNvGrpSpPr/>
        <p:nvPr/>
      </p:nvGrpSpPr>
      <p:grpSpPr>
        <a:xfrm>
          <a:off x="0" y="0"/>
          <a:ext cx="0" cy="0"/>
          <a:chOff x="0" y="0"/>
          <a:chExt cx="0" cy="0"/>
        </a:xfrm>
      </p:grpSpPr>
      <p:sp>
        <p:nvSpPr>
          <p:cNvPr id="4239" name="Google Shape;4239;p6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4240" name="Google Shape;4240;p68"/>
          <p:cNvSpPr txBox="1"/>
          <p:nvPr>
            <p:ph idx="2" type="body"/>
          </p:nvPr>
        </p:nvSpPr>
        <p:spPr>
          <a:xfrm>
            <a:off x="570089" y="1428299"/>
            <a:ext cx="6618109" cy="5197353"/>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control plane</a:t>
            </a:r>
            <a:endParaRPr/>
          </a:p>
          <a:p>
            <a:pPr indent="-277813" lvl="0" marL="407988" rtl="0" algn="l">
              <a:lnSpc>
                <a:spcPct val="90000"/>
              </a:lnSpc>
              <a:spcBef>
                <a:spcPts val="600"/>
              </a:spcBef>
              <a:spcAft>
                <a:spcPts val="0"/>
              </a:spcAft>
              <a:buClr>
                <a:srgbClr val="BFBFBF"/>
              </a:buClr>
              <a:buSzPts val="3200"/>
              <a:buChar char="▪"/>
            </a:pPr>
            <a:r>
              <a:rPr lang="en-US" sz="3200">
                <a:solidFill>
                  <a:srgbClr val="BFBFBF"/>
                </a:solidFill>
              </a:rPr>
              <a:t>What’s inside a router</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input ports, switching, output ports</a:t>
            </a:r>
            <a:endParaRPr/>
          </a:p>
          <a:p>
            <a:pPr indent="-231775" lvl="1" marL="695325" rtl="0" algn="l">
              <a:lnSpc>
                <a:spcPct val="90000"/>
              </a:lnSpc>
              <a:spcBef>
                <a:spcPts val="600"/>
              </a:spcBef>
              <a:spcAft>
                <a:spcPts val="0"/>
              </a:spcAft>
              <a:buClr>
                <a:srgbClr val="BFBFBF"/>
              </a:buClr>
              <a:buSzPts val="2800"/>
              <a:buChar char="•"/>
            </a:pPr>
            <a:r>
              <a:rPr lang="en-US" sz="2800">
                <a:solidFill>
                  <a:srgbClr val="BFBFBF"/>
                </a:solidFill>
              </a:rPr>
              <a:t>buffer management, scheduling</a:t>
            </a:r>
            <a:endParaRPr/>
          </a:p>
          <a:p>
            <a:pPr indent="-277813" lvl="0" marL="407988" rtl="0" algn="l">
              <a:lnSpc>
                <a:spcPct val="90000"/>
              </a:lnSpc>
              <a:spcBef>
                <a:spcPts val="600"/>
              </a:spcBef>
              <a:spcAft>
                <a:spcPts val="0"/>
              </a:spcAft>
              <a:buSzPts val="3200"/>
              <a:buChar char="▪"/>
            </a:pPr>
            <a:r>
              <a:rPr lang="en-US" sz="3200"/>
              <a:t>IP: the Internet Protocol</a:t>
            </a:r>
            <a:endParaRPr/>
          </a:p>
          <a:p>
            <a:pPr indent="-231775" lvl="1" marL="695325" rtl="0" algn="l">
              <a:lnSpc>
                <a:spcPct val="90000"/>
              </a:lnSpc>
              <a:spcBef>
                <a:spcPts val="400"/>
              </a:spcBef>
              <a:spcAft>
                <a:spcPts val="0"/>
              </a:spcAft>
              <a:buClr>
                <a:srgbClr val="0000A3"/>
              </a:buClr>
              <a:buSzPts val="2800"/>
              <a:buChar char="•"/>
            </a:pPr>
            <a:r>
              <a:rPr lang="en-US" sz="2800"/>
              <a:t>datagram format</a:t>
            </a:r>
            <a:endParaRPr/>
          </a:p>
          <a:p>
            <a:pPr indent="-231775" lvl="1" marL="695325" rtl="0" algn="l">
              <a:lnSpc>
                <a:spcPct val="90000"/>
              </a:lnSpc>
              <a:spcBef>
                <a:spcPts val="400"/>
              </a:spcBef>
              <a:spcAft>
                <a:spcPts val="0"/>
              </a:spcAft>
              <a:buClr>
                <a:srgbClr val="0000A3"/>
              </a:buClr>
              <a:buSzPts val="2800"/>
              <a:buChar char="•"/>
            </a:pPr>
            <a:r>
              <a:rPr lang="en-US" sz="2800"/>
              <a:t>addressing</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network address translation</a:t>
            </a:r>
            <a:endParaRPr/>
          </a:p>
          <a:p>
            <a:pPr indent="-231775" lvl="1" marL="695325" rtl="0" algn="l">
              <a:lnSpc>
                <a:spcPct val="90000"/>
              </a:lnSpc>
              <a:spcBef>
                <a:spcPts val="400"/>
              </a:spcBef>
              <a:spcAft>
                <a:spcPts val="0"/>
              </a:spcAft>
              <a:buClr>
                <a:srgbClr val="0000A3"/>
              </a:buClr>
              <a:buSzPts val="2800"/>
              <a:buChar char="•"/>
            </a:pPr>
            <a:r>
              <a:rPr lang="en-US" sz="2800">
                <a:solidFill>
                  <a:srgbClr val="0000A3"/>
                </a:solidFill>
              </a:rPr>
              <a:t>IPv6</a:t>
            </a:r>
            <a:endParaRPr/>
          </a:p>
        </p:txBody>
      </p:sp>
      <p:pic>
        <p:nvPicPr>
          <p:cNvPr descr="A train crossing a bridge over a body of water&#10;&#10;Description automatically generated" id="4241" name="Google Shape;4241;p68"/>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4242" name="Google Shape;4242;p68"/>
          <p:cNvSpPr txBox="1"/>
          <p:nvPr/>
        </p:nvSpPr>
        <p:spPr>
          <a:xfrm>
            <a:off x="6186488" y="4277300"/>
            <a:ext cx="6005512" cy="1937764"/>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 SDN</a:t>
            </a:r>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match+action</a:t>
            </a:r>
            <a:endParaRPr b="0" i="0" sz="2800" u="none" cap="none" strike="noStrike">
              <a:solidFill>
                <a:srgbClr val="BFBFBF"/>
              </a:solidFill>
              <a:latin typeface="Calibri"/>
              <a:ea typeface="Calibri"/>
              <a:cs typeface="Calibri"/>
              <a:sym typeface="Calibri"/>
            </a:endParaRPr>
          </a:p>
          <a:p>
            <a:pPr indent="-231775" lvl="1" marL="695325" marR="0" rtl="0" algn="l">
              <a:lnSpc>
                <a:spcPct val="90000"/>
              </a:lnSpc>
              <a:spcBef>
                <a:spcPts val="60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OpenFlow: match+action in action</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4243" name="Google Shape;4243;p6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8" name="Shape 4248"/>
        <p:cNvGrpSpPr/>
        <p:nvPr/>
      </p:nvGrpSpPr>
      <p:grpSpPr>
        <a:xfrm>
          <a:off x="0" y="0"/>
          <a:ext cx="0" cy="0"/>
          <a:chOff x="0" y="0"/>
          <a:chExt cx="0" cy="0"/>
        </a:xfrm>
      </p:grpSpPr>
      <p:sp>
        <p:nvSpPr>
          <p:cNvPr id="4249" name="Google Shape;4249;p69"/>
          <p:cNvSpPr/>
          <p:nvPr/>
        </p:nvSpPr>
        <p:spPr>
          <a:xfrm>
            <a:off x="6624872" y="2978590"/>
            <a:ext cx="3273778" cy="2294055"/>
          </a:xfrm>
          <a:custGeom>
            <a:rect b="b" l="l" r="r" t="t"/>
            <a:pathLst>
              <a:path extrusionOk="0" h="1699" w="2355">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50" name="Google Shape;4250;p69"/>
          <p:cNvSpPr txBox="1"/>
          <p:nvPr/>
        </p:nvSpPr>
        <p:spPr>
          <a:xfrm>
            <a:off x="9236240" y="3264692"/>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10.0.0.1</a:t>
            </a:r>
            <a:endParaRPr/>
          </a:p>
        </p:txBody>
      </p:sp>
      <p:sp>
        <p:nvSpPr>
          <p:cNvPr id="4251" name="Google Shape;4251;p69"/>
          <p:cNvSpPr txBox="1"/>
          <p:nvPr/>
        </p:nvSpPr>
        <p:spPr>
          <a:xfrm>
            <a:off x="9181489" y="3988217"/>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10.0.0.2</a:t>
            </a:r>
            <a:endParaRPr/>
          </a:p>
        </p:txBody>
      </p:sp>
      <p:sp>
        <p:nvSpPr>
          <p:cNvPr id="4252" name="Google Shape;4252;p69"/>
          <p:cNvSpPr txBox="1"/>
          <p:nvPr/>
        </p:nvSpPr>
        <p:spPr>
          <a:xfrm>
            <a:off x="9155136" y="4742372"/>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10.0.0.3</a:t>
            </a:r>
            <a:endParaRPr/>
          </a:p>
        </p:txBody>
      </p:sp>
      <p:sp>
        <p:nvSpPr>
          <p:cNvPr id="4253" name="Google Shape;4253;p69"/>
          <p:cNvSpPr txBox="1"/>
          <p:nvPr/>
        </p:nvSpPr>
        <p:spPr>
          <a:xfrm>
            <a:off x="6464854" y="3424079"/>
            <a:ext cx="859531"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10.0.0.4</a:t>
            </a:r>
            <a:endParaRPr/>
          </a:p>
        </p:txBody>
      </p:sp>
      <p:cxnSp>
        <p:nvCxnSpPr>
          <p:cNvPr id="4254" name="Google Shape;4254;p69"/>
          <p:cNvCxnSpPr/>
          <p:nvPr/>
        </p:nvCxnSpPr>
        <p:spPr>
          <a:xfrm>
            <a:off x="6820885" y="3727909"/>
            <a:ext cx="2090" cy="358873"/>
          </a:xfrm>
          <a:prstGeom prst="straightConnector1">
            <a:avLst/>
          </a:prstGeom>
          <a:noFill/>
          <a:ln cap="flat" cmpd="sng" w="19050">
            <a:solidFill>
              <a:srgbClr val="000000"/>
            </a:solidFill>
            <a:prstDash val="solid"/>
            <a:round/>
            <a:headEnd len="med" w="med" type="none"/>
            <a:tailEnd len="med" w="med" type="triangle"/>
          </a:ln>
        </p:spPr>
      </p:cxnSp>
      <p:sp>
        <p:nvSpPr>
          <p:cNvPr id="4255" name="Google Shape;4255;p69"/>
          <p:cNvSpPr txBox="1"/>
          <p:nvPr/>
        </p:nvSpPr>
        <p:spPr>
          <a:xfrm>
            <a:off x="6679771" y="2473869"/>
            <a:ext cx="2802851" cy="569468"/>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local network (e.g., home network) 10.0.0/24</a:t>
            </a:r>
            <a:endParaRPr/>
          </a:p>
        </p:txBody>
      </p:sp>
      <p:cxnSp>
        <p:nvCxnSpPr>
          <p:cNvPr id="4256" name="Google Shape;4256;p69"/>
          <p:cNvCxnSpPr/>
          <p:nvPr/>
        </p:nvCxnSpPr>
        <p:spPr>
          <a:xfrm>
            <a:off x="9417628" y="2709128"/>
            <a:ext cx="1124665" cy="0"/>
          </a:xfrm>
          <a:prstGeom prst="straightConnector1">
            <a:avLst/>
          </a:prstGeom>
          <a:noFill/>
          <a:ln cap="flat" cmpd="sng" w="9525">
            <a:solidFill>
              <a:srgbClr val="000000"/>
            </a:solidFill>
            <a:prstDash val="solid"/>
            <a:round/>
            <a:headEnd len="med" w="med" type="none"/>
            <a:tailEnd len="med" w="med" type="triangle"/>
          </a:ln>
        </p:spPr>
      </p:cxnSp>
      <p:cxnSp>
        <p:nvCxnSpPr>
          <p:cNvPr id="4257" name="Google Shape;4257;p69"/>
          <p:cNvCxnSpPr/>
          <p:nvPr/>
        </p:nvCxnSpPr>
        <p:spPr>
          <a:xfrm>
            <a:off x="6205244" y="2589251"/>
            <a:ext cx="0" cy="1128251"/>
          </a:xfrm>
          <a:prstGeom prst="straightConnector1">
            <a:avLst/>
          </a:prstGeom>
          <a:noFill/>
          <a:ln cap="flat" cmpd="sng" w="9525">
            <a:solidFill>
              <a:srgbClr val="000000"/>
            </a:solidFill>
            <a:prstDash val="solid"/>
            <a:round/>
            <a:headEnd len="med" w="med" type="none"/>
            <a:tailEnd len="med" w="med" type="none"/>
          </a:ln>
        </p:spPr>
      </p:cxnSp>
      <p:cxnSp>
        <p:nvCxnSpPr>
          <p:cNvPr id="4258" name="Google Shape;4258;p69"/>
          <p:cNvCxnSpPr/>
          <p:nvPr/>
        </p:nvCxnSpPr>
        <p:spPr>
          <a:xfrm rot="10800000">
            <a:off x="6344943" y="2721791"/>
            <a:ext cx="427910" cy="4474"/>
          </a:xfrm>
          <a:prstGeom prst="straightConnector1">
            <a:avLst/>
          </a:prstGeom>
          <a:noFill/>
          <a:ln cap="flat" cmpd="sng" w="9525">
            <a:solidFill>
              <a:srgbClr val="000000"/>
            </a:solidFill>
            <a:prstDash val="solid"/>
            <a:round/>
            <a:headEnd len="med" w="med" type="none"/>
            <a:tailEnd len="med" w="med" type="triangle"/>
          </a:ln>
        </p:spPr>
      </p:cxnSp>
      <p:grpSp>
        <p:nvGrpSpPr>
          <p:cNvPr id="4259" name="Google Shape;4259;p69"/>
          <p:cNvGrpSpPr/>
          <p:nvPr/>
        </p:nvGrpSpPr>
        <p:grpSpPr>
          <a:xfrm flipH="1">
            <a:off x="9988255" y="3097875"/>
            <a:ext cx="641350" cy="583178"/>
            <a:chOff x="-44" y="1473"/>
            <a:chExt cx="981" cy="1105"/>
          </a:xfrm>
        </p:grpSpPr>
        <p:pic>
          <p:nvPicPr>
            <p:cNvPr descr="desktop_computer_stylized_medium" id="4260" name="Google Shape;4260;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1" name="Google Shape;4261;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2" name="Google Shape;4262;p69"/>
          <p:cNvGrpSpPr/>
          <p:nvPr/>
        </p:nvGrpSpPr>
        <p:grpSpPr>
          <a:xfrm flipH="1">
            <a:off x="9915055" y="3818933"/>
            <a:ext cx="641350" cy="583178"/>
            <a:chOff x="-44" y="1473"/>
            <a:chExt cx="981" cy="1105"/>
          </a:xfrm>
        </p:grpSpPr>
        <p:pic>
          <p:nvPicPr>
            <p:cNvPr descr="desktop_computer_stylized_medium" id="4263" name="Google Shape;4263;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4" name="Google Shape;4264;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5" name="Google Shape;4265;p69"/>
          <p:cNvGrpSpPr/>
          <p:nvPr/>
        </p:nvGrpSpPr>
        <p:grpSpPr>
          <a:xfrm flipH="1">
            <a:off x="9934281" y="4558766"/>
            <a:ext cx="641350" cy="583178"/>
            <a:chOff x="-44" y="1473"/>
            <a:chExt cx="981" cy="1105"/>
          </a:xfrm>
        </p:grpSpPr>
        <p:pic>
          <p:nvPicPr>
            <p:cNvPr descr="desktop_computer_stylized_medium" id="4266" name="Google Shape;4266;p6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267" name="Google Shape;4267;p6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268" name="Google Shape;4268;p69"/>
          <p:cNvGrpSpPr/>
          <p:nvPr/>
        </p:nvGrpSpPr>
        <p:grpSpPr>
          <a:xfrm>
            <a:off x="2171406" y="2486532"/>
            <a:ext cx="3963988" cy="2445373"/>
            <a:chOff x="2171406" y="2486532"/>
            <a:chExt cx="3963988" cy="2445373"/>
          </a:xfrm>
        </p:grpSpPr>
        <p:sp>
          <p:nvSpPr>
            <p:cNvPr id="4269" name="Google Shape;4269;p69"/>
            <p:cNvSpPr/>
            <p:nvPr/>
          </p:nvSpPr>
          <p:spPr>
            <a:xfrm>
              <a:off x="2171406" y="3444138"/>
              <a:ext cx="3640666" cy="1487767"/>
            </a:xfrm>
            <a:custGeom>
              <a:rect b="b" l="l" r="r" t="t"/>
              <a:pathLst>
                <a:path extrusionOk="0" h="898" w="2425">
                  <a:moveTo>
                    <a:pt x="2056" y="289"/>
                  </a:moveTo>
                  <a:cubicBezTo>
                    <a:pt x="1826" y="223"/>
                    <a:pt x="1133" y="113"/>
                    <a:pt x="810" y="75"/>
                  </a:cubicBezTo>
                  <a:cubicBezTo>
                    <a:pt x="487" y="37"/>
                    <a:pt x="230" y="0"/>
                    <a:pt x="115" y="60"/>
                  </a:cubicBezTo>
                  <a:cubicBezTo>
                    <a:pt x="0" y="120"/>
                    <a:pt x="121" y="301"/>
                    <a:pt x="121" y="433"/>
                  </a:cubicBezTo>
                  <a:cubicBezTo>
                    <a:pt x="121" y="565"/>
                    <a:pt x="25" y="802"/>
                    <a:pt x="115" y="850"/>
                  </a:cubicBezTo>
                  <a:cubicBezTo>
                    <a:pt x="205" y="898"/>
                    <a:pt x="316" y="784"/>
                    <a:pt x="662" y="721"/>
                  </a:cubicBezTo>
                  <a:cubicBezTo>
                    <a:pt x="1008" y="658"/>
                    <a:pt x="1961" y="544"/>
                    <a:pt x="2193" y="472"/>
                  </a:cubicBezTo>
                  <a:cubicBezTo>
                    <a:pt x="2425" y="400"/>
                    <a:pt x="2292" y="327"/>
                    <a:pt x="2056" y="289"/>
                  </a:cubicBezTo>
                  <a:close/>
                </a:path>
              </a:pathLst>
            </a:custGeom>
            <a:gradFill>
              <a:gsLst>
                <a:gs pos="0">
                  <a:srgbClr val="FFFFFF">
                    <a:alpha val="97647"/>
                  </a:srgbClr>
                </a:gs>
                <a:gs pos="100000">
                  <a:srgbClr val="66CC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4270" name="Google Shape;4270;p69"/>
            <p:cNvSpPr txBox="1"/>
            <p:nvPr/>
          </p:nvSpPr>
          <p:spPr>
            <a:xfrm>
              <a:off x="4504384" y="3410471"/>
              <a:ext cx="1172116" cy="353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138.76.29.7</a:t>
              </a:r>
              <a:endParaRPr/>
            </a:p>
          </p:txBody>
        </p:sp>
        <p:cxnSp>
          <p:nvCxnSpPr>
            <p:cNvPr id="4271" name="Google Shape;4271;p69"/>
            <p:cNvCxnSpPr/>
            <p:nvPr/>
          </p:nvCxnSpPr>
          <p:spPr>
            <a:xfrm rot="10800000">
              <a:off x="5504641" y="3720817"/>
              <a:ext cx="4440" cy="356700"/>
            </a:xfrm>
            <a:prstGeom prst="straightConnector1">
              <a:avLst/>
            </a:prstGeom>
            <a:noFill/>
            <a:ln cap="flat" cmpd="sng" w="19050">
              <a:solidFill>
                <a:srgbClr val="000000"/>
              </a:solidFill>
              <a:prstDash val="solid"/>
              <a:round/>
              <a:headEnd len="med" w="med" type="triangle"/>
              <a:tailEnd len="med" w="med" type="none"/>
            </a:ln>
          </p:spPr>
        </p:cxnSp>
        <p:cxnSp>
          <p:nvCxnSpPr>
            <p:cNvPr id="4272" name="Google Shape;4272;p69"/>
            <p:cNvCxnSpPr/>
            <p:nvPr/>
          </p:nvCxnSpPr>
          <p:spPr>
            <a:xfrm>
              <a:off x="4749506" y="2735046"/>
              <a:ext cx="1385888" cy="0"/>
            </a:xfrm>
            <a:prstGeom prst="straightConnector1">
              <a:avLst/>
            </a:prstGeom>
            <a:noFill/>
            <a:ln cap="flat" cmpd="sng" w="9525">
              <a:solidFill>
                <a:srgbClr val="000000"/>
              </a:solidFill>
              <a:prstDash val="solid"/>
              <a:round/>
              <a:headEnd len="med" w="med" type="none"/>
              <a:tailEnd len="med" w="med" type="triangle"/>
            </a:ln>
          </p:spPr>
        </p:cxnSp>
        <p:cxnSp>
          <p:nvCxnSpPr>
            <p:cNvPr id="4273" name="Google Shape;4273;p69"/>
            <p:cNvCxnSpPr/>
            <p:nvPr/>
          </p:nvCxnSpPr>
          <p:spPr>
            <a:xfrm rot="10800000">
              <a:off x="2938169" y="2721792"/>
              <a:ext cx="898525" cy="0"/>
            </a:xfrm>
            <a:prstGeom prst="straightConnector1">
              <a:avLst/>
            </a:prstGeom>
            <a:noFill/>
            <a:ln cap="flat" cmpd="sng" w="9525">
              <a:solidFill>
                <a:srgbClr val="000000"/>
              </a:solidFill>
              <a:prstDash val="solid"/>
              <a:round/>
              <a:headEnd len="med" w="med" type="none"/>
              <a:tailEnd len="med" w="med" type="triangle"/>
            </a:ln>
          </p:spPr>
        </p:cxnSp>
        <p:sp>
          <p:nvSpPr>
            <p:cNvPr id="4274" name="Google Shape;4274;p69"/>
            <p:cNvSpPr txBox="1"/>
            <p:nvPr/>
          </p:nvSpPr>
          <p:spPr>
            <a:xfrm>
              <a:off x="3829555" y="2486532"/>
              <a:ext cx="950901" cy="61671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rest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Internet</a:t>
              </a:r>
              <a:endParaRPr/>
            </a:p>
          </p:txBody>
        </p:sp>
        <p:cxnSp>
          <p:nvCxnSpPr>
            <p:cNvPr id="4275" name="Google Shape;4275;p69"/>
            <p:cNvCxnSpPr/>
            <p:nvPr/>
          </p:nvCxnSpPr>
          <p:spPr>
            <a:xfrm>
              <a:off x="2743200" y="4135538"/>
              <a:ext cx="2943752" cy="0"/>
            </a:xfrm>
            <a:prstGeom prst="straightConnector1">
              <a:avLst/>
            </a:prstGeom>
            <a:noFill/>
            <a:ln cap="flat" cmpd="sng" w="25400">
              <a:solidFill>
                <a:schemeClr val="dk1"/>
              </a:solidFill>
              <a:prstDash val="solid"/>
              <a:miter lim="800000"/>
              <a:headEnd len="sm" w="sm" type="none"/>
              <a:tailEnd len="sm" w="sm" type="none"/>
            </a:ln>
          </p:spPr>
        </p:cxnSp>
      </p:grpSp>
      <p:grpSp>
        <p:nvGrpSpPr>
          <p:cNvPr id="4276" name="Google Shape;4276;p69"/>
          <p:cNvGrpSpPr/>
          <p:nvPr/>
        </p:nvGrpSpPr>
        <p:grpSpPr>
          <a:xfrm>
            <a:off x="5685800" y="3913064"/>
            <a:ext cx="1040553" cy="449888"/>
            <a:chOff x="7493876" y="2774731"/>
            <a:chExt cx="1481958" cy="894622"/>
          </a:xfrm>
        </p:grpSpPr>
        <p:sp>
          <p:nvSpPr>
            <p:cNvPr id="4277" name="Google Shape;4277;p6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278" name="Google Shape;4278;p6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279" name="Google Shape;4279;p69"/>
            <p:cNvGrpSpPr/>
            <p:nvPr/>
          </p:nvGrpSpPr>
          <p:grpSpPr>
            <a:xfrm>
              <a:off x="7713663" y="2848339"/>
              <a:ext cx="1042107" cy="425543"/>
              <a:chOff x="7786941" y="2884917"/>
              <a:chExt cx="897649" cy="353919"/>
            </a:xfrm>
          </p:grpSpPr>
          <p:sp>
            <p:nvSpPr>
              <p:cNvPr id="4280" name="Google Shape;4280;p6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1" name="Google Shape;4281;p6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2" name="Google Shape;4282;p6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283" name="Google Shape;4283;p6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4284" name="Google Shape;4284;p69"/>
          <p:cNvCxnSpPr/>
          <p:nvPr/>
        </p:nvCxnSpPr>
        <p:spPr>
          <a:xfrm>
            <a:off x="9757680" y="3564123"/>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285" name="Google Shape;4285;p69"/>
          <p:cNvCxnSpPr/>
          <p:nvPr/>
        </p:nvCxnSpPr>
        <p:spPr>
          <a:xfrm>
            <a:off x="9685290" y="4279842"/>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286" name="Google Shape;4286;p69"/>
          <p:cNvCxnSpPr/>
          <p:nvPr/>
        </p:nvCxnSpPr>
        <p:spPr>
          <a:xfrm>
            <a:off x="9704340" y="5027371"/>
            <a:ext cx="293511" cy="0"/>
          </a:xfrm>
          <a:prstGeom prst="straightConnector1">
            <a:avLst/>
          </a:prstGeom>
          <a:noFill/>
          <a:ln cap="flat" cmpd="sng" w="19050">
            <a:solidFill>
              <a:schemeClr val="dk1"/>
            </a:solidFill>
            <a:prstDash val="solid"/>
            <a:miter lim="800000"/>
            <a:headEnd len="sm" w="sm" type="none"/>
            <a:tailEnd len="sm" w="sm" type="none"/>
          </a:ln>
        </p:spPr>
      </p:cxnSp>
      <p:sp>
        <p:nvSpPr>
          <p:cNvPr id="4287" name="Google Shape;4287;p69"/>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grpSp>
        <p:nvGrpSpPr>
          <p:cNvPr id="4288" name="Google Shape;4288;p69"/>
          <p:cNvGrpSpPr/>
          <p:nvPr/>
        </p:nvGrpSpPr>
        <p:grpSpPr>
          <a:xfrm>
            <a:off x="6231591" y="4144216"/>
            <a:ext cx="5475817" cy="2433887"/>
            <a:chOff x="6191250" y="3243263"/>
            <a:chExt cx="5475817" cy="2433887"/>
          </a:xfrm>
        </p:grpSpPr>
        <p:sp>
          <p:nvSpPr>
            <p:cNvPr id="4289" name="Google Shape;4289;p69"/>
            <p:cNvSpPr txBox="1"/>
            <p:nvPr/>
          </p:nvSpPr>
          <p:spPr>
            <a:xfrm>
              <a:off x="6191250" y="4640263"/>
              <a:ext cx="5475817" cy="1036887"/>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datagrams with source or destination in this network have 10.0.0/24 address for  source, destination (as usual)</a:t>
              </a:r>
              <a:endParaRPr/>
            </a:p>
          </p:txBody>
        </p:sp>
        <p:cxnSp>
          <p:nvCxnSpPr>
            <p:cNvPr id="4290" name="Google Shape;4290;p69"/>
            <p:cNvCxnSpPr/>
            <p:nvPr/>
          </p:nvCxnSpPr>
          <p:spPr>
            <a:xfrm flipH="1" rot="10800000">
              <a:off x="6731530" y="3243263"/>
              <a:ext cx="668337" cy="1427162"/>
            </a:xfrm>
            <a:prstGeom prst="straightConnector1">
              <a:avLst/>
            </a:prstGeom>
            <a:noFill/>
            <a:ln cap="flat" cmpd="sng" w="9525">
              <a:solidFill>
                <a:srgbClr val="CC0000"/>
              </a:solidFill>
              <a:prstDash val="solid"/>
              <a:round/>
              <a:headEnd len="med" w="med" type="none"/>
              <a:tailEnd len="med" w="med" type="none"/>
            </a:ln>
          </p:spPr>
        </p:cxnSp>
      </p:grpSp>
      <p:grpSp>
        <p:nvGrpSpPr>
          <p:cNvPr id="4291" name="Google Shape;4291;p69"/>
          <p:cNvGrpSpPr/>
          <p:nvPr/>
        </p:nvGrpSpPr>
        <p:grpSpPr>
          <a:xfrm>
            <a:off x="380010" y="4107703"/>
            <a:ext cx="5528261" cy="2475162"/>
            <a:chOff x="339669" y="3206750"/>
            <a:chExt cx="5528261" cy="2475162"/>
          </a:xfrm>
        </p:grpSpPr>
        <p:sp>
          <p:nvSpPr>
            <p:cNvPr id="4292" name="Google Shape;4292;p69"/>
            <p:cNvSpPr txBox="1"/>
            <p:nvPr/>
          </p:nvSpPr>
          <p:spPr>
            <a:xfrm>
              <a:off x="339669" y="4645025"/>
              <a:ext cx="5528261" cy="1036887"/>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all</a:t>
              </a:r>
              <a:r>
                <a:rPr b="0" i="0" lang="en-US" sz="2400" u="none" cap="none" strike="noStrike">
                  <a:solidFill>
                    <a:srgbClr val="CC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datagrams </a:t>
              </a:r>
              <a:r>
                <a:rPr b="0" i="1" lang="en-US" sz="2400" u="none" cap="none" strike="noStrike">
                  <a:solidFill>
                    <a:srgbClr val="CC0000"/>
                  </a:solidFill>
                  <a:latin typeface="Calibri"/>
                  <a:ea typeface="Calibri"/>
                  <a:cs typeface="Calibri"/>
                  <a:sym typeface="Calibri"/>
                </a:rPr>
                <a:t>leaving</a:t>
              </a:r>
              <a:r>
                <a:rPr b="0" i="0" lang="en-US" sz="2400" u="none" cap="none" strike="noStrike">
                  <a:solidFill>
                    <a:srgbClr val="000000"/>
                  </a:solidFill>
                  <a:latin typeface="Calibri"/>
                  <a:ea typeface="Calibri"/>
                  <a:cs typeface="Calibri"/>
                  <a:sym typeface="Calibri"/>
                </a:rPr>
                <a:t> local network have </a:t>
              </a:r>
              <a:r>
                <a:rPr b="0" i="1" lang="en-US" sz="2400" u="none" cap="none" strike="noStrike">
                  <a:solidFill>
                    <a:srgbClr val="CC0000"/>
                  </a:solidFill>
                  <a:latin typeface="Calibri"/>
                  <a:ea typeface="Calibri"/>
                  <a:cs typeface="Calibri"/>
                  <a:sym typeface="Calibri"/>
                </a:rPr>
                <a:t>same</a:t>
              </a:r>
              <a:r>
                <a:rPr b="0" i="0" lang="en-US" sz="2400" u="none" cap="none" strike="noStrike">
                  <a:solidFill>
                    <a:srgbClr val="000000"/>
                  </a:solidFill>
                  <a:latin typeface="Calibri"/>
                  <a:ea typeface="Calibri"/>
                  <a:cs typeface="Calibri"/>
                  <a:sym typeface="Calibri"/>
                </a:rPr>
                <a:t> source NAT IP address: 138.76.29.7,  but </a:t>
              </a:r>
              <a:r>
                <a:rPr b="0" i="1" lang="en-US" sz="2400" u="none" cap="none" strike="noStrike">
                  <a:solidFill>
                    <a:srgbClr val="000000"/>
                  </a:solidFill>
                  <a:latin typeface="Calibri"/>
                  <a:ea typeface="Calibri"/>
                  <a:cs typeface="Calibri"/>
                  <a:sym typeface="Calibri"/>
                </a:rPr>
                <a:t>different</a:t>
              </a:r>
              <a:r>
                <a:rPr b="0" i="0" lang="en-US" sz="2400" u="none" cap="none" strike="noStrike">
                  <a:solidFill>
                    <a:srgbClr val="000000"/>
                  </a:solidFill>
                  <a:latin typeface="Calibri"/>
                  <a:ea typeface="Calibri"/>
                  <a:cs typeface="Calibri"/>
                  <a:sym typeface="Calibri"/>
                </a:rPr>
                <a:t> source port numbers</a:t>
              </a:r>
              <a:endParaRPr/>
            </a:p>
          </p:txBody>
        </p:sp>
        <p:cxnSp>
          <p:nvCxnSpPr>
            <p:cNvPr id="4293" name="Google Shape;4293;p69"/>
            <p:cNvCxnSpPr/>
            <p:nvPr/>
          </p:nvCxnSpPr>
          <p:spPr>
            <a:xfrm flipH="1" rot="10800000">
              <a:off x="4620155" y="3206750"/>
              <a:ext cx="668337" cy="1427163"/>
            </a:xfrm>
            <a:prstGeom prst="straightConnector1">
              <a:avLst/>
            </a:prstGeom>
            <a:noFill/>
            <a:ln cap="flat" cmpd="sng" w="9525">
              <a:solidFill>
                <a:srgbClr val="CC0000"/>
              </a:solidFill>
              <a:prstDash val="solid"/>
              <a:round/>
              <a:headEnd len="med" w="med" type="none"/>
              <a:tailEnd len="med" w="med" type="none"/>
            </a:ln>
          </p:spPr>
        </p:cxnSp>
      </p:grpSp>
      <p:sp>
        <p:nvSpPr>
          <p:cNvPr id="4294" name="Google Shape;4294;p69"/>
          <p:cNvSpPr/>
          <p:nvPr/>
        </p:nvSpPr>
        <p:spPr>
          <a:xfrm>
            <a:off x="438310" y="1328747"/>
            <a:ext cx="11125200" cy="1034129"/>
          </a:xfrm>
          <a:prstGeom prst="rect">
            <a:avLst/>
          </a:prstGeom>
          <a:noFill/>
          <a:ln>
            <a:noFill/>
          </a:ln>
        </p:spPr>
        <p:txBody>
          <a:bodyPr anchorCtr="0" anchor="t" bIns="45700" lIns="91425" spcFirstLastPara="1" rIns="91425" wrap="square" tIns="45700">
            <a:noAutofit/>
          </a:bodyPr>
          <a:lstStyle/>
          <a:p>
            <a:pPr indent="0" lvl="0" marL="239713" marR="0" rtl="0" algn="l">
              <a:lnSpc>
                <a:spcPct val="90000"/>
              </a:lnSpc>
              <a:spcBef>
                <a:spcPts val="0"/>
              </a:spcBef>
              <a:spcAft>
                <a:spcPts val="0"/>
              </a:spcAft>
              <a:buClr>
                <a:srgbClr val="0000A3"/>
              </a:buClr>
              <a:buSzPts val="3600"/>
              <a:buFont typeface="Calibri"/>
              <a:buNone/>
            </a:pPr>
            <a:r>
              <a:rPr b="0" i="0" lang="en-US" sz="3600" u="none" cap="none" strike="noStrike">
                <a:solidFill>
                  <a:srgbClr val="CC0000"/>
                </a:solidFill>
                <a:latin typeface="Calibri"/>
                <a:ea typeface="Calibri"/>
                <a:cs typeface="Calibri"/>
                <a:sym typeface="Calibri"/>
              </a:rPr>
              <a:t>NAT:</a:t>
            </a:r>
            <a:r>
              <a:rPr b="0" i="0" lang="en-US" sz="36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all devices in local network share just </a:t>
            </a:r>
            <a:r>
              <a:rPr b="0" i="0" lang="en-US" sz="3200" u="none" cap="none" strike="noStrike">
                <a:solidFill>
                  <a:srgbClr val="C00000"/>
                </a:solidFill>
                <a:latin typeface="Calibri"/>
                <a:ea typeface="Calibri"/>
                <a:cs typeface="Calibri"/>
                <a:sym typeface="Calibri"/>
              </a:rPr>
              <a:t>one</a:t>
            </a:r>
            <a:r>
              <a:rPr b="0" i="0" lang="en-US" sz="3200" u="none" cap="none" strike="noStrike">
                <a:solidFill>
                  <a:srgbClr val="000000"/>
                </a:solidFill>
                <a:latin typeface="Calibri"/>
                <a:ea typeface="Calibri"/>
                <a:cs typeface="Calibri"/>
                <a:sym typeface="Calibri"/>
              </a:rPr>
              <a:t> IPv4 address as far as outside world is concerned</a:t>
            </a:r>
            <a:endParaRPr/>
          </a:p>
        </p:txBody>
      </p:sp>
      <p:cxnSp>
        <p:nvCxnSpPr>
          <p:cNvPr id="4295" name="Google Shape;4295;p69"/>
          <p:cNvCxnSpPr/>
          <p:nvPr/>
        </p:nvCxnSpPr>
        <p:spPr>
          <a:xfrm>
            <a:off x="6743699" y="4124653"/>
            <a:ext cx="548895" cy="0"/>
          </a:xfrm>
          <a:prstGeom prst="straightConnector1">
            <a:avLst/>
          </a:prstGeom>
          <a:noFill/>
          <a:ln cap="flat" cmpd="sng" w="25400">
            <a:solidFill>
              <a:schemeClr val="dk1"/>
            </a:solidFill>
            <a:prstDash val="solid"/>
            <a:miter lim="800000"/>
            <a:headEnd len="sm" w="sm" type="none"/>
            <a:tailEnd len="sm" w="sm" type="none"/>
          </a:ln>
        </p:spPr>
      </p:cxnSp>
      <p:sp>
        <p:nvSpPr>
          <p:cNvPr id="4296" name="Google Shape;4296;p6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8"/>
                                        </p:tgtEl>
                                        <p:attrNameLst>
                                          <p:attrName>style.visibility</p:attrName>
                                        </p:attrNameLst>
                                      </p:cBhvr>
                                      <p:to>
                                        <p:strVal val="visible"/>
                                      </p:to>
                                    </p:set>
                                    <p:animEffect filter="fade" transition="in">
                                      <p:cBhvr>
                                        <p:cTn dur="500"/>
                                        <p:tgtEl>
                                          <p:spTgt spid="4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1"/>
                                        </p:tgtEl>
                                        <p:attrNameLst>
                                          <p:attrName>style.visibility</p:attrName>
                                        </p:attrNameLst>
                                      </p:cBhvr>
                                      <p:to>
                                        <p:strVal val="visible"/>
                                      </p:to>
                                    </p:set>
                                    <p:animEffect filter="fade" transition="in">
                                      <p:cBhvr>
                                        <p:cTn dur="500"/>
                                        <p:tgtEl>
                                          <p:spTgt spid="4291"/>
                                        </p:tgtEl>
                                      </p:cBhvr>
                                    </p:animEffect>
                                  </p:childTnLst>
                                </p:cTn>
                              </p:par>
                              <p:par>
                                <p:cTn fill="hold" nodeType="withEffect" presetClass="entr" presetID="10" presetSubtype="0">
                                  <p:stCondLst>
                                    <p:cond delay="0"/>
                                  </p:stCondLst>
                                  <p:childTnLst>
                                    <p:set>
                                      <p:cBhvr>
                                        <p:cTn dur="1" fill="hold">
                                          <p:stCondLst>
                                            <p:cond delay="0"/>
                                          </p:stCondLst>
                                        </p:cTn>
                                        <p:tgtEl>
                                          <p:spTgt spid="4268"/>
                                        </p:tgtEl>
                                        <p:attrNameLst>
                                          <p:attrName>style.visibility</p:attrName>
                                        </p:attrNameLst>
                                      </p:cBhvr>
                                      <p:to>
                                        <p:strVal val="visible"/>
                                      </p:to>
                                    </p:set>
                                    <p:animEffect filter="fade" transition="in">
                                      <p:cBhvr>
                                        <p:cTn dur="500"/>
                                        <p:tgtEl>
                                          <p:spTgt spid="4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1" name="Shape 4301"/>
        <p:cNvGrpSpPr/>
        <p:nvPr/>
      </p:nvGrpSpPr>
      <p:grpSpPr>
        <a:xfrm>
          <a:off x="0" y="0"/>
          <a:ext cx="0" cy="0"/>
          <a:chOff x="0" y="0"/>
          <a:chExt cx="0" cy="0"/>
        </a:xfrm>
      </p:grpSpPr>
      <p:sp>
        <p:nvSpPr>
          <p:cNvPr id="4302" name="Google Shape;4302;p70"/>
          <p:cNvSpPr txBox="1"/>
          <p:nvPr/>
        </p:nvSpPr>
        <p:spPr>
          <a:xfrm>
            <a:off x="475014" y="1411941"/>
            <a:ext cx="10603804" cy="5284694"/>
          </a:xfrm>
          <a:prstGeom prst="rect">
            <a:avLst/>
          </a:prstGeom>
          <a:noFill/>
          <a:ln>
            <a:noFill/>
          </a:ln>
        </p:spPr>
        <p:txBody>
          <a:bodyPr anchorCtr="0" anchor="t" bIns="45700" lIns="91425" spcFirstLastPara="1" rIns="91425" wrap="square" tIns="45700">
            <a:normAutofit/>
          </a:bodyPr>
          <a:lstStyle/>
          <a:p>
            <a:pPr indent="-290513" lvl="1" marL="695325" marR="0" rtl="0" algn="l">
              <a:lnSpc>
                <a:spcPct val="90000"/>
              </a:lnSpc>
              <a:spcBef>
                <a:spcPts val="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all devices in local network have 32-bit addresses in a “private” IP address space (10/8, 172.16/12, 192.168/16 prefixes) that can only be used in local network</a:t>
            </a:r>
            <a:endParaRPr/>
          </a:p>
          <a:p>
            <a:pPr indent="-290513"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advantages:</a:t>
            </a:r>
            <a:endParaRPr/>
          </a:p>
          <a:p>
            <a:pPr indent="-290513" lvl="2" marL="1143000" marR="0" rtl="0" algn="l">
              <a:lnSpc>
                <a:spcPct val="90000"/>
              </a:lnSpc>
              <a:spcBef>
                <a:spcPts val="5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just </a:t>
            </a:r>
            <a:r>
              <a:rPr b="0" i="0" lang="en-US" sz="2800" u="none" cap="none" strike="noStrike">
                <a:solidFill>
                  <a:srgbClr val="C00000"/>
                </a:solidFill>
                <a:latin typeface="Calibri"/>
                <a:ea typeface="Calibri"/>
                <a:cs typeface="Calibri"/>
                <a:sym typeface="Calibri"/>
              </a:rPr>
              <a:t>one</a:t>
            </a:r>
            <a:r>
              <a:rPr b="0" i="0" lang="en-US" sz="2800" u="none" cap="none" strike="noStrike">
                <a:solidFill>
                  <a:srgbClr val="000000"/>
                </a:solidFill>
                <a:latin typeface="Calibri"/>
                <a:ea typeface="Calibri"/>
                <a:cs typeface="Calibri"/>
                <a:sym typeface="Calibri"/>
              </a:rPr>
              <a:t> IP address needed from provider ISP for </a:t>
            </a:r>
            <a:r>
              <a:rPr b="0" i="1" lang="en-US" sz="2800" u="none" cap="none" strike="noStrike">
                <a:solidFill>
                  <a:srgbClr val="0000A3"/>
                </a:solidFill>
                <a:latin typeface="Calibri"/>
                <a:ea typeface="Calibri"/>
                <a:cs typeface="Calibri"/>
                <a:sym typeface="Calibri"/>
              </a:rPr>
              <a:t>all</a:t>
            </a:r>
            <a:r>
              <a:rPr b="0" i="0" lang="en-US" sz="2800" u="none" cap="none" strike="noStrike">
                <a:solidFill>
                  <a:srgbClr val="000000"/>
                </a:solidFill>
                <a:latin typeface="Calibri"/>
                <a:ea typeface="Calibri"/>
                <a:cs typeface="Calibri"/>
                <a:sym typeface="Calibri"/>
              </a:rPr>
              <a:t> devices</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can change addresses of host in local network without notifying outside world</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can change ISP without changing addresses of devices in local network</a:t>
            </a:r>
            <a:endParaRPr/>
          </a:p>
          <a:p>
            <a:pPr indent="-290513" lvl="2" marL="1143000"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security: devices inside local net not directly addressable, visible by outside world</a:t>
            </a:r>
            <a:endParaRPr/>
          </a:p>
          <a:p>
            <a:pPr indent="0" lvl="1" marL="349250" marR="0" rtl="0" algn="l">
              <a:lnSpc>
                <a:spcPct val="90000"/>
              </a:lnSpc>
              <a:spcBef>
                <a:spcPts val="500"/>
              </a:spcBef>
              <a:spcAft>
                <a:spcPts val="0"/>
              </a:spcAft>
              <a:buClr>
                <a:srgbClr val="0000A8"/>
              </a:buClr>
              <a:buSzPts val="2800"/>
              <a:buFont typeface="Arial"/>
              <a:buNone/>
            </a:pPr>
            <a:r>
              <a:t/>
            </a:r>
            <a:endParaRPr b="0" i="1" sz="2800" u="none" cap="none" strike="noStrike">
              <a:solidFill>
                <a:srgbClr val="CC0000"/>
              </a:solidFill>
              <a:latin typeface="Calibri"/>
              <a:ea typeface="Calibri"/>
              <a:cs typeface="Calibri"/>
              <a:sym typeface="Calibri"/>
            </a:endParaRPr>
          </a:p>
        </p:txBody>
      </p:sp>
      <p:sp>
        <p:nvSpPr>
          <p:cNvPr id="4303" name="Google Shape;4303;p70"/>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04" name="Google Shape;4304;p7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0" st="0"/>
                                            </p:txEl>
                                          </p:spTgt>
                                        </p:tgtEl>
                                        <p:attrNameLst>
                                          <p:attrName>style.visibility</p:attrName>
                                        </p:attrNameLst>
                                      </p:cBhvr>
                                      <p:to>
                                        <p:strVal val="visible"/>
                                      </p:to>
                                    </p:set>
                                    <p:animEffect filter="fade" transition="in">
                                      <p:cBhvr>
                                        <p:cTn dur="500"/>
                                        <p:tgtEl>
                                          <p:spTgt spid="4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1" st="1"/>
                                            </p:txEl>
                                          </p:spTgt>
                                        </p:tgtEl>
                                        <p:attrNameLst>
                                          <p:attrName>style.visibility</p:attrName>
                                        </p:attrNameLst>
                                      </p:cBhvr>
                                      <p:to>
                                        <p:strVal val="visible"/>
                                      </p:to>
                                    </p:set>
                                    <p:animEffect filter="fade" transition="in">
                                      <p:cBhvr>
                                        <p:cTn dur="500"/>
                                        <p:tgtEl>
                                          <p:spTgt spid="43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2" st="2"/>
                                            </p:txEl>
                                          </p:spTgt>
                                        </p:tgtEl>
                                        <p:attrNameLst>
                                          <p:attrName>style.visibility</p:attrName>
                                        </p:attrNameLst>
                                      </p:cBhvr>
                                      <p:to>
                                        <p:strVal val="visible"/>
                                      </p:to>
                                    </p:set>
                                    <p:animEffect filter="fade" transition="in">
                                      <p:cBhvr>
                                        <p:cTn dur="500"/>
                                        <p:tgtEl>
                                          <p:spTgt spid="43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3" st="3"/>
                                            </p:txEl>
                                          </p:spTgt>
                                        </p:tgtEl>
                                        <p:attrNameLst>
                                          <p:attrName>style.visibility</p:attrName>
                                        </p:attrNameLst>
                                      </p:cBhvr>
                                      <p:to>
                                        <p:strVal val="visible"/>
                                      </p:to>
                                    </p:set>
                                    <p:animEffect filter="fade" transition="in">
                                      <p:cBhvr>
                                        <p:cTn dur="500"/>
                                        <p:tgtEl>
                                          <p:spTgt spid="43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4" st="4"/>
                                            </p:txEl>
                                          </p:spTgt>
                                        </p:tgtEl>
                                        <p:attrNameLst>
                                          <p:attrName>style.visibility</p:attrName>
                                        </p:attrNameLst>
                                      </p:cBhvr>
                                      <p:to>
                                        <p:strVal val="visible"/>
                                      </p:to>
                                    </p:set>
                                    <p:animEffect filter="fade" transition="in">
                                      <p:cBhvr>
                                        <p:cTn dur="500"/>
                                        <p:tgtEl>
                                          <p:spTgt spid="43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5" st="5"/>
                                            </p:txEl>
                                          </p:spTgt>
                                        </p:tgtEl>
                                        <p:attrNameLst>
                                          <p:attrName>style.visibility</p:attrName>
                                        </p:attrNameLst>
                                      </p:cBhvr>
                                      <p:to>
                                        <p:strVal val="visible"/>
                                      </p:to>
                                    </p:set>
                                    <p:animEffect filter="fade" transition="in">
                                      <p:cBhvr>
                                        <p:cTn dur="500"/>
                                        <p:tgtEl>
                                          <p:spTgt spid="43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2">
                                            <p:txEl>
                                              <p:pRg end="6" st="6"/>
                                            </p:txEl>
                                          </p:spTgt>
                                        </p:tgtEl>
                                        <p:attrNameLst>
                                          <p:attrName>style.visibility</p:attrName>
                                        </p:attrNameLst>
                                      </p:cBhvr>
                                      <p:to>
                                        <p:strVal val="visible"/>
                                      </p:to>
                                    </p:set>
                                    <p:animEffect filter="fade" transition="in">
                                      <p:cBhvr>
                                        <p:cTn dur="500"/>
                                        <p:tgtEl>
                                          <p:spTgt spid="43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9" name="Shape 4309"/>
        <p:cNvGrpSpPr/>
        <p:nvPr/>
      </p:nvGrpSpPr>
      <p:grpSpPr>
        <a:xfrm>
          <a:off x="0" y="0"/>
          <a:ext cx="0" cy="0"/>
          <a:chOff x="0" y="0"/>
          <a:chExt cx="0" cy="0"/>
        </a:xfrm>
      </p:grpSpPr>
      <p:sp>
        <p:nvSpPr>
          <p:cNvPr id="4310" name="Google Shape;4310;p71"/>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FF0000"/>
                </a:solidFill>
                <a:latin typeface="Calibri"/>
                <a:ea typeface="Calibri"/>
                <a:cs typeface="Calibri"/>
                <a:sym typeface="Calibri"/>
              </a:rPr>
              <a:t> </a:t>
            </a:r>
            <a:r>
              <a:rPr b="0" i="0" lang="en-US" sz="3200" u="none" cap="none" strike="noStrike">
                <a:solidFill>
                  <a:srgbClr val="CC0000"/>
                </a:solidFill>
                <a:latin typeface="Calibri"/>
                <a:ea typeface="Calibri"/>
                <a:cs typeface="Calibri"/>
                <a:sym typeface="Calibri"/>
              </a:rPr>
              <a:t>implementation:</a:t>
            </a:r>
            <a:r>
              <a:rPr b="0" i="0" lang="en-US" sz="3200" u="none" cap="none" strike="noStrike">
                <a:solidFill>
                  <a:srgbClr val="000000"/>
                </a:solidFill>
                <a:latin typeface="Calibri"/>
                <a:ea typeface="Calibri"/>
                <a:cs typeface="Calibri"/>
                <a:sym typeface="Calibri"/>
              </a:rPr>
              <a:t> NAT router must (transparently):</a:t>
            </a:r>
            <a:endParaRPr b="0" i="0" sz="2800" u="none" cap="none" strike="noStrike">
              <a:solidFill>
                <a:srgbClr val="000000"/>
              </a:solidFill>
              <a:latin typeface="Calibri"/>
              <a:ea typeface="Calibri"/>
              <a:cs typeface="Calibri"/>
              <a:sym typeface="Calibri"/>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outgoing datagrams: replace</a:t>
            </a:r>
            <a:r>
              <a:rPr b="0" i="0" lang="en-US" sz="2800" u="none" cap="none" strike="noStrike">
                <a:solidFill>
                  <a:srgbClr val="000000"/>
                </a:solidFill>
                <a:latin typeface="Calibri"/>
                <a:ea typeface="Calibri"/>
                <a:cs typeface="Calibri"/>
                <a:sym typeface="Calibri"/>
              </a:rPr>
              <a:t> (source IP address, port #) of every outgoing datagram to (NAT IP address, new port #)</a:t>
            </a:r>
            <a:endParaRPr/>
          </a:p>
          <a:p>
            <a:pPr indent="-287338" lvl="3" marL="1150938" marR="0" rtl="0" algn="l">
              <a:lnSpc>
                <a:spcPct val="100000"/>
              </a:lnSpc>
              <a:spcBef>
                <a:spcPts val="11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remote clients/servers will respond using (NAT IP address, new port #) as destination address</a:t>
            </a:r>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remember (in NAT translation table)</a:t>
            </a:r>
            <a:r>
              <a:rPr b="0" i="0" lang="en-US" sz="2800" u="none" cap="none" strike="noStrike">
                <a:solidFill>
                  <a:srgbClr val="ED7D31"/>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every (source IP address, port #)  to (NAT IP address, new port #) translation pair</a:t>
            </a:r>
            <a:endParaRPr/>
          </a:p>
          <a:p>
            <a:pPr indent="-290513" lvl="1" marL="695325" marR="0" rtl="0" algn="l">
              <a:lnSpc>
                <a:spcPct val="100000"/>
              </a:lnSpc>
              <a:spcBef>
                <a:spcPts val="1100"/>
              </a:spcBef>
              <a:spcAft>
                <a:spcPts val="0"/>
              </a:spcAft>
              <a:buClr>
                <a:srgbClr val="0000A8"/>
              </a:buClr>
              <a:buSzPts val="2800"/>
              <a:buFont typeface="Noto Sans Symbols"/>
              <a:buChar char="▪"/>
            </a:pPr>
            <a:r>
              <a:rPr b="0" i="0" lang="en-US" sz="2800" u="none" cap="none" strike="noStrike">
                <a:solidFill>
                  <a:srgbClr val="000099"/>
                </a:solidFill>
                <a:latin typeface="Calibri"/>
                <a:ea typeface="Calibri"/>
                <a:cs typeface="Calibri"/>
                <a:sym typeface="Calibri"/>
              </a:rPr>
              <a:t>incoming datagrams: replace</a:t>
            </a:r>
            <a:r>
              <a:rPr b="0" i="0" lang="en-US" sz="2800" u="none" cap="none" strike="noStrike">
                <a:solidFill>
                  <a:srgbClr val="000000"/>
                </a:solidFill>
                <a:latin typeface="Calibri"/>
                <a:ea typeface="Calibri"/>
                <a:cs typeface="Calibri"/>
                <a:sym typeface="Calibri"/>
              </a:rPr>
              <a:t> (NAT IP address, new port #) in destination fields of every incoming datagram with corresponding (source IP address, port #) stored in NAT table</a:t>
            </a:r>
            <a:endParaRPr b="0" i="1" sz="3200" u="none" cap="none" strike="noStrike">
              <a:solidFill>
                <a:srgbClr val="CC0000"/>
              </a:solidFill>
              <a:latin typeface="Calibri"/>
              <a:ea typeface="Calibri"/>
              <a:cs typeface="Calibri"/>
              <a:sym typeface="Calibri"/>
            </a:endParaRPr>
          </a:p>
        </p:txBody>
      </p:sp>
      <p:sp>
        <p:nvSpPr>
          <p:cNvPr id="4311" name="Google Shape;4311;p71"/>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12" name="Google Shape;4312;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7" name="Shape 4317"/>
        <p:cNvGrpSpPr/>
        <p:nvPr/>
      </p:nvGrpSpPr>
      <p:grpSpPr>
        <a:xfrm>
          <a:off x="0" y="0"/>
          <a:ext cx="0" cy="0"/>
          <a:chOff x="0" y="0"/>
          <a:chExt cx="0" cy="0"/>
        </a:xfrm>
      </p:grpSpPr>
      <p:sp>
        <p:nvSpPr>
          <p:cNvPr id="4318" name="Google Shape;4318;p72"/>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319" name="Google Shape;4319;p72"/>
          <p:cNvSpPr/>
          <p:nvPr/>
        </p:nvSpPr>
        <p:spPr>
          <a:xfrm>
            <a:off x="2061197" y="3850033"/>
            <a:ext cx="4089400" cy="1355725"/>
          </a:xfrm>
          <a:custGeom>
            <a:rect b="b" l="l" r="r" t="t"/>
            <a:pathLst>
              <a:path extrusionOk="0" h="854" w="2269">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a:gsLst>
              <a:gs pos="0">
                <a:srgbClr val="FFFFFF">
                  <a:alpha val="97647"/>
                </a:srgbClr>
              </a:gs>
              <a:gs pos="100000">
                <a:srgbClr val="66CC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20" name="Google Shape;4320;p72"/>
          <p:cNvSpPr/>
          <p:nvPr/>
        </p:nvSpPr>
        <p:spPr>
          <a:xfrm>
            <a:off x="6350622" y="3121371"/>
            <a:ext cx="3738562" cy="2697162"/>
          </a:xfrm>
          <a:custGeom>
            <a:rect b="b" l="l" r="r" t="t"/>
            <a:pathLst>
              <a:path extrusionOk="0" h="1699" w="2355">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21" name="Google Shape;4321;p72"/>
          <p:cNvGrpSpPr/>
          <p:nvPr/>
        </p:nvGrpSpPr>
        <p:grpSpPr>
          <a:xfrm>
            <a:off x="7512672" y="3054696"/>
            <a:ext cx="1871662" cy="1033462"/>
            <a:chOff x="3550" y="2055"/>
            <a:chExt cx="1179" cy="651"/>
          </a:xfrm>
        </p:grpSpPr>
        <p:grpSp>
          <p:nvGrpSpPr>
            <p:cNvPr id="4322" name="Google Shape;4322;p72"/>
            <p:cNvGrpSpPr/>
            <p:nvPr/>
          </p:nvGrpSpPr>
          <p:grpSpPr>
            <a:xfrm>
              <a:off x="3550" y="2055"/>
              <a:ext cx="1179" cy="357"/>
              <a:chOff x="4381" y="786"/>
              <a:chExt cx="1108" cy="357"/>
            </a:xfrm>
          </p:grpSpPr>
          <p:sp>
            <p:nvSpPr>
              <p:cNvPr id="4323" name="Google Shape;4323;p72"/>
              <p:cNvSpPr/>
              <p:nvPr/>
            </p:nvSpPr>
            <p:spPr>
              <a:xfrm>
                <a:off x="4385" y="830"/>
                <a:ext cx="1104"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24" name="Google Shape;4324;p72"/>
              <p:cNvSpPr txBox="1"/>
              <p:nvPr/>
            </p:nvSpPr>
            <p:spPr>
              <a:xfrm>
                <a:off x="4381" y="813"/>
                <a:ext cx="104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10.0.0.1, 3345</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128.119.40.186, 80</a:t>
                </a:r>
                <a:endParaRPr/>
              </a:p>
            </p:txBody>
          </p:sp>
          <p:grpSp>
            <p:nvGrpSpPr>
              <p:cNvPr id="4325" name="Google Shape;4325;p72"/>
              <p:cNvGrpSpPr/>
              <p:nvPr/>
            </p:nvGrpSpPr>
            <p:grpSpPr>
              <a:xfrm>
                <a:off x="5394" y="786"/>
                <a:ext cx="48" cy="99"/>
                <a:chOff x="5508" y="1599"/>
                <a:chExt cx="48" cy="99"/>
              </a:xfrm>
            </p:grpSpPr>
            <p:sp>
              <p:nvSpPr>
                <p:cNvPr id="4326" name="Google Shape;4326;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27" name="Google Shape;4327;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28" name="Google Shape;4328;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29" name="Google Shape;4329;p72"/>
              <p:cNvGrpSpPr/>
              <p:nvPr/>
            </p:nvGrpSpPr>
            <p:grpSpPr>
              <a:xfrm>
                <a:off x="5382" y="1044"/>
                <a:ext cx="48" cy="99"/>
                <a:chOff x="5508" y="1599"/>
                <a:chExt cx="48" cy="99"/>
              </a:xfrm>
            </p:grpSpPr>
            <p:sp>
              <p:nvSpPr>
                <p:cNvPr id="4330" name="Google Shape;4330;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31" name="Google Shape;4331;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32" name="Google Shape;4332;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sp>
          <p:nvSpPr>
            <p:cNvPr id="4333" name="Google Shape;4333;p72"/>
            <p:cNvSpPr/>
            <p:nvPr/>
          </p:nvSpPr>
          <p:spPr>
            <a:xfrm>
              <a:off x="3573" y="2364"/>
              <a:ext cx="564" cy="342"/>
            </a:xfrm>
            <a:custGeom>
              <a:rect b="b" l="l" r="r" t="t"/>
              <a:pathLst>
                <a:path extrusionOk="0" h="264" w="417">
                  <a:moveTo>
                    <a:pt x="0" y="264"/>
                  </a:moveTo>
                  <a:lnTo>
                    <a:pt x="417" y="264"/>
                  </a:lnTo>
                  <a:lnTo>
                    <a:pt x="417" y="0"/>
                  </a:lnTo>
                </a:path>
              </a:pathLst>
            </a:custGeom>
            <a:noFill/>
            <a:ln cap="flat" cmpd="sng" w="2857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34" name="Google Shape;4334;p72"/>
            <p:cNvGrpSpPr/>
            <p:nvPr/>
          </p:nvGrpSpPr>
          <p:grpSpPr>
            <a:xfrm>
              <a:off x="4032" y="2416"/>
              <a:ext cx="218" cy="231"/>
              <a:chOff x="5140" y="400"/>
              <a:chExt cx="218" cy="231"/>
            </a:xfrm>
          </p:grpSpPr>
          <p:sp>
            <p:nvSpPr>
              <p:cNvPr id="4335" name="Google Shape;4335;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36" name="Google Shape;4336;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1</a:t>
                </a:r>
                <a:endParaRPr/>
              </a:p>
            </p:txBody>
          </p:sp>
        </p:grpSp>
      </p:grpSp>
      <p:sp>
        <p:nvSpPr>
          <p:cNvPr id="4337" name="Google Shape;4337;p72"/>
          <p:cNvSpPr txBox="1"/>
          <p:nvPr/>
        </p:nvSpPr>
        <p:spPr>
          <a:xfrm>
            <a:off x="6542534" y="403628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10.0.0.4</a:t>
            </a:r>
            <a:endParaRPr/>
          </a:p>
        </p:txBody>
      </p:sp>
      <p:sp>
        <p:nvSpPr>
          <p:cNvPr id="4338" name="Google Shape;4338;p72"/>
          <p:cNvSpPr txBox="1"/>
          <p:nvPr/>
        </p:nvSpPr>
        <p:spPr>
          <a:xfrm>
            <a:off x="4572494" y="4525035"/>
            <a:ext cx="117211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138.76.29.7</a:t>
            </a:r>
            <a:endParaRPr/>
          </a:p>
        </p:txBody>
      </p:sp>
      <p:grpSp>
        <p:nvGrpSpPr>
          <p:cNvPr id="4339" name="Google Shape;4339;p72"/>
          <p:cNvGrpSpPr/>
          <p:nvPr/>
        </p:nvGrpSpPr>
        <p:grpSpPr>
          <a:xfrm>
            <a:off x="8350874" y="1768821"/>
            <a:ext cx="3351213" cy="1389062"/>
            <a:chOff x="3944" y="989"/>
            <a:chExt cx="2111" cy="875"/>
          </a:xfrm>
        </p:grpSpPr>
        <p:sp>
          <p:nvSpPr>
            <p:cNvPr id="4340" name="Google Shape;4340;p72"/>
            <p:cNvSpPr txBox="1"/>
            <p:nvPr/>
          </p:nvSpPr>
          <p:spPr>
            <a:xfrm>
              <a:off x="4121" y="989"/>
              <a:ext cx="1934" cy="55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1:</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host 10.0.0.1 sends datagram to 128.119.40.186, 80</a:t>
              </a:r>
              <a:endParaRPr/>
            </a:p>
          </p:txBody>
        </p:sp>
        <p:cxnSp>
          <p:nvCxnSpPr>
            <p:cNvPr id="4341" name="Google Shape;4341;p72"/>
            <p:cNvCxnSpPr/>
            <p:nvPr/>
          </p:nvCxnSpPr>
          <p:spPr>
            <a:xfrm flipH="1">
              <a:off x="3944" y="1105"/>
              <a:ext cx="197" cy="759"/>
            </a:xfrm>
            <a:prstGeom prst="straightConnector1">
              <a:avLst/>
            </a:prstGeom>
            <a:noFill/>
            <a:ln cap="flat" cmpd="sng" w="12700">
              <a:solidFill>
                <a:srgbClr val="CC0000"/>
              </a:solidFill>
              <a:prstDash val="solid"/>
              <a:round/>
              <a:headEnd len="med" w="med" type="none"/>
              <a:tailEnd len="med" w="med" type="none"/>
            </a:ln>
          </p:spPr>
        </p:cxnSp>
      </p:grpSp>
      <p:sp>
        <p:nvSpPr>
          <p:cNvPr id="4342" name="Google Shape;4342;p72"/>
          <p:cNvSpPr/>
          <p:nvPr/>
        </p:nvSpPr>
        <p:spPr>
          <a:xfrm>
            <a:off x="4226547" y="2826096"/>
            <a:ext cx="3862387" cy="1531937"/>
          </a:xfrm>
          <a:custGeom>
            <a:rect b="b" l="l" r="r" t="t"/>
            <a:pathLst>
              <a:path extrusionOk="0" h="965" w="2433">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a:gsLst>
              <a:gs pos="0">
                <a:srgbClr val="BFBFBF"/>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343" name="Google Shape;4343;p72"/>
          <p:cNvSpPr/>
          <p:nvPr/>
        </p:nvSpPr>
        <p:spPr>
          <a:xfrm>
            <a:off x="4226547" y="1573558"/>
            <a:ext cx="3784600" cy="135413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44" name="Google Shape;4344;p72"/>
          <p:cNvSpPr txBox="1"/>
          <p:nvPr/>
        </p:nvSpPr>
        <p:spPr>
          <a:xfrm>
            <a:off x="4280166" y="1578252"/>
            <a:ext cx="365196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NAT translation table</a:t>
            </a:r>
            <a:endParaRPr/>
          </a:p>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WAN side addr        LAN side addr</a:t>
            </a:r>
            <a:endParaRPr/>
          </a:p>
        </p:txBody>
      </p:sp>
      <p:cxnSp>
        <p:nvCxnSpPr>
          <p:cNvPr id="4345" name="Google Shape;4345;p72"/>
          <p:cNvCxnSpPr/>
          <p:nvPr/>
        </p:nvCxnSpPr>
        <p:spPr>
          <a:xfrm flipH="1" rot="10800000">
            <a:off x="4226547" y="1946621"/>
            <a:ext cx="3790950" cy="11112"/>
          </a:xfrm>
          <a:prstGeom prst="straightConnector1">
            <a:avLst/>
          </a:prstGeom>
          <a:noFill/>
          <a:ln cap="flat" cmpd="sng" w="9525">
            <a:solidFill>
              <a:srgbClr val="000000"/>
            </a:solidFill>
            <a:prstDash val="solid"/>
            <a:round/>
            <a:headEnd len="med" w="med" type="none"/>
            <a:tailEnd len="med" w="med" type="none"/>
          </a:ln>
        </p:spPr>
      </p:cxnSp>
      <p:cxnSp>
        <p:nvCxnSpPr>
          <p:cNvPr id="4346" name="Google Shape;4346;p72"/>
          <p:cNvCxnSpPr/>
          <p:nvPr/>
        </p:nvCxnSpPr>
        <p:spPr>
          <a:xfrm flipH="1" rot="10800000">
            <a:off x="4240834" y="2224433"/>
            <a:ext cx="3749675" cy="11113"/>
          </a:xfrm>
          <a:prstGeom prst="straightConnector1">
            <a:avLst/>
          </a:prstGeom>
          <a:noFill/>
          <a:ln cap="flat" cmpd="sng" w="9525">
            <a:solidFill>
              <a:srgbClr val="000000"/>
            </a:solidFill>
            <a:prstDash val="solid"/>
            <a:round/>
            <a:headEnd len="med" w="med" type="none"/>
            <a:tailEnd len="med" w="med" type="none"/>
          </a:ln>
        </p:spPr>
      </p:cxnSp>
      <p:cxnSp>
        <p:nvCxnSpPr>
          <p:cNvPr id="4347" name="Google Shape;4347;p72"/>
          <p:cNvCxnSpPr/>
          <p:nvPr/>
        </p:nvCxnSpPr>
        <p:spPr>
          <a:xfrm>
            <a:off x="6350622" y="1968846"/>
            <a:ext cx="3175" cy="955675"/>
          </a:xfrm>
          <a:prstGeom prst="straightConnector1">
            <a:avLst/>
          </a:prstGeom>
          <a:noFill/>
          <a:ln cap="flat" cmpd="sng" w="9525">
            <a:solidFill>
              <a:srgbClr val="000000"/>
            </a:solidFill>
            <a:prstDash val="solid"/>
            <a:round/>
            <a:headEnd len="med" w="med" type="none"/>
            <a:tailEnd len="med" w="med" type="none"/>
          </a:ln>
        </p:spPr>
      </p:cxnSp>
      <p:sp>
        <p:nvSpPr>
          <p:cNvPr id="4348" name="Google Shape;4348;p72"/>
          <p:cNvSpPr txBox="1"/>
          <p:nvPr/>
        </p:nvSpPr>
        <p:spPr>
          <a:xfrm>
            <a:off x="4450607" y="2243483"/>
            <a:ext cx="336823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138.76.29.7, 5001   10.0.0.1, 3345</a:t>
            </a:r>
            <a:endParaRPr/>
          </a:p>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4349" name="Google Shape;4349;p72"/>
          <p:cNvGrpSpPr/>
          <p:nvPr/>
        </p:nvGrpSpPr>
        <p:grpSpPr>
          <a:xfrm>
            <a:off x="6647484" y="3634133"/>
            <a:ext cx="2784475" cy="1638300"/>
            <a:chOff x="3002" y="2417"/>
            <a:chExt cx="1754" cy="1032"/>
          </a:xfrm>
        </p:grpSpPr>
        <p:sp>
          <p:nvSpPr>
            <p:cNvPr id="4350" name="Google Shape;4350;p72"/>
            <p:cNvSpPr/>
            <p:nvPr/>
          </p:nvSpPr>
          <p:spPr>
            <a:xfrm>
              <a:off x="3002" y="3051"/>
              <a:ext cx="1175"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51" name="Google Shape;4351;p72"/>
            <p:cNvSpPr txBox="1"/>
            <p:nvPr/>
          </p:nvSpPr>
          <p:spPr>
            <a:xfrm>
              <a:off x="3104" y="3042"/>
              <a:ext cx="1112"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128.119.40.186, 80 </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10.0.0.1, 3345</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4352" name="Google Shape;4352;p72"/>
            <p:cNvGrpSpPr/>
            <p:nvPr/>
          </p:nvGrpSpPr>
          <p:grpSpPr>
            <a:xfrm>
              <a:off x="3054" y="3007"/>
              <a:ext cx="51" cy="99"/>
              <a:chOff x="5508" y="1599"/>
              <a:chExt cx="48" cy="99"/>
            </a:xfrm>
          </p:grpSpPr>
          <p:sp>
            <p:nvSpPr>
              <p:cNvPr id="4353" name="Google Shape;435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54" name="Google Shape;4354;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55" name="Google Shape;4355;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56" name="Google Shape;4356;p72"/>
            <p:cNvGrpSpPr/>
            <p:nvPr/>
          </p:nvGrpSpPr>
          <p:grpSpPr>
            <a:xfrm>
              <a:off x="3059" y="3248"/>
              <a:ext cx="51" cy="99"/>
              <a:chOff x="5508" y="1599"/>
              <a:chExt cx="48" cy="99"/>
            </a:xfrm>
          </p:grpSpPr>
          <p:sp>
            <p:nvSpPr>
              <p:cNvPr id="4357" name="Google Shape;4357;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58" name="Google Shape;4358;p72"/>
              <p:cNvCxnSpPr/>
              <p:nvPr/>
            </p:nvCxnSpPr>
            <p:spPr>
              <a:xfrm flipH="1">
                <a:off x="5512" y="1608"/>
                <a:ext cx="22" cy="68"/>
              </a:xfrm>
              <a:prstGeom prst="straightConnector1">
                <a:avLst/>
              </a:prstGeom>
              <a:noFill/>
              <a:ln cap="flat" cmpd="sng" w="9525">
                <a:solidFill>
                  <a:srgbClr val="000000"/>
                </a:solidFill>
                <a:prstDash val="solid"/>
                <a:round/>
                <a:headEnd len="med" w="med" type="none"/>
                <a:tailEnd len="med" w="med" type="none"/>
              </a:ln>
            </p:spPr>
          </p:cxnSp>
          <p:cxnSp>
            <p:nvCxnSpPr>
              <p:cNvPr id="4359" name="Google Shape;4359;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sp>
          <p:nvSpPr>
            <p:cNvPr id="4360" name="Google Shape;4360;p72"/>
            <p:cNvSpPr/>
            <p:nvPr/>
          </p:nvSpPr>
          <p:spPr>
            <a:xfrm>
              <a:off x="4179" y="2417"/>
              <a:ext cx="577" cy="768"/>
            </a:xfrm>
            <a:custGeom>
              <a:rect b="b" l="l" r="r" t="t"/>
              <a:pathLst>
                <a:path extrusionOk="0" h="768" w="577">
                  <a:moveTo>
                    <a:pt x="577" y="0"/>
                  </a:moveTo>
                  <a:lnTo>
                    <a:pt x="342" y="0"/>
                  </a:lnTo>
                  <a:lnTo>
                    <a:pt x="342" y="768"/>
                  </a:lnTo>
                  <a:lnTo>
                    <a:pt x="0" y="760"/>
                  </a:lnTo>
                </a:path>
              </a:pathLst>
            </a:custGeom>
            <a:noFill/>
            <a:ln cap="flat" cmpd="sng" w="28575">
              <a:solidFill>
                <a:srgbClr val="000000"/>
              </a:solidFill>
              <a:prstDash val="solid"/>
              <a:round/>
              <a:headEnd len="med" w="med" type="triangl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361" name="Google Shape;4361;p72"/>
            <p:cNvGrpSpPr/>
            <p:nvPr/>
          </p:nvGrpSpPr>
          <p:grpSpPr>
            <a:xfrm>
              <a:off x="4240" y="3061"/>
              <a:ext cx="218" cy="231"/>
              <a:chOff x="5140" y="400"/>
              <a:chExt cx="218" cy="231"/>
            </a:xfrm>
          </p:grpSpPr>
          <p:sp>
            <p:nvSpPr>
              <p:cNvPr id="4362" name="Google Shape;4362;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63" name="Google Shape;4363;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4</a:t>
                </a:r>
                <a:endParaRPr/>
              </a:p>
            </p:txBody>
          </p:sp>
        </p:grpSp>
      </p:grpSp>
      <p:grpSp>
        <p:nvGrpSpPr>
          <p:cNvPr id="4364" name="Google Shape;4364;p72"/>
          <p:cNvGrpSpPr/>
          <p:nvPr/>
        </p:nvGrpSpPr>
        <p:grpSpPr>
          <a:xfrm>
            <a:off x="3413747" y="3851621"/>
            <a:ext cx="2497137" cy="566737"/>
            <a:chOff x="1026" y="3559"/>
            <a:chExt cx="1573" cy="357"/>
          </a:xfrm>
        </p:grpSpPr>
        <p:grpSp>
          <p:nvGrpSpPr>
            <p:cNvPr id="4365" name="Google Shape;4365;p72"/>
            <p:cNvGrpSpPr/>
            <p:nvPr/>
          </p:nvGrpSpPr>
          <p:grpSpPr>
            <a:xfrm>
              <a:off x="1412" y="3559"/>
              <a:ext cx="1187" cy="357"/>
              <a:chOff x="4381" y="786"/>
              <a:chExt cx="1108" cy="357"/>
            </a:xfrm>
          </p:grpSpPr>
          <p:sp>
            <p:nvSpPr>
              <p:cNvPr id="4366" name="Google Shape;4366;p72"/>
              <p:cNvSpPr/>
              <p:nvPr/>
            </p:nvSpPr>
            <p:spPr>
              <a:xfrm>
                <a:off x="4385" y="830"/>
                <a:ext cx="1104"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67" name="Google Shape;4367;p72"/>
              <p:cNvSpPr txBox="1"/>
              <p:nvPr/>
            </p:nvSpPr>
            <p:spPr>
              <a:xfrm>
                <a:off x="4381" y="813"/>
                <a:ext cx="104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138.76.29.7, 5001</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128.119.40.186, 80</a:t>
                </a:r>
                <a:endParaRPr/>
              </a:p>
            </p:txBody>
          </p:sp>
          <p:grpSp>
            <p:nvGrpSpPr>
              <p:cNvPr id="4368" name="Google Shape;4368;p72"/>
              <p:cNvGrpSpPr/>
              <p:nvPr/>
            </p:nvGrpSpPr>
            <p:grpSpPr>
              <a:xfrm>
                <a:off x="5394" y="786"/>
                <a:ext cx="49" cy="99"/>
                <a:chOff x="5508" y="1599"/>
                <a:chExt cx="49" cy="99"/>
              </a:xfrm>
            </p:grpSpPr>
            <p:sp>
              <p:nvSpPr>
                <p:cNvPr id="4369" name="Google Shape;4369;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70" name="Google Shape;4370;p72"/>
                <p:cNvCxnSpPr/>
                <p:nvPr/>
              </p:nvCxnSpPr>
              <p:spPr>
                <a:xfrm flipH="1">
                  <a:off x="5512" y="1608"/>
                  <a:ext cx="21" cy="68"/>
                </a:xfrm>
                <a:prstGeom prst="straightConnector1">
                  <a:avLst/>
                </a:prstGeom>
                <a:noFill/>
                <a:ln cap="flat" cmpd="sng" w="9525">
                  <a:solidFill>
                    <a:srgbClr val="000000"/>
                  </a:solidFill>
                  <a:prstDash val="solid"/>
                  <a:round/>
                  <a:headEnd len="med" w="med" type="none"/>
                  <a:tailEnd len="med" w="med" type="none"/>
                </a:ln>
              </p:spPr>
            </p:cxnSp>
            <p:cxnSp>
              <p:nvCxnSpPr>
                <p:cNvPr id="4371" name="Google Shape;4371;p72"/>
                <p:cNvCxnSpPr/>
                <p:nvPr/>
              </p:nvCxnSpPr>
              <p:spPr>
                <a:xfrm flipH="1">
                  <a:off x="5536" y="1620"/>
                  <a:ext cx="21" cy="68"/>
                </a:xfrm>
                <a:prstGeom prst="straightConnector1">
                  <a:avLst/>
                </a:prstGeom>
                <a:noFill/>
                <a:ln cap="flat" cmpd="sng" w="9525">
                  <a:solidFill>
                    <a:srgbClr val="000000"/>
                  </a:solidFill>
                  <a:prstDash val="solid"/>
                  <a:round/>
                  <a:headEnd len="med" w="med" type="none"/>
                  <a:tailEnd len="med" w="med" type="none"/>
                </a:ln>
              </p:spPr>
            </p:cxnSp>
          </p:grpSp>
          <p:grpSp>
            <p:nvGrpSpPr>
              <p:cNvPr id="4372" name="Google Shape;4372;p72"/>
              <p:cNvGrpSpPr/>
              <p:nvPr/>
            </p:nvGrpSpPr>
            <p:grpSpPr>
              <a:xfrm>
                <a:off x="5382" y="1044"/>
                <a:ext cx="49" cy="99"/>
                <a:chOff x="5508" y="1599"/>
                <a:chExt cx="49" cy="99"/>
              </a:xfrm>
            </p:grpSpPr>
            <p:sp>
              <p:nvSpPr>
                <p:cNvPr id="4373" name="Google Shape;437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74" name="Google Shape;4374;p72"/>
                <p:cNvCxnSpPr/>
                <p:nvPr/>
              </p:nvCxnSpPr>
              <p:spPr>
                <a:xfrm flipH="1">
                  <a:off x="5510" y="1608"/>
                  <a:ext cx="21" cy="68"/>
                </a:xfrm>
                <a:prstGeom prst="straightConnector1">
                  <a:avLst/>
                </a:prstGeom>
                <a:noFill/>
                <a:ln cap="flat" cmpd="sng" w="9525">
                  <a:solidFill>
                    <a:srgbClr val="000000"/>
                  </a:solidFill>
                  <a:prstDash val="solid"/>
                  <a:round/>
                  <a:headEnd len="med" w="med" type="none"/>
                  <a:tailEnd len="med" w="med" type="none"/>
                </a:ln>
              </p:spPr>
            </p:cxnSp>
            <p:cxnSp>
              <p:nvCxnSpPr>
                <p:cNvPr id="4375" name="Google Shape;4375;p72"/>
                <p:cNvCxnSpPr/>
                <p:nvPr/>
              </p:nvCxnSpPr>
              <p:spPr>
                <a:xfrm flipH="1">
                  <a:off x="5536" y="1620"/>
                  <a:ext cx="21" cy="68"/>
                </a:xfrm>
                <a:prstGeom prst="straightConnector1">
                  <a:avLst/>
                </a:prstGeom>
                <a:noFill/>
                <a:ln cap="flat" cmpd="sng" w="9525">
                  <a:solidFill>
                    <a:srgbClr val="000000"/>
                  </a:solidFill>
                  <a:prstDash val="solid"/>
                  <a:round/>
                  <a:headEnd len="med" w="med" type="none"/>
                  <a:tailEnd len="med" w="med" type="none"/>
                </a:ln>
              </p:spPr>
            </p:cxnSp>
          </p:grpSp>
        </p:grpSp>
        <p:cxnSp>
          <p:nvCxnSpPr>
            <p:cNvPr id="4376" name="Google Shape;4376;p72"/>
            <p:cNvCxnSpPr/>
            <p:nvPr/>
          </p:nvCxnSpPr>
          <p:spPr>
            <a:xfrm rot="10800000">
              <a:off x="1026" y="3729"/>
              <a:ext cx="376" cy="0"/>
            </a:xfrm>
            <a:prstGeom prst="straightConnector1">
              <a:avLst/>
            </a:prstGeom>
            <a:noFill/>
            <a:ln cap="flat" cmpd="sng" w="19050">
              <a:solidFill>
                <a:srgbClr val="000000"/>
              </a:solidFill>
              <a:prstDash val="solid"/>
              <a:round/>
              <a:headEnd len="med" w="med" type="none"/>
              <a:tailEnd len="med" w="med" type="triangle"/>
            </a:ln>
          </p:spPr>
        </p:cxnSp>
        <p:grpSp>
          <p:nvGrpSpPr>
            <p:cNvPr id="4377" name="Google Shape;4377;p72"/>
            <p:cNvGrpSpPr/>
            <p:nvPr/>
          </p:nvGrpSpPr>
          <p:grpSpPr>
            <a:xfrm>
              <a:off x="1143" y="3613"/>
              <a:ext cx="218" cy="231"/>
              <a:chOff x="5140" y="400"/>
              <a:chExt cx="218" cy="231"/>
            </a:xfrm>
          </p:grpSpPr>
          <p:sp>
            <p:nvSpPr>
              <p:cNvPr id="4378" name="Google Shape;4378;p72"/>
              <p:cNvSpPr/>
              <p:nvPr/>
            </p:nvSpPr>
            <p:spPr>
              <a:xfrm>
                <a:off x="5140" y="410"/>
                <a:ext cx="218" cy="218"/>
              </a:xfrm>
              <a:prstGeom prst="ellipse">
                <a:avLst/>
              </a:prstGeom>
              <a:solidFill>
                <a:srgbClr val="FFFFFF"/>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79" name="Google Shape;4379;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2</a:t>
                </a:r>
                <a:endParaRPr/>
              </a:p>
            </p:txBody>
          </p:sp>
        </p:grpSp>
      </p:grpSp>
      <p:grpSp>
        <p:nvGrpSpPr>
          <p:cNvPr id="4380" name="Google Shape;4380;p72"/>
          <p:cNvGrpSpPr/>
          <p:nvPr/>
        </p:nvGrpSpPr>
        <p:grpSpPr>
          <a:xfrm>
            <a:off x="570534" y="1870421"/>
            <a:ext cx="6465888" cy="2052637"/>
            <a:chOff x="-826" y="1306"/>
            <a:chExt cx="4073" cy="1293"/>
          </a:xfrm>
        </p:grpSpPr>
        <p:sp>
          <p:nvSpPr>
            <p:cNvPr id="4381" name="Google Shape;4381;p72"/>
            <p:cNvSpPr txBox="1"/>
            <p:nvPr/>
          </p:nvSpPr>
          <p:spPr>
            <a:xfrm>
              <a:off x="-826" y="1306"/>
              <a:ext cx="1986" cy="88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2:</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NAT router changes datagram source address from 10.0.0.1, 3345 to 138.76.29.7, 5001,</a:t>
              </a:r>
              <a:endParaRPr/>
            </a:p>
            <a:p>
              <a:pPr indent="0" lvl="0" marL="0" marR="0" rtl="0" algn="l">
                <a:lnSpc>
                  <a:spcPct val="85000"/>
                </a:lnSpc>
                <a:spcBef>
                  <a:spcPts val="0"/>
                </a:spcBef>
                <a:spcAft>
                  <a:spcPts val="0"/>
                </a:spcAft>
                <a:buClr>
                  <a:srgbClr val="000099"/>
                </a:buClr>
                <a:buSzPts val="2000"/>
                <a:buFont typeface="Calibri"/>
                <a:buNone/>
              </a:pPr>
              <a:r>
                <a:rPr b="0" i="0" lang="en-US" sz="2000" u="none" cap="none" strike="noStrike">
                  <a:solidFill>
                    <a:srgbClr val="000099"/>
                  </a:solidFill>
                  <a:latin typeface="Calibri"/>
                  <a:ea typeface="Calibri"/>
                  <a:cs typeface="Calibri"/>
                  <a:sym typeface="Calibri"/>
                </a:rPr>
                <a:t>updates table</a:t>
              </a:r>
              <a:endParaRPr b="0" i="0" sz="1800" u="none" cap="none" strike="noStrike">
                <a:solidFill>
                  <a:srgbClr val="000099"/>
                </a:solidFill>
                <a:latin typeface="Calibri"/>
                <a:ea typeface="Calibri"/>
                <a:cs typeface="Calibri"/>
                <a:sym typeface="Calibri"/>
              </a:endParaRPr>
            </a:p>
          </p:txBody>
        </p:sp>
        <p:cxnSp>
          <p:nvCxnSpPr>
            <p:cNvPr id="4382" name="Google Shape;4382;p72"/>
            <p:cNvCxnSpPr/>
            <p:nvPr/>
          </p:nvCxnSpPr>
          <p:spPr>
            <a:xfrm>
              <a:off x="1285" y="2243"/>
              <a:ext cx="147" cy="356"/>
            </a:xfrm>
            <a:prstGeom prst="straightConnector1">
              <a:avLst/>
            </a:prstGeom>
            <a:noFill/>
            <a:ln cap="flat" cmpd="sng" w="12700">
              <a:solidFill>
                <a:srgbClr val="CC0000"/>
              </a:solidFill>
              <a:prstDash val="solid"/>
              <a:round/>
              <a:headEnd len="med" w="med" type="none"/>
              <a:tailEnd len="med" w="med" type="none"/>
            </a:ln>
          </p:spPr>
        </p:cxnSp>
        <p:cxnSp>
          <p:nvCxnSpPr>
            <p:cNvPr id="4383" name="Google Shape;4383;p72"/>
            <p:cNvCxnSpPr/>
            <p:nvPr/>
          </p:nvCxnSpPr>
          <p:spPr>
            <a:xfrm flipH="1" rot="10800000">
              <a:off x="1275" y="1788"/>
              <a:ext cx="663" cy="455"/>
            </a:xfrm>
            <a:prstGeom prst="straightConnector1">
              <a:avLst/>
            </a:prstGeom>
            <a:noFill/>
            <a:ln cap="flat" cmpd="sng" w="12700">
              <a:solidFill>
                <a:srgbClr val="CC0000"/>
              </a:solidFill>
              <a:prstDash val="solid"/>
              <a:round/>
              <a:headEnd len="med" w="med" type="none"/>
              <a:tailEnd len="med" w="med" type="none"/>
            </a:ln>
          </p:spPr>
        </p:cxnSp>
        <p:cxnSp>
          <p:nvCxnSpPr>
            <p:cNvPr id="4384" name="Google Shape;4384;p72"/>
            <p:cNvCxnSpPr/>
            <p:nvPr/>
          </p:nvCxnSpPr>
          <p:spPr>
            <a:xfrm flipH="1" rot="10800000">
              <a:off x="1275" y="1751"/>
              <a:ext cx="1972" cy="491"/>
            </a:xfrm>
            <a:prstGeom prst="straightConnector1">
              <a:avLst/>
            </a:prstGeom>
            <a:noFill/>
            <a:ln cap="flat" cmpd="sng" w="12700">
              <a:solidFill>
                <a:srgbClr val="CC0000"/>
              </a:solidFill>
              <a:prstDash val="solid"/>
              <a:round/>
              <a:headEnd len="med" w="med" type="none"/>
              <a:tailEnd len="med" w="med" type="none"/>
            </a:ln>
          </p:spPr>
        </p:cxnSp>
      </p:grpSp>
      <p:grpSp>
        <p:nvGrpSpPr>
          <p:cNvPr id="4385" name="Google Shape;4385;p72"/>
          <p:cNvGrpSpPr/>
          <p:nvPr/>
        </p:nvGrpSpPr>
        <p:grpSpPr>
          <a:xfrm>
            <a:off x="3242297" y="4880321"/>
            <a:ext cx="2471737" cy="703262"/>
            <a:chOff x="1163" y="3752"/>
            <a:chExt cx="1557" cy="443"/>
          </a:xfrm>
        </p:grpSpPr>
        <p:sp>
          <p:nvSpPr>
            <p:cNvPr id="4386" name="Google Shape;4386;p72"/>
            <p:cNvSpPr/>
            <p:nvPr/>
          </p:nvSpPr>
          <p:spPr>
            <a:xfrm>
              <a:off x="1163" y="3796"/>
              <a:ext cx="1183" cy="2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87" name="Google Shape;4387;p72"/>
            <p:cNvSpPr txBox="1"/>
            <p:nvPr/>
          </p:nvSpPr>
          <p:spPr>
            <a:xfrm>
              <a:off x="1281" y="3788"/>
              <a:ext cx="112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S: 128.119.40.186, 80 </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 138.76.29.7, 5001</a:t>
              </a:r>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nvGrpSpPr>
            <p:cNvPr id="4388" name="Google Shape;4388;p72"/>
            <p:cNvGrpSpPr/>
            <p:nvPr/>
          </p:nvGrpSpPr>
          <p:grpSpPr>
            <a:xfrm>
              <a:off x="1214" y="3752"/>
              <a:ext cx="52" cy="99"/>
              <a:chOff x="5508" y="1599"/>
              <a:chExt cx="48" cy="99"/>
            </a:xfrm>
          </p:grpSpPr>
          <p:sp>
            <p:nvSpPr>
              <p:cNvPr id="4389" name="Google Shape;4389;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90" name="Google Shape;4390;p72"/>
              <p:cNvCxnSpPr/>
              <p:nvPr/>
            </p:nvCxnSpPr>
            <p:spPr>
              <a:xfrm flipH="1">
                <a:off x="5512" y="1608"/>
                <a:ext cx="20" cy="68"/>
              </a:xfrm>
              <a:prstGeom prst="straightConnector1">
                <a:avLst/>
              </a:prstGeom>
              <a:noFill/>
              <a:ln cap="flat" cmpd="sng" w="9525">
                <a:solidFill>
                  <a:srgbClr val="000000"/>
                </a:solidFill>
                <a:prstDash val="solid"/>
                <a:round/>
                <a:headEnd len="med" w="med" type="none"/>
                <a:tailEnd len="med" w="med" type="none"/>
              </a:ln>
            </p:spPr>
          </p:cxnSp>
          <p:cxnSp>
            <p:nvCxnSpPr>
              <p:cNvPr id="4391" name="Google Shape;4391;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grpSp>
          <p:nvGrpSpPr>
            <p:cNvPr id="4392" name="Google Shape;4392;p72"/>
            <p:cNvGrpSpPr/>
            <p:nvPr/>
          </p:nvGrpSpPr>
          <p:grpSpPr>
            <a:xfrm>
              <a:off x="1193" y="3984"/>
              <a:ext cx="52" cy="99"/>
              <a:chOff x="5508" y="1599"/>
              <a:chExt cx="48" cy="99"/>
            </a:xfrm>
          </p:grpSpPr>
          <p:sp>
            <p:nvSpPr>
              <p:cNvPr id="4393" name="Google Shape;4393;p72"/>
              <p:cNvSpPr/>
              <p:nvPr/>
            </p:nvSpPr>
            <p:spPr>
              <a:xfrm>
                <a:off x="5508" y="1599"/>
                <a:ext cx="48" cy="99"/>
              </a:xfrm>
              <a:custGeom>
                <a:rect b="b" l="l" r="r" t="t"/>
                <a:pathLst>
                  <a:path extrusionOk="0" h="99" w="48">
                    <a:moveTo>
                      <a:pt x="21" y="0"/>
                    </a:moveTo>
                    <a:lnTo>
                      <a:pt x="0" y="72"/>
                    </a:lnTo>
                    <a:lnTo>
                      <a:pt x="27" y="99"/>
                    </a:lnTo>
                    <a:lnTo>
                      <a:pt x="48" y="21"/>
                    </a:lnTo>
                    <a:lnTo>
                      <a:pt x="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394" name="Google Shape;4394;p72"/>
              <p:cNvCxnSpPr/>
              <p:nvPr/>
            </p:nvCxnSpPr>
            <p:spPr>
              <a:xfrm flipH="1">
                <a:off x="5512" y="1608"/>
                <a:ext cx="20" cy="68"/>
              </a:xfrm>
              <a:prstGeom prst="straightConnector1">
                <a:avLst/>
              </a:prstGeom>
              <a:noFill/>
              <a:ln cap="flat" cmpd="sng" w="9525">
                <a:solidFill>
                  <a:srgbClr val="000000"/>
                </a:solidFill>
                <a:prstDash val="solid"/>
                <a:round/>
                <a:headEnd len="med" w="med" type="none"/>
                <a:tailEnd len="med" w="med" type="none"/>
              </a:ln>
            </p:spPr>
          </p:cxnSp>
          <p:cxnSp>
            <p:nvCxnSpPr>
              <p:cNvPr id="4395" name="Google Shape;4395;p72"/>
              <p:cNvCxnSpPr/>
              <p:nvPr/>
            </p:nvCxnSpPr>
            <p:spPr>
              <a:xfrm flipH="1">
                <a:off x="5536" y="1620"/>
                <a:ext cx="20" cy="68"/>
              </a:xfrm>
              <a:prstGeom prst="straightConnector1">
                <a:avLst/>
              </a:prstGeom>
              <a:noFill/>
              <a:ln cap="flat" cmpd="sng" w="9525">
                <a:solidFill>
                  <a:srgbClr val="000000"/>
                </a:solidFill>
                <a:prstDash val="solid"/>
                <a:round/>
                <a:headEnd len="med" w="med" type="none"/>
                <a:tailEnd len="med" w="med" type="none"/>
              </a:ln>
            </p:spPr>
          </p:cxnSp>
        </p:grpSp>
        <p:cxnSp>
          <p:nvCxnSpPr>
            <p:cNvPr id="4396" name="Google Shape;4396;p72"/>
            <p:cNvCxnSpPr/>
            <p:nvPr/>
          </p:nvCxnSpPr>
          <p:spPr>
            <a:xfrm rot="10800000">
              <a:off x="2344" y="3931"/>
              <a:ext cx="376" cy="0"/>
            </a:xfrm>
            <a:prstGeom prst="straightConnector1">
              <a:avLst/>
            </a:prstGeom>
            <a:noFill/>
            <a:ln cap="flat" cmpd="sng" w="19050">
              <a:solidFill>
                <a:srgbClr val="000000"/>
              </a:solidFill>
              <a:prstDash val="solid"/>
              <a:round/>
              <a:headEnd len="med" w="med" type="triangle"/>
              <a:tailEnd len="med" w="med" type="none"/>
            </a:ln>
          </p:spPr>
        </p:cxnSp>
        <p:grpSp>
          <p:nvGrpSpPr>
            <p:cNvPr id="4397" name="Google Shape;4397;p72"/>
            <p:cNvGrpSpPr/>
            <p:nvPr/>
          </p:nvGrpSpPr>
          <p:grpSpPr>
            <a:xfrm>
              <a:off x="2409" y="3815"/>
              <a:ext cx="218" cy="231"/>
              <a:chOff x="5140" y="400"/>
              <a:chExt cx="218" cy="231"/>
            </a:xfrm>
          </p:grpSpPr>
          <p:sp>
            <p:nvSpPr>
              <p:cNvPr id="4398" name="Google Shape;4398;p72"/>
              <p:cNvSpPr/>
              <p:nvPr/>
            </p:nvSpPr>
            <p:spPr>
              <a:xfrm>
                <a:off x="5140" y="410"/>
                <a:ext cx="218" cy="218"/>
              </a:xfrm>
              <a:prstGeom prst="ellipse">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99" name="Google Shape;4399;p72"/>
              <p:cNvSpPr txBox="1"/>
              <p:nvPr/>
            </p:nvSpPr>
            <p:spPr>
              <a:xfrm>
                <a:off x="5154" y="400"/>
                <a:ext cx="196"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Calibri"/>
                  <a:buNone/>
                </a:pPr>
                <a:r>
                  <a:rPr b="0" i="0" lang="en-US" sz="1800" u="none" cap="none" strike="noStrike">
                    <a:solidFill>
                      <a:srgbClr val="CC0000"/>
                    </a:solidFill>
                    <a:latin typeface="Calibri"/>
                    <a:ea typeface="Calibri"/>
                    <a:cs typeface="Calibri"/>
                    <a:sym typeface="Calibri"/>
                  </a:rPr>
                  <a:t>3</a:t>
                </a:r>
                <a:endParaRPr/>
              </a:p>
            </p:txBody>
          </p:sp>
        </p:grpSp>
      </p:grpSp>
      <p:sp>
        <p:nvSpPr>
          <p:cNvPr id="4400" name="Google Shape;4400;p72"/>
          <p:cNvSpPr txBox="1"/>
          <p:nvPr/>
        </p:nvSpPr>
        <p:spPr>
          <a:xfrm>
            <a:off x="3146424" y="5435532"/>
            <a:ext cx="3559175"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000"/>
              <a:buFont typeface="Calibri"/>
              <a:buNone/>
            </a:pPr>
            <a:r>
              <a:rPr b="1" i="1" lang="en-US" sz="2000" u="none" cap="none" strike="noStrike">
                <a:solidFill>
                  <a:srgbClr val="CC0000"/>
                </a:solidFill>
                <a:latin typeface="Calibri"/>
                <a:ea typeface="Calibri"/>
                <a:cs typeface="Calibri"/>
                <a:sym typeface="Calibri"/>
              </a:rPr>
              <a:t>3:</a:t>
            </a:r>
            <a:r>
              <a:rPr b="0" i="0" lang="en-US" sz="2000" u="none" cap="none" strike="noStrike">
                <a:solidFill>
                  <a:srgbClr val="FF0000"/>
                </a:solidFill>
                <a:latin typeface="Calibri"/>
                <a:ea typeface="Calibri"/>
                <a:cs typeface="Calibri"/>
                <a:sym typeface="Calibri"/>
              </a:rPr>
              <a:t> </a:t>
            </a:r>
            <a:r>
              <a:rPr b="0" i="0" lang="en-US" sz="2000" u="none" cap="none" strike="noStrike">
                <a:solidFill>
                  <a:srgbClr val="000099"/>
                </a:solidFill>
                <a:latin typeface="Calibri"/>
                <a:ea typeface="Calibri"/>
                <a:cs typeface="Calibri"/>
                <a:sym typeface="Calibri"/>
              </a:rPr>
              <a:t>reply arrives, destination address: 138.76.29.7, 5001</a:t>
            </a:r>
            <a:endParaRPr/>
          </a:p>
        </p:txBody>
      </p:sp>
      <p:sp>
        <p:nvSpPr>
          <p:cNvPr id="4401" name="Google Shape;4401;p72"/>
          <p:cNvSpPr txBox="1"/>
          <p:nvPr/>
        </p:nvSpPr>
        <p:spPr>
          <a:xfrm>
            <a:off x="9442128" y="3445831"/>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10.0.0.1</a:t>
            </a:r>
            <a:endParaRPr/>
          </a:p>
        </p:txBody>
      </p:sp>
      <p:sp>
        <p:nvSpPr>
          <p:cNvPr id="4402" name="Google Shape;4402;p72"/>
          <p:cNvSpPr txBox="1"/>
          <p:nvPr/>
        </p:nvSpPr>
        <p:spPr>
          <a:xfrm>
            <a:off x="9387377" y="413911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10.0.0.2</a:t>
            </a:r>
            <a:endParaRPr/>
          </a:p>
        </p:txBody>
      </p:sp>
      <p:sp>
        <p:nvSpPr>
          <p:cNvPr id="4403" name="Google Shape;4403;p72"/>
          <p:cNvSpPr txBox="1"/>
          <p:nvPr/>
        </p:nvSpPr>
        <p:spPr>
          <a:xfrm>
            <a:off x="9361024" y="4861740"/>
            <a:ext cx="85953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10.0.0.3</a:t>
            </a:r>
            <a:endParaRPr/>
          </a:p>
        </p:txBody>
      </p:sp>
      <p:grpSp>
        <p:nvGrpSpPr>
          <p:cNvPr id="4404" name="Google Shape;4404;p72"/>
          <p:cNvGrpSpPr/>
          <p:nvPr/>
        </p:nvGrpSpPr>
        <p:grpSpPr>
          <a:xfrm flipH="1">
            <a:off x="10194143" y="3285987"/>
            <a:ext cx="641350" cy="558800"/>
            <a:chOff x="-44" y="1473"/>
            <a:chExt cx="981" cy="1105"/>
          </a:xfrm>
        </p:grpSpPr>
        <p:pic>
          <p:nvPicPr>
            <p:cNvPr descr="desktop_computer_stylized_medium" id="4405" name="Google Shape;4405;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06" name="Google Shape;4406;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407" name="Google Shape;4407;p72"/>
          <p:cNvGrpSpPr/>
          <p:nvPr/>
        </p:nvGrpSpPr>
        <p:grpSpPr>
          <a:xfrm flipH="1">
            <a:off x="10120943" y="3976903"/>
            <a:ext cx="641350" cy="558800"/>
            <a:chOff x="-44" y="1473"/>
            <a:chExt cx="981" cy="1105"/>
          </a:xfrm>
        </p:grpSpPr>
        <p:pic>
          <p:nvPicPr>
            <p:cNvPr descr="desktop_computer_stylized_medium" id="4408" name="Google Shape;4408;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09" name="Google Shape;4409;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4410" name="Google Shape;4410;p72"/>
          <p:cNvGrpSpPr/>
          <p:nvPr/>
        </p:nvGrpSpPr>
        <p:grpSpPr>
          <a:xfrm flipH="1">
            <a:off x="10140169" y="4685809"/>
            <a:ext cx="641350" cy="558800"/>
            <a:chOff x="-44" y="1473"/>
            <a:chExt cx="981" cy="1105"/>
          </a:xfrm>
        </p:grpSpPr>
        <p:pic>
          <p:nvPicPr>
            <p:cNvPr descr="desktop_computer_stylized_medium" id="4411" name="Google Shape;4411;p7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412" name="Google Shape;4412;p7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cxnSp>
        <p:nvCxnSpPr>
          <p:cNvPr id="4413" name="Google Shape;4413;p72"/>
          <p:cNvCxnSpPr/>
          <p:nvPr/>
        </p:nvCxnSpPr>
        <p:spPr>
          <a:xfrm>
            <a:off x="9963568" y="3732745"/>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414" name="Google Shape;4414;p72"/>
          <p:cNvCxnSpPr/>
          <p:nvPr/>
        </p:nvCxnSpPr>
        <p:spPr>
          <a:xfrm>
            <a:off x="9891178" y="4418545"/>
            <a:ext cx="293511" cy="0"/>
          </a:xfrm>
          <a:prstGeom prst="straightConnector1">
            <a:avLst/>
          </a:prstGeom>
          <a:noFill/>
          <a:ln cap="flat" cmpd="sng" w="19050">
            <a:solidFill>
              <a:schemeClr val="dk1"/>
            </a:solidFill>
            <a:prstDash val="solid"/>
            <a:miter lim="800000"/>
            <a:headEnd len="sm" w="sm" type="none"/>
            <a:tailEnd len="sm" w="sm" type="none"/>
          </a:ln>
        </p:spPr>
      </p:cxnSp>
      <p:cxnSp>
        <p:nvCxnSpPr>
          <p:cNvPr id="4415" name="Google Shape;4415;p72"/>
          <p:cNvCxnSpPr/>
          <p:nvPr/>
        </p:nvCxnSpPr>
        <p:spPr>
          <a:xfrm>
            <a:off x="9910228" y="5134825"/>
            <a:ext cx="293511" cy="0"/>
          </a:xfrm>
          <a:prstGeom prst="straightConnector1">
            <a:avLst/>
          </a:prstGeom>
          <a:noFill/>
          <a:ln cap="flat" cmpd="sng" w="19050">
            <a:solidFill>
              <a:schemeClr val="dk1"/>
            </a:solidFill>
            <a:prstDash val="solid"/>
            <a:miter lim="800000"/>
            <a:headEnd len="sm" w="sm" type="none"/>
            <a:tailEnd len="sm" w="sm" type="none"/>
          </a:ln>
        </p:spPr>
      </p:cxnSp>
      <p:grpSp>
        <p:nvGrpSpPr>
          <p:cNvPr id="4416" name="Google Shape;4416;p72"/>
          <p:cNvGrpSpPr/>
          <p:nvPr/>
        </p:nvGrpSpPr>
        <p:grpSpPr>
          <a:xfrm>
            <a:off x="3937552" y="4333461"/>
            <a:ext cx="3034748" cy="304800"/>
            <a:chOff x="2454675" y="2927412"/>
            <a:chExt cx="4705166" cy="431082"/>
          </a:xfrm>
        </p:grpSpPr>
        <p:cxnSp>
          <p:nvCxnSpPr>
            <p:cNvPr id="4417" name="Google Shape;4417;p72"/>
            <p:cNvCxnSpPr/>
            <p:nvPr/>
          </p:nvCxnSpPr>
          <p:spPr>
            <a:xfrm>
              <a:off x="2454675" y="3124940"/>
              <a:ext cx="4705166" cy="0"/>
            </a:xfrm>
            <a:prstGeom prst="straightConnector1">
              <a:avLst/>
            </a:prstGeom>
            <a:noFill/>
            <a:ln cap="flat" cmpd="sng" w="25400">
              <a:solidFill>
                <a:schemeClr val="dk1"/>
              </a:solidFill>
              <a:prstDash val="solid"/>
              <a:miter lim="800000"/>
              <a:headEnd len="sm" w="sm" type="none"/>
              <a:tailEnd len="sm" w="sm" type="none"/>
            </a:ln>
          </p:spPr>
        </p:cxnSp>
        <p:grpSp>
          <p:nvGrpSpPr>
            <p:cNvPr id="4418" name="Google Shape;4418;p72"/>
            <p:cNvGrpSpPr/>
            <p:nvPr/>
          </p:nvGrpSpPr>
          <p:grpSpPr>
            <a:xfrm>
              <a:off x="5427861" y="2927412"/>
              <a:ext cx="1040553" cy="431082"/>
              <a:chOff x="7493876" y="2774731"/>
              <a:chExt cx="1481958" cy="894622"/>
            </a:xfrm>
          </p:grpSpPr>
          <p:sp>
            <p:nvSpPr>
              <p:cNvPr id="4419" name="Google Shape;4419;p7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420" name="Google Shape;4420;p7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421" name="Google Shape;4421;p72"/>
              <p:cNvGrpSpPr/>
              <p:nvPr/>
            </p:nvGrpSpPr>
            <p:grpSpPr>
              <a:xfrm>
                <a:off x="7713663" y="2848339"/>
                <a:ext cx="1042107" cy="425543"/>
                <a:chOff x="7786941" y="2884917"/>
                <a:chExt cx="897649" cy="353919"/>
              </a:xfrm>
            </p:grpSpPr>
            <p:sp>
              <p:nvSpPr>
                <p:cNvPr id="4422" name="Google Shape;4422;p7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3" name="Google Shape;4423;p7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4" name="Google Shape;4424;p7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25" name="Google Shape;4425;p7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cxnSp>
        <p:nvCxnSpPr>
          <p:cNvPr id="4426" name="Google Shape;4426;p72"/>
          <p:cNvCxnSpPr/>
          <p:nvPr/>
        </p:nvCxnSpPr>
        <p:spPr>
          <a:xfrm rot="10800000">
            <a:off x="5701553" y="4503542"/>
            <a:ext cx="0" cy="273831"/>
          </a:xfrm>
          <a:prstGeom prst="straightConnector1">
            <a:avLst/>
          </a:prstGeom>
          <a:noFill/>
          <a:ln cap="flat" cmpd="sng" w="19050">
            <a:solidFill>
              <a:schemeClr val="dk1"/>
            </a:solidFill>
            <a:prstDash val="solid"/>
            <a:miter lim="800000"/>
            <a:headEnd len="sm" w="sm" type="none"/>
            <a:tailEnd len="med" w="med" type="triangle"/>
          </a:ln>
        </p:spPr>
      </p:cxnSp>
      <p:cxnSp>
        <p:nvCxnSpPr>
          <p:cNvPr id="4427" name="Google Shape;4427;p72"/>
          <p:cNvCxnSpPr/>
          <p:nvPr/>
        </p:nvCxnSpPr>
        <p:spPr>
          <a:xfrm>
            <a:off x="6577649" y="4166958"/>
            <a:ext cx="0" cy="273831"/>
          </a:xfrm>
          <a:prstGeom prst="straightConnector1">
            <a:avLst/>
          </a:prstGeom>
          <a:noFill/>
          <a:ln cap="flat" cmpd="sng" w="19050">
            <a:solidFill>
              <a:schemeClr val="dk1"/>
            </a:solidFill>
            <a:prstDash val="solid"/>
            <a:miter lim="800000"/>
            <a:headEnd len="sm" w="sm" type="none"/>
            <a:tailEnd len="med" w="med" type="triangle"/>
          </a:ln>
        </p:spPr>
      </p:cxnSp>
      <p:sp>
        <p:nvSpPr>
          <p:cNvPr id="4428" name="Google Shape;4428;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1"/>
                                        </p:tgtEl>
                                        <p:attrNameLst>
                                          <p:attrName>style.visibility</p:attrName>
                                        </p:attrNameLst>
                                      </p:cBhvr>
                                      <p:to>
                                        <p:strVal val="visible"/>
                                      </p:to>
                                    </p:set>
                                    <p:animEffect filter="fade" transition="in">
                                      <p:cBhvr>
                                        <p:cTn dur="1000"/>
                                        <p:tgtEl>
                                          <p:spTgt spid="4321"/>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4"/>
                                        </p:tgtEl>
                                        <p:attrNameLst>
                                          <p:attrName>style.visibility</p:attrName>
                                        </p:attrNameLst>
                                      </p:cBhvr>
                                      <p:to>
                                        <p:strVal val="visible"/>
                                      </p:to>
                                    </p:set>
                                    <p:animEffect filter="fade" transition="in">
                                      <p:cBhvr>
                                        <p:cTn dur="1000"/>
                                        <p:tgtEl>
                                          <p:spTgt spid="4364"/>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348"/>
                                        </p:tgtEl>
                                        <p:attrNameLst>
                                          <p:attrName>style.visibility</p:attrName>
                                        </p:attrNameLst>
                                      </p:cBhvr>
                                      <p:to>
                                        <p:strVal val="visible"/>
                                      </p:to>
                                    </p:set>
                                  </p:childTnLst>
                                </p:cTn>
                              </p:par>
                            </p:childTnLst>
                          </p:cTn>
                        </p:par>
                        <p:par>
                          <p:cTn fill="hold">
                            <p:stCondLst>
                              <p:cond delay="1001"/>
                            </p:stCondLst>
                            <p:childTnLst>
                              <p:par>
                                <p:cTn fill="hold" nodeType="afterEffect" presetClass="entr" presetID="1" presetSubtype="0">
                                  <p:stCondLst>
                                    <p:cond delay="0"/>
                                  </p:stCondLst>
                                  <p:childTnLst>
                                    <p:set>
                                      <p:cBhvr>
                                        <p:cTn dur="1" fill="hold">
                                          <p:stCondLst>
                                            <p:cond delay="0"/>
                                          </p:stCondLst>
                                        </p:cTn>
                                        <p:tgtEl>
                                          <p:spTgt spid="4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5"/>
                                        </p:tgtEl>
                                        <p:attrNameLst>
                                          <p:attrName>style.visibility</p:attrName>
                                        </p:attrNameLst>
                                      </p:cBhvr>
                                      <p:to>
                                        <p:strVal val="visible"/>
                                      </p:to>
                                    </p:set>
                                    <p:animEffect filter="fade" transition="in">
                                      <p:cBhvr>
                                        <p:cTn dur="1000"/>
                                        <p:tgtEl>
                                          <p:spTgt spid="4385"/>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4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9"/>
                                        </p:tgtEl>
                                        <p:attrNameLst>
                                          <p:attrName>style.visibility</p:attrName>
                                        </p:attrNameLst>
                                      </p:cBhvr>
                                      <p:to>
                                        <p:strVal val="visible"/>
                                      </p:to>
                                    </p:set>
                                    <p:animEffect filter="fade" transition="in">
                                      <p:cBhvr>
                                        <p:cTn dur="1000"/>
                                        <p:tgtEl>
                                          <p:spTgt spid="4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3" name="Shape 4433"/>
        <p:cNvGrpSpPr/>
        <p:nvPr/>
      </p:nvGrpSpPr>
      <p:grpSpPr>
        <a:xfrm>
          <a:off x="0" y="0"/>
          <a:ext cx="0" cy="0"/>
          <a:chOff x="0" y="0"/>
          <a:chExt cx="0" cy="0"/>
        </a:xfrm>
      </p:grpSpPr>
      <p:sp>
        <p:nvSpPr>
          <p:cNvPr id="4434" name="Google Shape;4434;p73"/>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341313" lvl="0" marL="471488"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NAT has been controversial:</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routers “should” only process up to layer 3</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address “shortage” should be solved by IPv6</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violates end-to-end argument </a:t>
            </a:r>
            <a:r>
              <a:rPr b="0" i="0" lang="en-US" sz="2400" u="none" cap="none" strike="noStrike">
                <a:solidFill>
                  <a:srgbClr val="000000"/>
                </a:solidFill>
                <a:latin typeface="Calibri"/>
                <a:ea typeface="Calibri"/>
                <a:cs typeface="Calibri"/>
                <a:sym typeface="Calibri"/>
              </a:rPr>
              <a:t>(port # manipulation by network-layer device)</a:t>
            </a:r>
            <a:endParaRPr b="0" i="0" sz="2800" u="none" cap="none" strike="noStrike">
              <a:solidFill>
                <a:srgbClr val="000000"/>
              </a:solidFill>
              <a:latin typeface="Calibri"/>
              <a:ea typeface="Calibri"/>
              <a:cs typeface="Calibri"/>
              <a:sym typeface="Calibri"/>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NAT traversal: what if client wants to connect to server behind NAT?</a:t>
            </a:r>
            <a:endParaRPr/>
          </a:p>
          <a:p>
            <a:pPr indent="-341313" lvl="0" marL="471488" marR="0" rtl="0" algn="l">
              <a:lnSpc>
                <a:spcPct val="10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but NAT is here to stay:</a:t>
            </a:r>
            <a:endParaRPr/>
          </a:p>
          <a:p>
            <a:pPr indent="-231775" lvl="1" marL="695325" marR="0" rtl="0" algn="l">
              <a:lnSpc>
                <a:spcPct val="100000"/>
              </a:lnSpc>
              <a:spcBef>
                <a:spcPts val="6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extensively used in home and institutional nets, 4G/5G cellular  nets</a:t>
            </a:r>
            <a:endParaRPr/>
          </a:p>
        </p:txBody>
      </p:sp>
      <p:sp>
        <p:nvSpPr>
          <p:cNvPr id="4435" name="Google Shape;4435;p73"/>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NAT: network address translation</a:t>
            </a:r>
            <a:endParaRPr/>
          </a:p>
        </p:txBody>
      </p:sp>
      <p:sp>
        <p:nvSpPr>
          <p:cNvPr id="4436" name="Google Shape;4436;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0" st="0"/>
                                            </p:txEl>
                                          </p:spTgt>
                                        </p:tgtEl>
                                        <p:attrNameLst>
                                          <p:attrName>style.visibility</p:attrName>
                                        </p:attrNameLst>
                                      </p:cBhvr>
                                      <p:to>
                                        <p:strVal val="visible"/>
                                      </p:to>
                                    </p:set>
                                    <p:animEffect filter="fade" transition="in">
                                      <p:cBhvr>
                                        <p:cTn dur="500"/>
                                        <p:tgtEl>
                                          <p:spTgt spid="44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1" st="1"/>
                                            </p:txEl>
                                          </p:spTgt>
                                        </p:tgtEl>
                                        <p:attrNameLst>
                                          <p:attrName>style.visibility</p:attrName>
                                        </p:attrNameLst>
                                      </p:cBhvr>
                                      <p:to>
                                        <p:strVal val="visible"/>
                                      </p:to>
                                    </p:set>
                                    <p:animEffect filter="fade" transition="in">
                                      <p:cBhvr>
                                        <p:cTn dur="500"/>
                                        <p:tgtEl>
                                          <p:spTgt spid="44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2" st="2"/>
                                            </p:txEl>
                                          </p:spTgt>
                                        </p:tgtEl>
                                        <p:attrNameLst>
                                          <p:attrName>style.visibility</p:attrName>
                                        </p:attrNameLst>
                                      </p:cBhvr>
                                      <p:to>
                                        <p:strVal val="visible"/>
                                      </p:to>
                                    </p:set>
                                    <p:animEffect filter="fade" transition="in">
                                      <p:cBhvr>
                                        <p:cTn dur="500"/>
                                        <p:tgtEl>
                                          <p:spTgt spid="44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3" st="3"/>
                                            </p:txEl>
                                          </p:spTgt>
                                        </p:tgtEl>
                                        <p:attrNameLst>
                                          <p:attrName>style.visibility</p:attrName>
                                        </p:attrNameLst>
                                      </p:cBhvr>
                                      <p:to>
                                        <p:strVal val="visible"/>
                                      </p:to>
                                    </p:set>
                                    <p:animEffect filter="fade" transition="in">
                                      <p:cBhvr>
                                        <p:cTn dur="500"/>
                                        <p:tgtEl>
                                          <p:spTgt spid="44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4" st="4"/>
                                            </p:txEl>
                                          </p:spTgt>
                                        </p:tgtEl>
                                        <p:attrNameLst>
                                          <p:attrName>style.visibility</p:attrName>
                                        </p:attrNameLst>
                                      </p:cBhvr>
                                      <p:to>
                                        <p:strVal val="visible"/>
                                      </p:to>
                                    </p:set>
                                    <p:animEffect filter="fade" transition="in">
                                      <p:cBhvr>
                                        <p:cTn dur="500"/>
                                        <p:tgtEl>
                                          <p:spTgt spid="44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5" st="5"/>
                                            </p:txEl>
                                          </p:spTgt>
                                        </p:tgtEl>
                                        <p:attrNameLst>
                                          <p:attrName>style.visibility</p:attrName>
                                        </p:attrNameLst>
                                      </p:cBhvr>
                                      <p:to>
                                        <p:strVal val="visible"/>
                                      </p:to>
                                    </p:set>
                                    <p:animEffect filter="fade" transition="in">
                                      <p:cBhvr>
                                        <p:cTn dur="500"/>
                                        <p:tgtEl>
                                          <p:spTgt spid="44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4">
                                            <p:txEl>
                                              <p:pRg end="6" st="6"/>
                                            </p:txEl>
                                          </p:spTgt>
                                        </p:tgtEl>
                                        <p:attrNameLst>
                                          <p:attrName>style.visibility</p:attrName>
                                        </p:attrNameLst>
                                      </p:cBhvr>
                                      <p:to>
                                        <p:strVal val="visible"/>
                                      </p:to>
                                    </p:set>
                                    <p:animEffect filter="fade" transition="in">
                                      <p:cBhvr>
                                        <p:cTn dur="500"/>
                                        <p:tgtEl>
                                          <p:spTgt spid="443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1" name="Shape 4441"/>
        <p:cNvGrpSpPr/>
        <p:nvPr/>
      </p:nvGrpSpPr>
      <p:grpSpPr>
        <a:xfrm>
          <a:off x="0" y="0"/>
          <a:ext cx="0" cy="0"/>
          <a:chOff x="0" y="0"/>
          <a:chExt cx="0" cy="0"/>
        </a:xfrm>
      </p:grpSpPr>
      <p:sp>
        <p:nvSpPr>
          <p:cNvPr id="4442" name="Google Shape;4442;p74"/>
          <p:cNvSpPr txBox="1"/>
          <p:nvPr/>
        </p:nvSpPr>
        <p:spPr>
          <a:xfrm>
            <a:off x="604425" y="1435933"/>
            <a:ext cx="11097244" cy="5190154"/>
          </a:xfrm>
          <a:prstGeom prst="rect">
            <a:avLst/>
          </a:prstGeom>
          <a:noFill/>
          <a:ln>
            <a:noFill/>
          </a:ln>
        </p:spPr>
        <p:txBody>
          <a:bodyPr anchorCtr="0" anchor="t" bIns="45700" lIns="91425" spcFirstLastPara="1" rIns="91425" wrap="square" tIns="45700">
            <a:normAutofit/>
          </a:bodyPr>
          <a:lstStyle/>
          <a:p>
            <a:pPr indent="-341313" lvl="0" marL="4714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C0000"/>
                </a:solidFill>
                <a:latin typeface="Calibri"/>
                <a:ea typeface="Calibri"/>
                <a:cs typeface="Calibri"/>
                <a:sym typeface="Calibri"/>
              </a:rPr>
              <a:t>initial motivation:</a:t>
            </a:r>
            <a:r>
              <a:rPr b="0" i="0" lang="en-US" sz="3200" u="none" cap="none" strike="noStrike">
                <a:solidFill>
                  <a:srgbClr val="000000"/>
                </a:solidFill>
                <a:latin typeface="Calibri"/>
                <a:ea typeface="Calibri"/>
                <a:cs typeface="Calibri"/>
                <a:sym typeface="Calibri"/>
              </a:rPr>
              <a:t> 32-bit IPv4 address space would be completely allocated  </a:t>
            </a:r>
            <a:endParaRPr/>
          </a:p>
          <a:p>
            <a:pPr indent="-341313" lvl="0" marL="471488"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additional motivation:</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speed processing/forwarding: 40-byte fixed length header</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enable different network-layer treatment of “flows”</a:t>
            </a:r>
            <a:endParaRPr/>
          </a:p>
          <a:p>
            <a:pPr indent="-53975" lvl="1" marL="695325" marR="0" rtl="0" algn="l">
              <a:lnSpc>
                <a:spcPct val="90000"/>
              </a:lnSpc>
              <a:spcBef>
                <a:spcPts val="500"/>
              </a:spcBef>
              <a:spcAft>
                <a:spcPts val="0"/>
              </a:spcAft>
              <a:buClr>
                <a:srgbClr val="0000A8"/>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4443" name="Google Shape;4443;p74"/>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motivation</a:t>
            </a:r>
            <a:endParaRPr/>
          </a:p>
        </p:txBody>
      </p:sp>
      <p:sp>
        <p:nvSpPr>
          <p:cNvPr id="4444" name="Google Shape;4444;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0" st="0"/>
                                            </p:txEl>
                                          </p:spTgt>
                                        </p:tgtEl>
                                        <p:attrNameLst>
                                          <p:attrName>style.visibility</p:attrName>
                                        </p:attrNameLst>
                                      </p:cBhvr>
                                      <p:to>
                                        <p:strVal val="visible"/>
                                      </p:to>
                                    </p:set>
                                    <p:animEffect filter="fade" transition="in">
                                      <p:cBhvr>
                                        <p:cTn dur="500"/>
                                        <p:tgtEl>
                                          <p:spTgt spid="44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1" st="1"/>
                                            </p:txEl>
                                          </p:spTgt>
                                        </p:tgtEl>
                                        <p:attrNameLst>
                                          <p:attrName>style.visibility</p:attrName>
                                        </p:attrNameLst>
                                      </p:cBhvr>
                                      <p:to>
                                        <p:strVal val="visible"/>
                                      </p:to>
                                    </p:set>
                                    <p:animEffect filter="fade" transition="in">
                                      <p:cBhvr>
                                        <p:cTn dur="500"/>
                                        <p:tgtEl>
                                          <p:spTgt spid="44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2" st="2"/>
                                            </p:txEl>
                                          </p:spTgt>
                                        </p:tgtEl>
                                        <p:attrNameLst>
                                          <p:attrName>style.visibility</p:attrName>
                                        </p:attrNameLst>
                                      </p:cBhvr>
                                      <p:to>
                                        <p:strVal val="visible"/>
                                      </p:to>
                                    </p:set>
                                    <p:animEffect filter="fade" transition="in">
                                      <p:cBhvr>
                                        <p:cTn dur="500"/>
                                        <p:tgtEl>
                                          <p:spTgt spid="44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3" st="3"/>
                                            </p:txEl>
                                          </p:spTgt>
                                        </p:tgtEl>
                                        <p:attrNameLst>
                                          <p:attrName>style.visibility</p:attrName>
                                        </p:attrNameLst>
                                      </p:cBhvr>
                                      <p:to>
                                        <p:strVal val="visible"/>
                                      </p:to>
                                    </p:set>
                                    <p:animEffect filter="fade" transition="in">
                                      <p:cBhvr>
                                        <p:cTn dur="500"/>
                                        <p:tgtEl>
                                          <p:spTgt spid="44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2">
                                            <p:txEl>
                                              <p:pRg end="4" st="4"/>
                                            </p:txEl>
                                          </p:spTgt>
                                        </p:tgtEl>
                                        <p:attrNameLst>
                                          <p:attrName>style.visibility</p:attrName>
                                        </p:attrNameLst>
                                      </p:cBhvr>
                                      <p:to>
                                        <p:strVal val="visible"/>
                                      </p:to>
                                    </p:set>
                                    <p:animEffect filter="fade" transition="in">
                                      <p:cBhvr>
                                        <p:cTn dur="500"/>
                                        <p:tgtEl>
                                          <p:spTgt spid="444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9" name="Shape 4449"/>
        <p:cNvGrpSpPr/>
        <p:nvPr/>
      </p:nvGrpSpPr>
      <p:grpSpPr>
        <a:xfrm>
          <a:off x="0" y="0"/>
          <a:ext cx="0" cy="0"/>
          <a:chOff x="0" y="0"/>
          <a:chExt cx="0" cy="0"/>
        </a:xfrm>
      </p:grpSpPr>
      <p:sp>
        <p:nvSpPr>
          <p:cNvPr id="4450" name="Google Shape;4450;p75"/>
          <p:cNvSpPr txBox="1"/>
          <p:nvPr>
            <p:ph type="title"/>
          </p:nvPr>
        </p:nvSpPr>
        <p:spPr>
          <a:xfrm>
            <a:off x="703288" y="281163"/>
            <a:ext cx="10515600" cy="10679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datagram format</a:t>
            </a:r>
            <a:endParaRPr/>
          </a:p>
        </p:txBody>
      </p:sp>
      <p:sp>
        <p:nvSpPr>
          <p:cNvPr id="4451" name="Google Shape;4451;p75"/>
          <p:cNvSpPr/>
          <p:nvPr/>
        </p:nvSpPr>
        <p:spPr>
          <a:xfrm>
            <a:off x="3731801" y="2152167"/>
            <a:ext cx="4748212" cy="2817812"/>
          </a:xfrm>
          <a:prstGeom prst="rect">
            <a:avLst/>
          </a:prstGeom>
          <a:solidFill>
            <a:schemeClr val="lt1"/>
          </a:solidFill>
          <a:ln cap="flat" cmpd="sng" w="19050">
            <a:solidFill>
              <a:schemeClr val="dk1"/>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452" name="Google Shape;4452;p75"/>
          <p:cNvCxnSpPr/>
          <p:nvPr/>
        </p:nvCxnSpPr>
        <p:spPr>
          <a:xfrm>
            <a:off x="3733388" y="2461729"/>
            <a:ext cx="4727575" cy="0"/>
          </a:xfrm>
          <a:prstGeom prst="straightConnector1">
            <a:avLst/>
          </a:prstGeom>
          <a:noFill/>
          <a:ln cap="flat" cmpd="sng" w="19050">
            <a:solidFill>
              <a:schemeClr val="dk1"/>
            </a:solidFill>
            <a:prstDash val="solid"/>
            <a:round/>
            <a:headEnd len="med" w="med" type="none"/>
            <a:tailEnd len="med" w="med" type="none"/>
          </a:ln>
        </p:spPr>
      </p:cxnSp>
      <p:cxnSp>
        <p:nvCxnSpPr>
          <p:cNvPr id="4453" name="Google Shape;4453;p75"/>
          <p:cNvCxnSpPr/>
          <p:nvPr/>
        </p:nvCxnSpPr>
        <p:spPr>
          <a:xfrm>
            <a:off x="4384263" y="2161692"/>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4" name="Google Shape;4454;p75"/>
          <p:cNvCxnSpPr/>
          <p:nvPr/>
        </p:nvCxnSpPr>
        <p:spPr>
          <a:xfrm>
            <a:off x="5073238" y="2158517"/>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5" name="Google Shape;4455;p75"/>
          <p:cNvCxnSpPr/>
          <p:nvPr/>
        </p:nvCxnSpPr>
        <p:spPr>
          <a:xfrm>
            <a:off x="6000338" y="2456967"/>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6" name="Google Shape;4456;p75"/>
          <p:cNvCxnSpPr/>
          <p:nvPr/>
        </p:nvCxnSpPr>
        <p:spPr>
          <a:xfrm>
            <a:off x="7146513" y="2460142"/>
            <a:ext cx="0" cy="293687"/>
          </a:xfrm>
          <a:prstGeom prst="straightConnector1">
            <a:avLst/>
          </a:prstGeom>
          <a:noFill/>
          <a:ln cap="flat" cmpd="sng" w="19050">
            <a:solidFill>
              <a:schemeClr val="dk1"/>
            </a:solidFill>
            <a:prstDash val="solid"/>
            <a:round/>
            <a:headEnd len="med" w="med" type="none"/>
            <a:tailEnd len="med" w="med" type="none"/>
          </a:ln>
        </p:spPr>
      </p:cxnSp>
      <p:cxnSp>
        <p:nvCxnSpPr>
          <p:cNvPr id="4457" name="Google Shape;4457;p75"/>
          <p:cNvCxnSpPr/>
          <p:nvPr/>
        </p:nvCxnSpPr>
        <p:spPr>
          <a:xfrm>
            <a:off x="3720688" y="3982554"/>
            <a:ext cx="4760913" cy="0"/>
          </a:xfrm>
          <a:prstGeom prst="straightConnector1">
            <a:avLst/>
          </a:prstGeom>
          <a:noFill/>
          <a:ln cap="flat" cmpd="sng" w="19050">
            <a:solidFill>
              <a:schemeClr val="dk1"/>
            </a:solidFill>
            <a:prstDash val="solid"/>
            <a:round/>
            <a:headEnd len="med" w="med" type="none"/>
            <a:tailEnd len="med" w="med" type="none"/>
          </a:ln>
        </p:spPr>
      </p:cxnSp>
      <p:cxnSp>
        <p:nvCxnSpPr>
          <p:cNvPr id="4458" name="Google Shape;4458;p75"/>
          <p:cNvCxnSpPr/>
          <p:nvPr/>
        </p:nvCxnSpPr>
        <p:spPr>
          <a:xfrm>
            <a:off x="3738151" y="3342792"/>
            <a:ext cx="4760912" cy="0"/>
          </a:xfrm>
          <a:prstGeom prst="straightConnector1">
            <a:avLst/>
          </a:prstGeom>
          <a:noFill/>
          <a:ln cap="flat" cmpd="sng" w="19050">
            <a:solidFill>
              <a:schemeClr val="dk1"/>
            </a:solidFill>
            <a:prstDash val="solid"/>
            <a:round/>
            <a:headEnd len="med" w="med" type="none"/>
            <a:tailEnd len="med" w="med" type="none"/>
          </a:ln>
        </p:spPr>
      </p:cxnSp>
      <p:cxnSp>
        <p:nvCxnSpPr>
          <p:cNvPr id="4459" name="Google Shape;4459;p75"/>
          <p:cNvCxnSpPr/>
          <p:nvPr/>
        </p:nvCxnSpPr>
        <p:spPr>
          <a:xfrm>
            <a:off x="3723863" y="2760179"/>
            <a:ext cx="4760913" cy="0"/>
          </a:xfrm>
          <a:prstGeom prst="straightConnector1">
            <a:avLst/>
          </a:prstGeom>
          <a:noFill/>
          <a:ln cap="flat" cmpd="sng" w="19050">
            <a:solidFill>
              <a:schemeClr val="dk1"/>
            </a:solidFill>
            <a:prstDash val="solid"/>
            <a:round/>
            <a:headEnd len="med" w="med" type="none"/>
            <a:tailEnd len="med" w="med" type="none"/>
          </a:ln>
        </p:spPr>
      </p:cxnSp>
      <p:sp>
        <p:nvSpPr>
          <p:cNvPr id="4460" name="Google Shape;4460;p75"/>
          <p:cNvSpPr txBox="1"/>
          <p:nvPr/>
        </p:nvSpPr>
        <p:spPr>
          <a:xfrm>
            <a:off x="5234225" y="4260919"/>
            <a:ext cx="17235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payload (data)</a:t>
            </a:r>
            <a:endParaRPr/>
          </a:p>
        </p:txBody>
      </p:sp>
      <p:sp>
        <p:nvSpPr>
          <p:cNvPr id="4461" name="Google Shape;4461;p75"/>
          <p:cNvSpPr txBox="1"/>
          <p:nvPr/>
        </p:nvSpPr>
        <p:spPr>
          <a:xfrm>
            <a:off x="4968463" y="3385654"/>
            <a:ext cx="21653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(128 bits)</a:t>
            </a:r>
            <a:endParaRPr/>
          </a:p>
        </p:txBody>
      </p:sp>
      <p:sp>
        <p:nvSpPr>
          <p:cNvPr id="4462" name="Google Shape;4462;p75"/>
          <p:cNvSpPr txBox="1"/>
          <p:nvPr/>
        </p:nvSpPr>
        <p:spPr>
          <a:xfrm>
            <a:off x="5133563" y="2779229"/>
            <a:ext cx="17462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source address</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(128 bits)</a:t>
            </a:r>
            <a:endParaRPr/>
          </a:p>
        </p:txBody>
      </p:sp>
      <p:sp>
        <p:nvSpPr>
          <p:cNvPr id="4463" name="Google Shape;4463;p75"/>
          <p:cNvSpPr txBox="1"/>
          <p:nvPr/>
        </p:nvSpPr>
        <p:spPr>
          <a:xfrm>
            <a:off x="4217576" y="2426804"/>
            <a:ext cx="1352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payload len</a:t>
            </a:r>
            <a:endParaRPr/>
          </a:p>
        </p:txBody>
      </p:sp>
      <p:sp>
        <p:nvSpPr>
          <p:cNvPr id="4464" name="Google Shape;4464;p75"/>
          <p:cNvSpPr txBox="1"/>
          <p:nvPr/>
        </p:nvSpPr>
        <p:spPr>
          <a:xfrm>
            <a:off x="5998751" y="2434742"/>
            <a:ext cx="1009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next hdr</a:t>
            </a:r>
            <a:endParaRPr/>
          </a:p>
        </p:txBody>
      </p:sp>
      <p:sp>
        <p:nvSpPr>
          <p:cNvPr id="4465" name="Google Shape;4465;p75"/>
          <p:cNvSpPr txBox="1"/>
          <p:nvPr/>
        </p:nvSpPr>
        <p:spPr>
          <a:xfrm>
            <a:off x="7254463" y="2420454"/>
            <a:ext cx="1035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hop limit</a:t>
            </a:r>
            <a:endParaRPr/>
          </a:p>
        </p:txBody>
      </p:sp>
      <p:sp>
        <p:nvSpPr>
          <p:cNvPr id="4466" name="Google Shape;4466;p75"/>
          <p:cNvSpPr txBox="1"/>
          <p:nvPr/>
        </p:nvSpPr>
        <p:spPr>
          <a:xfrm>
            <a:off x="6124163" y="2126767"/>
            <a:ext cx="1136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flow label</a:t>
            </a:r>
            <a:endParaRPr/>
          </a:p>
        </p:txBody>
      </p:sp>
      <p:sp>
        <p:nvSpPr>
          <p:cNvPr id="4467" name="Google Shape;4467;p75"/>
          <p:cNvSpPr txBox="1"/>
          <p:nvPr/>
        </p:nvSpPr>
        <p:spPr>
          <a:xfrm>
            <a:off x="4503326" y="2112479"/>
            <a:ext cx="4381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pri</a:t>
            </a:r>
            <a:endParaRPr/>
          </a:p>
        </p:txBody>
      </p:sp>
      <p:sp>
        <p:nvSpPr>
          <p:cNvPr id="4468" name="Google Shape;4468;p75"/>
          <p:cNvSpPr txBox="1"/>
          <p:nvPr/>
        </p:nvSpPr>
        <p:spPr>
          <a:xfrm>
            <a:off x="3796888" y="2120417"/>
            <a:ext cx="501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ver</a:t>
            </a:r>
            <a:endParaRPr/>
          </a:p>
        </p:txBody>
      </p:sp>
      <p:cxnSp>
        <p:nvCxnSpPr>
          <p:cNvPr id="4469" name="Google Shape;4469;p75"/>
          <p:cNvCxnSpPr/>
          <p:nvPr/>
        </p:nvCxnSpPr>
        <p:spPr>
          <a:xfrm>
            <a:off x="3696324" y="1921565"/>
            <a:ext cx="4816475" cy="0"/>
          </a:xfrm>
          <a:prstGeom prst="straightConnector1">
            <a:avLst/>
          </a:prstGeom>
          <a:noFill/>
          <a:ln cap="flat" cmpd="sng" w="9525">
            <a:solidFill>
              <a:schemeClr val="dk1"/>
            </a:solidFill>
            <a:prstDash val="solid"/>
            <a:round/>
            <a:headEnd len="med" w="med" type="triangle"/>
            <a:tailEnd len="med" w="med" type="triangle"/>
          </a:ln>
        </p:spPr>
      </p:cxnSp>
      <p:sp>
        <p:nvSpPr>
          <p:cNvPr id="4470" name="Google Shape;4470;p75"/>
          <p:cNvSpPr txBox="1"/>
          <p:nvPr/>
        </p:nvSpPr>
        <p:spPr>
          <a:xfrm>
            <a:off x="5555286" y="1731065"/>
            <a:ext cx="864339"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32 bits</a:t>
            </a:r>
            <a:endParaRPr/>
          </a:p>
        </p:txBody>
      </p:sp>
      <p:grpSp>
        <p:nvGrpSpPr>
          <p:cNvPr id="4471" name="Google Shape;4471;p75"/>
          <p:cNvGrpSpPr/>
          <p:nvPr/>
        </p:nvGrpSpPr>
        <p:grpSpPr>
          <a:xfrm>
            <a:off x="159026" y="1902722"/>
            <a:ext cx="4399722" cy="1089529"/>
            <a:chOff x="159026" y="1902722"/>
            <a:chExt cx="4399722" cy="1089529"/>
          </a:xfrm>
        </p:grpSpPr>
        <p:sp>
          <p:nvSpPr>
            <p:cNvPr id="4472" name="Google Shape;4472;p75"/>
            <p:cNvSpPr/>
            <p:nvPr/>
          </p:nvSpPr>
          <p:spPr>
            <a:xfrm>
              <a:off x="159026" y="1902722"/>
              <a:ext cx="3072157" cy="1089529"/>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priority:  </a:t>
              </a:r>
              <a:r>
                <a:rPr b="0" i="0" lang="en-US" sz="2400" u="none" cap="none" strike="noStrike">
                  <a:solidFill>
                    <a:srgbClr val="000000"/>
                  </a:solidFill>
                  <a:latin typeface="Calibri"/>
                  <a:ea typeface="Calibri"/>
                  <a:cs typeface="Calibri"/>
                  <a:sym typeface="Calibri"/>
                </a:rPr>
                <a:t>identify priority among datagrams in flow</a:t>
              </a:r>
              <a:endParaRPr/>
            </a:p>
          </p:txBody>
        </p:sp>
        <p:cxnSp>
          <p:nvCxnSpPr>
            <p:cNvPr id="4473" name="Google Shape;4473;p75"/>
            <p:cNvCxnSpPr/>
            <p:nvPr/>
          </p:nvCxnSpPr>
          <p:spPr>
            <a:xfrm>
              <a:off x="3299791" y="2398643"/>
              <a:ext cx="1258957"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474" name="Google Shape;4474;p75"/>
          <p:cNvGrpSpPr/>
          <p:nvPr/>
        </p:nvGrpSpPr>
        <p:grpSpPr>
          <a:xfrm>
            <a:off x="7480852" y="1426988"/>
            <a:ext cx="4499112" cy="1421928"/>
            <a:chOff x="7480852" y="1426988"/>
            <a:chExt cx="4499112" cy="1421928"/>
          </a:xfrm>
        </p:grpSpPr>
        <p:sp>
          <p:nvSpPr>
            <p:cNvPr id="4475" name="Google Shape;4475;p75"/>
            <p:cNvSpPr/>
            <p:nvPr/>
          </p:nvSpPr>
          <p:spPr>
            <a:xfrm>
              <a:off x="8742156" y="1426988"/>
              <a:ext cx="3237808" cy="142192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flow label: </a:t>
              </a:r>
              <a:r>
                <a:rPr b="0" i="0" lang="en-US" sz="2400" u="none" cap="none" strike="noStrike">
                  <a:solidFill>
                    <a:srgbClr val="000000"/>
                  </a:solidFill>
                  <a:latin typeface="Calibri"/>
                  <a:ea typeface="Calibri"/>
                  <a:cs typeface="Calibri"/>
                  <a:sym typeface="Calibri"/>
                </a:rPr>
                <a:t>identify datagrams in same "flow.” (concept of “flow” not well defined).</a:t>
              </a:r>
              <a:endParaRPr/>
            </a:p>
          </p:txBody>
        </p:sp>
        <p:cxnSp>
          <p:nvCxnSpPr>
            <p:cNvPr id="4476" name="Google Shape;4476;p75"/>
            <p:cNvCxnSpPr/>
            <p:nvPr/>
          </p:nvCxnSpPr>
          <p:spPr>
            <a:xfrm>
              <a:off x="7480852" y="2325756"/>
              <a:ext cx="1258957" cy="0"/>
            </a:xfrm>
            <a:prstGeom prst="straightConnector1">
              <a:avLst/>
            </a:prstGeom>
            <a:noFill/>
            <a:ln cap="flat" cmpd="sng" w="19050">
              <a:solidFill>
                <a:srgbClr val="C00000"/>
              </a:solidFill>
              <a:prstDash val="solid"/>
              <a:miter lim="800000"/>
              <a:headEnd len="sm" w="sm" type="none"/>
              <a:tailEnd len="sm" w="sm" type="none"/>
            </a:ln>
          </p:spPr>
        </p:cxnSp>
      </p:grpSp>
      <p:grpSp>
        <p:nvGrpSpPr>
          <p:cNvPr id="4477" name="Google Shape;4477;p75"/>
          <p:cNvGrpSpPr/>
          <p:nvPr/>
        </p:nvGrpSpPr>
        <p:grpSpPr>
          <a:xfrm>
            <a:off x="0" y="2970865"/>
            <a:ext cx="4028661" cy="757130"/>
            <a:chOff x="0" y="2970865"/>
            <a:chExt cx="4028661" cy="757130"/>
          </a:xfrm>
        </p:grpSpPr>
        <p:sp>
          <p:nvSpPr>
            <p:cNvPr id="4478" name="Google Shape;4478;p75"/>
            <p:cNvSpPr/>
            <p:nvPr/>
          </p:nvSpPr>
          <p:spPr>
            <a:xfrm>
              <a:off x="0" y="2970865"/>
              <a:ext cx="3237808" cy="75713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128-bit </a:t>
              </a:r>
              <a:endParaRPr/>
            </a:p>
            <a:p>
              <a:pPr indent="0" lvl="0" marL="0" marR="0" rtl="0" algn="r">
                <a:lnSpc>
                  <a:spcPct val="9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IPv6 addresses</a:t>
              </a:r>
              <a:endParaRPr b="0" i="0" sz="2400" u="none" cap="none" strike="noStrike">
                <a:solidFill>
                  <a:srgbClr val="000000"/>
                </a:solidFill>
                <a:latin typeface="Calibri"/>
                <a:ea typeface="Calibri"/>
                <a:cs typeface="Calibri"/>
                <a:sym typeface="Calibri"/>
              </a:endParaRPr>
            </a:p>
          </p:txBody>
        </p:sp>
        <p:cxnSp>
          <p:nvCxnSpPr>
            <p:cNvPr id="4479" name="Google Shape;4479;p75"/>
            <p:cNvCxnSpPr/>
            <p:nvPr/>
          </p:nvCxnSpPr>
          <p:spPr>
            <a:xfrm>
              <a:off x="3124200" y="3380098"/>
              <a:ext cx="904461" cy="304006"/>
            </a:xfrm>
            <a:prstGeom prst="straightConnector1">
              <a:avLst/>
            </a:prstGeom>
            <a:noFill/>
            <a:ln cap="flat" cmpd="sng" w="19050">
              <a:solidFill>
                <a:srgbClr val="C00000"/>
              </a:solidFill>
              <a:prstDash val="solid"/>
              <a:miter lim="800000"/>
              <a:headEnd len="sm" w="sm" type="none"/>
              <a:tailEnd len="sm" w="sm" type="none"/>
            </a:ln>
          </p:spPr>
        </p:cxnSp>
        <p:cxnSp>
          <p:nvCxnSpPr>
            <p:cNvPr id="4480" name="Google Shape;4480;p75"/>
            <p:cNvCxnSpPr/>
            <p:nvPr/>
          </p:nvCxnSpPr>
          <p:spPr>
            <a:xfrm flipH="1" rot="10800000">
              <a:off x="3124200" y="3055420"/>
              <a:ext cx="904461" cy="304006"/>
            </a:xfrm>
            <a:prstGeom prst="straightConnector1">
              <a:avLst/>
            </a:prstGeom>
            <a:noFill/>
            <a:ln cap="flat" cmpd="sng" w="19050">
              <a:solidFill>
                <a:srgbClr val="C00000"/>
              </a:solidFill>
              <a:prstDash val="solid"/>
              <a:miter lim="800000"/>
              <a:headEnd len="sm" w="sm" type="none"/>
              <a:tailEnd len="sm" w="sm" type="none"/>
            </a:ln>
          </p:spPr>
        </p:cxnSp>
      </p:grpSp>
      <p:sp>
        <p:nvSpPr>
          <p:cNvPr id="4481" name="Google Shape;4481;p75"/>
          <p:cNvSpPr txBox="1"/>
          <p:nvPr/>
        </p:nvSpPr>
        <p:spPr>
          <a:xfrm>
            <a:off x="1192696" y="5022574"/>
            <a:ext cx="8971722"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What’s missing (compared with IPv4): </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checksum (to speed processing at routers)</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fragmentation/reassembly</a:t>
            </a:r>
            <a:endParaRPr/>
          </a:p>
          <a:p>
            <a:pPr indent="-285750" lvl="0" marL="285750" marR="0" rtl="0" algn="l">
              <a:lnSpc>
                <a:spcPct val="100000"/>
              </a:lnSpc>
              <a:spcBef>
                <a:spcPts val="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no options (available as upper-layer, next-header protocol at router)</a:t>
            </a:r>
            <a:endParaRPr b="0" i="0" sz="1800" u="none" cap="none" strike="noStrike">
              <a:solidFill>
                <a:srgbClr val="000000"/>
              </a:solidFill>
              <a:latin typeface="Calibri"/>
              <a:ea typeface="Calibri"/>
              <a:cs typeface="Calibri"/>
              <a:sym typeface="Calibri"/>
            </a:endParaRPr>
          </a:p>
        </p:txBody>
      </p:sp>
      <p:sp>
        <p:nvSpPr>
          <p:cNvPr id="4482" name="Google Shape;4482;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7"/>
                                        </p:tgtEl>
                                        <p:attrNameLst>
                                          <p:attrName>style.visibility</p:attrName>
                                        </p:attrNameLst>
                                      </p:cBhvr>
                                      <p:to>
                                        <p:strVal val="visible"/>
                                      </p:to>
                                    </p:set>
                                    <p:animEffect filter="fade" transition="in">
                                      <p:cBhvr>
                                        <p:cTn dur="500"/>
                                        <p:tgtEl>
                                          <p:spTgt spid="4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4"/>
                                        </p:tgtEl>
                                        <p:attrNameLst>
                                          <p:attrName>style.visibility</p:attrName>
                                        </p:attrNameLst>
                                      </p:cBhvr>
                                      <p:to>
                                        <p:strVal val="visible"/>
                                      </p:to>
                                    </p:set>
                                    <p:animEffect filter="fade" transition="in">
                                      <p:cBhvr>
                                        <p:cTn dur="500"/>
                                        <p:tgtEl>
                                          <p:spTgt spid="4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1"/>
                                        </p:tgtEl>
                                        <p:attrNameLst>
                                          <p:attrName>style.visibility</p:attrName>
                                        </p:attrNameLst>
                                      </p:cBhvr>
                                      <p:to>
                                        <p:strVal val="visible"/>
                                      </p:to>
                                    </p:set>
                                    <p:animEffect filter="fade" transition="in">
                                      <p:cBhvr>
                                        <p:cTn dur="500"/>
                                        <p:tgtEl>
                                          <p:spTgt spid="4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1"/>
                                        </p:tgtEl>
                                        <p:attrNameLst>
                                          <p:attrName>style.visibility</p:attrName>
                                        </p:attrNameLst>
                                      </p:cBhvr>
                                      <p:to>
                                        <p:strVal val="visible"/>
                                      </p:to>
                                    </p:set>
                                    <p:animEffect filter="fade" transition="in">
                                      <p:cBhvr>
                                        <p:cTn dur="500"/>
                                        <p:tgtEl>
                                          <p:spTgt spid="4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7" name="Shape 4487"/>
        <p:cNvGrpSpPr/>
        <p:nvPr/>
      </p:nvGrpSpPr>
      <p:grpSpPr>
        <a:xfrm>
          <a:off x="0" y="0"/>
          <a:ext cx="0" cy="0"/>
          <a:chOff x="0" y="0"/>
          <a:chExt cx="0" cy="0"/>
        </a:xfrm>
      </p:grpSpPr>
      <p:sp>
        <p:nvSpPr>
          <p:cNvPr id="4488" name="Google Shape;4488;p76"/>
          <p:cNvSpPr txBox="1"/>
          <p:nvPr>
            <p:ph idx="1" type="body"/>
          </p:nvPr>
        </p:nvSpPr>
        <p:spPr>
          <a:xfrm>
            <a:off x="838200" y="1379475"/>
            <a:ext cx="10515600" cy="1193105"/>
          </a:xfrm>
          <a:prstGeom prst="rect">
            <a:avLst/>
          </a:prstGeom>
          <a:noFill/>
          <a:ln>
            <a:noFill/>
          </a:ln>
        </p:spPr>
        <p:txBody>
          <a:bodyPr anchorCtr="0" anchor="t" bIns="45700" lIns="91425" spcFirstLastPara="1" rIns="91425" wrap="square" tIns="45700">
            <a:normAutofit/>
          </a:bodyPr>
          <a:lstStyle/>
          <a:p>
            <a:pPr indent="-222250" lvl="0" marL="352425" rtl="0" algn="l">
              <a:lnSpc>
                <a:spcPct val="75000"/>
              </a:lnSpc>
              <a:spcBef>
                <a:spcPts val="0"/>
              </a:spcBef>
              <a:spcAft>
                <a:spcPts val="0"/>
              </a:spcAft>
              <a:buSzPts val="2800"/>
              <a:buChar char="▪"/>
            </a:pPr>
            <a:r>
              <a:rPr lang="en-US"/>
              <a:t>not all routers can be upgraded simultaneously</a:t>
            </a:r>
            <a:endParaRPr/>
          </a:p>
          <a:p>
            <a:pPr indent="-231775" lvl="1" marL="695325" rtl="0" algn="l">
              <a:lnSpc>
                <a:spcPct val="75000"/>
              </a:lnSpc>
              <a:spcBef>
                <a:spcPts val="500"/>
              </a:spcBef>
              <a:spcAft>
                <a:spcPts val="0"/>
              </a:spcAft>
              <a:buSzPts val="2800"/>
              <a:buChar char="•"/>
            </a:pPr>
            <a:r>
              <a:rPr lang="en-US" sz="2800"/>
              <a:t>no “flag days”</a:t>
            </a:r>
            <a:endParaRPr/>
          </a:p>
          <a:p>
            <a:pPr indent="-231775" lvl="1" marL="695325" rtl="0" algn="l">
              <a:lnSpc>
                <a:spcPct val="75000"/>
              </a:lnSpc>
              <a:spcBef>
                <a:spcPts val="500"/>
              </a:spcBef>
              <a:spcAft>
                <a:spcPts val="0"/>
              </a:spcAft>
              <a:buSzPts val="2800"/>
              <a:buChar char="•"/>
            </a:pPr>
            <a:r>
              <a:rPr lang="en-US" sz="2800"/>
              <a:t>how will network operate with mixed IPv4 and IPv6 routers? </a:t>
            </a:r>
            <a:endParaRPr/>
          </a:p>
        </p:txBody>
      </p:sp>
      <p:sp>
        <p:nvSpPr>
          <p:cNvPr id="4489" name="Google Shape;4489;p7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Transition from IPv4 to IPv6</a:t>
            </a:r>
            <a:endParaRPr/>
          </a:p>
        </p:txBody>
      </p:sp>
      <p:grpSp>
        <p:nvGrpSpPr>
          <p:cNvPr id="4490" name="Google Shape;4490;p76"/>
          <p:cNvGrpSpPr/>
          <p:nvPr/>
        </p:nvGrpSpPr>
        <p:grpSpPr>
          <a:xfrm>
            <a:off x="2588799" y="4315653"/>
            <a:ext cx="6629400" cy="2227263"/>
            <a:chOff x="2588799" y="4315653"/>
            <a:chExt cx="6629400" cy="2227263"/>
          </a:xfrm>
        </p:grpSpPr>
        <p:grpSp>
          <p:nvGrpSpPr>
            <p:cNvPr id="4491" name="Google Shape;4491;p76"/>
            <p:cNvGrpSpPr/>
            <p:nvPr/>
          </p:nvGrpSpPr>
          <p:grpSpPr>
            <a:xfrm>
              <a:off x="3387311" y="5349116"/>
              <a:ext cx="4854575" cy="473075"/>
              <a:chOff x="1163" y="3504"/>
              <a:chExt cx="3058" cy="298"/>
            </a:xfrm>
          </p:grpSpPr>
          <p:sp>
            <p:nvSpPr>
              <p:cNvPr id="4492" name="Google Shape;4492;p76"/>
              <p:cNvSpPr/>
              <p:nvPr/>
            </p:nvSpPr>
            <p:spPr>
              <a:xfrm>
                <a:off x="1163" y="3505"/>
                <a:ext cx="3058" cy="295"/>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493" name="Google Shape;4493;p76"/>
              <p:cNvCxnSpPr/>
              <p:nvPr/>
            </p:nvCxnSpPr>
            <p:spPr>
              <a:xfrm>
                <a:off x="2022" y="3504"/>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4" name="Google Shape;4494;p76"/>
              <p:cNvCxnSpPr/>
              <p:nvPr/>
            </p:nvCxnSpPr>
            <p:spPr>
              <a:xfrm>
                <a:off x="1781" y="3507"/>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5" name="Google Shape;4495;p76"/>
              <p:cNvCxnSpPr/>
              <p:nvPr/>
            </p:nvCxnSpPr>
            <p:spPr>
              <a:xfrm>
                <a:off x="1532" y="3504"/>
                <a:ext cx="0" cy="295"/>
              </a:xfrm>
              <a:prstGeom prst="straightConnector1">
                <a:avLst/>
              </a:prstGeom>
              <a:noFill/>
              <a:ln cap="flat" cmpd="sng" w="9525">
                <a:solidFill>
                  <a:srgbClr val="CC0000"/>
                </a:solidFill>
                <a:prstDash val="solid"/>
                <a:round/>
                <a:headEnd len="med" w="med" type="none"/>
                <a:tailEnd len="med" w="med" type="none"/>
              </a:ln>
            </p:spPr>
          </p:cxnSp>
          <p:cxnSp>
            <p:nvCxnSpPr>
              <p:cNvPr id="4496" name="Google Shape;4496;p76"/>
              <p:cNvCxnSpPr/>
              <p:nvPr/>
            </p:nvCxnSpPr>
            <p:spPr>
              <a:xfrm>
                <a:off x="1187"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497" name="Google Shape;4497;p76"/>
              <p:cNvCxnSpPr/>
              <p:nvPr/>
            </p:nvCxnSpPr>
            <p:spPr>
              <a:xfrm>
                <a:off x="1187"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498" name="Google Shape;4498;p76"/>
              <p:cNvCxnSpPr/>
              <p:nvPr/>
            </p:nvCxnSpPr>
            <p:spPr>
              <a:xfrm>
                <a:off x="1283"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499" name="Google Shape;4499;p76"/>
              <p:cNvCxnSpPr/>
              <p:nvPr/>
            </p:nvCxnSpPr>
            <p:spPr>
              <a:xfrm>
                <a:off x="1283"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0" name="Google Shape;4500;p76"/>
              <p:cNvCxnSpPr/>
              <p:nvPr/>
            </p:nvCxnSpPr>
            <p:spPr>
              <a:xfrm>
                <a:off x="1379"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1" name="Google Shape;4501;p76"/>
              <p:cNvCxnSpPr/>
              <p:nvPr/>
            </p:nvCxnSpPr>
            <p:spPr>
              <a:xfrm>
                <a:off x="1379"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2" name="Google Shape;4502;p76"/>
              <p:cNvCxnSpPr/>
              <p:nvPr/>
            </p:nvCxnSpPr>
            <p:spPr>
              <a:xfrm>
                <a:off x="1475" y="350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3" name="Google Shape;4503;p76"/>
              <p:cNvCxnSpPr/>
              <p:nvPr/>
            </p:nvCxnSpPr>
            <p:spPr>
              <a:xfrm>
                <a:off x="1475" y="3742"/>
                <a:ext cx="0" cy="56"/>
              </a:xfrm>
              <a:prstGeom prst="straightConnector1">
                <a:avLst/>
              </a:prstGeom>
              <a:noFill/>
              <a:ln cap="flat" cmpd="sng" w="9525">
                <a:solidFill>
                  <a:srgbClr val="CC0000"/>
                </a:solidFill>
                <a:prstDash val="solid"/>
                <a:round/>
                <a:headEnd len="med" w="med" type="none"/>
                <a:tailEnd len="med" w="med" type="none"/>
              </a:ln>
            </p:spPr>
          </p:cxnSp>
          <p:cxnSp>
            <p:nvCxnSpPr>
              <p:cNvPr id="4504" name="Google Shape;4504;p76"/>
              <p:cNvCxnSpPr/>
              <p:nvPr/>
            </p:nvCxnSpPr>
            <p:spPr>
              <a:xfrm>
                <a:off x="1327" y="3506"/>
                <a:ext cx="0" cy="56"/>
              </a:xfrm>
              <a:prstGeom prst="straightConnector1">
                <a:avLst/>
              </a:prstGeom>
              <a:noFill/>
              <a:ln cap="flat" cmpd="sng" w="9525">
                <a:solidFill>
                  <a:srgbClr val="CC0000"/>
                </a:solidFill>
                <a:prstDash val="solid"/>
                <a:round/>
                <a:headEnd len="med" w="med" type="none"/>
                <a:tailEnd len="med" w="med" type="none"/>
              </a:ln>
            </p:spPr>
          </p:cxnSp>
          <p:cxnSp>
            <p:nvCxnSpPr>
              <p:cNvPr id="4505" name="Google Shape;4505;p76"/>
              <p:cNvCxnSpPr/>
              <p:nvPr/>
            </p:nvCxnSpPr>
            <p:spPr>
              <a:xfrm>
                <a:off x="1327" y="3744"/>
                <a:ext cx="0" cy="56"/>
              </a:xfrm>
              <a:prstGeom prst="straightConnector1">
                <a:avLst/>
              </a:prstGeom>
              <a:noFill/>
              <a:ln cap="flat" cmpd="sng" w="9525">
                <a:solidFill>
                  <a:srgbClr val="CC0000"/>
                </a:solidFill>
                <a:prstDash val="solid"/>
                <a:round/>
                <a:headEnd len="med" w="med" type="none"/>
                <a:tailEnd len="med" w="med" type="none"/>
              </a:ln>
            </p:spPr>
          </p:cxnSp>
          <p:cxnSp>
            <p:nvCxnSpPr>
              <p:cNvPr id="4506" name="Google Shape;4506;p76"/>
              <p:cNvCxnSpPr/>
              <p:nvPr/>
            </p:nvCxnSpPr>
            <p:spPr>
              <a:xfrm>
                <a:off x="1213" y="3508"/>
                <a:ext cx="0" cy="56"/>
              </a:xfrm>
              <a:prstGeom prst="straightConnector1">
                <a:avLst/>
              </a:prstGeom>
              <a:noFill/>
              <a:ln cap="flat" cmpd="sng" w="9525">
                <a:solidFill>
                  <a:srgbClr val="CC0000"/>
                </a:solidFill>
                <a:prstDash val="solid"/>
                <a:round/>
                <a:headEnd len="med" w="med" type="none"/>
                <a:tailEnd len="med" w="med" type="none"/>
              </a:ln>
            </p:spPr>
          </p:cxnSp>
          <p:cxnSp>
            <p:nvCxnSpPr>
              <p:cNvPr id="4507" name="Google Shape;4507;p76"/>
              <p:cNvCxnSpPr/>
              <p:nvPr/>
            </p:nvCxnSpPr>
            <p:spPr>
              <a:xfrm>
                <a:off x="1213" y="3746"/>
                <a:ext cx="0" cy="56"/>
              </a:xfrm>
              <a:prstGeom prst="straightConnector1">
                <a:avLst/>
              </a:prstGeom>
              <a:noFill/>
              <a:ln cap="flat" cmpd="sng" w="9525">
                <a:solidFill>
                  <a:srgbClr val="CC0000"/>
                </a:solidFill>
                <a:prstDash val="solid"/>
                <a:round/>
                <a:headEnd len="med" w="med" type="none"/>
                <a:tailEnd len="med" w="med" type="none"/>
              </a:ln>
            </p:spPr>
          </p:cxnSp>
        </p:grpSp>
        <p:sp>
          <p:nvSpPr>
            <p:cNvPr id="4508" name="Google Shape;4508;p76"/>
            <p:cNvSpPr txBox="1"/>
            <p:nvPr/>
          </p:nvSpPr>
          <p:spPr>
            <a:xfrm>
              <a:off x="2882486" y="4547428"/>
              <a:ext cx="20066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source, dest addr </a:t>
              </a:r>
              <a:endParaRPr/>
            </a:p>
          </p:txBody>
        </p:sp>
        <p:sp>
          <p:nvSpPr>
            <p:cNvPr id="4509" name="Google Shape;4509;p76"/>
            <p:cNvSpPr txBox="1"/>
            <p:nvPr/>
          </p:nvSpPr>
          <p:spPr>
            <a:xfrm>
              <a:off x="2588799" y="4315653"/>
              <a:ext cx="1652587"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header fields </a:t>
              </a:r>
              <a:endParaRPr/>
            </a:p>
          </p:txBody>
        </p:sp>
        <p:cxnSp>
          <p:nvCxnSpPr>
            <p:cNvPr id="4510" name="Google Shape;4510;p76"/>
            <p:cNvCxnSpPr/>
            <p:nvPr/>
          </p:nvCxnSpPr>
          <p:spPr>
            <a:xfrm>
              <a:off x="4141374" y="4806191"/>
              <a:ext cx="0" cy="738187"/>
            </a:xfrm>
            <a:prstGeom prst="straightConnector1">
              <a:avLst/>
            </a:prstGeom>
            <a:noFill/>
            <a:ln cap="flat" cmpd="sng" w="9525">
              <a:solidFill>
                <a:srgbClr val="CC0000"/>
              </a:solidFill>
              <a:prstDash val="solid"/>
              <a:round/>
              <a:headEnd len="med" w="med" type="none"/>
              <a:tailEnd len="med" w="med" type="none"/>
            </a:ln>
          </p:spPr>
        </p:cxnSp>
        <p:cxnSp>
          <p:nvCxnSpPr>
            <p:cNvPr id="4511" name="Google Shape;4511;p76"/>
            <p:cNvCxnSpPr/>
            <p:nvPr/>
          </p:nvCxnSpPr>
          <p:spPr>
            <a:xfrm>
              <a:off x="4146136" y="4801428"/>
              <a:ext cx="381000" cy="738188"/>
            </a:xfrm>
            <a:prstGeom prst="straightConnector1">
              <a:avLst/>
            </a:prstGeom>
            <a:noFill/>
            <a:ln cap="flat" cmpd="sng" w="9525">
              <a:solidFill>
                <a:srgbClr val="CC0000"/>
              </a:solidFill>
              <a:prstDash val="solid"/>
              <a:round/>
              <a:headEnd len="med" w="med" type="none"/>
              <a:tailEnd len="med" w="med" type="none"/>
            </a:ln>
          </p:spPr>
        </p:cxnSp>
        <p:cxnSp>
          <p:nvCxnSpPr>
            <p:cNvPr id="4512" name="Google Shape;4512;p76"/>
            <p:cNvCxnSpPr/>
            <p:nvPr/>
          </p:nvCxnSpPr>
          <p:spPr>
            <a:xfrm>
              <a:off x="3546061" y="4558541"/>
              <a:ext cx="0" cy="976312"/>
            </a:xfrm>
            <a:prstGeom prst="straightConnector1">
              <a:avLst/>
            </a:prstGeom>
            <a:noFill/>
            <a:ln cap="flat" cmpd="sng" w="9525">
              <a:solidFill>
                <a:srgbClr val="CC0000"/>
              </a:solidFill>
              <a:prstDash val="solid"/>
              <a:round/>
              <a:headEnd len="med" w="med" type="none"/>
              <a:tailEnd len="med" w="med" type="none"/>
            </a:ln>
          </p:spPr>
        </p:cxnSp>
        <p:sp>
          <p:nvSpPr>
            <p:cNvPr id="4513" name="Google Shape;4513;p76"/>
            <p:cNvSpPr txBox="1"/>
            <p:nvPr/>
          </p:nvSpPr>
          <p:spPr>
            <a:xfrm>
              <a:off x="4949411" y="6176203"/>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IPv4 datagram</a:t>
              </a:r>
              <a:endParaRPr/>
            </a:p>
          </p:txBody>
        </p:sp>
        <p:cxnSp>
          <p:nvCxnSpPr>
            <p:cNvPr id="4514" name="Google Shape;4514;p76"/>
            <p:cNvCxnSpPr/>
            <p:nvPr/>
          </p:nvCxnSpPr>
          <p:spPr>
            <a:xfrm>
              <a:off x="6570249" y="6365116"/>
              <a:ext cx="1695450" cy="0"/>
            </a:xfrm>
            <a:prstGeom prst="straightConnector1">
              <a:avLst/>
            </a:prstGeom>
            <a:noFill/>
            <a:ln cap="flat" cmpd="sng" w="9525">
              <a:solidFill>
                <a:schemeClr val="dk1"/>
              </a:solidFill>
              <a:prstDash val="solid"/>
              <a:round/>
              <a:headEnd len="med" w="med" type="none"/>
              <a:tailEnd len="med" w="med" type="triangle"/>
            </a:ln>
          </p:spPr>
        </p:cxnSp>
        <p:cxnSp>
          <p:nvCxnSpPr>
            <p:cNvPr id="4515" name="Google Shape;4515;p76"/>
            <p:cNvCxnSpPr/>
            <p:nvPr/>
          </p:nvCxnSpPr>
          <p:spPr>
            <a:xfrm rot="10800000">
              <a:off x="3380961" y="6365116"/>
              <a:ext cx="1606550" cy="0"/>
            </a:xfrm>
            <a:prstGeom prst="straightConnector1">
              <a:avLst/>
            </a:prstGeom>
            <a:noFill/>
            <a:ln cap="flat" cmpd="sng" w="9525">
              <a:solidFill>
                <a:schemeClr val="dk1"/>
              </a:solidFill>
              <a:prstDash val="solid"/>
              <a:round/>
              <a:headEnd len="med" w="med" type="none"/>
              <a:tailEnd len="med" w="med" type="triangle"/>
            </a:ln>
          </p:spPr>
        </p:cxnSp>
        <p:sp>
          <p:nvSpPr>
            <p:cNvPr id="4516" name="Google Shape;4516;p76"/>
            <p:cNvSpPr txBox="1"/>
            <p:nvPr/>
          </p:nvSpPr>
          <p:spPr>
            <a:xfrm>
              <a:off x="5670136" y="5826953"/>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cxnSp>
          <p:nvCxnSpPr>
            <p:cNvPr id="4517" name="Google Shape;4517;p76"/>
            <p:cNvCxnSpPr/>
            <p:nvPr/>
          </p:nvCxnSpPr>
          <p:spPr>
            <a:xfrm>
              <a:off x="7306849" y="5996816"/>
              <a:ext cx="857250" cy="0"/>
            </a:xfrm>
            <a:prstGeom prst="straightConnector1">
              <a:avLst/>
            </a:prstGeom>
            <a:noFill/>
            <a:ln cap="flat" cmpd="sng" w="9525">
              <a:solidFill>
                <a:schemeClr val="dk1"/>
              </a:solidFill>
              <a:prstDash val="solid"/>
              <a:round/>
              <a:headEnd len="med" w="med" type="none"/>
              <a:tailEnd len="med" w="med" type="triangle"/>
            </a:ln>
          </p:spPr>
        </p:cxnSp>
        <p:cxnSp>
          <p:nvCxnSpPr>
            <p:cNvPr id="4518" name="Google Shape;4518;p76"/>
            <p:cNvCxnSpPr/>
            <p:nvPr/>
          </p:nvCxnSpPr>
          <p:spPr>
            <a:xfrm rot="10800000">
              <a:off x="4808124" y="5996816"/>
              <a:ext cx="925512" cy="0"/>
            </a:xfrm>
            <a:prstGeom prst="straightConnector1">
              <a:avLst/>
            </a:prstGeom>
            <a:noFill/>
            <a:ln cap="flat" cmpd="sng" w="9525">
              <a:solidFill>
                <a:schemeClr val="dk1"/>
              </a:solidFill>
              <a:prstDash val="solid"/>
              <a:round/>
              <a:headEnd len="med" w="med" type="none"/>
              <a:tailEnd len="med" w="med" type="triangle"/>
            </a:ln>
          </p:spPr>
        </p:cxnSp>
        <p:sp>
          <p:nvSpPr>
            <p:cNvPr id="4519" name="Google Shape;4519;p76"/>
            <p:cNvSpPr/>
            <p:nvPr/>
          </p:nvSpPr>
          <p:spPr>
            <a:xfrm>
              <a:off x="4776374" y="5384041"/>
              <a:ext cx="3422650" cy="401637"/>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520" name="Google Shape;4520;p76"/>
            <p:cNvGrpSpPr/>
            <p:nvPr/>
          </p:nvGrpSpPr>
          <p:grpSpPr>
            <a:xfrm>
              <a:off x="5838411" y="4414078"/>
              <a:ext cx="3379788" cy="1109663"/>
              <a:chOff x="2868" y="2782"/>
              <a:chExt cx="2129" cy="699"/>
            </a:xfrm>
          </p:grpSpPr>
          <p:sp>
            <p:nvSpPr>
              <p:cNvPr id="4521" name="Google Shape;4521;p76"/>
              <p:cNvSpPr txBox="1"/>
              <p:nvPr/>
            </p:nvSpPr>
            <p:spPr>
              <a:xfrm>
                <a:off x="4204" y="2782"/>
                <a:ext cx="793"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payload </a:t>
                </a:r>
                <a:endParaRPr/>
              </a:p>
            </p:txBody>
          </p:sp>
          <p:cxnSp>
            <p:nvCxnSpPr>
              <p:cNvPr id="4522" name="Google Shape;4522;p76"/>
              <p:cNvCxnSpPr/>
              <p:nvPr/>
            </p:nvCxnSpPr>
            <p:spPr>
              <a:xfrm flipH="1">
                <a:off x="2868" y="2979"/>
                <a:ext cx="1532" cy="502"/>
              </a:xfrm>
              <a:prstGeom prst="straightConnector1">
                <a:avLst/>
              </a:prstGeom>
              <a:noFill/>
              <a:ln cap="flat" cmpd="sng" w="9525">
                <a:solidFill>
                  <a:srgbClr val="CC0000"/>
                </a:solidFill>
                <a:prstDash val="solid"/>
                <a:round/>
                <a:headEnd len="med" w="med" type="none"/>
                <a:tailEnd len="med" w="med" type="none"/>
              </a:ln>
            </p:spPr>
          </p:cxnSp>
        </p:grpSp>
      </p:grpSp>
      <p:grpSp>
        <p:nvGrpSpPr>
          <p:cNvPr id="4523" name="Google Shape;4523;p76"/>
          <p:cNvGrpSpPr/>
          <p:nvPr/>
        </p:nvGrpSpPr>
        <p:grpSpPr>
          <a:xfrm>
            <a:off x="4792249" y="4318828"/>
            <a:ext cx="3402012" cy="1476375"/>
            <a:chOff x="2280" y="1247"/>
            <a:chExt cx="2143" cy="930"/>
          </a:xfrm>
        </p:grpSpPr>
        <p:sp>
          <p:nvSpPr>
            <p:cNvPr id="4524" name="Google Shape;4524;p76"/>
            <p:cNvSpPr/>
            <p:nvPr/>
          </p:nvSpPr>
          <p:spPr>
            <a:xfrm>
              <a:off x="2280" y="1918"/>
              <a:ext cx="2143" cy="253"/>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525" name="Google Shape;4525;p76"/>
            <p:cNvCxnSpPr/>
            <p:nvPr/>
          </p:nvCxnSpPr>
          <p:spPr>
            <a:xfrm>
              <a:off x="2333" y="1918"/>
              <a:ext cx="0" cy="254"/>
            </a:xfrm>
            <a:prstGeom prst="straightConnector1">
              <a:avLst/>
            </a:prstGeom>
            <a:noFill/>
            <a:ln cap="flat" cmpd="sng" w="9525">
              <a:solidFill>
                <a:schemeClr val="dk1"/>
              </a:solidFill>
              <a:prstDash val="solid"/>
              <a:round/>
              <a:headEnd len="med" w="med" type="none"/>
              <a:tailEnd len="med" w="med" type="none"/>
            </a:ln>
          </p:spPr>
        </p:cxnSp>
        <p:cxnSp>
          <p:nvCxnSpPr>
            <p:cNvPr id="4526" name="Google Shape;4526;p76"/>
            <p:cNvCxnSpPr/>
            <p:nvPr/>
          </p:nvCxnSpPr>
          <p:spPr>
            <a:xfrm>
              <a:off x="2307" y="1917"/>
              <a:ext cx="0" cy="254"/>
            </a:xfrm>
            <a:prstGeom prst="straightConnector1">
              <a:avLst/>
            </a:prstGeom>
            <a:noFill/>
            <a:ln cap="flat" cmpd="sng" w="9525">
              <a:solidFill>
                <a:schemeClr val="dk1"/>
              </a:solidFill>
              <a:prstDash val="solid"/>
              <a:round/>
              <a:headEnd len="med" w="med" type="none"/>
              <a:tailEnd len="med" w="med" type="none"/>
            </a:ln>
          </p:spPr>
        </p:cxnSp>
        <p:cxnSp>
          <p:nvCxnSpPr>
            <p:cNvPr id="4527" name="Google Shape;4527;p76"/>
            <p:cNvCxnSpPr/>
            <p:nvPr/>
          </p:nvCxnSpPr>
          <p:spPr>
            <a:xfrm>
              <a:off x="2381" y="1918"/>
              <a:ext cx="0" cy="254"/>
            </a:xfrm>
            <a:prstGeom prst="straightConnector1">
              <a:avLst/>
            </a:prstGeom>
            <a:noFill/>
            <a:ln cap="flat" cmpd="sng" w="9525">
              <a:solidFill>
                <a:schemeClr val="dk1"/>
              </a:solidFill>
              <a:prstDash val="solid"/>
              <a:round/>
              <a:headEnd len="med" w="med" type="none"/>
              <a:tailEnd len="med" w="med" type="none"/>
            </a:ln>
          </p:spPr>
        </p:cxnSp>
        <p:cxnSp>
          <p:nvCxnSpPr>
            <p:cNvPr id="4528" name="Google Shape;4528;p76"/>
            <p:cNvCxnSpPr/>
            <p:nvPr/>
          </p:nvCxnSpPr>
          <p:spPr>
            <a:xfrm>
              <a:off x="2407"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29" name="Google Shape;4529;p76"/>
            <p:cNvCxnSpPr/>
            <p:nvPr/>
          </p:nvCxnSpPr>
          <p:spPr>
            <a:xfrm>
              <a:off x="2441"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30" name="Google Shape;4530;p76"/>
            <p:cNvCxnSpPr/>
            <p:nvPr/>
          </p:nvCxnSpPr>
          <p:spPr>
            <a:xfrm>
              <a:off x="2483" y="1916"/>
              <a:ext cx="0" cy="254"/>
            </a:xfrm>
            <a:prstGeom prst="straightConnector1">
              <a:avLst/>
            </a:prstGeom>
            <a:noFill/>
            <a:ln cap="flat" cmpd="sng" w="9525">
              <a:solidFill>
                <a:schemeClr val="dk1"/>
              </a:solidFill>
              <a:prstDash val="solid"/>
              <a:round/>
              <a:headEnd len="med" w="med" type="none"/>
              <a:tailEnd len="med" w="med" type="none"/>
            </a:ln>
          </p:spPr>
        </p:cxnSp>
        <p:cxnSp>
          <p:nvCxnSpPr>
            <p:cNvPr id="4531" name="Google Shape;4531;p76"/>
            <p:cNvCxnSpPr/>
            <p:nvPr/>
          </p:nvCxnSpPr>
          <p:spPr>
            <a:xfrm>
              <a:off x="2679" y="1923"/>
              <a:ext cx="0" cy="254"/>
            </a:xfrm>
            <a:prstGeom prst="straightConnector1">
              <a:avLst/>
            </a:prstGeom>
            <a:noFill/>
            <a:ln cap="flat" cmpd="sng" w="9525">
              <a:solidFill>
                <a:schemeClr val="dk1"/>
              </a:solidFill>
              <a:prstDash val="solid"/>
              <a:round/>
              <a:headEnd len="med" w="med" type="none"/>
              <a:tailEnd len="med" w="med" type="none"/>
            </a:ln>
          </p:spPr>
        </p:cxnSp>
        <p:cxnSp>
          <p:nvCxnSpPr>
            <p:cNvPr id="4532" name="Google Shape;4532;p76"/>
            <p:cNvCxnSpPr/>
            <p:nvPr/>
          </p:nvCxnSpPr>
          <p:spPr>
            <a:xfrm>
              <a:off x="2915" y="1923"/>
              <a:ext cx="0" cy="254"/>
            </a:xfrm>
            <a:prstGeom prst="straightConnector1">
              <a:avLst/>
            </a:prstGeom>
            <a:noFill/>
            <a:ln cap="flat" cmpd="sng" w="9525">
              <a:solidFill>
                <a:schemeClr val="dk1"/>
              </a:solidFill>
              <a:prstDash val="solid"/>
              <a:round/>
              <a:headEnd len="med" w="med" type="none"/>
              <a:tailEnd len="med" w="med" type="none"/>
            </a:ln>
          </p:spPr>
        </p:cxnSp>
        <p:sp>
          <p:nvSpPr>
            <p:cNvPr id="4533" name="Google Shape;4533;p76"/>
            <p:cNvSpPr txBox="1"/>
            <p:nvPr/>
          </p:nvSpPr>
          <p:spPr>
            <a:xfrm>
              <a:off x="2672" y="1557"/>
              <a:ext cx="1030" cy="1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UDP/TCP payload</a:t>
              </a:r>
              <a:endParaRPr/>
            </a:p>
          </p:txBody>
        </p:sp>
        <p:sp>
          <p:nvSpPr>
            <p:cNvPr id="4534" name="Google Shape;4534;p76"/>
            <p:cNvSpPr txBox="1"/>
            <p:nvPr/>
          </p:nvSpPr>
          <p:spPr>
            <a:xfrm>
              <a:off x="2500" y="1396"/>
              <a:ext cx="1202" cy="17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IPv6 source dest addr</a:t>
              </a:r>
              <a:endParaRPr/>
            </a:p>
          </p:txBody>
        </p:sp>
        <p:sp>
          <p:nvSpPr>
            <p:cNvPr id="4535" name="Google Shape;4535;p76"/>
            <p:cNvSpPr txBox="1"/>
            <p:nvPr/>
          </p:nvSpPr>
          <p:spPr>
            <a:xfrm>
              <a:off x="2314" y="1247"/>
              <a:ext cx="1010" cy="17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IPv6 header fields</a:t>
              </a:r>
              <a:endParaRPr/>
            </a:p>
          </p:txBody>
        </p:sp>
        <p:cxnSp>
          <p:nvCxnSpPr>
            <p:cNvPr id="4536" name="Google Shape;4536;p76"/>
            <p:cNvCxnSpPr/>
            <p:nvPr/>
          </p:nvCxnSpPr>
          <p:spPr>
            <a:xfrm>
              <a:off x="2602" y="1543"/>
              <a:ext cx="3" cy="442"/>
            </a:xfrm>
            <a:prstGeom prst="straightConnector1">
              <a:avLst/>
            </a:prstGeom>
            <a:noFill/>
            <a:ln cap="flat" cmpd="sng" w="9525">
              <a:solidFill>
                <a:srgbClr val="CC0000"/>
              </a:solidFill>
              <a:prstDash val="solid"/>
              <a:round/>
              <a:headEnd len="med" w="med" type="none"/>
              <a:tailEnd len="med" w="med" type="none"/>
            </a:ln>
          </p:spPr>
        </p:cxnSp>
        <p:cxnSp>
          <p:nvCxnSpPr>
            <p:cNvPr id="4537" name="Google Shape;4537;p76"/>
            <p:cNvCxnSpPr/>
            <p:nvPr/>
          </p:nvCxnSpPr>
          <p:spPr>
            <a:xfrm>
              <a:off x="2594" y="1546"/>
              <a:ext cx="174" cy="440"/>
            </a:xfrm>
            <a:prstGeom prst="straightConnector1">
              <a:avLst/>
            </a:prstGeom>
            <a:noFill/>
            <a:ln cap="flat" cmpd="sng" w="9525">
              <a:solidFill>
                <a:srgbClr val="CC0000"/>
              </a:solidFill>
              <a:prstDash val="solid"/>
              <a:round/>
              <a:headEnd len="med" w="med" type="none"/>
              <a:tailEnd len="med" w="med" type="none"/>
            </a:ln>
          </p:spPr>
        </p:cxnSp>
        <p:cxnSp>
          <p:nvCxnSpPr>
            <p:cNvPr id="4538" name="Google Shape;4538;p76"/>
            <p:cNvCxnSpPr/>
            <p:nvPr/>
          </p:nvCxnSpPr>
          <p:spPr>
            <a:xfrm>
              <a:off x="2386" y="1399"/>
              <a:ext cx="0" cy="549"/>
            </a:xfrm>
            <a:prstGeom prst="straightConnector1">
              <a:avLst/>
            </a:prstGeom>
            <a:noFill/>
            <a:ln cap="flat" cmpd="sng" w="9525">
              <a:solidFill>
                <a:srgbClr val="CC0000"/>
              </a:solidFill>
              <a:prstDash val="solid"/>
              <a:round/>
              <a:headEnd len="med" w="med" type="none"/>
              <a:tailEnd len="med" w="med" type="none"/>
            </a:ln>
          </p:spPr>
        </p:cxnSp>
        <p:cxnSp>
          <p:nvCxnSpPr>
            <p:cNvPr id="4539" name="Google Shape;4539;p76"/>
            <p:cNvCxnSpPr/>
            <p:nvPr/>
          </p:nvCxnSpPr>
          <p:spPr>
            <a:xfrm>
              <a:off x="3334" y="1720"/>
              <a:ext cx="0" cy="252"/>
            </a:xfrm>
            <a:prstGeom prst="straightConnector1">
              <a:avLst/>
            </a:prstGeom>
            <a:noFill/>
            <a:ln cap="flat" cmpd="sng" w="9525">
              <a:solidFill>
                <a:srgbClr val="CC0000"/>
              </a:solidFill>
              <a:prstDash val="solid"/>
              <a:round/>
              <a:headEnd len="med" w="med" type="none"/>
              <a:tailEnd len="med" w="med" type="none"/>
            </a:ln>
          </p:spPr>
        </p:cxnSp>
      </p:grpSp>
      <p:sp>
        <p:nvSpPr>
          <p:cNvPr id="4540" name="Google Shape;4540;p76"/>
          <p:cNvSpPr txBox="1"/>
          <p:nvPr/>
        </p:nvSpPr>
        <p:spPr>
          <a:xfrm>
            <a:off x="844826" y="2618555"/>
            <a:ext cx="10515600" cy="139685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00000"/>
                </a:solidFill>
                <a:latin typeface="Calibri"/>
                <a:ea typeface="Calibri"/>
                <a:cs typeface="Calibri"/>
                <a:sym typeface="Calibri"/>
              </a:rPr>
              <a:t>tunneling: </a:t>
            </a:r>
            <a:r>
              <a:rPr b="0" i="0" lang="en-US" sz="2800" u="none" cap="none" strike="noStrike">
                <a:solidFill>
                  <a:srgbClr val="000000"/>
                </a:solidFill>
                <a:latin typeface="Calibri"/>
                <a:ea typeface="Calibri"/>
                <a:cs typeface="Calibri"/>
                <a:sym typeface="Calibri"/>
              </a:rPr>
              <a:t>IPv6 datagram carried as </a:t>
            </a:r>
            <a:r>
              <a:rPr b="0" i="1" lang="en-US" sz="2800" u="none" cap="none" strike="noStrike">
                <a:solidFill>
                  <a:srgbClr val="000000"/>
                </a:solidFill>
                <a:latin typeface="Calibri"/>
                <a:ea typeface="Calibri"/>
                <a:cs typeface="Calibri"/>
                <a:sym typeface="Calibri"/>
              </a:rPr>
              <a:t>payload</a:t>
            </a:r>
            <a:r>
              <a:rPr b="0" i="0" lang="en-US" sz="2800" u="none" cap="none" strike="noStrike">
                <a:solidFill>
                  <a:srgbClr val="000000"/>
                </a:solidFill>
                <a:latin typeface="Calibri"/>
                <a:ea typeface="Calibri"/>
                <a:cs typeface="Calibri"/>
                <a:sym typeface="Calibri"/>
              </a:rPr>
              <a:t> in IPv4 datagram among IPv4 </a:t>
            </a:r>
            <a:r>
              <a:rPr b="0" i="0" lang="en-US" sz="2400" u="none" cap="none" strike="noStrike">
                <a:solidFill>
                  <a:srgbClr val="000000"/>
                </a:solidFill>
                <a:latin typeface="Calibri"/>
                <a:ea typeface="Calibri"/>
                <a:cs typeface="Calibri"/>
                <a:sym typeface="Calibri"/>
              </a:rPr>
              <a:t>routers (“packet within a packet”)</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tunneling used extensively in other contexts (4G/5G)</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4541" name="Google Shape;4541;p7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0"/>
                                        </p:tgtEl>
                                        <p:attrNameLst>
                                          <p:attrName>style.visibility</p:attrName>
                                        </p:attrNameLst>
                                      </p:cBhvr>
                                      <p:to>
                                        <p:strVal val="visible"/>
                                      </p:to>
                                    </p:set>
                                    <p:animEffect filter="fade" transition="in">
                                      <p:cBhvr>
                                        <p:cTn dur="500"/>
                                        <p:tgtEl>
                                          <p:spTgt spid="4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0"/>
                                        </p:tgtEl>
                                        <p:attrNameLst>
                                          <p:attrName>style.visibility</p:attrName>
                                        </p:attrNameLst>
                                      </p:cBhvr>
                                      <p:to>
                                        <p:strVal val="visible"/>
                                      </p:to>
                                    </p:set>
                                    <p:animEffect filter="fade" transition="in">
                                      <p:cBhvr>
                                        <p:cTn dur="500"/>
                                        <p:tgtEl>
                                          <p:spTgt spid="4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3"/>
                                        </p:tgtEl>
                                        <p:attrNameLst>
                                          <p:attrName>style.visibility</p:attrName>
                                        </p:attrNameLst>
                                      </p:cBhvr>
                                      <p:to>
                                        <p:strVal val="visible"/>
                                      </p:to>
                                    </p:set>
                                    <p:animEffect filter="fade" transition="in">
                                      <p:cBhvr>
                                        <p:cTn dur="500"/>
                                        <p:tgtEl>
                                          <p:spTgt spid="4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6" name="Shape 4546"/>
        <p:cNvGrpSpPr/>
        <p:nvPr/>
      </p:nvGrpSpPr>
      <p:grpSpPr>
        <a:xfrm>
          <a:off x="0" y="0"/>
          <a:ext cx="0" cy="0"/>
          <a:chOff x="0" y="0"/>
          <a:chExt cx="0" cy="0"/>
        </a:xfrm>
      </p:grpSpPr>
      <p:sp>
        <p:nvSpPr>
          <p:cNvPr id="4547" name="Google Shape;4547;p77"/>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 and encapsulation</a:t>
            </a:r>
            <a:endParaRPr/>
          </a:p>
        </p:txBody>
      </p:sp>
      <p:sp>
        <p:nvSpPr>
          <p:cNvPr id="4548" name="Google Shape;4548;p77"/>
          <p:cNvSpPr txBox="1"/>
          <p:nvPr/>
        </p:nvSpPr>
        <p:spPr>
          <a:xfrm>
            <a:off x="888274" y="1697883"/>
            <a:ext cx="275952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Ethernet connecting two IPv6 routers:</a:t>
            </a:r>
            <a:endParaRPr/>
          </a:p>
        </p:txBody>
      </p:sp>
      <p:grpSp>
        <p:nvGrpSpPr>
          <p:cNvPr id="4549" name="Google Shape;4549;p77"/>
          <p:cNvGrpSpPr/>
          <p:nvPr/>
        </p:nvGrpSpPr>
        <p:grpSpPr>
          <a:xfrm>
            <a:off x="4274280" y="1626442"/>
            <a:ext cx="5834767" cy="995120"/>
            <a:chOff x="3663591" y="1108282"/>
            <a:chExt cx="5834767" cy="995120"/>
          </a:xfrm>
        </p:grpSpPr>
        <p:sp>
          <p:nvSpPr>
            <p:cNvPr id="4550" name="Google Shape;4550;p77"/>
            <p:cNvSpPr/>
            <p:nvPr/>
          </p:nvSpPr>
          <p:spPr>
            <a:xfrm>
              <a:off x="5385352" y="1616420"/>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1" name="Google Shape;4551;p77"/>
            <p:cNvSpPr txBox="1"/>
            <p:nvPr/>
          </p:nvSpPr>
          <p:spPr>
            <a:xfrm>
              <a:off x="5480234" y="1110007"/>
              <a:ext cx="2471780" cy="51090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Ethernet connects two IPv6 routers</a:t>
              </a:r>
              <a:endParaRPr/>
            </a:p>
          </p:txBody>
        </p:sp>
        <p:grpSp>
          <p:nvGrpSpPr>
            <p:cNvPr id="4552" name="Google Shape;4552;p77"/>
            <p:cNvGrpSpPr/>
            <p:nvPr/>
          </p:nvGrpSpPr>
          <p:grpSpPr>
            <a:xfrm>
              <a:off x="3663591" y="1108282"/>
              <a:ext cx="1764058" cy="965200"/>
              <a:chOff x="3670217" y="2254595"/>
              <a:chExt cx="1764058" cy="965200"/>
            </a:xfrm>
          </p:grpSpPr>
          <p:sp>
            <p:nvSpPr>
              <p:cNvPr id="4553" name="Google Shape;4553;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554" name="Google Shape;4554;p77"/>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555" name="Google Shape;4555;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556" name="Google Shape;4556;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557" name="Google Shape;4557;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558" name="Google Shape;4558;p77"/>
              <p:cNvGrpSpPr/>
              <p:nvPr/>
            </p:nvGrpSpPr>
            <p:grpSpPr>
              <a:xfrm>
                <a:off x="3670217" y="2586162"/>
                <a:ext cx="731126" cy="344556"/>
                <a:chOff x="7493876" y="2774731"/>
                <a:chExt cx="1481958" cy="894622"/>
              </a:xfrm>
            </p:grpSpPr>
            <p:sp>
              <p:nvSpPr>
                <p:cNvPr id="4559" name="Google Shape;4559;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60" name="Google Shape;4560;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61" name="Google Shape;4561;p77"/>
                <p:cNvGrpSpPr/>
                <p:nvPr/>
              </p:nvGrpSpPr>
              <p:grpSpPr>
                <a:xfrm>
                  <a:off x="7713663" y="2848339"/>
                  <a:ext cx="1042107" cy="425543"/>
                  <a:chOff x="7786941" y="2884917"/>
                  <a:chExt cx="897649" cy="353919"/>
                </a:xfrm>
              </p:grpSpPr>
              <p:sp>
                <p:nvSpPr>
                  <p:cNvPr id="4562" name="Google Shape;4562;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3" name="Google Shape;4563;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4" name="Google Shape;4564;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65" name="Google Shape;4565;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66" name="Google Shape;4566;p77"/>
              <p:cNvGrpSpPr/>
              <p:nvPr/>
            </p:nvGrpSpPr>
            <p:grpSpPr>
              <a:xfrm>
                <a:off x="4703149" y="2589549"/>
                <a:ext cx="731126" cy="344556"/>
                <a:chOff x="7493876" y="2774731"/>
                <a:chExt cx="1481958" cy="894622"/>
              </a:xfrm>
            </p:grpSpPr>
            <p:sp>
              <p:nvSpPr>
                <p:cNvPr id="4567" name="Google Shape;4567;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68" name="Google Shape;4568;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69" name="Google Shape;4569;p77"/>
                <p:cNvGrpSpPr/>
                <p:nvPr/>
              </p:nvGrpSpPr>
              <p:grpSpPr>
                <a:xfrm>
                  <a:off x="7713663" y="2848339"/>
                  <a:ext cx="1042107" cy="425543"/>
                  <a:chOff x="7786941" y="2884917"/>
                  <a:chExt cx="897649" cy="353919"/>
                </a:xfrm>
              </p:grpSpPr>
              <p:sp>
                <p:nvSpPr>
                  <p:cNvPr id="4570" name="Google Shape;4570;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1" name="Google Shape;4571;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2" name="Google Shape;4572;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73" name="Google Shape;4573;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574" name="Google Shape;4574;p77"/>
            <p:cNvGrpSpPr/>
            <p:nvPr/>
          </p:nvGrpSpPr>
          <p:grpSpPr>
            <a:xfrm>
              <a:off x="7734300" y="1138202"/>
              <a:ext cx="1764058" cy="965200"/>
              <a:chOff x="3670217" y="2254595"/>
              <a:chExt cx="1764058" cy="965200"/>
            </a:xfrm>
          </p:grpSpPr>
          <p:sp>
            <p:nvSpPr>
              <p:cNvPr id="4575" name="Google Shape;4575;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576" name="Google Shape;4576;p77"/>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577" name="Google Shape;4577;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578" name="Google Shape;4578;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579" name="Google Shape;4579;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580" name="Google Shape;4580;p77"/>
              <p:cNvGrpSpPr/>
              <p:nvPr/>
            </p:nvGrpSpPr>
            <p:grpSpPr>
              <a:xfrm>
                <a:off x="3670217" y="2586162"/>
                <a:ext cx="731126" cy="344556"/>
                <a:chOff x="7493876" y="2774731"/>
                <a:chExt cx="1481958" cy="894622"/>
              </a:xfrm>
            </p:grpSpPr>
            <p:sp>
              <p:nvSpPr>
                <p:cNvPr id="4581" name="Google Shape;4581;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82" name="Google Shape;4582;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83" name="Google Shape;4583;p77"/>
                <p:cNvGrpSpPr/>
                <p:nvPr/>
              </p:nvGrpSpPr>
              <p:grpSpPr>
                <a:xfrm>
                  <a:off x="7713663" y="2848339"/>
                  <a:ext cx="1042107" cy="425543"/>
                  <a:chOff x="7786941" y="2884917"/>
                  <a:chExt cx="897649" cy="353919"/>
                </a:xfrm>
              </p:grpSpPr>
              <p:sp>
                <p:nvSpPr>
                  <p:cNvPr id="4584" name="Google Shape;4584;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5" name="Google Shape;4585;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6" name="Google Shape;4586;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87" name="Google Shape;4587;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588" name="Google Shape;4588;p77"/>
              <p:cNvGrpSpPr/>
              <p:nvPr/>
            </p:nvGrpSpPr>
            <p:grpSpPr>
              <a:xfrm>
                <a:off x="4703149" y="2589549"/>
                <a:ext cx="731126" cy="344556"/>
                <a:chOff x="7493876" y="2774731"/>
                <a:chExt cx="1481958" cy="894622"/>
              </a:xfrm>
            </p:grpSpPr>
            <p:sp>
              <p:nvSpPr>
                <p:cNvPr id="4589" name="Google Shape;4589;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590" name="Google Shape;4590;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591" name="Google Shape;4591;p77"/>
                <p:cNvGrpSpPr/>
                <p:nvPr/>
              </p:nvGrpSpPr>
              <p:grpSpPr>
                <a:xfrm>
                  <a:off x="7713663" y="2848339"/>
                  <a:ext cx="1042107" cy="425543"/>
                  <a:chOff x="7786941" y="2884917"/>
                  <a:chExt cx="897649" cy="353919"/>
                </a:xfrm>
              </p:grpSpPr>
              <p:sp>
                <p:nvSpPr>
                  <p:cNvPr id="4592" name="Google Shape;4592;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3" name="Google Shape;4593;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4" name="Google Shape;4594;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5" name="Google Shape;4595;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nvGrpSpPr>
          <p:cNvPr id="4596" name="Google Shape;4596;p77"/>
          <p:cNvGrpSpPr/>
          <p:nvPr/>
        </p:nvGrpSpPr>
        <p:grpSpPr>
          <a:xfrm>
            <a:off x="3244703" y="3195320"/>
            <a:ext cx="1748069" cy="467910"/>
            <a:chOff x="3229463" y="3119120"/>
            <a:chExt cx="1748069" cy="467910"/>
          </a:xfrm>
        </p:grpSpPr>
        <p:cxnSp>
          <p:nvCxnSpPr>
            <p:cNvPr id="4597" name="Google Shape;4597;p77"/>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598" name="Google Shape;4598;p77"/>
            <p:cNvSpPr txBox="1"/>
            <p:nvPr/>
          </p:nvSpPr>
          <p:spPr>
            <a:xfrm>
              <a:off x="3229463" y="3311570"/>
              <a:ext cx="1516761"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Link-layer frame</a:t>
              </a:r>
              <a:endParaRPr/>
            </a:p>
          </p:txBody>
        </p:sp>
      </p:grpSp>
      <p:grpSp>
        <p:nvGrpSpPr>
          <p:cNvPr id="4599" name="Google Shape;4599;p77"/>
          <p:cNvGrpSpPr/>
          <p:nvPr/>
        </p:nvGrpSpPr>
        <p:grpSpPr>
          <a:xfrm>
            <a:off x="4809173" y="2446973"/>
            <a:ext cx="4886325" cy="951547"/>
            <a:chOff x="4672013" y="2614613"/>
            <a:chExt cx="4886325" cy="1157209"/>
          </a:xfrm>
        </p:grpSpPr>
        <p:grpSp>
          <p:nvGrpSpPr>
            <p:cNvPr id="4600" name="Google Shape;4600;p77"/>
            <p:cNvGrpSpPr/>
            <p:nvPr/>
          </p:nvGrpSpPr>
          <p:grpSpPr>
            <a:xfrm>
              <a:off x="4674002" y="3295572"/>
              <a:ext cx="4854575" cy="476250"/>
              <a:chOff x="1427882" y="4286172"/>
              <a:chExt cx="4854575" cy="476250"/>
            </a:xfrm>
          </p:grpSpPr>
          <p:sp>
            <p:nvSpPr>
              <p:cNvPr id="4601" name="Google Shape;4601;p77"/>
              <p:cNvSpPr/>
              <p:nvPr/>
            </p:nvSpPr>
            <p:spPr>
              <a:xfrm>
                <a:off x="1427882" y="4289347"/>
                <a:ext cx="4854575" cy="468313"/>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602" name="Google Shape;4602;p77"/>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603" name="Google Shape;4603;p77"/>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604" name="Google Shape;4604;p77"/>
              <p:cNvCxnSpPr/>
              <p:nvPr/>
            </p:nvCxnSpPr>
            <p:spPr>
              <a:xfrm>
                <a:off x="1867620" y="4294109"/>
                <a:ext cx="0" cy="468313"/>
              </a:xfrm>
              <a:prstGeom prst="straightConnector1">
                <a:avLst/>
              </a:prstGeom>
              <a:noFill/>
              <a:ln cap="flat" cmpd="sng" w="9525">
                <a:solidFill>
                  <a:srgbClr val="CC0000"/>
                </a:solidFill>
                <a:prstDash val="solid"/>
                <a:round/>
                <a:headEnd len="med" w="med" type="none"/>
                <a:tailEnd len="med" w="med" type="none"/>
              </a:ln>
            </p:spPr>
          </p:cxnSp>
          <p:grpSp>
            <p:nvGrpSpPr>
              <p:cNvPr id="4605" name="Google Shape;4605;p77"/>
              <p:cNvGrpSpPr/>
              <p:nvPr/>
            </p:nvGrpSpPr>
            <p:grpSpPr>
              <a:xfrm>
                <a:off x="2865478" y="4319509"/>
                <a:ext cx="3402012" cy="414337"/>
                <a:chOff x="8090620" y="3748009"/>
                <a:chExt cx="3402012" cy="414337"/>
              </a:xfrm>
            </p:grpSpPr>
            <p:cxnSp>
              <p:nvCxnSpPr>
                <p:cNvPr id="4606" name="Google Shape;4606;p77"/>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607" name="Google Shape;4607;p77"/>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608" name="Google Shape;4608;p77"/>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09" name="Google Shape;4609;p77"/>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0" name="Google Shape;4610;p77"/>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1" name="Google Shape;4611;p77"/>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2" name="Google Shape;4612;p77"/>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3" name="Google Shape;4613;p77"/>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4" name="Google Shape;4614;p77"/>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615" name="Google Shape;4615;p77"/>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616" name="Google Shape;4616;p77"/>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17" name="Google Shape;4617;p77"/>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grpSp>
        <p:sp>
          <p:nvSpPr>
            <p:cNvPr id="4618" name="Google Shape;4618;p77"/>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619" name="Google Shape;4619;p77"/>
          <p:cNvGrpSpPr/>
          <p:nvPr/>
        </p:nvGrpSpPr>
        <p:grpSpPr>
          <a:xfrm>
            <a:off x="6964680" y="2244997"/>
            <a:ext cx="838200" cy="376149"/>
            <a:chOff x="6827520" y="2412637"/>
            <a:chExt cx="838200" cy="376149"/>
          </a:xfrm>
        </p:grpSpPr>
        <p:sp>
          <p:nvSpPr>
            <p:cNvPr id="4620" name="Google Shape;4620;p77"/>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621" name="Google Shape;4621;p77"/>
            <p:cNvGrpSpPr/>
            <p:nvPr/>
          </p:nvGrpSpPr>
          <p:grpSpPr>
            <a:xfrm>
              <a:off x="6827520" y="2412637"/>
              <a:ext cx="334944" cy="376149"/>
              <a:chOff x="335231" y="4406992"/>
              <a:chExt cx="1251280" cy="2136350"/>
            </a:xfrm>
          </p:grpSpPr>
          <p:sp>
            <p:nvSpPr>
              <p:cNvPr id="4622" name="Google Shape;4622;p77"/>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3" name="Google Shape;4623;p77"/>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24" name="Google Shape;4624;p77"/>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625" name="Google Shape;4625;p77"/>
          <p:cNvSpPr txBox="1"/>
          <p:nvPr/>
        </p:nvSpPr>
        <p:spPr>
          <a:xfrm>
            <a:off x="4831080" y="3383280"/>
            <a:ext cx="48790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The usual: datagram as payload in link-layer frame</a:t>
            </a:r>
            <a:endParaRPr/>
          </a:p>
        </p:txBody>
      </p:sp>
      <p:grpSp>
        <p:nvGrpSpPr>
          <p:cNvPr id="4626" name="Google Shape;4626;p77"/>
          <p:cNvGrpSpPr/>
          <p:nvPr/>
        </p:nvGrpSpPr>
        <p:grpSpPr>
          <a:xfrm>
            <a:off x="4282206" y="4080603"/>
            <a:ext cx="5834767" cy="1826360"/>
            <a:chOff x="4282206" y="4080603"/>
            <a:chExt cx="5834767" cy="1826360"/>
          </a:xfrm>
        </p:grpSpPr>
        <p:grpSp>
          <p:nvGrpSpPr>
            <p:cNvPr id="4627" name="Google Shape;4627;p77"/>
            <p:cNvGrpSpPr/>
            <p:nvPr/>
          </p:nvGrpSpPr>
          <p:grpSpPr>
            <a:xfrm>
              <a:off x="5980176" y="4080603"/>
              <a:ext cx="2432304" cy="1726090"/>
              <a:chOff x="5705856" y="2038443"/>
              <a:chExt cx="2432304" cy="1726090"/>
            </a:xfrm>
          </p:grpSpPr>
          <p:sp>
            <p:nvSpPr>
              <p:cNvPr id="4628" name="Google Shape;4628;p77"/>
              <p:cNvSpPr/>
              <p:nvPr/>
            </p:nvSpPr>
            <p:spPr>
              <a:xfrm rot="659626">
                <a:off x="5879224" y="2228808"/>
                <a:ext cx="2125934" cy="1345360"/>
              </a:xfrm>
              <a:custGeom>
                <a:rect b="b" l="l" r="r" t="t"/>
                <a:pathLst>
                  <a:path extrusionOk="0" h="11611" w="10003">
                    <a:moveTo>
                      <a:pt x="5770" y="126"/>
                    </a:moveTo>
                    <a:cubicBezTo>
                      <a:pt x="5196" y="245"/>
                      <a:pt x="4120" y="456"/>
                      <a:pt x="3456" y="756"/>
                    </a:cubicBezTo>
                    <a:cubicBezTo>
                      <a:pt x="2793" y="1055"/>
                      <a:pt x="2166" y="1460"/>
                      <a:pt x="1806" y="1896"/>
                    </a:cubicBezTo>
                    <a:cubicBezTo>
                      <a:pt x="1448" y="2331"/>
                      <a:pt x="1600" y="2977"/>
                      <a:pt x="1322" y="3397"/>
                    </a:cubicBezTo>
                    <a:cubicBezTo>
                      <a:pt x="1044" y="3816"/>
                      <a:pt x="354" y="3846"/>
                      <a:pt x="156" y="4417"/>
                    </a:cubicBezTo>
                    <a:cubicBezTo>
                      <a:pt x="-41" y="4987"/>
                      <a:pt x="-52" y="6057"/>
                      <a:pt x="121" y="6847"/>
                    </a:cubicBezTo>
                    <a:cubicBezTo>
                      <a:pt x="294" y="7637"/>
                      <a:pt x="660" y="8634"/>
                      <a:pt x="1194" y="9155"/>
                    </a:cubicBezTo>
                    <a:cubicBezTo>
                      <a:pt x="1728" y="9676"/>
                      <a:pt x="2691" y="9563"/>
                      <a:pt x="3328" y="9972"/>
                    </a:cubicBezTo>
                    <a:cubicBezTo>
                      <a:pt x="3965" y="10381"/>
                      <a:pt x="4455" y="11637"/>
                      <a:pt x="5017" y="11611"/>
                    </a:cubicBezTo>
                    <a:cubicBezTo>
                      <a:pt x="5579" y="11585"/>
                      <a:pt x="6246" y="10107"/>
                      <a:pt x="6703" y="9818"/>
                    </a:cubicBezTo>
                    <a:cubicBezTo>
                      <a:pt x="7160" y="9529"/>
                      <a:pt x="7465" y="10013"/>
                      <a:pt x="7761" y="9878"/>
                    </a:cubicBezTo>
                    <a:cubicBezTo>
                      <a:pt x="8057" y="9743"/>
                      <a:pt x="8317" y="9548"/>
                      <a:pt x="8496" y="9007"/>
                    </a:cubicBezTo>
                    <a:cubicBezTo>
                      <a:pt x="8675" y="8468"/>
                      <a:pt x="8604" y="7361"/>
                      <a:pt x="8855" y="6638"/>
                    </a:cubicBezTo>
                    <a:cubicBezTo>
                      <a:pt x="9106" y="5915"/>
                      <a:pt x="9957" y="5511"/>
                      <a:pt x="10001" y="4671"/>
                    </a:cubicBezTo>
                    <a:cubicBezTo>
                      <a:pt x="10047" y="3830"/>
                      <a:pt x="9402" y="2308"/>
                      <a:pt x="9124" y="1566"/>
                    </a:cubicBezTo>
                    <a:cubicBezTo>
                      <a:pt x="8846" y="823"/>
                      <a:pt x="8702" y="471"/>
                      <a:pt x="8334" y="216"/>
                    </a:cubicBezTo>
                    <a:cubicBezTo>
                      <a:pt x="7968" y="-39"/>
                      <a:pt x="7349" y="20"/>
                      <a:pt x="6918" y="5"/>
                    </a:cubicBezTo>
                    <a:cubicBezTo>
                      <a:pt x="6488" y="-9"/>
                      <a:pt x="6345" y="5"/>
                      <a:pt x="5770" y="1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4629" name="Google Shape;4629;p77"/>
              <p:cNvGrpSpPr/>
              <p:nvPr/>
            </p:nvGrpSpPr>
            <p:grpSpPr>
              <a:xfrm>
                <a:off x="5705856" y="2321052"/>
                <a:ext cx="2432304" cy="1054608"/>
                <a:chOff x="5705856" y="2321052"/>
                <a:chExt cx="2432304" cy="1054608"/>
              </a:xfrm>
            </p:grpSpPr>
            <p:cxnSp>
              <p:nvCxnSpPr>
                <p:cNvPr id="4630" name="Google Shape;4630;p77"/>
                <p:cNvCxnSpPr/>
                <p:nvPr/>
              </p:nvCxnSpPr>
              <p:spPr>
                <a:xfrm>
                  <a:off x="5705856" y="2811780"/>
                  <a:ext cx="2432304" cy="0"/>
                </a:xfrm>
                <a:prstGeom prst="straightConnector1">
                  <a:avLst/>
                </a:prstGeom>
                <a:noFill/>
                <a:ln cap="flat" cmpd="sng" w="19050">
                  <a:solidFill>
                    <a:schemeClr val="dk1"/>
                  </a:solidFill>
                  <a:prstDash val="solid"/>
                  <a:miter lim="800000"/>
                  <a:headEnd len="sm" w="sm" type="none"/>
                  <a:tailEnd len="sm" w="sm" type="none"/>
                </a:ln>
              </p:spPr>
            </p:cxnSp>
            <p:cxnSp>
              <p:nvCxnSpPr>
                <p:cNvPr id="4631" name="Google Shape;4631;p77"/>
                <p:cNvCxnSpPr>
                  <a:stCxn id="4632" idx="5"/>
                </p:cNvCxnSpPr>
                <p:nvPr/>
              </p:nvCxnSpPr>
              <p:spPr>
                <a:xfrm flipH="1" rot="10800000">
                  <a:off x="6858545" y="2397201"/>
                  <a:ext cx="83400" cy="885000"/>
                </a:xfrm>
                <a:prstGeom prst="straightConnector1">
                  <a:avLst/>
                </a:prstGeom>
                <a:noFill/>
                <a:ln cap="flat" cmpd="sng" w="19050">
                  <a:solidFill>
                    <a:schemeClr val="dk1"/>
                  </a:solidFill>
                  <a:prstDash val="solid"/>
                  <a:miter lim="800000"/>
                  <a:headEnd len="sm" w="sm" type="none"/>
                  <a:tailEnd len="sm" w="sm" type="none"/>
                </a:ln>
              </p:spPr>
            </p:cxnSp>
            <p:cxnSp>
              <p:nvCxnSpPr>
                <p:cNvPr id="4633" name="Google Shape;4633;p77"/>
                <p:cNvCxnSpPr>
                  <a:stCxn id="4634" idx="2"/>
                </p:cNvCxnSpPr>
                <p:nvPr/>
              </p:nvCxnSpPr>
              <p:spPr>
                <a:xfrm flipH="1" rot="10800000">
                  <a:off x="6858272" y="2805810"/>
                  <a:ext cx="734400" cy="396000"/>
                </a:xfrm>
                <a:prstGeom prst="straightConnector1">
                  <a:avLst/>
                </a:prstGeom>
                <a:noFill/>
                <a:ln cap="flat" cmpd="sng" w="19050">
                  <a:solidFill>
                    <a:schemeClr val="dk1"/>
                  </a:solidFill>
                  <a:prstDash val="solid"/>
                  <a:miter lim="800000"/>
                  <a:headEnd len="sm" w="sm" type="none"/>
                  <a:tailEnd len="sm" w="sm" type="none"/>
                </a:ln>
              </p:spPr>
            </p:cxnSp>
            <p:cxnSp>
              <p:nvCxnSpPr>
                <p:cNvPr id="4635" name="Google Shape;4635;p77"/>
                <p:cNvCxnSpPr>
                  <a:stCxn id="4636" idx="2"/>
                  <a:endCxn id="4637" idx="2"/>
                </p:cNvCxnSpPr>
                <p:nvPr/>
              </p:nvCxnSpPr>
              <p:spPr>
                <a:xfrm flipH="1" rot="10800000">
                  <a:off x="6218192" y="2413998"/>
                  <a:ext cx="714900" cy="387000"/>
                </a:xfrm>
                <a:prstGeom prst="straightConnector1">
                  <a:avLst/>
                </a:prstGeom>
                <a:noFill/>
                <a:ln cap="flat" cmpd="sng" w="19050">
                  <a:solidFill>
                    <a:schemeClr val="dk1"/>
                  </a:solidFill>
                  <a:prstDash val="solid"/>
                  <a:miter lim="800000"/>
                  <a:headEnd len="sm" w="sm" type="none"/>
                  <a:tailEnd len="sm" w="sm" type="none"/>
                </a:ln>
              </p:spPr>
            </p:cxnSp>
            <p:cxnSp>
              <p:nvCxnSpPr>
                <p:cNvPr id="4638" name="Google Shape;4638;p77"/>
                <p:cNvCxnSpPr>
                  <a:stCxn id="4639" idx="4"/>
                </p:cNvCxnSpPr>
                <p:nvPr/>
              </p:nvCxnSpPr>
              <p:spPr>
                <a:xfrm>
                  <a:off x="6219784" y="2880798"/>
                  <a:ext cx="646200" cy="321000"/>
                </a:xfrm>
                <a:prstGeom prst="straightConnector1">
                  <a:avLst/>
                </a:prstGeom>
                <a:noFill/>
                <a:ln cap="flat" cmpd="sng" w="19050">
                  <a:solidFill>
                    <a:schemeClr val="dk1"/>
                  </a:solidFill>
                  <a:prstDash val="solid"/>
                  <a:miter lim="800000"/>
                  <a:headEnd len="sm" w="sm" type="none"/>
                  <a:tailEnd len="sm" w="sm" type="none"/>
                </a:ln>
              </p:spPr>
            </p:cxnSp>
            <p:cxnSp>
              <p:nvCxnSpPr>
                <p:cNvPr id="4640" name="Google Shape;4640;p77"/>
                <p:cNvCxnSpPr>
                  <a:endCxn id="4641" idx="2"/>
                </p:cNvCxnSpPr>
                <p:nvPr/>
              </p:nvCxnSpPr>
              <p:spPr>
                <a:xfrm>
                  <a:off x="6943685" y="2415978"/>
                  <a:ext cx="661200" cy="374400"/>
                </a:xfrm>
                <a:prstGeom prst="straightConnector1">
                  <a:avLst/>
                </a:prstGeom>
                <a:noFill/>
                <a:ln cap="flat" cmpd="sng" w="19050">
                  <a:solidFill>
                    <a:schemeClr val="dk1"/>
                  </a:solidFill>
                  <a:prstDash val="solid"/>
                  <a:miter lim="800000"/>
                  <a:headEnd len="sm" w="sm" type="none"/>
                  <a:tailEnd len="sm" w="sm" type="none"/>
                </a:ln>
              </p:spPr>
            </p:cxnSp>
            <p:grpSp>
              <p:nvGrpSpPr>
                <p:cNvPr id="4642" name="Google Shape;4642;p77"/>
                <p:cNvGrpSpPr/>
                <p:nvPr/>
              </p:nvGrpSpPr>
              <p:grpSpPr>
                <a:xfrm>
                  <a:off x="5974080" y="2321052"/>
                  <a:ext cx="1878278" cy="1054608"/>
                  <a:chOff x="5974080" y="2321052"/>
                  <a:chExt cx="1878278" cy="1054608"/>
                </a:xfrm>
              </p:grpSpPr>
              <p:grpSp>
                <p:nvGrpSpPr>
                  <p:cNvPr id="4643" name="Google Shape;4643;p77"/>
                  <p:cNvGrpSpPr/>
                  <p:nvPr/>
                </p:nvGrpSpPr>
                <p:grpSpPr>
                  <a:xfrm>
                    <a:off x="5974080" y="2708148"/>
                    <a:ext cx="491438" cy="266700"/>
                    <a:chOff x="7493876" y="2774731"/>
                    <a:chExt cx="1481958" cy="894622"/>
                  </a:xfrm>
                </p:grpSpPr>
                <p:sp>
                  <p:nvSpPr>
                    <p:cNvPr id="4644" name="Google Shape;4644;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39" name="Google Shape;4639;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45" name="Google Shape;4645;p77"/>
                    <p:cNvGrpSpPr/>
                    <p:nvPr/>
                  </p:nvGrpSpPr>
                  <p:grpSpPr>
                    <a:xfrm>
                      <a:off x="7713663" y="2848339"/>
                      <a:ext cx="1042107" cy="425543"/>
                      <a:chOff x="7786941" y="2884917"/>
                      <a:chExt cx="897649" cy="353919"/>
                    </a:xfrm>
                  </p:grpSpPr>
                  <p:sp>
                    <p:nvSpPr>
                      <p:cNvPr id="4646" name="Google Shape;4646;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7" name="Google Shape;4647;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8" name="Google Shape;4648;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6" name="Google Shape;4636;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49" name="Google Shape;4649;p77"/>
                  <p:cNvGrpSpPr/>
                  <p:nvPr/>
                </p:nvGrpSpPr>
                <p:grpSpPr>
                  <a:xfrm>
                    <a:off x="7360920" y="2697480"/>
                    <a:ext cx="491438" cy="266700"/>
                    <a:chOff x="7493876" y="2774731"/>
                    <a:chExt cx="1481958" cy="894622"/>
                  </a:xfrm>
                </p:grpSpPr>
                <p:sp>
                  <p:nvSpPr>
                    <p:cNvPr id="4650" name="Google Shape;4650;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51" name="Google Shape;4651;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52" name="Google Shape;4652;p77"/>
                    <p:cNvGrpSpPr/>
                    <p:nvPr/>
                  </p:nvGrpSpPr>
                  <p:grpSpPr>
                    <a:xfrm>
                      <a:off x="7713663" y="2848339"/>
                      <a:ext cx="1042107" cy="425543"/>
                      <a:chOff x="7786941" y="2884917"/>
                      <a:chExt cx="897649" cy="353919"/>
                    </a:xfrm>
                  </p:grpSpPr>
                  <p:sp>
                    <p:nvSpPr>
                      <p:cNvPr id="4653" name="Google Shape;4653;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4" name="Google Shape;4654;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55" name="Google Shape;4655;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41" name="Google Shape;4641;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56" name="Google Shape;4656;p77"/>
                  <p:cNvGrpSpPr/>
                  <p:nvPr/>
                </p:nvGrpSpPr>
                <p:grpSpPr>
                  <a:xfrm>
                    <a:off x="6614160" y="3108960"/>
                    <a:ext cx="491438" cy="266700"/>
                    <a:chOff x="7493876" y="2774731"/>
                    <a:chExt cx="1481958" cy="894622"/>
                  </a:xfrm>
                </p:grpSpPr>
                <p:sp>
                  <p:nvSpPr>
                    <p:cNvPr id="4632" name="Google Shape;4632;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57" name="Google Shape;4657;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58" name="Google Shape;4658;p77"/>
                    <p:cNvGrpSpPr/>
                    <p:nvPr/>
                  </p:nvGrpSpPr>
                  <p:grpSpPr>
                    <a:xfrm>
                      <a:off x="7713663" y="2848339"/>
                      <a:ext cx="1042107" cy="425543"/>
                      <a:chOff x="7786941" y="2884917"/>
                      <a:chExt cx="897649" cy="353919"/>
                    </a:xfrm>
                  </p:grpSpPr>
                  <p:sp>
                    <p:nvSpPr>
                      <p:cNvPr id="4659" name="Google Shape;465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0" name="Google Shape;466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1" name="Google Shape;466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4" name="Google Shape;4634;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62" name="Google Shape;4662;p77"/>
                  <p:cNvGrpSpPr/>
                  <p:nvPr/>
                </p:nvGrpSpPr>
                <p:grpSpPr>
                  <a:xfrm>
                    <a:off x="6688836" y="2321052"/>
                    <a:ext cx="491438" cy="266700"/>
                    <a:chOff x="7493876" y="2774731"/>
                    <a:chExt cx="1481958" cy="894622"/>
                  </a:xfrm>
                </p:grpSpPr>
                <p:sp>
                  <p:nvSpPr>
                    <p:cNvPr id="4663" name="Google Shape;4663;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64" name="Google Shape;4664;p77"/>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65" name="Google Shape;4665;p77"/>
                    <p:cNvGrpSpPr/>
                    <p:nvPr/>
                  </p:nvGrpSpPr>
                  <p:grpSpPr>
                    <a:xfrm>
                      <a:off x="7713663" y="2848339"/>
                      <a:ext cx="1042107" cy="425543"/>
                      <a:chOff x="7786941" y="2884917"/>
                      <a:chExt cx="897649" cy="353919"/>
                    </a:xfrm>
                  </p:grpSpPr>
                  <p:sp>
                    <p:nvSpPr>
                      <p:cNvPr id="4666" name="Google Shape;4666;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7" name="Google Shape;4667;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68" name="Google Shape;4668;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37" name="Google Shape;4637;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grpSp>
        <p:grpSp>
          <p:nvGrpSpPr>
            <p:cNvPr id="4669" name="Google Shape;4669;p77"/>
            <p:cNvGrpSpPr/>
            <p:nvPr/>
          </p:nvGrpSpPr>
          <p:grpSpPr>
            <a:xfrm>
              <a:off x="4282206" y="4335896"/>
              <a:ext cx="1830222" cy="967204"/>
              <a:chOff x="3670217" y="2254595"/>
              <a:chExt cx="1830222" cy="967204"/>
            </a:xfrm>
          </p:grpSpPr>
          <p:sp>
            <p:nvSpPr>
              <p:cNvPr id="4670" name="Google Shape;4670;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671" name="Google Shape;4671;p77"/>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672" name="Google Shape;4672;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673" name="Google Shape;4673;p77"/>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674" name="Google Shape;4674;p77"/>
              <p:cNvSpPr txBox="1"/>
              <p:nvPr/>
            </p:nvSpPr>
            <p:spPr>
              <a:xfrm>
                <a:off x="463129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675" name="Google Shape;4675;p77"/>
              <p:cNvGrpSpPr/>
              <p:nvPr/>
            </p:nvGrpSpPr>
            <p:grpSpPr>
              <a:xfrm>
                <a:off x="3670217" y="2586162"/>
                <a:ext cx="731126" cy="344556"/>
                <a:chOff x="7493876" y="2774731"/>
                <a:chExt cx="1481958" cy="894622"/>
              </a:xfrm>
            </p:grpSpPr>
            <p:sp>
              <p:nvSpPr>
                <p:cNvPr id="4676" name="Google Shape;4676;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77" name="Google Shape;4677;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78" name="Google Shape;4678;p77"/>
                <p:cNvGrpSpPr/>
                <p:nvPr/>
              </p:nvGrpSpPr>
              <p:grpSpPr>
                <a:xfrm>
                  <a:off x="7713663" y="2848339"/>
                  <a:ext cx="1042107" cy="425543"/>
                  <a:chOff x="7786941" y="2884917"/>
                  <a:chExt cx="897649" cy="353919"/>
                </a:xfrm>
              </p:grpSpPr>
              <p:sp>
                <p:nvSpPr>
                  <p:cNvPr id="4679" name="Google Shape;467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0" name="Google Shape;468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1" name="Google Shape;468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2" name="Google Shape;4682;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683" name="Google Shape;4683;p77"/>
              <p:cNvGrpSpPr/>
              <p:nvPr/>
            </p:nvGrpSpPr>
            <p:grpSpPr>
              <a:xfrm>
                <a:off x="4703149" y="2589549"/>
                <a:ext cx="731126" cy="344556"/>
                <a:chOff x="7493876" y="2774731"/>
                <a:chExt cx="1481958" cy="894622"/>
              </a:xfrm>
            </p:grpSpPr>
            <p:sp>
              <p:nvSpPr>
                <p:cNvPr id="4684" name="Google Shape;4684;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85" name="Google Shape;4685;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686" name="Google Shape;4686;p77"/>
                <p:cNvGrpSpPr/>
                <p:nvPr/>
              </p:nvGrpSpPr>
              <p:grpSpPr>
                <a:xfrm>
                  <a:off x="7713663" y="2848339"/>
                  <a:ext cx="1042107" cy="425543"/>
                  <a:chOff x="7786941" y="2884917"/>
                  <a:chExt cx="897649" cy="353919"/>
                </a:xfrm>
              </p:grpSpPr>
              <p:sp>
                <p:nvSpPr>
                  <p:cNvPr id="4687" name="Google Shape;4687;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8" name="Google Shape;4688;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89" name="Google Shape;4689;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690" name="Google Shape;4690;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691" name="Google Shape;4691;p77"/>
            <p:cNvGrpSpPr/>
            <p:nvPr/>
          </p:nvGrpSpPr>
          <p:grpSpPr>
            <a:xfrm>
              <a:off x="8298305" y="4365816"/>
              <a:ext cx="1818668" cy="965617"/>
              <a:chOff x="3615607" y="2254595"/>
              <a:chExt cx="1818668" cy="965617"/>
            </a:xfrm>
          </p:grpSpPr>
          <p:sp>
            <p:nvSpPr>
              <p:cNvPr id="4692" name="Google Shape;4692;p77"/>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693" name="Google Shape;4693;p77"/>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694" name="Google Shape;4694;p77"/>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695" name="Google Shape;4695;p77"/>
              <p:cNvSpPr txBox="1"/>
              <p:nvPr/>
            </p:nvSpPr>
            <p:spPr>
              <a:xfrm>
                <a:off x="3615607" y="2881658"/>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696" name="Google Shape;4696;p77"/>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697" name="Google Shape;4697;p77"/>
              <p:cNvGrpSpPr/>
              <p:nvPr/>
            </p:nvGrpSpPr>
            <p:grpSpPr>
              <a:xfrm>
                <a:off x="3670217" y="2586162"/>
                <a:ext cx="731126" cy="344556"/>
                <a:chOff x="7493876" y="2774731"/>
                <a:chExt cx="1481958" cy="894622"/>
              </a:xfrm>
            </p:grpSpPr>
            <p:sp>
              <p:nvSpPr>
                <p:cNvPr id="4698" name="Google Shape;4698;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699" name="Google Shape;4699;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00" name="Google Shape;4700;p77"/>
                <p:cNvGrpSpPr/>
                <p:nvPr/>
              </p:nvGrpSpPr>
              <p:grpSpPr>
                <a:xfrm>
                  <a:off x="7713663" y="2848339"/>
                  <a:ext cx="1042107" cy="425543"/>
                  <a:chOff x="7786941" y="2884917"/>
                  <a:chExt cx="897649" cy="353919"/>
                </a:xfrm>
              </p:grpSpPr>
              <p:sp>
                <p:nvSpPr>
                  <p:cNvPr id="4701" name="Google Shape;4701;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2" name="Google Shape;4702;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3" name="Google Shape;4703;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04" name="Google Shape;4704;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05" name="Google Shape;4705;p77"/>
              <p:cNvGrpSpPr/>
              <p:nvPr/>
            </p:nvGrpSpPr>
            <p:grpSpPr>
              <a:xfrm>
                <a:off x="4703149" y="2589549"/>
                <a:ext cx="731126" cy="344556"/>
                <a:chOff x="7493876" y="2774731"/>
                <a:chExt cx="1481958" cy="894622"/>
              </a:xfrm>
            </p:grpSpPr>
            <p:sp>
              <p:nvSpPr>
                <p:cNvPr id="4706" name="Google Shape;4706;p7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07" name="Google Shape;4707;p77"/>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08" name="Google Shape;4708;p77"/>
                <p:cNvGrpSpPr/>
                <p:nvPr/>
              </p:nvGrpSpPr>
              <p:grpSpPr>
                <a:xfrm>
                  <a:off x="7713663" y="2848339"/>
                  <a:ext cx="1042107" cy="425543"/>
                  <a:chOff x="7786941" y="2884917"/>
                  <a:chExt cx="897649" cy="353919"/>
                </a:xfrm>
              </p:grpSpPr>
              <p:sp>
                <p:nvSpPr>
                  <p:cNvPr id="4709" name="Google Shape;4709;p7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0" name="Google Shape;4710;p7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1" name="Google Shape;4711;p7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2" name="Google Shape;4712;p7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4713" name="Google Shape;4713;p77"/>
            <p:cNvSpPr txBox="1"/>
            <p:nvPr/>
          </p:nvSpPr>
          <p:spPr>
            <a:xfrm>
              <a:off x="6655028" y="5568409"/>
              <a:ext cx="128291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IPv4 network</a:t>
              </a:r>
              <a:endParaRPr b="0" i="0" sz="1800" u="none" cap="none" strike="noStrike">
                <a:solidFill>
                  <a:srgbClr val="000000"/>
                </a:solidFill>
                <a:latin typeface="Calibri"/>
                <a:ea typeface="Calibri"/>
                <a:cs typeface="Calibri"/>
                <a:sym typeface="Calibri"/>
              </a:endParaRPr>
            </a:p>
          </p:txBody>
        </p:sp>
      </p:grpSp>
      <p:sp>
        <p:nvSpPr>
          <p:cNvPr id="4714" name="Google Shape;4714;p77"/>
          <p:cNvSpPr txBox="1"/>
          <p:nvPr/>
        </p:nvSpPr>
        <p:spPr>
          <a:xfrm>
            <a:off x="861060" y="4222280"/>
            <a:ext cx="256031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IPv4 network connecting two IPv6 routers</a:t>
            </a:r>
            <a:endParaRPr/>
          </a:p>
        </p:txBody>
      </p:sp>
      <p:sp>
        <p:nvSpPr>
          <p:cNvPr id="4715" name="Google Shape;4715;p77"/>
          <p:cNvSpPr/>
          <p:nvPr/>
        </p:nvSpPr>
        <p:spPr>
          <a:xfrm>
            <a:off x="822960" y="1356360"/>
            <a:ext cx="10058400" cy="2407920"/>
          </a:xfrm>
          <a:prstGeom prst="rect">
            <a:avLst/>
          </a:prstGeom>
          <a:solidFill>
            <a:schemeClr val="lt1">
              <a:alpha val="6274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16" name="Google Shape;4716;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9"/>
                                        </p:tgtEl>
                                        <p:attrNameLst>
                                          <p:attrName>style.visibility</p:attrName>
                                        </p:attrNameLst>
                                      </p:cBhvr>
                                      <p:to>
                                        <p:strVal val="visible"/>
                                      </p:to>
                                    </p:set>
                                    <p:animEffect filter="fade" transition="in">
                                      <p:cBhvr>
                                        <p:cTn dur="500"/>
                                        <p:tgtEl>
                                          <p:spTgt spid="4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9"/>
                                        </p:tgtEl>
                                        <p:attrNameLst>
                                          <p:attrName>style.visibility</p:attrName>
                                        </p:attrNameLst>
                                      </p:cBhvr>
                                      <p:to>
                                        <p:strVal val="visible"/>
                                      </p:to>
                                    </p:set>
                                    <p:animEffect filter="fade" transition="in">
                                      <p:cBhvr>
                                        <p:cTn dur="500"/>
                                        <p:tgtEl>
                                          <p:spTgt spid="4599"/>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4596"/>
                                        </p:tgtEl>
                                        <p:attrNameLst>
                                          <p:attrName>style.visibility</p:attrName>
                                        </p:attrNameLst>
                                      </p:cBhvr>
                                      <p:to>
                                        <p:strVal val="visible"/>
                                      </p:to>
                                    </p:set>
                                    <p:animEffect filter="fade" transition="in">
                                      <p:cBhvr>
                                        <p:cTn dur="500"/>
                                        <p:tgtEl>
                                          <p:spTgt spid="4596"/>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4625"/>
                                        </p:tgtEl>
                                        <p:attrNameLst>
                                          <p:attrName>style.visibility</p:attrName>
                                        </p:attrNameLst>
                                      </p:cBhvr>
                                      <p:to>
                                        <p:strVal val="visible"/>
                                      </p:to>
                                    </p:set>
                                    <p:animEffect filter="fade" transition="in">
                                      <p:cBhvr>
                                        <p:cTn dur="500"/>
                                        <p:tgtEl>
                                          <p:spTgt spid="4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6"/>
                                        </p:tgtEl>
                                        <p:attrNameLst>
                                          <p:attrName>style.visibility</p:attrName>
                                        </p:attrNameLst>
                                      </p:cBhvr>
                                      <p:to>
                                        <p:strVal val="visible"/>
                                      </p:to>
                                    </p:set>
                                    <p:animEffect filter="fade" transition="in">
                                      <p:cBhvr>
                                        <p:cTn dur="500"/>
                                        <p:tgtEl>
                                          <p:spTgt spid="4626"/>
                                        </p:tgtEl>
                                      </p:cBhvr>
                                    </p:animEffect>
                                  </p:childTnLst>
                                </p:cTn>
                              </p:par>
                              <p:par>
                                <p:cTn fill="hold" nodeType="withEffect" presetClass="entr" presetID="10" presetSubtype="0">
                                  <p:stCondLst>
                                    <p:cond delay="0"/>
                                  </p:stCondLst>
                                  <p:childTnLst>
                                    <p:set>
                                      <p:cBhvr>
                                        <p:cTn dur="1" fill="hold">
                                          <p:stCondLst>
                                            <p:cond delay="0"/>
                                          </p:stCondLst>
                                        </p:cTn>
                                        <p:tgtEl>
                                          <p:spTgt spid="4714"/>
                                        </p:tgtEl>
                                        <p:attrNameLst>
                                          <p:attrName>style.visibility</p:attrName>
                                        </p:attrNameLst>
                                      </p:cBhvr>
                                      <p:to>
                                        <p:strVal val="visible"/>
                                      </p:to>
                                    </p:set>
                                    <p:animEffect filter="fade" transition="in">
                                      <p:cBhvr>
                                        <p:cTn dur="500"/>
                                        <p:tgtEl>
                                          <p:spTgt spid="4714"/>
                                        </p:tgtEl>
                                      </p:cBhvr>
                                    </p:animEffect>
                                  </p:childTnLst>
                                </p:cTn>
                              </p:par>
                              <p:par>
                                <p:cTn fill="hold" nodeType="withEffect" presetClass="entr" presetID="10" presetSubtype="0">
                                  <p:stCondLst>
                                    <p:cond delay="0"/>
                                  </p:stCondLst>
                                  <p:childTnLst>
                                    <p:set>
                                      <p:cBhvr>
                                        <p:cTn dur="1" fill="hold">
                                          <p:stCondLst>
                                            <p:cond delay="0"/>
                                          </p:stCondLst>
                                        </p:cTn>
                                        <p:tgtEl>
                                          <p:spTgt spid="4715"/>
                                        </p:tgtEl>
                                        <p:attrNameLst>
                                          <p:attrName>style.visibility</p:attrName>
                                        </p:attrNameLst>
                                      </p:cBhvr>
                                      <p:to>
                                        <p:strVal val="visible"/>
                                      </p:to>
                                    </p:set>
                                    <p:animEffect filter="fade" transition="in">
                                      <p:cBhvr>
                                        <p:cTn dur="500"/>
                                        <p:tgtEl>
                                          <p:spTgt spid="47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1" name="Shape 4721"/>
        <p:cNvGrpSpPr/>
        <p:nvPr/>
      </p:nvGrpSpPr>
      <p:grpSpPr>
        <a:xfrm>
          <a:off x="0" y="0"/>
          <a:ext cx="0" cy="0"/>
          <a:chOff x="0" y="0"/>
          <a:chExt cx="0" cy="0"/>
        </a:xfrm>
      </p:grpSpPr>
      <p:sp>
        <p:nvSpPr>
          <p:cNvPr id="4722" name="Google Shape;4722;p78"/>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 and encapsulation</a:t>
            </a:r>
            <a:endParaRPr/>
          </a:p>
        </p:txBody>
      </p:sp>
      <p:sp>
        <p:nvSpPr>
          <p:cNvPr id="4723" name="Google Shape;4723;p78"/>
          <p:cNvSpPr txBox="1"/>
          <p:nvPr/>
        </p:nvSpPr>
        <p:spPr>
          <a:xfrm>
            <a:off x="888274" y="1697883"/>
            <a:ext cx="2759529"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Ethernet connecting two IPv6 routers:</a:t>
            </a:r>
            <a:endParaRPr/>
          </a:p>
        </p:txBody>
      </p:sp>
      <p:grpSp>
        <p:nvGrpSpPr>
          <p:cNvPr id="4724" name="Google Shape;4724;p78"/>
          <p:cNvGrpSpPr/>
          <p:nvPr/>
        </p:nvGrpSpPr>
        <p:grpSpPr>
          <a:xfrm>
            <a:off x="4274280" y="1626442"/>
            <a:ext cx="5834767" cy="995120"/>
            <a:chOff x="3663591" y="1108282"/>
            <a:chExt cx="5834767" cy="995120"/>
          </a:xfrm>
        </p:grpSpPr>
        <p:sp>
          <p:nvSpPr>
            <p:cNvPr id="4725" name="Google Shape;4725;p78"/>
            <p:cNvSpPr/>
            <p:nvPr/>
          </p:nvSpPr>
          <p:spPr>
            <a:xfrm>
              <a:off x="5385352" y="1616420"/>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26" name="Google Shape;4726;p78"/>
            <p:cNvSpPr txBox="1"/>
            <p:nvPr/>
          </p:nvSpPr>
          <p:spPr>
            <a:xfrm>
              <a:off x="5480234" y="1110007"/>
              <a:ext cx="2471780" cy="51090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Ethernet connects two IPv6 routers</a:t>
              </a:r>
              <a:endParaRPr/>
            </a:p>
          </p:txBody>
        </p:sp>
        <p:grpSp>
          <p:nvGrpSpPr>
            <p:cNvPr id="4727" name="Google Shape;4727;p78"/>
            <p:cNvGrpSpPr/>
            <p:nvPr/>
          </p:nvGrpSpPr>
          <p:grpSpPr>
            <a:xfrm>
              <a:off x="3663591" y="1108282"/>
              <a:ext cx="1764058" cy="965200"/>
              <a:chOff x="3670217" y="2254595"/>
              <a:chExt cx="1764058" cy="965200"/>
            </a:xfrm>
          </p:grpSpPr>
          <p:sp>
            <p:nvSpPr>
              <p:cNvPr id="4728" name="Google Shape;4728;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729" name="Google Shape;4729;p78"/>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730" name="Google Shape;4730;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31" name="Google Shape;4731;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732" name="Google Shape;4732;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33" name="Google Shape;4733;p78"/>
              <p:cNvGrpSpPr/>
              <p:nvPr/>
            </p:nvGrpSpPr>
            <p:grpSpPr>
              <a:xfrm>
                <a:off x="3670217" y="2586162"/>
                <a:ext cx="731126" cy="344556"/>
                <a:chOff x="7493876" y="2774731"/>
                <a:chExt cx="1481958" cy="894622"/>
              </a:xfrm>
            </p:grpSpPr>
            <p:sp>
              <p:nvSpPr>
                <p:cNvPr id="4734" name="Google Shape;4734;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35" name="Google Shape;4735;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36" name="Google Shape;4736;p78"/>
                <p:cNvGrpSpPr/>
                <p:nvPr/>
              </p:nvGrpSpPr>
              <p:grpSpPr>
                <a:xfrm>
                  <a:off x="7713663" y="2848339"/>
                  <a:ext cx="1042107" cy="425543"/>
                  <a:chOff x="7786941" y="2884917"/>
                  <a:chExt cx="897649" cy="353919"/>
                </a:xfrm>
              </p:grpSpPr>
              <p:sp>
                <p:nvSpPr>
                  <p:cNvPr id="4737" name="Google Shape;4737;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8" name="Google Shape;4738;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39" name="Google Shape;4739;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0" name="Google Shape;4740;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41" name="Google Shape;4741;p78"/>
              <p:cNvGrpSpPr/>
              <p:nvPr/>
            </p:nvGrpSpPr>
            <p:grpSpPr>
              <a:xfrm>
                <a:off x="4703149" y="2589549"/>
                <a:ext cx="731126" cy="344556"/>
                <a:chOff x="7493876" y="2774731"/>
                <a:chExt cx="1481958" cy="894622"/>
              </a:xfrm>
            </p:grpSpPr>
            <p:sp>
              <p:nvSpPr>
                <p:cNvPr id="4742" name="Google Shape;4742;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43" name="Google Shape;4743;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44" name="Google Shape;4744;p78"/>
                <p:cNvGrpSpPr/>
                <p:nvPr/>
              </p:nvGrpSpPr>
              <p:grpSpPr>
                <a:xfrm>
                  <a:off x="7713663" y="2848339"/>
                  <a:ext cx="1042107" cy="425543"/>
                  <a:chOff x="7786941" y="2884917"/>
                  <a:chExt cx="897649" cy="353919"/>
                </a:xfrm>
              </p:grpSpPr>
              <p:sp>
                <p:nvSpPr>
                  <p:cNvPr id="4745" name="Google Shape;4745;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6" name="Google Shape;4746;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7" name="Google Shape;4747;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48" name="Google Shape;4748;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749" name="Google Shape;4749;p78"/>
            <p:cNvGrpSpPr/>
            <p:nvPr/>
          </p:nvGrpSpPr>
          <p:grpSpPr>
            <a:xfrm>
              <a:off x="7734300" y="1138202"/>
              <a:ext cx="1764058" cy="965200"/>
              <a:chOff x="3670217" y="2254595"/>
              <a:chExt cx="1764058" cy="965200"/>
            </a:xfrm>
          </p:grpSpPr>
          <p:sp>
            <p:nvSpPr>
              <p:cNvPr id="4750" name="Google Shape;4750;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751" name="Google Shape;4751;p78"/>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752" name="Google Shape;4752;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53" name="Google Shape;4753;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754" name="Google Shape;4754;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55" name="Google Shape;4755;p78"/>
              <p:cNvGrpSpPr/>
              <p:nvPr/>
            </p:nvGrpSpPr>
            <p:grpSpPr>
              <a:xfrm>
                <a:off x="3670217" y="2586162"/>
                <a:ext cx="731126" cy="344556"/>
                <a:chOff x="7493876" y="2774731"/>
                <a:chExt cx="1481958" cy="894622"/>
              </a:xfrm>
            </p:grpSpPr>
            <p:sp>
              <p:nvSpPr>
                <p:cNvPr id="4756" name="Google Shape;4756;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57" name="Google Shape;4757;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58" name="Google Shape;4758;p78"/>
                <p:cNvGrpSpPr/>
                <p:nvPr/>
              </p:nvGrpSpPr>
              <p:grpSpPr>
                <a:xfrm>
                  <a:off x="7713663" y="2848339"/>
                  <a:ext cx="1042107" cy="425543"/>
                  <a:chOff x="7786941" y="2884917"/>
                  <a:chExt cx="897649" cy="353919"/>
                </a:xfrm>
              </p:grpSpPr>
              <p:sp>
                <p:nvSpPr>
                  <p:cNvPr id="4759" name="Google Shape;4759;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0" name="Google Shape;4760;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1" name="Google Shape;4761;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2" name="Google Shape;4762;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63" name="Google Shape;4763;p78"/>
              <p:cNvGrpSpPr/>
              <p:nvPr/>
            </p:nvGrpSpPr>
            <p:grpSpPr>
              <a:xfrm>
                <a:off x="4703149" y="2589549"/>
                <a:ext cx="731126" cy="344556"/>
                <a:chOff x="7493876" y="2774731"/>
                <a:chExt cx="1481958" cy="894622"/>
              </a:xfrm>
            </p:grpSpPr>
            <p:sp>
              <p:nvSpPr>
                <p:cNvPr id="4764" name="Google Shape;4764;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65" name="Google Shape;4765;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66" name="Google Shape;4766;p78"/>
                <p:cNvGrpSpPr/>
                <p:nvPr/>
              </p:nvGrpSpPr>
              <p:grpSpPr>
                <a:xfrm>
                  <a:off x="7713663" y="2848339"/>
                  <a:ext cx="1042107" cy="425543"/>
                  <a:chOff x="7786941" y="2884917"/>
                  <a:chExt cx="897649" cy="353919"/>
                </a:xfrm>
              </p:grpSpPr>
              <p:sp>
                <p:nvSpPr>
                  <p:cNvPr id="4767" name="Google Shape;4767;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8" name="Google Shape;4768;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69" name="Google Shape;4769;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70" name="Google Shape;4770;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sp>
        <p:nvSpPr>
          <p:cNvPr id="4771" name="Google Shape;4771;p78"/>
          <p:cNvSpPr txBox="1"/>
          <p:nvPr/>
        </p:nvSpPr>
        <p:spPr>
          <a:xfrm>
            <a:off x="861060" y="4222280"/>
            <a:ext cx="256031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IPv4 tunnel connecting two IPv6 routers</a:t>
            </a:r>
            <a:endParaRPr/>
          </a:p>
        </p:txBody>
      </p:sp>
      <p:grpSp>
        <p:nvGrpSpPr>
          <p:cNvPr id="4772" name="Google Shape;4772;p78"/>
          <p:cNvGrpSpPr/>
          <p:nvPr/>
        </p:nvGrpSpPr>
        <p:grpSpPr>
          <a:xfrm>
            <a:off x="6003967" y="4337621"/>
            <a:ext cx="2430462" cy="573088"/>
            <a:chOff x="6003967" y="4337621"/>
            <a:chExt cx="2430462" cy="573088"/>
          </a:xfrm>
        </p:grpSpPr>
        <p:sp>
          <p:nvSpPr>
            <p:cNvPr id="4773" name="Google Shape;4773;p78"/>
            <p:cNvSpPr/>
            <p:nvPr/>
          </p:nvSpPr>
          <p:spPr>
            <a:xfrm>
              <a:off x="6003967" y="4844034"/>
              <a:ext cx="2405062" cy="666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74" name="Google Shape;4774;p78"/>
            <p:cNvSpPr txBox="1"/>
            <p:nvPr/>
          </p:nvSpPr>
          <p:spPr>
            <a:xfrm>
              <a:off x="6115092" y="4337621"/>
              <a:ext cx="2319337" cy="5080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IPv4 tunnel </a:t>
              </a:r>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connecting IPv6 routers</a:t>
              </a:r>
              <a:endParaRPr/>
            </a:p>
          </p:txBody>
        </p:sp>
      </p:grpSp>
      <p:grpSp>
        <p:nvGrpSpPr>
          <p:cNvPr id="4775" name="Google Shape;4775;p78"/>
          <p:cNvGrpSpPr/>
          <p:nvPr/>
        </p:nvGrpSpPr>
        <p:grpSpPr>
          <a:xfrm>
            <a:off x="4282206" y="4335896"/>
            <a:ext cx="1764058" cy="963613"/>
            <a:chOff x="3670217" y="2254595"/>
            <a:chExt cx="1764058" cy="963613"/>
          </a:xfrm>
        </p:grpSpPr>
        <p:sp>
          <p:nvSpPr>
            <p:cNvPr id="4776" name="Google Shape;4776;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777" name="Google Shape;4777;p78"/>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778" name="Google Shape;4778;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779" name="Google Shape;4779;p78"/>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780" name="Google Shape;4780;p78"/>
            <p:cNvGrpSpPr/>
            <p:nvPr/>
          </p:nvGrpSpPr>
          <p:grpSpPr>
            <a:xfrm>
              <a:off x="3670217" y="2586162"/>
              <a:ext cx="731126" cy="344556"/>
              <a:chOff x="7493876" y="2774731"/>
              <a:chExt cx="1481958" cy="894622"/>
            </a:xfrm>
          </p:grpSpPr>
          <p:sp>
            <p:nvSpPr>
              <p:cNvPr id="4781" name="Google Shape;4781;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82" name="Google Shape;4782;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83" name="Google Shape;4783;p78"/>
              <p:cNvGrpSpPr/>
              <p:nvPr/>
            </p:nvGrpSpPr>
            <p:grpSpPr>
              <a:xfrm>
                <a:off x="7713663" y="2848339"/>
                <a:ext cx="1042107" cy="425543"/>
                <a:chOff x="7786941" y="2884917"/>
                <a:chExt cx="897649" cy="353919"/>
              </a:xfrm>
            </p:grpSpPr>
            <p:sp>
              <p:nvSpPr>
                <p:cNvPr id="4784" name="Google Shape;4784;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5" name="Google Shape;4785;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6" name="Google Shape;4786;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87" name="Google Shape;4787;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788" name="Google Shape;4788;p78"/>
            <p:cNvGrpSpPr/>
            <p:nvPr/>
          </p:nvGrpSpPr>
          <p:grpSpPr>
            <a:xfrm>
              <a:off x="4703149" y="2589549"/>
              <a:ext cx="731126" cy="344556"/>
              <a:chOff x="7493876" y="2774731"/>
              <a:chExt cx="1481958" cy="894622"/>
            </a:xfrm>
          </p:grpSpPr>
          <p:sp>
            <p:nvSpPr>
              <p:cNvPr id="4789" name="Google Shape;4789;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790" name="Google Shape;4790;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791" name="Google Shape;4791;p78"/>
              <p:cNvGrpSpPr/>
              <p:nvPr/>
            </p:nvGrpSpPr>
            <p:grpSpPr>
              <a:xfrm>
                <a:off x="7713663" y="2848339"/>
                <a:ext cx="1042107" cy="425543"/>
                <a:chOff x="7786941" y="2884917"/>
                <a:chExt cx="897649" cy="353919"/>
              </a:xfrm>
            </p:grpSpPr>
            <p:sp>
              <p:nvSpPr>
                <p:cNvPr id="4792" name="Google Shape;4792;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3" name="Google Shape;4793;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4" name="Google Shape;4794;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795" name="Google Shape;4795;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796" name="Google Shape;4796;p78"/>
          <p:cNvGrpSpPr/>
          <p:nvPr/>
        </p:nvGrpSpPr>
        <p:grpSpPr>
          <a:xfrm>
            <a:off x="8352915" y="4365816"/>
            <a:ext cx="1764058" cy="965200"/>
            <a:chOff x="3670217" y="2254595"/>
            <a:chExt cx="1764058" cy="965200"/>
          </a:xfrm>
        </p:grpSpPr>
        <p:sp>
          <p:nvSpPr>
            <p:cNvPr id="4797" name="Google Shape;4797;p78"/>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798" name="Google Shape;4798;p78"/>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799" name="Google Shape;4799;p78"/>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800" name="Google Shape;4800;p78"/>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801" name="Google Shape;4801;p78"/>
            <p:cNvGrpSpPr/>
            <p:nvPr/>
          </p:nvGrpSpPr>
          <p:grpSpPr>
            <a:xfrm>
              <a:off x="3670217" y="2586162"/>
              <a:ext cx="731126" cy="344556"/>
              <a:chOff x="7493876" y="2774731"/>
              <a:chExt cx="1481958" cy="894622"/>
            </a:xfrm>
          </p:grpSpPr>
          <p:sp>
            <p:nvSpPr>
              <p:cNvPr id="4802" name="Google Shape;4802;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03" name="Google Shape;4803;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04" name="Google Shape;4804;p78"/>
              <p:cNvGrpSpPr/>
              <p:nvPr/>
            </p:nvGrpSpPr>
            <p:grpSpPr>
              <a:xfrm>
                <a:off x="7713663" y="2848339"/>
                <a:ext cx="1042107" cy="425543"/>
                <a:chOff x="7786941" y="2884917"/>
                <a:chExt cx="897649" cy="353919"/>
              </a:xfrm>
            </p:grpSpPr>
            <p:sp>
              <p:nvSpPr>
                <p:cNvPr id="4805" name="Google Shape;4805;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6" name="Google Shape;4806;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7" name="Google Shape;4807;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08" name="Google Shape;4808;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809" name="Google Shape;4809;p78"/>
            <p:cNvGrpSpPr/>
            <p:nvPr/>
          </p:nvGrpSpPr>
          <p:grpSpPr>
            <a:xfrm>
              <a:off x="4703149" y="2589549"/>
              <a:ext cx="731126" cy="344556"/>
              <a:chOff x="7493876" y="2774731"/>
              <a:chExt cx="1481958" cy="894622"/>
            </a:xfrm>
          </p:grpSpPr>
          <p:sp>
            <p:nvSpPr>
              <p:cNvPr id="4810" name="Google Shape;4810;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811" name="Google Shape;4811;p78"/>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812" name="Google Shape;4812;p78"/>
              <p:cNvGrpSpPr/>
              <p:nvPr/>
            </p:nvGrpSpPr>
            <p:grpSpPr>
              <a:xfrm>
                <a:off x="7713663" y="2848339"/>
                <a:ext cx="1042107" cy="425543"/>
                <a:chOff x="7786941" y="2884917"/>
                <a:chExt cx="897649" cy="353919"/>
              </a:xfrm>
            </p:grpSpPr>
            <p:sp>
              <p:nvSpPr>
                <p:cNvPr id="4813" name="Google Shape;4813;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4" name="Google Shape;4814;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5" name="Google Shape;4815;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16" name="Google Shape;4816;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817" name="Google Shape;4817;p78"/>
          <p:cNvGrpSpPr/>
          <p:nvPr/>
        </p:nvGrpSpPr>
        <p:grpSpPr>
          <a:xfrm>
            <a:off x="3244703" y="3195320"/>
            <a:ext cx="1748069" cy="467910"/>
            <a:chOff x="3229463" y="3119120"/>
            <a:chExt cx="1748069" cy="467910"/>
          </a:xfrm>
        </p:grpSpPr>
        <p:cxnSp>
          <p:nvCxnSpPr>
            <p:cNvPr id="4818" name="Google Shape;4818;p78"/>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819" name="Google Shape;4819;p78"/>
            <p:cNvSpPr txBox="1"/>
            <p:nvPr/>
          </p:nvSpPr>
          <p:spPr>
            <a:xfrm>
              <a:off x="3229463" y="3311570"/>
              <a:ext cx="1516761"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Link-layer frame</a:t>
              </a:r>
              <a:endParaRPr/>
            </a:p>
          </p:txBody>
        </p:sp>
      </p:grpSp>
      <p:grpSp>
        <p:nvGrpSpPr>
          <p:cNvPr id="4820" name="Google Shape;4820;p78"/>
          <p:cNvGrpSpPr/>
          <p:nvPr/>
        </p:nvGrpSpPr>
        <p:grpSpPr>
          <a:xfrm>
            <a:off x="4809173" y="2446973"/>
            <a:ext cx="4886325" cy="951547"/>
            <a:chOff x="4672013" y="2614613"/>
            <a:chExt cx="4886325" cy="1157209"/>
          </a:xfrm>
        </p:grpSpPr>
        <p:grpSp>
          <p:nvGrpSpPr>
            <p:cNvPr id="4821" name="Google Shape;4821;p78"/>
            <p:cNvGrpSpPr/>
            <p:nvPr/>
          </p:nvGrpSpPr>
          <p:grpSpPr>
            <a:xfrm>
              <a:off x="4674002" y="3295572"/>
              <a:ext cx="4854575" cy="476250"/>
              <a:chOff x="1427882" y="4286172"/>
              <a:chExt cx="4854575" cy="476250"/>
            </a:xfrm>
          </p:grpSpPr>
          <p:sp>
            <p:nvSpPr>
              <p:cNvPr id="4822" name="Google Shape;4822;p78"/>
              <p:cNvSpPr/>
              <p:nvPr/>
            </p:nvSpPr>
            <p:spPr>
              <a:xfrm>
                <a:off x="1427882" y="4289347"/>
                <a:ext cx="4854575" cy="468313"/>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23" name="Google Shape;4823;p78"/>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24" name="Google Shape;4824;p78"/>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25" name="Google Shape;4825;p78"/>
              <p:cNvCxnSpPr/>
              <p:nvPr/>
            </p:nvCxnSpPr>
            <p:spPr>
              <a:xfrm>
                <a:off x="1867620" y="4294109"/>
                <a:ext cx="0" cy="468313"/>
              </a:xfrm>
              <a:prstGeom prst="straightConnector1">
                <a:avLst/>
              </a:prstGeom>
              <a:noFill/>
              <a:ln cap="flat" cmpd="sng" w="9525">
                <a:solidFill>
                  <a:srgbClr val="CC0000"/>
                </a:solidFill>
                <a:prstDash val="solid"/>
                <a:round/>
                <a:headEnd len="med" w="med" type="none"/>
                <a:tailEnd len="med" w="med" type="none"/>
              </a:ln>
            </p:spPr>
          </p:cxnSp>
          <p:grpSp>
            <p:nvGrpSpPr>
              <p:cNvPr id="4826" name="Google Shape;4826;p78"/>
              <p:cNvGrpSpPr/>
              <p:nvPr/>
            </p:nvGrpSpPr>
            <p:grpSpPr>
              <a:xfrm>
                <a:off x="2865478" y="4319509"/>
                <a:ext cx="3402012" cy="414337"/>
                <a:chOff x="8090620" y="3748009"/>
                <a:chExt cx="3402012" cy="414337"/>
              </a:xfrm>
            </p:grpSpPr>
            <p:cxnSp>
              <p:nvCxnSpPr>
                <p:cNvPr id="4827" name="Google Shape;4827;p78"/>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828" name="Google Shape;4828;p78"/>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29" name="Google Shape;4829;p78"/>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0" name="Google Shape;4830;p78"/>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1" name="Google Shape;4831;p78"/>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2" name="Google Shape;4832;p78"/>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3" name="Google Shape;4833;p78"/>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4" name="Google Shape;4834;p78"/>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5" name="Google Shape;4835;p78"/>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36" name="Google Shape;4836;p78"/>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837" name="Google Shape;4837;p78"/>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38" name="Google Shape;4838;p78"/>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grpSp>
        <p:sp>
          <p:nvSpPr>
            <p:cNvPr id="4839" name="Google Shape;4839;p78"/>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4840" name="Google Shape;4840;p78"/>
          <p:cNvGrpSpPr/>
          <p:nvPr/>
        </p:nvGrpSpPr>
        <p:grpSpPr>
          <a:xfrm>
            <a:off x="6964680" y="2244997"/>
            <a:ext cx="838200" cy="376149"/>
            <a:chOff x="6827520" y="2412637"/>
            <a:chExt cx="838200" cy="376149"/>
          </a:xfrm>
        </p:grpSpPr>
        <p:sp>
          <p:nvSpPr>
            <p:cNvPr id="4841" name="Google Shape;4841;p78"/>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42" name="Google Shape;4842;p78"/>
            <p:cNvGrpSpPr/>
            <p:nvPr/>
          </p:nvGrpSpPr>
          <p:grpSpPr>
            <a:xfrm>
              <a:off x="6827520" y="2412637"/>
              <a:ext cx="334944" cy="376149"/>
              <a:chOff x="335231" y="4406992"/>
              <a:chExt cx="1251280" cy="2136350"/>
            </a:xfrm>
          </p:grpSpPr>
          <p:sp>
            <p:nvSpPr>
              <p:cNvPr id="4843" name="Google Shape;4843;p78"/>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4" name="Google Shape;4844;p78"/>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45" name="Google Shape;4845;p78"/>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846" name="Google Shape;4846;p78"/>
          <p:cNvSpPr txBox="1"/>
          <p:nvPr/>
        </p:nvSpPr>
        <p:spPr>
          <a:xfrm>
            <a:off x="4831080" y="3383280"/>
            <a:ext cx="48790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The usual: datagram as payload in link-layer frame</a:t>
            </a:r>
            <a:endParaRPr/>
          </a:p>
        </p:txBody>
      </p:sp>
      <p:grpSp>
        <p:nvGrpSpPr>
          <p:cNvPr id="4847" name="Google Shape;4847;p78"/>
          <p:cNvGrpSpPr/>
          <p:nvPr/>
        </p:nvGrpSpPr>
        <p:grpSpPr>
          <a:xfrm>
            <a:off x="2834599" y="5970990"/>
            <a:ext cx="2306635" cy="467910"/>
            <a:chOff x="2670897" y="3119120"/>
            <a:chExt cx="2306635" cy="467910"/>
          </a:xfrm>
        </p:grpSpPr>
        <p:cxnSp>
          <p:nvCxnSpPr>
            <p:cNvPr id="4848" name="Google Shape;4848;p78"/>
            <p:cNvCxnSpPr/>
            <p:nvPr/>
          </p:nvCxnSpPr>
          <p:spPr>
            <a:xfrm flipH="1">
              <a:off x="4023360" y="3119120"/>
              <a:ext cx="954172" cy="187960"/>
            </a:xfrm>
            <a:prstGeom prst="straightConnector1">
              <a:avLst/>
            </a:prstGeom>
            <a:noFill/>
            <a:ln cap="flat" cmpd="sng" w="9525">
              <a:solidFill>
                <a:srgbClr val="CC0000"/>
              </a:solidFill>
              <a:prstDash val="solid"/>
              <a:round/>
              <a:headEnd len="med" w="med" type="none"/>
              <a:tailEnd len="med" w="med" type="none"/>
            </a:ln>
          </p:spPr>
        </p:cxnSp>
        <p:sp>
          <p:nvSpPr>
            <p:cNvPr id="4849" name="Google Shape;4849;p78"/>
            <p:cNvSpPr txBox="1"/>
            <p:nvPr/>
          </p:nvSpPr>
          <p:spPr>
            <a:xfrm>
              <a:off x="2670897" y="3311570"/>
              <a:ext cx="1348447" cy="27546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IPv4 datagram</a:t>
              </a:r>
              <a:endParaRPr/>
            </a:p>
          </p:txBody>
        </p:sp>
      </p:grpSp>
      <p:grpSp>
        <p:nvGrpSpPr>
          <p:cNvPr id="4850" name="Google Shape;4850;p78"/>
          <p:cNvGrpSpPr/>
          <p:nvPr/>
        </p:nvGrpSpPr>
        <p:grpSpPr>
          <a:xfrm>
            <a:off x="4511040" y="5222642"/>
            <a:ext cx="5332920" cy="956237"/>
            <a:chOff x="4225418" y="2614613"/>
            <a:chExt cx="5332920" cy="1162913"/>
          </a:xfrm>
        </p:grpSpPr>
        <p:grpSp>
          <p:nvGrpSpPr>
            <p:cNvPr id="4851" name="Google Shape;4851;p78"/>
            <p:cNvGrpSpPr/>
            <p:nvPr/>
          </p:nvGrpSpPr>
          <p:grpSpPr>
            <a:xfrm>
              <a:off x="4225418" y="3289252"/>
              <a:ext cx="5303159" cy="488274"/>
              <a:chOff x="979298" y="4279852"/>
              <a:chExt cx="5303159" cy="488274"/>
            </a:xfrm>
          </p:grpSpPr>
          <p:sp>
            <p:nvSpPr>
              <p:cNvPr id="4852" name="Google Shape;4852;p78"/>
              <p:cNvSpPr/>
              <p:nvPr/>
            </p:nvSpPr>
            <p:spPr>
              <a:xfrm>
                <a:off x="979298" y="4289347"/>
                <a:ext cx="5303159" cy="468314"/>
              </a:xfrm>
              <a:prstGeom prst="rect">
                <a:avLst/>
              </a:prstGeom>
              <a:gradFill>
                <a:gsLst>
                  <a:gs pos="0">
                    <a:srgbClr val="CC0000">
                      <a:alpha val="40784"/>
                    </a:srgbClr>
                  </a:gs>
                  <a:gs pos="100000">
                    <a:srgbClr val="CC0000">
                      <a:alpha val="37647"/>
                    </a:srgbClr>
                  </a:gs>
                </a:gsLst>
                <a:lin ang="540000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53" name="Google Shape;4853;p78"/>
              <p:cNvCxnSpPr/>
              <p:nvPr/>
            </p:nvCxnSpPr>
            <p:spPr>
              <a:xfrm>
                <a:off x="2791545" y="4287759"/>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54" name="Google Shape;4854;p78"/>
              <p:cNvCxnSpPr/>
              <p:nvPr/>
            </p:nvCxnSpPr>
            <p:spPr>
              <a:xfrm>
                <a:off x="2313707" y="4286172"/>
                <a:ext cx="0" cy="468313"/>
              </a:xfrm>
              <a:prstGeom prst="straightConnector1">
                <a:avLst/>
              </a:prstGeom>
              <a:noFill/>
              <a:ln cap="flat" cmpd="sng" w="9525">
                <a:solidFill>
                  <a:srgbClr val="CC0000"/>
                </a:solidFill>
                <a:prstDash val="solid"/>
                <a:round/>
                <a:headEnd len="med" w="med" type="none"/>
                <a:tailEnd len="med" w="med" type="none"/>
              </a:ln>
            </p:spPr>
          </p:cxnSp>
          <p:cxnSp>
            <p:nvCxnSpPr>
              <p:cNvPr id="4855" name="Google Shape;4855;p78"/>
              <p:cNvCxnSpPr/>
              <p:nvPr/>
            </p:nvCxnSpPr>
            <p:spPr>
              <a:xfrm>
                <a:off x="2129045" y="4299810"/>
                <a:ext cx="0" cy="468314"/>
              </a:xfrm>
              <a:prstGeom prst="straightConnector1">
                <a:avLst/>
              </a:prstGeom>
              <a:noFill/>
              <a:ln cap="flat" cmpd="sng" w="9525">
                <a:solidFill>
                  <a:srgbClr val="CC0000"/>
                </a:solidFill>
                <a:prstDash val="solid"/>
                <a:round/>
                <a:headEnd len="med" w="med" type="none"/>
                <a:tailEnd len="med" w="med" type="none"/>
              </a:ln>
            </p:spPr>
          </p:cxnSp>
          <p:grpSp>
            <p:nvGrpSpPr>
              <p:cNvPr id="4856" name="Google Shape;4856;p78"/>
              <p:cNvGrpSpPr/>
              <p:nvPr/>
            </p:nvGrpSpPr>
            <p:grpSpPr>
              <a:xfrm>
                <a:off x="2865478" y="4319509"/>
                <a:ext cx="3402012" cy="414337"/>
                <a:chOff x="8090620" y="3748009"/>
                <a:chExt cx="3402012" cy="414337"/>
              </a:xfrm>
            </p:grpSpPr>
            <p:cxnSp>
              <p:nvCxnSpPr>
                <p:cNvPr id="4857" name="Google Shape;4857;p78"/>
                <p:cNvCxnSpPr/>
                <p:nvPr/>
              </p:nvCxnSpPr>
              <p:spPr>
                <a:xfrm>
                  <a:off x="8743763" y="4053716"/>
                  <a:ext cx="857250" cy="0"/>
                </a:xfrm>
                <a:prstGeom prst="straightConnector1">
                  <a:avLst/>
                </a:prstGeom>
                <a:noFill/>
                <a:ln cap="flat" cmpd="sng" w="9525">
                  <a:solidFill>
                    <a:schemeClr val="dk1"/>
                  </a:solidFill>
                  <a:prstDash val="solid"/>
                  <a:round/>
                  <a:headEnd len="med" w="med" type="none"/>
                  <a:tailEnd len="med" w="med" type="triangle"/>
                </a:ln>
              </p:spPr>
            </p:cxnSp>
            <p:sp>
              <p:nvSpPr>
                <p:cNvPr id="4858" name="Google Shape;4858;p78"/>
                <p:cNvSpPr/>
                <p:nvPr/>
              </p:nvSpPr>
              <p:spPr>
                <a:xfrm>
                  <a:off x="8090620" y="3751184"/>
                  <a:ext cx="3402012" cy="401638"/>
                </a:xfrm>
                <a:prstGeom prst="rect">
                  <a:avLst/>
                </a:prstGeom>
                <a:solidFill>
                  <a:srgbClr val="66CC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59" name="Google Shape;4859;p78"/>
                <p:cNvCxnSpPr/>
                <p:nvPr/>
              </p:nvCxnSpPr>
              <p:spPr>
                <a:xfrm>
                  <a:off x="81747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0" name="Google Shape;4860;p78"/>
                <p:cNvCxnSpPr/>
                <p:nvPr/>
              </p:nvCxnSpPr>
              <p:spPr>
                <a:xfrm>
                  <a:off x="8133482" y="3749596"/>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1" name="Google Shape;4861;p78"/>
                <p:cNvCxnSpPr/>
                <p:nvPr/>
              </p:nvCxnSpPr>
              <p:spPr>
                <a:xfrm>
                  <a:off x="8250957" y="3751184"/>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2" name="Google Shape;4862;p78"/>
                <p:cNvCxnSpPr/>
                <p:nvPr/>
              </p:nvCxnSpPr>
              <p:spPr>
                <a:xfrm>
                  <a:off x="829223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3" name="Google Shape;4863;p78"/>
                <p:cNvCxnSpPr/>
                <p:nvPr/>
              </p:nvCxnSpPr>
              <p:spPr>
                <a:xfrm>
                  <a:off x="8346207"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4" name="Google Shape;4864;p78"/>
                <p:cNvCxnSpPr/>
                <p:nvPr/>
              </p:nvCxnSpPr>
              <p:spPr>
                <a:xfrm>
                  <a:off x="8412882" y="3748009"/>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5" name="Google Shape;4865;p78"/>
                <p:cNvCxnSpPr/>
                <p:nvPr/>
              </p:nvCxnSpPr>
              <p:spPr>
                <a:xfrm>
                  <a:off x="8724032" y="3759121"/>
                  <a:ext cx="0" cy="403225"/>
                </a:xfrm>
                <a:prstGeom prst="straightConnector1">
                  <a:avLst/>
                </a:prstGeom>
                <a:noFill/>
                <a:ln cap="flat" cmpd="sng" w="9525">
                  <a:solidFill>
                    <a:schemeClr val="dk1"/>
                  </a:solidFill>
                  <a:prstDash val="solid"/>
                  <a:round/>
                  <a:headEnd len="med" w="med" type="none"/>
                  <a:tailEnd len="med" w="med" type="none"/>
                </a:ln>
              </p:spPr>
            </p:cxnSp>
            <p:cxnSp>
              <p:nvCxnSpPr>
                <p:cNvPr id="4866" name="Google Shape;4866;p78"/>
                <p:cNvCxnSpPr/>
                <p:nvPr/>
              </p:nvCxnSpPr>
              <p:spPr>
                <a:xfrm>
                  <a:off x="9098682" y="3759121"/>
                  <a:ext cx="0" cy="403225"/>
                </a:xfrm>
                <a:prstGeom prst="straightConnector1">
                  <a:avLst/>
                </a:prstGeom>
                <a:noFill/>
                <a:ln cap="flat" cmpd="sng" w="9525">
                  <a:solidFill>
                    <a:schemeClr val="dk1"/>
                  </a:solidFill>
                  <a:prstDash val="solid"/>
                  <a:round/>
                  <a:headEnd len="med" w="med" type="none"/>
                  <a:tailEnd len="med" w="med" type="none"/>
                </a:ln>
              </p:spPr>
            </p:cxnSp>
          </p:grpSp>
          <p:sp>
            <p:nvSpPr>
              <p:cNvPr id="4867" name="Google Shape;4867;p78"/>
              <p:cNvSpPr/>
              <p:nvPr/>
            </p:nvSpPr>
            <p:spPr>
              <a:xfrm>
                <a:off x="2901848" y="4384275"/>
                <a:ext cx="3244616" cy="285690"/>
              </a:xfrm>
              <a:prstGeom prst="rect">
                <a:avLst/>
              </a:pr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68" name="Google Shape;4868;p78"/>
              <p:cNvSpPr txBox="1"/>
              <p:nvPr/>
            </p:nvSpPr>
            <p:spPr>
              <a:xfrm>
                <a:off x="4133520" y="4301715"/>
                <a:ext cx="16700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IPv6 datagram</a:t>
                </a:r>
                <a:endParaRPr/>
              </a:p>
            </p:txBody>
          </p:sp>
          <p:cxnSp>
            <p:nvCxnSpPr>
              <p:cNvPr id="4869" name="Google Shape;4869;p78"/>
              <p:cNvCxnSpPr/>
              <p:nvPr/>
            </p:nvCxnSpPr>
            <p:spPr>
              <a:xfrm>
                <a:off x="1141962" y="4285554"/>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0" name="Google Shape;4870;p78"/>
              <p:cNvCxnSpPr/>
              <p:nvPr/>
            </p:nvCxnSpPr>
            <p:spPr>
              <a:xfrm>
                <a:off x="1214646" y="4294108"/>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1" name="Google Shape;4871;p78"/>
              <p:cNvCxnSpPr/>
              <p:nvPr/>
            </p:nvCxnSpPr>
            <p:spPr>
              <a:xfrm>
                <a:off x="1024733" y="4279852"/>
                <a:ext cx="0" cy="468314"/>
              </a:xfrm>
              <a:prstGeom prst="straightConnector1">
                <a:avLst/>
              </a:prstGeom>
              <a:noFill/>
              <a:ln cap="flat" cmpd="sng" w="9525">
                <a:solidFill>
                  <a:srgbClr val="CC0000"/>
                </a:solidFill>
                <a:prstDash val="solid"/>
                <a:round/>
                <a:headEnd len="med" w="med" type="none"/>
                <a:tailEnd len="med" w="med" type="none"/>
              </a:ln>
            </p:spPr>
          </p:cxnSp>
          <p:cxnSp>
            <p:nvCxnSpPr>
              <p:cNvPr id="4872" name="Google Shape;4872;p78"/>
              <p:cNvCxnSpPr/>
              <p:nvPr/>
            </p:nvCxnSpPr>
            <p:spPr>
              <a:xfrm>
                <a:off x="1749220" y="4299812"/>
                <a:ext cx="0" cy="468314"/>
              </a:xfrm>
              <a:prstGeom prst="straightConnector1">
                <a:avLst/>
              </a:prstGeom>
              <a:noFill/>
              <a:ln cap="flat" cmpd="sng" w="9525">
                <a:solidFill>
                  <a:srgbClr val="CC0000"/>
                </a:solidFill>
                <a:prstDash val="solid"/>
                <a:round/>
                <a:headEnd len="med" w="med" type="none"/>
                <a:tailEnd len="med" w="med" type="none"/>
              </a:ln>
            </p:spPr>
          </p:cxnSp>
        </p:grpSp>
        <p:sp>
          <p:nvSpPr>
            <p:cNvPr id="4873" name="Google Shape;4873;p78"/>
            <p:cNvSpPr/>
            <p:nvPr/>
          </p:nvSpPr>
          <p:spPr>
            <a:xfrm>
              <a:off x="4672013" y="2614613"/>
              <a:ext cx="4886325" cy="685800"/>
            </a:xfrm>
            <a:custGeom>
              <a:rect b="b" l="l" r="r" t="t"/>
              <a:pathLst>
                <a:path extrusionOk="0" h="685800" w="4886325">
                  <a:moveTo>
                    <a:pt x="0" y="685800"/>
                  </a:moveTo>
                  <a:lnTo>
                    <a:pt x="2171700" y="0"/>
                  </a:lnTo>
                  <a:lnTo>
                    <a:pt x="2443162" y="157162"/>
                  </a:lnTo>
                  <a:lnTo>
                    <a:pt x="2493168" y="150018"/>
                  </a:lnTo>
                  <a:lnTo>
                    <a:pt x="4886325" y="685800"/>
                  </a:lnTo>
                  <a:lnTo>
                    <a:pt x="0" y="685800"/>
                  </a:lnTo>
                  <a:close/>
                </a:path>
              </a:pathLst>
            </a:custGeom>
            <a:gradFill>
              <a:gsLst>
                <a:gs pos="0">
                  <a:srgbClr val="F5F7FC"/>
                </a:gs>
                <a:gs pos="100000">
                  <a:srgbClr val="D8D8D8"/>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874" name="Google Shape;4874;p78"/>
          <p:cNvSpPr txBox="1"/>
          <p:nvPr/>
        </p:nvSpPr>
        <p:spPr>
          <a:xfrm>
            <a:off x="4979542" y="6158950"/>
            <a:ext cx="537397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tunneling: IPv6 datagram as payload in a IPv4 datagram</a:t>
            </a:r>
            <a:endParaRPr/>
          </a:p>
        </p:txBody>
      </p:sp>
      <p:grpSp>
        <p:nvGrpSpPr>
          <p:cNvPr id="4875" name="Google Shape;4875;p78"/>
          <p:cNvGrpSpPr/>
          <p:nvPr/>
        </p:nvGrpSpPr>
        <p:grpSpPr>
          <a:xfrm>
            <a:off x="6903720" y="4965337"/>
            <a:ext cx="838200" cy="376149"/>
            <a:chOff x="6827520" y="2412637"/>
            <a:chExt cx="838200" cy="376149"/>
          </a:xfrm>
        </p:grpSpPr>
        <p:sp>
          <p:nvSpPr>
            <p:cNvPr id="4876" name="Google Shape;4876;p78"/>
            <p:cNvSpPr/>
            <p:nvPr/>
          </p:nvSpPr>
          <p:spPr>
            <a:xfrm>
              <a:off x="7178040" y="2468880"/>
              <a:ext cx="487680" cy="304800"/>
            </a:xfrm>
            <a:prstGeom prst="rightArrow">
              <a:avLst>
                <a:gd fmla="val 50000" name="adj1"/>
                <a:gd fmla="val 50000" name="adj2"/>
              </a:avLst>
            </a:prstGeom>
            <a:gradFill>
              <a:gsLst>
                <a:gs pos="0">
                  <a:srgbClr val="F5F7FC"/>
                </a:gs>
                <a:gs pos="100000">
                  <a:srgbClr val="CC000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77" name="Google Shape;4877;p78"/>
            <p:cNvGrpSpPr/>
            <p:nvPr/>
          </p:nvGrpSpPr>
          <p:grpSpPr>
            <a:xfrm>
              <a:off x="6827520" y="2412637"/>
              <a:ext cx="334944" cy="376149"/>
              <a:chOff x="335231" y="4406992"/>
              <a:chExt cx="1251280" cy="2136350"/>
            </a:xfrm>
          </p:grpSpPr>
          <p:sp>
            <p:nvSpPr>
              <p:cNvPr id="4878" name="Google Shape;4878;p78"/>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CC00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79" name="Google Shape;4879;p78"/>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E2393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880" name="Google Shape;4880;p78"/>
              <p:cNvSpPr/>
              <p:nvPr/>
            </p:nvSpPr>
            <p:spPr>
              <a:xfrm>
                <a:off x="1296825" y="5178575"/>
                <a:ext cx="289686" cy="1351389"/>
              </a:xfrm>
              <a:prstGeom prst="rect">
                <a:avLst/>
              </a:prstGeom>
              <a:solidFill>
                <a:srgbClr val="EBADA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grpSp>
      <p:sp>
        <p:nvSpPr>
          <p:cNvPr id="4881" name="Google Shape;4881;p78"/>
          <p:cNvSpPr/>
          <p:nvPr/>
        </p:nvSpPr>
        <p:spPr>
          <a:xfrm>
            <a:off x="822960" y="1356360"/>
            <a:ext cx="10058400" cy="2407920"/>
          </a:xfrm>
          <a:prstGeom prst="rect">
            <a:avLst/>
          </a:prstGeom>
          <a:solidFill>
            <a:schemeClr val="lt1">
              <a:alpha val="6274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882" name="Google Shape;4882;p78"/>
          <p:cNvGrpSpPr/>
          <p:nvPr/>
        </p:nvGrpSpPr>
        <p:grpSpPr>
          <a:xfrm>
            <a:off x="5243279" y="4964546"/>
            <a:ext cx="3924175" cy="366887"/>
            <a:chOff x="5243279" y="4964546"/>
            <a:chExt cx="3924175" cy="366887"/>
          </a:xfrm>
        </p:grpSpPr>
        <p:sp>
          <p:nvSpPr>
            <p:cNvPr id="4883" name="Google Shape;4883;p78"/>
            <p:cNvSpPr txBox="1"/>
            <p:nvPr/>
          </p:nvSpPr>
          <p:spPr>
            <a:xfrm>
              <a:off x="5243279" y="4964546"/>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884" name="Google Shape;4884;p78"/>
            <p:cNvSpPr txBox="1"/>
            <p:nvPr/>
          </p:nvSpPr>
          <p:spPr>
            <a:xfrm>
              <a:off x="8298305" y="4992879"/>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sp>
        <p:nvSpPr>
          <p:cNvPr id="4885" name="Google Shape;4885;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72"/>
                                        </p:tgtEl>
                                        <p:attrNameLst>
                                          <p:attrName>style.visibility</p:attrName>
                                        </p:attrNameLst>
                                      </p:cBhvr>
                                      <p:to>
                                        <p:strVal val="visible"/>
                                      </p:to>
                                    </p:set>
                                    <p:animEffect filter="fade" transition="in">
                                      <p:cBhvr>
                                        <p:cTn dur="500"/>
                                        <p:tgtEl>
                                          <p:spTgt spid="4772"/>
                                        </p:tgtEl>
                                      </p:cBhvr>
                                    </p:animEffect>
                                  </p:childTnLst>
                                </p:cTn>
                              </p:par>
                              <p:par>
                                <p:cTn fill="hold" nodeType="withEffect" presetClass="entr" presetID="10" presetSubtype="0">
                                  <p:stCondLst>
                                    <p:cond delay="0"/>
                                  </p:stCondLst>
                                  <p:childTnLst>
                                    <p:set>
                                      <p:cBhvr>
                                        <p:cTn dur="1" fill="hold">
                                          <p:stCondLst>
                                            <p:cond delay="0"/>
                                          </p:stCondLst>
                                        </p:cTn>
                                        <p:tgtEl>
                                          <p:spTgt spid="4771"/>
                                        </p:tgtEl>
                                        <p:attrNameLst>
                                          <p:attrName>style.visibility</p:attrName>
                                        </p:attrNameLst>
                                      </p:cBhvr>
                                      <p:to>
                                        <p:strVal val="visible"/>
                                      </p:to>
                                    </p:set>
                                    <p:animEffect filter="fade" transition="in">
                                      <p:cBhvr>
                                        <p:cTn dur="500"/>
                                        <p:tgtEl>
                                          <p:spTgt spid="4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75"/>
                                        </p:tgtEl>
                                        <p:attrNameLst>
                                          <p:attrName>style.visibility</p:attrName>
                                        </p:attrNameLst>
                                      </p:cBhvr>
                                      <p:to>
                                        <p:strVal val="visible"/>
                                      </p:to>
                                    </p:set>
                                    <p:animEffect filter="fade" transition="in">
                                      <p:cBhvr>
                                        <p:cTn dur="500"/>
                                        <p:tgtEl>
                                          <p:spTgt spid="48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0"/>
                                        </p:tgtEl>
                                        <p:attrNameLst>
                                          <p:attrName>style.visibility</p:attrName>
                                        </p:attrNameLst>
                                      </p:cBhvr>
                                      <p:to>
                                        <p:strVal val="visible"/>
                                      </p:to>
                                    </p:set>
                                    <p:animEffect filter="fade" transition="in">
                                      <p:cBhvr>
                                        <p:cTn dur="500"/>
                                        <p:tgtEl>
                                          <p:spTgt spid="4850"/>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4847"/>
                                        </p:tgtEl>
                                        <p:attrNameLst>
                                          <p:attrName>style.visibility</p:attrName>
                                        </p:attrNameLst>
                                      </p:cBhvr>
                                      <p:to>
                                        <p:strVal val="visible"/>
                                      </p:to>
                                    </p:set>
                                    <p:animEffect filter="fade" transition="in">
                                      <p:cBhvr>
                                        <p:cTn dur="500"/>
                                        <p:tgtEl>
                                          <p:spTgt spid="4847"/>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4874"/>
                                        </p:tgtEl>
                                        <p:attrNameLst>
                                          <p:attrName>style.visibility</p:attrName>
                                        </p:attrNameLst>
                                      </p:cBhvr>
                                      <p:to>
                                        <p:strVal val="visible"/>
                                      </p:to>
                                    </p:set>
                                    <p:animEffect filter="fade" transition="in">
                                      <p:cBhvr>
                                        <p:cTn dur="500"/>
                                        <p:tgtEl>
                                          <p:spTgt spid="48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0" name="Shape 4890"/>
        <p:cNvGrpSpPr/>
        <p:nvPr/>
      </p:nvGrpSpPr>
      <p:grpSpPr>
        <a:xfrm>
          <a:off x="0" y="0"/>
          <a:ext cx="0" cy="0"/>
          <a:chOff x="0" y="0"/>
          <a:chExt cx="0" cy="0"/>
        </a:xfrm>
      </p:grpSpPr>
      <p:grpSp>
        <p:nvGrpSpPr>
          <p:cNvPr id="4891" name="Google Shape;4891;p79"/>
          <p:cNvGrpSpPr/>
          <p:nvPr/>
        </p:nvGrpSpPr>
        <p:grpSpPr>
          <a:xfrm>
            <a:off x="6285630" y="3268207"/>
            <a:ext cx="1176337" cy="3330575"/>
            <a:chOff x="3507" y="2128"/>
            <a:chExt cx="741" cy="2098"/>
          </a:xfrm>
        </p:grpSpPr>
        <p:cxnSp>
          <p:nvCxnSpPr>
            <p:cNvPr id="4892" name="Google Shape;4892;p79"/>
            <p:cNvCxnSpPr/>
            <p:nvPr/>
          </p:nvCxnSpPr>
          <p:spPr>
            <a:xfrm>
              <a:off x="3627" y="2128"/>
              <a:ext cx="434" cy="0"/>
            </a:xfrm>
            <a:prstGeom prst="straightConnector1">
              <a:avLst/>
            </a:prstGeom>
            <a:noFill/>
            <a:ln cap="flat" cmpd="sng" w="19050">
              <a:solidFill>
                <a:schemeClr val="dk1"/>
              </a:solidFill>
              <a:prstDash val="solid"/>
              <a:round/>
              <a:headEnd len="med" w="med" type="none"/>
              <a:tailEnd len="med" w="med" type="triangle"/>
            </a:ln>
          </p:spPr>
        </p:cxnSp>
        <p:sp>
          <p:nvSpPr>
            <p:cNvPr id="4893" name="Google Shape;4893;p79"/>
            <p:cNvSpPr txBox="1"/>
            <p:nvPr/>
          </p:nvSpPr>
          <p:spPr>
            <a:xfrm>
              <a:off x="3507" y="3775"/>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4894" name="Google Shape;4894;p79"/>
            <p:cNvCxnSpPr/>
            <p:nvPr/>
          </p:nvCxnSpPr>
          <p:spPr>
            <a:xfrm>
              <a:off x="3883" y="3640"/>
              <a:ext cx="0" cy="116"/>
            </a:xfrm>
            <a:prstGeom prst="straightConnector1">
              <a:avLst/>
            </a:prstGeom>
            <a:noFill/>
            <a:ln cap="flat" cmpd="sng" w="9525">
              <a:solidFill>
                <a:schemeClr val="dk1"/>
              </a:solidFill>
              <a:prstDash val="solid"/>
              <a:round/>
              <a:headEnd len="med" w="med" type="triangle"/>
              <a:tailEnd len="med" w="med" type="none"/>
            </a:ln>
          </p:spPr>
        </p:cxnSp>
        <p:grpSp>
          <p:nvGrpSpPr>
            <p:cNvPr id="4895" name="Google Shape;4895;p79"/>
            <p:cNvGrpSpPr/>
            <p:nvPr/>
          </p:nvGrpSpPr>
          <p:grpSpPr>
            <a:xfrm>
              <a:off x="3558" y="2220"/>
              <a:ext cx="583" cy="1388"/>
              <a:chOff x="478" y="2082"/>
              <a:chExt cx="583" cy="1388"/>
            </a:xfrm>
          </p:grpSpPr>
          <p:sp>
            <p:nvSpPr>
              <p:cNvPr id="4896" name="Google Shape;4896;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897" name="Google Shape;4897;p79"/>
              <p:cNvGrpSpPr/>
              <p:nvPr/>
            </p:nvGrpSpPr>
            <p:grpSpPr>
              <a:xfrm>
                <a:off x="499" y="2471"/>
                <a:ext cx="493" cy="908"/>
                <a:chOff x="4869" y="143"/>
                <a:chExt cx="493" cy="908"/>
              </a:xfrm>
            </p:grpSpPr>
            <p:sp>
              <p:nvSpPr>
                <p:cNvPr id="4898" name="Google Shape;4898;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99" name="Google Shape;4899;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4900" name="Google Shape;4900;p79"/>
              <p:cNvSpPr txBox="1"/>
              <p:nvPr/>
            </p:nvSpPr>
            <p:spPr>
              <a:xfrm>
                <a:off x="49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grpSp>
      <p:sp>
        <p:nvSpPr>
          <p:cNvPr id="4901" name="Google Shape;4901;p7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Tunneling</a:t>
            </a:r>
            <a:endParaRPr/>
          </a:p>
        </p:txBody>
      </p:sp>
      <p:sp>
        <p:nvSpPr>
          <p:cNvPr id="4902" name="Google Shape;4902;p79"/>
          <p:cNvSpPr txBox="1"/>
          <p:nvPr/>
        </p:nvSpPr>
        <p:spPr>
          <a:xfrm>
            <a:off x="1638577" y="2479069"/>
            <a:ext cx="190808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physical view:</a:t>
            </a:r>
            <a:endParaRPr/>
          </a:p>
        </p:txBody>
      </p:sp>
      <p:cxnSp>
        <p:nvCxnSpPr>
          <p:cNvPr id="4903" name="Google Shape;4903;p79"/>
          <p:cNvCxnSpPr/>
          <p:nvPr/>
        </p:nvCxnSpPr>
        <p:spPr>
          <a:xfrm>
            <a:off x="5432976" y="2762595"/>
            <a:ext cx="2750903" cy="0"/>
          </a:xfrm>
          <a:prstGeom prst="straightConnector1">
            <a:avLst/>
          </a:prstGeom>
          <a:noFill/>
          <a:ln cap="flat" cmpd="sng" w="19050">
            <a:solidFill>
              <a:srgbClr val="CC0001"/>
            </a:solidFill>
            <a:prstDash val="solid"/>
            <a:round/>
            <a:headEnd len="med" w="med" type="none"/>
            <a:tailEnd len="med" w="med" type="none"/>
          </a:ln>
        </p:spPr>
      </p:cxnSp>
      <p:sp>
        <p:nvSpPr>
          <p:cNvPr id="4904" name="Google Shape;4904;p79"/>
          <p:cNvSpPr txBox="1"/>
          <p:nvPr/>
        </p:nvSpPr>
        <p:spPr>
          <a:xfrm>
            <a:off x="5807990" y="2886420"/>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IPv4</a:t>
            </a:r>
            <a:endParaRPr/>
          </a:p>
        </p:txBody>
      </p:sp>
      <p:sp>
        <p:nvSpPr>
          <p:cNvPr id="4905" name="Google Shape;4905;p79"/>
          <p:cNvSpPr txBox="1"/>
          <p:nvPr/>
        </p:nvSpPr>
        <p:spPr>
          <a:xfrm>
            <a:off x="7170020" y="2888007"/>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IPv4</a:t>
            </a:r>
            <a:endParaRPr/>
          </a:p>
        </p:txBody>
      </p:sp>
      <p:sp>
        <p:nvSpPr>
          <p:cNvPr id="4906" name="Google Shape;4906;p79"/>
          <p:cNvSpPr txBox="1"/>
          <p:nvPr/>
        </p:nvSpPr>
        <p:spPr>
          <a:xfrm>
            <a:off x="8317782" y="2256182"/>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cxnSp>
        <p:nvCxnSpPr>
          <p:cNvPr id="4907" name="Google Shape;4907;p79"/>
          <p:cNvCxnSpPr/>
          <p:nvPr/>
        </p:nvCxnSpPr>
        <p:spPr>
          <a:xfrm>
            <a:off x="8857532" y="2753070"/>
            <a:ext cx="323850" cy="0"/>
          </a:xfrm>
          <a:prstGeom prst="straightConnector1">
            <a:avLst/>
          </a:prstGeom>
          <a:noFill/>
          <a:ln cap="flat" cmpd="sng" w="19050">
            <a:solidFill>
              <a:schemeClr val="dk1"/>
            </a:solidFill>
            <a:prstDash val="solid"/>
            <a:round/>
            <a:headEnd len="med" w="med" type="none"/>
            <a:tailEnd len="med" w="med" type="none"/>
          </a:ln>
        </p:spPr>
      </p:cxnSp>
      <p:sp>
        <p:nvSpPr>
          <p:cNvPr id="4908" name="Google Shape;4908;p79"/>
          <p:cNvSpPr txBox="1"/>
          <p:nvPr/>
        </p:nvSpPr>
        <p:spPr>
          <a:xfrm>
            <a:off x="8099025" y="2875307"/>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909" name="Google Shape;4909;p79"/>
          <p:cNvSpPr txBox="1"/>
          <p:nvPr/>
        </p:nvSpPr>
        <p:spPr>
          <a:xfrm>
            <a:off x="9202020" y="2878482"/>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10" name="Google Shape;4910;p79"/>
          <p:cNvSpPr txBox="1"/>
          <p:nvPr/>
        </p:nvSpPr>
        <p:spPr>
          <a:xfrm>
            <a:off x="9334991" y="2262532"/>
            <a:ext cx="3238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sp>
        <p:nvSpPr>
          <p:cNvPr id="4911" name="Google Shape;4911;p79"/>
          <p:cNvSpPr txBox="1"/>
          <p:nvPr/>
        </p:nvSpPr>
        <p:spPr>
          <a:xfrm>
            <a:off x="5923515" y="2249832"/>
            <a:ext cx="3492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a:t>
            </a:r>
            <a:endParaRPr/>
          </a:p>
        </p:txBody>
      </p:sp>
      <p:sp>
        <p:nvSpPr>
          <p:cNvPr id="4912" name="Google Shape;4912;p79"/>
          <p:cNvSpPr txBox="1"/>
          <p:nvPr/>
        </p:nvSpPr>
        <p:spPr>
          <a:xfrm>
            <a:off x="7311307" y="2253007"/>
            <a:ext cx="3492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a:t>
            </a:r>
            <a:endParaRPr/>
          </a:p>
        </p:txBody>
      </p:sp>
      <p:grpSp>
        <p:nvGrpSpPr>
          <p:cNvPr id="4913" name="Google Shape;4913;p79"/>
          <p:cNvGrpSpPr/>
          <p:nvPr/>
        </p:nvGrpSpPr>
        <p:grpSpPr>
          <a:xfrm>
            <a:off x="5730326" y="2580911"/>
            <a:ext cx="735192" cy="352789"/>
            <a:chOff x="7493876" y="2774731"/>
            <a:chExt cx="1481958" cy="894622"/>
          </a:xfrm>
        </p:grpSpPr>
        <p:sp>
          <p:nvSpPr>
            <p:cNvPr id="4914" name="Google Shape;4914;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15" name="Google Shape;4915;p79"/>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16" name="Google Shape;4916;p79"/>
            <p:cNvGrpSpPr/>
            <p:nvPr/>
          </p:nvGrpSpPr>
          <p:grpSpPr>
            <a:xfrm>
              <a:off x="7713663" y="2848339"/>
              <a:ext cx="1042107" cy="425543"/>
              <a:chOff x="7786941" y="2884917"/>
              <a:chExt cx="897649" cy="353919"/>
            </a:xfrm>
          </p:grpSpPr>
          <p:sp>
            <p:nvSpPr>
              <p:cNvPr id="4917" name="Google Shape;4917;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18" name="Google Shape;4918;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19" name="Google Shape;4919;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20" name="Google Shape;4920;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21" name="Google Shape;4921;p79"/>
          <p:cNvGrpSpPr/>
          <p:nvPr/>
        </p:nvGrpSpPr>
        <p:grpSpPr>
          <a:xfrm>
            <a:off x="3670217" y="2228091"/>
            <a:ext cx="1845462" cy="967204"/>
            <a:chOff x="3670217" y="2254595"/>
            <a:chExt cx="1845462" cy="967204"/>
          </a:xfrm>
        </p:grpSpPr>
        <p:sp>
          <p:nvSpPr>
            <p:cNvPr id="4922" name="Google Shape;4922;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923" name="Google Shape;4923;p79"/>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924" name="Google Shape;4924;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25" name="Google Shape;4925;p79"/>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26" name="Google Shape;4926;p79"/>
            <p:cNvSpPr txBox="1"/>
            <p:nvPr/>
          </p:nvSpPr>
          <p:spPr>
            <a:xfrm>
              <a:off x="464653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927" name="Google Shape;4927;p79"/>
            <p:cNvGrpSpPr/>
            <p:nvPr/>
          </p:nvGrpSpPr>
          <p:grpSpPr>
            <a:xfrm>
              <a:off x="3670217" y="2586162"/>
              <a:ext cx="731126" cy="344556"/>
              <a:chOff x="7493876" y="2774731"/>
              <a:chExt cx="1481958" cy="894622"/>
            </a:xfrm>
          </p:grpSpPr>
          <p:sp>
            <p:nvSpPr>
              <p:cNvPr id="4928" name="Google Shape;4928;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29" name="Google Shape;4929;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30" name="Google Shape;4930;p79"/>
              <p:cNvGrpSpPr/>
              <p:nvPr/>
            </p:nvGrpSpPr>
            <p:grpSpPr>
              <a:xfrm>
                <a:off x="7713663" y="2848339"/>
                <a:ext cx="1042107" cy="425543"/>
                <a:chOff x="7786941" y="2884917"/>
                <a:chExt cx="897649" cy="353919"/>
              </a:xfrm>
            </p:grpSpPr>
            <p:sp>
              <p:nvSpPr>
                <p:cNvPr id="4931" name="Google Shape;4931;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2" name="Google Shape;4932;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3" name="Google Shape;4933;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34" name="Google Shape;4934;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35" name="Google Shape;4935;p79"/>
            <p:cNvGrpSpPr/>
            <p:nvPr/>
          </p:nvGrpSpPr>
          <p:grpSpPr>
            <a:xfrm>
              <a:off x="4703149" y="2589549"/>
              <a:ext cx="731126" cy="344556"/>
              <a:chOff x="7493876" y="2774731"/>
              <a:chExt cx="1481958" cy="894622"/>
            </a:xfrm>
          </p:grpSpPr>
          <p:sp>
            <p:nvSpPr>
              <p:cNvPr id="4936" name="Google Shape;4936;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37" name="Google Shape;4937;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38" name="Google Shape;4938;p79"/>
              <p:cNvGrpSpPr/>
              <p:nvPr/>
            </p:nvGrpSpPr>
            <p:grpSpPr>
              <a:xfrm>
                <a:off x="7713663" y="2848339"/>
                <a:ext cx="1042107" cy="425543"/>
                <a:chOff x="7786941" y="2884917"/>
                <a:chExt cx="897649" cy="353919"/>
              </a:xfrm>
            </p:grpSpPr>
            <p:sp>
              <p:nvSpPr>
                <p:cNvPr id="4939" name="Google Shape;4939;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0" name="Google Shape;4940;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1" name="Google Shape;4941;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2" name="Google Shape;4942;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943" name="Google Shape;4943;p79"/>
          <p:cNvGrpSpPr/>
          <p:nvPr/>
        </p:nvGrpSpPr>
        <p:grpSpPr>
          <a:xfrm>
            <a:off x="8149080" y="2589144"/>
            <a:ext cx="731126" cy="344556"/>
            <a:chOff x="7493876" y="2774731"/>
            <a:chExt cx="1481958" cy="894622"/>
          </a:xfrm>
        </p:grpSpPr>
        <p:sp>
          <p:nvSpPr>
            <p:cNvPr id="4944" name="Google Shape;4944;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45" name="Google Shape;4945;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46" name="Google Shape;4946;p79"/>
            <p:cNvGrpSpPr/>
            <p:nvPr/>
          </p:nvGrpSpPr>
          <p:grpSpPr>
            <a:xfrm>
              <a:off x="7713663" y="2848339"/>
              <a:ext cx="1042107" cy="425543"/>
              <a:chOff x="7786941" y="2884917"/>
              <a:chExt cx="897649" cy="353919"/>
            </a:xfrm>
          </p:grpSpPr>
          <p:sp>
            <p:nvSpPr>
              <p:cNvPr id="4947" name="Google Shape;4947;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8" name="Google Shape;4948;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49" name="Google Shape;4949;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0" name="Google Shape;4950;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51" name="Google Shape;4951;p79"/>
          <p:cNvGrpSpPr/>
          <p:nvPr/>
        </p:nvGrpSpPr>
        <p:grpSpPr>
          <a:xfrm>
            <a:off x="9154917" y="2589144"/>
            <a:ext cx="731126" cy="344556"/>
            <a:chOff x="7493876" y="2774731"/>
            <a:chExt cx="1481958" cy="894622"/>
          </a:xfrm>
        </p:grpSpPr>
        <p:sp>
          <p:nvSpPr>
            <p:cNvPr id="4952" name="Google Shape;4952;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53" name="Google Shape;4953;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54" name="Google Shape;4954;p79"/>
            <p:cNvGrpSpPr/>
            <p:nvPr/>
          </p:nvGrpSpPr>
          <p:grpSpPr>
            <a:xfrm>
              <a:off x="7713663" y="2848339"/>
              <a:ext cx="1042107" cy="425543"/>
              <a:chOff x="7786941" y="2884917"/>
              <a:chExt cx="897649" cy="353919"/>
            </a:xfrm>
          </p:grpSpPr>
          <p:sp>
            <p:nvSpPr>
              <p:cNvPr id="4955" name="Google Shape;4955;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6" name="Google Shape;4956;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7" name="Google Shape;4957;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58" name="Google Shape;4958;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59" name="Google Shape;4959;p79"/>
          <p:cNvGrpSpPr/>
          <p:nvPr/>
        </p:nvGrpSpPr>
        <p:grpSpPr>
          <a:xfrm>
            <a:off x="7115503" y="2580911"/>
            <a:ext cx="735192" cy="352789"/>
            <a:chOff x="7493876" y="2774731"/>
            <a:chExt cx="1481958" cy="894622"/>
          </a:xfrm>
        </p:grpSpPr>
        <p:sp>
          <p:nvSpPr>
            <p:cNvPr id="4960" name="Google Shape;4960;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61" name="Google Shape;4961;p79"/>
            <p:cNvSpPr/>
            <p:nvPr/>
          </p:nvSpPr>
          <p:spPr>
            <a:xfrm>
              <a:off x="7494729" y="2774731"/>
              <a:ext cx="1480163" cy="579140"/>
            </a:xfrm>
            <a:prstGeom prst="ellipse">
              <a:avLst/>
            </a:prstGeom>
            <a:solidFill>
              <a:srgbClr val="B8C2C9"/>
            </a:solidFill>
            <a:ln cap="flat" cmpd="sng" w="9525">
              <a:solidFill>
                <a:srgbClr val="E4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62" name="Google Shape;4962;p79"/>
            <p:cNvGrpSpPr/>
            <p:nvPr/>
          </p:nvGrpSpPr>
          <p:grpSpPr>
            <a:xfrm>
              <a:off x="7713663" y="2848339"/>
              <a:ext cx="1042107" cy="425543"/>
              <a:chOff x="7786941" y="2884917"/>
              <a:chExt cx="897649" cy="353919"/>
            </a:xfrm>
          </p:grpSpPr>
          <p:sp>
            <p:nvSpPr>
              <p:cNvPr id="4963" name="Google Shape;4963;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4" name="Google Shape;4964;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5" name="Google Shape;4965;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66" name="Google Shape;4966;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4967" name="Google Shape;4967;p79"/>
          <p:cNvSpPr/>
          <p:nvPr/>
        </p:nvSpPr>
        <p:spPr>
          <a:xfrm>
            <a:off x="5385351" y="1603264"/>
            <a:ext cx="2751341" cy="76275"/>
          </a:xfrm>
          <a:prstGeom prst="rect">
            <a:avLst/>
          </a:prstGeom>
          <a:solidFill>
            <a:srgbClr val="CC0000"/>
          </a:soli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8" name="Google Shape;4968;p79"/>
          <p:cNvSpPr txBox="1"/>
          <p:nvPr/>
        </p:nvSpPr>
        <p:spPr>
          <a:xfrm>
            <a:off x="1850265" y="1375666"/>
            <a:ext cx="170989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logical view:</a:t>
            </a:r>
            <a:endParaRPr/>
          </a:p>
        </p:txBody>
      </p:sp>
      <p:sp>
        <p:nvSpPr>
          <p:cNvPr id="4969" name="Google Shape;4969;p79"/>
          <p:cNvSpPr txBox="1"/>
          <p:nvPr/>
        </p:nvSpPr>
        <p:spPr>
          <a:xfrm>
            <a:off x="5677401" y="1119786"/>
            <a:ext cx="2319337" cy="5080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IPv4 tunnel </a:t>
            </a:r>
            <a:endParaRPr/>
          </a:p>
          <a:p>
            <a:pPr indent="0" lvl="0" marL="0" marR="0" rtl="0" algn="ct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connecting IPv6 routers</a:t>
            </a:r>
            <a:endParaRPr/>
          </a:p>
        </p:txBody>
      </p:sp>
      <p:grpSp>
        <p:nvGrpSpPr>
          <p:cNvPr id="4970" name="Google Shape;4970;p79"/>
          <p:cNvGrpSpPr/>
          <p:nvPr/>
        </p:nvGrpSpPr>
        <p:grpSpPr>
          <a:xfrm>
            <a:off x="3663591" y="1108282"/>
            <a:ext cx="1860702" cy="967204"/>
            <a:chOff x="3670217" y="2254595"/>
            <a:chExt cx="1860702" cy="967204"/>
          </a:xfrm>
        </p:grpSpPr>
        <p:sp>
          <p:nvSpPr>
            <p:cNvPr id="4971" name="Google Shape;4971;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a:t>
              </a:r>
              <a:endParaRPr/>
            </a:p>
          </p:txBody>
        </p:sp>
        <p:sp>
          <p:nvSpPr>
            <p:cNvPr id="4972" name="Google Shape;4972;p79"/>
            <p:cNvSpPr txBox="1"/>
            <p:nvPr/>
          </p:nvSpPr>
          <p:spPr>
            <a:xfrm>
              <a:off x="4904340"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a:t>
              </a:r>
              <a:endParaRPr/>
            </a:p>
          </p:txBody>
        </p:sp>
        <p:cxnSp>
          <p:nvCxnSpPr>
            <p:cNvPr id="4973" name="Google Shape;4973;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74" name="Google Shape;4974;p79"/>
            <p:cNvSpPr txBox="1"/>
            <p:nvPr/>
          </p:nvSpPr>
          <p:spPr>
            <a:xfrm>
              <a:off x="3737527" y="2881658"/>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sp>
          <p:nvSpPr>
            <p:cNvPr id="4975" name="Google Shape;4975;p79"/>
            <p:cNvSpPr txBox="1"/>
            <p:nvPr/>
          </p:nvSpPr>
          <p:spPr>
            <a:xfrm>
              <a:off x="4661770" y="2883245"/>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grpSp>
          <p:nvGrpSpPr>
            <p:cNvPr id="4976" name="Google Shape;4976;p79"/>
            <p:cNvGrpSpPr/>
            <p:nvPr/>
          </p:nvGrpSpPr>
          <p:grpSpPr>
            <a:xfrm>
              <a:off x="3670217" y="2586162"/>
              <a:ext cx="731126" cy="344556"/>
              <a:chOff x="7493876" y="2774731"/>
              <a:chExt cx="1481958" cy="894622"/>
            </a:xfrm>
          </p:grpSpPr>
          <p:sp>
            <p:nvSpPr>
              <p:cNvPr id="4977" name="Google Shape;4977;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78" name="Google Shape;4978;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79" name="Google Shape;4979;p79"/>
              <p:cNvGrpSpPr/>
              <p:nvPr/>
            </p:nvGrpSpPr>
            <p:grpSpPr>
              <a:xfrm>
                <a:off x="7713663" y="2848339"/>
                <a:ext cx="1042107" cy="425543"/>
                <a:chOff x="7786941" y="2884917"/>
                <a:chExt cx="897649" cy="353919"/>
              </a:xfrm>
            </p:grpSpPr>
            <p:sp>
              <p:nvSpPr>
                <p:cNvPr id="4980" name="Google Shape;4980;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1" name="Google Shape;4981;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2" name="Google Shape;4982;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3" name="Google Shape;4983;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4984" name="Google Shape;4984;p79"/>
            <p:cNvGrpSpPr/>
            <p:nvPr/>
          </p:nvGrpSpPr>
          <p:grpSpPr>
            <a:xfrm>
              <a:off x="4703149" y="2589549"/>
              <a:ext cx="731126" cy="344556"/>
              <a:chOff x="7493876" y="2774731"/>
              <a:chExt cx="1481958" cy="894622"/>
            </a:xfrm>
          </p:grpSpPr>
          <p:sp>
            <p:nvSpPr>
              <p:cNvPr id="4985" name="Google Shape;4985;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4986" name="Google Shape;4986;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4987" name="Google Shape;4987;p79"/>
              <p:cNvGrpSpPr/>
              <p:nvPr/>
            </p:nvGrpSpPr>
            <p:grpSpPr>
              <a:xfrm>
                <a:off x="7713663" y="2848339"/>
                <a:ext cx="1042107" cy="425543"/>
                <a:chOff x="7786941" y="2884917"/>
                <a:chExt cx="897649" cy="353919"/>
              </a:xfrm>
            </p:grpSpPr>
            <p:sp>
              <p:nvSpPr>
                <p:cNvPr id="4988" name="Google Shape;4988;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89" name="Google Shape;4989;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0" name="Google Shape;4990;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1" name="Google Shape;4991;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4992" name="Google Shape;4992;p79"/>
          <p:cNvGrpSpPr/>
          <p:nvPr/>
        </p:nvGrpSpPr>
        <p:grpSpPr>
          <a:xfrm>
            <a:off x="8121650" y="1138202"/>
            <a:ext cx="1788188" cy="965617"/>
            <a:chOff x="3646087" y="2254595"/>
            <a:chExt cx="1788188" cy="965617"/>
          </a:xfrm>
        </p:grpSpPr>
        <p:sp>
          <p:nvSpPr>
            <p:cNvPr id="4993" name="Google Shape;4993;p79"/>
            <p:cNvSpPr txBox="1"/>
            <p:nvPr/>
          </p:nvSpPr>
          <p:spPr>
            <a:xfrm>
              <a:off x="3858177" y="2254595"/>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a:t>
              </a:r>
              <a:endParaRPr/>
            </a:p>
          </p:txBody>
        </p:sp>
        <p:sp>
          <p:nvSpPr>
            <p:cNvPr id="4994" name="Google Shape;4994;p79"/>
            <p:cNvSpPr txBox="1"/>
            <p:nvPr/>
          </p:nvSpPr>
          <p:spPr>
            <a:xfrm>
              <a:off x="4888228" y="2259358"/>
              <a:ext cx="3365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t>
              </a:r>
              <a:endParaRPr/>
            </a:p>
          </p:txBody>
        </p:sp>
        <p:cxnSp>
          <p:nvCxnSpPr>
            <p:cNvPr id="4995" name="Google Shape;4995;p79"/>
            <p:cNvCxnSpPr/>
            <p:nvPr/>
          </p:nvCxnSpPr>
          <p:spPr>
            <a:xfrm>
              <a:off x="4399515" y="2772120"/>
              <a:ext cx="323850" cy="0"/>
            </a:xfrm>
            <a:prstGeom prst="straightConnector1">
              <a:avLst/>
            </a:prstGeom>
            <a:noFill/>
            <a:ln cap="flat" cmpd="sng" w="19050">
              <a:solidFill>
                <a:schemeClr val="dk1"/>
              </a:solidFill>
              <a:prstDash val="solid"/>
              <a:round/>
              <a:headEnd len="med" w="med" type="none"/>
              <a:tailEnd len="med" w="med" type="none"/>
            </a:ln>
          </p:spPr>
        </p:cxnSp>
        <p:sp>
          <p:nvSpPr>
            <p:cNvPr id="4996" name="Google Shape;4996;p79"/>
            <p:cNvSpPr txBox="1"/>
            <p:nvPr/>
          </p:nvSpPr>
          <p:spPr>
            <a:xfrm>
              <a:off x="3646087" y="2881658"/>
              <a:ext cx="86914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r>
                <a:rPr b="0" i="0" lang="en-US" sz="1600" u="none" cap="none" strike="noStrike">
                  <a:solidFill>
                    <a:srgbClr val="C00000"/>
                  </a:solidFill>
                  <a:latin typeface="Arial"/>
                  <a:ea typeface="Arial"/>
                  <a:cs typeface="Arial"/>
                  <a:sym typeface="Arial"/>
                </a:rPr>
                <a:t>v4</a:t>
              </a:r>
              <a:endParaRPr/>
            </a:p>
          </p:txBody>
        </p:sp>
        <p:sp>
          <p:nvSpPr>
            <p:cNvPr id="4997" name="Google Shape;4997;p79"/>
            <p:cNvSpPr txBox="1"/>
            <p:nvPr/>
          </p:nvSpPr>
          <p:spPr>
            <a:xfrm>
              <a:off x="4783690" y="2883245"/>
              <a:ext cx="5905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grpSp>
          <p:nvGrpSpPr>
            <p:cNvPr id="4998" name="Google Shape;4998;p79"/>
            <p:cNvGrpSpPr/>
            <p:nvPr/>
          </p:nvGrpSpPr>
          <p:grpSpPr>
            <a:xfrm>
              <a:off x="3670217" y="2586162"/>
              <a:ext cx="731126" cy="344556"/>
              <a:chOff x="7493876" y="2774731"/>
              <a:chExt cx="1481958" cy="894622"/>
            </a:xfrm>
          </p:grpSpPr>
          <p:sp>
            <p:nvSpPr>
              <p:cNvPr id="4999" name="Google Shape;4999;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000" name="Google Shape;5000;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001" name="Google Shape;5001;p79"/>
              <p:cNvGrpSpPr/>
              <p:nvPr/>
            </p:nvGrpSpPr>
            <p:grpSpPr>
              <a:xfrm>
                <a:off x="7713663" y="2848339"/>
                <a:ext cx="1042107" cy="425543"/>
                <a:chOff x="7786941" y="2884917"/>
                <a:chExt cx="897649" cy="353919"/>
              </a:xfrm>
            </p:grpSpPr>
            <p:sp>
              <p:nvSpPr>
                <p:cNvPr id="5002" name="Google Shape;5002;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3" name="Google Shape;5003;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4" name="Google Shape;5004;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5" name="Google Shape;5005;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006" name="Google Shape;5006;p79"/>
            <p:cNvGrpSpPr/>
            <p:nvPr/>
          </p:nvGrpSpPr>
          <p:grpSpPr>
            <a:xfrm>
              <a:off x="4703149" y="2589549"/>
              <a:ext cx="731126" cy="344556"/>
              <a:chOff x="7493876" y="2774731"/>
              <a:chExt cx="1481958" cy="894622"/>
            </a:xfrm>
          </p:grpSpPr>
          <p:sp>
            <p:nvSpPr>
              <p:cNvPr id="5007" name="Google Shape;5007;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008" name="Google Shape;5008;p79"/>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009" name="Google Shape;5009;p79"/>
              <p:cNvGrpSpPr/>
              <p:nvPr/>
            </p:nvGrpSpPr>
            <p:grpSpPr>
              <a:xfrm>
                <a:off x="7713663" y="2848339"/>
                <a:ext cx="1042107" cy="425543"/>
                <a:chOff x="7786941" y="2884917"/>
                <a:chExt cx="897649" cy="353919"/>
              </a:xfrm>
            </p:grpSpPr>
            <p:sp>
              <p:nvSpPr>
                <p:cNvPr id="5010" name="Google Shape;5010;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1" name="Google Shape;5011;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2" name="Google Shape;5012;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3" name="Google Shape;5013;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nvGrpSpPr>
          <p:cNvPr id="5014" name="Google Shape;5014;p79"/>
          <p:cNvGrpSpPr/>
          <p:nvPr/>
        </p:nvGrpSpPr>
        <p:grpSpPr>
          <a:xfrm>
            <a:off x="4068210" y="3305037"/>
            <a:ext cx="817562" cy="2981325"/>
            <a:chOff x="1611" y="2132"/>
            <a:chExt cx="515" cy="1878"/>
          </a:xfrm>
        </p:grpSpPr>
        <p:grpSp>
          <p:nvGrpSpPr>
            <p:cNvPr id="5015" name="Google Shape;5015;p79"/>
            <p:cNvGrpSpPr/>
            <p:nvPr/>
          </p:nvGrpSpPr>
          <p:grpSpPr>
            <a:xfrm>
              <a:off x="1634" y="2200"/>
              <a:ext cx="476" cy="908"/>
              <a:chOff x="652" y="2144"/>
              <a:chExt cx="476" cy="908"/>
            </a:xfrm>
          </p:grpSpPr>
          <p:sp>
            <p:nvSpPr>
              <p:cNvPr id="5016" name="Google Shape;5016;p79"/>
              <p:cNvSpPr/>
              <p:nvPr/>
            </p:nvSpPr>
            <p:spPr>
              <a:xfrm>
                <a:off x="652" y="2144"/>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17" name="Google Shape;5017;p79"/>
              <p:cNvSpPr txBox="1"/>
              <p:nvPr/>
            </p:nvSpPr>
            <p:spPr>
              <a:xfrm>
                <a:off x="667" y="2162"/>
                <a:ext cx="461"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cxnSp>
          <p:nvCxnSpPr>
            <p:cNvPr id="5018" name="Google Shape;5018;p79"/>
            <p:cNvCxnSpPr/>
            <p:nvPr/>
          </p:nvCxnSpPr>
          <p:spPr>
            <a:xfrm>
              <a:off x="1661" y="2132"/>
              <a:ext cx="434" cy="0"/>
            </a:xfrm>
            <a:prstGeom prst="straightConnector1">
              <a:avLst/>
            </a:prstGeom>
            <a:noFill/>
            <a:ln cap="flat" cmpd="sng" w="19050">
              <a:solidFill>
                <a:schemeClr val="dk1"/>
              </a:solidFill>
              <a:prstDash val="solid"/>
              <a:round/>
              <a:headEnd len="med" w="med" type="none"/>
              <a:tailEnd len="med" w="med" type="triangle"/>
            </a:ln>
          </p:spPr>
        </p:cxnSp>
        <p:sp>
          <p:nvSpPr>
            <p:cNvPr id="5019" name="Google Shape;5019;p79"/>
            <p:cNvSpPr txBox="1"/>
            <p:nvPr/>
          </p:nvSpPr>
          <p:spPr>
            <a:xfrm>
              <a:off x="1611" y="3690"/>
              <a:ext cx="515" cy="32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A-to-B:</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cxnSp>
          <p:nvCxnSpPr>
            <p:cNvPr id="5020" name="Google Shape;5020;p79"/>
            <p:cNvCxnSpPr/>
            <p:nvPr/>
          </p:nvCxnSpPr>
          <p:spPr>
            <a:xfrm>
              <a:off x="1856" y="3230"/>
              <a:ext cx="0" cy="495"/>
            </a:xfrm>
            <a:prstGeom prst="straightConnector1">
              <a:avLst/>
            </a:prstGeom>
            <a:noFill/>
            <a:ln cap="flat" cmpd="sng" w="9525">
              <a:solidFill>
                <a:schemeClr val="dk1"/>
              </a:solidFill>
              <a:prstDash val="solid"/>
              <a:round/>
              <a:headEnd len="med" w="med" type="triangle"/>
              <a:tailEnd len="med" w="med" type="none"/>
            </a:ln>
          </p:spPr>
        </p:cxnSp>
      </p:grpSp>
      <p:grpSp>
        <p:nvGrpSpPr>
          <p:cNvPr id="5021" name="Google Shape;5021;p79"/>
          <p:cNvGrpSpPr/>
          <p:nvPr/>
        </p:nvGrpSpPr>
        <p:grpSpPr>
          <a:xfrm>
            <a:off x="5052460" y="3297100"/>
            <a:ext cx="1176337" cy="3319462"/>
            <a:chOff x="2231" y="2127"/>
            <a:chExt cx="741" cy="2091"/>
          </a:xfrm>
        </p:grpSpPr>
        <p:grpSp>
          <p:nvGrpSpPr>
            <p:cNvPr id="5022" name="Google Shape;5022;p79"/>
            <p:cNvGrpSpPr/>
            <p:nvPr/>
          </p:nvGrpSpPr>
          <p:grpSpPr>
            <a:xfrm>
              <a:off x="2262" y="2194"/>
              <a:ext cx="583" cy="1388"/>
              <a:chOff x="478" y="2082"/>
              <a:chExt cx="583" cy="1388"/>
            </a:xfrm>
          </p:grpSpPr>
          <p:sp>
            <p:nvSpPr>
              <p:cNvPr id="5023" name="Google Shape;5023;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24" name="Google Shape;5024;p79"/>
              <p:cNvGrpSpPr/>
              <p:nvPr/>
            </p:nvGrpSpPr>
            <p:grpSpPr>
              <a:xfrm>
                <a:off x="499" y="2471"/>
                <a:ext cx="493" cy="908"/>
                <a:chOff x="4869" y="143"/>
                <a:chExt cx="493" cy="908"/>
              </a:xfrm>
            </p:grpSpPr>
            <p:sp>
              <p:nvSpPr>
                <p:cNvPr id="5025" name="Google Shape;5025;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6" name="Google Shape;5026;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5027" name="Google Shape;5027;p79"/>
              <p:cNvSpPr txBox="1"/>
              <p:nvPr/>
            </p:nvSpPr>
            <p:spPr>
              <a:xfrm>
                <a:off x="48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cxnSp>
          <p:nvCxnSpPr>
            <p:cNvPr id="5028" name="Google Shape;5028;p79"/>
            <p:cNvCxnSpPr/>
            <p:nvPr/>
          </p:nvCxnSpPr>
          <p:spPr>
            <a:xfrm>
              <a:off x="2345" y="2127"/>
              <a:ext cx="434" cy="0"/>
            </a:xfrm>
            <a:prstGeom prst="straightConnector1">
              <a:avLst/>
            </a:prstGeom>
            <a:noFill/>
            <a:ln cap="flat" cmpd="sng" w="19050">
              <a:solidFill>
                <a:schemeClr val="dk1"/>
              </a:solidFill>
              <a:prstDash val="solid"/>
              <a:round/>
              <a:headEnd len="med" w="med" type="none"/>
              <a:tailEnd len="med" w="med" type="triangle"/>
            </a:ln>
          </p:spPr>
        </p:cxnSp>
        <p:sp>
          <p:nvSpPr>
            <p:cNvPr id="5029" name="Google Shape;5029;p79"/>
            <p:cNvSpPr txBox="1"/>
            <p:nvPr/>
          </p:nvSpPr>
          <p:spPr>
            <a:xfrm>
              <a:off x="2231" y="3767"/>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5030" name="Google Shape;5030;p79"/>
            <p:cNvCxnSpPr/>
            <p:nvPr/>
          </p:nvCxnSpPr>
          <p:spPr>
            <a:xfrm>
              <a:off x="2588" y="3604"/>
              <a:ext cx="0" cy="116"/>
            </a:xfrm>
            <a:prstGeom prst="straightConnector1">
              <a:avLst/>
            </a:prstGeom>
            <a:noFill/>
            <a:ln cap="flat" cmpd="sng" w="9525">
              <a:solidFill>
                <a:schemeClr val="dk1"/>
              </a:solidFill>
              <a:prstDash val="solid"/>
              <a:round/>
              <a:headEnd len="med" w="med" type="triangle"/>
              <a:tailEnd len="med" w="med" type="none"/>
            </a:ln>
          </p:spPr>
        </p:cxnSp>
      </p:grpSp>
      <p:grpSp>
        <p:nvGrpSpPr>
          <p:cNvPr id="5031" name="Google Shape;5031;p79"/>
          <p:cNvGrpSpPr/>
          <p:nvPr/>
        </p:nvGrpSpPr>
        <p:grpSpPr>
          <a:xfrm>
            <a:off x="8670690" y="3300275"/>
            <a:ext cx="881062" cy="2998787"/>
            <a:chOff x="4251" y="2129"/>
            <a:chExt cx="555" cy="1889"/>
          </a:xfrm>
        </p:grpSpPr>
        <p:cxnSp>
          <p:nvCxnSpPr>
            <p:cNvPr id="5032" name="Google Shape;5032;p79"/>
            <p:cNvCxnSpPr/>
            <p:nvPr/>
          </p:nvCxnSpPr>
          <p:spPr>
            <a:xfrm>
              <a:off x="4292" y="2129"/>
              <a:ext cx="434" cy="0"/>
            </a:xfrm>
            <a:prstGeom prst="straightConnector1">
              <a:avLst/>
            </a:prstGeom>
            <a:noFill/>
            <a:ln cap="flat" cmpd="sng" w="19050">
              <a:solidFill>
                <a:schemeClr val="dk1"/>
              </a:solidFill>
              <a:prstDash val="solid"/>
              <a:round/>
              <a:headEnd len="med" w="med" type="none"/>
              <a:tailEnd len="med" w="med" type="triangle"/>
            </a:ln>
          </p:spPr>
        </p:cxnSp>
        <p:sp>
          <p:nvSpPr>
            <p:cNvPr id="5033" name="Google Shape;5033;p79"/>
            <p:cNvSpPr txBox="1"/>
            <p:nvPr/>
          </p:nvSpPr>
          <p:spPr>
            <a:xfrm>
              <a:off x="4298" y="3698"/>
              <a:ext cx="508" cy="32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E-to-F:</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a:t>
              </a:r>
              <a:endParaRPr/>
            </a:p>
          </p:txBody>
        </p:sp>
        <p:cxnSp>
          <p:nvCxnSpPr>
            <p:cNvPr id="5034" name="Google Shape;5034;p79"/>
            <p:cNvCxnSpPr/>
            <p:nvPr/>
          </p:nvCxnSpPr>
          <p:spPr>
            <a:xfrm>
              <a:off x="4540" y="3238"/>
              <a:ext cx="0" cy="495"/>
            </a:xfrm>
            <a:prstGeom prst="straightConnector1">
              <a:avLst/>
            </a:prstGeom>
            <a:noFill/>
            <a:ln cap="flat" cmpd="sng" w="9525">
              <a:solidFill>
                <a:schemeClr val="dk1"/>
              </a:solidFill>
              <a:prstDash val="solid"/>
              <a:round/>
              <a:headEnd len="med" w="med" type="triangle"/>
              <a:tailEnd len="med" w="med" type="none"/>
            </a:ln>
          </p:spPr>
        </p:cxnSp>
        <p:grpSp>
          <p:nvGrpSpPr>
            <p:cNvPr id="5035" name="Google Shape;5035;p79"/>
            <p:cNvGrpSpPr/>
            <p:nvPr/>
          </p:nvGrpSpPr>
          <p:grpSpPr>
            <a:xfrm>
              <a:off x="4251" y="2205"/>
              <a:ext cx="471" cy="908"/>
              <a:chOff x="643" y="2144"/>
              <a:chExt cx="471" cy="908"/>
            </a:xfrm>
          </p:grpSpPr>
          <p:sp>
            <p:nvSpPr>
              <p:cNvPr id="5036" name="Google Shape;5036;p79"/>
              <p:cNvSpPr/>
              <p:nvPr/>
            </p:nvSpPr>
            <p:spPr>
              <a:xfrm>
                <a:off x="652" y="2144"/>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7" name="Google Shape;5037;p79"/>
              <p:cNvSpPr txBox="1"/>
              <p:nvPr/>
            </p:nvSpPr>
            <p:spPr>
              <a:xfrm>
                <a:off x="643" y="2169"/>
                <a:ext cx="461"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grpSp>
      <p:grpSp>
        <p:nvGrpSpPr>
          <p:cNvPr id="5038" name="Google Shape;5038;p79"/>
          <p:cNvGrpSpPr/>
          <p:nvPr/>
        </p:nvGrpSpPr>
        <p:grpSpPr>
          <a:xfrm>
            <a:off x="7489590" y="3298687"/>
            <a:ext cx="1176337" cy="3330575"/>
            <a:chOff x="3507" y="2128"/>
            <a:chExt cx="741" cy="2098"/>
          </a:xfrm>
        </p:grpSpPr>
        <p:cxnSp>
          <p:nvCxnSpPr>
            <p:cNvPr id="5039" name="Google Shape;5039;p79"/>
            <p:cNvCxnSpPr/>
            <p:nvPr/>
          </p:nvCxnSpPr>
          <p:spPr>
            <a:xfrm>
              <a:off x="3627" y="2128"/>
              <a:ext cx="434" cy="0"/>
            </a:xfrm>
            <a:prstGeom prst="straightConnector1">
              <a:avLst/>
            </a:prstGeom>
            <a:noFill/>
            <a:ln cap="flat" cmpd="sng" w="19050">
              <a:solidFill>
                <a:schemeClr val="dk1"/>
              </a:solidFill>
              <a:prstDash val="solid"/>
              <a:round/>
              <a:headEnd len="med" w="med" type="none"/>
              <a:tailEnd len="med" w="med" type="triangle"/>
            </a:ln>
          </p:spPr>
        </p:cxnSp>
        <p:sp>
          <p:nvSpPr>
            <p:cNvPr id="5040" name="Google Shape;5040;p79"/>
            <p:cNvSpPr txBox="1"/>
            <p:nvPr/>
          </p:nvSpPr>
          <p:spPr>
            <a:xfrm>
              <a:off x="3507" y="3775"/>
              <a:ext cx="741" cy="45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B-to-C:</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IPv6 inside</a:t>
              </a:r>
              <a:endParaRPr/>
            </a:p>
            <a:p>
              <a:pPr indent="0" lvl="0" marL="0" marR="0" rtl="0" algn="ctr">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IPv4</a:t>
              </a:r>
              <a:endParaRPr/>
            </a:p>
          </p:txBody>
        </p:sp>
        <p:cxnSp>
          <p:nvCxnSpPr>
            <p:cNvPr id="5041" name="Google Shape;5041;p79"/>
            <p:cNvCxnSpPr/>
            <p:nvPr/>
          </p:nvCxnSpPr>
          <p:spPr>
            <a:xfrm>
              <a:off x="3883" y="3640"/>
              <a:ext cx="0" cy="116"/>
            </a:xfrm>
            <a:prstGeom prst="straightConnector1">
              <a:avLst/>
            </a:prstGeom>
            <a:noFill/>
            <a:ln cap="flat" cmpd="sng" w="9525">
              <a:solidFill>
                <a:schemeClr val="dk1"/>
              </a:solidFill>
              <a:prstDash val="solid"/>
              <a:round/>
              <a:headEnd len="med" w="med" type="triangle"/>
              <a:tailEnd len="med" w="med" type="none"/>
            </a:ln>
          </p:spPr>
        </p:cxnSp>
        <p:grpSp>
          <p:nvGrpSpPr>
            <p:cNvPr id="5042" name="Google Shape;5042;p79"/>
            <p:cNvGrpSpPr/>
            <p:nvPr/>
          </p:nvGrpSpPr>
          <p:grpSpPr>
            <a:xfrm>
              <a:off x="3558" y="2220"/>
              <a:ext cx="583" cy="1388"/>
              <a:chOff x="478" y="2082"/>
              <a:chExt cx="583" cy="1388"/>
            </a:xfrm>
          </p:grpSpPr>
          <p:sp>
            <p:nvSpPr>
              <p:cNvPr id="5043" name="Google Shape;5043;p79"/>
              <p:cNvSpPr/>
              <p:nvPr/>
            </p:nvSpPr>
            <p:spPr>
              <a:xfrm>
                <a:off x="478" y="2088"/>
                <a:ext cx="583" cy="1382"/>
              </a:xfrm>
              <a:prstGeom prst="rect">
                <a:avLst/>
              </a:prstGeom>
              <a:solidFill>
                <a:srgbClr val="CC0000"/>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044" name="Google Shape;5044;p79"/>
              <p:cNvGrpSpPr/>
              <p:nvPr/>
            </p:nvGrpSpPr>
            <p:grpSpPr>
              <a:xfrm>
                <a:off x="499" y="2471"/>
                <a:ext cx="493" cy="908"/>
                <a:chOff x="4869" y="143"/>
                <a:chExt cx="493" cy="908"/>
              </a:xfrm>
            </p:grpSpPr>
            <p:sp>
              <p:nvSpPr>
                <p:cNvPr id="5045" name="Google Shape;5045;p79"/>
                <p:cNvSpPr/>
                <p:nvPr/>
              </p:nvSpPr>
              <p:spPr>
                <a:xfrm>
                  <a:off x="4893" y="143"/>
                  <a:ext cx="462" cy="908"/>
                </a:xfrm>
                <a:prstGeom prst="rect">
                  <a:avLst/>
                </a:prstGeom>
                <a:solidFill>
                  <a:srgbClr val="B5E7FF"/>
                </a:solidFill>
                <a:ln cap="flat" cmpd="sng" w="9525">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6" name="Google Shape;5046;p79"/>
                <p:cNvSpPr txBox="1"/>
                <p:nvPr/>
              </p:nvSpPr>
              <p:spPr>
                <a:xfrm>
                  <a:off x="4869" y="161"/>
                  <a:ext cx="493" cy="8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Flow: X</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Src: 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Dest: F</a:t>
                  </a:r>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data</a:t>
                  </a:r>
                  <a:endParaRPr/>
                </a:p>
              </p:txBody>
            </p:sp>
          </p:grpSp>
          <p:sp>
            <p:nvSpPr>
              <p:cNvPr id="5047" name="Google Shape;5047;p79"/>
              <p:cNvSpPr txBox="1"/>
              <p:nvPr/>
            </p:nvSpPr>
            <p:spPr>
              <a:xfrm>
                <a:off x="481" y="2082"/>
                <a:ext cx="564"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src:B</a:t>
                </a:r>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dest: E</a:t>
                </a:r>
                <a:endParaRPr/>
              </a:p>
            </p:txBody>
          </p:sp>
        </p:grpSp>
      </p:grpSp>
      <p:sp>
        <p:nvSpPr>
          <p:cNvPr id="5048" name="Google Shape;5048;p79"/>
          <p:cNvSpPr/>
          <p:nvPr/>
        </p:nvSpPr>
        <p:spPr>
          <a:xfrm>
            <a:off x="5400881" y="1522904"/>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49" name="Google Shape;5049;p79"/>
          <p:cNvSpPr/>
          <p:nvPr/>
        </p:nvSpPr>
        <p:spPr>
          <a:xfrm>
            <a:off x="8135639" y="1540447"/>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0" name="Google Shape;5050;p79"/>
          <p:cNvSpPr/>
          <p:nvPr/>
        </p:nvSpPr>
        <p:spPr>
          <a:xfrm>
            <a:off x="5408555" y="2639042"/>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1" name="Google Shape;5051;p79"/>
          <p:cNvSpPr/>
          <p:nvPr/>
        </p:nvSpPr>
        <p:spPr>
          <a:xfrm>
            <a:off x="8123579" y="2663164"/>
            <a:ext cx="45719" cy="210509"/>
          </a:xfrm>
          <a:prstGeom prst="rect">
            <a:avLst/>
          </a:prstGeom>
          <a:solidFill>
            <a:srgbClr val="CC0001"/>
          </a:solidFill>
          <a:ln cap="flat" cmpd="sng" w="12700">
            <a:solidFill>
              <a:srgbClr val="CC00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052" name="Google Shape;5052;p79"/>
          <p:cNvGrpSpPr/>
          <p:nvPr/>
        </p:nvGrpSpPr>
        <p:grpSpPr>
          <a:xfrm>
            <a:off x="1285129" y="3401170"/>
            <a:ext cx="8091447" cy="2055959"/>
            <a:chOff x="-2159111" y="3797410"/>
            <a:chExt cx="8091447" cy="2055959"/>
          </a:xfrm>
        </p:grpSpPr>
        <p:grpSp>
          <p:nvGrpSpPr>
            <p:cNvPr id="5053" name="Google Shape;5053;p79"/>
            <p:cNvGrpSpPr/>
            <p:nvPr/>
          </p:nvGrpSpPr>
          <p:grpSpPr>
            <a:xfrm>
              <a:off x="-2159111" y="3797410"/>
              <a:ext cx="8091447" cy="2055959"/>
              <a:chOff x="1300369" y="3385930"/>
              <a:chExt cx="8091447" cy="2055959"/>
            </a:xfrm>
          </p:grpSpPr>
          <p:grpSp>
            <p:nvGrpSpPr>
              <p:cNvPr id="5054" name="Google Shape;5054;p79"/>
              <p:cNvGrpSpPr/>
              <p:nvPr/>
            </p:nvGrpSpPr>
            <p:grpSpPr>
              <a:xfrm>
                <a:off x="1300369" y="3385930"/>
                <a:ext cx="8091447" cy="2055959"/>
                <a:chOff x="1300369" y="3385930"/>
                <a:chExt cx="8091447" cy="2055959"/>
              </a:xfrm>
            </p:grpSpPr>
            <p:sp>
              <p:nvSpPr>
                <p:cNvPr id="5055" name="Google Shape;5055;p79"/>
                <p:cNvSpPr/>
                <p:nvPr/>
              </p:nvSpPr>
              <p:spPr>
                <a:xfrm>
                  <a:off x="4108174" y="3670852"/>
                  <a:ext cx="715617" cy="530087"/>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6" name="Google Shape;5056;p79"/>
                <p:cNvSpPr/>
                <p:nvPr/>
              </p:nvSpPr>
              <p:spPr>
                <a:xfrm>
                  <a:off x="5044440" y="3385930"/>
                  <a:ext cx="1023731"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7" name="Google Shape;5057;p79"/>
                <p:cNvSpPr/>
                <p:nvPr/>
              </p:nvSpPr>
              <p:spPr>
                <a:xfrm>
                  <a:off x="7533861" y="3432312"/>
                  <a:ext cx="974035"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8" name="Google Shape;5058;p79"/>
                <p:cNvSpPr/>
                <p:nvPr/>
              </p:nvSpPr>
              <p:spPr>
                <a:xfrm>
                  <a:off x="8676199" y="3678803"/>
                  <a:ext cx="715617" cy="542677"/>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59" name="Google Shape;5059;p79"/>
                <p:cNvSpPr txBox="1"/>
                <p:nvPr/>
              </p:nvSpPr>
              <p:spPr>
                <a:xfrm>
                  <a:off x="1300369" y="4426226"/>
                  <a:ext cx="1933161" cy="10156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Note source and destination addresses!</a:t>
                  </a:r>
                  <a:endParaRPr/>
                </a:p>
              </p:txBody>
            </p:sp>
            <p:cxnSp>
              <p:nvCxnSpPr>
                <p:cNvPr id="5060" name="Google Shape;5060;p79"/>
                <p:cNvCxnSpPr>
                  <a:stCxn id="5055" idx="2"/>
                  <a:endCxn id="5059" idx="3"/>
                </p:cNvCxnSpPr>
                <p:nvPr/>
              </p:nvCxnSpPr>
              <p:spPr>
                <a:xfrm flipH="1">
                  <a:off x="3233674" y="3935896"/>
                  <a:ext cx="874500" cy="998100"/>
                </a:xfrm>
                <a:prstGeom prst="straightConnector1">
                  <a:avLst/>
                </a:prstGeom>
                <a:noFill/>
                <a:ln cap="flat" cmpd="sng" w="9525">
                  <a:solidFill>
                    <a:schemeClr val="dk1"/>
                  </a:solidFill>
                  <a:prstDash val="solid"/>
                  <a:miter lim="800000"/>
                  <a:headEnd len="sm" w="sm" type="none"/>
                  <a:tailEnd len="sm" w="sm" type="none"/>
                </a:ln>
              </p:spPr>
            </p:cxnSp>
            <p:cxnSp>
              <p:nvCxnSpPr>
                <p:cNvPr id="5061" name="Google Shape;5061;p79"/>
                <p:cNvCxnSpPr>
                  <a:endCxn id="5059" idx="3"/>
                </p:cNvCxnSpPr>
                <p:nvPr/>
              </p:nvCxnSpPr>
              <p:spPr>
                <a:xfrm flipH="1">
                  <a:off x="3233530" y="3690857"/>
                  <a:ext cx="1769100" cy="1243200"/>
                </a:xfrm>
                <a:prstGeom prst="straightConnector1">
                  <a:avLst/>
                </a:prstGeom>
                <a:noFill/>
                <a:ln cap="flat" cmpd="sng" w="9525">
                  <a:solidFill>
                    <a:schemeClr val="dk1"/>
                  </a:solidFill>
                  <a:prstDash val="solid"/>
                  <a:miter lim="800000"/>
                  <a:headEnd len="sm" w="sm" type="none"/>
                  <a:tailEnd len="sm" w="sm" type="none"/>
                </a:ln>
              </p:spPr>
            </p:cxnSp>
            <p:cxnSp>
              <p:nvCxnSpPr>
                <p:cNvPr id="5062" name="Google Shape;5062;p79"/>
                <p:cNvCxnSpPr>
                  <a:stCxn id="5057" idx="2"/>
                  <a:endCxn id="5059" idx="3"/>
                </p:cNvCxnSpPr>
                <p:nvPr/>
              </p:nvCxnSpPr>
              <p:spPr>
                <a:xfrm flipH="1">
                  <a:off x="3233661" y="3766930"/>
                  <a:ext cx="4300200" cy="1167000"/>
                </a:xfrm>
                <a:prstGeom prst="straightConnector1">
                  <a:avLst/>
                </a:prstGeom>
                <a:noFill/>
                <a:ln cap="flat" cmpd="sng" w="9525">
                  <a:solidFill>
                    <a:schemeClr val="dk1"/>
                  </a:solidFill>
                  <a:prstDash val="solid"/>
                  <a:miter lim="800000"/>
                  <a:headEnd len="sm" w="sm" type="none"/>
                  <a:tailEnd len="sm" w="sm" type="none"/>
                </a:ln>
              </p:spPr>
            </p:cxnSp>
          </p:grpSp>
          <p:cxnSp>
            <p:nvCxnSpPr>
              <p:cNvPr id="5063" name="Google Shape;5063;p79"/>
              <p:cNvCxnSpPr>
                <a:stCxn id="5058" idx="2"/>
                <a:endCxn id="5059" idx="3"/>
              </p:cNvCxnSpPr>
              <p:nvPr/>
            </p:nvCxnSpPr>
            <p:spPr>
              <a:xfrm flipH="1">
                <a:off x="3233599" y="3950142"/>
                <a:ext cx="5442600" cy="984000"/>
              </a:xfrm>
              <a:prstGeom prst="straightConnector1">
                <a:avLst/>
              </a:prstGeom>
              <a:noFill/>
              <a:ln cap="flat" cmpd="sng" w="9525">
                <a:solidFill>
                  <a:schemeClr val="dk1"/>
                </a:solidFill>
                <a:prstDash val="solid"/>
                <a:miter lim="800000"/>
                <a:headEnd len="sm" w="sm" type="none"/>
                <a:tailEnd len="sm" w="sm" type="none"/>
              </a:ln>
            </p:spPr>
          </p:cxnSp>
        </p:grpSp>
        <p:sp>
          <p:nvSpPr>
            <p:cNvPr id="5064" name="Google Shape;5064;p79"/>
            <p:cNvSpPr/>
            <p:nvPr/>
          </p:nvSpPr>
          <p:spPr>
            <a:xfrm>
              <a:off x="2880360" y="3803100"/>
              <a:ext cx="1023731" cy="669235"/>
            </a:xfrm>
            <a:prstGeom prst="ellipse">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65" name="Google Shape;5065;p79"/>
            <p:cNvCxnSpPr>
              <a:endCxn id="5059" idx="3"/>
            </p:cNvCxnSpPr>
            <p:nvPr/>
          </p:nvCxnSpPr>
          <p:spPr>
            <a:xfrm flipH="1">
              <a:off x="-225950" y="4267338"/>
              <a:ext cx="3182400" cy="1078200"/>
            </a:xfrm>
            <a:prstGeom prst="straightConnector1">
              <a:avLst/>
            </a:prstGeom>
            <a:noFill/>
            <a:ln cap="flat" cmpd="sng" w="9525">
              <a:solidFill>
                <a:schemeClr val="dk1"/>
              </a:solidFill>
              <a:prstDash val="solid"/>
              <a:miter lim="800000"/>
              <a:headEnd len="sm" w="sm" type="none"/>
              <a:tailEnd len="sm" w="sm" type="none"/>
            </a:ln>
          </p:spPr>
        </p:cxnSp>
      </p:grpSp>
      <p:sp>
        <p:nvSpPr>
          <p:cNvPr id="5066" name="Google Shape;5066;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4"/>
                                        </p:tgtEl>
                                        <p:attrNameLst>
                                          <p:attrName>style.visibility</p:attrName>
                                        </p:attrNameLst>
                                      </p:cBhvr>
                                      <p:to>
                                        <p:strVal val="visible"/>
                                      </p:to>
                                    </p:set>
                                    <p:animEffect filter="fade" transition="in">
                                      <p:cBhvr>
                                        <p:cTn dur="500"/>
                                        <p:tgtEl>
                                          <p:spTgt spid="5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1"/>
                                        </p:tgtEl>
                                        <p:attrNameLst>
                                          <p:attrName>style.visibility</p:attrName>
                                        </p:attrNameLst>
                                      </p:cBhvr>
                                      <p:to>
                                        <p:strVal val="visible"/>
                                      </p:to>
                                    </p:set>
                                    <p:animEffect filter="fade" transition="in">
                                      <p:cBhvr>
                                        <p:cTn dur="500"/>
                                        <p:tgtEl>
                                          <p:spTgt spid="50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1"/>
                                        </p:tgtEl>
                                        <p:attrNameLst>
                                          <p:attrName>style.visibility</p:attrName>
                                        </p:attrNameLst>
                                      </p:cBhvr>
                                      <p:to>
                                        <p:strVal val="visible"/>
                                      </p:to>
                                    </p:set>
                                    <p:animEffect filter="fade" transition="in">
                                      <p:cBhvr>
                                        <p:cTn dur="500"/>
                                        <p:tgtEl>
                                          <p:spTgt spid="4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8"/>
                                        </p:tgtEl>
                                        <p:attrNameLst>
                                          <p:attrName>style.visibility</p:attrName>
                                        </p:attrNameLst>
                                      </p:cBhvr>
                                      <p:to>
                                        <p:strVal val="visible"/>
                                      </p:to>
                                    </p:set>
                                    <p:animEffect filter="fade" transition="in">
                                      <p:cBhvr>
                                        <p:cTn dur="500"/>
                                        <p:tgtEl>
                                          <p:spTgt spid="50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1"/>
                                        </p:tgtEl>
                                        <p:attrNameLst>
                                          <p:attrName>style.visibility</p:attrName>
                                        </p:attrNameLst>
                                      </p:cBhvr>
                                      <p:to>
                                        <p:strVal val="visible"/>
                                      </p:to>
                                    </p:set>
                                    <p:animEffect filter="fade" transition="in">
                                      <p:cBhvr>
                                        <p:cTn dur="500"/>
                                        <p:tgtEl>
                                          <p:spTgt spid="5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2"/>
                                        </p:tgtEl>
                                        <p:attrNameLst>
                                          <p:attrName>style.visibility</p:attrName>
                                        </p:attrNameLst>
                                      </p:cBhvr>
                                      <p:to>
                                        <p:strVal val="visible"/>
                                      </p:to>
                                    </p:set>
                                    <p:animEffect filter="fade" transition="in">
                                      <p:cBhvr>
                                        <p:cTn dur="500"/>
                                        <p:tgtEl>
                                          <p:spTgt spid="50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1" name="Shape 5071"/>
        <p:cNvGrpSpPr/>
        <p:nvPr/>
      </p:nvGrpSpPr>
      <p:grpSpPr>
        <a:xfrm>
          <a:off x="0" y="0"/>
          <a:ext cx="0" cy="0"/>
          <a:chOff x="0" y="0"/>
          <a:chExt cx="0" cy="0"/>
        </a:xfrm>
      </p:grpSpPr>
      <p:sp>
        <p:nvSpPr>
          <p:cNvPr id="5072" name="Google Shape;5072;p80"/>
          <p:cNvSpPr txBox="1"/>
          <p:nvPr>
            <p:ph idx="1" type="body"/>
          </p:nvPr>
        </p:nvSpPr>
        <p:spPr>
          <a:xfrm>
            <a:off x="838200" y="1379475"/>
            <a:ext cx="10515600" cy="1149413"/>
          </a:xfrm>
          <a:prstGeom prst="rect">
            <a:avLst/>
          </a:prstGeom>
          <a:noFill/>
          <a:ln>
            <a:noFill/>
          </a:ln>
        </p:spPr>
        <p:txBody>
          <a:bodyPr anchorCtr="0" anchor="t" bIns="45700" lIns="91425" spcFirstLastPara="1" rIns="91425" wrap="square" tIns="45700">
            <a:normAutofit/>
          </a:bodyPr>
          <a:lstStyle/>
          <a:p>
            <a:pPr indent="-341313" lvl="0" marL="471488" rtl="0" algn="l">
              <a:lnSpc>
                <a:spcPct val="90000"/>
              </a:lnSpc>
              <a:spcBef>
                <a:spcPts val="0"/>
              </a:spcBef>
              <a:spcAft>
                <a:spcPts val="0"/>
              </a:spcAft>
              <a:buSzPts val="3200"/>
              <a:buChar char="▪"/>
            </a:pPr>
            <a:r>
              <a:rPr lang="en-US" sz="3200"/>
              <a:t>Google</a:t>
            </a:r>
            <a:r>
              <a:rPr baseline="30000" lang="en-US" sz="3200"/>
              <a:t>1</a:t>
            </a:r>
            <a:r>
              <a:rPr lang="en-US" sz="3200"/>
              <a:t>: ~ 30% of clients access services via IPv6</a:t>
            </a:r>
            <a:endParaRPr/>
          </a:p>
          <a:p>
            <a:pPr indent="-341313" lvl="0" marL="471488" rtl="0" algn="l">
              <a:lnSpc>
                <a:spcPct val="90000"/>
              </a:lnSpc>
              <a:spcBef>
                <a:spcPts val="1000"/>
              </a:spcBef>
              <a:spcAft>
                <a:spcPts val="0"/>
              </a:spcAft>
              <a:buSzPts val="3200"/>
              <a:buChar char="▪"/>
            </a:pPr>
            <a:r>
              <a:rPr lang="en-US" sz="3200"/>
              <a:t>NIST: 1/3 of all US government domains are IPv6 capable</a:t>
            </a:r>
            <a:endParaRPr/>
          </a:p>
        </p:txBody>
      </p:sp>
      <p:sp>
        <p:nvSpPr>
          <p:cNvPr id="5073" name="Google Shape;5073;p8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adoption</a:t>
            </a:r>
            <a:endParaRPr/>
          </a:p>
        </p:txBody>
      </p:sp>
      <p:grpSp>
        <p:nvGrpSpPr>
          <p:cNvPr id="5074" name="Google Shape;5074;p80"/>
          <p:cNvGrpSpPr/>
          <p:nvPr/>
        </p:nvGrpSpPr>
        <p:grpSpPr>
          <a:xfrm>
            <a:off x="1284513" y="2612571"/>
            <a:ext cx="10450286" cy="4049486"/>
            <a:chOff x="1284513" y="2612571"/>
            <a:chExt cx="10450286" cy="4049486"/>
          </a:xfrm>
        </p:grpSpPr>
        <p:sp>
          <p:nvSpPr>
            <p:cNvPr id="5075" name="Google Shape;5075;p80"/>
            <p:cNvSpPr txBox="1"/>
            <p:nvPr/>
          </p:nvSpPr>
          <p:spPr>
            <a:xfrm>
              <a:off x="9092540" y="5704114"/>
              <a:ext cx="2642259" cy="861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baseline="30000" i="0" lang="en-US" sz="1800" u="none" cap="none" strike="noStrike">
                  <a:solidFill>
                    <a:srgbClr val="000000"/>
                  </a:solidFill>
                  <a:latin typeface="Calibri"/>
                  <a:ea typeface="Calibri"/>
                  <a:cs typeface="Calibri"/>
                  <a:sym typeface="Calibri"/>
                </a:rPr>
                <a:t>1</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https://www.google.com/intl/en/ipv6/statistics.html</a:t>
              </a:r>
              <a:endParaRPr b="0" i="0" sz="1800" u="none" cap="none" strike="noStrike">
                <a:solidFill>
                  <a:srgbClr val="000000"/>
                </a:solidFill>
                <a:latin typeface="Calibri"/>
                <a:ea typeface="Calibri"/>
                <a:cs typeface="Calibri"/>
                <a:sym typeface="Calibri"/>
              </a:endParaRPr>
            </a:p>
          </p:txBody>
        </p:sp>
        <p:pic>
          <p:nvPicPr>
            <p:cNvPr id="5076" name="Google Shape;5076;p80"/>
            <p:cNvPicPr preferRelativeResize="0"/>
            <p:nvPr/>
          </p:nvPicPr>
          <p:blipFill rotWithShape="1">
            <a:blip r:embed="rId3">
              <a:alphaModFix/>
            </a:blip>
            <a:srcRect b="0" l="0" r="0" t="0"/>
            <a:stretch/>
          </p:blipFill>
          <p:spPr>
            <a:xfrm>
              <a:off x="1284513" y="2612571"/>
              <a:ext cx="7411254" cy="4049486"/>
            </a:xfrm>
            <a:prstGeom prst="rect">
              <a:avLst/>
            </a:prstGeom>
            <a:noFill/>
            <a:ln>
              <a:noFill/>
            </a:ln>
          </p:spPr>
        </p:pic>
      </p:grpSp>
      <p:sp>
        <p:nvSpPr>
          <p:cNvPr id="5077" name="Google Shape;5077;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4"/>
                                        </p:tgtEl>
                                        <p:attrNameLst>
                                          <p:attrName>style.visibility</p:attrName>
                                        </p:attrNameLst>
                                      </p:cBhvr>
                                      <p:to>
                                        <p:strVal val="visible"/>
                                      </p:to>
                                    </p:set>
                                    <p:animEffect filter="fade" transition="in">
                                      <p:cBhvr>
                                        <p:cTn dur="500"/>
                                        <p:tgtEl>
                                          <p:spTgt spid="5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2" name="Shape 5082"/>
        <p:cNvGrpSpPr/>
        <p:nvPr/>
      </p:nvGrpSpPr>
      <p:grpSpPr>
        <a:xfrm>
          <a:off x="0" y="0"/>
          <a:ext cx="0" cy="0"/>
          <a:chOff x="0" y="0"/>
          <a:chExt cx="0" cy="0"/>
        </a:xfrm>
      </p:grpSpPr>
      <p:sp>
        <p:nvSpPr>
          <p:cNvPr id="5083" name="Google Shape;5083;p81"/>
          <p:cNvSpPr txBox="1"/>
          <p:nvPr>
            <p:ph idx="1" type="body"/>
          </p:nvPr>
        </p:nvSpPr>
        <p:spPr>
          <a:xfrm>
            <a:off x="838200" y="1379475"/>
            <a:ext cx="10515600" cy="4663516"/>
          </a:xfrm>
          <a:prstGeom prst="rect">
            <a:avLst/>
          </a:prstGeom>
          <a:noFill/>
          <a:ln>
            <a:noFill/>
          </a:ln>
        </p:spPr>
        <p:txBody>
          <a:bodyPr anchorCtr="0" anchor="t" bIns="45700" lIns="91425" spcFirstLastPara="1" rIns="91425" wrap="square" tIns="45700">
            <a:normAutofit/>
          </a:bodyPr>
          <a:lstStyle/>
          <a:p>
            <a:pPr indent="-341313" lvl="0" marL="471488" rtl="0" algn="l">
              <a:lnSpc>
                <a:spcPct val="90000"/>
              </a:lnSpc>
              <a:spcBef>
                <a:spcPts val="0"/>
              </a:spcBef>
              <a:spcAft>
                <a:spcPts val="0"/>
              </a:spcAft>
              <a:buSzPts val="3200"/>
              <a:buChar char="▪"/>
            </a:pPr>
            <a:r>
              <a:rPr lang="en-US" sz="3200"/>
              <a:t>Google</a:t>
            </a:r>
            <a:r>
              <a:rPr baseline="30000" lang="en-US" sz="3200"/>
              <a:t>1</a:t>
            </a:r>
            <a:r>
              <a:rPr lang="en-US" sz="3200"/>
              <a:t>: ~ 30% of clients access services via IPv6</a:t>
            </a:r>
            <a:endParaRPr/>
          </a:p>
          <a:p>
            <a:pPr indent="-341313" lvl="0" marL="471488" rtl="0" algn="l">
              <a:lnSpc>
                <a:spcPct val="90000"/>
              </a:lnSpc>
              <a:spcBef>
                <a:spcPts val="1000"/>
              </a:spcBef>
              <a:spcAft>
                <a:spcPts val="0"/>
              </a:spcAft>
              <a:buSzPts val="3200"/>
              <a:buChar char="▪"/>
            </a:pPr>
            <a:r>
              <a:rPr lang="en-US" sz="3200"/>
              <a:t>NIST: 1/3 of all US government domains are IPv6 capable</a:t>
            </a:r>
            <a:endParaRPr/>
          </a:p>
          <a:p>
            <a:pPr indent="-341313" lvl="0" marL="471488" rtl="0" algn="l">
              <a:lnSpc>
                <a:spcPct val="90000"/>
              </a:lnSpc>
              <a:spcBef>
                <a:spcPts val="1000"/>
              </a:spcBef>
              <a:spcAft>
                <a:spcPts val="0"/>
              </a:spcAft>
              <a:buSzPts val="3200"/>
              <a:buChar char="▪"/>
            </a:pPr>
            <a:r>
              <a:rPr lang="en-US" sz="3200"/>
              <a:t>Long (long!) time for deployment, use</a:t>
            </a:r>
            <a:endParaRPr/>
          </a:p>
          <a:p>
            <a:pPr indent="-328613" lvl="1" marL="914400" rtl="0" algn="l">
              <a:lnSpc>
                <a:spcPct val="90000"/>
              </a:lnSpc>
              <a:spcBef>
                <a:spcPts val="500"/>
              </a:spcBef>
              <a:spcAft>
                <a:spcPts val="0"/>
              </a:spcAft>
              <a:buSzPts val="2800"/>
              <a:buChar char="•"/>
            </a:pPr>
            <a:r>
              <a:rPr lang="en-US" sz="2800"/>
              <a:t>25 years and counting!</a:t>
            </a:r>
            <a:endParaRPr/>
          </a:p>
          <a:p>
            <a:pPr indent="-328613" lvl="1" marL="914400" rtl="0" algn="l">
              <a:lnSpc>
                <a:spcPct val="90000"/>
              </a:lnSpc>
              <a:spcBef>
                <a:spcPts val="500"/>
              </a:spcBef>
              <a:spcAft>
                <a:spcPts val="0"/>
              </a:spcAft>
              <a:buSzPts val="2800"/>
              <a:buChar char="•"/>
            </a:pPr>
            <a:r>
              <a:rPr lang="en-US" sz="2800"/>
              <a:t>think of application-level changes in last 25 years: WWW, social media, streaming media, gaming, telepresence, …</a:t>
            </a:r>
            <a:endParaRPr/>
          </a:p>
          <a:p>
            <a:pPr indent="-328613" lvl="1" marL="914400" rtl="0" algn="l">
              <a:lnSpc>
                <a:spcPct val="90000"/>
              </a:lnSpc>
              <a:spcBef>
                <a:spcPts val="500"/>
              </a:spcBef>
              <a:spcAft>
                <a:spcPts val="0"/>
              </a:spcAft>
              <a:buSzPts val="2800"/>
              <a:buChar char="•"/>
            </a:pPr>
            <a:r>
              <a:rPr i="1" lang="en-US" sz="2800">
                <a:solidFill>
                  <a:srgbClr val="CC0000"/>
                </a:solidFill>
              </a:rPr>
              <a:t>Why?</a:t>
            </a:r>
            <a:endParaRPr/>
          </a:p>
        </p:txBody>
      </p:sp>
      <p:sp>
        <p:nvSpPr>
          <p:cNvPr id="5084" name="Google Shape;5084;p8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IPv6: adoption</a:t>
            </a:r>
            <a:endParaRPr/>
          </a:p>
        </p:txBody>
      </p:sp>
      <p:sp>
        <p:nvSpPr>
          <p:cNvPr id="5085" name="Google Shape;5085;p81"/>
          <p:cNvSpPr txBox="1"/>
          <p:nvPr/>
        </p:nvSpPr>
        <p:spPr>
          <a:xfrm>
            <a:off x="928255" y="6289964"/>
            <a:ext cx="472943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baseline="30000" i="0" lang="en-US" sz="1800" u="none" cap="none" strike="noStrike">
                <a:solidFill>
                  <a:srgbClr val="000000"/>
                </a:solidFill>
                <a:latin typeface="Calibri"/>
                <a:ea typeface="Calibri"/>
                <a:cs typeface="Calibri"/>
                <a:sym typeface="Calibri"/>
              </a:rPr>
              <a:t>1</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https://www.google.com/intl/en/ipv6/statistics.html</a:t>
            </a:r>
            <a:endParaRPr b="0" i="0" sz="1800" u="none" cap="none" strike="noStrike">
              <a:solidFill>
                <a:srgbClr val="000000"/>
              </a:solidFill>
              <a:latin typeface="Calibri"/>
              <a:ea typeface="Calibri"/>
              <a:cs typeface="Calibri"/>
              <a:sym typeface="Calibri"/>
            </a:endParaRPr>
          </a:p>
        </p:txBody>
      </p:sp>
      <p:sp>
        <p:nvSpPr>
          <p:cNvPr id="5086" name="Google Shape;5086;p8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1" name="Shape 5091"/>
        <p:cNvGrpSpPr/>
        <p:nvPr/>
      </p:nvGrpSpPr>
      <p:grpSpPr>
        <a:xfrm>
          <a:off x="0" y="0"/>
          <a:ext cx="0" cy="0"/>
          <a:chOff x="0" y="0"/>
          <a:chExt cx="0" cy="0"/>
        </a:xfrm>
      </p:grpSpPr>
      <p:sp>
        <p:nvSpPr>
          <p:cNvPr id="5092" name="Google Shape;5092;p8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sp>
        <p:nvSpPr>
          <p:cNvPr id="5093" name="Google Shape;5093;p82"/>
          <p:cNvSpPr txBox="1"/>
          <p:nvPr>
            <p:ph idx="2" type="body"/>
          </p:nvPr>
        </p:nvSpPr>
        <p:spPr>
          <a:xfrm>
            <a:off x="570089" y="1428299"/>
            <a:ext cx="6618109" cy="5001077"/>
          </a:xfrm>
          <a:prstGeom prst="rect">
            <a:avLst/>
          </a:prstGeom>
          <a:noFill/>
          <a:ln>
            <a:noFill/>
          </a:ln>
        </p:spPr>
        <p:txBody>
          <a:bodyPr anchorCtr="0" anchor="t" bIns="45700" lIns="91425" spcFirstLastPara="1" rIns="91425" wrap="square" tIns="45700">
            <a:noAutofit/>
          </a:bodyPr>
          <a:lstStyle/>
          <a:p>
            <a:pPr indent="-277813" lvl="0" marL="407988" rtl="0" algn="l">
              <a:lnSpc>
                <a:spcPct val="90000"/>
              </a:lnSpc>
              <a:spcBef>
                <a:spcPts val="0"/>
              </a:spcBef>
              <a:spcAft>
                <a:spcPts val="0"/>
              </a:spcAft>
              <a:buClr>
                <a:srgbClr val="BFBFBF"/>
              </a:buClr>
              <a:buSzPts val="3200"/>
              <a:buChar char="▪"/>
            </a:pPr>
            <a:r>
              <a:rPr lang="en-US" sz="3200">
                <a:solidFill>
                  <a:srgbClr val="BFBFBF"/>
                </a:solidFill>
              </a:rPr>
              <a:t>Network layer: overview</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data plane</a:t>
            </a:r>
            <a:endParaRPr/>
          </a:p>
          <a:p>
            <a:pPr indent="-231775" lvl="1" marL="695325" rtl="0" algn="l">
              <a:lnSpc>
                <a:spcPct val="90000"/>
              </a:lnSpc>
              <a:spcBef>
                <a:spcPts val="0"/>
              </a:spcBef>
              <a:spcAft>
                <a:spcPts val="0"/>
              </a:spcAft>
              <a:buClr>
                <a:srgbClr val="BFBFBF"/>
              </a:buClr>
              <a:buSzPts val="2800"/>
              <a:buChar char="•"/>
            </a:pPr>
            <a:r>
              <a:rPr lang="en-US" sz="2800">
                <a:solidFill>
                  <a:srgbClr val="BFBFBF"/>
                </a:solidFill>
              </a:rPr>
              <a:t>control plane</a:t>
            </a:r>
            <a:endParaRPr/>
          </a:p>
        </p:txBody>
      </p:sp>
      <p:pic>
        <p:nvPicPr>
          <p:cNvPr descr="A train crossing a bridge over a body of water&#10;&#10;Description automatically generated" id="5094" name="Google Shape;5094;p82"/>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095" name="Google Shape;5095;p82"/>
          <p:cNvSpPr txBox="1"/>
          <p:nvPr/>
        </p:nvSpPr>
        <p:spPr>
          <a:xfrm>
            <a:off x="6186488" y="4277300"/>
            <a:ext cx="6005512" cy="2110248"/>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chemeClr val="dk1"/>
                </a:solidFill>
                <a:latin typeface="Calibri"/>
                <a:ea typeface="Calibri"/>
                <a:cs typeface="Calibri"/>
                <a:sym typeface="Calibri"/>
              </a:rPr>
              <a:t>Generalized Forwarding, SDN</a:t>
            </a:r>
            <a:endParaRPr/>
          </a:p>
          <a:p>
            <a:pPr indent="-231775" lvl="1" marL="695325" marR="0" rtl="0" algn="l">
              <a:lnSpc>
                <a:spcPct val="10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Match+action</a:t>
            </a:r>
            <a:endParaRPr b="0" i="0" sz="2800" u="none" cap="none" strike="noStrike">
              <a:solidFill>
                <a:schemeClr val="dk1"/>
              </a:solidFill>
              <a:latin typeface="Calibri"/>
              <a:ea typeface="Calibri"/>
              <a:cs typeface="Calibri"/>
              <a:sym typeface="Calibri"/>
            </a:endParaRPr>
          </a:p>
          <a:p>
            <a:pPr indent="-231775" lvl="1" marL="695325" marR="0" rtl="0" algn="l">
              <a:lnSpc>
                <a:spcPct val="10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OpenFlow: match+action in action</a:t>
            </a:r>
            <a:endParaRPr/>
          </a:p>
          <a:p>
            <a:pPr indent="-277813" lvl="0" marL="407988" marR="0" rtl="0" algn="l">
              <a:lnSpc>
                <a:spcPct val="10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5096" name="Google Shape;5096;p8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097" name="Google Shape;5097;p82"/>
          <p:cNvSpPr txBox="1"/>
          <p:nvPr/>
        </p:nvSpPr>
        <p:spPr>
          <a:xfrm>
            <a:off x="563462" y="2806957"/>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What’s inside a router</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input ports, switching, output ports</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buffer management, scheduling</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IP: the Internet Protocol</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datagram format</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addressing</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network address translation</a:t>
            </a:r>
            <a:endParaRPr/>
          </a:p>
          <a:p>
            <a:pPr indent="-231775" lvl="1" marL="695325" marR="0" rtl="0" algn="l">
              <a:lnSpc>
                <a:spcPct val="90000"/>
              </a:lnSpc>
              <a:spcBef>
                <a:spcPts val="0"/>
              </a:spcBef>
              <a:spcAft>
                <a:spcPts val="0"/>
              </a:spcAft>
              <a:buClr>
                <a:srgbClr val="BFBFBF"/>
              </a:buClr>
              <a:buSzPts val="2800"/>
              <a:buFont typeface="Arial"/>
              <a:buChar char="•"/>
            </a:pPr>
            <a:r>
              <a:rPr b="0" i="0" lang="en-US" sz="2800" u="none" cap="none" strike="noStrike">
                <a:solidFill>
                  <a:srgbClr val="BFBFBF"/>
                </a:solidFill>
                <a:latin typeface="Calibri"/>
                <a:ea typeface="Calibri"/>
                <a:cs typeface="Calibri"/>
                <a:sym typeface="Calibri"/>
              </a:rPr>
              <a:t>IPv6</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2" name="Shape 5102"/>
        <p:cNvGrpSpPr/>
        <p:nvPr/>
      </p:nvGrpSpPr>
      <p:grpSpPr>
        <a:xfrm>
          <a:off x="0" y="0"/>
          <a:ext cx="0" cy="0"/>
          <a:chOff x="0" y="0"/>
          <a:chExt cx="0" cy="0"/>
        </a:xfrm>
      </p:grpSpPr>
      <p:grpSp>
        <p:nvGrpSpPr>
          <p:cNvPr id="5103" name="Google Shape;5103;p83"/>
          <p:cNvGrpSpPr/>
          <p:nvPr/>
        </p:nvGrpSpPr>
        <p:grpSpPr>
          <a:xfrm>
            <a:off x="2020188" y="2244830"/>
            <a:ext cx="6996667" cy="1258851"/>
            <a:chOff x="1372488" y="5470630"/>
            <a:chExt cx="6996667" cy="1258851"/>
          </a:xfrm>
        </p:grpSpPr>
        <p:sp>
          <p:nvSpPr>
            <p:cNvPr id="5104" name="Google Shape;5104;p83"/>
            <p:cNvSpPr/>
            <p:nvPr/>
          </p:nvSpPr>
          <p:spPr>
            <a:xfrm>
              <a:off x="4341668" y="5789681"/>
              <a:ext cx="4027487" cy="939800"/>
            </a:xfrm>
            <a:custGeom>
              <a:rect b="b" l="l" r="r" t="t"/>
              <a:pathLst>
                <a:path extrusionOk="0" h="10125" w="10001">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05" name="Google Shape;5105;p83"/>
            <p:cNvCxnSpPr/>
            <p:nvPr/>
          </p:nvCxnSpPr>
          <p:spPr>
            <a:xfrm flipH="1" rot="10800000">
              <a:off x="5011593" y="5940494"/>
              <a:ext cx="1316037" cy="131762"/>
            </a:xfrm>
            <a:prstGeom prst="straightConnector1">
              <a:avLst/>
            </a:prstGeom>
            <a:noFill/>
            <a:ln cap="flat" cmpd="sng" w="12700">
              <a:solidFill>
                <a:srgbClr val="000000"/>
              </a:solidFill>
              <a:prstDash val="solid"/>
              <a:round/>
              <a:headEnd len="sm" w="sm" type="none"/>
              <a:tailEnd len="sm" w="sm" type="none"/>
            </a:ln>
          </p:spPr>
        </p:cxnSp>
        <p:cxnSp>
          <p:nvCxnSpPr>
            <p:cNvPr id="5106" name="Google Shape;5106;p83"/>
            <p:cNvCxnSpPr/>
            <p:nvPr/>
          </p:nvCxnSpPr>
          <p:spPr>
            <a:xfrm>
              <a:off x="4900468" y="6127819"/>
              <a:ext cx="2259012" cy="298450"/>
            </a:xfrm>
            <a:prstGeom prst="straightConnector1">
              <a:avLst/>
            </a:prstGeom>
            <a:noFill/>
            <a:ln cap="flat" cmpd="sng" w="12700">
              <a:solidFill>
                <a:srgbClr val="000000"/>
              </a:solidFill>
              <a:prstDash val="solid"/>
              <a:round/>
              <a:headEnd len="sm" w="sm" type="none"/>
              <a:tailEnd len="sm" w="sm" type="none"/>
            </a:ln>
          </p:spPr>
        </p:cxnSp>
        <p:cxnSp>
          <p:nvCxnSpPr>
            <p:cNvPr id="5107" name="Google Shape;5107;p83"/>
            <p:cNvCxnSpPr/>
            <p:nvPr/>
          </p:nvCxnSpPr>
          <p:spPr>
            <a:xfrm>
              <a:off x="4913168" y="6232594"/>
              <a:ext cx="714375" cy="276225"/>
            </a:xfrm>
            <a:prstGeom prst="straightConnector1">
              <a:avLst/>
            </a:prstGeom>
            <a:noFill/>
            <a:ln cap="flat" cmpd="sng" w="12700">
              <a:solidFill>
                <a:srgbClr val="000000"/>
              </a:solidFill>
              <a:prstDash val="solid"/>
              <a:round/>
              <a:headEnd len="sm" w="sm" type="none"/>
              <a:tailEnd len="sm" w="sm" type="none"/>
            </a:ln>
          </p:spPr>
        </p:cxnSp>
        <p:cxnSp>
          <p:nvCxnSpPr>
            <p:cNvPr id="5108" name="Google Shape;5108;p83"/>
            <p:cNvCxnSpPr/>
            <p:nvPr/>
          </p:nvCxnSpPr>
          <p:spPr>
            <a:xfrm flipH="1" rot="10800000">
              <a:off x="5930755" y="6426269"/>
              <a:ext cx="1247775" cy="82550"/>
            </a:xfrm>
            <a:prstGeom prst="straightConnector1">
              <a:avLst/>
            </a:prstGeom>
            <a:noFill/>
            <a:ln cap="flat" cmpd="sng" w="12700">
              <a:solidFill>
                <a:srgbClr val="000000"/>
              </a:solidFill>
              <a:prstDash val="solid"/>
              <a:round/>
              <a:headEnd len="sm" w="sm" type="none"/>
              <a:tailEnd len="sm" w="sm" type="none"/>
            </a:ln>
          </p:spPr>
        </p:cxnSp>
        <p:cxnSp>
          <p:nvCxnSpPr>
            <p:cNvPr id="5109" name="Google Shape;5109;p83"/>
            <p:cNvCxnSpPr/>
            <p:nvPr/>
          </p:nvCxnSpPr>
          <p:spPr>
            <a:xfrm>
              <a:off x="6591155" y="5973831"/>
              <a:ext cx="1057275" cy="123825"/>
            </a:xfrm>
            <a:prstGeom prst="straightConnector1">
              <a:avLst/>
            </a:prstGeom>
            <a:noFill/>
            <a:ln cap="flat" cmpd="sng" w="12700">
              <a:solidFill>
                <a:srgbClr val="000000"/>
              </a:solidFill>
              <a:prstDash val="solid"/>
              <a:round/>
              <a:headEnd len="sm" w="sm" type="none"/>
              <a:tailEnd len="sm" w="sm" type="none"/>
            </a:ln>
          </p:spPr>
        </p:cxnSp>
        <p:cxnSp>
          <p:nvCxnSpPr>
            <p:cNvPr id="5110" name="Google Shape;5110;p83"/>
            <p:cNvCxnSpPr/>
            <p:nvPr/>
          </p:nvCxnSpPr>
          <p:spPr>
            <a:xfrm flipH="1" rot="10800000">
              <a:off x="5875193" y="6127819"/>
              <a:ext cx="1790700" cy="298450"/>
            </a:xfrm>
            <a:prstGeom prst="straightConnector1">
              <a:avLst/>
            </a:prstGeom>
            <a:noFill/>
            <a:ln cap="flat" cmpd="sng" w="12700">
              <a:solidFill>
                <a:srgbClr val="000000"/>
              </a:solidFill>
              <a:prstDash val="solid"/>
              <a:round/>
              <a:headEnd len="sm" w="sm" type="none"/>
              <a:tailEnd len="sm" w="sm" type="none"/>
            </a:ln>
          </p:spPr>
        </p:cxnSp>
        <p:cxnSp>
          <p:nvCxnSpPr>
            <p:cNvPr id="5111" name="Google Shape;5111;p83"/>
            <p:cNvCxnSpPr/>
            <p:nvPr/>
          </p:nvCxnSpPr>
          <p:spPr>
            <a:xfrm flipH="1" rot="10800000">
              <a:off x="7202343" y="6156394"/>
              <a:ext cx="588962" cy="269875"/>
            </a:xfrm>
            <a:prstGeom prst="straightConnector1">
              <a:avLst/>
            </a:prstGeom>
            <a:noFill/>
            <a:ln cap="flat" cmpd="sng" w="12700">
              <a:solidFill>
                <a:srgbClr val="000000"/>
              </a:solidFill>
              <a:prstDash val="solid"/>
              <a:round/>
              <a:headEnd len="sm" w="sm" type="none"/>
              <a:tailEnd len="sm" w="sm" type="none"/>
            </a:ln>
          </p:spPr>
        </p:cxnSp>
        <p:cxnSp>
          <p:nvCxnSpPr>
            <p:cNvPr id="5112" name="Google Shape;5112;p83"/>
            <p:cNvCxnSpPr/>
            <p:nvPr/>
          </p:nvCxnSpPr>
          <p:spPr>
            <a:xfrm>
              <a:off x="6345093" y="5940494"/>
              <a:ext cx="814387" cy="401637"/>
            </a:xfrm>
            <a:prstGeom prst="straightConnector1">
              <a:avLst/>
            </a:prstGeom>
            <a:noFill/>
            <a:ln cap="flat" cmpd="sng" w="12700">
              <a:solidFill>
                <a:srgbClr val="000000"/>
              </a:solidFill>
              <a:prstDash val="solid"/>
              <a:round/>
              <a:headEnd len="sm" w="sm" type="none"/>
              <a:tailEnd len="sm" w="sm" type="none"/>
            </a:ln>
          </p:spPr>
        </p:cxnSp>
        <p:grpSp>
          <p:nvGrpSpPr>
            <p:cNvPr id="5113" name="Google Shape;5113;p83"/>
            <p:cNvGrpSpPr/>
            <p:nvPr/>
          </p:nvGrpSpPr>
          <p:grpSpPr>
            <a:xfrm>
              <a:off x="7605568" y="5983356"/>
              <a:ext cx="588962" cy="242888"/>
              <a:chOff x="1871277" y="1576300"/>
              <a:chExt cx="1128371" cy="437861"/>
            </a:xfrm>
          </p:grpSpPr>
          <p:sp>
            <p:nvSpPr>
              <p:cNvPr id="5114" name="Google Shape;5114;p83"/>
              <p:cNvSpPr/>
              <p:nvPr/>
            </p:nvSpPr>
            <p:spPr>
              <a:xfrm flipH="1" rot="10800000">
                <a:off x="1874317" y="1693636"/>
                <a:ext cx="1125331" cy="320525"/>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5" name="Google Shape;5115;p83"/>
              <p:cNvSpPr/>
              <p:nvPr/>
            </p:nvSpPr>
            <p:spPr>
              <a:xfrm>
                <a:off x="1871277" y="1739425"/>
                <a:ext cx="1128371" cy="117334"/>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6" name="Google Shape;5116;p83"/>
              <p:cNvSpPr/>
              <p:nvPr/>
            </p:nvSpPr>
            <p:spPr>
              <a:xfrm flipH="1" rot="10800000">
                <a:off x="1871277" y="1576300"/>
                <a:ext cx="1125331" cy="320525"/>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7" name="Google Shape;5117;p83"/>
              <p:cNvSpPr/>
              <p:nvPr/>
            </p:nvSpPr>
            <p:spPr>
              <a:xfrm>
                <a:off x="2160212" y="1673602"/>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18" name="Google Shape;5118;p83"/>
              <p:cNvSpPr/>
              <p:nvPr/>
            </p:nvSpPr>
            <p:spPr>
              <a:xfrm>
                <a:off x="2102426" y="1633537"/>
                <a:ext cx="663033" cy="111612"/>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19" name="Google Shape;5119;p83"/>
              <p:cNvSpPr/>
              <p:nvPr/>
            </p:nvSpPr>
            <p:spPr>
              <a:xfrm>
                <a:off x="2537350" y="1727978"/>
                <a:ext cx="243315" cy="97302"/>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0" name="Google Shape;5120;p83"/>
              <p:cNvSpPr/>
              <p:nvPr/>
            </p:nvSpPr>
            <p:spPr>
              <a:xfrm>
                <a:off x="2090260" y="1730839"/>
                <a:ext cx="240272" cy="97302"/>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21" name="Google Shape;5121;p83"/>
              <p:cNvCxnSpPr>
                <a:endCxn id="511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22" name="Google Shape;5122;p83"/>
              <p:cNvCxnSpPr/>
              <p:nvPr/>
            </p:nvCxnSpPr>
            <p:spPr>
              <a:xfrm rot="10800000">
                <a:off x="2996608" y="1733702"/>
                <a:ext cx="3040" cy="123058"/>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23" name="Google Shape;5123;p83"/>
            <p:cNvGrpSpPr/>
            <p:nvPr/>
          </p:nvGrpSpPr>
          <p:grpSpPr>
            <a:xfrm>
              <a:off x="6124430" y="5842069"/>
              <a:ext cx="588963" cy="242887"/>
              <a:chOff x="1871277" y="1576300"/>
              <a:chExt cx="1128371" cy="437861"/>
            </a:xfrm>
          </p:grpSpPr>
          <p:sp>
            <p:nvSpPr>
              <p:cNvPr id="5124" name="Google Shape;5124;p83"/>
              <p:cNvSpPr/>
              <p:nvPr/>
            </p:nvSpPr>
            <p:spPr>
              <a:xfrm flipH="1" rot="10800000">
                <a:off x="1874319" y="1693635"/>
                <a:ext cx="1125329"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5" name="Google Shape;512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6" name="Google Shape;5126;p83"/>
              <p:cNvSpPr/>
              <p:nvPr/>
            </p:nvSpPr>
            <p:spPr>
              <a:xfrm flipH="1" rot="10800000">
                <a:off x="1871277" y="1576300"/>
                <a:ext cx="1125329"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7" name="Google Shape;5127;p83"/>
              <p:cNvSpPr/>
              <p:nvPr/>
            </p:nvSpPr>
            <p:spPr>
              <a:xfrm>
                <a:off x="2160214" y="1673603"/>
                <a:ext cx="547457"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28" name="Google Shape;5128;p83"/>
              <p:cNvSpPr/>
              <p:nvPr/>
            </p:nvSpPr>
            <p:spPr>
              <a:xfrm>
                <a:off x="2102426" y="1633537"/>
                <a:ext cx="663031"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29" name="Google Shape;5129;p83"/>
              <p:cNvSpPr/>
              <p:nvPr/>
            </p:nvSpPr>
            <p:spPr>
              <a:xfrm>
                <a:off x="2537351" y="1727977"/>
                <a:ext cx="243314"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0" name="Google Shape;5130;p83"/>
              <p:cNvSpPr/>
              <p:nvPr/>
            </p:nvSpPr>
            <p:spPr>
              <a:xfrm>
                <a:off x="2090260" y="1730839"/>
                <a:ext cx="240274"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31" name="Google Shape;5131;p83"/>
              <p:cNvCxnSpPr>
                <a:endCxn id="512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32" name="Google Shape;5132;p83"/>
              <p:cNvCxnSpPr/>
              <p:nvPr/>
            </p:nvCxnSpPr>
            <p:spPr>
              <a:xfrm rot="10800000">
                <a:off x="2996606" y="1733700"/>
                <a:ext cx="3042"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33" name="Google Shape;5133;p83"/>
            <p:cNvGrpSpPr/>
            <p:nvPr/>
          </p:nvGrpSpPr>
          <p:grpSpPr>
            <a:xfrm>
              <a:off x="6916593" y="6302444"/>
              <a:ext cx="588962" cy="242887"/>
              <a:chOff x="1871277" y="1576300"/>
              <a:chExt cx="1128371" cy="437861"/>
            </a:xfrm>
          </p:grpSpPr>
          <p:sp>
            <p:nvSpPr>
              <p:cNvPr id="5134" name="Google Shape;5134;p8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5" name="Google Shape;513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6" name="Google Shape;5136;p8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7" name="Google Shape;5137;p8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38" name="Google Shape;5138;p8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39" name="Google Shape;5139;p8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0" name="Google Shape;5140;p8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41" name="Google Shape;5141;p83"/>
              <p:cNvCxnSpPr>
                <a:endCxn id="513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42" name="Google Shape;5142;p8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43" name="Google Shape;5143;p83"/>
            <p:cNvGrpSpPr/>
            <p:nvPr/>
          </p:nvGrpSpPr>
          <p:grpSpPr>
            <a:xfrm>
              <a:off x="5452918" y="6394519"/>
              <a:ext cx="588962" cy="242887"/>
              <a:chOff x="1871277" y="1576300"/>
              <a:chExt cx="1128371" cy="437861"/>
            </a:xfrm>
          </p:grpSpPr>
          <p:sp>
            <p:nvSpPr>
              <p:cNvPr id="5144" name="Google Shape;5144;p83"/>
              <p:cNvSpPr/>
              <p:nvPr/>
            </p:nvSpPr>
            <p:spPr>
              <a:xfrm flipH="1" rot="10800000">
                <a:off x="1874317" y="1693635"/>
                <a:ext cx="1125331" cy="320526"/>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5" name="Google Shape;5145;p83"/>
              <p:cNvSpPr/>
              <p:nvPr/>
            </p:nvSpPr>
            <p:spPr>
              <a:xfrm>
                <a:off x="1871277" y="1739424"/>
                <a:ext cx="1128371" cy="117336"/>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6" name="Google Shape;5146;p83"/>
              <p:cNvSpPr/>
              <p:nvPr/>
            </p:nvSpPr>
            <p:spPr>
              <a:xfrm flipH="1" rot="10800000">
                <a:off x="1871277" y="1576300"/>
                <a:ext cx="1125331" cy="320526"/>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7" name="Google Shape;5147;p83"/>
              <p:cNvSpPr/>
              <p:nvPr/>
            </p:nvSpPr>
            <p:spPr>
              <a:xfrm>
                <a:off x="2160212" y="1673603"/>
                <a:ext cx="547458" cy="160263"/>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48" name="Google Shape;5148;p83"/>
              <p:cNvSpPr/>
              <p:nvPr/>
            </p:nvSpPr>
            <p:spPr>
              <a:xfrm>
                <a:off x="2102426" y="1633537"/>
                <a:ext cx="663033" cy="11161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49" name="Google Shape;5149;p83"/>
              <p:cNvSpPr/>
              <p:nvPr/>
            </p:nvSpPr>
            <p:spPr>
              <a:xfrm>
                <a:off x="2537350" y="1727977"/>
                <a:ext cx="243315" cy="97303"/>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50" name="Google Shape;5150;p83"/>
              <p:cNvSpPr/>
              <p:nvPr/>
            </p:nvSpPr>
            <p:spPr>
              <a:xfrm>
                <a:off x="2090260" y="1730839"/>
                <a:ext cx="240272" cy="97303"/>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51" name="Google Shape;5151;p83"/>
              <p:cNvCxnSpPr>
                <a:endCxn id="5146" idx="2"/>
              </p:cNvCxnSpPr>
              <p:nvPr/>
            </p:nvCxnSpPr>
            <p:spPr>
              <a:xfrm rot="10800000">
                <a:off x="1871277" y="1736563"/>
                <a:ext cx="30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52" name="Google Shape;5152;p83"/>
              <p:cNvCxnSpPr/>
              <p:nvPr/>
            </p:nvCxnSpPr>
            <p:spPr>
              <a:xfrm rot="10800000">
                <a:off x="2996608" y="1733700"/>
                <a:ext cx="3040" cy="12306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5153" name="Google Shape;5153;p83"/>
            <p:cNvGrpSpPr/>
            <p:nvPr/>
          </p:nvGrpSpPr>
          <p:grpSpPr>
            <a:xfrm>
              <a:off x="2687493" y="5652658"/>
              <a:ext cx="2698750" cy="818062"/>
              <a:chOff x="938213" y="5322389"/>
              <a:chExt cx="2698750" cy="818061"/>
            </a:xfrm>
          </p:grpSpPr>
          <p:cxnSp>
            <p:nvCxnSpPr>
              <p:cNvPr id="5154" name="Google Shape;5154;p83"/>
              <p:cNvCxnSpPr/>
              <p:nvPr/>
            </p:nvCxnSpPr>
            <p:spPr>
              <a:xfrm flipH="1">
                <a:off x="1282700" y="5802312"/>
                <a:ext cx="1508125" cy="1588"/>
              </a:xfrm>
              <a:prstGeom prst="straightConnector1">
                <a:avLst/>
              </a:prstGeom>
              <a:noFill/>
              <a:ln cap="flat" cmpd="sng" w="9525">
                <a:solidFill>
                  <a:srgbClr val="000000"/>
                </a:solidFill>
                <a:prstDash val="solid"/>
                <a:round/>
                <a:headEnd len="sm" w="sm" type="none"/>
                <a:tailEnd len="sm" w="sm" type="none"/>
              </a:ln>
            </p:spPr>
          </p:cxnSp>
          <p:sp>
            <p:nvSpPr>
              <p:cNvPr id="5155" name="Google Shape;5155;p83"/>
              <p:cNvSpPr txBox="1"/>
              <p:nvPr/>
            </p:nvSpPr>
            <p:spPr>
              <a:xfrm>
                <a:off x="3198813" y="5473700"/>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156" name="Google Shape;5156;p83"/>
              <p:cNvSpPr txBox="1"/>
              <p:nvPr/>
            </p:nvSpPr>
            <p:spPr>
              <a:xfrm>
                <a:off x="3373438" y="5761038"/>
                <a:ext cx="26352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grpSp>
            <p:nvGrpSpPr>
              <p:cNvPr id="5157" name="Google Shape;5157;p83"/>
              <p:cNvGrpSpPr/>
              <p:nvPr/>
            </p:nvGrpSpPr>
            <p:grpSpPr>
              <a:xfrm>
                <a:off x="938213" y="5322389"/>
                <a:ext cx="1616075" cy="402139"/>
                <a:chOff x="-4079003" y="2802821"/>
                <a:chExt cx="1616718" cy="403057"/>
              </a:xfrm>
            </p:grpSpPr>
            <p:sp>
              <p:nvSpPr>
                <p:cNvPr id="5158" name="Google Shape;5158;p83"/>
                <p:cNvSpPr/>
                <p:nvPr/>
              </p:nvSpPr>
              <p:spPr>
                <a:xfrm>
                  <a:off x="-4079003" y="2985994"/>
                  <a:ext cx="1281675" cy="208750"/>
                </a:xfrm>
                <a:prstGeom prst="rect">
                  <a:avLst/>
                </a:prstGeom>
                <a:solidFill>
                  <a:srgbClr val="3333CC"/>
                </a:solidFill>
                <a:ln cap="flat" cmpd="sng" w="9525">
                  <a:solidFill>
                    <a:srgbClr val="000000"/>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159" name="Google Shape;5159;p83"/>
                <p:cNvCxnSpPr/>
                <p:nvPr/>
              </p:nvCxnSpPr>
              <p:spPr>
                <a:xfrm>
                  <a:off x="-2933828" y="3101502"/>
                  <a:ext cx="471543" cy="0"/>
                </a:xfrm>
                <a:prstGeom prst="straightConnector1">
                  <a:avLst/>
                </a:prstGeom>
                <a:noFill/>
                <a:ln cap="flat" cmpd="sng" w="9525">
                  <a:solidFill>
                    <a:srgbClr val="3333CC"/>
                  </a:solidFill>
                  <a:prstDash val="solid"/>
                  <a:round/>
                  <a:headEnd len="med" w="med" type="none"/>
                  <a:tailEnd len="med" w="med" type="triangle"/>
                </a:ln>
              </p:spPr>
            </p:cxnSp>
            <p:sp>
              <p:nvSpPr>
                <p:cNvPr id="5160" name="Google Shape;5160;p83"/>
                <p:cNvSpPr/>
                <p:nvPr/>
              </p:nvSpPr>
              <p:spPr>
                <a:xfrm>
                  <a:off x="-3377007" y="2988777"/>
                  <a:ext cx="476861" cy="210142"/>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61" name="Google Shape;5161;p83"/>
                <p:cNvSpPr txBox="1"/>
                <p:nvPr/>
              </p:nvSpPr>
              <p:spPr>
                <a:xfrm>
                  <a:off x="-3430189" y="2965119"/>
                  <a:ext cx="581451" cy="2407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cxnSp>
              <p:nvCxnSpPr>
                <p:cNvPr id="5162" name="Google Shape;5162;p83"/>
                <p:cNvCxnSpPr/>
                <p:nvPr/>
              </p:nvCxnSpPr>
              <p:spPr>
                <a:xfrm>
                  <a:off x="-3940114" y="2802821"/>
                  <a:ext cx="724425" cy="215182"/>
                </a:xfrm>
                <a:prstGeom prst="straightConnector1">
                  <a:avLst/>
                </a:prstGeom>
                <a:noFill/>
                <a:ln cap="flat" cmpd="sng" w="15875">
                  <a:solidFill>
                    <a:srgbClr val="C00000"/>
                  </a:solidFill>
                  <a:prstDash val="solid"/>
                  <a:round/>
                  <a:headEnd len="med" w="med" type="none"/>
                  <a:tailEnd len="med" w="med" type="triangle"/>
                </a:ln>
              </p:spPr>
            </p:cxnSp>
          </p:grpSp>
          <p:grpSp>
            <p:nvGrpSpPr>
              <p:cNvPr id="5163" name="Google Shape;5163;p83"/>
              <p:cNvGrpSpPr/>
              <p:nvPr/>
            </p:nvGrpSpPr>
            <p:grpSpPr>
              <a:xfrm>
                <a:off x="2714625" y="5659438"/>
                <a:ext cx="565150" cy="293688"/>
                <a:chOff x="1871277" y="1576300"/>
                <a:chExt cx="1128371" cy="437862"/>
              </a:xfrm>
            </p:grpSpPr>
            <p:sp>
              <p:nvSpPr>
                <p:cNvPr id="5164" name="Google Shape;5164;p83"/>
                <p:cNvSpPr/>
                <p:nvPr/>
              </p:nvSpPr>
              <p:spPr>
                <a:xfrm flipH="1" rot="10800000">
                  <a:off x="1874448" y="1694641"/>
                  <a:ext cx="1125200" cy="319521"/>
                </a:xfrm>
                <a:prstGeom prst="ellipse">
                  <a:avLst/>
                </a:prstGeom>
                <a:gradFill>
                  <a:gsLst>
                    <a:gs pos="0">
                      <a:srgbClr val="262699"/>
                    </a:gs>
                    <a:gs pos="52999">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5" name="Google Shape;5165;p83"/>
                <p:cNvSpPr/>
                <p:nvPr/>
              </p:nvSpPr>
              <p:spPr>
                <a:xfrm>
                  <a:off x="1871277" y="1739611"/>
                  <a:ext cx="1128371" cy="115973"/>
                </a:xfrm>
                <a:prstGeom prst="rect">
                  <a:avLst/>
                </a:prstGeom>
                <a:gradFill>
                  <a:gsLst>
                    <a:gs pos="0">
                      <a:srgbClr val="262699"/>
                    </a:gs>
                    <a:gs pos="52999">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6" name="Google Shape;5166;p83"/>
                <p:cNvSpPr/>
                <p:nvPr/>
              </p:nvSpPr>
              <p:spPr>
                <a:xfrm flipH="1" rot="10800000">
                  <a:off x="1871277" y="1576300"/>
                  <a:ext cx="1125202" cy="319521"/>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7" name="Google Shape;5167;p83"/>
                <p:cNvSpPr/>
                <p:nvPr/>
              </p:nvSpPr>
              <p:spPr>
                <a:xfrm>
                  <a:off x="2159710" y="1673340"/>
                  <a:ext cx="548337" cy="160944"/>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68" name="Google Shape;5168;p83"/>
                <p:cNvSpPr/>
                <p:nvPr/>
              </p:nvSpPr>
              <p:spPr>
                <a:xfrm>
                  <a:off x="2102657" y="1633104"/>
                  <a:ext cx="662442"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69" name="Google Shape;5169;p83"/>
                <p:cNvSpPr/>
                <p:nvPr/>
              </p:nvSpPr>
              <p:spPr>
                <a:xfrm>
                  <a:off x="2536889" y="1727776"/>
                  <a:ext cx="244059"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70" name="Google Shape;5170;p83"/>
                <p:cNvSpPr/>
                <p:nvPr/>
              </p:nvSpPr>
              <p:spPr>
                <a:xfrm>
                  <a:off x="2089979"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71" name="Google Shape;5171;p83"/>
                <p:cNvCxnSpPr>
                  <a:endCxn id="5166" idx="2"/>
                </p:cNvCxnSpPr>
                <p:nvPr/>
              </p:nvCxnSpPr>
              <p:spPr>
                <a:xfrm rot="10800000">
                  <a:off x="1871277" y="1736061"/>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172" name="Google Shape;5172;p83"/>
                <p:cNvCxnSpPr/>
                <p:nvPr/>
              </p:nvCxnSpPr>
              <p:spPr>
                <a:xfrm rot="10800000">
                  <a:off x="2996479" y="1734878"/>
                  <a:ext cx="3169" cy="123075"/>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sp>
            <p:nvSpPr>
              <p:cNvPr id="5173" name="Google Shape;5173;p83"/>
              <p:cNvSpPr txBox="1"/>
              <p:nvPr/>
            </p:nvSpPr>
            <p:spPr>
              <a:xfrm>
                <a:off x="3068638" y="5862638"/>
                <a:ext cx="261937"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174" name="Google Shape;5174;p83"/>
              <p:cNvSpPr/>
              <p:nvPr/>
            </p:nvSpPr>
            <p:spPr>
              <a:xfrm>
                <a:off x="2493963" y="5668963"/>
                <a:ext cx="982662" cy="233362"/>
              </a:xfrm>
              <a:custGeom>
                <a:rect b="b" l="l" r="r" t="t"/>
                <a:pathLst>
                  <a:path extrusionOk="0" h="167" w="554">
                    <a:moveTo>
                      <a:pt x="0" y="10"/>
                    </a:moveTo>
                    <a:cubicBezTo>
                      <a:pt x="102" y="0"/>
                      <a:pt x="240" y="5"/>
                      <a:pt x="324" y="26"/>
                    </a:cubicBezTo>
                    <a:cubicBezTo>
                      <a:pt x="416" y="52"/>
                      <a:pt x="502" y="120"/>
                      <a:pt x="554" y="167"/>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175" name="Google Shape;5175;p83"/>
            <p:cNvSpPr txBox="1"/>
            <p:nvPr/>
          </p:nvSpPr>
          <p:spPr>
            <a:xfrm>
              <a:off x="1372488" y="5470630"/>
              <a:ext cx="1992313"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values in arriving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 header</a:t>
              </a:r>
              <a:endParaRPr b="0" i="0" sz="1800" u="none" cap="none" strike="noStrike">
                <a:solidFill>
                  <a:srgbClr val="000000"/>
                </a:solidFill>
                <a:latin typeface="Arial"/>
                <a:ea typeface="Arial"/>
                <a:cs typeface="Arial"/>
                <a:sym typeface="Arial"/>
              </a:endParaRPr>
            </a:p>
          </p:txBody>
        </p:sp>
      </p:grpSp>
      <p:sp>
        <p:nvSpPr>
          <p:cNvPr id="5176" name="Google Shape;5176;p83"/>
          <p:cNvSpPr txBox="1"/>
          <p:nvPr>
            <p:ph type="title"/>
          </p:nvPr>
        </p:nvSpPr>
        <p:spPr>
          <a:xfrm>
            <a:off x="838199" y="279543"/>
            <a:ext cx="1084711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800"/>
              <a:buFont typeface="Calibri"/>
              <a:buNone/>
            </a:pPr>
            <a:r>
              <a:rPr b="0" lang="en-US" sz="4800">
                <a:solidFill>
                  <a:srgbClr val="000099"/>
                </a:solidFill>
                <a:latin typeface="Calibri"/>
                <a:ea typeface="Calibri"/>
                <a:cs typeface="Calibri"/>
                <a:sym typeface="Calibri"/>
              </a:rPr>
              <a:t>Generalized forwarding: match plus action</a:t>
            </a:r>
            <a:endParaRPr/>
          </a:p>
        </p:txBody>
      </p:sp>
      <p:sp>
        <p:nvSpPr>
          <p:cNvPr id="5177" name="Google Shape;5177;p83"/>
          <p:cNvSpPr txBox="1"/>
          <p:nvPr/>
        </p:nvSpPr>
        <p:spPr>
          <a:xfrm>
            <a:off x="847174" y="1217384"/>
            <a:ext cx="11259652"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Calibri"/>
                <a:ea typeface="Calibri"/>
                <a:cs typeface="Calibri"/>
                <a:sym typeface="Calibri"/>
              </a:rPr>
              <a:t>Review:  </a:t>
            </a:r>
            <a:r>
              <a:rPr b="0" i="0" lang="en-US" sz="2800" u="none" cap="none" strike="noStrike">
                <a:solidFill>
                  <a:srgbClr val="000000"/>
                </a:solidFill>
                <a:latin typeface="Calibri"/>
                <a:ea typeface="Calibri"/>
                <a:cs typeface="Calibri"/>
                <a:sym typeface="Calibri"/>
              </a:rPr>
              <a:t>each router contains a </a:t>
            </a:r>
            <a:r>
              <a:rPr b="0" i="0" lang="en-US" sz="2800" u="none" cap="none" strike="noStrike">
                <a:solidFill>
                  <a:srgbClr val="CC0000"/>
                </a:solidFill>
                <a:latin typeface="Calibri"/>
                <a:ea typeface="Calibri"/>
                <a:cs typeface="Calibri"/>
                <a:sym typeface="Calibri"/>
              </a:rPr>
              <a:t>forwarding table </a:t>
            </a:r>
            <a:endParaRPr b="0" i="0" sz="2800" u="none" cap="none" strike="noStrike">
              <a:solidFill>
                <a:srgbClr val="000000"/>
              </a:solidFill>
              <a:latin typeface="Calibri"/>
              <a:ea typeface="Calibri"/>
              <a:cs typeface="Calibri"/>
              <a:sym typeface="Calibri"/>
            </a:endParaRPr>
          </a:p>
          <a:p>
            <a:pPr indent="-28575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CC0000"/>
                </a:solidFill>
                <a:latin typeface="Calibri"/>
                <a:ea typeface="Calibri"/>
                <a:cs typeface="Calibri"/>
                <a:sym typeface="Calibri"/>
              </a:rPr>
              <a:t>“match plus action” </a:t>
            </a:r>
            <a:r>
              <a:rPr b="0" i="0" lang="en-US" sz="2800" u="none" cap="none" strike="noStrike">
                <a:solidFill>
                  <a:srgbClr val="000000"/>
                </a:solidFill>
                <a:latin typeface="Calibri"/>
                <a:ea typeface="Calibri"/>
                <a:cs typeface="Calibri"/>
                <a:sym typeface="Calibri"/>
              </a:rPr>
              <a:t>abstraction: match bits in arriving packet, take action</a:t>
            </a:r>
            <a:endParaRPr/>
          </a:p>
        </p:txBody>
      </p:sp>
      <p:grpSp>
        <p:nvGrpSpPr>
          <p:cNvPr id="5178" name="Google Shape;5178;p83"/>
          <p:cNvGrpSpPr/>
          <p:nvPr/>
        </p:nvGrpSpPr>
        <p:grpSpPr>
          <a:xfrm>
            <a:off x="3590654" y="4136605"/>
            <a:ext cx="5200654" cy="2273665"/>
            <a:chOff x="3590654" y="4136605"/>
            <a:chExt cx="5200654" cy="2273665"/>
          </a:xfrm>
        </p:grpSpPr>
        <p:grpSp>
          <p:nvGrpSpPr>
            <p:cNvPr id="5179" name="Google Shape;5179;p83"/>
            <p:cNvGrpSpPr/>
            <p:nvPr/>
          </p:nvGrpSpPr>
          <p:grpSpPr>
            <a:xfrm>
              <a:off x="3590654" y="4136605"/>
              <a:ext cx="1298579" cy="1913670"/>
              <a:chOff x="3590654" y="4136605"/>
              <a:chExt cx="1298579" cy="1913670"/>
            </a:xfrm>
          </p:grpSpPr>
          <p:sp>
            <p:nvSpPr>
              <p:cNvPr id="5180" name="Google Shape;5180;p83"/>
              <p:cNvSpPr/>
              <p:nvPr/>
            </p:nvSpPr>
            <p:spPr>
              <a:xfrm>
                <a:off x="3608120" y="5291450"/>
                <a:ext cx="1281113" cy="758825"/>
              </a:xfrm>
              <a:custGeom>
                <a:rect b="b" l="l" r="r" t="t"/>
                <a:pathLst>
                  <a:path extrusionOk="0" h="759828" w="1280499">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a:gsLst>
                  <a:gs pos="0">
                    <a:srgbClr val="F2F2F2"/>
                  </a:gs>
                  <a:gs pos="100000">
                    <a:srgbClr val="BFBFBF"/>
                  </a:gs>
                </a:gsLst>
                <a:lin ang="16200000" scaled="0"/>
              </a:gra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1" name="Google Shape;5181;p83"/>
              <p:cNvSpPr/>
              <p:nvPr/>
            </p:nvSpPr>
            <p:spPr>
              <a:xfrm rot="10800000">
                <a:off x="3610169" y="4392826"/>
                <a:ext cx="1027113" cy="447284"/>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grpSp>
            <p:nvGrpSpPr>
              <p:cNvPr id="5182" name="Google Shape;5182;p83"/>
              <p:cNvGrpSpPr/>
              <p:nvPr/>
            </p:nvGrpSpPr>
            <p:grpSpPr>
              <a:xfrm>
                <a:off x="3590654" y="5050151"/>
                <a:ext cx="1035050" cy="360363"/>
                <a:chOff x="4129067" y="3606966"/>
                <a:chExt cx="567968" cy="338045"/>
              </a:xfrm>
            </p:grpSpPr>
            <p:sp>
              <p:nvSpPr>
                <p:cNvPr id="5183" name="Google Shape;5183;p83"/>
                <p:cNvSpPr/>
                <p:nvPr/>
              </p:nvSpPr>
              <p:spPr>
                <a:xfrm>
                  <a:off x="4130589" y="3720144"/>
                  <a:ext cx="566445" cy="224867"/>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4" name="Google Shape;5184;p83"/>
                <p:cNvSpPr/>
                <p:nvPr/>
              </p:nvSpPr>
              <p:spPr>
                <a:xfrm>
                  <a:off x="4129067" y="3720144"/>
                  <a:ext cx="567968" cy="111689"/>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85" name="Google Shape;5185;p83"/>
                <p:cNvSpPr/>
                <p:nvPr/>
              </p:nvSpPr>
              <p:spPr>
                <a:xfrm>
                  <a:off x="4129067" y="3606966"/>
                  <a:ext cx="567968" cy="224867"/>
                </a:xfrm>
                <a:prstGeom prst="ellipse">
                  <a:avLst/>
                </a:prstGeom>
                <a:solidFill>
                  <a:srgbClr val="8383E0">
                    <a:alpha val="6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186" name="Google Shape;5186;p83"/>
                <p:cNvCxnSpPr/>
                <p:nvPr/>
              </p:nvCxnSpPr>
              <p:spPr>
                <a:xfrm>
                  <a:off x="4697035" y="3720144"/>
                  <a:ext cx="0" cy="111689"/>
                </a:xfrm>
                <a:prstGeom prst="straightConnector1">
                  <a:avLst/>
                </a:prstGeom>
                <a:noFill/>
                <a:ln cap="flat" cmpd="sng" w="9525">
                  <a:solidFill>
                    <a:srgbClr val="000000"/>
                  </a:solidFill>
                  <a:prstDash val="solid"/>
                  <a:round/>
                  <a:headEnd len="sm" w="sm" type="none"/>
                  <a:tailEnd len="sm" w="sm" type="none"/>
                </a:ln>
              </p:spPr>
            </p:cxnSp>
            <p:cxnSp>
              <p:nvCxnSpPr>
                <p:cNvPr id="5187" name="Google Shape;5187;p83"/>
                <p:cNvCxnSpPr/>
                <p:nvPr/>
              </p:nvCxnSpPr>
              <p:spPr>
                <a:xfrm>
                  <a:off x="4129067" y="3720144"/>
                  <a:ext cx="0" cy="111689"/>
                </a:xfrm>
                <a:prstGeom prst="straightConnector1">
                  <a:avLst/>
                </a:prstGeom>
                <a:noFill/>
                <a:ln cap="flat" cmpd="sng" w="9525">
                  <a:solidFill>
                    <a:srgbClr val="000000"/>
                  </a:solidFill>
                  <a:prstDash val="solid"/>
                  <a:round/>
                  <a:headEnd len="sm" w="sm" type="none"/>
                  <a:tailEnd len="sm" w="sm" type="none"/>
                </a:ln>
              </p:spPr>
            </p:cxnSp>
          </p:grpSp>
          <p:sp>
            <p:nvSpPr>
              <p:cNvPr id="5188" name="Google Shape;5188;p83"/>
              <p:cNvSpPr/>
              <p:nvPr/>
            </p:nvSpPr>
            <p:spPr>
              <a:xfrm>
                <a:off x="3592076" y="4851683"/>
                <a:ext cx="1028700" cy="336579"/>
              </a:xfrm>
              <a:prstGeom prst="rect">
                <a:avLst/>
              </a:prstGeom>
              <a:gradFill>
                <a:gsLst>
                  <a:gs pos="0">
                    <a:srgbClr val="ACACEA"/>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189" name="Google Shape;5189;p83"/>
              <p:cNvCxnSpPr/>
              <p:nvPr/>
            </p:nvCxnSpPr>
            <p:spPr>
              <a:xfrm>
                <a:off x="3609708" y="5243825"/>
                <a:ext cx="0" cy="0"/>
              </a:xfrm>
              <a:prstGeom prst="straightConnector1">
                <a:avLst/>
              </a:prstGeom>
              <a:noFill/>
              <a:ln cap="flat" cmpd="sng" w="9525">
                <a:solidFill>
                  <a:srgbClr val="000000"/>
                </a:solidFill>
                <a:prstDash val="dash"/>
                <a:round/>
                <a:headEnd len="sm" w="sm" type="none"/>
                <a:tailEnd len="sm" w="sm" type="none"/>
              </a:ln>
            </p:spPr>
          </p:cxnSp>
          <p:cxnSp>
            <p:nvCxnSpPr>
              <p:cNvPr id="5190" name="Google Shape;5190;p83"/>
              <p:cNvCxnSpPr/>
              <p:nvPr/>
            </p:nvCxnSpPr>
            <p:spPr>
              <a:xfrm>
                <a:off x="4625708" y="4396154"/>
                <a:ext cx="0" cy="806396"/>
              </a:xfrm>
              <a:prstGeom prst="straightConnector1">
                <a:avLst/>
              </a:prstGeom>
              <a:noFill/>
              <a:ln cap="flat" cmpd="sng" w="9525">
                <a:solidFill>
                  <a:srgbClr val="000000"/>
                </a:solidFill>
                <a:prstDash val="dash"/>
                <a:round/>
                <a:headEnd len="sm" w="sm" type="none"/>
                <a:tailEnd len="sm" w="sm" type="none"/>
              </a:ln>
            </p:spPr>
          </p:cxnSp>
          <p:grpSp>
            <p:nvGrpSpPr>
              <p:cNvPr id="5191" name="Google Shape;5191;p83"/>
              <p:cNvGrpSpPr/>
              <p:nvPr/>
            </p:nvGrpSpPr>
            <p:grpSpPr>
              <a:xfrm>
                <a:off x="3609241" y="4136605"/>
                <a:ext cx="1019775" cy="398462"/>
                <a:chOff x="2183302" y="1574638"/>
                <a:chExt cx="1199996" cy="429505"/>
              </a:xfrm>
            </p:grpSpPr>
            <p:sp>
              <p:nvSpPr>
                <p:cNvPr id="5192" name="Google Shape;5192;p83"/>
                <p:cNvSpPr/>
                <p:nvPr/>
              </p:nvSpPr>
              <p:spPr>
                <a:xfrm flipH="1" rot="10800000">
                  <a:off x="2185125" y="1689286"/>
                  <a:ext cx="1196349" cy="314857"/>
                </a:xfrm>
                <a:prstGeom prst="ellipse">
                  <a:avLst/>
                </a:prstGeom>
                <a:gradFill>
                  <a:gsLst>
                    <a:gs pos="0">
                      <a:srgbClr val="262699"/>
                    </a:gs>
                    <a:gs pos="31000">
                      <a:srgbClr val="8383E0"/>
                    </a:gs>
                    <a:gs pos="100000">
                      <a:srgbClr val="D5D5F4"/>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3" name="Google Shape;5193;p83"/>
                <p:cNvSpPr/>
                <p:nvPr/>
              </p:nvSpPr>
              <p:spPr>
                <a:xfrm>
                  <a:off x="2183302" y="1735489"/>
                  <a:ext cx="1198172" cy="112938"/>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4" name="Google Shape;5194;p83"/>
                <p:cNvSpPr/>
                <p:nvPr/>
              </p:nvSpPr>
              <p:spPr>
                <a:xfrm flipH="1" rot="10800000">
                  <a:off x="2183302" y="1574638"/>
                  <a:ext cx="1196349" cy="31485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5" name="Google Shape;5195;p83"/>
                <p:cNvSpPr/>
                <p:nvPr/>
              </p:nvSpPr>
              <p:spPr>
                <a:xfrm>
                  <a:off x="2489684" y="1670464"/>
                  <a:ext cx="581761" cy="157429"/>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196" name="Google Shape;5196;p83"/>
                <p:cNvSpPr/>
                <p:nvPr/>
              </p:nvSpPr>
              <p:spPr>
                <a:xfrm>
                  <a:off x="2429501" y="1629396"/>
                  <a:ext cx="703949" cy="11122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97" name="Google Shape;5197;p83"/>
                <p:cNvSpPr/>
                <p:nvPr/>
              </p:nvSpPr>
              <p:spPr>
                <a:xfrm>
                  <a:off x="2892722" y="1723510"/>
                  <a:ext cx="257143" cy="95826"/>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198" name="Google Shape;5198;p83"/>
                <p:cNvSpPr/>
                <p:nvPr/>
              </p:nvSpPr>
              <p:spPr>
                <a:xfrm>
                  <a:off x="2416736" y="1725222"/>
                  <a:ext cx="255318" cy="94114"/>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199" name="Google Shape;5199;p83"/>
                <p:cNvCxnSpPr>
                  <a:endCxn id="5194" idx="2"/>
                </p:cNvCxnSpPr>
                <p:nvPr/>
              </p:nvCxnSpPr>
              <p:spPr>
                <a:xfrm rot="10800000">
                  <a:off x="2183302" y="1732067"/>
                  <a:ext cx="1800" cy="1215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00" name="Google Shape;5200;p83"/>
                <p:cNvCxnSpPr/>
                <p:nvPr/>
              </p:nvCxnSpPr>
              <p:spPr>
                <a:xfrm rot="10800000">
                  <a:off x="3381474" y="1728644"/>
                  <a:ext cx="1824" cy="121493"/>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cxnSp>
            <p:nvCxnSpPr>
              <p:cNvPr id="5201" name="Google Shape;5201;p83"/>
              <p:cNvCxnSpPr/>
              <p:nvPr/>
            </p:nvCxnSpPr>
            <p:spPr>
              <a:xfrm>
                <a:off x="3607035" y="4388133"/>
                <a:ext cx="0" cy="806396"/>
              </a:xfrm>
              <a:prstGeom prst="straightConnector1">
                <a:avLst/>
              </a:prstGeom>
              <a:noFill/>
              <a:ln cap="flat" cmpd="sng" w="9525">
                <a:solidFill>
                  <a:srgbClr val="000000"/>
                </a:solidFill>
                <a:prstDash val="dash"/>
                <a:round/>
                <a:headEnd len="sm" w="sm" type="none"/>
                <a:tailEnd len="sm" w="sm" type="none"/>
              </a:ln>
            </p:spPr>
          </p:cxnSp>
        </p:grpSp>
        <p:grpSp>
          <p:nvGrpSpPr>
            <p:cNvPr id="5202" name="Google Shape;5202;p83"/>
            <p:cNvGrpSpPr/>
            <p:nvPr/>
          </p:nvGrpSpPr>
          <p:grpSpPr>
            <a:xfrm>
              <a:off x="5292458" y="4247491"/>
              <a:ext cx="573087" cy="2162779"/>
              <a:chOff x="5292458" y="4247491"/>
              <a:chExt cx="573087" cy="2162779"/>
            </a:xfrm>
          </p:grpSpPr>
          <p:sp>
            <p:nvSpPr>
              <p:cNvPr id="5203" name="Google Shape;5203;p83"/>
              <p:cNvSpPr/>
              <p:nvPr/>
            </p:nvSpPr>
            <p:spPr>
              <a:xfrm>
                <a:off x="5292458" y="5394637"/>
                <a:ext cx="573087" cy="1015633"/>
              </a:xfrm>
              <a:custGeom>
                <a:rect b="b" l="l" r="r" t="t"/>
                <a:pathLst>
                  <a:path extrusionOk="0" h="1014877" w="574100">
                    <a:moveTo>
                      <a:pt x="323648" y="1001558"/>
                    </a:moveTo>
                    <a:cubicBezTo>
                      <a:pt x="144359" y="448953"/>
                      <a:pt x="295574" y="908506"/>
                      <a:pt x="0" y="4757"/>
                    </a:cubicBezTo>
                    <a:cubicBezTo>
                      <a:pt x="166537" y="861"/>
                      <a:pt x="336246" y="3896"/>
                      <a:pt x="502783" y="0"/>
                    </a:cubicBezTo>
                    <a:cubicBezTo>
                      <a:pt x="555943" y="995541"/>
                      <a:pt x="537473" y="350120"/>
                      <a:pt x="574100" y="1014877"/>
                    </a:cubicBezTo>
                    <a:cubicBezTo>
                      <a:pt x="492318" y="996974"/>
                      <a:pt x="472137" y="977884"/>
                      <a:pt x="323648" y="1001558"/>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4" name="Google Shape;5204;p83"/>
              <p:cNvSpPr/>
              <p:nvPr/>
            </p:nvSpPr>
            <p:spPr>
              <a:xfrm rot="10800000">
                <a:off x="5300268" y="4416668"/>
                <a:ext cx="498084" cy="353991"/>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05" name="Google Shape;5205;p83"/>
              <p:cNvCxnSpPr>
                <a:stCxn id="5206" idx="3"/>
              </p:cNvCxnSpPr>
              <p:nvPr/>
            </p:nvCxnSpPr>
            <p:spPr>
              <a:xfrm>
                <a:off x="5798598" y="4376078"/>
                <a:ext cx="11400" cy="969300"/>
              </a:xfrm>
              <a:prstGeom prst="straightConnector1">
                <a:avLst/>
              </a:prstGeom>
              <a:noFill/>
              <a:ln cap="flat" cmpd="sng" w="9525">
                <a:solidFill>
                  <a:srgbClr val="000000"/>
                </a:solidFill>
                <a:prstDash val="dash"/>
                <a:round/>
                <a:headEnd len="sm" w="sm" type="none"/>
                <a:tailEnd len="sm" w="sm" type="none"/>
              </a:ln>
            </p:spPr>
          </p:cxnSp>
          <p:grpSp>
            <p:nvGrpSpPr>
              <p:cNvPr id="5207" name="Google Shape;5207;p83"/>
              <p:cNvGrpSpPr/>
              <p:nvPr/>
            </p:nvGrpSpPr>
            <p:grpSpPr>
              <a:xfrm>
                <a:off x="5301983" y="5267638"/>
                <a:ext cx="508000" cy="225425"/>
                <a:chOff x="4128204" y="3600527"/>
                <a:chExt cx="568606" cy="344310"/>
              </a:xfrm>
            </p:grpSpPr>
            <p:sp>
              <p:nvSpPr>
                <p:cNvPr id="5208" name="Google Shape;5208;p83"/>
                <p:cNvSpPr/>
                <p:nvPr/>
              </p:nvSpPr>
              <p:spPr>
                <a:xfrm>
                  <a:off x="4128204" y="3719337"/>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9" name="Google Shape;5209;p83"/>
                <p:cNvSpPr/>
                <p:nvPr/>
              </p:nvSpPr>
              <p:spPr>
                <a:xfrm>
                  <a:off x="4128204" y="3719337"/>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0" name="Google Shape;5210;p83"/>
                <p:cNvSpPr/>
                <p:nvPr/>
              </p:nvSpPr>
              <p:spPr>
                <a:xfrm>
                  <a:off x="4128204" y="3600527"/>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11" name="Google Shape;5211;p83"/>
                <p:cNvCxnSpPr/>
                <p:nvPr/>
              </p:nvCxnSpPr>
              <p:spPr>
                <a:xfrm>
                  <a:off x="4696810" y="3719337"/>
                  <a:ext cx="0" cy="111537"/>
                </a:xfrm>
                <a:prstGeom prst="straightConnector1">
                  <a:avLst/>
                </a:prstGeom>
                <a:noFill/>
                <a:ln cap="flat" cmpd="sng" w="9525">
                  <a:solidFill>
                    <a:srgbClr val="000000"/>
                  </a:solidFill>
                  <a:prstDash val="solid"/>
                  <a:round/>
                  <a:headEnd len="sm" w="sm" type="none"/>
                  <a:tailEnd len="sm" w="sm" type="none"/>
                </a:ln>
              </p:spPr>
            </p:cxnSp>
            <p:cxnSp>
              <p:nvCxnSpPr>
                <p:cNvPr id="5212" name="Google Shape;5212;p83"/>
                <p:cNvCxnSpPr/>
                <p:nvPr/>
              </p:nvCxnSpPr>
              <p:spPr>
                <a:xfrm>
                  <a:off x="4128204" y="3719337"/>
                  <a:ext cx="0" cy="111537"/>
                </a:xfrm>
                <a:prstGeom prst="straightConnector1">
                  <a:avLst/>
                </a:prstGeom>
                <a:noFill/>
                <a:ln cap="flat" cmpd="sng" w="9525">
                  <a:solidFill>
                    <a:srgbClr val="000000"/>
                  </a:solidFill>
                  <a:prstDash val="solid"/>
                  <a:round/>
                  <a:headEnd len="sm" w="sm" type="none"/>
                  <a:tailEnd len="sm" w="sm" type="none"/>
                </a:ln>
              </p:spPr>
            </p:cxnSp>
          </p:grpSp>
          <p:sp>
            <p:nvSpPr>
              <p:cNvPr id="5213" name="Google Shape;5213;p83"/>
              <p:cNvSpPr/>
              <p:nvPr/>
            </p:nvSpPr>
            <p:spPr>
              <a:xfrm>
                <a:off x="5303570" y="4851684"/>
                <a:ext cx="496888" cy="496916"/>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14" name="Google Shape;5214;p83"/>
              <p:cNvCxnSpPr>
                <a:stCxn id="5215" idx="2"/>
              </p:cNvCxnSpPr>
              <p:nvPr/>
            </p:nvCxnSpPr>
            <p:spPr>
              <a:xfrm flipH="1">
                <a:off x="5297160" y="4407035"/>
                <a:ext cx="4800" cy="1032000"/>
              </a:xfrm>
              <a:prstGeom prst="straightConnector1">
                <a:avLst/>
              </a:prstGeom>
              <a:noFill/>
              <a:ln cap="flat" cmpd="sng" w="9525">
                <a:solidFill>
                  <a:srgbClr val="000000"/>
                </a:solidFill>
                <a:prstDash val="dash"/>
                <a:round/>
                <a:headEnd len="sm" w="sm" type="none"/>
                <a:tailEnd len="sm" w="sm" type="none"/>
              </a:ln>
            </p:spPr>
          </p:cxnSp>
          <p:grpSp>
            <p:nvGrpSpPr>
              <p:cNvPr id="5216" name="Google Shape;5216;p83"/>
              <p:cNvGrpSpPr/>
              <p:nvPr/>
            </p:nvGrpSpPr>
            <p:grpSpPr>
              <a:xfrm>
                <a:off x="5300389" y="4247491"/>
                <a:ext cx="498209" cy="247651"/>
                <a:chOff x="2184877" y="1564501"/>
                <a:chExt cx="1198749" cy="439187"/>
              </a:xfrm>
            </p:grpSpPr>
            <p:sp>
              <p:nvSpPr>
                <p:cNvPr id="5215" name="Google Shape;5215;p83"/>
                <p:cNvSpPr/>
                <p:nvPr/>
              </p:nvSpPr>
              <p:spPr>
                <a:xfrm flipH="1" rot="10800000">
                  <a:off x="2188659" y="1691189"/>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06" name="Google Shape;5206;p83"/>
                <p:cNvSpPr/>
                <p:nvPr/>
              </p:nvSpPr>
              <p:spPr>
                <a:xfrm>
                  <a:off x="2184877" y="1736233"/>
                  <a:ext cx="1198749"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7" name="Google Shape;5217;p83"/>
                <p:cNvSpPr/>
                <p:nvPr/>
              </p:nvSpPr>
              <p:spPr>
                <a:xfrm flipH="1" rot="10800000">
                  <a:off x="2184877" y="1564501"/>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8" name="Google Shape;5218;p83"/>
                <p:cNvSpPr/>
                <p:nvPr/>
              </p:nvSpPr>
              <p:spPr>
                <a:xfrm>
                  <a:off x="2491182" y="1671482"/>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19" name="Google Shape;5219;p83"/>
                <p:cNvSpPr/>
                <p:nvPr/>
              </p:nvSpPr>
              <p:spPr>
                <a:xfrm>
                  <a:off x="2430678" y="1629252"/>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20" name="Google Shape;5220;p83"/>
                <p:cNvSpPr/>
                <p:nvPr/>
              </p:nvSpPr>
              <p:spPr>
                <a:xfrm>
                  <a:off x="2892025" y="1722158"/>
                  <a:ext cx="260925"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21" name="Google Shape;5221;p83"/>
                <p:cNvSpPr/>
                <p:nvPr/>
              </p:nvSpPr>
              <p:spPr>
                <a:xfrm>
                  <a:off x="2419332" y="1724972"/>
                  <a:ext cx="253364"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22" name="Google Shape;5222;p83"/>
                <p:cNvCxnSpPr>
                  <a:endCxn id="5217" idx="2"/>
                </p:cNvCxnSpPr>
                <p:nvPr/>
              </p:nvCxnSpPr>
              <p:spPr>
                <a:xfrm rot="10800000">
                  <a:off x="2184877" y="1720750"/>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23" name="Google Shape;5223;p83"/>
                <p:cNvCxnSpPr/>
                <p:nvPr/>
              </p:nvCxnSpPr>
              <p:spPr>
                <a:xfrm rot="10800000">
                  <a:off x="3379842" y="1727788"/>
                  <a:ext cx="3783"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24" name="Google Shape;5224;p83"/>
            <p:cNvGrpSpPr/>
            <p:nvPr/>
          </p:nvGrpSpPr>
          <p:grpSpPr>
            <a:xfrm>
              <a:off x="6071920" y="4247489"/>
              <a:ext cx="520700" cy="1626575"/>
              <a:chOff x="6071920" y="4247489"/>
              <a:chExt cx="520700" cy="1626575"/>
            </a:xfrm>
          </p:grpSpPr>
          <p:sp>
            <p:nvSpPr>
              <p:cNvPr id="5225" name="Google Shape;5225;p83"/>
              <p:cNvSpPr/>
              <p:nvPr/>
            </p:nvSpPr>
            <p:spPr>
              <a:xfrm>
                <a:off x="6071920" y="5431150"/>
                <a:ext cx="514350" cy="442914"/>
              </a:xfrm>
              <a:custGeom>
                <a:rect b="b" l="l" r="r" t="t"/>
                <a:pathLst>
                  <a:path extrusionOk="0" h="443525" w="514180">
                    <a:moveTo>
                      <a:pt x="110303" y="443525"/>
                    </a:moveTo>
                    <a:cubicBezTo>
                      <a:pt x="70106" y="235553"/>
                      <a:pt x="112501" y="273531"/>
                      <a:pt x="0" y="0"/>
                    </a:cubicBezTo>
                    <a:lnTo>
                      <a:pt x="514180" y="10891"/>
                    </a:lnTo>
                    <a:cubicBezTo>
                      <a:pt x="417353" y="348331"/>
                      <a:pt x="456724" y="233015"/>
                      <a:pt x="448695" y="424553"/>
                    </a:cubicBezTo>
                    <a:cubicBezTo>
                      <a:pt x="373684" y="393884"/>
                      <a:pt x="178402" y="416624"/>
                      <a:pt x="110303" y="443525"/>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26" name="Google Shape;5226;p83"/>
              <p:cNvSpPr/>
              <p:nvPr/>
            </p:nvSpPr>
            <p:spPr>
              <a:xfrm rot="10800000">
                <a:off x="6074112" y="4416669"/>
                <a:ext cx="498084" cy="364440"/>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27" name="Google Shape;5227;p83"/>
              <p:cNvCxnSpPr>
                <a:stCxn id="5228" idx="6"/>
              </p:cNvCxnSpPr>
              <p:nvPr/>
            </p:nvCxnSpPr>
            <p:spPr>
              <a:xfrm>
                <a:off x="6572320" y="4407033"/>
                <a:ext cx="15900" cy="943200"/>
              </a:xfrm>
              <a:prstGeom prst="straightConnector1">
                <a:avLst/>
              </a:prstGeom>
              <a:noFill/>
              <a:ln cap="flat" cmpd="sng" w="9525">
                <a:solidFill>
                  <a:srgbClr val="000000"/>
                </a:solidFill>
                <a:prstDash val="dash"/>
                <a:round/>
                <a:headEnd len="sm" w="sm" type="none"/>
                <a:tailEnd len="sm" w="sm" type="none"/>
              </a:ln>
            </p:spPr>
          </p:cxnSp>
          <p:grpSp>
            <p:nvGrpSpPr>
              <p:cNvPr id="5229" name="Google Shape;5229;p83"/>
              <p:cNvGrpSpPr/>
              <p:nvPr/>
            </p:nvGrpSpPr>
            <p:grpSpPr>
              <a:xfrm>
                <a:off x="6084620" y="5272400"/>
                <a:ext cx="508000" cy="225425"/>
                <a:chOff x="4128204" y="3600524"/>
                <a:chExt cx="568606" cy="344310"/>
              </a:xfrm>
            </p:grpSpPr>
            <p:sp>
              <p:nvSpPr>
                <p:cNvPr id="5230" name="Google Shape;5230;p83"/>
                <p:cNvSpPr/>
                <p:nvPr/>
              </p:nvSpPr>
              <p:spPr>
                <a:xfrm>
                  <a:off x="4128204" y="3719336"/>
                  <a:ext cx="568606" cy="225498"/>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1" name="Google Shape;5231;p83"/>
                <p:cNvSpPr/>
                <p:nvPr/>
              </p:nvSpPr>
              <p:spPr>
                <a:xfrm>
                  <a:off x="4128204" y="3719336"/>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2" name="Google Shape;5232;p83"/>
                <p:cNvSpPr/>
                <p:nvPr/>
              </p:nvSpPr>
              <p:spPr>
                <a:xfrm>
                  <a:off x="4128204" y="3600524"/>
                  <a:ext cx="568606" cy="230349"/>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33" name="Google Shape;5233;p83"/>
                <p:cNvCxnSpPr/>
                <p:nvPr/>
              </p:nvCxnSpPr>
              <p:spPr>
                <a:xfrm>
                  <a:off x="4696810" y="3719336"/>
                  <a:ext cx="0" cy="111537"/>
                </a:xfrm>
                <a:prstGeom prst="straightConnector1">
                  <a:avLst/>
                </a:prstGeom>
                <a:noFill/>
                <a:ln cap="flat" cmpd="sng" w="9525">
                  <a:solidFill>
                    <a:srgbClr val="000000"/>
                  </a:solidFill>
                  <a:prstDash val="solid"/>
                  <a:round/>
                  <a:headEnd len="sm" w="sm" type="none"/>
                  <a:tailEnd len="sm" w="sm" type="none"/>
                </a:ln>
              </p:spPr>
            </p:cxnSp>
            <p:cxnSp>
              <p:nvCxnSpPr>
                <p:cNvPr id="5234" name="Google Shape;5234;p83"/>
                <p:cNvCxnSpPr/>
                <p:nvPr/>
              </p:nvCxnSpPr>
              <p:spPr>
                <a:xfrm>
                  <a:off x="4128204" y="3719336"/>
                  <a:ext cx="0" cy="111537"/>
                </a:xfrm>
                <a:prstGeom prst="straightConnector1">
                  <a:avLst/>
                </a:prstGeom>
                <a:noFill/>
                <a:ln cap="flat" cmpd="sng" w="9525">
                  <a:solidFill>
                    <a:srgbClr val="000000"/>
                  </a:solidFill>
                  <a:prstDash val="solid"/>
                  <a:round/>
                  <a:headEnd len="sm" w="sm" type="none"/>
                  <a:tailEnd len="sm" w="sm" type="none"/>
                </a:ln>
              </p:spPr>
            </p:cxnSp>
          </p:grpSp>
          <p:sp>
            <p:nvSpPr>
              <p:cNvPr id="5235" name="Google Shape;5235;p83"/>
              <p:cNvSpPr/>
              <p:nvPr/>
            </p:nvSpPr>
            <p:spPr>
              <a:xfrm>
                <a:off x="6086208" y="4886407"/>
                <a:ext cx="496887" cy="466955"/>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36" name="Google Shape;5236;p83"/>
              <p:cNvCxnSpPr>
                <a:stCxn id="5237" idx="1"/>
              </p:cNvCxnSpPr>
              <p:nvPr/>
            </p:nvCxnSpPr>
            <p:spPr>
              <a:xfrm>
                <a:off x="6074234" y="4376077"/>
                <a:ext cx="1200" cy="1067700"/>
              </a:xfrm>
              <a:prstGeom prst="straightConnector1">
                <a:avLst/>
              </a:prstGeom>
              <a:noFill/>
              <a:ln cap="flat" cmpd="sng" w="9525">
                <a:solidFill>
                  <a:srgbClr val="000000"/>
                </a:solidFill>
                <a:prstDash val="dash"/>
                <a:round/>
                <a:headEnd len="sm" w="sm" type="none"/>
                <a:tailEnd len="sm" w="sm" type="none"/>
              </a:ln>
            </p:spPr>
          </p:cxnSp>
          <p:grpSp>
            <p:nvGrpSpPr>
              <p:cNvPr id="5238" name="Google Shape;5238;p83"/>
              <p:cNvGrpSpPr/>
              <p:nvPr/>
            </p:nvGrpSpPr>
            <p:grpSpPr>
              <a:xfrm>
                <a:off x="6074234" y="4247489"/>
                <a:ext cx="498086" cy="247650"/>
                <a:chOff x="2184879" y="1564498"/>
                <a:chExt cx="1198746" cy="439186"/>
              </a:xfrm>
            </p:grpSpPr>
            <p:sp>
              <p:nvSpPr>
                <p:cNvPr id="5228" name="Google Shape;5228;p83"/>
                <p:cNvSpPr/>
                <p:nvPr/>
              </p:nvSpPr>
              <p:spPr>
                <a:xfrm flipH="1" rot="10800000">
                  <a:off x="2188659" y="1691187"/>
                  <a:ext cx="1194966" cy="312497"/>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7" name="Google Shape;5237;p83"/>
                <p:cNvSpPr/>
                <p:nvPr/>
              </p:nvSpPr>
              <p:spPr>
                <a:xfrm>
                  <a:off x="2184879" y="1736232"/>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39" name="Google Shape;5239;p83"/>
                <p:cNvSpPr/>
                <p:nvPr/>
              </p:nvSpPr>
              <p:spPr>
                <a:xfrm flipH="1" rot="10800000">
                  <a:off x="2184879" y="1564498"/>
                  <a:ext cx="1194966" cy="312499"/>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0" name="Google Shape;5240;p83"/>
                <p:cNvSpPr/>
                <p:nvPr/>
              </p:nvSpPr>
              <p:spPr>
                <a:xfrm>
                  <a:off x="2491182" y="1671479"/>
                  <a:ext cx="582357" cy="154842"/>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1" name="Google Shape;5241;p83"/>
                <p:cNvSpPr/>
                <p:nvPr/>
              </p:nvSpPr>
              <p:spPr>
                <a:xfrm>
                  <a:off x="2430678" y="1629250"/>
                  <a:ext cx="703366" cy="109796"/>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42" name="Google Shape;5242;p83"/>
                <p:cNvSpPr/>
                <p:nvPr/>
              </p:nvSpPr>
              <p:spPr>
                <a:xfrm>
                  <a:off x="2892025" y="1722154"/>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43" name="Google Shape;5243;p83"/>
                <p:cNvSpPr/>
                <p:nvPr/>
              </p:nvSpPr>
              <p:spPr>
                <a:xfrm>
                  <a:off x="2419334" y="1724970"/>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44" name="Google Shape;5244;p83"/>
                <p:cNvCxnSpPr>
                  <a:endCxn id="5239" idx="2"/>
                </p:cNvCxnSpPr>
                <p:nvPr/>
              </p:nvCxnSpPr>
              <p:spPr>
                <a:xfrm rot="10800000">
                  <a:off x="2184879" y="1720747"/>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45" name="Google Shape;5245;p83"/>
                <p:cNvCxnSpPr/>
                <p:nvPr/>
              </p:nvCxnSpPr>
              <p:spPr>
                <a:xfrm rot="10800000">
                  <a:off x="3379845" y="1727785"/>
                  <a:ext cx="3780" cy="121059"/>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46" name="Google Shape;5246;p83"/>
            <p:cNvGrpSpPr/>
            <p:nvPr/>
          </p:nvGrpSpPr>
          <p:grpSpPr>
            <a:xfrm>
              <a:off x="7108559" y="4371636"/>
              <a:ext cx="687445" cy="1948722"/>
              <a:chOff x="7108559" y="4371636"/>
              <a:chExt cx="687445" cy="1948722"/>
            </a:xfrm>
          </p:grpSpPr>
          <p:sp>
            <p:nvSpPr>
              <p:cNvPr id="5247" name="Google Shape;5247;p83"/>
              <p:cNvSpPr/>
              <p:nvPr/>
            </p:nvSpPr>
            <p:spPr>
              <a:xfrm>
                <a:off x="7108559" y="5401721"/>
                <a:ext cx="676275" cy="918637"/>
              </a:xfrm>
              <a:custGeom>
                <a:rect b="b" l="l" r="r" t="t"/>
                <a:pathLst>
                  <a:path extrusionOk="0" h="918268" w="675040">
                    <a:moveTo>
                      <a:pt x="0" y="894029"/>
                    </a:moveTo>
                    <a:cubicBezTo>
                      <a:pt x="111484" y="603455"/>
                      <a:pt x="127519" y="615275"/>
                      <a:pt x="186623" y="1724"/>
                    </a:cubicBezTo>
                    <a:cubicBezTo>
                      <a:pt x="431451" y="14348"/>
                      <a:pt x="449377" y="35256"/>
                      <a:pt x="675040" y="0"/>
                    </a:cubicBezTo>
                    <a:cubicBezTo>
                      <a:pt x="377586" y="467035"/>
                      <a:pt x="377233" y="643076"/>
                      <a:pt x="270986" y="918268"/>
                    </a:cubicBezTo>
                    <a:cubicBezTo>
                      <a:pt x="136701" y="889632"/>
                      <a:pt x="92525" y="908114"/>
                      <a:pt x="0" y="894029"/>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48" name="Google Shape;5248;p83"/>
              <p:cNvSpPr/>
              <p:nvPr/>
            </p:nvSpPr>
            <p:spPr>
              <a:xfrm rot="10800000">
                <a:off x="7290624" y="4495800"/>
                <a:ext cx="498084" cy="41266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49" name="Google Shape;5249;p83"/>
              <p:cNvCxnSpPr>
                <a:stCxn id="5250" idx="6"/>
              </p:cNvCxnSpPr>
              <p:nvPr/>
            </p:nvCxnSpPr>
            <p:spPr>
              <a:xfrm>
                <a:off x="7792404" y="4459742"/>
                <a:ext cx="3600" cy="873000"/>
              </a:xfrm>
              <a:prstGeom prst="straightConnector1">
                <a:avLst/>
              </a:prstGeom>
              <a:noFill/>
              <a:ln cap="flat" cmpd="sng" w="9525">
                <a:solidFill>
                  <a:srgbClr val="000000"/>
                </a:solidFill>
                <a:prstDash val="dash"/>
                <a:round/>
                <a:headEnd len="sm" w="sm" type="none"/>
                <a:tailEnd len="sm" w="sm" type="none"/>
              </a:ln>
            </p:spPr>
          </p:cxnSp>
          <p:grpSp>
            <p:nvGrpSpPr>
              <p:cNvPr id="5251" name="Google Shape;5251;p83"/>
              <p:cNvGrpSpPr/>
              <p:nvPr/>
            </p:nvGrpSpPr>
            <p:grpSpPr>
              <a:xfrm>
                <a:off x="7287945" y="5254938"/>
                <a:ext cx="508000" cy="225425"/>
                <a:chOff x="4128205" y="3600530"/>
                <a:chExt cx="568606" cy="344311"/>
              </a:xfrm>
            </p:grpSpPr>
            <p:sp>
              <p:nvSpPr>
                <p:cNvPr id="5252" name="Google Shape;5252;p83"/>
                <p:cNvSpPr/>
                <p:nvPr/>
              </p:nvSpPr>
              <p:spPr>
                <a:xfrm>
                  <a:off x="4128205" y="3719341"/>
                  <a:ext cx="568606" cy="225500"/>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3" name="Google Shape;5253;p83"/>
                <p:cNvSpPr/>
                <p:nvPr/>
              </p:nvSpPr>
              <p:spPr>
                <a:xfrm>
                  <a:off x="4128205" y="3719341"/>
                  <a:ext cx="568606" cy="111537"/>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4" name="Google Shape;5254;p83"/>
                <p:cNvSpPr/>
                <p:nvPr/>
              </p:nvSpPr>
              <p:spPr>
                <a:xfrm>
                  <a:off x="4128205" y="3600530"/>
                  <a:ext cx="568606" cy="230348"/>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55" name="Google Shape;5255;p83"/>
                <p:cNvCxnSpPr/>
                <p:nvPr/>
              </p:nvCxnSpPr>
              <p:spPr>
                <a:xfrm>
                  <a:off x="4696811" y="3719341"/>
                  <a:ext cx="0" cy="111537"/>
                </a:xfrm>
                <a:prstGeom prst="straightConnector1">
                  <a:avLst/>
                </a:prstGeom>
                <a:noFill/>
                <a:ln cap="flat" cmpd="sng" w="9525">
                  <a:solidFill>
                    <a:srgbClr val="000000"/>
                  </a:solidFill>
                  <a:prstDash val="solid"/>
                  <a:round/>
                  <a:headEnd len="sm" w="sm" type="none"/>
                  <a:tailEnd len="sm" w="sm" type="none"/>
                </a:ln>
              </p:spPr>
            </p:cxnSp>
            <p:cxnSp>
              <p:nvCxnSpPr>
                <p:cNvPr id="5256" name="Google Shape;5256;p83"/>
                <p:cNvCxnSpPr/>
                <p:nvPr/>
              </p:nvCxnSpPr>
              <p:spPr>
                <a:xfrm>
                  <a:off x="4128205" y="3719341"/>
                  <a:ext cx="0" cy="111537"/>
                </a:xfrm>
                <a:prstGeom prst="straightConnector1">
                  <a:avLst/>
                </a:prstGeom>
                <a:noFill/>
                <a:ln cap="flat" cmpd="sng" w="9525">
                  <a:solidFill>
                    <a:srgbClr val="000000"/>
                  </a:solidFill>
                  <a:prstDash val="solid"/>
                  <a:round/>
                  <a:headEnd len="sm" w="sm" type="none"/>
                  <a:tailEnd len="sm" w="sm" type="none"/>
                </a:ln>
              </p:spPr>
            </p:cxnSp>
          </p:grpSp>
          <p:sp>
            <p:nvSpPr>
              <p:cNvPr id="5257" name="Google Shape;5257;p83"/>
              <p:cNvSpPr/>
              <p:nvPr/>
            </p:nvSpPr>
            <p:spPr>
              <a:xfrm>
                <a:off x="7289533" y="4897315"/>
                <a:ext cx="496887" cy="438584"/>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58" name="Google Shape;5258;p83"/>
              <p:cNvCxnSpPr>
                <a:stCxn id="5250" idx="2"/>
              </p:cNvCxnSpPr>
              <p:nvPr/>
            </p:nvCxnSpPr>
            <p:spPr>
              <a:xfrm flipH="1">
                <a:off x="7283254" y="4459742"/>
                <a:ext cx="7500" cy="966600"/>
              </a:xfrm>
              <a:prstGeom prst="straightConnector1">
                <a:avLst/>
              </a:prstGeom>
              <a:noFill/>
              <a:ln cap="flat" cmpd="sng" w="9525">
                <a:solidFill>
                  <a:srgbClr val="000000"/>
                </a:solidFill>
                <a:prstDash val="dash"/>
                <a:round/>
                <a:headEnd len="sm" w="sm" type="none"/>
                <a:tailEnd len="sm" w="sm" type="none"/>
              </a:ln>
            </p:spPr>
          </p:cxnSp>
          <p:grpSp>
            <p:nvGrpSpPr>
              <p:cNvPr id="5259" name="Google Shape;5259;p83"/>
              <p:cNvGrpSpPr/>
              <p:nvPr/>
            </p:nvGrpSpPr>
            <p:grpSpPr>
              <a:xfrm>
                <a:off x="7290754" y="4371636"/>
                <a:ext cx="503237" cy="247650"/>
                <a:chOff x="2184881" y="1564505"/>
                <a:chExt cx="1198747" cy="439186"/>
              </a:xfrm>
            </p:grpSpPr>
            <p:sp>
              <p:nvSpPr>
                <p:cNvPr id="5260" name="Google Shape;5260;p83"/>
                <p:cNvSpPr/>
                <p:nvPr/>
              </p:nvSpPr>
              <p:spPr>
                <a:xfrm flipH="1" rot="10800000">
                  <a:off x="2188662" y="1691192"/>
                  <a:ext cx="1194966" cy="312499"/>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1" name="Google Shape;5261;p83"/>
                <p:cNvSpPr/>
                <p:nvPr/>
              </p:nvSpPr>
              <p:spPr>
                <a:xfrm>
                  <a:off x="2184881" y="1736237"/>
                  <a:ext cx="1198746" cy="112612"/>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50" name="Google Shape;5250;p83"/>
                <p:cNvSpPr/>
                <p:nvPr/>
              </p:nvSpPr>
              <p:spPr>
                <a:xfrm flipH="1" rot="10800000">
                  <a:off x="2184881" y="1564505"/>
                  <a:ext cx="1194966" cy="312497"/>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2" name="Google Shape;5262;p83"/>
                <p:cNvSpPr/>
                <p:nvPr/>
              </p:nvSpPr>
              <p:spPr>
                <a:xfrm>
                  <a:off x="2491185" y="1671486"/>
                  <a:ext cx="582357" cy="154840"/>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63" name="Google Shape;5263;p83"/>
                <p:cNvSpPr/>
                <p:nvPr/>
              </p:nvSpPr>
              <p:spPr>
                <a:xfrm>
                  <a:off x="2430680" y="1629256"/>
                  <a:ext cx="703366" cy="109797"/>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64" name="Google Shape;5264;p83"/>
                <p:cNvSpPr/>
                <p:nvPr/>
              </p:nvSpPr>
              <p:spPr>
                <a:xfrm>
                  <a:off x="2892028" y="1722161"/>
                  <a:ext cx="260927" cy="9572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65" name="Google Shape;5265;p83"/>
                <p:cNvSpPr/>
                <p:nvPr/>
              </p:nvSpPr>
              <p:spPr>
                <a:xfrm>
                  <a:off x="2419337" y="1724976"/>
                  <a:ext cx="253362" cy="95720"/>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66" name="Google Shape;5266;p83"/>
                <p:cNvCxnSpPr>
                  <a:endCxn id="5250" idx="2"/>
                </p:cNvCxnSpPr>
                <p:nvPr/>
              </p:nvCxnSpPr>
              <p:spPr>
                <a:xfrm rot="10800000">
                  <a:off x="2184881" y="1720754"/>
                  <a:ext cx="3900" cy="1212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67" name="Google Shape;5267;p83"/>
                <p:cNvCxnSpPr/>
                <p:nvPr/>
              </p:nvCxnSpPr>
              <p:spPr>
                <a:xfrm rot="10800000">
                  <a:off x="3379847" y="1727792"/>
                  <a:ext cx="3780" cy="121057"/>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nvGrpSpPr>
            <p:cNvPr id="5268" name="Google Shape;5268;p83"/>
            <p:cNvGrpSpPr/>
            <p:nvPr/>
          </p:nvGrpSpPr>
          <p:grpSpPr>
            <a:xfrm>
              <a:off x="7920869" y="4329546"/>
              <a:ext cx="870439" cy="1680309"/>
              <a:chOff x="7920869" y="4329546"/>
              <a:chExt cx="870439" cy="1680309"/>
            </a:xfrm>
          </p:grpSpPr>
          <p:sp>
            <p:nvSpPr>
              <p:cNvPr id="5269" name="Google Shape;5269;p83"/>
              <p:cNvSpPr/>
              <p:nvPr/>
            </p:nvSpPr>
            <p:spPr>
              <a:xfrm>
                <a:off x="7920869" y="5455817"/>
                <a:ext cx="865187" cy="554038"/>
              </a:xfrm>
              <a:custGeom>
                <a:rect b="b" l="l" r="r" t="t"/>
                <a:pathLst>
                  <a:path extrusionOk="0" h="553361" w="86625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a:gsLst>
                  <a:gs pos="0">
                    <a:srgbClr val="F2F2F2">
                      <a:alpha val="54901"/>
                    </a:srgbClr>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0" name="Google Shape;5270;p83"/>
              <p:cNvSpPr/>
              <p:nvPr/>
            </p:nvSpPr>
            <p:spPr>
              <a:xfrm rot="10800000">
                <a:off x="8288771" y="4495799"/>
                <a:ext cx="498084" cy="361962"/>
              </a:xfrm>
              <a:prstGeom prst="rect">
                <a:avLst/>
              </a:prstGeom>
              <a:gradFill>
                <a:gsLst>
                  <a:gs pos="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71" name="Google Shape;5271;p83"/>
              <p:cNvCxnSpPr>
                <a:stCxn id="5272" idx="6"/>
              </p:cNvCxnSpPr>
              <p:nvPr/>
            </p:nvCxnSpPr>
            <p:spPr>
              <a:xfrm>
                <a:off x="8783370" y="4418446"/>
                <a:ext cx="7800" cy="955800"/>
              </a:xfrm>
              <a:prstGeom prst="straightConnector1">
                <a:avLst/>
              </a:prstGeom>
              <a:noFill/>
              <a:ln cap="flat" cmpd="sng" w="9525">
                <a:solidFill>
                  <a:srgbClr val="000000"/>
                </a:solidFill>
                <a:prstDash val="dash"/>
                <a:round/>
                <a:headEnd len="sm" w="sm" type="none"/>
                <a:tailEnd len="sm" w="sm" type="none"/>
              </a:ln>
            </p:spPr>
          </p:cxnSp>
          <p:grpSp>
            <p:nvGrpSpPr>
              <p:cNvPr id="5273" name="Google Shape;5273;p83"/>
              <p:cNvGrpSpPr/>
              <p:nvPr/>
            </p:nvGrpSpPr>
            <p:grpSpPr>
              <a:xfrm>
                <a:off x="8283308" y="5299752"/>
                <a:ext cx="508000" cy="222250"/>
                <a:chOff x="4128205" y="3605704"/>
                <a:chExt cx="568606" cy="339138"/>
              </a:xfrm>
            </p:grpSpPr>
            <p:sp>
              <p:nvSpPr>
                <p:cNvPr id="5274" name="Google Shape;5274;p83"/>
                <p:cNvSpPr/>
                <p:nvPr/>
              </p:nvSpPr>
              <p:spPr>
                <a:xfrm>
                  <a:off x="4128205" y="3719558"/>
                  <a:ext cx="568606" cy="225284"/>
                </a:xfrm>
                <a:prstGeom prst="ellipse">
                  <a:avLst/>
                </a:prstGeom>
                <a:solidFill>
                  <a:srgbClr val="262699"/>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5" name="Google Shape;5275;p83"/>
                <p:cNvSpPr/>
                <p:nvPr/>
              </p:nvSpPr>
              <p:spPr>
                <a:xfrm>
                  <a:off x="4128205" y="3719558"/>
                  <a:ext cx="568606" cy="111431"/>
                </a:xfrm>
                <a:prstGeom prst="rect">
                  <a:avLst/>
                </a:prstGeom>
                <a:solidFill>
                  <a:srgbClr val="2626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6" name="Google Shape;5276;p83"/>
                <p:cNvSpPr/>
                <p:nvPr/>
              </p:nvSpPr>
              <p:spPr>
                <a:xfrm>
                  <a:off x="4128205" y="3605704"/>
                  <a:ext cx="568606" cy="225286"/>
                </a:xfrm>
                <a:prstGeom prst="ellipse">
                  <a:avLst/>
                </a:prstGeom>
                <a:solidFill>
                  <a:srgbClr val="ACACEA">
                    <a:alpha val="5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77" name="Google Shape;5277;p83"/>
                <p:cNvCxnSpPr/>
                <p:nvPr/>
              </p:nvCxnSpPr>
              <p:spPr>
                <a:xfrm>
                  <a:off x="4696811" y="3719558"/>
                  <a:ext cx="0" cy="111431"/>
                </a:xfrm>
                <a:prstGeom prst="straightConnector1">
                  <a:avLst/>
                </a:prstGeom>
                <a:noFill/>
                <a:ln cap="flat" cmpd="sng" w="9525">
                  <a:solidFill>
                    <a:srgbClr val="000000"/>
                  </a:solidFill>
                  <a:prstDash val="solid"/>
                  <a:round/>
                  <a:headEnd len="sm" w="sm" type="none"/>
                  <a:tailEnd len="sm" w="sm" type="none"/>
                </a:ln>
              </p:spPr>
            </p:cxnSp>
            <p:cxnSp>
              <p:nvCxnSpPr>
                <p:cNvPr id="5278" name="Google Shape;5278;p83"/>
                <p:cNvCxnSpPr/>
                <p:nvPr/>
              </p:nvCxnSpPr>
              <p:spPr>
                <a:xfrm>
                  <a:off x="4128205" y="3719558"/>
                  <a:ext cx="0" cy="111431"/>
                </a:xfrm>
                <a:prstGeom prst="straightConnector1">
                  <a:avLst/>
                </a:prstGeom>
                <a:noFill/>
                <a:ln cap="flat" cmpd="sng" w="9525">
                  <a:solidFill>
                    <a:srgbClr val="000000"/>
                  </a:solidFill>
                  <a:prstDash val="solid"/>
                  <a:round/>
                  <a:headEnd len="sm" w="sm" type="none"/>
                  <a:tailEnd len="sm" w="sm" type="none"/>
                </a:ln>
              </p:spPr>
            </p:cxnSp>
          </p:grpSp>
          <p:sp>
            <p:nvSpPr>
              <p:cNvPr id="5279" name="Google Shape;5279;p83"/>
              <p:cNvSpPr/>
              <p:nvPr/>
            </p:nvSpPr>
            <p:spPr>
              <a:xfrm>
                <a:off x="8284895" y="4904436"/>
                <a:ext cx="496888" cy="473104"/>
              </a:xfrm>
              <a:prstGeom prst="rect">
                <a:avLst/>
              </a:prstGeom>
              <a:gradFill>
                <a:gsLst>
                  <a:gs pos="0">
                    <a:srgbClr val="8383E0"/>
                  </a:gs>
                  <a:gs pos="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80" name="Google Shape;5280;p83"/>
              <p:cNvCxnSpPr>
                <a:stCxn id="5272" idx="2"/>
              </p:cNvCxnSpPr>
              <p:nvPr/>
            </p:nvCxnSpPr>
            <p:spPr>
              <a:xfrm flipH="1">
                <a:off x="8278420" y="4418446"/>
                <a:ext cx="3300" cy="1049700"/>
              </a:xfrm>
              <a:prstGeom prst="straightConnector1">
                <a:avLst/>
              </a:prstGeom>
              <a:noFill/>
              <a:ln cap="flat" cmpd="sng" w="9525">
                <a:solidFill>
                  <a:srgbClr val="000000"/>
                </a:solidFill>
                <a:prstDash val="dash"/>
                <a:round/>
                <a:headEnd len="sm" w="sm" type="none"/>
                <a:tailEnd len="sm" w="sm" type="none"/>
              </a:ln>
            </p:spPr>
          </p:cxnSp>
          <p:grpSp>
            <p:nvGrpSpPr>
              <p:cNvPr id="5281" name="Google Shape;5281;p83"/>
              <p:cNvGrpSpPr/>
              <p:nvPr/>
            </p:nvGrpSpPr>
            <p:grpSpPr>
              <a:xfrm>
                <a:off x="8281720" y="4329546"/>
                <a:ext cx="503238" cy="249237"/>
                <a:chOff x="2184879" y="1564508"/>
                <a:chExt cx="1198749" cy="441581"/>
              </a:xfrm>
            </p:grpSpPr>
            <p:sp>
              <p:nvSpPr>
                <p:cNvPr id="5282" name="Google Shape;5282;p83"/>
                <p:cNvSpPr/>
                <p:nvPr/>
              </p:nvSpPr>
              <p:spPr>
                <a:xfrm flipH="1" rot="10800000">
                  <a:off x="2188662" y="1691075"/>
                  <a:ext cx="1194966" cy="315014"/>
                </a:xfrm>
                <a:prstGeom prst="ellipse">
                  <a:avLst/>
                </a:prstGeom>
                <a:gradFill>
                  <a:gsLst>
                    <a:gs pos="0">
                      <a:srgbClr val="262699"/>
                    </a:gs>
                    <a:gs pos="31000">
                      <a:srgbClr val="8383E0"/>
                    </a:gs>
                    <a:gs pos="100000">
                      <a:srgbClr val="FFFFFF"/>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3" name="Google Shape;5283;p83"/>
                <p:cNvSpPr/>
                <p:nvPr/>
              </p:nvSpPr>
              <p:spPr>
                <a:xfrm>
                  <a:off x="2184879" y="1736077"/>
                  <a:ext cx="1198749" cy="112505"/>
                </a:xfrm>
                <a:prstGeom prst="rect">
                  <a:avLst/>
                </a:prstGeom>
                <a:gradFill>
                  <a:gsLst>
                    <a:gs pos="0">
                      <a:srgbClr val="ACACEA"/>
                    </a:gs>
                    <a:gs pos="54000">
                      <a:srgbClr val="8383E0"/>
                    </a:gs>
                    <a:gs pos="100000">
                      <a:srgbClr val="262699"/>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72" name="Google Shape;5272;p83"/>
                <p:cNvSpPr/>
                <p:nvPr/>
              </p:nvSpPr>
              <p:spPr>
                <a:xfrm flipH="1" rot="10800000">
                  <a:off x="2184879" y="1564508"/>
                  <a:ext cx="1194966" cy="315014"/>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4" name="Google Shape;5284;p83"/>
                <p:cNvSpPr/>
                <p:nvPr/>
              </p:nvSpPr>
              <p:spPr>
                <a:xfrm>
                  <a:off x="2491185" y="1671388"/>
                  <a:ext cx="582357" cy="157507"/>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sp>
              <p:nvSpPr>
                <p:cNvPr id="5285" name="Google Shape;5285;p83"/>
                <p:cNvSpPr/>
                <p:nvPr/>
              </p:nvSpPr>
              <p:spPr>
                <a:xfrm>
                  <a:off x="2430680" y="1629198"/>
                  <a:ext cx="703366" cy="112505"/>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6" name="Google Shape;5286;p83"/>
                <p:cNvSpPr/>
                <p:nvPr/>
              </p:nvSpPr>
              <p:spPr>
                <a:xfrm>
                  <a:off x="2892028" y="1724827"/>
                  <a:ext cx="260925" cy="95629"/>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287" name="Google Shape;5287;p83"/>
                <p:cNvSpPr/>
                <p:nvPr/>
              </p:nvSpPr>
              <p:spPr>
                <a:xfrm>
                  <a:off x="2419334" y="1727640"/>
                  <a:ext cx="253364" cy="92816"/>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5288" name="Google Shape;5288;p83"/>
                <p:cNvCxnSpPr>
                  <a:endCxn id="5272" idx="2"/>
                </p:cNvCxnSpPr>
                <p:nvPr/>
              </p:nvCxnSpPr>
              <p:spPr>
                <a:xfrm rot="10800000">
                  <a:off x="2184879" y="1722015"/>
                  <a:ext cx="3900" cy="1209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5289" name="Google Shape;5289;p83"/>
                <p:cNvCxnSpPr/>
                <p:nvPr/>
              </p:nvCxnSpPr>
              <p:spPr>
                <a:xfrm rot="10800000">
                  <a:off x="3379845" y="1730452"/>
                  <a:ext cx="3783" cy="12094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grpSp>
      <p:grpSp>
        <p:nvGrpSpPr>
          <p:cNvPr id="5290" name="Google Shape;5290;p83"/>
          <p:cNvGrpSpPr/>
          <p:nvPr/>
        </p:nvGrpSpPr>
        <p:grpSpPr>
          <a:xfrm>
            <a:off x="3766922" y="4729232"/>
            <a:ext cx="4980243" cy="692147"/>
            <a:chOff x="2056656" y="4691836"/>
            <a:chExt cx="4979352" cy="692748"/>
          </a:xfrm>
        </p:grpSpPr>
        <p:grpSp>
          <p:nvGrpSpPr>
            <p:cNvPr id="5291" name="Google Shape;5291;p83"/>
            <p:cNvGrpSpPr/>
            <p:nvPr/>
          </p:nvGrpSpPr>
          <p:grpSpPr>
            <a:xfrm>
              <a:off x="3621810" y="5055687"/>
              <a:ext cx="428216" cy="328897"/>
              <a:chOff x="2948176" y="3912858"/>
              <a:chExt cx="428535" cy="329059"/>
            </a:xfrm>
          </p:grpSpPr>
          <p:sp>
            <p:nvSpPr>
              <p:cNvPr id="5292" name="Google Shape;5292;p83"/>
              <p:cNvSpPr/>
              <p:nvPr/>
            </p:nvSpPr>
            <p:spPr>
              <a:xfrm>
                <a:off x="2951022" y="3912858"/>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93" name="Google Shape;5293;p83"/>
              <p:cNvCxnSpPr/>
              <p:nvPr/>
            </p:nvCxnSpPr>
            <p:spPr>
              <a:xfrm>
                <a:off x="2948177" y="4005058"/>
                <a:ext cx="425689" cy="0"/>
              </a:xfrm>
              <a:prstGeom prst="straightConnector1">
                <a:avLst/>
              </a:prstGeom>
              <a:noFill/>
              <a:ln cap="flat" cmpd="sng" w="9525">
                <a:solidFill>
                  <a:srgbClr val="CC0000"/>
                </a:solidFill>
                <a:prstDash val="solid"/>
                <a:round/>
                <a:headEnd len="sm" w="sm" type="none"/>
                <a:tailEnd len="sm" w="sm" type="none"/>
              </a:ln>
            </p:spPr>
          </p:cxnSp>
          <p:cxnSp>
            <p:nvCxnSpPr>
              <p:cNvPr id="5294" name="Google Shape;5294;p83"/>
              <p:cNvCxnSpPr/>
              <p:nvPr/>
            </p:nvCxnSpPr>
            <p:spPr>
              <a:xfrm>
                <a:off x="2948176" y="4068645"/>
                <a:ext cx="425689" cy="0"/>
              </a:xfrm>
              <a:prstGeom prst="straightConnector1">
                <a:avLst/>
              </a:prstGeom>
              <a:noFill/>
              <a:ln cap="flat" cmpd="sng" w="9525">
                <a:solidFill>
                  <a:srgbClr val="CC0000"/>
                </a:solidFill>
                <a:prstDash val="solid"/>
                <a:round/>
                <a:headEnd len="sm" w="sm" type="none"/>
                <a:tailEnd len="sm" w="sm" type="none"/>
              </a:ln>
            </p:spPr>
          </p:cxnSp>
          <p:cxnSp>
            <p:nvCxnSpPr>
              <p:cNvPr id="5295" name="Google Shape;5295;p83"/>
              <p:cNvCxnSpPr>
                <a:stCxn id="5292" idx="2"/>
              </p:cNvCxnSpPr>
              <p:nvPr/>
            </p:nvCxnSpPr>
            <p:spPr>
              <a:xfrm rot="10800000">
                <a:off x="3162367" y="4004917"/>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296" name="Google Shape;5296;p83"/>
            <p:cNvGrpSpPr/>
            <p:nvPr/>
          </p:nvGrpSpPr>
          <p:grpSpPr>
            <a:xfrm>
              <a:off x="4404307" y="5055687"/>
              <a:ext cx="429383" cy="328897"/>
              <a:chOff x="2948037" y="3912924"/>
              <a:chExt cx="429703" cy="329059"/>
            </a:xfrm>
          </p:grpSpPr>
          <p:sp>
            <p:nvSpPr>
              <p:cNvPr id="5297" name="Google Shape;5297;p83"/>
              <p:cNvSpPr/>
              <p:nvPr/>
            </p:nvSpPr>
            <p:spPr>
              <a:xfrm>
                <a:off x="2950882" y="3912924"/>
                <a:ext cx="425689" cy="329059"/>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298" name="Google Shape;5298;p83"/>
              <p:cNvCxnSpPr/>
              <p:nvPr/>
            </p:nvCxnSpPr>
            <p:spPr>
              <a:xfrm>
                <a:off x="2952051" y="4005125"/>
                <a:ext cx="425689" cy="0"/>
              </a:xfrm>
              <a:prstGeom prst="straightConnector1">
                <a:avLst/>
              </a:prstGeom>
              <a:noFill/>
              <a:ln cap="flat" cmpd="sng" w="9525">
                <a:solidFill>
                  <a:srgbClr val="CC0000"/>
                </a:solidFill>
                <a:prstDash val="solid"/>
                <a:round/>
                <a:headEnd len="sm" w="sm" type="none"/>
                <a:tailEnd len="sm" w="sm" type="none"/>
              </a:ln>
            </p:spPr>
          </p:cxnSp>
          <p:cxnSp>
            <p:nvCxnSpPr>
              <p:cNvPr id="5299" name="Google Shape;5299;p83"/>
              <p:cNvCxnSpPr/>
              <p:nvPr/>
            </p:nvCxnSpPr>
            <p:spPr>
              <a:xfrm>
                <a:off x="2948037" y="4068711"/>
                <a:ext cx="425689" cy="0"/>
              </a:xfrm>
              <a:prstGeom prst="straightConnector1">
                <a:avLst/>
              </a:prstGeom>
              <a:noFill/>
              <a:ln cap="flat" cmpd="sng" w="9525">
                <a:solidFill>
                  <a:srgbClr val="CC0000"/>
                </a:solidFill>
                <a:prstDash val="solid"/>
                <a:round/>
                <a:headEnd len="sm" w="sm" type="none"/>
                <a:tailEnd len="sm" w="sm" type="none"/>
              </a:ln>
            </p:spPr>
          </p:cxnSp>
          <p:cxnSp>
            <p:nvCxnSpPr>
              <p:cNvPr id="5300" name="Google Shape;5300;p83"/>
              <p:cNvCxnSpPr>
                <a:stCxn id="5297" idx="2"/>
              </p:cNvCxnSpPr>
              <p:nvPr/>
            </p:nvCxnSpPr>
            <p:spPr>
              <a:xfrm rot="10800000">
                <a:off x="3162227" y="4004983"/>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301" name="Google Shape;5301;p83"/>
            <p:cNvGrpSpPr/>
            <p:nvPr/>
          </p:nvGrpSpPr>
          <p:grpSpPr>
            <a:xfrm>
              <a:off x="5611440" y="5052513"/>
              <a:ext cx="430135" cy="328897"/>
              <a:chOff x="2951837" y="3912722"/>
              <a:chExt cx="430454" cy="329058"/>
            </a:xfrm>
          </p:grpSpPr>
          <p:sp>
            <p:nvSpPr>
              <p:cNvPr id="5302" name="Google Shape;5302;p83"/>
              <p:cNvSpPr/>
              <p:nvPr/>
            </p:nvSpPr>
            <p:spPr>
              <a:xfrm>
                <a:off x="2956602" y="3912722"/>
                <a:ext cx="425689" cy="329058"/>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03" name="Google Shape;5303;p83"/>
              <p:cNvCxnSpPr/>
              <p:nvPr/>
            </p:nvCxnSpPr>
            <p:spPr>
              <a:xfrm>
                <a:off x="2951837" y="4004922"/>
                <a:ext cx="425689" cy="0"/>
              </a:xfrm>
              <a:prstGeom prst="straightConnector1">
                <a:avLst/>
              </a:prstGeom>
              <a:noFill/>
              <a:ln cap="flat" cmpd="sng" w="9525">
                <a:solidFill>
                  <a:srgbClr val="CC0000"/>
                </a:solidFill>
                <a:prstDash val="solid"/>
                <a:round/>
                <a:headEnd len="sm" w="sm" type="none"/>
                <a:tailEnd len="sm" w="sm" type="none"/>
              </a:ln>
            </p:spPr>
          </p:cxnSp>
          <p:cxnSp>
            <p:nvCxnSpPr>
              <p:cNvPr id="5304" name="Google Shape;5304;p83"/>
              <p:cNvCxnSpPr/>
              <p:nvPr/>
            </p:nvCxnSpPr>
            <p:spPr>
              <a:xfrm>
                <a:off x="2955849" y="4068509"/>
                <a:ext cx="425689" cy="0"/>
              </a:xfrm>
              <a:prstGeom prst="straightConnector1">
                <a:avLst/>
              </a:prstGeom>
              <a:noFill/>
              <a:ln cap="flat" cmpd="sng" w="9525">
                <a:solidFill>
                  <a:srgbClr val="CC0000"/>
                </a:solidFill>
                <a:prstDash val="solid"/>
                <a:round/>
                <a:headEnd len="sm" w="sm" type="none"/>
                <a:tailEnd len="sm" w="sm" type="none"/>
              </a:ln>
            </p:spPr>
          </p:cxnSp>
          <p:cxnSp>
            <p:nvCxnSpPr>
              <p:cNvPr id="5305" name="Google Shape;5305;p83"/>
              <p:cNvCxnSpPr>
                <a:stCxn id="5302" idx="2"/>
              </p:cNvCxnSpPr>
              <p:nvPr/>
            </p:nvCxnSpPr>
            <p:spPr>
              <a:xfrm rot="10800000">
                <a:off x="3167947" y="4004780"/>
                <a:ext cx="1500" cy="237000"/>
              </a:xfrm>
              <a:prstGeom prst="straightConnector1">
                <a:avLst/>
              </a:prstGeom>
              <a:noFill/>
              <a:ln cap="flat" cmpd="sng" w="9525">
                <a:solidFill>
                  <a:srgbClr val="CC0000"/>
                </a:solidFill>
                <a:prstDash val="solid"/>
                <a:round/>
                <a:headEnd len="sm" w="sm" type="none"/>
                <a:tailEnd len="sm" w="sm" type="none"/>
              </a:ln>
            </p:spPr>
          </p:cxnSp>
        </p:grpSp>
        <p:grpSp>
          <p:nvGrpSpPr>
            <p:cNvPr id="5306" name="Google Shape;5306;p83"/>
            <p:cNvGrpSpPr/>
            <p:nvPr/>
          </p:nvGrpSpPr>
          <p:grpSpPr>
            <a:xfrm>
              <a:off x="6605874" y="5046158"/>
              <a:ext cx="430134" cy="328898"/>
              <a:chOff x="2955740" y="3913102"/>
              <a:chExt cx="430453" cy="328747"/>
            </a:xfrm>
          </p:grpSpPr>
          <p:sp>
            <p:nvSpPr>
              <p:cNvPr id="5307" name="Google Shape;5307;p83"/>
              <p:cNvSpPr/>
              <p:nvPr/>
            </p:nvSpPr>
            <p:spPr>
              <a:xfrm>
                <a:off x="2960504" y="3913102"/>
                <a:ext cx="425689" cy="328747"/>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08" name="Google Shape;5308;p83"/>
              <p:cNvCxnSpPr/>
              <p:nvPr/>
            </p:nvCxnSpPr>
            <p:spPr>
              <a:xfrm>
                <a:off x="2955740" y="4005215"/>
                <a:ext cx="425689" cy="0"/>
              </a:xfrm>
              <a:prstGeom prst="straightConnector1">
                <a:avLst/>
              </a:prstGeom>
              <a:noFill/>
              <a:ln cap="flat" cmpd="sng" w="9525">
                <a:solidFill>
                  <a:srgbClr val="CC0000"/>
                </a:solidFill>
                <a:prstDash val="solid"/>
                <a:round/>
                <a:headEnd len="sm" w="sm" type="none"/>
                <a:tailEnd len="sm" w="sm" type="none"/>
              </a:ln>
            </p:spPr>
          </p:cxnSp>
          <p:cxnSp>
            <p:nvCxnSpPr>
              <p:cNvPr id="5309" name="Google Shape;5309;p83"/>
              <p:cNvCxnSpPr/>
              <p:nvPr/>
            </p:nvCxnSpPr>
            <p:spPr>
              <a:xfrm>
                <a:off x="2959751" y="4067152"/>
                <a:ext cx="425689" cy="0"/>
              </a:xfrm>
              <a:prstGeom prst="straightConnector1">
                <a:avLst/>
              </a:prstGeom>
              <a:noFill/>
              <a:ln cap="flat" cmpd="sng" w="9525">
                <a:solidFill>
                  <a:srgbClr val="CC0000"/>
                </a:solidFill>
                <a:prstDash val="solid"/>
                <a:round/>
                <a:headEnd len="sm" w="sm" type="none"/>
                <a:tailEnd len="sm" w="sm" type="none"/>
              </a:ln>
            </p:spPr>
          </p:cxnSp>
          <p:cxnSp>
            <p:nvCxnSpPr>
              <p:cNvPr id="5310" name="Google Shape;5310;p83"/>
              <p:cNvCxnSpPr>
                <a:stCxn id="5307" idx="2"/>
              </p:cNvCxnSpPr>
              <p:nvPr/>
            </p:nvCxnSpPr>
            <p:spPr>
              <a:xfrm rot="10800000">
                <a:off x="3171849" y="4005149"/>
                <a:ext cx="1500" cy="236700"/>
              </a:xfrm>
              <a:prstGeom prst="straightConnector1">
                <a:avLst/>
              </a:prstGeom>
              <a:noFill/>
              <a:ln cap="flat" cmpd="sng" w="9525">
                <a:solidFill>
                  <a:srgbClr val="CC0000"/>
                </a:solidFill>
                <a:prstDash val="solid"/>
                <a:round/>
                <a:headEnd len="sm" w="sm" type="none"/>
                <a:tailEnd len="sm" w="sm" type="none"/>
              </a:ln>
            </p:spPr>
          </p:cxnSp>
        </p:grpSp>
        <p:grpSp>
          <p:nvGrpSpPr>
            <p:cNvPr id="5311" name="Google Shape;5311;p83"/>
            <p:cNvGrpSpPr/>
            <p:nvPr/>
          </p:nvGrpSpPr>
          <p:grpSpPr>
            <a:xfrm>
              <a:off x="2056656" y="4691836"/>
              <a:ext cx="674567" cy="519563"/>
              <a:chOff x="2932675" y="3913607"/>
              <a:chExt cx="429970" cy="328266"/>
            </a:xfrm>
          </p:grpSpPr>
          <p:sp>
            <p:nvSpPr>
              <p:cNvPr id="5312" name="Google Shape;5312;p83"/>
              <p:cNvSpPr/>
              <p:nvPr/>
            </p:nvSpPr>
            <p:spPr>
              <a:xfrm>
                <a:off x="2936722" y="3913607"/>
                <a:ext cx="425923" cy="328266"/>
              </a:xfrm>
              <a:prstGeom prst="rect">
                <a:avLst/>
              </a:prstGeom>
              <a:solidFill>
                <a:srgbClr val="FFFFFF"/>
              </a:solidFill>
              <a:ln cap="flat" cmpd="sng" w="952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13" name="Google Shape;5313;p83"/>
              <p:cNvCxnSpPr/>
              <p:nvPr/>
            </p:nvCxnSpPr>
            <p:spPr>
              <a:xfrm>
                <a:off x="2932675" y="4004959"/>
                <a:ext cx="424911" cy="0"/>
              </a:xfrm>
              <a:prstGeom prst="straightConnector1">
                <a:avLst/>
              </a:prstGeom>
              <a:noFill/>
              <a:ln cap="flat" cmpd="sng" w="9525">
                <a:solidFill>
                  <a:srgbClr val="CC0000"/>
                </a:solidFill>
                <a:prstDash val="solid"/>
                <a:round/>
                <a:headEnd len="sm" w="sm" type="none"/>
                <a:tailEnd len="sm" w="sm" type="none"/>
              </a:ln>
            </p:spPr>
          </p:cxnSp>
          <p:cxnSp>
            <p:nvCxnSpPr>
              <p:cNvPr id="5314" name="Google Shape;5314;p83"/>
              <p:cNvCxnSpPr/>
              <p:nvPr/>
            </p:nvCxnSpPr>
            <p:spPr>
              <a:xfrm>
                <a:off x="2932675" y="4069207"/>
                <a:ext cx="424911" cy="0"/>
              </a:xfrm>
              <a:prstGeom prst="straightConnector1">
                <a:avLst/>
              </a:prstGeom>
              <a:noFill/>
              <a:ln cap="flat" cmpd="sng" w="9525">
                <a:solidFill>
                  <a:srgbClr val="CC0000"/>
                </a:solidFill>
                <a:prstDash val="solid"/>
                <a:round/>
                <a:headEnd len="sm" w="sm" type="none"/>
                <a:tailEnd len="sm" w="sm" type="none"/>
              </a:ln>
            </p:spPr>
          </p:cxnSp>
          <p:cxnSp>
            <p:nvCxnSpPr>
              <p:cNvPr id="5315" name="Google Shape;5315;p83"/>
              <p:cNvCxnSpPr>
                <a:stCxn id="5312" idx="2"/>
              </p:cNvCxnSpPr>
              <p:nvPr/>
            </p:nvCxnSpPr>
            <p:spPr>
              <a:xfrm rot="10800000">
                <a:off x="3148784" y="4004873"/>
                <a:ext cx="900" cy="237000"/>
              </a:xfrm>
              <a:prstGeom prst="straightConnector1">
                <a:avLst/>
              </a:prstGeom>
              <a:noFill/>
              <a:ln cap="flat" cmpd="sng" w="9525">
                <a:solidFill>
                  <a:srgbClr val="CC0000"/>
                </a:solidFill>
                <a:prstDash val="solid"/>
                <a:round/>
                <a:headEnd len="sm" w="sm" type="none"/>
                <a:tailEnd len="sm" w="sm" type="none"/>
              </a:ln>
            </p:spPr>
          </p:cxnSp>
        </p:grpSp>
      </p:grpSp>
      <p:sp>
        <p:nvSpPr>
          <p:cNvPr id="5316" name="Google Shape;5316;p83"/>
          <p:cNvSpPr txBox="1"/>
          <p:nvPr/>
        </p:nvSpPr>
        <p:spPr>
          <a:xfrm>
            <a:off x="834474" y="2563584"/>
            <a:ext cx="11259652" cy="1323439"/>
          </a:xfrm>
          <a:prstGeom prst="rect">
            <a:avLst/>
          </a:prstGeom>
          <a:noFill/>
          <a:ln>
            <a:noFill/>
          </a:ln>
        </p:spPr>
        <p:txBody>
          <a:bodyPr anchorCtr="0" anchor="t" bIns="45700" lIns="91425" spcFirstLastPara="1" rIns="91425" wrap="square" tIns="45700">
            <a:spAutoFit/>
          </a:bodyPr>
          <a:lstStyle/>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13A3"/>
                </a:solidFill>
                <a:latin typeface="Calibri"/>
                <a:ea typeface="Calibri"/>
                <a:cs typeface="Calibri"/>
                <a:sym typeface="Calibri"/>
              </a:rPr>
              <a:t>generalized forwarding</a:t>
            </a:r>
            <a:r>
              <a:rPr b="0" i="0" lang="en-US" sz="2800" u="none" cap="none" strike="noStrike">
                <a:solidFill>
                  <a:srgbClr val="000000"/>
                </a:solidFill>
                <a:latin typeface="Calibri"/>
                <a:ea typeface="Calibri"/>
                <a:cs typeface="Calibri"/>
                <a:sym typeface="Calibri"/>
              </a:rPr>
              <a:t>: </a:t>
            </a:r>
            <a:endParaRPr/>
          </a:p>
          <a:p>
            <a:pPr indent="-292100" lvl="2" marL="1314450" marR="0" rtl="0" algn="l">
              <a:lnSpc>
                <a:spcPct val="100000"/>
              </a:lnSpc>
              <a:spcBef>
                <a:spcPts val="0"/>
              </a:spcBef>
              <a:spcAft>
                <a:spcPts val="0"/>
              </a:spcAft>
              <a:buClr>
                <a:srgbClr val="0013A3"/>
              </a:buClr>
              <a:buSzPts val="2600"/>
              <a:buFont typeface="Arial"/>
              <a:buChar char="•"/>
            </a:pPr>
            <a:r>
              <a:rPr b="0" i="0" lang="en-US" sz="2600" u="none" cap="none" strike="noStrike">
                <a:solidFill>
                  <a:srgbClr val="000000"/>
                </a:solidFill>
                <a:latin typeface="Calibri"/>
                <a:ea typeface="Calibri"/>
                <a:cs typeface="Calibri"/>
                <a:sym typeface="Calibri"/>
              </a:rPr>
              <a:t>many header fields can determine action</a:t>
            </a:r>
            <a:endParaRPr/>
          </a:p>
          <a:p>
            <a:pPr indent="-292100" lvl="2" marL="1314450" marR="0" rtl="0" algn="l">
              <a:lnSpc>
                <a:spcPct val="100000"/>
              </a:lnSpc>
              <a:spcBef>
                <a:spcPts val="0"/>
              </a:spcBef>
              <a:spcAft>
                <a:spcPts val="0"/>
              </a:spcAft>
              <a:buClr>
                <a:srgbClr val="0013A3"/>
              </a:buClr>
              <a:buSzPts val="2600"/>
              <a:buFont typeface="Arial"/>
              <a:buChar char="•"/>
            </a:pPr>
            <a:r>
              <a:rPr b="0" i="0" lang="en-US" sz="2600" u="none" cap="none" strike="noStrike">
                <a:solidFill>
                  <a:srgbClr val="000000"/>
                </a:solidFill>
                <a:latin typeface="Calibri"/>
                <a:ea typeface="Calibri"/>
                <a:cs typeface="Calibri"/>
                <a:sym typeface="Calibri"/>
              </a:rPr>
              <a:t>many action possible: drop/copy/modify/log packet</a:t>
            </a:r>
            <a:endParaRPr/>
          </a:p>
        </p:txBody>
      </p:sp>
      <p:grpSp>
        <p:nvGrpSpPr>
          <p:cNvPr id="5317" name="Google Shape;5317;p83"/>
          <p:cNvGrpSpPr/>
          <p:nvPr/>
        </p:nvGrpSpPr>
        <p:grpSpPr>
          <a:xfrm>
            <a:off x="1232001" y="4781571"/>
            <a:ext cx="2463699" cy="307777"/>
            <a:chOff x="1232001" y="4781571"/>
            <a:chExt cx="2463699" cy="307777"/>
          </a:xfrm>
        </p:grpSpPr>
        <p:sp>
          <p:nvSpPr>
            <p:cNvPr id="5318" name="Google Shape;5318;p83"/>
            <p:cNvSpPr txBox="1"/>
            <p:nvPr/>
          </p:nvSpPr>
          <p:spPr>
            <a:xfrm>
              <a:off x="1232001" y="4781571"/>
              <a:ext cx="199231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forwarding table</a:t>
              </a:r>
              <a:endParaRPr b="0" i="0" sz="1800" u="none" cap="none" strike="noStrike">
                <a:solidFill>
                  <a:srgbClr val="000000"/>
                </a:solidFill>
                <a:latin typeface="Arial"/>
                <a:ea typeface="Arial"/>
                <a:cs typeface="Arial"/>
                <a:sym typeface="Arial"/>
              </a:endParaRPr>
            </a:p>
          </p:txBody>
        </p:sp>
        <p:cxnSp>
          <p:nvCxnSpPr>
            <p:cNvPr id="5319" name="Google Shape;5319;p83"/>
            <p:cNvCxnSpPr/>
            <p:nvPr/>
          </p:nvCxnSpPr>
          <p:spPr>
            <a:xfrm>
              <a:off x="2641600" y="4953000"/>
              <a:ext cx="1054100" cy="0"/>
            </a:xfrm>
            <a:prstGeom prst="straightConnector1">
              <a:avLst/>
            </a:prstGeom>
            <a:noFill/>
            <a:ln cap="flat" cmpd="sng" w="12700">
              <a:solidFill>
                <a:srgbClr val="C00000"/>
              </a:solidFill>
              <a:prstDash val="solid"/>
              <a:miter lim="800000"/>
              <a:headEnd len="sm" w="sm" type="none"/>
              <a:tailEnd len="med" w="med" type="triangle"/>
            </a:ln>
          </p:spPr>
        </p:cxnSp>
      </p:grpSp>
      <p:grpSp>
        <p:nvGrpSpPr>
          <p:cNvPr id="5320" name="Google Shape;5320;p83"/>
          <p:cNvGrpSpPr/>
          <p:nvPr/>
        </p:nvGrpSpPr>
        <p:grpSpPr>
          <a:xfrm>
            <a:off x="1253574" y="1255484"/>
            <a:ext cx="9389026" cy="4030693"/>
            <a:chOff x="1253574" y="1255484"/>
            <a:chExt cx="9389026" cy="4030693"/>
          </a:xfrm>
        </p:grpSpPr>
        <p:sp>
          <p:nvSpPr>
            <p:cNvPr id="5321" name="Google Shape;5321;p83"/>
            <p:cNvSpPr txBox="1"/>
            <p:nvPr/>
          </p:nvSpPr>
          <p:spPr>
            <a:xfrm>
              <a:off x="8022674" y="1255484"/>
              <a:ext cx="26199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(aka:</a:t>
              </a:r>
              <a:r>
                <a:rPr b="0" i="0" lang="en-US" sz="2800" u="none" cap="none" strike="noStrike">
                  <a:solidFill>
                    <a:srgbClr val="CC0000"/>
                  </a:solidFill>
                  <a:latin typeface="Calibri"/>
                  <a:ea typeface="Calibri"/>
                  <a:cs typeface="Calibri"/>
                  <a:sym typeface="Calibri"/>
                </a:rPr>
                <a:t> flow table</a:t>
              </a:r>
              <a:r>
                <a:rPr b="0" i="0" lang="en-US" sz="2800" u="none" cap="none" strike="noStrike">
                  <a:solidFill>
                    <a:srgbClr val="000000"/>
                  </a:solidFill>
                  <a:latin typeface="Calibri"/>
                  <a:ea typeface="Calibri"/>
                  <a:cs typeface="Calibri"/>
                  <a:sym typeface="Calibri"/>
                </a:rPr>
                <a:t>)</a:t>
              </a:r>
              <a:endParaRPr/>
            </a:p>
          </p:txBody>
        </p:sp>
        <p:sp>
          <p:nvSpPr>
            <p:cNvPr id="5322" name="Google Shape;5322;p83"/>
            <p:cNvSpPr txBox="1"/>
            <p:nvPr/>
          </p:nvSpPr>
          <p:spPr>
            <a:xfrm>
              <a:off x="1253574" y="4978400"/>
              <a:ext cx="155312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(aka:</a:t>
              </a:r>
              <a:r>
                <a:rPr b="0" i="0" lang="en-US" sz="1400" u="none" cap="none" strike="noStrike">
                  <a:solidFill>
                    <a:srgbClr val="CC0000"/>
                  </a:solidFill>
                  <a:latin typeface="Calibri"/>
                  <a:ea typeface="Calibri"/>
                  <a:cs typeface="Calibri"/>
                  <a:sym typeface="Calibri"/>
                </a:rPr>
                <a:t> flow table</a:t>
              </a:r>
              <a:r>
                <a:rPr b="0" i="0" lang="en-US" sz="1400" u="none" cap="none" strike="noStrike">
                  <a:solidFill>
                    <a:srgbClr val="000000"/>
                  </a:solidFill>
                  <a:latin typeface="Calibri"/>
                  <a:ea typeface="Calibri"/>
                  <a:cs typeface="Calibri"/>
                  <a:sym typeface="Calibri"/>
                </a:rPr>
                <a:t>)</a:t>
              </a:r>
              <a:endParaRPr/>
            </a:p>
          </p:txBody>
        </p:sp>
      </p:grpSp>
      <p:sp>
        <p:nvSpPr>
          <p:cNvPr id="5323" name="Google Shape;5323;p83"/>
          <p:cNvSpPr txBox="1"/>
          <p:nvPr/>
        </p:nvSpPr>
        <p:spPr>
          <a:xfrm>
            <a:off x="836023" y="2139218"/>
            <a:ext cx="11259652" cy="523220"/>
          </a:xfrm>
          <a:prstGeom prst="rect">
            <a:avLst/>
          </a:prstGeom>
          <a:noFill/>
          <a:ln>
            <a:noFill/>
          </a:ln>
        </p:spPr>
        <p:txBody>
          <a:bodyPr anchorCtr="0" anchor="t" bIns="45700" lIns="91425" spcFirstLastPara="1" rIns="91425" wrap="square" tIns="45700">
            <a:spAutoFit/>
          </a:bodyPr>
          <a:lstStyle/>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13A3"/>
                </a:solidFill>
                <a:latin typeface="Calibri"/>
                <a:ea typeface="Calibri"/>
                <a:cs typeface="Calibri"/>
                <a:sym typeface="Calibri"/>
              </a:rPr>
              <a:t>destination-based forwarding: </a:t>
            </a:r>
            <a:r>
              <a:rPr b="0" i="0" lang="en-US" sz="2800" u="none" cap="none" strike="noStrike">
                <a:solidFill>
                  <a:srgbClr val="000000"/>
                </a:solidFill>
                <a:latin typeface="Calibri"/>
                <a:ea typeface="Calibri"/>
                <a:cs typeface="Calibri"/>
                <a:sym typeface="Calibri"/>
              </a:rPr>
              <a:t>forward based on dest. IP address</a:t>
            </a:r>
            <a:endParaRPr/>
          </a:p>
        </p:txBody>
      </p:sp>
      <p:sp>
        <p:nvSpPr>
          <p:cNvPr id="5324" name="Google Shape;5324;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178"/>
                                        </p:tgtEl>
                                        <p:attrNameLst>
                                          <p:attrName>style.visibility</p:attrName>
                                        </p:attrNameLst>
                                      </p:cBhvr>
                                      <p:to>
                                        <p:strVal val="visible"/>
                                      </p:to>
                                    </p:set>
                                    <p:animEffect filter="fade" transition="in">
                                      <p:cBhvr>
                                        <p:cTn dur="500"/>
                                        <p:tgtEl>
                                          <p:spTgt spid="51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90"/>
                                        </p:tgtEl>
                                        <p:attrNameLst>
                                          <p:attrName>style.visibility</p:attrName>
                                        </p:attrNameLst>
                                      </p:cBhvr>
                                      <p:to>
                                        <p:strVal val="visible"/>
                                      </p:to>
                                    </p:set>
                                    <p:animEffect filter="fade" transition="in">
                                      <p:cBhvr>
                                        <p:cTn dur="1000"/>
                                        <p:tgtEl>
                                          <p:spTgt spid="5290"/>
                                        </p:tgtEl>
                                      </p:cBhvr>
                                    </p:animEffect>
                                  </p:childTnLst>
                                </p:cTn>
                              </p:par>
                              <p:par>
                                <p:cTn fill="hold" nodeType="withEffect" presetClass="entr" presetID="10" presetSubtype="0">
                                  <p:stCondLst>
                                    <p:cond delay="0"/>
                                  </p:stCondLst>
                                  <p:childTnLst>
                                    <p:set>
                                      <p:cBhvr>
                                        <p:cTn dur="1" fill="hold">
                                          <p:stCondLst>
                                            <p:cond delay="0"/>
                                          </p:stCondLst>
                                        </p:cTn>
                                        <p:tgtEl>
                                          <p:spTgt spid="5317"/>
                                        </p:tgtEl>
                                        <p:attrNameLst>
                                          <p:attrName>style.visibility</p:attrName>
                                        </p:attrNameLst>
                                      </p:cBhvr>
                                      <p:to>
                                        <p:strVal val="visible"/>
                                      </p:to>
                                    </p:set>
                                    <p:animEffect filter="fade" transition="in">
                                      <p:cBhvr>
                                        <p:cTn dur="500"/>
                                        <p:tgtEl>
                                          <p:spTgt spid="531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177"/>
                                        </p:tgtEl>
                                        <p:attrNameLst>
                                          <p:attrName>style.visibility</p:attrName>
                                        </p:attrNameLst>
                                      </p:cBhvr>
                                      <p:to>
                                        <p:strVal val="visible"/>
                                      </p:to>
                                    </p:set>
                                    <p:animEffect filter="fade" transition="in">
                                      <p:cBhvr>
                                        <p:cTn dur="500"/>
                                        <p:tgtEl>
                                          <p:spTgt spid="5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3"/>
                                        </p:tgtEl>
                                        <p:attrNameLst>
                                          <p:attrName>style.visibility</p:attrName>
                                        </p:attrNameLst>
                                      </p:cBhvr>
                                      <p:to>
                                        <p:strVal val="visible"/>
                                      </p:to>
                                    </p:set>
                                    <p:animEffect filter="fade" transition="in">
                                      <p:cBhvr>
                                        <p:cTn dur="500"/>
                                        <p:tgtEl>
                                          <p:spTgt spid="5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6"/>
                                        </p:tgtEl>
                                        <p:attrNameLst>
                                          <p:attrName>style.visibility</p:attrName>
                                        </p:attrNameLst>
                                      </p:cBhvr>
                                      <p:to>
                                        <p:strVal val="visible"/>
                                      </p:to>
                                    </p:set>
                                    <p:animEffect filter="fade" transition="in">
                                      <p:cBhvr>
                                        <p:cTn dur="500"/>
                                        <p:tgtEl>
                                          <p:spTgt spid="5316"/>
                                        </p:tgtEl>
                                      </p:cBhvr>
                                    </p:animEffect>
                                  </p:childTnLst>
                                </p:cTn>
                              </p:par>
                              <p:par>
                                <p:cTn fill="hold" nodeType="withEffect" presetClass="entr" presetID="10" presetSubtype="0">
                                  <p:stCondLst>
                                    <p:cond delay="0"/>
                                  </p:stCondLst>
                                  <p:childTnLst>
                                    <p:set>
                                      <p:cBhvr>
                                        <p:cTn dur="1" fill="hold">
                                          <p:stCondLst>
                                            <p:cond delay="0"/>
                                          </p:stCondLst>
                                        </p:cTn>
                                        <p:tgtEl>
                                          <p:spTgt spid="5320"/>
                                        </p:tgtEl>
                                        <p:attrNameLst>
                                          <p:attrName>style.visibility</p:attrName>
                                        </p:attrNameLst>
                                      </p:cBhvr>
                                      <p:to>
                                        <p:strVal val="visible"/>
                                      </p:to>
                                    </p:set>
                                    <p:animEffect filter="fade" transition="in">
                                      <p:cBhvr>
                                        <p:cTn dur="500"/>
                                        <p:tgtEl>
                                          <p:spTgt spid="5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9" name="Shape 5329"/>
        <p:cNvGrpSpPr/>
        <p:nvPr/>
      </p:nvGrpSpPr>
      <p:grpSpPr>
        <a:xfrm>
          <a:off x="0" y="0"/>
          <a:ext cx="0" cy="0"/>
          <a:chOff x="0" y="0"/>
          <a:chExt cx="0" cy="0"/>
        </a:xfrm>
      </p:grpSpPr>
      <p:sp>
        <p:nvSpPr>
          <p:cNvPr id="5330" name="Google Shape;5330;p84"/>
          <p:cNvSpPr txBox="1"/>
          <p:nvPr>
            <p:ph idx="1" type="body"/>
          </p:nvPr>
        </p:nvSpPr>
        <p:spPr>
          <a:xfrm>
            <a:off x="838200" y="1326467"/>
            <a:ext cx="10854128" cy="304675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solidFill>
                  <a:srgbClr val="C00000"/>
                </a:solidFill>
                <a:latin typeface="Calibri"/>
                <a:ea typeface="Calibri"/>
                <a:cs typeface="Calibri"/>
                <a:sym typeface="Calibri"/>
              </a:rPr>
              <a:t>flow: </a:t>
            </a:r>
            <a:r>
              <a:rPr lang="en-US">
                <a:latin typeface="Calibri"/>
                <a:ea typeface="Calibri"/>
                <a:cs typeface="Calibri"/>
                <a:sym typeface="Calibri"/>
              </a:rPr>
              <a:t>defined by header field values </a:t>
            </a:r>
            <a:r>
              <a:rPr lang="en-US" sz="2400">
                <a:latin typeface="Calibri"/>
                <a:ea typeface="Calibri"/>
                <a:cs typeface="Calibri"/>
                <a:sym typeface="Calibri"/>
              </a:rPr>
              <a:t>(in link-, network-, transport-layer fields)</a:t>
            </a:r>
            <a:endParaRPr>
              <a:latin typeface="Calibri"/>
              <a:ea typeface="Calibri"/>
              <a:cs typeface="Calibri"/>
              <a:sym typeface="Calibri"/>
            </a:endParaRPr>
          </a:p>
          <a:p>
            <a:pPr indent="-222250" lvl="0" marL="352425" rtl="0" algn="l">
              <a:lnSpc>
                <a:spcPct val="90000"/>
              </a:lnSpc>
              <a:spcBef>
                <a:spcPts val="1000"/>
              </a:spcBef>
              <a:spcAft>
                <a:spcPts val="0"/>
              </a:spcAft>
              <a:buSzPts val="2800"/>
              <a:buChar char="▪"/>
            </a:pPr>
            <a:r>
              <a:rPr lang="en-US">
                <a:solidFill>
                  <a:srgbClr val="C00000"/>
                </a:solidFill>
                <a:latin typeface="Calibri"/>
                <a:ea typeface="Calibri"/>
                <a:cs typeface="Calibri"/>
                <a:sym typeface="Calibri"/>
              </a:rPr>
              <a:t>generalized forwarding: </a:t>
            </a:r>
            <a:r>
              <a:rPr lang="en-US">
                <a:latin typeface="Calibri"/>
                <a:ea typeface="Calibri"/>
                <a:cs typeface="Calibri"/>
                <a:sym typeface="Calibri"/>
              </a:rPr>
              <a:t>simple</a:t>
            </a:r>
            <a:r>
              <a:rPr lang="en-US">
                <a:solidFill>
                  <a:srgbClr val="C00000"/>
                </a:solidFill>
                <a:latin typeface="Calibri"/>
                <a:ea typeface="Calibri"/>
                <a:cs typeface="Calibri"/>
                <a:sym typeface="Calibri"/>
              </a:rPr>
              <a:t> </a:t>
            </a:r>
            <a:r>
              <a:rPr lang="en-US">
                <a:latin typeface="Calibri"/>
                <a:ea typeface="Calibri"/>
                <a:cs typeface="Calibri"/>
                <a:sym typeface="Calibri"/>
              </a:rPr>
              <a:t>packet-handling rules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match:</a:t>
            </a:r>
            <a:r>
              <a:rPr lang="en-US">
                <a:solidFill>
                  <a:srgbClr val="000090"/>
                </a:solidFill>
                <a:latin typeface="Calibri"/>
                <a:ea typeface="Calibri"/>
                <a:cs typeface="Calibri"/>
                <a:sym typeface="Calibri"/>
              </a:rPr>
              <a:t> </a:t>
            </a:r>
            <a:r>
              <a:rPr lang="en-US">
                <a:latin typeface="Calibri"/>
                <a:ea typeface="Calibri"/>
                <a:cs typeface="Calibri"/>
                <a:sym typeface="Calibri"/>
              </a:rPr>
              <a:t>pattern</a:t>
            </a:r>
            <a:r>
              <a:rPr lang="en-US">
                <a:solidFill>
                  <a:srgbClr val="000090"/>
                </a:solidFill>
                <a:latin typeface="Calibri"/>
                <a:ea typeface="Calibri"/>
                <a:cs typeface="Calibri"/>
                <a:sym typeface="Calibri"/>
              </a:rPr>
              <a:t> </a:t>
            </a:r>
            <a:r>
              <a:rPr lang="en-US">
                <a:latin typeface="Calibri"/>
                <a:ea typeface="Calibri"/>
                <a:cs typeface="Calibri"/>
                <a:sym typeface="Calibri"/>
              </a:rPr>
              <a:t>values in packet header fields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actions: </a:t>
            </a:r>
            <a:r>
              <a:rPr lang="en-US">
                <a:latin typeface="Calibri"/>
                <a:ea typeface="Calibri"/>
                <a:cs typeface="Calibri"/>
                <a:sym typeface="Calibri"/>
              </a:rPr>
              <a:t>for matched packet: drop, forward, modify, matched packet or send matched packet to controller </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priority: </a:t>
            </a:r>
            <a:r>
              <a:rPr lang="en-US">
                <a:latin typeface="Calibri"/>
                <a:ea typeface="Calibri"/>
                <a:cs typeface="Calibri"/>
                <a:sym typeface="Calibri"/>
              </a:rPr>
              <a:t>disambiguate overlapping patterns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counters: </a:t>
            </a:r>
            <a:r>
              <a:rPr lang="en-US">
                <a:latin typeface="Calibri"/>
                <a:ea typeface="Calibri"/>
                <a:cs typeface="Calibri"/>
                <a:sym typeface="Calibri"/>
              </a:rPr>
              <a:t>#bytes and #packets</a:t>
            </a:r>
            <a:endParaRPr/>
          </a:p>
        </p:txBody>
      </p:sp>
      <p:sp>
        <p:nvSpPr>
          <p:cNvPr id="5331" name="Google Shape;5331;p84"/>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Flow table abstraction</a:t>
            </a:r>
            <a:endParaRPr/>
          </a:p>
        </p:txBody>
      </p:sp>
      <p:grpSp>
        <p:nvGrpSpPr>
          <p:cNvPr id="5332" name="Google Shape;5332;p84"/>
          <p:cNvGrpSpPr/>
          <p:nvPr/>
        </p:nvGrpSpPr>
        <p:grpSpPr>
          <a:xfrm>
            <a:off x="847391" y="4483100"/>
            <a:ext cx="7244522" cy="2202828"/>
            <a:chOff x="848139" y="4484689"/>
            <a:chExt cx="7244522" cy="2202828"/>
          </a:xfrm>
        </p:grpSpPr>
        <p:cxnSp>
          <p:nvCxnSpPr>
            <p:cNvPr id="5333" name="Google Shape;5333;p84"/>
            <p:cNvCxnSpPr/>
            <p:nvPr/>
          </p:nvCxnSpPr>
          <p:spPr>
            <a:xfrm>
              <a:off x="848139" y="6202017"/>
              <a:ext cx="5194852" cy="0"/>
            </a:xfrm>
            <a:prstGeom prst="straightConnector1">
              <a:avLst/>
            </a:prstGeom>
            <a:noFill/>
            <a:ln cap="flat" cmpd="sng" w="31750">
              <a:solidFill>
                <a:schemeClr val="dk1"/>
              </a:solidFill>
              <a:prstDash val="solid"/>
              <a:miter lim="800000"/>
              <a:headEnd len="sm" w="sm" type="none"/>
              <a:tailEnd len="sm" w="sm" type="none"/>
            </a:ln>
          </p:spPr>
        </p:cxnSp>
        <p:grpSp>
          <p:nvGrpSpPr>
            <p:cNvPr id="5334" name="Google Shape;5334;p84"/>
            <p:cNvGrpSpPr/>
            <p:nvPr/>
          </p:nvGrpSpPr>
          <p:grpSpPr>
            <a:xfrm>
              <a:off x="2117350" y="5637144"/>
              <a:ext cx="2269120" cy="1028699"/>
              <a:chOff x="7493876" y="2774731"/>
              <a:chExt cx="1481958" cy="894622"/>
            </a:xfrm>
          </p:grpSpPr>
          <p:sp>
            <p:nvSpPr>
              <p:cNvPr id="5335" name="Google Shape;5335;p8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36" name="Google Shape;5336;p84"/>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37" name="Google Shape;5337;p84"/>
              <p:cNvGrpSpPr/>
              <p:nvPr/>
            </p:nvGrpSpPr>
            <p:grpSpPr>
              <a:xfrm>
                <a:off x="7713663" y="2848339"/>
                <a:ext cx="1042107" cy="425543"/>
                <a:chOff x="7786941" y="2884917"/>
                <a:chExt cx="897649" cy="353919"/>
              </a:xfrm>
            </p:grpSpPr>
            <p:sp>
              <p:nvSpPr>
                <p:cNvPr id="5338" name="Google Shape;5338;p8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39" name="Google Shape;5339;p8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0" name="Google Shape;5340;p8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41" name="Google Shape;5341;p8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342" name="Google Shape;5342;p84"/>
            <p:cNvSpPr txBox="1"/>
            <p:nvPr/>
          </p:nvSpPr>
          <p:spPr>
            <a:xfrm>
              <a:off x="4737100" y="4484689"/>
              <a:ext cx="335556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Router’s flow table define router’s match+action rules</a:t>
              </a:r>
              <a:endParaRPr/>
            </a:p>
          </p:txBody>
        </p:sp>
        <p:grpSp>
          <p:nvGrpSpPr>
            <p:cNvPr id="5343" name="Google Shape;5343;p84"/>
            <p:cNvGrpSpPr/>
            <p:nvPr/>
          </p:nvGrpSpPr>
          <p:grpSpPr>
            <a:xfrm>
              <a:off x="2535862" y="4518992"/>
              <a:ext cx="1998847" cy="1325048"/>
              <a:chOff x="8327282" y="4055165"/>
              <a:chExt cx="2091509" cy="1325048"/>
            </a:xfrm>
          </p:grpSpPr>
          <p:grpSp>
            <p:nvGrpSpPr>
              <p:cNvPr id="5344" name="Google Shape;5344;p84"/>
              <p:cNvGrpSpPr/>
              <p:nvPr/>
            </p:nvGrpSpPr>
            <p:grpSpPr>
              <a:xfrm>
                <a:off x="8327282" y="4121430"/>
                <a:ext cx="2091509" cy="1258783"/>
                <a:chOff x="2932675" y="3919324"/>
                <a:chExt cx="429970" cy="319189"/>
              </a:xfrm>
            </p:grpSpPr>
            <p:sp>
              <p:nvSpPr>
                <p:cNvPr id="5345" name="Google Shape;5345;p84"/>
                <p:cNvSpPr/>
                <p:nvPr/>
              </p:nvSpPr>
              <p:spPr>
                <a:xfrm>
                  <a:off x="2936722" y="3919324"/>
                  <a:ext cx="425923" cy="319189"/>
                </a:xfrm>
                <a:prstGeom prst="rect">
                  <a:avLst/>
                </a:prstGeom>
                <a:solidFill>
                  <a:srgbClr val="FFFFFF"/>
                </a:solidFill>
                <a:ln cap="flat" cmpd="sng" w="254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46" name="Google Shape;5346;p84"/>
                <p:cNvCxnSpPr/>
                <p:nvPr/>
              </p:nvCxnSpPr>
              <p:spPr>
                <a:xfrm>
                  <a:off x="2932675" y="4004959"/>
                  <a:ext cx="424911" cy="0"/>
                </a:xfrm>
                <a:prstGeom prst="straightConnector1">
                  <a:avLst/>
                </a:prstGeom>
                <a:noFill/>
                <a:ln cap="flat" cmpd="sng" w="25400">
                  <a:solidFill>
                    <a:srgbClr val="CC0000"/>
                  </a:solidFill>
                  <a:prstDash val="solid"/>
                  <a:round/>
                  <a:headEnd len="sm" w="sm" type="none"/>
                  <a:tailEnd len="sm" w="sm" type="none"/>
                </a:ln>
              </p:spPr>
            </p:cxnSp>
            <p:cxnSp>
              <p:nvCxnSpPr>
                <p:cNvPr id="5347" name="Google Shape;5347;p84"/>
                <p:cNvCxnSpPr/>
                <p:nvPr/>
              </p:nvCxnSpPr>
              <p:spPr>
                <a:xfrm>
                  <a:off x="2932675" y="4069207"/>
                  <a:ext cx="424911" cy="0"/>
                </a:xfrm>
                <a:prstGeom prst="straightConnector1">
                  <a:avLst/>
                </a:prstGeom>
                <a:noFill/>
                <a:ln cap="flat" cmpd="sng" w="25400">
                  <a:solidFill>
                    <a:srgbClr val="CC0000"/>
                  </a:solidFill>
                  <a:prstDash val="solid"/>
                  <a:round/>
                  <a:headEnd len="sm" w="sm" type="none"/>
                  <a:tailEnd len="sm" w="sm" type="none"/>
                </a:ln>
              </p:spPr>
            </p:cxnSp>
            <p:cxnSp>
              <p:nvCxnSpPr>
                <p:cNvPr id="5348" name="Google Shape;5348;p84"/>
                <p:cNvCxnSpPr>
                  <a:stCxn id="5345" idx="2"/>
                </p:cNvCxnSpPr>
                <p:nvPr/>
              </p:nvCxnSpPr>
              <p:spPr>
                <a:xfrm rot="10800000">
                  <a:off x="3148184" y="4001513"/>
                  <a:ext cx="1500" cy="237000"/>
                </a:xfrm>
                <a:prstGeom prst="straightConnector1">
                  <a:avLst/>
                </a:prstGeom>
                <a:noFill/>
                <a:ln cap="flat" cmpd="sng" w="25400">
                  <a:solidFill>
                    <a:srgbClr val="CC0000"/>
                  </a:solidFill>
                  <a:prstDash val="solid"/>
                  <a:round/>
                  <a:headEnd len="sm" w="sm" type="none"/>
                  <a:tailEnd len="sm" w="sm" type="none"/>
                </a:ln>
              </p:spPr>
            </p:cxnSp>
          </p:grpSp>
          <p:sp>
            <p:nvSpPr>
              <p:cNvPr id="5349" name="Google Shape;5349;p84"/>
              <p:cNvSpPr txBox="1"/>
              <p:nvPr/>
            </p:nvSpPr>
            <p:spPr>
              <a:xfrm>
                <a:off x="8759686" y="4055165"/>
                <a:ext cx="126573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Flow table</a:t>
                </a:r>
                <a:endParaRPr/>
              </a:p>
            </p:txBody>
          </p:sp>
          <p:sp>
            <p:nvSpPr>
              <p:cNvPr id="5350" name="Google Shape;5350;p84"/>
              <p:cNvSpPr txBox="1"/>
              <p:nvPr/>
            </p:nvSpPr>
            <p:spPr>
              <a:xfrm>
                <a:off x="8461513" y="4379843"/>
                <a:ext cx="83798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match</a:t>
                </a:r>
                <a:endParaRPr/>
              </a:p>
            </p:txBody>
          </p:sp>
          <p:sp>
            <p:nvSpPr>
              <p:cNvPr id="5351" name="Google Shape;5351;p84"/>
              <p:cNvSpPr txBox="1"/>
              <p:nvPr/>
            </p:nvSpPr>
            <p:spPr>
              <a:xfrm>
                <a:off x="9409044" y="4386470"/>
                <a:ext cx="8322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action</a:t>
                </a:r>
                <a:endParaRPr/>
              </a:p>
            </p:txBody>
          </p:sp>
        </p:grpSp>
        <p:cxnSp>
          <p:nvCxnSpPr>
            <p:cNvPr id="5352" name="Google Shape;5352;p84"/>
            <p:cNvCxnSpPr>
              <a:stCxn id="5335" idx="0"/>
            </p:cNvCxnSpPr>
            <p:nvPr/>
          </p:nvCxnSpPr>
          <p:spPr>
            <a:xfrm flipH="1" rot="10800000">
              <a:off x="4386238" y="5804314"/>
              <a:ext cx="2398800" cy="190500"/>
            </a:xfrm>
            <a:prstGeom prst="straightConnector1">
              <a:avLst/>
            </a:prstGeom>
            <a:noFill/>
            <a:ln cap="flat" cmpd="sng" w="31750">
              <a:solidFill>
                <a:schemeClr val="dk1"/>
              </a:solidFill>
              <a:prstDash val="solid"/>
              <a:miter lim="800000"/>
              <a:headEnd len="sm" w="sm" type="none"/>
              <a:tailEnd len="sm" w="sm" type="none"/>
            </a:ln>
          </p:spPr>
        </p:cxnSp>
        <p:cxnSp>
          <p:nvCxnSpPr>
            <p:cNvPr id="5353" name="Google Shape;5353;p84"/>
            <p:cNvCxnSpPr/>
            <p:nvPr/>
          </p:nvCxnSpPr>
          <p:spPr>
            <a:xfrm>
              <a:off x="4399722" y="6361044"/>
              <a:ext cx="755373" cy="326473"/>
            </a:xfrm>
            <a:prstGeom prst="straightConnector1">
              <a:avLst/>
            </a:prstGeom>
            <a:noFill/>
            <a:ln cap="flat" cmpd="sng" w="31750">
              <a:solidFill>
                <a:schemeClr val="dk1"/>
              </a:solidFill>
              <a:prstDash val="solid"/>
              <a:miter lim="800000"/>
              <a:headEnd len="sm" w="sm" type="none"/>
              <a:tailEnd len="sm" w="sm" type="none"/>
            </a:ln>
          </p:spPr>
        </p:cxnSp>
      </p:grpSp>
      <p:sp>
        <p:nvSpPr>
          <p:cNvPr id="5354" name="Google Shape;5354;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2"/>
                                        </p:tgtEl>
                                        <p:attrNameLst>
                                          <p:attrName>style.visibility</p:attrName>
                                        </p:attrNameLst>
                                      </p:cBhvr>
                                      <p:to>
                                        <p:strVal val="visible"/>
                                      </p:to>
                                    </p:set>
                                    <p:animEffect filter="fade" transition="in">
                                      <p:cBhvr>
                                        <p:cTn dur="500"/>
                                        <p:tgtEl>
                                          <p:spTgt spid="5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0" st="0"/>
                                            </p:txEl>
                                          </p:spTgt>
                                        </p:tgtEl>
                                        <p:attrNameLst>
                                          <p:attrName>style.visibility</p:attrName>
                                        </p:attrNameLst>
                                      </p:cBhvr>
                                      <p:to>
                                        <p:strVal val="visible"/>
                                      </p:to>
                                    </p:set>
                                    <p:animEffect filter="fade" transition="in">
                                      <p:cBhvr>
                                        <p:cTn dur="500"/>
                                        <p:tgtEl>
                                          <p:spTgt spid="53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1" st="1"/>
                                            </p:txEl>
                                          </p:spTgt>
                                        </p:tgtEl>
                                        <p:attrNameLst>
                                          <p:attrName>style.visibility</p:attrName>
                                        </p:attrNameLst>
                                      </p:cBhvr>
                                      <p:to>
                                        <p:strVal val="visible"/>
                                      </p:to>
                                    </p:set>
                                    <p:animEffect filter="fade" transition="in">
                                      <p:cBhvr>
                                        <p:cTn dur="500"/>
                                        <p:tgtEl>
                                          <p:spTgt spid="53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2" st="2"/>
                                            </p:txEl>
                                          </p:spTgt>
                                        </p:tgtEl>
                                        <p:attrNameLst>
                                          <p:attrName>style.visibility</p:attrName>
                                        </p:attrNameLst>
                                      </p:cBhvr>
                                      <p:to>
                                        <p:strVal val="visible"/>
                                      </p:to>
                                    </p:set>
                                    <p:animEffect filter="fade" transition="in">
                                      <p:cBhvr>
                                        <p:cTn dur="500"/>
                                        <p:tgtEl>
                                          <p:spTgt spid="53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3" st="3"/>
                                            </p:txEl>
                                          </p:spTgt>
                                        </p:tgtEl>
                                        <p:attrNameLst>
                                          <p:attrName>style.visibility</p:attrName>
                                        </p:attrNameLst>
                                      </p:cBhvr>
                                      <p:to>
                                        <p:strVal val="visible"/>
                                      </p:to>
                                    </p:set>
                                    <p:animEffect filter="fade" transition="in">
                                      <p:cBhvr>
                                        <p:cTn dur="500"/>
                                        <p:tgtEl>
                                          <p:spTgt spid="53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4" st="4"/>
                                            </p:txEl>
                                          </p:spTgt>
                                        </p:tgtEl>
                                        <p:attrNameLst>
                                          <p:attrName>style.visibility</p:attrName>
                                        </p:attrNameLst>
                                      </p:cBhvr>
                                      <p:to>
                                        <p:strVal val="visible"/>
                                      </p:to>
                                    </p:set>
                                    <p:animEffect filter="fade" transition="in">
                                      <p:cBhvr>
                                        <p:cTn dur="500"/>
                                        <p:tgtEl>
                                          <p:spTgt spid="53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0">
                                            <p:txEl>
                                              <p:pRg end="5" st="5"/>
                                            </p:txEl>
                                          </p:spTgt>
                                        </p:tgtEl>
                                        <p:attrNameLst>
                                          <p:attrName>style.visibility</p:attrName>
                                        </p:attrNameLst>
                                      </p:cBhvr>
                                      <p:to>
                                        <p:strVal val="visible"/>
                                      </p:to>
                                    </p:set>
                                    <p:animEffect filter="fade" transition="in">
                                      <p:cBhvr>
                                        <p:cTn dur="500"/>
                                        <p:tgtEl>
                                          <p:spTgt spid="533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9" name="Shape 5359"/>
        <p:cNvGrpSpPr/>
        <p:nvPr/>
      </p:nvGrpSpPr>
      <p:grpSpPr>
        <a:xfrm>
          <a:off x="0" y="0"/>
          <a:ext cx="0" cy="0"/>
          <a:chOff x="0" y="0"/>
          <a:chExt cx="0" cy="0"/>
        </a:xfrm>
      </p:grpSpPr>
      <p:sp>
        <p:nvSpPr>
          <p:cNvPr id="5360" name="Google Shape;5360;p85"/>
          <p:cNvSpPr txBox="1"/>
          <p:nvPr>
            <p:ph idx="1" type="body"/>
          </p:nvPr>
        </p:nvSpPr>
        <p:spPr>
          <a:xfrm>
            <a:off x="838200" y="1326467"/>
            <a:ext cx="10515600" cy="304675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solidFill>
                  <a:srgbClr val="C00000"/>
                </a:solidFill>
                <a:latin typeface="Calibri"/>
                <a:ea typeface="Calibri"/>
                <a:cs typeface="Calibri"/>
                <a:sym typeface="Calibri"/>
              </a:rPr>
              <a:t>flow: </a:t>
            </a:r>
            <a:r>
              <a:rPr lang="en-US">
                <a:latin typeface="Calibri"/>
                <a:ea typeface="Calibri"/>
                <a:cs typeface="Calibri"/>
                <a:sym typeface="Calibri"/>
              </a:rPr>
              <a:t>defined by header fields</a:t>
            </a:r>
            <a:endParaRPr/>
          </a:p>
          <a:p>
            <a:pPr indent="-222250" lvl="0" marL="352425" rtl="0" algn="l">
              <a:lnSpc>
                <a:spcPct val="90000"/>
              </a:lnSpc>
              <a:spcBef>
                <a:spcPts val="1000"/>
              </a:spcBef>
              <a:spcAft>
                <a:spcPts val="0"/>
              </a:spcAft>
              <a:buSzPts val="2800"/>
              <a:buChar char="▪"/>
            </a:pPr>
            <a:r>
              <a:rPr lang="en-US">
                <a:solidFill>
                  <a:srgbClr val="C00000"/>
                </a:solidFill>
                <a:latin typeface="Calibri"/>
                <a:ea typeface="Calibri"/>
                <a:cs typeface="Calibri"/>
                <a:sym typeface="Calibri"/>
              </a:rPr>
              <a:t>generalized forwarding: simple </a:t>
            </a:r>
            <a:r>
              <a:rPr lang="en-US">
                <a:latin typeface="Calibri"/>
                <a:ea typeface="Calibri"/>
                <a:cs typeface="Calibri"/>
                <a:sym typeface="Calibri"/>
              </a:rPr>
              <a:t>packet-handling rules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match:</a:t>
            </a:r>
            <a:r>
              <a:rPr lang="en-US">
                <a:solidFill>
                  <a:srgbClr val="000090"/>
                </a:solidFill>
                <a:latin typeface="Calibri"/>
                <a:ea typeface="Calibri"/>
                <a:cs typeface="Calibri"/>
                <a:sym typeface="Calibri"/>
              </a:rPr>
              <a:t> </a:t>
            </a:r>
            <a:r>
              <a:rPr lang="en-US">
                <a:latin typeface="Calibri"/>
                <a:ea typeface="Calibri"/>
                <a:cs typeface="Calibri"/>
                <a:sym typeface="Calibri"/>
              </a:rPr>
              <a:t>pattern</a:t>
            </a:r>
            <a:r>
              <a:rPr lang="en-US">
                <a:solidFill>
                  <a:srgbClr val="000090"/>
                </a:solidFill>
                <a:latin typeface="Calibri"/>
                <a:ea typeface="Calibri"/>
                <a:cs typeface="Calibri"/>
                <a:sym typeface="Calibri"/>
              </a:rPr>
              <a:t> </a:t>
            </a:r>
            <a:r>
              <a:rPr lang="en-US">
                <a:latin typeface="Calibri"/>
                <a:ea typeface="Calibri"/>
                <a:cs typeface="Calibri"/>
                <a:sym typeface="Calibri"/>
              </a:rPr>
              <a:t>values in packet header fields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actions: </a:t>
            </a:r>
            <a:r>
              <a:rPr lang="en-US">
                <a:latin typeface="Calibri"/>
                <a:ea typeface="Calibri"/>
                <a:cs typeface="Calibri"/>
                <a:sym typeface="Calibri"/>
              </a:rPr>
              <a:t>for matched packet: drop, forward, modify, matched packet or send matched packet to controller </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priority: </a:t>
            </a:r>
            <a:r>
              <a:rPr lang="en-US">
                <a:latin typeface="Calibri"/>
                <a:ea typeface="Calibri"/>
                <a:cs typeface="Calibri"/>
                <a:sym typeface="Calibri"/>
              </a:rPr>
              <a:t>disambiguate overlapping patterns</a:t>
            </a:r>
            <a:endParaRPr/>
          </a:p>
          <a:p>
            <a:pPr indent="-231775" lvl="1" marL="695325" rtl="0" algn="l">
              <a:lnSpc>
                <a:spcPct val="90000"/>
              </a:lnSpc>
              <a:spcBef>
                <a:spcPts val="500"/>
              </a:spcBef>
              <a:spcAft>
                <a:spcPts val="0"/>
              </a:spcAft>
              <a:buSzPts val="2400"/>
              <a:buChar char="•"/>
            </a:pPr>
            <a:r>
              <a:rPr lang="en-US">
                <a:solidFill>
                  <a:srgbClr val="0000A8"/>
                </a:solidFill>
                <a:latin typeface="Calibri"/>
                <a:ea typeface="Calibri"/>
                <a:cs typeface="Calibri"/>
                <a:sym typeface="Calibri"/>
              </a:rPr>
              <a:t>counters: </a:t>
            </a:r>
            <a:r>
              <a:rPr lang="en-US">
                <a:latin typeface="Calibri"/>
                <a:ea typeface="Calibri"/>
                <a:cs typeface="Calibri"/>
                <a:sym typeface="Calibri"/>
              </a:rPr>
              <a:t>#bytes and #packets</a:t>
            </a:r>
            <a:endParaRPr/>
          </a:p>
        </p:txBody>
      </p:sp>
      <p:cxnSp>
        <p:nvCxnSpPr>
          <p:cNvPr id="5361" name="Google Shape;5361;p85"/>
          <p:cNvCxnSpPr/>
          <p:nvPr/>
        </p:nvCxnSpPr>
        <p:spPr>
          <a:xfrm>
            <a:off x="848139" y="6202017"/>
            <a:ext cx="5194852" cy="0"/>
          </a:xfrm>
          <a:prstGeom prst="straightConnector1">
            <a:avLst/>
          </a:prstGeom>
          <a:noFill/>
          <a:ln cap="flat" cmpd="sng" w="31750">
            <a:solidFill>
              <a:schemeClr val="dk1"/>
            </a:solidFill>
            <a:prstDash val="solid"/>
            <a:miter lim="800000"/>
            <a:headEnd len="sm" w="sm" type="none"/>
            <a:tailEnd len="sm" w="sm" type="none"/>
          </a:ln>
        </p:spPr>
      </p:cxnSp>
      <p:grpSp>
        <p:nvGrpSpPr>
          <p:cNvPr id="5362" name="Google Shape;5362;p85"/>
          <p:cNvGrpSpPr/>
          <p:nvPr/>
        </p:nvGrpSpPr>
        <p:grpSpPr>
          <a:xfrm>
            <a:off x="2117350" y="5637144"/>
            <a:ext cx="2269120" cy="1028699"/>
            <a:chOff x="7493876" y="2774731"/>
            <a:chExt cx="1481958" cy="894622"/>
          </a:xfrm>
        </p:grpSpPr>
        <p:sp>
          <p:nvSpPr>
            <p:cNvPr id="5363" name="Google Shape;5363;p8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364" name="Google Shape;5364;p85"/>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365" name="Google Shape;5365;p85"/>
            <p:cNvGrpSpPr/>
            <p:nvPr/>
          </p:nvGrpSpPr>
          <p:grpSpPr>
            <a:xfrm>
              <a:off x="7713663" y="2848339"/>
              <a:ext cx="1042107" cy="425543"/>
              <a:chOff x="7786941" y="2884917"/>
              <a:chExt cx="897649" cy="353919"/>
            </a:xfrm>
          </p:grpSpPr>
          <p:sp>
            <p:nvSpPr>
              <p:cNvPr id="5366" name="Google Shape;5366;p8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7" name="Google Shape;5367;p8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8" name="Google Shape;5368;p8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69" name="Google Shape;5369;p8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370" name="Google Shape;5370;p85"/>
          <p:cNvGrpSpPr/>
          <p:nvPr/>
        </p:nvGrpSpPr>
        <p:grpSpPr>
          <a:xfrm>
            <a:off x="2535862" y="4518992"/>
            <a:ext cx="1998847" cy="1325048"/>
            <a:chOff x="8327282" y="4055165"/>
            <a:chExt cx="2091509" cy="1325048"/>
          </a:xfrm>
        </p:grpSpPr>
        <p:grpSp>
          <p:nvGrpSpPr>
            <p:cNvPr id="5371" name="Google Shape;5371;p85"/>
            <p:cNvGrpSpPr/>
            <p:nvPr/>
          </p:nvGrpSpPr>
          <p:grpSpPr>
            <a:xfrm>
              <a:off x="8327282" y="4121430"/>
              <a:ext cx="2091509" cy="1258783"/>
              <a:chOff x="2932675" y="3919324"/>
              <a:chExt cx="429970" cy="319189"/>
            </a:xfrm>
          </p:grpSpPr>
          <p:sp>
            <p:nvSpPr>
              <p:cNvPr id="5372" name="Google Shape;5372;p85"/>
              <p:cNvSpPr/>
              <p:nvPr/>
            </p:nvSpPr>
            <p:spPr>
              <a:xfrm>
                <a:off x="2936722" y="3919324"/>
                <a:ext cx="425923" cy="319189"/>
              </a:xfrm>
              <a:prstGeom prst="rect">
                <a:avLst/>
              </a:prstGeom>
              <a:solidFill>
                <a:srgbClr val="FFFFFF"/>
              </a:solidFill>
              <a:ln cap="flat" cmpd="sng" w="2540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Gill Sans"/>
                  <a:ea typeface="Gill Sans"/>
                  <a:cs typeface="Gill Sans"/>
                  <a:sym typeface="Gill Sans"/>
                </a:endParaRPr>
              </a:p>
            </p:txBody>
          </p:sp>
          <p:cxnSp>
            <p:nvCxnSpPr>
              <p:cNvPr id="5373" name="Google Shape;5373;p85"/>
              <p:cNvCxnSpPr/>
              <p:nvPr/>
            </p:nvCxnSpPr>
            <p:spPr>
              <a:xfrm>
                <a:off x="2932675" y="4004959"/>
                <a:ext cx="424911" cy="0"/>
              </a:xfrm>
              <a:prstGeom prst="straightConnector1">
                <a:avLst/>
              </a:prstGeom>
              <a:noFill/>
              <a:ln cap="flat" cmpd="sng" w="25400">
                <a:solidFill>
                  <a:srgbClr val="CC0000"/>
                </a:solidFill>
                <a:prstDash val="solid"/>
                <a:round/>
                <a:headEnd len="sm" w="sm" type="none"/>
                <a:tailEnd len="sm" w="sm" type="none"/>
              </a:ln>
            </p:spPr>
          </p:cxnSp>
          <p:cxnSp>
            <p:nvCxnSpPr>
              <p:cNvPr id="5374" name="Google Shape;5374;p85"/>
              <p:cNvCxnSpPr/>
              <p:nvPr/>
            </p:nvCxnSpPr>
            <p:spPr>
              <a:xfrm>
                <a:off x="2932675" y="4069207"/>
                <a:ext cx="424911" cy="0"/>
              </a:xfrm>
              <a:prstGeom prst="straightConnector1">
                <a:avLst/>
              </a:prstGeom>
              <a:noFill/>
              <a:ln cap="flat" cmpd="sng" w="25400">
                <a:solidFill>
                  <a:srgbClr val="CC0000"/>
                </a:solidFill>
                <a:prstDash val="solid"/>
                <a:round/>
                <a:headEnd len="sm" w="sm" type="none"/>
                <a:tailEnd len="sm" w="sm" type="none"/>
              </a:ln>
            </p:spPr>
          </p:cxnSp>
          <p:cxnSp>
            <p:nvCxnSpPr>
              <p:cNvPr id="5375" name="Google Shape;5375;p85"/>
              <p:cNvCxnSpPr>
                <a:stCxn id="5372" idx="2"/>
              </p:cNvCxnSpPr>
              <p:nvPr/>
            </p:nvCxnSpPr>
            <p:spPr>
              <a:xfrm rot="10800000">
                <a:off x="3148184" y="4001513"/>
                <a:ext cx="1500" cy="237000"/>
              </a:xfrm>
              <a:prstGeom prst="straightConnector1">
                <a:avLst/>
              </a:prstGeom>
              <a:noFill/>
              <a:ln cap="flat" cmpd="sng" w="25400">
                <a:solidFill>
                  <a:srgbClr val="CC0000"/>
                </a:solidFill>
                <a:prstDash val="solid"/>
                <a:round/>
                <a:headEnd len="sm" w="sm" type="none"/>
                <a:tailEnd len="sm" w="sm" type="none"/>
              </a:ln>
            </p:spPr>
          </p:cxnSp>
        </p:grpSp>
        <p:sp>
          <p:nvSpPr>
            <p:cNvPr id="5376" name="Google Shape;5376;p85"/>
            <p:cNvSpPr txBox="1"/>
            <p:nvPr/>
          </p:nvSpPr>
          <p:spPr>
            <a:xfrm>
              <a:off x="8759686" y="4055165"/>
              <a:ext cx="126573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Flow table</a:t>
              </a:r>
              <a:endParaRPr/>
            </a:p>
          </p:txBody>
        </p:sp>
        <p:sp>
          <p:nvSpPr>
            <p:cNvPr id="5377" name="Google Shape;5377;p85"/>
            <p:cNvSpPr txBox="1"/>
            <p:nvPr/>
          </p:nvSpPr>
          <p:spPr>
            <a:xfrm>
              <a:off x="8461513" y="4379843"/>
              <a:ext cx="83798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match</a:t>
              </a:r>
              <a:endParaRPr/>
            </a:p>
          </p:txBody>
        </p:sp>
        <p:sp>
          <p:nvSpPr>
            <p:cNvPr id="5378" name="Google Shape;5378;p85"/>
            <p:cNvSpPr txBox="1"/>
            <p:nvPr/>
          </p:nvSpPr>
          <p:spPr>
            <a:xfrm>
              <a:off x="9409044" y="4386470"/>
              <a:ext cx="83227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action</a:t>
              </a:r>
              <a:endParaRPr/>
            </a:p>
          </p:txBody>
        </p:sp>
      </p:grpSp>
      <p:cxnSp>
        <p:nvCxnSpPr>
          <p:cNvPr id="5379" name="Google Shape;5379;p85"/>
          <p:cNvCxnSpPr>
            <a:stCxn id="5363" idx="0"/>
          </p:cNvCxnSpPr>
          <p:nvPr/>
        </p:nvCxnSpPr>
        <p:spPr>
          <a:xfrm flipH="1" rot="10800000">
            <a:off x="4386238" y="5804314"/>
            <a:ext cx="2398800" cy="190500"/>
          </a:xfrm>
          <a:prstGeom prst="straightConnector1">
            <a:avLst/>
          </a:prstGeom>
          <a:noFill/>
          <a:ln cap="flat" cmpd="sng" w="31750">
            <a:solidFill>
              <a:schemeClr val="dk1"/>
            </a:solidFill>
            <a:prstDash val="solid"/>
            <a:miter lim="800000"/>
            <a:headEnd len="sm" w="sm" type="none"/>
            <a:tailEnd len="sm" w="sm" type="none"/>
          </a:ln>
        </p:spPr>
      </p:cxnSp>
      <p:cxnSp>
        <p:nvCxnSpPr>
          <p:cNvPr id="5380" name="Google Shape;5380;p85"/>
          <p:cNvCxnSpPr/>
          <p:nvPr/>
        </p:nvCxnSpPr>
        <p:spPr>
          <a:xfrm>
            <a:off x="4399722" y="6361044"/>
            <a:ext cx="755373" cy="326473"/>
          </a:xfrm>
          <a:prstGeom prst="straightConnector1">
            <a:avLst/>
          </a:prstGeom>
          <a:noFill/>
          <a:ln cap="flat" cmpd="sng" w="31750">
            <a:solidFill>
              <a:schemeClr val="dk1"/>
            </a:solidFill>
            <a:prstDash val="solid"/>
            <a:miter lim="800000"/>
            <a:headEnd len="sm" w="sm" type="none"/>
            <a:tailEnd len="sm" w="sm" type="none"/>
          </a:ln>
        </p:spPr>
      </p:cxnSp>
      <p:sp>
        <p:nvSpPr>
          <p:cNvPr id="5381" name="Google Shape;5381;p85"/>
          <p:cNvSpPr txBox="1"/>
          <p:nvPr/>
        </p:nvSpPr>
        <p:spPr>
          <a:xfrm>
            <a:off x="1828800" y="5870713"/>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1</a:t>
            </a:r>
            <a:endParaRPr/>
          </a:p>
        </p:txBody>
      </p:sp>
      <p:sp>
        <p:nvSpPr>
          <p:cNvPr id="5382" name="Google Shape;5382;p85"/>
          <p:cNvSpPr txBox="1"/>
          <p:nvPr/>
        </p:nvSpPr>
        <p:spPr>
          <a:xfrm>
            <a:off x="4340087" y="6367669"/>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2</a:t>
            </a:r>
            <a:endParaRPr/>
          </a:p>
        </p:txBody>
      </p:sp>
      <p:sp>
        <p:nvSpPr>
          <p:cNvPr id="5383" name="Google Shape;5383;p85"/>
          <p:cNvSpPr txBox="1"/>
          <p:nvPr/>
        </p:nvSpPr>
        <p:spPr>
          <a:xfrm>
            <a:off x="4784035" y="6149009"/>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a:t>
            </a:r>
            <a:endParaRPr/>
          </a:p>
        </p:txBody>
      </p:sp>
      <p:sp>
        <p:nvSpPr>
          <p:cNvPr id="5384" name="Google Shape;5384;p85"/>
          <p:cNvSpPr txBox="1"/>
          <p:nvPr/>
        </p:nvSpPr>
        <p:spPr>
          <a:xfrm>
            <a:off x="4565375" y="5784575"/>
            <a:ext cx="301686"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4</a:t>
            </a:r>
            <a:endParaRPr/>
          </a:p>
        </p:txBody>
      </p:sp>
      <p:grpSp>
        <p:nvGrpSpPr>
          <p:cNvPr id="5385" name="Google Shape;5385;p85"/>
          <p:cNvGrpSpPr/>
          <p:nvPr/>
        </p:nvGrpSpPr>
        <p:grpSpPr>
          <a:xfrm>
            <a:off x="4533981" y="4345979"/>
            <a:ext cx="6820091" cy="1571138"/>
            <a:chOff x="4518991" y="4315999"/>
            <a:chExt cx="6820091" cy="1571138"/>
          </a:xfrm>
        </p:grpSpPr>
        <p:sp>
          <p:nvSpPr>
            <p:cNvPr id="5386" name="Google Shape;5386;p85"/>
            <p:cNvSpPr txBox="1"/>
            <p:nvPr/>
          </p:nvSpPr>
          <p:spPr>
            <a:xfrm>
              <a:off x="7424876" y="5517805"/>
              <a:ext cx="13131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 wildcard</a:t>
              </a:r>
              <a:endParaRPr/>
            </a:p>
          </p:txBody>
        </p:sp>
        <p:sp>
          <p:nvSpPr>
            <p:cNvPr id="5387" name="Google Shape;5387;p85"/>
            <p:cNvSpPr/>
            <p:nvPr/>
          </p:nvSpPr>
          <p:spPr>
            <a:xfrm>
              <a:off x="4518991" y="4320209"/>
              <a:ext cx="808383" cy="1497495"/>
            </a:xfrm>
            <a:custGeom>
              <a:rect b="b" l="l" r="r" t="t"/>
              <a:pathLst>
                <a:path extrusionOk="0" h="1497495" w="808383">
                  <a:moveTo>
                    <a:pt x="13252" y="1497495"/>
                  </a:moveTo>
                  <a:lnTo>
                    <a:pt x="808383" y="1192695"/>
                  </a:lnTo>
                  <a:lnTo>
                    <a:pt x="795131" y="0"/>
                  </a:lnTo>
                  <a:lnTo>
                    <a:pt x="0" y="887895"/>
                  </a:lnTo>
                  <a:lnTo>
                    <a:pt x="13252" y="1497495"/>
                  </a:lnTo>
                  <a:close/>
                </a:path>
              </a:pathLst>
            </a:custGeom>
            <a:gradFill>
              <a:gsLst>
                <a:gs pos="0">
                  <a:srgbClr val="F2F2F2"/>
                </a:gs>
                <a:gs pos="100000">
                  <a:srgbClr val="D8D8D8"/>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388" name="Google Shape;5388;p85"/>
            <p:cNvCxnSpPr/>
            <p:nvPr/>
          </p:nvCxnSpPr>
          <p:spPr>
            <a:xfrm>
              <a:off x="8691768" y="4315999"/>
              <a:ext cx="0" cy="1200150"/>
            </a:xfrm>
            <a:prstGeom prst="straightConnector1">
              <a:avLst/>
            </a:prstGeom>
            <a:noFill/>
            <a:ln cap="flat" cmpd="sng" w="25400">
              <a:solidFill>
                <a:srgbClr val="7F7F7F"/>
              </a:solidFill>
              <a:prstDash val="solid"/>
              <a:miter lim="800000"/>
              <a:headEnd len="sm" w="sm" type="none"/>
              <a:tailEnd len="sm" w="sm" type="none"/>
            </a:ln>
          </p:spPr>
        </p:cxnSp>
        <p:sp>
          <p:nvSpPr>
            <p:cNvPr id="5389" name="Google Shape;5389;p85"/>
            <p:cNvSpPr/>
            <p:nvPr/>
          </p:nvSpPr>
          <p:spPr>
            <a:xfrm>
              <a:off x="5318056" y="4334323"/>
              <a:ext cx="3362117" cy="1191833"/>
            </a:xfrm>
            <a:prstGeom prst="rect">
              <a:avLst/>
            </a:prstGeom>
            <a:solidFill>
              <a:srgbClr val="BBE0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90" name="Google Shape;5390;p85"/>
            <p:cNvSpPr/>
            <p:nvPr/>
          </p:nvSpPr>
          <p:spPr>
            <a:xfrm>
              <a:off x="8712339" y="4334323"/>
              <a:ext cx="2618270" cy="1191834"/>
            </a:xfrm>
            <a:prstGeom prst="rect">
              <a:avLst/>
            </a:prstGeom>
            <a:solidFill>
              <a:srgbClr val="E1EF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91" name="Google Shape;5391;p85"/>
            <p:cNvSpPr/>
            <p:nvPr/>
          </p:nvSpPr>
          <p:spPr>
            <a:xfrm>
              <a:off x="5322405" y="5059180"/>
              <a:ext cx="5981700" cy="46166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src=10.1.2.3, dest=*.*.*.*     send to controller</a:t>
              </a:r>
              <a:endParaRPr b="0" i="0" sz="2400" u="none" cap="none" strike="noStrike">
                <a:solidFill>
                  <a:srgbClr val="000000"/>
                </a:solidFill>
                <a:latin typeface="Calibri"/>
                <a:ea typeface="Calibri"/>
                <a:cs typeface="Calibri"/>
                <a:sym typeface="Calibri"/>
              </a:endParaRPr>
            </a:p>
          </p:txBody>
        </p:sp>
        <p:sp>
          <p:nvSpPr>
            <p:cNvPr id="5392" name="Google Shape;5392;p85"/>
            <p:cNvSpPr/>
            <p:nvPr/>
          </p:nvSpPr>
          <p:spPr>
            <a:xfrm>
              <a:off x="5339894" y="4686925"/>
              <a:ext cx="59817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src=1.2.*.*, dest=*.*.*.*       drop                        </a:t>
              </a:r>
              <a:endParaRPr/>
            </a:p>
          </p:txBody>
        </p:sp>
        <p:sp>
          <p:nvSpPr>
            <p:cNvPr id="5393" name="Google Shape;5393;p85"/>
            <p:cNvSpPr/>
            <p:nvPr/>
          </p:nvSpPr>
          <p:spPr>
            <a:xfrm>
              <a:off x="5357382" y="4344648"/>
              <a:ext cx="598170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src = *.*.*.*, dest=3.4.*.*     forward(2)</a:t>
              </a:r>
              <a:endParaRPr/>
            </a:p>
          </p:txBody>
        </p:sp>
      </p:grpSp>
      <p:sp>
        <p:nvSpPr>
          <p:cNvPr id="5394" name="Google Shape;5394;p85"/>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Flow table abstraction</a:t>
            </a:r>
            <a:endParaRPr/>
          </a:p>
        </p:txBody>
      </p:sp>
      <p:sp>
        <p:nvSpPr>
          <p:cNvPr id="5395" name="Google Shape;5395;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5"/>
                                        </p:tgtEl>
                                        <p:attrNameLst>
                                          <p:attrName>style.visibility</p:attrName>
                                        </p:attrNameLst>
                                      </p:cBhvr>
                                      <p:to>
                                        <p:strVal val="visible"/>
                                      </p:to>
                                    </p:set>
                                    <p:animEffect filter="fade" transition="in">
                                      <p:cBhvr>
                                        <p:cTn dur="500"/>
                                        <p:tgtEl>
                                          <p:spTgt spid="53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0" name="Shape 5400"/>
        <p:cNvGrpSpPr/>
        <p:nvPr/>
      </p:nvGrpSpPr>
      <p:grpSpPr>
        <a:xfrm>
          <a:off x="0" y="0"/>
          <a:ext cx="0" cy="0"/>
          <a:chOff x="0" y="0"/>
          <a:chExt cx="0" cy="0"/>
        </a:xfrm>
      </p:grpSpPr>
      <p:sp>
        <p:nvSpPr>
          <p:cNvPr id="5401" name="Google Shape;5401;p8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flow table entries</a:t>
            </a:r>
            <a:endParaRPr/>
          </a:p>
        </p:txBody>
      </p:sp>
      <p:sp>
        <p:nvSpPr>
          <p:cNvPr id="5402" name="Google Shape;5402;p86"/>
          <p:cNvSpPr/>
          <p:nvPr/>
        </p:nvSpPr>
        <p:spPr>
          <a:xfrm>
            <a:off x="2071274" y="1501983"/>
            <a:ext cx="1446212" cy="687387"/>
          </a:xfrm>
          <a:prstGeom prst="rect">
            <a:avLst/>
          </a:prstGeom>
          <a:solidFill>
            <a:srgbClr val="BBE0E3"/>
          </a:solidFill>
          <a:ln cap="flat" cmpd="sng" w="12700">
            <a:solidFill>
              <a:srgbClr val="0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3" name="Google Shape;5403;p86"/>
          <p:cNvSpPr/>
          <p:nvPr/>
        </p:nvSpPr>
        <p:spPr>
          <a:xfrm>
            <a:off x="2412586" y="1705589"/>
            <a:ext cx="599395" cy="2769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Match</a:t>
            </a:r>
            <a:endParaRPr/>
          </a:p>
        </p:txBody>
      </p:sp>
      <p:sp>
        <p:nvSpPr>
          <p:cNvPr id="5404" name="Google Shape;5404;p86"/>
          <p:cNvSpPr/>
          <p:nvPr/>
        </p:nvSpPr>
        <p:spPr>
          <a:xfrm>
            <a:off x="3517486" y="1501983"/>
            <a:ext cx="1446213" cy="687387"/>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5" name="Google Shape;5405;p86"/>
          <p:cNvSpPr/>
          <p:nvPr/>
        </p:nvSpPr>
        <p:spPr>
          <a:xfrm>
            <a:off x="3690524" y="1705183"/>
            <a:ext cx="603250" cy="2778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Action</a:t>
            </a:r>
            <a:endParaRPr/>
          </a:p>
        </p:txBody>
      </p:sp>
      <p:sp>
        <p:nvSpPr>
          <p:cNvPr id="5406" name="Google Shape;5406;p86"/>
          <p:cNvSpPr/>
          <p:nvPr/>
        </p:nvSpPr>
        <p:spPr>
          <a:xfrm>
            <a:off x="4963699" y="1501983"/>
            <a:ext cx="1447800" cy="687387"/>
          </a:xfrm>
          <a:prstGeom prst="rect">
            <a:avLst/>
          </a:prstGeom>
          <a:solidFill>
            <a:srgbClr val="F2F2F2"/>
          </a:solidFill>
          <a:ln cap="flat" cmpd="sng" w="12700">
            <a:solidFill>
              <a:srgbClr val="8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7" name="Google Shape;5407;p86"/>
          <p:cNvSpPr/>
          <p:nvPr/>
        </p:nvSpPr>
        <p:spPr>
          <a:xfrm>
            <a:off x="5403642" y="1705183"/>
            <a:ext cx="460375" cy="2778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Stats</a:t>
            </a:r>
            <a:endParaRPr/>
          </a:p>
        </p:txBody>
      </p:sp>
      <p:grpSp>
        <p:nvGrpSpPr>
          <p:cNvPr id="5408" name="Google Shape;5408;p86"/>
          <p:cNvGrpSpPr/>
          <p:nvPr/>
        </p:nvGrpSpPr>
        <p:grpSpPr>
          <a:xfrm>
            <a:off x="3169824" y="2200944"/>
            <a:ext cx="5634037" cy="2162712"/>
            <a:chOff x="3169824" y="2200944"/>
            <a:chExt cx="5634037" cy="2162712"/>
          </a:xfrm>
        </p:grpSpPr>
        <p:sp>
          <p:nvSpPr>
            <p:cNvPr id="5409" name="Google Shape;5409;p86"/>
            <p:cNvSpPr/>
            <p:nvPr/>
          </p:nvSpPr>
          <p:spPr>
            <a:xfrm>
              <a:off x="3169824" y="2967245"/>
              <a:ext cx="5634037" cy="1396411"/>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ctr" bIns="0" lIns="0" spcFirstLastPara="1" rIns="0" wrap="square" tIns="0">
              <a:noAutofit/>
            </a:bodyPr>
            <a:lstStyle/>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Forward packet to port(s)</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Drop packet</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Modify fields in header(s)</a:t>
              </a:r>
              <a:endParaRPr/>
            </a:p>
            <a:p>
              <a:pPr indent="-330200" lvl="0" marL="357188" marR="0" rtl="0" algn="l">
                <a:lnSpc>
                  <a:spcPct val="100000"/>
                </a:lnSpc>
                <a:spcBef>
                  <a:spcPts val="0"/>
                </a:spcBef>
                <a:spcAft>
                  <a:spcPts val="0"/>
                </a:spcAft>
                <a:buClr>
                  <a:srgbClr val="000000"/>
                </a:buClr>
                <a:buSzPts val="2200"/>
                <a:buFont typeface="Calibri"/>
                <a:buAutoNum type="arabicPeriod"/>
              </a:pPr>
              <a:r>
                <a:rPr b="0" i="0" lang="en-US" sz="2200" u="none" cap="none" strike="noStrike">
                  <a:solidFill>
                    <a:srgbClr val="000000"/>
                  </a:solidFill>
                  <a:latin typeface="Calibri"/>
                  <a:ea typeface="Calibri"/>
                  <a:cs typeface="Calibri"/>
                  <a:sym typeface="Calibri"/>
                </a:rPr>
                <a:t>Encapsulate and forward to controller</a:t>
              </a:r>
              <a:endParaRPr/>
            </a:p>
          </p:txBody>
        </p:sp>
        <p:cxnSp>
          <p:nvCxnSpPr>
            <p:cNvPr id="5410" name="Google Shape;5410;p86"/>
            <p:cNvCxnSpPr/>
            <p:nvPr/>
          </p:nvCxnSpPr>
          <p:spPr>
            <a:xfrm>
              <a:off x="3616272" y="2200944"/>
              <a:ext cx="1588" cy="758825"/>
            </a:xfrm>
            <a:prstGeom prst="straightConnector1">
              <a:avLst/>
            </a:prstGeom>
            <a:noFill/>
            <a:ln cap="flat" cmpd="sng" w="38100">
              <a:solidFill>
                <a:srgbClr val="000000"/>
              </a:solidFill>
              <a:prstDash val="dot"/>
              <a:round/>
              <a:headEnd len="med" w="med" type="none"/>
              <a:tailEnd len="med" w="med" type="none"/>
            </a:ln>
          </p:spPr>
        </p:cxnSp>
      </p:grpSp>
      <p:grpSp>
        <p:nvGrpSpPr>
          <p:cNvPr id="5411" name="Google Shape;5411;p86"/>
          <p:cNvGrpSpPr/>
          <p:nvPr/>
        </p:nvGrpSpPr>
        <p:grpSpPr>
          <a:xfrm>
            <a:off x="5035074" y="2200945"/>
            <a:ext cx="3044825" cy="623425"/>
            <a:chOff x="5116099" y="2200945"/>
            <a:chExt cx="3044825" cy="623425"/>
          </a:xfrm>
        </p:grpSpPr>
        <p:sp>
          <p:nvSpPr>
            <p:cNvPr id="5412" name="Google Shape;5412;p86"/>
            <p:cNvSpPr/>
            <p:nvPr/>
          </p:nvSpPr>
          <p:spPr>
            <a:xfrm>
              <a:off x="5116099" y="2440195"/>
              <a:ext cx="3044825" cy="384175"/>
            </a:xfrm>
            <a:prstGeom prst="rect">
              <a:avLst/>
            </a:prstGeom>
            <a:solidFill>
              <a:srgbClr val="F2F2F2"/>
            </a:solidFill>
            <a:ln cap="flat" cmpd="sng" w="12700">
              <a:solidFill>
                <a:srgbClr val="800000"/>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413" name="Google Shape;5413;p86"/>
            <p:cNvGrpSpPr/>
            <p:nvPr/>
          </p:nvGrpSpPr>
          <p:grpSpPr>
            <a:xfrm>
              <a:off x="5187757" y="2200945"/>
              <a:ext cx="2652492" cy="599613"/>
              <a:chOff x="5187757" y="2200945"/>
              <a:chExt cx="2652492" cy="599613"/>
            </a:xfrm>
          </p:grpSpPr>
          <p:sp>
            <p:nvSpPr>
              <p:cNvPr id="5414" name="Google Shape;5414;p86"/>
              <p:cNvSpPr/>
              <p:nvPr/>
            </p:nvSpPr>
            <p:spPr>
              <a:xfrm>
                <a:off x="5258974" y="2462420"/>
                <a:ext cx="2581275" cy="33813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Packet + byte counters</a:t>
                </a:r>
                <a:endParaRPr/>
              </a:p>
            </p:txBody>
          </p:sp>
          <p:cxnSp>
            <p:nvCxnSpPr>
              <p:cNvPr id="5415" name="Google Shape;5415;p86"/>
              <p:cNvCxnSpPr/>
              <p:nvPr/>
            </p:nvCxnSpPr>
            <p:spPr>
              <a:xfrm flipH="1" rot="10800000">
                <a:off x="5187757" y="2200945"/>
                <a:ext cx="1587" cy="231775"/>
              </a:xfrm>
              <a:prstGeom prst="straightConnector1">
                <a:avLst/>
              </a:prstGeom>
              <a:noFill/>
              <a:ln cap="flat" cmpd="sng" w="38100">
                <a:solidFill>
                  <a:srgbClr val="000000"/>
                </a:solidFill>
                <a:prstDash val="dot"/>
                <a:round/>
                <a:headEnd len="med" w="med" type="none"/>
                <a:tailEnd len="med" w="med" type="none"/>
              </a:ln>
            </p:spPr>
          </p:cxnSp>
        </p:grpSp>
      </p:grpSp>
      <p:grpSp>
        <p:nvGrpSpPr>
          <p:cNvPr id="5416" name="Google Shape;5416;p86"/>
          <p:cNvGrpSpPr/>
          <p:nvPr/>
        </p:nvGrpSpPr>
        <p:grpSpPr>
          <a:xfrm>
            <a:off x="2117511" y="2200761"/>
            <a:ext cx="8446528" cy="3709144"/>
            <a:chOff x="2117511" y="2200761"/>
            <a:chExt cx="8446528" cy="3709144"/>
          </a:xfrm>
        </p:grpSpPr>
        <p:sp>
          <p:nvSpPr>
            <p:cNvPr id="5417" name="Google Shape;5417;p86"/>
            <p:cNvSpPr txBox="1"/>
            <p:nvPr/>
          </p:nvSpPr>
          <p:spPr>
            <a:xfrm>
              <a:off x="2154100" y="4847642"/>
              <a:ext cx="2429474"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Header fields to match:</a:t>
              </a:r>
              <a:endParaRPr b="0" i="0" sz="1800" u="none" cap="none" strike="noStrike">
                <a:solidFill>
                  <a:srgbClr val="000000"/>
                </a:solidFill>
                <a:latin typeface="Calibri"/>
                <a:ea typeface="Calibri"/>
                <a:cs typeface="Calibri"/>
                <a:sym typeface="Calibri"/>
              </a:endParaRPr>
            </a:p>
          </p:txBody>
        </p:sp>
        <p:cxnSp>
          <p:nvCxnSpPr>
            <p:cNvPr id="5418" name="Google Shape;5418;p86"/>
            <p:cNvCxnSpPr/>
            <p:nvPr/>
          </p:nvCxnSpPr>
          <p:spPr>
            <a:xfrm>
              <a:off x="2127885" y="2200761"/>
              <a:ext cx="1858" cy="3054145"/>
            </a:xfrm>
            <a:prstGeom prst="straightConnector1">
              <a:avLst/>
            </a:prstGeom>
            <a:noFill/>
            <a:ln cap="flat" cmpd="sng" w="38100">
              <a:solidFill>
                <a:srgbClr val="000000"/>
              </a:solidFill>
              <a:prstDash val="dot"/>
              <a:round/>
              <a:headEnd len="med" w="med" type="none"/>
              <a:tailEnd len="med" w="med" type="none"/>
            </a:ln>
          </p:spPr>
        </p:cxnSp>
        <p:sp>
          <p:nvSpPr>
            <p:cNvPr id="5419" name="Google Shape;5419;p86"/>
            <p:cNvSpPr/>
            <p:nvPr/>
          </p:nvSpPr>
          <p:spPr>
            <a:xfrm>
              <a:off x="2117511" y="5262205"/>
              <a:ext cx="771961" cy="647700"/>
            </a:xfrm>
            <a:prstGeom prst="rect">
              <a:avLst/>
            </a:prstGeom>
            <a:gradFill>
              <a:gsLst>
                <a:gs pos="0">
                  <a:srgbClr val="2D5C97"/>
                </a:gs>
                <a:gs pos="80000">
                  <a:srgbClr val="3C7AC5"/>
                </a:gs>
                <a:gs pos="100000">
                  <a:srgbClr val="397BC9"/>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Ingress Port</a:t>
              </a:r>
              <a:endParaRPr b="0" i="0" sz="1400" u="none" cap="none" strike="noStrike">
                <a:solidFill>
                  <a:srgbClr val="FFFFFF"/>
                </a:solidFill>
                <a:latin typeface="Calibri"/>
                <a:ea typeface="Calibri"/>
                <a:cs typeface="Calibri"/>
                <a:sym typeface="Calibri"/>
              </a:endParaRPr>
            </a:p>
          </p:txBody>
        </p:sp>
        <p:sp>
          <p:nvSpPr>
            <p:cNvPr id="5420" name="Google Shape;5420;p86"/>
            <p:cNvSpPr/>
            <p:nvPr/>
          </p:nvSpPr>
          <p:spPr>
            <a:xfrm>
              <a:off x="288947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Src MAC</a:t>
              </a:r>
              <a:endParaRPr b="0" i="0" sz="1400" u="none" cap="none" strike="noStrike">
                <a:solidFill>
                  <a:srgbClr val="FFFFFF"/>
                </a:solidFill>
                <a:latin typeface="Calibri"/>
                <a:ea typeface="Calibri"/>
                <a:cs typeface="Calibri"/>
                <a:sym typeface="Calibri"/>
              </a:endParaRPr>
            </a:p>
          </p:txBody>
        </p:sp>
        <p:sp>
          <p:nvSpPr>
            <p:cNvPr id="5421" name="Google Shape;5421;p86"/>
            <p:cNvSpPr/>
            <p:nvPr/>
          </p:nvSpPr>
          <p:spPr>
            <a:xfrm>
              <a:off x="3544933"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Dst MAC</a:t>
              </a:r>
              <a:endParaRPr b="0" i="0" sz="1400" u="none" cap="none" strike="noStrike">
                <a:solidFill>
                  <a:srgbClr val="FFFFFF"/>
                </a:solidFill>
                <a:latin typeface="Calibri"/>
                <a:ea typeface="Calibri"/>
                <a:cs typeface="Calibri"/>
                <a:sym typeface="Calibri"/>
              </a:endParaRPr>
            </a:p>
          </p:txBody>
        </p:sp>
        <p:sp>
          <p:nvSpPr>
            <p:cNvPr id="5422" name="Google Shape;5422;p86"/>
            <p:cNvSpPr/>
            <p:nvPr/>
          </p:nvSpPr>
          <p:spPr>
            <a:xfrm>
              <a:off x="420039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Eth Type</a:t>
              </a:r>
              <a:endParaRPr b="0" i="0" sz="1400" u="none" cap="none" strike="noStrike">
                <a:solidFill>
                  <a:srgbClr val="FFFFFF"/>
                </a:solidFill>
                <a:latin typeface="Calibri"/>
                <a:ea typeface="Calibri"/>
                <a:cs typeface="Calibri"/>
                <a:sym typeface="Calibri"/>
              </a:endParaRPr>
            </a:p>
          </p:txBody>
        </p:sp>
        <p:sp>
          <p:nvSpPr>
            <p:cNvPr id="5423" name="Google Shape;5423;p86"/>
            <p:cNvSpPr/>
            <p:nvPr/>
          </p:nvSpPr>
          <p:spPr>
            <a:xfrm>
              <a:off x="4855852"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VLAN</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ID</a:t>
              </a:r>
              <a:endParaRPr b="0" i="0" sz="1400" u="none" cap="none" strike="noStrike">
                <a:solidFill>
                  <a:srgbClr val="FFFFFF"/>
                </a:solidFill>
                <a:latin typeface="Calibri"/>
                <a:ea typeface="Calibri"/>
                <a:cs typeface="Calibri"/>
                <a:sym typeface="Calibri"/>
              </a:endParaRPr>
            </a:p>
          </p:txBody>
        </p:sp>
        <p:sp>
          <p:nvSpPr>
            <p:cNvPr id="5424" name="Google Shape;5424;p86"/>
            <p:cNvSpPr/>
            <p:nvPr/>
          </p:nvSpPr>
          <p:spPr>
            <a:xfrm>
              <a:off x="8068323"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ToS</a:t>
              </a:r>
              <a:endParaRPr b="0" i="0" sz="1400" u="none" cap="none" strike="noStrike">
                <a:solidFill>
                  <a:srgbClr val="FFFFFF"/>
                </a:solidFill>
                <a:latin typeface="Calibri"/>
                <a:ea typeface="Calibri"/>
                <a:cs typeface="Calibri"/>
                <a:sym typeface="Calibri"/>
              </a:endParaRPr>
            </a:p>
          </p:txBody>
        </p:sp>
        <p:sp>
          <p:nvSpPr>
            <p:cNvPr id="5425" name="Google Shape;5425;p86"/>
            <p:cNvSpPr/>
            <p:nvPr/>
          </p:nvSpPr>
          <p:spPr>
            <a:xfrm>
              <a:off x="7437016"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Proto</a:t>
              </a:r>
              <a:endParaRPr b="0" i="0" sz="1400" u="none" cap="none" strike="noStrike">
                <a:solidFill>
                  <a:srgbClr val="FFFFFF"/>
                </a:solidFill>
                <a:latin typeface="Calibri"/>
                <a:ea typeface="Calibri"/>
                <a:cs typeface="Calibri"/>
                <a:sym typeface="Calibri"/>
              </a:endParaRPr>
            </a:p>
          </p:txBody>
        </p:sp>
        <p:sp>
          <p:nvSpPr>
            <p:cNvPr id="5426" name="Google Shape;5426;p86"/>
            <p:cNvSpPr/>
            <p:nvPr/>
          </p:nvSpPr>
          <p:spPr>
            <a:xfrm>
              <a:off x="6174401"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Src</a:t>
              </a:r>
              <a:endParaRPr b="0" i="0" sz="1400" u="none" cap="none" strike="noStrike">
                <a:solidFill>
                  <a:srgbClr val="FFFFFF"/>
                </a:solidFill>
                <a:latin typeface="Calibri"/>
                <a:ea typeface="Calibri"/>
                <a:cs typeface="Calibri"/>
                <a:sym typeface="Calibri"/>
              </a:endParaRPr>
            </a:p>
          </p:txBody>
        </p:sp>
        <p:sp>
          <p:nvSpPr>
            <p:cNvPr id="5427" name="Google Shape;5427;p86"/>
            <p:cNvSpPr/>
            <p:nvPr/>
          </p:nvSpPr>
          <p:spPr>
            <a:xfrm>
              <a:off x="6805709" y="5262205"/>
              <a:ext cx="631307" cy="647700"/>
            </a:xfrm>
            <a:prstGeom prst="rect">
              <a:avLst/>
            </a:prstGeom>
            <a:gradFill>
              <a:gsLst>
                <a:gs pos="0">
                  <a:srgbClr val="C86C1F"/>
                </a:gs>
                <a:gs pos="80000">
                  <a:srgbClr val="FF8E29"/>
                </a:gs>
                <a:gs pos="100000">
                  <a:srgbClr val="FF8D2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IP Dst</a:t>
              </a:r>
              <a:endParaRPr b="0" i="0" sz="1400" u="none" cap="none" strike="noStrike">
                <a:solidFill>
                  <a:srgbClr val="FFFFFF"/>
                </a:solidFill>
                <a:latin typeface="Calibri"/>
                <a:ea typeface="Calibri"/>
                <a:cs typeface="Calibri"/>
                <a:sym typeface="Calibri"/>
              </a:endParaRPr>
            </a:p>
          </p:txBody>
        </p:sp>
        <p:sp>
          <p:nvSpPr>
            <p:cNvPr id="5428" name="Google Shape;5428;p86"/>
            <p:cNvSpPr/>
            <p:nvPr/>
          </p:nvSpPr>
          <p:spPr>
            <a:xfrm>
              <a:off x="8706447" y="5262205"/>
              <a:ext cx="928796" cy="647700"/>
            </a:xfrm>
            <a:prstGeom prst="rect">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5714"/>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TCP/UDP Src Port</a:t>
              </a:r>
              <a:endParaRPr b="0" i="0" sz="1400" u="none" cap="none" strike="noStrike">
                <a:solidFill>
                  <a:srgbClr val="FFFFFF"/>
                </a:solidFill>
                <a:latin typeface="Calibri"/>
                <a:ea typeface="Calibri"/>
                <a:cs typeface="Calibri"/>
                <a:sym typeface="Calibri"/>
              </a:endParaRPr>
            </a:p>
          </p:txBody>
        </p:sp>
        <p:sp>
          <p:nvSpPr>
            <p:cNvPr id="5429" name="Google Shape;5429;p86"/>
            <p:cNvSpPr/>
            <p:nvPr/>
          </p:nvSpPr>
          <p:spPr>
            <a:xfrm>
              <a:off x="5511311" y="5262205"/>
              <a:ext cx="655459" cy="647700"/>
            </a:xfrm>
            <a:prstGeom prst="rect">
              <a:avLst/>
            </a:prstGeom>
            <a:gradFill>
              <a:gsLst>
                <a:gs pos="0">
                  <a:srgbClr val="759336"/>
                </a:gs>
                <a:gs pos="80000">
                  <a:srgbClr val="99C247"/>
                </a:gs>
                <a:gs pos="100000">
                  <a:srgbClr val="9BC545"/>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VLAN</a:t>
              </a:r>
              <a:endParaRPr/>
            </a:p>
            <a:p>
              <a:pPr indent="0" lvl="0" marL="0" marR="0" rtl="0" algn="ctr">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 Pri</a:t>
              </a:r>
              <a:endParaRPr b="0" i="0" sz="1400" u="none" cap="none" strike="noStrike">
                <a:solidFill>
                  <a:srgbClr val="FFFFFF"/>
                </a:solidFill>
                <a:latin typeface="Calibri"/>
                <a:ea typeface="Calibri"/>
                <a:cs typeface="Calibri"/>
                <a:sym typeface="Calibri"/>
              </a:endParaRPr>
            </a:p>
          </p:txBody>
        </p:sp>
        <p:sp>
          <p:nvSpPr>
            <p:cNvPr id="5430" name="Google Shape;5430;p86"/>
            <p:cNvSpPr/>
            <p:nvPr/>
          </p:nvSpPr>
          <p:spPr>
            <a:xfrm>
              <a:off x="9635243" y="5262205"/>
              <a:ext cx="928796" cy="647700"/>
            </a:xfrm>
            <a:prstGeom prst="rect">
              <a:avLst/>
            </a:prstGeom>
            <a:gradFill>
              <a:gsLst>
                <a:gs pos="0">
                  <a:srgbClr val="992D2B"/>
                </a:gs>
                <a:gs pos="80000">
                  <a:srgbClr val="C93D39"/>
                </a:gs>
                <a:gs pos="100000">
                  <a:srgbClr val="CD3A36"/>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5714"/>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TCP/UDP Dst Port</a:t>
              </a:r>
              <a:endParaRPr b="0" i="0" sz="1400" u="none" cap="none" strike="noStrike">
                <a:solidFill>
                  <a:srgbClr val="FFFFFF"/>
                </a:solidFill>
                <a:latin typeface="Calibri"/>
                <a:ea typeface="Calibri"/>
                <a:cs typeface="Calibri"/>
                <a:sym typeface="Calibri"/>
              </a:endParaRPr>
            </a:p>
          </p:txBody>
        </p:sp>
      </p:grpSp>
      <p:grpSp>
        <p:nvGrpSpPr>
          <p:cNvPr id="5431" name="Google Shape;5431;p86"/>
          <p:cNvGrpSpPr/>
          <p:nvPr/>
        </p:nvGrpSpPr>
        <p:grpSpPr>
          <a:xfrm>
            <a:off x="2930744" y="6077944"/>
            <a:ext cx="3235564" cy="549153"/>
            <a:chOff x="2826569" y="5888454"/>
            <a:chExt cx="3235564" cy="549153"/>
          </a:xfrm>
        </p:grpSpPr>
        <p:sp>
          <p:nvSpPr>
            <p:cNvPr id="5432" name="Google Shape;5432;p86"/>
            <p:cNvSpPr txBox="1"/>
            <p:nvPr/>
          </p:nvSpPr>
          <p:spPr>
            <a:xfrm>
              <a:off x="3946642" y="6069307"/>
              <a:ext cx="960438"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Link layer</a:t>
              </a:r>
              <a:endParaRPr b="0" i="0" sz="1800" u="none" cap="none" strike="noStrike">
                <a:solidFill>
                  <a:srgbClr val="000000"/>
                </a:solidFill>
                <a:latin typeface="Calibri"/>
                <a:ea typeface="Calibri"/>
                <a:cs typeface="Calibri"/>
                <a:sym typeface="Calibri"/>
              </a:endParaRPr>
            </a:p>
          </p:txBody>
        </p:sp>
        <p:sp>
          <p:nvSpPr>
            <p:cNvPr id="5433" name="Google Shape;5433;p86"/>
            <p:cNvSpPr/>
            <p:nvPr/>
          </p:nvSpPr>
          <p:spPr>
            <a:xfrm rot="-5400000">
              <a:off x="4340578" y="4374445"/>
              <a:ext cx="207546" cy="3235564"/>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34" name="Google Shape;5434;p86"/>
          <p:cNvGrpSpPr/>
          <p:nvPr/>
        </p:nvGrpSpPr>
        <p:grpSpPr>
          <a:xfrm>
            <a:off x="6210167" y="6082290"/>
            <a:ext cx="2473565" cy="543987"/>
            <a:chOff x="6105992" y="5892799"/>
            <a:chExt cx="2473565" cy="543988"/>
          </a:xfrm>
        </p:grpSpPr>
        <p:sp>
          <p:nvSpPr>
            <p:cNvPr id="5435" name="Google Shape;5435;p86"/>
            <p:cNvSpPr txBox="1"/>
            <p:nvPr/>
          </p:nvSpPr>
          <p:spPr>
            <a:xfrm>
              <a:off x="6643718" y="6066899"/>
              <a:ext cx="1350963"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Network layer</a:t>
              </a:r>
              <a:endParaRPr b="0" i="0" sz="1800" u="none" cap="none" strike="noStrike">
                <a:solidFill>
                  <a:srgbClr val="000000"/>
                </a:solidFill>
                <a:latin typeface="Calibri"/>
                <a:ea typeface="Calibri"/>
                <a:cs typeface="Calibri"/>
                <a:sym typeface="Calibri"/>
              </a:endParaRPr>
            </a:p>
          </p:txBody>
        </p:sp>
        <p:sp>
          <p:nvSpPr>
            <p:cNvPr id="5436" name="Google Shape;5436;p86"/>
            <p:cNvSpPr/>
            <p:nvPr/>
          </p:nvSpPr>
          <p:spPr>
            <a:xfrm rot="-5400000">
              <a:off x="7238352" y="4760439"/>
              <a:ext cx="208844" cy="2473565"/>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5437" name="Google Shape;5437;p86"/>
          <p:cNvGrpSpPr/>
          <p:nvPr/>
        </p:nvGrpSpPr>
        <p:grpSpPr>
          <a:xfrm>
            <a:off x="8436668" y="6082291"/>
            <a:ext cx="2349500" cy="547817"/>
            <a:chOff x="8332493" y="5892801"/>
            <a:chExt cx="2349500" cy="547816"/>
          </a:xfrm>
        </p:grpSpPr>
        <p:sp>
          <p:nvSpPr>
            <p:cNvPr id="5438" name="Google Shape;5438;p86"/>
            <p:cNvSpPr txBox="1"/>
            <p:nvPr/>
          </p:nvSpPr>
          <p:spPr>
            <a:xfrm>
              <a:off x="8332493" y="6070729"/>
              <a:ext cx="2349500" cy="3698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Transport layer</a:t>
              </a:r>
              <a:endParaRPr b="0" i="0" sz="1800" u="none" cap="none" strike="noStrike">
                <a:solidFill>
                  <a:srgbClr val="000000"/>
                </a:solidFill>
                <a:latin typeface="Calibri"/>
                <a:ea typeface="Calibri"/>
                <a:cs typeface="Calibri"/>
                <a:sym typeface="Calibri"/>
              </a:endParaRPr>
            </a:p>
          </p:txBody>
        </p:sp>
        <p:sp>
          <p:nvSpPr>
            <p:cNvPr id="5439" name="Google Shape;5439;p86"/>
            <p:cNvSpPr/>
            <p:nvPr/>
          </p:nvSpPr>
          <p:spPr>
            <a:xfrm rot="-5400000">
              <a:off x="9405820" y="5104751"/>
              <a:ext cx="214489" cy="1790588"/>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440" name="Google Shape;5440;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6"/>
                                        </p:tgtEl>
                                        <p:attrNameLst>
                                          <p:attrName>style.visibility</p:attrName>
                                        </p:attrNameLst>
                                      </p:cBhvr>
                                      <p:to>
                                        <p:strVal val="visible"/>
                                      </p:to>
                                    </p:set>
                                    <p:animEffect filter="fade" transition="in">
                                      <p:cBhvr>
                                        <p:cTn dur="500"/>
                                        <p:tgtEl>
                                          <p:spTgt spid="5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4"/>
                                        </p:tgtEl>
                                        <p:attrNameLst>
                                          <p:attrName>style.visibility</p:attrName>
                                        </p:attrNameLst>
                                      </p:cBhvr>
                                      <p:to>
                                        <p:strVal val="visible"/>
                                      </p:to>
                                    </p:set>
                                    <p:animEffect filter="fade" transition="in">
                                      <p:cBhvr>
                                        <p:cTn dur="500"/>
                                        <p:tgtEl>
                                          <p:spTgt spid="5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7"/>
                                        </p:tgtEl>
                                        <p:attrNameLst>
                                          <p:attrName>style.visibility</p:attrName>
                                        </p:attrNameLst>
                                      </p:cBhvr>
                                      <p:to>
                                        <p:strVal val="visible"/>
                                      </p:to>
                                    </p:set>
                                    <p:animEffect filter="fade" transition="in">
                                      <p:cBhvr>
                                        <p:cTn dur="500"/>
                                        <p:tgtEl>
                                          <p:spTgt spid="5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1"/>
                                        </p:tgtEl>
                                        <p:attrNameLst>
                                          <p:attrName>style.visibility</p:attrName>
                                        </p:attrNameLst>
                                      </p:cBhvr>
                                      <p:to>
                                        <p:strVal val="visible"/>
                                      </p:to>
                                    </p:set>
                                    <p:animEffect filter="fade" transition="in">
                                      <p:cBhvr>
                                        <p:cTn dur="500"/>
                                        <p:tgtEl>
                                          <p:spTgt spid="5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8"/>
                                        </p:tgtEl>
                                        <p:attrNameLst>
                                          <p:attrName>style.visibility</p:attrName>
                                        </p:attrNameLst>
                                      </p:cBhvr>
                                      <p:to>
                                        <p:strVal val="visible"/>
                                      </p:to>
                                    </p:set>
                                    <p:animEffect filter="fade" transition="in">
                                      <p:cBhvr>
                                        <p:cTn dur="500"/>
                                        <p:tgtEl>
                                          <p:spTgt spid="5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1"/>
                                        </p:tgtEl>
                                        <p:attrNameLst>
                                          <p:attrName>style.visibility</p:attrName>
                                        </p:attrNameLst>
                                      </p:cBhvr>
                                      <p:to>
                                        <p:strVal val="visible"/>
                                      </p:to>
                                    </p:set>
                                    <p:animEffect filter="fade" transition="in">
                                      <p:cBhvr>
                                        <p:cTn dur="500"/>
                                        <p:tgtEl>
                                          <p:spTgt spid="5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5" name="Shape 5445"/>
        <p:cNvGrpSpPr/>
        <p:nvPr/>
      </p:nvGrpSpPr>
      <p:grpSpPr>
        <a:xfrm>
          <a:off x="0" y="0"/>
          <a:ext cx="0" cy="0"/>
          <a:chOff x="0" y="0"/>
          <a:chExt cx="0" cy="0"/>
        </a:xfrm>
      </p:grpSpPr>
      <p:sp>
        <p:nvSpPr>
          <p:cNvPr id="5446" name="Google Shape;5446;p87"/>
          <p:cNvSpPr txBox="1"/>
          <p:nvPr>
            <p:ph type="title"/>
          </p:nvPr>
        </p:nvSpPr>
        <p:spPr>
          <a:xfrm>
            <a:off x="914400" y="248378"/>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examples</a:t>
            </a:r>
            <a:endParaRPr/>
          </a:p>
        </p:txBody>
      </p:sp>
      <p:sp>
        <p:nvSpPr>
          <p:cNvPr id="5447" name="Google Shape;5447;p87"/>
          <p:cNvSpPr/>
          <p:nvPr/>
        </p:nvSpPr>
        <p:spPr>
          <a:xfrm>
            <a:off x="798077" y="2691365"/>
            <a:ext cx="9342781" cy="30777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IP datagrams destined to IP address  51.6.0.8 should be forwarded to router output port 6 </a:t>
            </a:r>
            <a:endParaRPr/>
          </a:p>
        </p:txBody>
      </p:sp>
      <p:sp>
        <p:nvSpPr>
          <p:cNvPr id="5448" name="Google Shape;5448;p87"/>
          <p:cNvSpPr/>
          <p:nvPr/>
        </p:nvSpPr>
        <p:spPr>
          <a:xfrm>
            <a:off x="887520" y="4590922"/>
            <a:ext cx="7781917" cy="30777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Block (do not forward) all datagrams destined to TCP  port 22 (ssh port #)</a:t>
            </a:r>
            <a:endParaRPr/>
          </a:p>
        </p:txBody>
      </p:sp>
      <p:sp>
        <p:nvSpPr>
          <p:cNvPr id="5449" name="Google Shape;5449;p87"/>
          <p:cNvSpPr/>
          <p:nvPr/>
        </p:nvSpPr>
        <p:spPr>
          <a:xfrm>
            <a:off x="182298" y="6039302"/>
            <a:ext cx="7067480" cy="30777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Block (do not forward) all datagrams sent by host 128.119.1.1</a:t>
            </a:r>
            <a:endParaRPr/>
          </a:p>
        </p:txBody>
      </p:sp>
      <p:grpSp>
        <p:nvGrpSpPr>
          <p:cNvPr id="5450" name="Google Shape;5450;p87"/>
          <p:cNvGrpSpPr/>
          <p:nvPr/>
        </p:nvGrpSpPr>
        <p:grpSpPr>
          <a:xfrm>
            <a:off x="899508" y="1408083"/>
            <a:ext cx="8825324" cy="1339207"/>
            <a:chOff x="899508" y="1408083"/>
            <a:chExt cx="8825324" cy="1339207"/>
          </a:xfrm>
        </p:grpSpPr>
        <p:sp>
          <p:nvSpPr>
            <p:cNvPr id="5451" name="Google Shape;5451;p87"/>
            <p:cNvSpPr/>
            <p:nvPr/>
          </p:nvSpPr>
          <p:spPr>
            <a:xfrm>
              <a:off x="899508" y="1408083"/>
              <a:ext cx="3791487"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Destination-based forwarding:</a:t>
              </a:r>
              <a:endParaRPr/>
            </a:p>
          </p:txBody>
        </p:sp>
        <p:sp>
          <p:nvSpPr>
            <p:cNvPr id="5452" name="Google Shape;5452;p87"/>
            <p:cNvSpPr/>
            <p:nvPr/>
          </p:nvSpPr>
          <p:spPr>
            <a:xfrm>
              <a:off x="914523"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3" name="Google Shape;5453;p87"/>
            <p:cNvSpPr/>
            <p:nvPr/>
          </p:nvSpPr>
          <p:spPr>
            <a:xfrm>
              <a:off x="1574923"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4" name="Google Shape;5454;p87"/>
            <p:cNvSpPr/>
            <p:nvPr/>
          </p:nvSpPr>
          <p:spPr>
            <a:xfrm>
              <a:off x="2003548" y="2420970"/>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5" name="Google Shape;5455;p87"/>
            <p:cNvSpPr/>
            <p:nvPr/>
          </p:nvSpPr>
          <p:spPr>
            <a:xfrm>
              <a:off x="2895723" y="2420970"/>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6" name="Google Shape;5456;p87"/>
            <p:cNvSpPr/>
            <p:nvPr/>
          </p:nvSpPr>
          <p:spPr>
            <a:xfrm>
              <a:off x="35577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7" name="Google Shape;5457;p87"/>
            <p:cNvSpPr/>
            <p:nvPr/>
          </p:nvSpPr>
          <p:spPr>
            <a:xfrm>
              <a:off x="42181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58" name="Google Shape;5458;p87"/>
            <p:cNvSpPr/>
            <p:nvPr/>
          </p:nvSpPr>
          <p:spPr>
            <a:xfrm>
              <a:off x="5619044" y="2384457"/>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51.6.0.8</a:t>
              </a:r>
              <a:endParaRPr/>
            </a:p>
          </p:txBody>
        </p:sp>
        <p:sp>
          <p:nvSpPr>
            <p:cNvPr id="5459" name="Google Shape;5459;p87"/>
            <p:cNvSpPr/>
            <p:nvPr/>
          </p:nvSpPr>
          <p:spPr>
            <a:xfrm>
              <a:off x="6288969"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0" name="Google Shape;5460;p87"/>
            <p:cNvSpPr/>
            <p:nvPr/>
          </p:nvSpPr>
          <p:spPr>
            <a:xfrm>
              <a:off x="6949369" y="2420970"/>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1" name="Google Shape;5461;p87"/>
            <p:cNvSpPr/>
            <p:nvPr/>
          </p:nvSpPr>
          <p:spPr>
            <a:xfrm>
              <a:off x="7576455" y="241748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62" name="Google Shape;5462;p87"/>
            <p:cNvSpPr/>
            <p:nvPr/>
          </p:nvSpPr>
          <p:spPr>
            <a:xfrm>
              <a:off x="8967593" y="236447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port6</a:t>
              </a:r>
              <a:endParaRPr/>
            </a:p>
          </p:txBody>
        </p:sp>
        <p:grpSp>
          <p:nvGrpSpPr>
            <p:cNvPr id="5463" name="Google Shape;5463;p87"/>
            <p:cNvGrpSpPr/>
            <p:nvPr/>
          </p:nvGrpSpPr>
          <p:grpSpPr>
            <a:xfrm>
              <a:off x="908298" y="1842896"/>
              <a:ext cx="8816534" cy="537306"/>
              <a:chOff x="908298" y="1842896"/>
              <a:chExt cx="8816534" cy="537306"/>
            </a:xfrm>
          </p:grpSpPr>
          <p:sp>
            <p:nvSpPr>
              <p:cNvPr id="5464" name="Google Shape;5464;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5" name="Google Shape;5465;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466" name="Google Shape;5466;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7" name="Google Shape;5467;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468" name="Google Shape;5468;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9" name="Google Shape;5469;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470" name="Google Shape;5470;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1" name="Google Shape;5471;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472" name="Google Shape;5472;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3" name="Google Shape;5473;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474" name="Google Shape;5474;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5" name="Google Shape;5475;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476" name="Google Shape;5476;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7" name="Google Shape;5477;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478" name="Google Shape;5478;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79" name="Google Shape;5479;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480" name="Google Shape;5480;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1" name="Google Shape;5481;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482" name="Google Shape;5482;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3" name="Google Shape;5483;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484" name="Google Shape;5484;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5" name="Google Shape;5485;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486" name="Google Shape;5486;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7" name="Google Shape;5487;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488" name="Google Shape;5488;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89" name="Google Shape;5489;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490" name="Google Shape;5490;p87"/>
            <p:cNvSpPr/>
            <p:nvPr/>
          </p:nvSpPr>
          <p:spPr>
            <a:xfrm>
              <a:off x="8181445" y="2426615"/>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1" name="Google Shape;5491;p87"/>
            <p:cNvSpPr/>
            <p:nvPr/>
          </p:nvSpPr>
          <p:spPr>
            <a:xfrm>
              <a:off x="4865811" y="24209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grpSp>
      <p:grpSp>
        <p:nvGrpSpPr>
          <p:cNvPr id="5492" name="Google Shape;5492;p87"/>
          <p:cNvGrpSpPr/>
          <p:nvPr/>
        </p:nvGrpSpPr>
        <p:grpSpPr>
          <a:xfrm>
            <a:off x="914400" y="3333754"/>
            <a:ext cx="8816534" cy="1376391"/>
            <a:chOff x="914400" y="3333754"/>
            <a:chExt cx="8816534" cy="1376391"/>
          </a:xfrm>
        </p:grpSpPr>
        <p:sp>
          <p:nvSpPr>
            <p:cNvPr id="5493" name="Google Shape;5493;p87"/>
            <p:cNvSpPr/>
            <p:nvPr/>
          </p:nvSpPr>
          <p:spPr>
            <a:xfrm>
              <a:off x="920625"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4" name="Google Shape;5494;p87"/>
            <p:cNvSpPr/>
            <p:nvPr/>
          </p:nvSpPr>
          <p:spPr>
            <a:xfrm>
              <a:off x="1581025"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5" name="Google Shape;5495;p87"/>
            <p:cNvSpPr/>
            <p:nvPr/>
          </p:nvSpPr>
          <p:spPr>
            <a:xfrm>
              <a:off x="2009650" y="4389470"/>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6" name="Google Shape;5496;p87"/>
            <p:cNvSpPr/>
            <p:nvPr/>
          </p:nvSpPr>
          <p:spPr>
            <a:xfrm>
              <a:off x="2901825" y="4389470"/>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7" name="Google Shape;5497;p87"/>
            <p:cNvSpPr/>
            <p:nvPr/>
          </p:nvSpPr>
          <p:spPr>
            <a:xfrm>
              <a:off x="3563813"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8" name="Google Shape;5498;p87"/>
            <p:cNvSpPr/>
            <p:nvPr/>
          </p:nvSpPr>
          <p:spPr>
            <a:xfrm>
              <a:off x="4224213"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499" name="Google Shape;5499;p87"/>
            <p:cNvSpPr/>
            <p:nvPr/>
          </p:nvSpPr>
          <p:spPr>
            <a:xfrm>
              <a:off x="5625146" y="4379333"/>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sp>
          <p:nvSpPr>
            <p:cNvPr id="5500" name="Google Shape;5500;p87"/>
            <p:cNvSpPr/>
            <p:nvPr/>
          </p:nvSpPr>
          <p:spPr>
            <a:xfrm>
              <a:off x="6295071" y="438947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1" name="Google Shape;5501;p87"/>
            <p:cNvSpPr/>
            <p:nvPr/>
          </p:nvSpPr>
          <p:spPr>
            <a:xfrm>
              <a:off x="6955471" y="4389470"/>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2" name="Google Shape;5502;p87"/>
            <p:cNvSpPr/>
            <p:nvPr/>
          </p:nvSpPr>
          <p:spPr>
            <a:xfrm>
              <a:off x="7582557" y="4385980"/>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03" name="Google Shape;5503;p87"/>
            <p:cNvSpPr/>
            <p:nvPr/>
          </p:nvSpPr>
          <p:spPr>
            <a:xfrm>
              <a:off x="914400" y="3333754"/>
              <a:ext cx="1053815"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Firewall:</a:t>
              </a:r>
              <a:endParaRPr/>
            </a:p>
          </p:txBody>
        </p:sp>
        <p:sp>
          <p:nvSpPr>
            <p:cNvPr id="5504" name="Google Shape;5504;p87"/>
            <p:cNvSpPr/>
            <p:nvPr/>
          </p:nvSpPr>
          <p:spPr>
            <a:xfrm>
              <a:off x="8973695" y="433199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drop</a:t>
              </a:r>
              <a:endParaRPr/>
            </a:p>
          </p:txBody>
        </p:sp>
        <p:grpSp>
          <p:nvGrpSpPr>
            <p:cNvPr id="5505" name="Google Shape;5505;p87"/>
            <p:cNvGrpSpPr/>
            <p:nvPr/>
          </p:nvGrpSpPr>
          <p:grpSpPr>
            <a:xfrm>
              <a:off x="914400" y="3811396"/>
              <a:ext cx="8816534" cy="537306"/>
              <a:chOff x="908298" y="1842896"/>
              <a:chExt cx="8816534" cy="537306"/>
            </a:xfrm>
          </p:grpSpPr>
          <p:sp>
            <p:nvSpPr>
              <p:cNvPr id="5506" name="Google Shape;5506;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07" name="Google Shape;5507;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508" name="Google Shape;5508;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09" name="Google Shape;5509;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10" name="Google Shape;5510;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1" name="Google Shape;5511;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12" name="Google Shape;5512;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3" name="Google Shape;5513;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514" name="Google Shape;5514;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5" name="Google Shape;5515;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516" name="Google Shape;5516;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7" name="Google Shape;5517;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18" name="Google Shape;5518;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19" name="Google Shape;5519;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20" name="Google Shape;5520;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1" name="Google Shape;5521;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522" name="Google Shape;5522;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3" name="Google Shape;5523;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524" name="Google Shape;5524;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5" name="Google Shape;5525;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526" name="Google Shape;5526;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7" name="Google Shape;5527;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528" name="Google Shape;5528;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29" name="Google Shape;5529;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530" name="Google Shape;5530;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1" name="Google Shape;5531;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532" name="Google Shape;5532;p87"/>
            <p:cNvSpPr/>
            <p:nvPr/>
          </p:nvSpPr>
          <p:spPr>
            <a:xfrm>
              <a:off x="8187547" y="4342363"/>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22</a:t>
              </a:r>
              <a:endParaRPr/>
            </a:p>
          </p:txBody>
        </p:sp>
        <p:sp>
          <p:nvSpPr>
            <p:cNvPr id="5533" name="Google Shape;5533;p87"/>
            <p:cNvSpPr/>
            <p:nvPr/>
          </p:nvSpPr>
          <p:spPr>
            <a:xfrm>
              <a:off x="4898315" y="4382264"/>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grpSp>
      <p:grpSp>
        <p:nvGrpSpPr>
          <p:cNvPr id="5534" name="Google Shape;5534;p87"/>
          <p:cNvGrpSpPr/>
          <p:nvPr/>
        </p:nvGrpSpPr>
        <p:grpSpPr>
          <a:xfrm>
            <a:off x="914400" y="5202287"/>
            <a:ext cx="8816534" cy="910324"/>
            <a:chOff x="914400" y="5202287"/>
            <a:chExt cx="8816534" cy="910324"/>
          </a:xfrm>
        </p:grpSpPr>
        <p:grpSp>
          <p:nvGrpSpPr>
            <p:cNvPr id="5535" name="Google Shape;5535;p87"/>
            <p:cNvGrpSpPr/>
            <p:nvPr/>
          </p:nvGrpSpPr>
          <p:grpSpPr>
            <a:xfrm>
              <a:off x="914400" y="5202287"/>
              <a:ext cx="8816534" cy="537306"/>
              <a:chOff x="908298" y="1842896"/>
              <a:chExt cx="8816534" cy="537306"/>
            </a:xfrm>
          </p:grpSpPr>
          <p:sp>
            <p:nvSpPr>
              <p:cNvPr id="5536" name="Google Shape;5536;p87"/>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7" name="Google Shape;5537;p87"/>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538" name="Google Shape;5538;p87"/>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39" name="Google Shape;5539;p87"/>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40" name="Google Shape;5540;p87"/>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1" name="Google Shape;5541;p87"/>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42" name="Google Shape;5542;p87"/>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3" name="Google Shape;5543;p87"/>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544" name="Google Shape;5544;p87"/>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5" name="Google Shape;5545;p87"/>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546" name="Google Shape;5546;p87"/>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7" name="Google Shape;5547;p87"/>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548" name="Google Shape;5548;p87"/>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49" name="Google Shape;5549;p87"/>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550" name="Google Shape;5550;p87"/>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1" name="Google Shape;5551;p87"/>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552" name="Google Shape;5552;p87"/>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3" name="Google Shape;5553;p87"/>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554" name="Google Shape;5554;p87"/>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5" name="Google Shape;5555;p87"/>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556" name="Google Shape;5556;p87"/>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7" name="Google Shape;5557;p87"/>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558" name="Google Shape;5558;p87"/>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59" name="Google Shape;5559;p87"/>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560" name="Google Shape;5560;p87"/>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61" name="Google Shape;5561;p87"/>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562" name="Google Shape;5562;p87"/>
            <p:cNvSpPr/>
            <p:nvPr/>
          </p:nvSpPr>
          <p:spPr>
            <a:xfrm>
              <a:off x="914400"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3" name="Google Shape;5563;p87"/>
            <p:cNvSpPr/>
            <p:nvPr/>
          </p:nvSpPr>
          <p:spPr>
            <a:xfrm>
              <a:off x="1574800"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4" name="Google Shape;5564;p87"/>
            <p:cNvSpPr/>
            <p:nvPr/>
          </p:nvSpPr>
          <p:spPr>
            <a:xfrm>
              <a:off x="2003425" y="5791936"/>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5" name="Google Shape;5565;p87"/>
            <p:cNvSpPr/>
            <p:nvPr/>
          </p:nvSpPr>
          <p:spPr>
            <a:xfrm>
              <a:off x="2895600" y="5791936"/>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6" name="Google Shape;5566;p87"/>
            <p:cNvSpPr/>
            <p:nvPr/>
          </p:nvSpPr>
          <p:spPr>
            <a:xfrm>
              <a:off x="3557588"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7" name="Google Shape;5567;p87"/>
            <p:cNvSpPr/>
            <p:nvPr/>
          </p:nvSpPr>
          <p:spPr>
            <a:xfrm>
              <a:off x="4217988"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68" name="Google Shape;5568;p87"/>
            <p:cNvSpPr/>
            <p:nvPr/>
          </p:nvSpPr>
          <p:spPr>
            <a:xfrm>
              <a:off x="5618921" y="5781799"/>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a:p>
          </p:txBody>
        </p:sp>
        <p:sp>
          <p:nvSpPr>
            <p:cNvPr id="5569" name="Google Shape;5569;p87"/>
            <p:cNvSpPr/>
            <p:nvPr/>
          </p:nvSpPr>
          <p:spPr>
            <a:xfrm>
              <a:off x="6288846" y="579193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0" name="Google Shape;5570;p87"/>
            <p:cNvSpPr/>
            <p:nvPr/>
          </p:nvSpPr>
          <p:spPr>
            <a:xfrm>
              <a:off x="6949246" y="5791936"/>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1" name="Google Shape;5571;p87"/>
            <p:cNvSpPr/>
            <p:nvPr/>
          </p:nvSpPr>
          <p:spPr>
            <a:xfrm>
              <a:off x="7576332" y="5788446"/>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2" name="Google Shape;5572;p87"/>
            <p:cNvSpPr/>
            <p:nvPr/>
          </p:nvSpPr>
          <p:spPr>
            <a:xfrm>
              <a:off x="8967470" y="573446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drop</a:t>
              </a:r>
              <a:endParaRPr/>
            </a:p>
          </p:txBody>
        </p:sp>
        <p:sp>
          <p:nvSpPr>
            <p:cNvPr id="5573" name="Google Shape;5573;p87"/>
            <p:cNvSpPr/>
            <p:nvPr/>
          </p:nvSpPr>
          <p:spPr>
            <a:xfrm>
              <a:off x="8181322" y="5791129"/>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74" name="Google Shape;5574;p87"/>
            <p:cNvSpPr/>
            <p:nvPr/>
          </p:nvSpPr>
          <p:spPr>
            <a:xfrm>
              <a:off x="4834217" y="5750006"/>
              <a:ext cx="79108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128.119.1.1</a:t>
              </a:r>
              <a:endParaRPr/>
            </a:p>
          </p:txBody>
        </p:sp>
      </p:grpSp>
      <p:sp>
        <p:nvSpPr>
          <p:cNvPr id="5575" name="Google Shape;5575;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50"/>
                                        </p:tgtEl>
                                        <p:attrNameLst>
                                          <p:attrName>style.visibility</p:attrName>
                                        </p:attrNameLst>
                                      </p:cBhvr>
                                      <p:to>
                                        <p:strVal val="visible"/>
                                      </p:to>
                                    </p:set>
                                    <p:animEffect filter="fade" transition="in">
                                      <p:cBhvr>
                                        <p:cTn dur="500"/>
                                        <p:tgtEl>
                                          <p:spTgt spid="5450"/>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7"/>
                                        </p:tgtEl>
                                        <p:attrNameLst>
                                          <p:attrName>style.visibility</p:attrName>
                                        </p:attrNameLst>
                                      </p:cBhvr>
                                      <p:to>
                                        <p:strVal val="visible"/>
                                      </p:to>
                                    </p:set>
                                    <p:animEffect filter="fade" transition="in">
                                      <p:cBhvr>
                                        <p:cTn dur="500"/>
                                        <p:tgtEl>
                                          <p:spTgt spid="5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2"/>
                                        </p:tgtEl>
                                        <p:attrNameLst>
                                          <p:attrName>style.visibility</p:attrName>
                                        </p:attrNameLst>
                                      </p:cBhvr>
                                      <p:to>
                                        <p:strVal val="visible"/>
                                      </p:to>
                                    </p:set>
                                    <p:animEffect filter="fade" transition="in">
                                      <p:cBhvr>
                                        <p:cTn dur="500"/>
                                        <p:tgtEl>
                                          <p:spTgt spid="5492"/>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8"/>
                                        </p:tgtEl>
                                        <p:attrNameLst>
                                          <p:attrName>style.visibility</p:attrName>
                                        </p:attrNameLst>
                                      </p:cBhvr>
                                      <p:to>
                                        <p:strVal val="visible"/>
                                      </p:to>
                                    </p:set>
                                    <p:animEffect filter="fade" transition="in">
                                      <p:cBhvr>
                                        <p:cTn dur="500"/>
                                        <p:tgtEl>
                                          <p:spTgt spid="5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4"/>
                                        </p:tgtEl>
                                        <p:attrNameLst>
                                          <p:attrName>style.visibility</p:attrName>
                                        </p:attrNameLst>
                                      </p:cBhvr>
                                      <p:to>
                                        <p:strVal val="visible"/>
                                      </p:to>
                                    </p:set>
                                    <p:animEffect filter="fade" transition="in">
                                      <p:cBhvr>
                                        <p:cTn dur="500"/>
                                        <p:tgtEl>
                                          <p:spTgt spid="5534"/>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5449"/>
                                        </p:tgtEl>
                                        <p:attrNameLst>
                                          <p:attrName>style.visibility</p:attrName>
                                        </p:attrNameLst>
                                      </p:cBhvr>
                                      <p:to>
                                        <p:strVal val="visible"/>
                                      </p:to>
                                    </p:set>
                                    <p:animEffect filter="fade" transition="in">
                                      <p:cBhvr>
                                        <p:cTn dur="500"/>
                                        <p:tgtEl>
                                          <p:spTgt spid="54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0" name="Shape 5580"/>
        <p:cNvGrpSpPr/>
        <p:nvPr/>
      </p:nvGrpSpPr>
      <p:grpSpPr>
        <a:xfrm>
          <a:off x="0" y="0"/>
          <a:ext cx="0" cy="0"/>
          <a:chOff x="0" y="0"/>
          <a:chExt cx="0" cy="0"/>
        </a:xfrm>
      </p:grpSpPr>
      <p:sp>
        <p:nvSpPr>
          <p:cNvPr id="5581" name="Google Shape;5581;p88"/>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examples</a:t>
            </a:r>
            <a:endParaRPr/>
          </a:p>
        </p:txBody>
      </p:sp>
      <p:sp>
        <p:nvSpPr>
          <p:cNvPr id="5582" name="Google Shape;5582;p88"/>
          <p:cNvSpPr/>
          <p:nvPr/>
        </p:nvSpPr>
        <p:spPr>
          <a:xfrm>
            <a:off x="914400" y="1558262"/>
            <a:ext cx="4726166" cy="369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90"/>
              </a:buClr>
              <a:buSzPts val="2400"/>
              <a:buFont typeface="Calibri"/>
              <a:buNone/>
            </a:pPr>
            <a:r>
              <a:rPr b="0" i="0" lang="en-US" sz="2400" u="none" cap="none" strike="noStrike">
                <a:solidFill>
                  <a:srgbClr val="000090"/>
                </a:solidFill>
                <a:latin typeface="Calibri"/>
                <a:ea typeface="Calibri"/>
                <a:cs typeface="Calibri"/>
                <a:sym typeface="Calibri"/>
              </a:rPr>
              <a:t>Layer 2 destination-based forwarding:</a:t>
            </a:r>
            <a:endParaRPr/>
          </a:p>
        </p:txBody>
      </p:sp>
      <p:sp>
        <p:nvSpPr>
          <p:cNvPr id="5583" name="Google Shape;5583;p88"/>
          <p:cNvSpPr/>
          <p:nvPr/>
        </p:nvSpPr>
        <p:spPr>
          <a:xfrm>
            <a:off x="914400" y="3287099"/>
            <a:ext cx="9342781" cy="61555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layer 2 frames with destination  MAC address 22:A7:23:11:E1:02 should be forwarded to output port 3 </a:t>
            </a:r>
            <a:endParaRPr/>
          </a:p>
        </p:txBody>
      </p:sp>
      <p:grpSp>
        <p:nvGrpSpPr>
          <p:cNvPr id="5584" name="Google Shape;5584;p88"/>
          <p:cNvGrpSpPr/>
          <p:nvPr/>
        </p:nvGrpSpPr>
        <p:grpSpPr>
          <a:xfrm>
            <a:off x="914400" y="2912790"/>
            <a:ext cx="8729763" cy="396694"/>
            <a:chOff x="685800" y="2252402"/>
            <a:chExt cx="8729763" cy="396694"/>
          </a:xfrm>
        </p:grpSpPr>
        <p:sp>
          <p:nvSpPr>
            <p:cNvPr id="5585" name="Google Shape;5585;p88"/>
            <p:cNvSpPr/>
            <p:nvPr/>
          </p:nvSpPr>
          <p:spPr>
            <a:xfrm>
              <a:off x="685800"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6" name="Google Shape;5586;p88"/>
            <p:cNvSpPr/>
            <p:nvPr/>
          </p:nvSpPr>
          <p:spPr>
            <a:xfrm>
              <a:off x="1116937" y="2301413"/>
              <a:ext cx="1133475"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7" name="Google Shape;5587;p88"/>
            <p:cNvSpPr/>
            <p:nvPr/>
          </p:nvSpPr>
          <p:spPr>
            <a:xfrm>
              <a:off x="2667000" y="2312988"/>
              <a:ext cx="661988"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8" name="Google Shape;5588;p88"/>
            <p:cNvSpPr/>
            <p:nvPr/>
          </p:nvSpPr>
          <p:spPr>
            <a:xfrm>
              <a:off x="33289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89" name="Google Shape;5589;p88"/>
            <p:cNvSpPr/>
            <p:nvPr/>
          </p:nvSpPr>
          <p:spPr>
            <a:xfrm>
              <a:off x="39893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0" name="Google Shape;5590;p88"/>
            <p:cNvSpPr/>
            <p:nvPr/>
          </p:nvSpPr>
          <p:spPr>
            <a:xfrm>
              <a:off x="4649788"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1" name="Google Shape;5591;p88"/>
            <p:cNvSpPr/>
            <p:nvPr/>
          </p:nvSpPr>
          <p:spPr>
            <a:xfrm>
              <a:off x="5319713"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2" name="Google Shape;5592;p88"/>
            <p:cNvSpPr/>
            <p:nvPr/>
          </p:nvSpPr>
          <p:spPr>
            <a:xfrm>
              <a:off x="5980113" y="2312988"/>
              <a:ext cx="661987"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3" name="Google Shape;5593;p88"/>
            <p:cNvSpPr/>
            <p:nvPr/>
          </p:nvSpPr>
          <p:spPr>
            <a:xfrm>
              <a:off x="6642100" y="2312988"/>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4" name="Google Shape;5594;p88"/>
            <p:cNvSpPr/>
            <p:nvPr/>
          </p:nvSpPr>
          <p:spPr>
            <a:xfrm>
              <a:off x="8755163" y="2255115"/>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port3</a:t>
              </a:r>
              <a:endParaRPr/>
            </a:p>
          </p:txBody>
        </p:sp>
        <p:sp>
          <p:nvSpPr>
            <p:cNvPr id="5595" name="Google Shape;5595;p88"/>
            <p:cNvSpPr/>
            <p:nvPr/>
          </p:nvSpPr>
          <p:spPr>
            <a:xfrm>
              <a:off x="2026856" y="2252402"/>
              <a:ext cx="658813" cy="31115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22:A7:23:</a:t>
              </a:r>
              <a:endParaRPr/>
            </a:p>
            <a:p>
              <a:pPr indent="0" lvl="0" marL="0" marR="0" rtl="0" algn="ct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11:E1:02</a:t>
              </a:r>
              <a:endParaRPr/>
            </a:p>
          </p:txBody>
        </p:sp>
        <p:sp>
          <p:nvSpPr>
            <p:cNvPr id="5596" name="Google Shape;5596;p88"/>
            <p:cNvSpPr/>
            <p:nvPr/>
          </p:nvSpPr>
          <p:spPr>
            <a:xfrm>
              <a:off x="7303786" y="2326492"/>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sp>
          <p:nvSpPr>
            <p:cNvPr id="5597" name="Google Shape;5597;p88"/>
            <p:cNvSpPr/>
            <p:nvPr/>
          </p:nvSpPr>
          <p:spPr>
            <a:xfrm>
              <a:off x="7965472" y="2328421"/>
              <a:ext cx="660400" cy="32067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t>
              </a:r>
              <a:endParaRPr/>
            </a:p>
          </p:txBody>
        </p:sp>
      </p:grpSp>
      <p:grpSp>
        <p:nvGrpSpPr>
          <p:cNvPr id="5598" name="Google Shape;5598;p88"/>
          <p:cNvGrpSpPr/>
          <p:nvPr/>
        </p:nvGrpSpPr>
        <p:grpSpPr>
          <a:xfrm>
            <a:off x="914400" y="2179365"/>
            <a:ext cx="8816534" cy="537306"/>
            <a:chOff x="908298" y="1842896"/>
            <a:chExt cx="8816534" cy="537306"/>
          </a:xfrm>
        </p:grpSpPr>
        <p:sp>
          <p:nvSpPr>
            <p:cNvPr id="5599" name="Google Shape;5599;p88"/>
            <p:cNvSpPr/>
            <p:nvPr/>
          </p:nvSpPr>
          <p:spPr>
            <a:xfrm>
              <a:off x="916112"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0" name="Google Shape;5600;p88"/>
            <p:cNvSpPr/>
            <p:nvPr/>
          </p:nvSpPr>
          <p:spPr>
            <a:xfrm>
              <a:off x="908298" y="1851027"/>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Switch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Port</a:t>
              </a:r>
              <a:endParaRPr/>
            </a:p>
          </p:txBody>
        </p:sp>
        <p:sp>
          <p:nvSpPr>
            <p:cNvPr id="5601" name="Google Shape;5601;p88"/>
            <p:cNvSpPr/>
            <p:nvPr/>
          </p:nvSpPr>
          <p:spPr>
            <a:xfrm>
              <a:off x="157694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2" name="Google Shape;5602;p88"/>
            <p:cNvSpPr/>
            <p:nvPr/>
          </p:nvSpPr>
          <p:spPr>
            <a:xfrm>
              <a:off x="1572479"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603" name="Google Shape;5603;p88"/>
            <p:cNvSpPr/>
            <p:nvPr/>
          </p:nvSpPr>
          <p:spPr>
            <a:xfrm>
              <a:off x="223889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4" name="Google Shape;5604;p88"/>
            <p:cNvSpPr/>
            <p:nvPr/>
          </p:nvSpPr>
          <p:spPr>
            <a:xfrm>
              <a:off x="2269031" y="1842896"/>
              <a:ext cx="63292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MAC</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605" name="Google Shape;5605;p88"/>
            <p:cNvSpPr/>
            <p:nvPr/>
          </p:nvSpPr>
          <p:spPr>
            <a:xfrm>
              <a:off x="2908654"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6" name="Google Shape;5606;p88"/>
            <p:cNvSpPr/>
            <p:nvPr/>
          </p:nvSpPr>
          <p:spPr>
            <a:xfrm>
              <a:off x="2906422"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Eth</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type</a:t>
              </a:r>
              <a:endParaRPr/>
            </a:p>
          </p:txBody>
        </p:sp>
        <p:sp>
          <p:nvSpPr>
            <p:cNvPr id="5607" name="Google Shape;5607;p88"/>
            <p:cNvSpPr/>
            <p:nvPr/>
          </p:nvSpPr>
          <p:spPr>
            <a:xfrm>
              <a:off x="3570602"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08" name="Google Shape;5608;p88"/>
            <p:cNvSpPr/>
            <p:nvPr/>
          </p:nvSpPr>
          <p:spPr>
            <a:xfrm>
              <a:off x="3572835" y="1842896"/>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ID</a:t>
              </a:r>
              <a:endParaRPr/>
            </a:p>
          </p:txBody>
        </p:sp>
        <p:sp>
          <p:nvSpPr>
            <p:cNvPr id="5609" name="Google Shape;5609;p88"/>
            <p:cNvSpPr/>
            <p:nvPr/>
          </p:nvSpPr>
          <p:spPr>
            <a:xfrm>
              <a:off x="4898598"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0" name="Google Shape;5610;p88"/>
            <p:cNvSpPr/>
            <p:nvPr/>
          </p:nvSpPr>
          <p:spPr>
            <a:xfrm>
              <a:off x="4905295" y="1842896"/>
              <a:ext cx="65748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Src</a:t>
              </a:r>
              <a:endParaRPr b="0" i="0" sz="1700" u="none" cap="none" strike="noStrike">
                <a:solidFill>
                  <a:srgbClr val="000000"/>
                </a:solidFill>
                <a:latin typeface="Calibri"/>
                <a:ea typeface="Calibri"/>
                <a:cs typeface="Calibri"/>
                <a:sym typeface="Calibri"/>
              </a:endParaRPr>
            </a:p>
          </p:txBody>
        </p:sp>
        <p:sp>
          <p:nvSpPr>
            <p:cNvPr id="5611" name="Google Shape;5611;p88"/>
            <p:cNvSpPr/>
            <p:nvPr/>
          </p:nvSpPr>
          <p:spPr>
            <a:xfrm>
              <a:off x="5568360" y="184797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2" name="Google Shape;5612;p88"/>
            <p:cNvSpPr/>
            <p:nvPr/>
          </p:nvSpPr>
          <p:spPr>
            <a:xfrm>
              <a:off x="5563895" y="184289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Dst</a:t>
              </a:r>
              <a:endParaRPr b="0" i="0" sz="1700" u="none" cap="none" strike="noStrike">
                <a:solidFill>
                  <a:srgbClr val="000000"/>
                </a:solidFill>
                <a:latin typeface="Calibri"/>
                <a:ea typeface="Calibri"/>
                <a:cs typeface="Calibri"/>
                <a:sym typeface="Calibri"/>
              </a:endParaRPr>
            </a:p>
          </p:txBody>
        </p:sp>
        <p:sp>
          <p:nvSpPr>
            <p:cNvPr id="5613" name="Google Shape;5613;p88"/>
            <p:cNvSpPr/>
            <p:nvPr/>
          </p:nvSpPr>
          <p:spPr>
            <a:xfrm>
              <a:off x="6230308" y="1847978"/>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4" name="Google Shape;5614;p88"/>
            <p:cNvSpPr/>
            <p:nvPr/>
          </p:nvSpPr>
          <p:spPr>
            <a:xfrm>
              <a:off x="6231424" y="1842896"/>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Prot</a:t>
              </a:r>
              <a:endParaRPr b="0" i="0" sz="1700" u="none" cap="none" strike="noStrike">
                <a:solidFill>
                  <a:srgbClr val="000000"/>
                </a:solidFill>
                <a:latin typeface="Calibri"/>
                <a:ea typeface="Calibri"/>
                <a:cs typeface="Calibri"/>
                <a:sym typeface="Calibri"/>
              </a:endParaRPr>
            </a:p>
          </p:txBody>
        </p:sp>
        <p:sp>
          <p:nvSpPr>
            <p:cNvPr id="5615" name="Google Shape;5615;p88"/>
            <p:cNvSpPr/>
            <p:nvPr/>
          </p:nvSpPr>
          <p:spPr>
            <a:xfrm>
              <a:off x="7551454"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6" name="Google Shape;5616;p88"/>
            <p:cNvSpPr/>
            <p:nvPr/>
          </p:nvSpPr>
          <p:spPr>
            <a:xfrm>
              <a:off x="7589786" y="1849876"/>
              <a:ext cx="665297"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s-port</a:t>
              </a:r>
              <a:endParaRPr/>
            </a:p>
          </p:txBody>
        </p:sp>
        <p:sp>
          <p:nvSpPr>
            <p:cNvPr id="5617" name="Google Shape;5617;p88"/>
            <p:cNvSpPr/>
            <p:nvPr/>
          </p:nvSpPr>
          <p:spPr>
            <a:xfrm>
              <a:off x="8221216" y="1854958"/>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18" name="Google Shape;5618;p88"/>
            <p:cNvSpPr/>
            <p:nvPr/>
          </p:nvSpPr>
          <p:spPr>
            <a:xfrm>
              <a:off x="8215634" y="1849876"/>
              <a:ext cx="666413"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TCP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d-port</a:t>
              </a:r>
              <a:endParaRPr/>
            </a:p>
          </p:txBody>
        </p:sp>
        <p:sp>
          <p:nvSpPr>
            <p:cNvPr id="5619" name="Google Shape;5619;p88"/>
            <p:cNvSpPr/>
            <p:nvPr/>
          </p:nvSpPr>
          <p:spPr>
            <a:xfrm>
              <a:off x="8887488" y="1852728"/>
              <a:ext cx="834970" cy="495980"/>
            </a:xfrm>
            <a:prstGeom prst="rect">
              <a:avLst/>
            </a:prstGeom>
            <a:solidFill>
              <a:srgbClr val="E1EFD8"/>
            </a:solidFill>
            <a:ln cap="flat" cmpd="sng" w="12700">
              <a:solidFill>
                <a:srgbClr val="697D3A"/>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0" name="Google Shape;5620;p88"/>
            <p:cNvSpPr/>
            <p:nvPr/>
          </p:nvSpPr>
          <p:spPr>
            <a:xfrm>
              <a:off x="8882048" y="1972855"/>
              <a:ext cx="842784" cy="292709"/>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Action</a:t>
              </a:r>
              <a:endParaRPr/>
            </a:p>
          </p:txBody>
        </p:sp>
        <p:sp>
          <p:nvSpPr>
            <p:cNvPr id="5621" name="Google Shape;5621;p88"/>
            <p:cNvSpPr/>
            <p:nvPr/>
          </p:nvSpPr>
          <p:spPr>
            <a:xfrm>
              <a:off x="4231002" y="1846643"/>
              <a:ext cx="661948"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2" name="Google Shape;5622;p88"/>
            <p:cNvSpPr/>
            <p:nvPr/>
          </p:nvSpPr>
          <p:spPr>
            <a:xfrm>
              <a:off x="4221946" y="1859830"/>
              <a:ext cx="658599"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VLAN</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Pri</a:t>
              </a:r>
              <a:endParaRPr b="0" i="0" sz="1700" u="none" cap="none" strike="noStrike">
                <a:solidFill>
                  <a:srgbClr val="000000"/>
                </a:solidFill>
                <a:latin typeface="Calibri"/>
                <a:ea typeface="Calibri"/>
                <a:cs typeface="Calibri"/>
                <a:sym typeface="Calibri"/>
              </a:endParaRPr>
            </a:p>
          </p:txBody>
        </p:sp>
        <p:sp>
          <p:nvSpPr>
            <p:cNvPr id="5623" name="Google Shape;5623;p88"/>
            <p:cNvSpPr/>
            <p:nvPr/>
          </p:nvSpPr>
          <p:spPr>
            <a:xfrm>
              <a:off x="6890708" y="1853623"/>
              <a:ext cx="660832" cy="487849"/>
            </a:xfrm>
            <a:prstGeom prst="rect">
              <a:avLst/>
            </a:prstGeom>
            <a:solidFill>
              <a:srgbClr val="BBE0E3"/>
            </a:solidFill>
            <a:ln cap="flat" cmpd="sng" w="12700">
              <a:solidFill>
                <a:schemeClr val="dk1"/>
              </a:solidFill>
              <a:prstDash val="solid"/>
              <a:miter lim="800000"/>
              <a:headEnd len="sm" w="sm" type="none"/>
              <a:tailEnd len="sm" w="sm" type="none"/>
            </a:ln>
          </p:spPr>
          <p:txBody>
            <a:bodyPr anchorCtr="0" anchor="t" bIns="0" lIns="0" spcFirstLastPara="1" rIns="0" wrap="square" tIns="0">
              <a:noAutofit/>
            </a:bodyPr>
            <a:lstStyle/>
            <a:p>
              <a:pPr indent="0" lvl="0" marL="0" marR="0" rtl="0" algn="l">
                <a:lnSpc>
                  <a:spcPct val="85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24" name="Google Shape;5624;p88"/>
            <p:cNvSpPr/>
            <p:nvPr/>
          </p:nvSpPr>
          <p:spPr>
            <a:xfrm>
              <a:off x="6891824" y="1848541"/>
              <a:ext cx="650785" cy="520372"/>
            </a:xfrm>
            <a:prstGeom prst="rect">
              <a:avLst/>
            </a:prstGeom>
            <a:noFill/>
            <a:ln>
              <a:noFill/>
            </a:ln>
          </p:spPr>
          <p:txBody>
            <a:bodyPr anchorCtr="0" anchor="ctr" bIns="0" lIns="0" spcFirstLastPara="1" rIns="0" wrap="square" tIns="0">
              <a:noAutofit/>
            </a:bodyPr>
            <a:lstStyle/>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IP</a:t>
              </a:r>
              <a:endParaRPr/>
            </a:p>
            <a:p>
              <a:pPr indent="0" lvl="0" marL="0" marR="0" rtl="0" algn="ctr">
                <a:lnSpc>
                  <a:spcPct val="85000"/>
                </a:lnSpc>
                <a:spcBef>
                  <a:spcPts val="0"/>
                </a:spcBef>
                <a:spcAft>
                  <a:spcPts val="0"/>
                </a:spcAft>
                <a:buClr>
                  <a:srgbClr val="000000"/>
                </a:buClr>
                <a:buSzPts val="1700"/>
                <a:buFont typeface="Calibri"/>
                <a:buNone/>
              </a:pPr>
              <a:r>
                <a:rPr b="0" i="0" lang="en-US" sz="1700" u="none" cap="none" strike="noStrike">
                  <a:solidFill>
                    <a:srgbClr val="000000"/>
                  </a:solidFill>
                  <a:latin typeface="Calibri"/>
                  <a:ea typeface="Calibri"/>
                  <a:cs typeface="Calibri"/>
                  <a:sym typeface="Calibri"/>
                </a:rPr>
                <a:t>ToS</a:t>
              </a:r>
              <a:endParaRPr b="0" i="0" sz="1700" u="none" cap="none" strike="noStrike">
                <a:solidFill>
                  <a:srgbClr val="000000"/>
                </a:solidFill>
                <a:latin typeface="Calibri"/>
                <a:ea typeface="Calibri"/>
                <a:cs typeface="Calibri"/>
                <a:sym typeface="Calibri"/>
              </a:endParaRPr>
            </a:p>
          </p:txBody>
        </p:sp>
      </p:grpSp>
      <p:sp>
        <p:nvSpPr>
          <p:cNvPr id="5625" name="Google Shape;5625;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5583"/>
                                        </p:tgtEl>
                                        <p:attrNameLst>
                                          <p:attrName>style.visibility</p:attrName>
                                        </p:attrNameLst>
                                      </p:cBhvr>
                                      <p:to>
                                        <p:strVal val="visible"/>
                                      </p:to>
                                    </p:set>
                                    <p:animEffect filter="fade" transition="in">
                                      <p:cBhvr>
                                        <p:cTn dur="500"/>
                                        <p:tgtEl>
                                          <p:spTgt spid="5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0" name="Shape 5630"/>
        <p:cNvGrpSpPr/>
        <p:nvPr/>
      </p:nvGrpSpPr>
      <p:grpSpPr>
        <a:xfrm>
          <a:off x="0" y="0"/>
          <a:ext cx="0" cy="0"/>
          <a:chOff x="0" y="0"/>
          <a:chExt cx="0" cy="0"/>
        </a:xfrm>
      </p:grpSpPr>
      <p:sp>
        <p:nvSpPr>
          <p:cNvPr id="5631" name="Google Shape;5631;p89"/>
          <p:cNvSpPr txBox="1"/>
          <p:nvPr>
            <p:ph idx="1" type="body"/>
          </p:nvPr>
        </p:nvSpPr>
        <p:spPr>
          <a:xfrm>
            <a:off x="838200" y="1326467"/>
            <a:ext cx="10515600" cy="515585"/>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Clr>
                <a:srgbClr val="000090"/>
              </a:buClr>
              <a:buSzPts val="2800"/>
              <a:buChar char="▪"/>
            </a:pPr>
            <a:r>
              <a:rPr lang="en-US">
                <a:solidFill>
                  <a:srgbClr val="C00000"/>
                </a:solidFill>
                <a:latin typeface="Calibri"/>
                <a:ea typeface="Calibri"/>
                <a:cs typeface="Calibri"/>
                <a:sym typeface="Calibri"/>
              </a:rPr>
              <a:t>match+action: </a:t>
            </a:r>
            <a:r>
              <a:rPr lang="en-US">
                <a:latin typeface="Calibri"/>
                <a:ea typeface="Calibri"/>
                <a:cs typeface="Calibri"/>
                <a:sym typeface="Calibri"/>
              </a:rPr>
              <a:t>abstraction</a:t>
            </a:r>
            <a:r>
              <a:rPr lang="en-US">
                <a:solidFill>
                  <a:srgbClr val="C00000"/>
                </a:solidFill>
                <a:latin typeface="Calibri"/>
                <a:ea typeface="Calibri"/>
                <a:cs typeface="Calibri"/>
                <a:sym typeface="Calibri"/>
              </a:rPr>
              <a:t> </a:t>
            </a:r>
            <a:r>
              <a:rPr lang="en-US">
                <a:latin typeface="Calibri"/>
                <a:ea typeface="Calibri"/>
                <a:cs typeface="Calibri"/>
                <a:sym typeface="Calibri"/>
              </a:rPr>
              <a:t>unifies different kinds of devices</a:t>
            </a:r>
            <a:endParaRPr/>
          </a:p>
        </p:txBody>
      </p:sp>
      <p:sp>
        <p:nvSpPr>
          <p:cNvPr id="5632" name="Google Shape;5632;p8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abstraction</a:t>
            </a:r>
            <a:endParaRPr/>
          </a:p>
        </p:txBody>
      </p:sp>
      <p:sp>
        <p:nvSpPr>
          <p:cNvPr id="5633" name="Google Shape;5633;p89"/>
          <p:cNvSpPr txBox="1"/>
          <p:nvPr/>
        </p:nvSpPr>
        <p:spPr>
          <a:xfrm>
            <a:off x="1447800" y="2185507"/>
            <a:ext cx="4489173" cy="3936999"/>
          </a:xfrm>
          <a:prstGeom prst="rect">
            <a:avLst/>
          </a:prstGeom>
          <a:noFill/>
          <a:ln>
            <a:noFill/>
          </a:ln>
        </p:spPr>
        <p:txBody>
          <a:bodyPr anchorCtr="0" anchor="t" bIns="45700" lIns="91425" spcFirstLastPara="1" rIns="91425" wrap="square" tIns="45700">
            <a:normAutofit/>
          </a:bodyPr>
          <a:lstStyle/>
          <a:p>
            <a:pPr indent="0" lvl="0" marL="130175"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Router</a:t>
            </a:r>
            <a:endParaRPr/>
          </a:p>
          <a:p>
            <a:pPr indent="-215900" lvl="1" marL="677863" marR="0" rtl="0" algn="l">
              <a:lnSpc>
                <a:spcPct val="90000"/>
              </a:lnSpc>
              <a:spcBef>
                <a:spcPts val="0"/>
              </a:spcBef>
              <a:spcAft>
                <a:spcPts val="0"/>
              </a:spcAft>
              <a:buClr>
                <a:srgbClr val="000090"/>
              </a:buClr>
              <a:buSzPts val="2828"/>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longest destination IP prefix</a:t>
            </a:r>
            <a:endParaRPr/>
          </a:p>
          <a:p>
            <a:pPr indent="-215900" lvl="1" marL="677863" marR="0" rtl="0" algn="l">
              <a:lnSpc>
                <a:spcPct val="90000"/>
              </a:lnSpc>
              <a:spcBef>
                <a:spcPts val="0"/>
              </a:spcBef>
              <a:spcAft>
                <a:spcPts val="0"/>
              </a:spcAft>
              <a:buClr>
                <a:srgbClr val="000090"/>
              </a:buClr>
              <a:buSzPts val="2828"/>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forward out a link</a:t>
            </a:r>
            <a:endParaRPr/>
          </a:p>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Switch</a:t>
            </a:r>
            <a:endParaRPr b="0" i="0" sz="2800" u="none" cap="none" strike="noStrike">
              <a:solidFill>
                <a:srgbClr val="C00000"/>
              </a:solidFill>
              <a:latin typeface="Calibri"/>
              <a:ea typeface="Calibri"/>
              <a:cs typeface="Calibri"/>
              <a:sym typeface="Calibri"/>
            </a:endParaRPr>
          </a:p>
          <a:p>
            <a:pPr indent="-215900" lvl="1" marL="67786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destination MAC address</a:t>
            </a:r>
            <a:endParaRPr/>
          </a:p>
          <a:p>
            <a:pPr indent="-215900" lvl="1" marL="67786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forward or flood</a:t>
            </a:r>
            <a:endParaRPr/>
          </a:p>
        </p:txBody>
      </p:sp>
      <p:sp>
        <p:nvSpPr>
          <p:cNvPr id="5634" name="Google Shape;5634;p89"/>
          <p:cNvSpPr txBox="1"/>
          <p:nvPr/>
        </p:nvSpPr>
        <p:spPr>
          <a:xfrm>
            <a:off x="6563139" y="2192892"/>
            <a:ext cx="4727714" cy="4648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Firewall</a:t>
            </a:r>
            <a:endParaRPr/>
          </a:p>
          <a:p>
            <a:pPr indent="-219075" lvl="1" marL="508000"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a:t>
            </a:r>
            <a:r>
              <a:rPr b="0" i="0" lang="en-US" sz="2800" u="none" cap="none" strike="noStrike">
                <a:solidFill>
                  <a:srgbClr val="000000"/>
                </a:solidFill>
                <a:latin typeface="Calibri"/>
                <a:ea typeface="Calibri"/>
                <a:cs typeface="Calibri"/>
                <a:sym typeface="Calibri"/>
              </a:rPr>
              <a:t>: IP addresses and TCP/UDP port numbers</a:t>
            </a:r>
            <a:endParaRPr/>
          </a:p>
          <a:p>
            <a:pPr indent="-219075" lvl="1" marL="508000"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permit or deny </a:t>
            </a:r>
            <a:endParaRPr/>
          </a:p>
          <a:p>
            <a:pPr indent="0" lvl="0" marL="0" marR="0" rtl="0" algn="l">
              <a:lnSpc>
                <a:spcPct val="90000"/>
              </a:lnSpc>
              <a:spcBef>
                <a:spcPts val="0"/>
              </a:spcBef>
              <a:spcAft>
                <a:spcPts val="0"/>
              </a:spcAft>
              <a:buClr>
                <a:srgbClr val="000090"/>
              </a:buClr>
              <a:buSzPts val="3200"/>
              <a:buFont typeface="Noto Sans Symbols"/>
              <a:buNone/>
            </a:pPr>
            <a:r>
              <a:t/>
            </a:r>
            <a:endParaRPr b="0" i="0" sz="3200" u="none" cap="none" strike="noStrike">
              <a:solidFill>
                <a:srgbClr val="C00000"/>
              </a:solidFill>
              <a:latin typeface="Calibri"/>
              <a:ea typeface="Calibri"/>
              <a:cs typeface="Calibri"/>
              <a:sym typeface="Calibri"/>
            </a:endParaRPr>
          </a:p>
          <a:p>
            <a:pPr indent="0" lvl="0" marL="0" marR="0" rtl="0" algn="l">
              <a:lnSpc>
                <a:spcPct val="90000"/>
              </a:lnSpc>
              <a:spcBef>
                <a:spcPts val="0"/>
              </a:spcBef>
              <a:spcAft>
                <a:spcPts val="0"/>
              </a:spcAft>
              <a:buClr>
                <a:srgbClr val="000090"/>
              </a:buClr>
              <a:buSzPts val="3200"/>
              <a:buFont typeface="Noto Sans Symbols"/>
              <a:buNone/>
            </a:pPr>
            <a:r>
              <a:rPr b="0" i="0" lang="en-US" sz="3200" u="none" cap="none" strike="noStrike">
                <a:solidFill>
                  <a:srgbClr val="C00000"/>
                </a:solidFill>
                <a:latin typeface="Calibri"/>
                <a:ea typeface="Calibri"/>
                <a:cs typeface="Calibri"/>
                <a:sym typeface="Calibri"/>
              </a:rPr>
              <a:t>NAT</a:t>
            </a:r>
            <a:endParaRPr/>
          </a:p>
          <a:p>
            <a:pPr indent="-230187" lvl="1" marL="51911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match: </a:t>
            </a:r>
            <a:r>
              <a:rPr b="0" i="0" lang="en-US" sz="2800" u="none" cap="none" strike="noStrike">
                <a:solidFill>
                  <a:srgbClr val="000000"/>
                </a:solidFill>
                <a:latin typeface="Calibri"/>
                <a:ea typeface="Calibri"/>
                <a:cs typeface="Calibri"/>
                <a:sym typeface="Calibri"/>
              </a:rPr>
              <a:t>IP address and port</a:t>
            </a:r>
            <a:endParaRPr/>
          </a:p>
          <a:p>
            <a:pPr indent="-230187" lvl="1" marL="519113" marR="0" rtl="0" algn="l">
              <a:lnSpc>
                <a:spcPct val="90000"/>
              </a:lnSpc>
              <a:spcBef>
                <a:spcPts val="0"/>
              </a:spcBef>
              <a:spcAft>
                <a:spcPts val="0"/>
              </a:spcAft>
              <a:buClr>
                <a:srgbClr val="000090"/>
              </a:buClr>
              <a:buSzPts val="2800"/>
              <a:buFont typeface="Arial"/>
              <a:buChar char="•"/>
            </a:pPr>
            <a:r>
              <a:rPr b="0" i="1" lang="en-US" sz="2800" u="none" cap="none" strike="noStrike">
                <a:solidFill>
                  <a:srgbClr val="000090"/>
                </a:solidFill>
                <a:latin typeface="Calibri"/>
                <a:ea typeface="Calibri"/>
                <a:cs typeface="Calibri"/>
                <a:sym typeface="Calibri"/>
              </a:rPr>
              <a:t>action: </a:t>
            </a:r>
            <a:r>
              <a:rPr b="0" i="0" lang="en-US" sz="2800" u="none" cap="none" strike="noStrike">
                <a:solidFill>
                  <a:srgbClr val="000000"/>
                </a:solidFill>
                <a:latin typeface="Calibri"/>
                <a:ea typeface="Calibri"/>
                <a:cs typeface="Calibri"/>
                <a:sym typeface="Calibri"/>
              </a:rPr>
              <a:t>rewrite address and port</a:t>
            </a:r>
            <a:endParaRPr/>
          </a:p>
          <a:p>
            <a:pPr indent="203200" lvl="0" marL="0" marR="0" rtl="0" algn="l">
              <a:lnSpc>
                <a:spcPct val="90000"/>
              </a:lnSpc>
              <a:spcBef>
                <a:spcPts val="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5635" name="Google Shape;5635;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0" name="Shape 5640"/>
        <p:cNvGrpSpPr/>
        <p:nvPr/>
      </p:nvGrpSpPr>
      <p:grpSpPr>
        <a:xfrm>
          <a:off x="0" y="0"/>
          <a:ext cx="0" cy="0"/>
          <a:chOff x="0" y="0"/>
          <a:chExt cx="0" cy="0"/>
        </a:xfrm>
      </p:grpSpPr>
      <p:sp>
        <p:nvSpPr>
          <p:cNvPr id="5641" name="Google Shape;5641;p9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a:t>
            </a:r>
            <a:endParaRPr/>
          </a:p>
        </p:txBody>
      </p:sp>
      <p:cxnSp>
        <p:nvCxnSpPr>
          <p:cNvPr id="5642" name="Google Shape;5642;p90"/>
          <p:cNvCxnSpPr/>
          <p:nvPr/>
        </p:nvCxnSpPr>
        <p:spPr>
          <a:xfrm>
            <a:off x="4145096" y="2562225"/>
            <a:ext cx="2157412" cy="1846263"/>
          </a:xfrm>
          <a:prstGeom prst="straightConnector1">
            <a:avLst/>
          </a:prstGeom>
          <a:noFill/>
          <a:ln cap="flat" cmpd="sng" w="9525">
            <a:solidFill>
              <a:srgbClr val="000000"/>
            </a:solidFill>
            <a:prstDash val="solid"/>
            <a:round/>
            <a:headEnd len="med" w="med" type="none"/>
            <a:tailEnd len="med" w="med" type="none"/>
          </a:ln>
        </p:spPr>
      </p:cxnSp>
      <p:cxnSp>
        <p:nvCxnSpPr>
          <p:cNvPr id="5643" name="Google Shape;5643;p90"/>
          <p:cNvCxnSpPr/>
          <p:nvPr/>
        </p:nvCxnSpPr>
        <p:spPr>
          <a:xfrm>
            <a:off x="4424496" y="4497388"/>
            <a:ext cx="2046287" cy="0"/>
          </a:xfrm>
          <a:prstGeom prst="straightConnector1">
            <a:avLst/>
          </a:prstGeom>
          <a:noFill/>
          <a:ln cap="flat" cmpd="sng" w="9525">
            <a:solidFill>
              <a:srgbClr val="000000"/>
            </a:solidFill>
            <a:prstDash val="solid"/>
            <a:round/>
            <a:headEnd len="med" w="med" type="none"/>
            <a:tailEnd len="med" w="med" type="none"/>
          </a:ln>
        </p:spPr>
      </p:cxnSp>
      <p:cxnSp>
        <p:nvCxnSpPr>
          <p:cNvPr id="5644" name="Google Shape;5644;p90"/>
          <p:cNvCxnSpPr/>
          <p:nvPr/>
        </p:nvCxnSpPr>
        <p:spPr>
          <a:xfrm>
            <a:off x="4226058" y="2690813"/>
            <a:ext cx="0" cy="1574800"/>
          </a:xfrm>
          <a:prstGeom prst="straightConnector1">
            <a:avLst/>
          </a:prstGeom>
          <a:noFill/>
          <a:ln cap="flat" cmpd="sng" w="9525">
            <a:solidFill>
              <a:srgbClr val="000000"/>
            </a:solidFill>
            <a:prstDash val="solid"/>
            <a:round/>
            <a:headEnd len="med" w="med" type="none"/>
            <a:tailEnd len="med" w="med" type="none"/>
          </a:ln>
        </p:spPr>
      </p:cxnSp>
      <p:cxnSp>
        <p:nvCxnSpPr>
          <p:cNvPr id="5645" name="Google Shape;5645;p90"/>
          <p:cNvCxnSpPr/>
          <p:nvPr/>
        </p:nvCxnSpPr>
        <p:spPr>
          <a:xfrm flipH="1">
            <a:off x="4346708" y="3154363"/>
            <a:ext cx="1477963" cy="13112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646" name="Google Shape;5646;p90"/>
          <p:cNvCxnSpPr/>
          <p:nvPr/>
        </p:nvCxnSpPr>
        <p:spPr>
          <a:xfrm rot="10800000">
            <a:off x="4294321" y="4567238"/>
            <a:ext cx="6350" cy="657225"/>
          </a:xfrm>
          <a:prstGeom prst="straightConnector1">
            <a:avLst/>
          </a:prstGeom>
          <a:noFill/>
          <a:ln cap="flat" cmpd="sng" w="25400">
            <a:solidFill>
              <a:srgbClr val="000000"/>
            </a:solidFill>
            <a:prstDash val="solid"/>
            <a:round/>
            <a:headEnd len="sm" w="sm" type="none"/>
            <a:tailEnd len="sm" w="sm" type="none"/>
          </a:ln>
        </p:spPr>
      </p:cxnSp>
      <p:cxnSp>
        <p:nvCxnSpPr>
          <p:cNvPr id="5647" name="Google Shape;5647;p90"/>
          <p:cNvCxnSpPr/>
          <p:nvPr/>
        </p:nvCxnSpPr>
        <p:spPr>
          <a:xfrm>
            <a:off x="3338646" y="4524375"/>
            <a:ext cx="531812" cy="0"/>
          </a:xfrm>
          <a:prstGeom prst="straightConnector1">
            <a:avLst/>
          </a:prstGeom>
          <a:noFill/>
          <a:ln cap="flat" cmpd="sng" w="25400">
            <a:solidFill>
              <a:srgbClr val="000000"/>
            </a:solidFill>
            <a:prstDash val="solid"/>
            <a:round/>
            <a:headEnd len="sm" w="sm" type="none"/>
            <a:tailEnd len="sm" w="sm" type="none"/>
          </a:ln>
        </p:spPr>
      </p:cxnSp>
      <p:grpSp>
        <p:nvGrpSpPr>
          <p:cNvPr id="5648" name="Google Shape;5648;p90"/>
          <p:cNvGrpSpPr/>
          <p:nvPr/>
        </p:nvGrpSpPr>
        <p:grpSpPr>
          <a:xfrm>
            <a:off x="2740158" y="4043363"/>
            <a:ext cx="757238" cy="628650"/>
            <a:chOff x="-44" y="1473"/>
            <a:chExt cx="981" cy="1105"/>
          </a:xfrm>
        </p:grpSpPr>
        <p:pic>
          <p:nvPicPr>
            <p:cNvPr descr="desktop_computer_stylized_medium" id="5649" name="Google Shape;564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50" name="Google Shape;565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51" name="Google Shape;5651;p90"/>
          <p:cNvGrpSpPr/>
          <p:nvPr/>
        </p:nvGrpSpPr>
        <p:grpSpPr>
          <a:xfrm>
            <a:off x="3803783" y="4892675"/>
            <a:ext cx="757238" cy="628650"/>
            <a:chOff x="188" y="1473"/>
            <a:chExt cx="981" cy="1105"/>
          </a:xfrm>
        </p:grpSpPr>
        <p:pic>
          <p:nvPicPr>
            <p:cNvPr descr="desktop_computer_stylized_medium" id="5652" name="Google Shape;5652;p90"/>
            <p:cNvPicPr preferRelativeResize="0"/>
            <p:nvPr/>
          </p:nvPicPr>
          <p:blipFill rotWithShape="1">
            <a:blip r:embed="rId3">
              <a:alphaModFix/>
            </a:blip>
            <a:srcRect b="0" l="0" r="0" t="0"/>
            <a:stretch/>
          </p:blipFill>
          <p:spPr>
            <a:xfrm flipH="1">
              <a:off x="188" y="1473"/>
              <a:ext cx="981" cy="1105"/>
            </a:xfrm>
            <a:prstGeom prst="rect">
              <a:avLst/>
            </a:prstGeom>
            <a:noFill/>
            <a:ln>
              <a:noFill/>
            </a:ln>
          </p:spPr>
        </p:pic>
        <p:sp>
          <p:nvSpPr>
            <p:cNvPr id="5653" name="Google Shape;5653;p90"/>
            <p:cNvSpPr/>
            <p:nvPr/>
          </p:nvSpPr>
          <p:spPr>
            <a:xfrm flipH="1">
              <a:off x="598" y="1587"/>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54" name="Google Shape;5654;p90"/>
          <p:cNvSpPr txBox="1"/>
          <p:nvPr/>
        </p:nvSpPr>
        <p:spPr>
          <a:xfrm>
            <a:off x="2145917" y="4216884"/>
            <a:ext cx="833437" cy="738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h1</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10.1.0.1</a:t>
            </a:r>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5" name="Google Shape;5655;p90"/>
          <p:cNvSpPr txBox="1"/>
          <p:nvPr/>
        </p:nvSpPr>
        <p:spPr>
          <a:xfrm>
            <a:off x="3903312" y="54534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h2</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10.1.0.2</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656" name="Google Shape;5656;p90"/>
          <p:cNvCxnSpPr/>
          <p:nvPr/>
        </p:nvCxnSpPr>
        <p:spPr>
          <a:xfrm flipH="1" rot="10800000">
            <a:off x="5992946" y="4568825"/>
            <a:ext cx="306387" cy="490538"/>
          </a:xfrm>
          <a:prstGeom prst="straightConnector1">
            <a:avLst/>
          </a:prstGeom>
          <a:noFill/>
          <a:ln cap="flat" cmpd="sng" w="25400">
            <a:solidFill>
              <a:srgbClr val="000000"/>
            </a:solidFill>
            <a:prstDash val="solid"/>
            <a:round/>
            <a:headEnd len="sm" w="sm" type="none"/>
            <a:tailEnd len="sm" w="sm" type="none"/>
          </a:ln>
        </p:spPr>
      </p:cxnSp>
      <p:cxnSp>
        <p:nvCxnSpPr>
          <p:cNvPr id="5657" name="Google Shape;5657;p90"/>
          <p:cNvCxnSpPr/>
          <p:nvPr/>
        </p:nvCxnSpPr>
        <p:spPr>
          <a:xfrm>
            <a:off x="6747008" y="4448175"/>
            <a:ext cx="531813" cy="0"/>
          </a:xfrm>
          <a:prstGeom prst="straightConnector1">
            <a:avLst/>
          </a:prstGeom>
          <a:noFill/>
          <a:ln cap="flat" cmpd="sng" w="25400">
            <a:solidFill>
              <a:srgbClr val="000000"/>
            </a:solidFill>
            <a:prstDash val="solid"/>
            <a:round/>
            <a:headEnd len="sm" w="sm" type="none"/>
            <a:tailEnd len="sm" w="sm" type="none"/>
          </a:ln>
        </p:spPr>
      </p:cxnSp>
      <p:grpSp>
        <p:nvGrpSpPr>
          <p:cNvPr id="5658" name="Google Shape;5658;p90"/>
          <p:cNvGrpSpPr/>
          <p:nvPr/>
        </p:nvGrpSpPr>
        <p:grpSpPr>
          <a:xfrm>
            <a:off x="6953383" y="4221163"/>
            <a:ext cx="757238" cy="628650"/>
            <a:chOff x="-44" y="1473"/>
            <a:chExt cx="981" cy="1105"/>
          </a:xfrm>
        </p:grpSpPr>
        <p:pic>
          <p:nvPicPr>
            <p:cNvPr descr="desktop_computer_stylized_medium" id="5659" name="Google Shape;565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60" name="Google Shape;566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61" name="Google Shape;5661;p90"/>
          <p:cNvGrpSpPr/>
          <p:nvPr/>
        </p:nvGrpSpPr>
        <p:grpSpPr>
          <a:xfrm>
            <a:off x="5475421" y="4835525"/>
            <a:ext cx="757237" cy="628650"/>
            <a:chOff x="-44" y="1473"/>
            <a:chExt cx="981" cy="1105"/>
          </a:xfrm>
        </p:grpSpPr>
        <p:pic>
          <p:nvPicPr>
            <p:cNvPr descr="desktop_computer_stylized_medium" id="5662" name="Google Shape;5662;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63" name="Google Shape;5663;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64" name="Google Shape;5664;p90"/>
          <p:cNvSpPr txBox="1"/>
          <p:nvPr/>
        </p:nvSpPr>
        <p:spPr>
          <a:xfrm>
            <a:off x="7645947" y="4249738"/>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h4</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10.2.0.4</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65" name="Google Shape;5665;p90"/>
          <p:cNvSpPr txBox="1"/>
          <p:nvPr/>
        </p:nvSpPr>
        <p:spPr>
          <a:xfrm>
            <a:off x="5524907" y="53498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h3</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10.2.0.3</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666" name="Google Shape;5666;p90"/>
          <p:cNvCxnSpPr/>
          <p:nvPr/>
        </p:nvCxnSpPr>
        <p:spPr>
          <a:xfrm>
            <a:off x="3349758" y="2681288"/>
            <a:ext cx="706438" cy="0"/>
          </a:xfrm>
          <a:prstGeom prst="straightConnector1">
            <a:avLst/>
          </a:prstGeom>
          <a:noFill/>
          <a:ln cap="flat" cmpd="sng" w="25400">
            <a:solidFill>
              <a:srgbClr val="000000"/>
            </a:solidFill>
            <a:prstDash val="solid"/>
            <a:round/>
            <a:headEnd len="sm" w="sm" type="none"/>
            <a:tailEnd len="sm" w="sm" type="none"/>
          </a:ln>
        </p:spPr>
      </p:cxnSp>
      <p:cxnSp>
        <p:nvCxnSpPr>
          <p:cNvPr id="5667" name="Google Shape;5667;p90"/>
          <p:cNvCxnSpPr/>
          <p:nvPr/>
        </p:nvCxnSpPr>
        <p:spPr>
          <a:xfrm rot="10800000">
            <a:off x="4327658" y="2014538"/>
            <a:ext cx="0" cy="474662"/>
          </a:xfrm>
          <a:prstGeom prst="straightConnector1">
            <a:avLst/>
          </a:prstGeom>
          <a:noFill/>
          <a:ln cap="flat" cmpd="sng" w="25400">
            <a:solidFill>
              <a:srgbClr val="000000"/>
            </a:solidFill>
            <a:prstDash val="solid"/>
            <a:round/>
            <a:headEnd len="sm" w="sm" type="none"/>
            <a:tailEnd len="sm" w="sm" type="none"/>
          </a:ln>
        </p:spPr>
      </p:cxnSp>
      <p:grpSp>
        <p:nvGrpSpPr>
          <p:cNvPr id="5668" name="Google Shape;5668;p90"/>
          <p:cNvGrpSpPr/>
          <p:nvPr/>
        </p:nvGrpSpPr>
        <p:grpSpPr>
          <a:xfrm>
            <a:off x="3846646" y="1622425"/>
            <a:ext cx="757237" cy="628650"/>
            <a:chOff x="-44" y="1473"/>
            <a:chExt cx="981" cy="1105"/>
          </a:xfrm>
        </p:grpSpPr>
        <p:pic>
          <p:nvPicPr>
            <p:cNvPr descr="desktop_computer_stylized_medium" id="5669" name="Google Shape;5669;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70" name="Google Shape;5670;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671" name="Google Shape;5671;p90"/>
          <p:cNvGrpSpPr/>
          <p:nvPr/>
        </p:nvGrpSpPr>
        <p:grpSpPr>
          <a:xfrm>
            <a:off x="2792546" y="2561879"/>
            <a:ext cx="757237" cy="628650"/>
            <a:chOff x="-44" y="1473"/>
            <a:chExt cx="981" cy="1105"/>
          </a:xfrm>
        </p:grpSpPr>
        <p:pic>
          <p:nvPicPr>
            <p:cNvPr descr="desktop_computer_stylized_medium" id="5672" name="Google Shape;5672;p9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673" name="Google Shape;5673;p9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674" name="Google Shape;5674;p90"/>
          <p:cNvSpPr txBox="1"/>
          <p:nvPr/>
        </p:nvSpPr>
        <p:spPr>
          <a:xfrm>
            <a:off x="2881446" y="3065116"/>
            <a:ext cx="833437"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h5</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10.3.0.5</a:t>
            </a:r>
            <a:endParaRPr/>
          </a:p>
        </p:txBody>
      </p:sp>
      <p:sp>
        <p:nvSpPr>
          <p:cNvPr id="5675" name="Google Shape;5675;p90"/>
          <p:cNvSpPr txBox="1"/>
          <p:nvPr/>
        </p:nvSpPr>
        <p:spPr>
          <a:xfrm>
            <a:off x="4289558" y="3949700"/>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s1</a:t>
            </a:r>
            <a:endParaRPr/>
          </a:p>
        </p:txBody>
      </p:sp>
      <p:sp>
        <p:nvSpPr>
          <p:cNvPr id="5676" name="Google Shape;5676;p90"/>
          <p:cNvSpPr txBox="1"/>
          <p:nvPr/>
        </p:nvSpPr>
        <p:spPr>
          <a:xfrm>
            <a:off x="6450146" y="3976688"/>
            <a:ext cx="4286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s2</a:t>
            </a:r>
            <a:endParaRPr/>
          </a:p>
        </p:txBody>
      </p:sp>
      <p:sp>
        <p:nvSpPr>
          <p:cNvPr id="5677" name="Google Shape;5677;p90"/>
          <p:cNvSpPr txBox="1"/>
          <p:nvPr/>
        </p:nvSpPr>
        <p:spPr>
          <a:xfrm>
            <a:off x="4507046" y="2168525"/>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s3</a:t>
            </a:r>
            <a:endParaRPr/>
          </a:p>
        </p:txBody>
      </p:sp>
      <p:cxnSp>
        <p:nvCxnSpPr>
          <p:cNvPr id="5678" name="Google Shape;5678;p90"/>
          <p:cNvCxnSpPr/>
          <p:nvPr/>
        </p:nvCxnSpPr>
        <p:spPr>
          <a:xfrm>
            <a:off x="4346708" y="2871788"/>
            <a:ext cx="1392238" cy="2190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679" name="Google Shape;5679;p90"/>
          <p:cNvCxnSpPr/>
          <p:nvPr/>
        </p:nvCxnSpPr>
        <p:spPr>
          <a:xfrm>
            <a:off x="5824671" y="3154363"/>
            <a:ext cx="533400" cy="976312"/>
          </a:xfrm>
          <a:prstGeom prst="straightConnector1">
            <a:avLst/>
          </a:prstGeom>
          <a:noFill/>
          <a:ln cap="flat" cmpd="sng" w="12700">
            <a:solidFill>
              <a:srgbClr val="CC0000">
                <a:alpha val="49803"/>
              </a:srgbClr>
            </a:solidFill>
            <a:prstDash val="dash"/>
            <a:round/>
            <a:headEnd len="med" w="med" type="none"/>
            <a:tailEnd len="med" w="med" type="none"/>
          </a:ln>
        </p:spPr>
      </p:cxnSp>
      <p:sp>
        <p:nvSpPr>
          <p:cNvPr id="5680" name="Google Shape;5680;p90"/>
          <p:cNvSpPr txBox="1"/>
          <p:nvPr/>
        </p:nvSpPr>
        <p:spPr>
          <a:xfrm>
            <a:off x="4118108" y="2173288"/>
            <a:ext cx="271463"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1" name="Google Shape;5681;p90"/>
          <p:cNvSpPr txBox="1"/>
          <p:nvPr/>
        </p:nvSpPr>
        <p:spPr>
          <a:xfrm>
            <a:off x="3649796" y="2419350"/>
            <a:ext cx="2730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82" name="Google Shape;5682;p90"/>
          <p:cNvSpPr txBox="1"/>
          <p:nvPr/>
        </p:nvSpPr>
        <p:spPr>
          <a:xfrm>
            <a:off x="4018096" y="2790894"/>
            <a:ext cx="269875"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83" name="Google Shape;5683;p90"/>
          <p:cNvSpPr txBox="1"/>
          <p:nvPr/>
        </p:nvSpPr>
        <p:spPr>
          <a:xfrm>
            <a:off x="4495933" y="2687638"/>
            <a:ext cx="274638"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84" name="Google Shape;5684;p90"/>
          <p:cNvSpPr txBox="1"/>
          <p:nvPr/>
        </p:nvSpPr>
        <p:spPr>
          <a:xfrm>
            <a:off x="4021271" y="4006850"/>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5" name="Google Shape;5685;p90"/>
          <p:cNvSpPr txBox="1"/>
          <p:nvPr/>
        </p:nvSpPr>
        <p:spPr>
          <a:xfrm>
            <a:off x="3664083" y="4276725"/>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86" name="Google Shape;5686;p90"/>
          <p:cNvSpPr txBox="1"/>
          <p:nvPr/>
        </p:nvSpPr>
        <p:spPr>
          <a:xfrm>
            <a:off x="4046671" y="4624388"/>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87" name="Google Shape;5687;p90"/>
          <p:cNvSpPr txBox="1"/>
          <p:nvPr/>
        </p:nvSpPr>
        <p:spPr>
          <a:xfrm>
            <a:off x="4554671" y="4437063"/>
            <a:ext cx="273050"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88" name="Google Shape;5688;p90"/>
          <p:cNvSpPr txBox="1"/>
          <p:nvPr/>
        </p:nvSpPr>
        <p:spPr>
          <a:xfrm>
            <a:off x="5811971" y="408940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689" name="Google Shape;5689;p90"/>
          <p:cNvSpPr txBox="1"/>
          <p:nvPr/>
        </p:nvSpPr>
        <p:spPr>
          <a:xfrm>
            <a:off x="5783396" y="4437063"/>
            <a:ext cx="2746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690" name="Google Shape;5690;p90"/>
          <p:cNvSpPr txBox="1"/>
          <p:nvPr/>
        </p:nvSpPr>
        <p:spPr>
          <a:xfrm>
            <a:off x="6150108" y="464185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691" name="Google Shape;5691;p90"/>
          <p:cNvSpPr txBox="1"/>
          <p:nvPr/>
        </p:nvSpPr>
        <p:spPr>
          <a:xfrm>
            <a:off x="6708908" y="4394200"/>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692" name="Google Shape;5692;p90"/>
          <p:cNvSpPr txBox="1"/>
          <p:nvPr/>
        </p:nvSpPr>
        <p:spPr>
          <a:xfrm>
            <a:off x="4469291" y="1666393"/>
            <a:ext cx="83502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h6</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10.3.0.6</a:t>
            </a:r>
            <a:endParaRPr/>
          </a:p>
        </p:txBody>
      </p:sp>
      <p:grpSp>
        <p:nvGrpSpPr>
          <p:cNvPr id="5693" name="Google Shape;5693;p90"/>
          <p:cNvGrpSpPr/>
          <p:nvPr/>
        </p:nvGrpSpPr>
        <p:grpSpPr>
          <a:xfrm>
            <a:off x="5400808" y="1862138"/>
            <a:ext cx="1270000" cy="1482725"/>
            <a:chOff x="5418667" y="1587500"/>
            <a:chExt cx="1270000" cy="1481667"/>
          </a:xfrm>
        </p:grpSpPr>
        <p:grpSp>
          <p:nvGrpSpPr>
            <p:cNvPr id="5694" name="Google Shape;5694;p90"/>
            <p:cNvGrpSpPr/>
            <p:nvPr/>
          </p:nvGrpSpPr>
          <p:grpSpPr>
            <a:xfrm>
              <a:off x="5440087" y="1742411"/>
              <a:ext cx="1047344" cy="1163369"/>
              <a:chOff x="5440087" y="1742411"/>
              <a:chExt cx="1047344" cy="1163369"/>
            </a:xfrm>
          </p:grpSpPr>
          <p:grpSp>
            <p:nvGrpSpPr>
              <p:cNvPr id="5695" name="Google Shape;5695;p90"/>
              <p:cNvGrpSpPr/>
              <p:nvPr/>
            </p:nvGrpSpPr>
            <p:grpSpPr>
              <a:xfrm>
                <a:off x="5838397" y="2273382"/>
                <a:ext cx="350328" cy="632398"/>
                <a:chOff x="4140" y="429"/>
                <a:chExt cx="1425" cy="2396"/>
              </a:xfrm>
            </p:grpSpPr>
            <p:sp>
              <p:nvSpPr>
                <p:cNvPr id="5696" name="Google Shape;5696;p9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97" name="Google Shape;5697;p9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98" name="Google Shape;5698;p9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699" name="Google Shape;5699;p9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00" name="Google Shape;5700;p90"/>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01" name="Google Shape;5701;p90"/>
                <p:cNvGrpSpPr/>
                <p:nvPr/>
              </p:nvGrpSpPr>
              <p:grpSpPr>
                <a:xfrm>
                  <a:off x="4748" y="666"/>
                  <a:ext cx="578" cy="150"/>
                  <a:chOff x="613" y="2566"/>
                  <a:chExt cx="721" cy="144"/>
                </a:xfrm>
              </p:grpSpPr>
              <p:sp>
                <p:nvSpPr>
                  <p:cNvPr id="5702" name="Google Shape;5702;p90"/>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3" name="Google Shape;5703;p9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04" name="Google Shape;5704;p90"/>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05" name="Google Shape;5705;p90"/>
                <p:cNvGrpSpPr/>
                <p:nvPr/>
              </p:nvGrpSpPr>
              <p:grpSpPr>
                <a:xfrm>
                  <a:off x="4748" y="990"/>
                  <a:ext cx="578" cy="134"/>
                  <a:chOff x="615" y="2564"/>
                  <a:chExt cx="721" cy="139"/>
                </a:xfrm>
              </p:grpSpPr>
              <p:sp>
                <p:nvSpPr>
                  <p:cNvPr id="5706" name="Google Shape;5706;p90"/>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7" name="Google Shape;5707;p9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08" name="Google Shape;5708;p90"/>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9" name="Google Shape;5709;p90"/>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710" name="Google Shape;5710;p90"/>
                <p:cNvGrpSpPr/>
                <p:nvPr/>
              </p:nvGrpSpPr>
              <p:grpSpPr>
                <a:xfrm>
                  <a:off x="4738" y="1647"/>
                  <a:ext cx="578" cy="135"/>
                  <a:chOff x="618" y="2586"/>
                  <a:chExt cx="720" cy="124"/>
                </a:xfrm>
              </p:grpSpPr>
              <p:sp>
                <p:nvSpPr>
                  <p:cNvPr id="5711" name="Google Shape;5711;p90"/>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2" name="Google Shape;5712;p9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13" name="Google Shape;5713;p9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14" name="Google Shape;5714;p90"/>
                <p:cNvGrpSpPr/>
                <p:nvPr/>
              </p:nvGrpSpPr>
              <p:grpSpPr>
                <a:xfrm>
                  <a:off x="4738" y="1330"/>
                  <a:ext cx="588" cy="134"/>
                  <a:chOff x="613" y="2571"/>
                  <a:chExt cx="732" cy="134"/>
                </a:xfrm>
              </p:grpSpPr>
              <p:sp>
                <p:nvSpPr>
                  <p:cNvPr id="5715" name="Google Shape;5715;p90"/>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6" name="Google Shape;5716;p9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17" name="Google Shape;5717;p9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8" name="Google Shape;5718;p9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19" name="Google Shape;5719;p9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0" name="Google Shape;5720;p9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1" name="Google Shape;5721;p9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22" name="Google Shape;5722;p90"/>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3" name="Google Shape;5723;p90"/>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4" name="Google Shape;5724;p9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5" name="Google Shape;5725;p9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726" name="Google Shape;5726;p9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27" name="Google Shape;5727;p90"/>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728" name="Google Shape;5728;p90"/>
              <p:cNvPicPr preferRelativeResize="0"/>
              <p:nvPr/>
            </p:nvPicPr>
            <p:blipFill rotWithShape="1">
              <a:blip r:embed="rId4">
                <a:alphaModFix/>
              </a:blip>
              <a:srcRect b="0" l="0" r="0" t="0"/>
              <a:stretch/>
            </p:blipFill>
            <p:spPr>
              <a:xfrm>
                <a:off x="5440087" y="1742411"/>
                <a:ext cx="1039824" cy="309703"/>
              </a:xfrm>
              <a:prstGeom prst="rect">
                <a:avLst/>
              </a:prstGeom>
              <a:noFill/>
              <a:ln>
                <a:noFill/>
              </a:ln>
            </p:spPr>
          </p:pic>
          <p:sp>
            <p:nvSpPr>
              <p:cNvPr id="5729" name="Google Shape;5729;p90"/>
              <p:cNvSpPr txBox="1"/>
              <p:nvPr/>
            </p:nvSpPr>
            <p:spPr>
              <a:xfrm>
                <a:off x="5558972" y="1947149"/>
                <a:ext cx="928459"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controller</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30" name="Google Shape;5730;p90"/>
            <p:cNvSpPr/>
            <p:nvPr/>
          </p:nvSpPr>
          <p:spPr>
            <a:xfrm>
              <a:off x="5418667" y="1587500"/>
              <a:ext cx="1270000" cy="1481667"/>
            </a:xfrm>
            <a:prstGeom prst="rect">
              <a:avLst/>
            </a:prstGeom>
            <a:solidFill>
              <a:srgbClr val="FFFFFF">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731" name="Google Shape;5731;p90"/>
          <p:cNvSpPr txBox="1"/>
          <p:nvPr/>
        </p:nvSpPr>
        <p:spPr>
          <a:xfrm>
            <a:off x="7200353" y="1519586"/>
            <a:ext cx="4619940" cy="21113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Orchestrated tables can create </a:t>
            </a:r>
            <a:r>
              <a:rPr b="0" i="1" lang="en-US" sz="2800" u="none" cap="none" strike="noStrike">
                <a:solidFill>
                  <a:srgbClr val="CC0000"/>
                </a:solidFill>
                <a:latin typeface="Calibri"/>
                <a:ea typeface="Calibri"/>
                <a:cs typeface="Calibri"/>
                <a:sym typeface="Calibri"/>
              </a:rPr>
              <a:t>network-wide</a:t>
            </a:r>
            <a:r>
              <a:rPr b="0" i="0"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behavior, e.g.,:</a:t>
            </a:r>
            <a:endParaRPr/>
          </a:p>
          <a:p>
            <a:pPr indent="-225425" lvl="0" marL="342900" marR="0" rtl="0" algn="l">
              <a:lnSpc>
                <a:spcPct val="90000"/>
              </a:lnSpc>
              <a:spcBef>
                <a:spcPts val="600"/>
              </a:spcBef>
              <a:spcAft>
                <a:spcPts val="0"/>
              </a:spcAft>
              <a:buClr>
                <a:srgbClr val="0000A8"/>
              </a:buClr>
              <a:buSzPts val="2600"/>
              <a:buFont typeface="Noto Sans Symbols"/>
              <a:buChar char="▪"/>
            </a:pPr>
            <a:r>
              <a:rPr b="0" i="0" lang="en-US" sz="2600" u="none" cap="none" strike="noStrike">
                <a:solidFill>
                  <a:srgbClr val="000000"/>
                </a:solidFill>
                <a:latin typeface="Calibri"/>
                <a:ea typeface="Calibri"/>
                <a:cs typeface="Calibri"/>
                <a:sym typeface="Calibri"/>
              </a:rPr>
              <a:t>datagrams from hosts h5 and h6 should be sent to h3 or h4, via s1 and from there to s2</a:t>
            </a:r>
            <a:endParaRPr/>
          </a:p>
        </p:txBody>
      </p:sp>
      <p:grpSp>
        <p:nvGrpSpPr>
          <p:cNvPr id="5732" name="Google Shape;5732;p90"/>
          <p:cNvGrpSpPr/>
          <p:nvPr/>
        </p:nvGrpSpPr>
        <p:grpSpPr>
          <a:xfrm>
            <a:off x="3869633" y="4253948"/>
            <a:ext cx="728870" cy="410817"/>
            <a:chOff x="7493876" y="2774731"/>
            <a:chExt cx="1481958" cy="894622"/>
          </a:xfrm>
        </p:grpSpPr>
        <p:sp>
          <p:nvSpPr>
            <p:cNvPr id="5733" name="Google Shape;5733;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34" name="Google Shape;5734;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35" name="Google Shape;5735;p90"/>
            <p:cNvGrpSpPr/>
            <p:nvPr/>
          </p:nvGrpSpPr>
          <p:grpSpPr>
            <a:xfrm>
              <a:off x="7713663" y="2848339"/>
              <a:ext cx="1042107" cy="425543"/>
              <a:chOff x="7786941" y="2884917"/>
              <a:chExt cx="897649" cy="353919"/>
            </a:xfrm>
          </p:grpSpPr>
          <p:sp>
            <p:nvSpPr>
              <p:cNvPr id="5736" name="Google Shape;5736;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7" name="Google Shape;5737;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8" name="Google Shape;5738;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39" name="Google Shape;5739;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40" name="Google Shape;5740;p90"/>
          <p:cNvGrpSpPr/>
          <p:nvPr/>
        </p:nvGrpSpPr>
        <p:grpSpPr>
          <a:xfrm>
            <a:off x="6009859" y="4287078"/>
            <a:ext cx="728870" cy="410817"/>
            <a:chOff x="7493876" y="2774731"/>
            <a:chExt cx="1481958" cy="894622"/>
          </a:xfrm>
        </p:grpSpPr>
        <p:sp>
          <p:nvSpPr>
            <p:cNvPr id="5741" name="Google Shape;5741;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42" name="Google Shape;5742;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43" name="Google Shape;5743;p90"/>
            <p:cNvGrpSpPr/>
            <p:nvPr/>
          </p:nvGrpSpPr>
          <p:grpSpPr>
            <a:xfrm>
              <a:off x="7713663" y="2848339"/>
              <a:ext cx="1042107" cy="425543"/>
              <a:chOff x="7786941" y="2884917"/>
              <a:chExt cx="897649" cy="353919"/>
            </a:xfrm>
          </p:grpSpPr>
          <p:sp>
            <p:nvSpPr>
              <p:cNvPr id="5744" name="Google Shape;5744;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5" name="Google Shape;5745;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6" name="Google Shape;5746;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47" name="Google Shape;5747;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48" name="Google Shape;5748;p90"/>
          <p:cNvGrpSpPr/>
          <p:nvPr/>
        </p:nvGrpSpPr>
        <p:grpSpPr>
          <a:xfrm>
            <a:off x="3882885" y="2411896"/>
            <a:ext cx="728870" cy="410817"/>
            <a:chOff x="7493876" y="2774731"/>
            <a:chExt cx="1481958" cy="894622"/>
          </a:xfrm>
        </p:grpSpPr>
        <p:sp>
          <p:nvSpPr>
            <p:cNvPr id="5749" name="Google Shape;5749;p9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750" name="Google Shape;5750;p90"/>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751" name="Google Shape;5751;p90"/>
            <p:cNvGrpSpPr/>
            <p:nvPr/>
          </p:nvGrpSpPr>
          <p:grpSpPr>
            <a:xfrm>
              <a:off x="7713663" y="2848339"/>
              <a:ext cx="1042107" cy="425543"/>
              <a:chOff x="7786941" y="2884917"/>
              <a:chExt cx="897649" cy="353919"/>
            </a:xfrm>
          </p:grpSpPr>
          <p:sp>
            <p:nvSpPr>
              <p:cNvPr id="5752" name="Google Shape;5752;p9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3" name="Google Shape;5753;p9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4" name="Google Shape;5754;p9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5" name="Google Shape;5755;p9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756" name="Google Shape;5756;p90"/>
          <p:cNvGrpSpPr/>
          <p:nvPr/>
        </p:nvGrpSpPr>
        <p:grpSpPr>
          <a:xfrm>
            <a:off x="3414532" y="2789499"/>
            <a:ext cx="3842795" cy="2465405"/>
            <a:chOff x="3414532" y="2693870"/>
            <a:chExt cx="3842795" cy="2595759"/>
          </a:xfrm>
        </p:grpSpPr>
        <p:sp>
          <p:nvSpPr>
            <p:cNvPr id="5757" name="Google Shape;5757;p90"/>
            <p:cNvSpPr/>
            <p:nvPr/>
          </p:nvSpPr>
          <p:spPr>
            <a:xfrm>
              <a:off x="3414532" y="2693870"/>
              <a:ext cx="3842795" cy="2040239"/>
            </a:xfrm>
            <a:custGeom>
              <a:rect b="b" l="l" r="r" t="t"/>
              <a:pathLst>
                <a:path extrusionOk="0" h="2040239" w="3842795">
                  <a:moveTo>
                    <a:pt x="0" y="3032"/>
                  </a:moveTo>
                  <a:cubicBezTo>
                    <a:pt x="381965" y="14606"/>
                    <a:pt x="571192" y="-50652"/>
                    <a:pt x="658002" y="119110"/>
                  </a:cubicBezTo>
                  <a:cubicBezTo>
                    <a:pt x="744812" y="288872"/>
                    <a:pt x="538223" y="1604196"/>
                    <a:pt x="729205" y="1924429"/>
                  </a:cubicBezTo>
                  <a:cubicBezTo>
                    <a:pt x="844952" y="2152065"/>
                    <a:pt x="2812648" y="1974585"/>
                    <a:pt x="3842795" y="1970727"/>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58" name="Google Shape;5758;p90"/>
            <p:cNvSpPr/>
            <p:nvPr/>
          </p:nvSpPr>
          <p:spPr>
            <a:xfrm>
              <a:off x="5465338" y="4722802"/>
              <a:ext cx="823595" cy="566827"/>
            </a:xfrm>
            <a:custGeom>
              <a:rect b="b" l="l" r="r" t="t"/>
              <a:pathLst>
                <a:path extrusionOk="0" h="566827" w="823595">
                  <a:moveTo>
                    <a:pt x="0" y="0"/>
                  </a:moveTo>
                  <a:cubicBezTo>
                    <a:pt x="281651" y="46299"/>
                    <a:pt x="669592" y="55668"/>
                    <a:pt x="784991" y="150139"/>
                  </a:cubicBezTo>
                  <a:cubicBezTo>
                    <a:pt x="900390" y="244610"/>
                    <a:pt x="723260" y="427931"/>
                    <a:pt x="692394" y="566827"/>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5759" name="Google Shape;5759;p90"/>
          <p:cNvGrpSpPr/>
          <p:nvPr/>
        </p:nvGrpSpPr>
        <p:grpSpPr>
          <a:xfrm>
            <a:off x="4311464" y="1958381"/>
            <a:ext cx="3143235" cy="3158697"/>
            <a:chOff x="4114093" y="2303316"/>
            <a:chExt cx="3143235" cy="3158697"/>
          </a:xfrm>
        </p:grpSpPr>
        <p:sp>
          <p:nvSpPr>
            <p:cNvPr id="5760" name="Google Shape;5760;p90"/>
            <p:cNvSpPr/>
            <p:nvPr/>
          </p:nvSpPr>
          <p:spPr>
            <a:xfrm>
              <a:off x="4114093" y="2303316"/>
              <a:ext cx="3143235" cy="2416160"/>
            </a:xfrm>
            <a:custGeom>
              <a:rect b="b" l="l" r="r" t="t"/>
              <a:pathLst>
                <a:path extrusionOk="0" h="2416160" w="3143235">
                  <a:moveTo>
                    <a:pt x="33392" y="0"/>
                  </a:moveTo>
                  <a:cubicBezTo>
                    <a:pt x="30261" y="244713"/>
                    <a:pt x="-37668" y="2215855"/>
                    <a:pt x="29645" y="2314984"/>
                  </a:cubicBezTo>
                  <a:cubicBezTo>
                    <a:pt x="175372" y="2508892"/>
                    <a:pt x="2113088" y="2365140"/>
                    <a:pt x="3143235" y="2361282"/>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761" name="Google Shape;5761;p90"/>
            <p:cNvSpPr/>
            <p:nvPr/>
          </p:nvSpPr>
          <p:spPr>
            <a:xfrm>
              <a:off x="4906955" y="4715304"/>
              <a:ext cx="814542" cy="746709"/>
            </a:xfrm>
            <a:custGeom>
              <a:rect b="b" l="l" r="r" t="t"/>
              <a:pathLst>
                <a:path extrusionOk="0" h="746709" w="814542">
                  <a:moveTo>
                    <a:pt x="0" y="0"/>
                  </a:moveTo>
                  <a:cubicBezTo>
                    <a:pt x="281651" y="46299"/>
                    <a:pt x="680835" y="25688"/>
                    <a:pt x="784991" y="150139"/>
                  </a:cubicBezTo>
                  <a:cubicBezTo>
                    <a:pt x="889147" y="274590"/>
                    <a:pt x="689533" y="604065"/>
                    <a:pt x="624939" y="746709"/>
                  </a:cubicBezTo>
                </a:path>
              </a:pathLst>
            </a:custGeom>
            <a:noFill/>
            <a:ln cap="flat" cmpd="sng" w="7302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5762" name="Google Shape;5762;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1"/>
                                        </p:tgtEl>
                                        <p:attrNameLst>
                                          <p:attrName>style.visibility</p:attrName>
                                        </p:attrNameLst>
                                      </p:cBhvr>
                                      <p:to>
                                        <p:strVal val="visible"/>
                                      </p:to>
                                    </p:set>
                                    <p:animEffect filter="fade" transition="in">
                                      <p:cBhvr>
                                        <p:cTn dur="500"/>
                                        <p:tgtEl>
                                          <p:spTgt spid="5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6"/>
                                        </p:tgtEl>
                                        <p:attrNameLst>
                                          <p:attrName>style.visibility</p:attrName>
                                        </p:attrNameLst>
                                      </p:cBhvr>
                                      <p:to>
                                        <p:strVal val="visible"/>
                                      </p:to>
                                    </p:set>
                                    <p:animEffect filter="fade" transition="in">
                                      <p:cBhvr>
                                        <p:cTn dur="500"/>
                                        <p:tgtEl>
                                          <p:spTgt spid="57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759"/>
                                        </p:tgtEl>
                                        <p:attrNameLst>
                                          <p:attrName>style.visibility</p:attrName>
                                        </p:attrNameLst>
                                      </p:cBhvr>
                                      <p:to>
                                        <p:strVal val="visible"/>
                                      </p:to>
                                    </p:set>
                                    <p:animEffect filter="fade" transition="in">
                                      <p:cBhvr>
                                        <p:cTn dur="500"/>
                                        <p:tgtEl>
                                          <p:spTgt spid="5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7" name="Shape 5767"/>
        <p:cNvGrpSpPr/>
        <p:nvPr/>
      </p:nvGrpSpPr>
      <p:grpSpPr>
        <a:xfrm>
          <a:off x="0" y="0"/>
          <a:ext cx="0" cy="0"/>
          <a:chOff x="0" y="0"/>
          <a:chExt cx="0" cy="0"/>
        </a:xfrm>
      </p:grpSpPr>
      <p:sp>
        <p:nvSpPr>
          <p:cNvPr id="5768" name="Google Shape;5768;p9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OpenFlow example</a:t>
            </a:r>
            <a:endParaRPr/>
          </a:p>
        </p:txBody>
      </p:sp>
      <p:grpSp>
        <p:nvGrpSpPr>
          <p:cNvPr id="5769" name="Google Shape;5769;p91"/>
          <p:cNvGrpSpPr/>
          <p:nvPr/>
        </p:nvGrpSpPr>
        <p:grpSpPr>
          <a:xfrm>
            <a:off x="1022483" y="1382918"/>
            <a:ext cx="2997200" cy="1262063"/>
            <a:chOff x="637575" y="1263648"/>
            <a:chExt cx="2998252" cy="1261939"/>
          </a:xfrm>
        </p:grpSpPr>
        <p:sp>
          <p:nvSpPr>
            <p:cNvPr id="5770" name="Google Shape;5770;p91"/>
            <p:cNvSpPr/>
            <p:nvPr/>
          </p:nvSpPr>
          <p:spPr>
            <a:xfrm flipH="1" rot="10800000">
              <a:off x="678864" y="2160498"/>
              <a:ext cx="2956963" cy="365089"/>
            </a:xfrm>
            <a:custGeom>
              <a:rect b="b" l="l" r="r" t="t"/>
              <a:pathLst>
                <a:path extrusionOk="0" h="364586" w="2957279">
                  <a:moveTo>
                    <a:pt x="3018" y="364586"/>
                  </a:moveTo>
                  <a:cubicBezTo>
                    <a:pt x="-83949" y="327008"/>
                    <a:pt x="1733141" y="192516"/>
                    <a:pt x="2225518" y="131752"/>
                  </a:cubicBezTo>
                  <a:cubicBezTo>
                    <a:pt x="2717895" y="70988"/>
                    <a:pt x="2402554" y="114689"/>
                    <a:pt x="2957279" y="0"/>
                  </a:cubicBezTo>
                  <a:cubicBezTo>
                    <a:pt x="2832942" y="71922"/>
                    <a:pt x="2815596" y="78695"/>
                    <a:pt x="2780603" y="138232"/>
                  </a:cubicBezTo>
                  <a:cubicBezTo>
                    <a:pt x="2745610" y="197769"/>
                    <a:pt x="2727394" y="213043"/>
                    <a:pt x="2747322" y="357223"/>
                  </a:cubicBezTo>
                  <a:lnTo>
                    <a:pt x="3018" y="364586"/>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71" name="Google Shape;5771;p91"/>
            <p:cNvGrpSpPr/>
            <p:nvPr/>
          </p:nvGrpSpPr>
          <p:grpSpPr>
            <a:xfrm>
              <a:off x="637575" y="1263648"/>
              <a:ext cx="2833213" cy="915898"/>
              <a:chOff x="-994833" y="4042832"/>
              <a:chExt cx="2833213" cy="915898"/>
            </a:xfrm>
          </p:grpSpPr>
          <p:sp>
            <p:nvSpPr>
              <p:cNvPr id="5772" name="Google Shape;5772;p91"/>
              <p:cNvSpPr/>
              <p:nvPr/>
            </p:nvSpPr>
            <p:spPr>
              <a:xfrm>
                <a:off x="-977364" y="4042832"/>
                <a:ext cx="2775924" cy="915898"/>
              </a:xfrm>
              <a:prstGeom prst="rect">
                <a:avLst/>
              </a:prstGeom>
              <a:solidFill>
                <a:srgbClr val="F2F2F2"/>
              </a:solidFill>
              <a:ln cap="flat" cmpd="sng" w="9525">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73" name="Google Shape;5773;p91"/>
              <p:cNvSpPr txBox="1"/>
              <p:nvPr/>
            </p:nvSpPr>
            <p:spPr>
              <a:xfrm>
                <a:off x="-931177" y="4360336"/>
                <a:ext cx="1646504"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Src = 10.3.*.*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a:t>
                </a:r>
                <a:endParaRPr/>
              </a:p>
            </p:txBody>
          </p:sp>
          <p:sp>
            <p:nvSpPr>
              <p:cNvPr id="5774" name="Google Shape;5774;p91"/>
              <p:cNvSpPr txBox="1"/>
              <p:nvPr/>
            </p:nvSpPr>
            <p:spPr>
              <a:xfrm>
                <a:off x="718763" y="4491568"/>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forward(3)</a:t>
                </a:r>
                <a:endParaRPr/>
              </a:p>
            </p:txBody>
          </p:sp>
          <p:cxnSp>
            <p:nvCxnSpPr>
              <p:cNvPr id="5775" name="Google Shape;5775;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76" name="Google Shape;5776;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77" name="Google Shape;5777;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778" name="Google Shape;5778;p91"/>
              <p:cNvCxnSpPr/>
              <p:nvPr/>
            </p:nvCxnSpPr>
            <p:spPr>
              <a:xfrm>
                <a:off x="738264" y="4049182"/>
                <a:ext cx="1" cy="904875"/>
              </a:xfrm>
              <a:prstGeom prst="straightConnector1">
                <a:avLst/>
              </a:prstGeom>
              <a:noFill/>
              <a:ln cap="flat" cmpd="sng" w="9525">
                <a:solidFill>
                  <a:srgbClr val="000000"/>
                </a:solidFill>
                <a:prstDash val="solid"/>
                <a:round/>
                <a:headEnd len="med" w="med" type="none"/>
                <a:tailEnd len="med" w="med" type="none"/>
              </a:ln>
            </p:spPr>
          </p:cxnSp>
        </p:grpSp>
      </p:grpSp>
      <p:grpSp>
        <p:nvGrpSpPr>
          <p:cNvPr id="5779" name="Google Shape;5779;p91"/>
          <p:cNvGrpSpPr/>
          <p:nvPr/>
        </p:nvGrpSpPr>
        <p:grpSpPr>
          <a:xfrm>
            <a:off x="6340608" y="4510088"/>
            <a:ext cx="2894013" cy="2022475"/>
            <a:chOff x="5956617" y="4509743"/>
            <a:chExt cx="2893901" cy="2022127"/>
          </a:xfrm>
        </p:grpSpPr>
        <p:sp>
          <p:nvSpPr>
            <p:cNvPr id="5780" name="Google Shape;5780;p91"/>
            <p:cNvSpPr/>
            <p:nvPr/>
          </p:nvSpPr>
          <p:spPr>
            <a:xfrm flipH="1">
              <a:off x="5956617" y="4509743"/>
              <a:ext cx="2838340" cy="630129"/>
            </a:xfrm>
            <a:custGeom>
              <a:rect b="b" l="l" r="r" t="t"/>
              <a:pathLst>
                <a:path extrusionOk="0" h="630630" w="2839117">
                  <a:moveTo>
                    <a:pt x="2979" y="630630"/>
                  </a:moveTo>
                  <a:cubicBezTo>
                    <a:pt x="-83988" y="593052"/>
                    <a:pt x="1757818" y="502095"/>
                    <a:pt x="2225479" y="397796"/>
                  </a:cubicBezTo>
                  <a:cubicBezTo>
                    <a:pt x="2693140" y="293497"/>
                    <a:pt x="2720754" y="36586"/>
                    <a:pt x="2808948" y="4836"/>
                  </a:cubicBezTo>
                  <a:cubicBezTo>
                    <a:pt x="2897142" y="-26914"/>
                    <a:pt x="2764923" y="104224"/>
                    <a:pt x="2754646" y="207296"/>
                  </a:cubicBezTo>
                  <a:cubicBezTo>
                    <a:pt x="2744369" y="310368"/>
                    <a:pt x="2727355" y="479087"/>
                    <a:pt x="2747283" y="623267"/>
                  </a:cubicBezTo>
                  <a:lnTo>
                    <a:pt x="2979" y="630630"/>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81" name="Google Shape;5781;p91"/>
            <p:cNvGrpSpPr/>
            <p:nvPr/>
          </p:nvGrpSpPr>
          <p:grpSpPr>
            <a:xfrm>
              <a:off x="6031592" y="5136697"/>
              <a:ext cx="2818926" cy="1395173"/>
              <a:chOff x="-999973" y="4042381"/>
              <a:chExt cx="2818926" cy="1395173"/>
            </a:xfrm>
          </p:grpSpPr>
          <p:sp>
            <p:nvSpPr>
              <p:cNvPr id="5782" name="Google Shape;5782;p91"/>
              <p:cNvSpPr/>
              <p:nvPr/>
            </p:nvSpPr>
            <p:spPr>
              <a:xfrm>
                <a:off x="-978114" y="4042381"/>
                <a:ext cx="2778018" cy="1344382"/>
              </a:xfrm>
              <a:prstGeom prst="rect">
                <a:avLst/>
              </a:prstGeom>
              <a:solidFill>
                <a:srgbClr val="F2F2F2"/>
              </a:solidFill>
              <a:ln cap="flat" cmpd="sng" w="9525">
                <a:solidFill>
                  <a:srgbClr val="7F7F7F"/>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83" name="Google Shape;5783;p91"/>
              <p:cNvSpPr txBox="1"/>
              <p:nvPr/>
            </p:nvSpPr>
            <p:spPr>
              <a:xfrm>
                <a:off x="-999973" y="4360336"/>
                <a:ext cx="1715033"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2</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2</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10.2.0.4</a:t>
                </a:r>
                <a:endParaRPr/>
              </a:p>
            </p:txBody>
          </p:sp>
          <p:sp>
            <p:nvSpPr>
              <p:cNvPr id="5784" name="Google Shape;5784;p91"/>
              <p:cNvSpPr txBox="1"/>
              <p:nvPr/>
            </p:nvSpPr>
            <p:spPr>
              <a:xfrm>
                <a:off x="671327" y="4474229"/>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forward(3)</a:t>
                </a:r>
                <a:endParaRPr/>
              </a:p>
            </p:txBody>
          </p:sp>
          <p:cxnSp>
            <p:nvCxnSpPr>
              <p:cNvPr id="5785" name="Google Shape;5785;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86" name="Google Shape;5786;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87" name="Google Shape;5787;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788" name="Google Shape;5788;p91"/>
              <p:cNvCxnSpPr/>
              <p:nvPr/>
            </p:nvCxnSpPr>
            <p:spPr>
              <a:xfrm>
                <a:off x="660503" y="4042833"/>
                <a:ext cx="4690" cy="1349464"/>
              </a:xfrm>
              <a:prstGeom prst="straightConnector1">
                <a:avLst/>
              </a:prstGeom>
              <a:noFill/>
              <a:ln cap="flat" cmpd="sng" w="9525">
                <a:solidFill>
                  <a:srgbClr val="000000"/>
                </a:solidFill>
                <a:prstDash val="solid"/>
                <a:round/>
                <a:headEnd len="med" w="med" type="none"/>
                <a:tailEnd len="med" w="med" type="none"/>
              </a:ln>
            </p:spPr>
          </p:cxnSp>
          <p:cxnSp>
            <p:nvCxnSpPr>
              <p:cNvPr id="5789" name="Google Shape;5789;p91"/>
              <p:cNvCxnSpPr/>
              <p:nvPr/>
            </p:nvCxnSpPr>
            <p:spPr>
              <a:xfrm>
                <a:off x="-975047" y="4896787"/>
                <a:ext cx="2794000" cy="0"/>
              </a:xfrm>
              <a:prstGeom prst="straightConnector1">
                <a:avLst/>
              </a:prstGeom>
              <a:noFill/>
              <a:ln cap="flat" cmpd="sng" w="9525">
                <a:solidFill>
                  <a:srgbClr val="000000"/>
                </a:solidFill>
                <a:prstDash val="solid"/>
                <a:round/>
                <a:headEnd len="med" w="med" type="none"/>
                <a:tailEnd len="med" w="med" type="none"/>
              </a:ln>
            </p:spPr>
          </p:cxnSp>
          <p:sp>
            <p:nvSpPr>
              <p:cNvPr id="5790" name="Google Shape;5790;p91"/>
              <p:cNvSpPr txBox="1"/>
              <p:nvPr/>
            </p:nvSpPr>
            <p:spPr>
              <a:xfrm>
                <a:off x="670712" y="4973448"/>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forward(4)</a:t>
                </a:r>
                <a:endParaRPr/>
              </a:p>
            </p:txBody>
          </p:sp>
        </p:grpSp>
      </p:grpSp>
      <p:grpSp>
        <p:nvGrpSpPr>
          <p:cNvPr id="5791" name="Google Shape;5791;p91"/>
          <p:cNvGrpSpPr/>
          <p:nvPr/>
        </p:nvGrpSpPr>
        <p:grpSpPr>
          <a:xfrm>
            <a:off x="971683" y="4398137"/>
            <a:ext cx="3089275" cy="2001837"/>
            <a:chOff x="587526" y="4569769"/>
            <a:chExt cx="3089750" cy="2002482"/>
          </a:xfrm>
        </p:grpSpPr>
        <p:sp>
          <p:nvSpPr>
            <p:cNvPr id="5792" name="Google Shape;5792;p91"/>
            <p:cNvSpPr/>
            <p:nvPr/>
          </p:nvSpPr>
          <p:spPr>
            <a:xfrm>
              <a:off x="631983" y="4569769"/>
              <a:ext cx="3045293" cy="849586"/>
            </a:xfrm>
            <a:custGeom>
              <a:rect b="b" l="l" r="r" t="t"/>
              <a:pathLst>
                <a:path extrusionOk="0" h="848898" w="3045074">
                  <a:moveTo>
                    <a:pt x="2799" y="848898"/>
                  </a:moveTo>
                  <a:cubicBezTo>
                    <a:pt x="-84168" y="811320"/>
                    <a:pt x="1881874" y="743370"/>
                    <a:pt x="2225299" y="616064"/>
                  </a:cubicBezTo>
                  <a:cubicBezTo>
                    <a:pt x="2568724" y="488758"/>
                    <a:pt x="2941438" y="33981"/>
                    <a:pt x="3029632" y="2231"/>
                  </a:cubicBezTo>
                  <a:cubicBezTo>
                    <a:pt x="3117826" y="-29519"/>
                    <a:pt x="2801554" y="285680"/>
                    <a:pt x="2754466" y="425564"/>
                  </a:cubicBezTo>
                  <a:cubicBezTo>
                    <a:pt x="2707378" y="565448"/>
                    <a:pt x="2727175" y="697355"/>
                    <a:pt x="2747103" y="841535"/>
                  </a:cubicBezTo>
                  <a:lnTo>
                    <a:pt x="2799" y="848898"/>
                  </a:lnTo>
                  <a:close/>
                </a:path>
              </a:pathLst>
            </a:custGeom>
            <a:gradFill>
              <a:gsLst>
                <a:gs pos="0">
                  <a:srgbClr val="FFFFFF"/>
                </a:gs>
                <a:gs pos="100000">
                  <a:srgbClr val="BFBFB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793" name="Google Shape;5793;p91"/>
            <p:cNvGrpSpPr/>
            <p:nvPr/>
          </p:nvGrpSpPr>
          <p:grpSpPr>
            <a:xfrm>
              <a:off x="587526" y="5408084"/>
              <a:ext cx="2799193" cy="1164167"/>
              <a:chOff x="-999973" y="4042833"/>
              <a:chExt cx="2799193" cy="1164167"/>
            </a:xfrm>
          </p:grpSpPr>
          <p:sp>
            <p:nvSpPr>
              <p:cNvPr id="5794" name="Google Shape;5794;p91"/>
              <p:cNvSpPr/>
              <p:nvPr/>
            </p:nvSpPr>
            <p:spPr>
              <a:xfrm>
                <a:off x="-977745" y="4042988"/>
                <a:ext cx="2776965" cy="1164012"/>
              </a:xfrm>
              <a:prstGeom prst="rect">
                <a:avLst/>
              </a:prstGeom>
              <a:solidFill>
                <a:srgbClr val="F2F2F2"/>
              </a:solidFill>
              <a:ln cap="flat" cmpd="sng" w="9525">
                <a:solidFill>
                  <a:schemeClr val="dk1"/>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795" name="Google Shape;5795;p91"/>
              <p:cNvSpPr txBox="1"/>
              <p:nvPr/>
            </p:nvSpPr>
            <p:spPr>
              <a:xfrm>
                <a:off x="-999973" y="4360336"/>
                <a:ext cx="164650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ingress port = 1</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Src = 10.3.*.*</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IP Dst = 10.2.*.*</a:t>
                </a:r>
                <a:endParaRPr/>
              </a:p>
            </p:txBody>
          </p:sp>
          <p:sp>
            <p:nvSpPr>
              <p:cNvPr id="5796" name="Google Shape;5796;p91"/>
              <p:cNvSpPr txBox="1"/>
              <p:nvPr/>
            </p:nvSpPr>
            <p:spPr>
              <a:xfrm>
                <a:off x="676427" y="4576235"/>
                <a:ext cx="111961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forward(4)</a:t>
                </a:r>
                <a:endParaRPr/>
              </a:p>
            </p:txBody>
          </p:sp>
          <p:cxnSp>
            <p:nvCxnSpPr>
              <p:cNvPr id="5797" name="Google Shape;5797;p91"/>
              <p:cNvCxnSpPr/>
              <p:nvPr/>
            </p:nvCxnSpPr>
            <p:spPr>
              <a:xfrm>
                <a:off x="-994833" y="4402666"/>
                <a:ext cx="2794000" cy="0"/>
              </a:xfrm>
              <a:prstGeom prst="straightConnector1">
                <a:avLst/>
              </a:prstGeom>
              <a:noFill/>
              <a:ln cap="flat" cmpd="sng" w="9525">
                <a:solidFill>
                  <a:srgbClr val="000000"/>
                </a:solidFill>
                <a:prstDash val="solid"/>
                <a:round/>
                <a:headEnd len="med" w="med" type="none"/>
                <a:tailEnd len="med" w="med" type="none"/>
              </a:ln>
            </p:spPr>
          </p:cxnSp>
          <p:sp>
            <p:nvSpPr>
              <p:cNvPr id="5798" name="Google Shape;5798;p91"/>
              <p:cNvSpPr txBox="1"/>
              <p:nvPr/>
            </p:nvSpPr>
            <p:spPr>
              <a:xfrm>
                <a:off x="-674004" y="4051301"/>
                <a:ext cx="7434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match</a:t>
                </a:r>
                <a:endParaRPr/>
              </a:p>
            </p:txBody>
          </p:sp>
          <p:sp>
            <p:nvSpPr>
              <p:cNvPr id="5799" name="Google Shape;5799;p91"/>
              <p:cNvSpPr txBox="1"/>
              <p:nvPr/>
            </p:nvSpPr>
            <p:spPr>
              <a:xfrm>
                <a:off x="875396" y="4055535"/>
                <a:ext cx="732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action</a:t>
                </a:r>
                <a:endParaRPr/>
              </a:p>
            </p:txBody>
          </p:sp>
          <p:cxnSp>
            <p:nvCxnSpPr>
              <p:cNvPr id="5800" name="Google Shape;5800;p91"/>
              <p:cNvCxnSpPr/>
              <p:nvPr/>
            </p:nvCxnSpPr>
            <p:spPr>
              <a:xfrm>
                <a:off x="634998" y="4042833"/>
                <a:ext cx="0" cy="1164167"/>
              </a:xfrm>
              <a:prstGeom prst="straightConnector1">
                <a:avLst/>
              </a:prstGeom>
              <a:noFill/>
              <a:ln cap="flat" cmpd="sng" w="9525">
                <a:solidFill>
                  <a:srgbClr val="000000"/>
                </a:solidFill>
                <a:prstDash val="solid"/>
                <a:round/>
                <a:headEnd len="med" w="med" type="none"/>
                <a:tailEnd len="med" w="med" type="none"/>
              </a:ln>
            </p:spPr>
          </p:cxnSp>
        </p:grpSp>
      </p:grpSp>
      <p:cxnSp>
        <p:nvCxnSpPr>
          <p:cNvPr id="5801" name="Google Shape;5801;p91"/>
          <p:cNvCxnSpPr/>
          <p:nvPr/>
        </p:nvCxnSpPr>
        <p:spPr>
          <a:xfrm>
            <a:off x="4145096" y="2562225"/>
            <a:ext cx="2157412" cy="1846263"/>
          </a:xfrm>
          <a:prstGeom prst="straightConnector1">
            <a:avLst/>
          </a:prstGeom>
          <a:noFill/>
          <a:ln cap="flat" cmpd="sng" w="9525">
            <a:solidFill>
              <a:srgbClr val="000000"/>
            </a:solidFill>
            <a:prstDash val="solid"/>
            <a:round/>
            <a:headEnd len="med" w="med" type="none"/>
            <a:tailEnd len="med" w="med" type="none"/>
          </a:ln>
        </p:spPr>
      </p:cxnSp>
      <p:cxnSp>
        <p:nvCxnSpPr>
          <p:cNvPr id="5802" name="Google Shape;5802;p91"/>
          <p:cNvCxnSpPr/>
          <p:nvPr/>
        </p:nvCxnSpPr>
        <p:spPr>
          <a:xfrm>
            <a:off x="4424496" y="4497388"/>
            <a:ext cx="2046287" cy="0"/>
          </a:xfrm>
          <a:prstGeom prst="straightConnector1">
            <a:avLst/>
          </a:prstGeom>
          <a:noFill/>
          <a:ln cap="flat" cmpd="sng" w="9525">
            <a:solidFill>
              <a:srgbClr val="000000"/>
            </a:solidFill>
            <a:prstDash val="solid"/>
            <a:round/>
            <a:headEnd len="med" w="med" type="none"/>
            <a:tailEnd len="med" w="med" type="none"/>
          </a:ln>
        </p:spPr>
      </p:cxnSp>
      <p:cxnSp>
        <p:nvCxnSpPr>
          <p:cNvPr id="5803" name="Google Shape;5803;p91"/>
          <p:cNvCxnSpPr/>
          <p:nvPr/>
        </p:nvCxnSpPr>
        <p:spPr>
          <a:xfrm>
            <a:off x="4226058" y="2690813"/>
            <a:ext cx="0" cy="1574800"/>
          </a:xfrm>
          <a:prstGeom prst="straightConnector1">
            <a:avLst/>
          </a:prstGeom>
          <a:noFill/>
          <a:ln cap="flat" cmpd="sng" w="9525">
            <a:solidFill>
              <a:srgbClr val="000000"/>
            </a:solidFill>
            <a:prstDash val="solid"/>
            <a:round/>
            <a:headEnd len="med" w="med" type="none"/>
            <a:tailEnd len="med" w="med" type="none"/>
          </a:ln>
        </p:spPr>
      </p:cxnSp>
      <p:cxnSp>
        <p:nvCxnSpPr>
          <p:cNvPr id="5804" name="Google Shape;5804;p91"/>
          <p:cNvCxnSpPr/>
          <p:nvPr/>
        </p:nvCxnSpPr>
        <p:spPr>
          <a:xfrm flipH="1">
            <a:off x="4346708" y="3154363"/>
            <a:ext cx="1477963" cy="13112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805" name="Google Shape;5805;p91"/>
          <p:cNvCxnSpPr/>
          <p:nvPr/>
        </p:nvCxnSpPr>
        <p:spPr>
          <a:xfrm rot="10800000">
            <a:off x="4294321" y="4567238"/>
            <a:ext cx="6350" cy="657225"/>
          </a:xfrm>
          <a:prstGeom prst="straightConnector1">
            <a:avLst/>
          </a:prstGeom>
          <a:noFill/>
          <a:ln cap="flat" cmpd="sng" w="25400">
            <a:solidFill>
              <a:srgbClr val="000000"/>
            </a:solidFill>
            <a:prstDash val="solid"/>
            <a:round/>
            <a:headEnd len="sm" w="sm" type="none"/>
            <a:tailEnd len="sm" w="sm" type="none"/>
          </a:ln>
        </p:spPr>
      </p:cxnSp>
      <p:cxnSp>
        <p:nvCxnSpPr>
          <p:cNvPr id="5806" name="Google Shape;5806;p91"/>
          <p:cNvCxnSpPr/>
          <p:nvPr/>
        </p:nvCxnSpPr>
        <p:spPr>
          <a:xfrm>
            <a:off x="3338646" y="4524375"/>
            <a:ext cx="531812" cy="0"/>
          </a:xfrm>
          <a:prstGeom prst="straightConnector1">
            <a:avLst/>
          </a:prstGeom>
          <a:noFill/>
          <a:ln cap="flat" cmpd="sng" w="25400">
            <a:solidFill>
              <a:srgbClr val="000000"/>
            </a:solidFill>
            <a:prstDash val="solid"/>
            <a:round/>
            <a:headEnd len="sm" w="sm" type="none"/>
            <a:tailEnd len="sm" w="sm" type="none"/>
          </a:ln>
        </p:spPr>
      </p:cxnSp>
      <p:grpSp>
        <p:nvGrpSpPr>
          <p:cNvPr id="5807" name="Google Shape;5807;p91"/>
          <p:cNvGrpSpPr/>
          <p:nvPr/>
        </p:nvGrpSpPr>
        <p:grpSpPr>
          <a:xfrm>
            <a:off x="2740158" y="4043363"/>
            <a:ext cx="757238" cy="628650"/>
            <a:chOff x="-44" y="1473"/>
            <a:chExt cx="981" cy="1105"/>
          </a:xfrm>
        </p:grpSpPr>
        <p:pic>
          <p:nvPicPr>
            <p:cNvPr descr="desktop_computer_stylized_medium" id="5808" name="Google Shape;580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09" name="Google Shape;580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10" name="Google Shape;5810;p91"/>
          <p:cNvGrpSpPr/>
          <p:nvPr/>
        </p:nvGrpSpPr>
        <p:grpSpPr>
          <a:xfrm>
            <a:off x="3803783" y="4892675"/>
            <a:ext cx="757238" cy="628650"/>
            <a:chOff x="188" y="1473"/>
            <a:chExt cx="981" cy="1105"/>
          </a:xfrm>
        </p:grpSpPr>
        <p:pic>
          <p:nvPicPr>
            <p:cNvPr descr="desktop_computer_stylized_medium" id="5811" name="Google Shape;5811;p91"/>
            <p:cNvPicPr preferRelativeResize="0"/>
            <p:nvPr/>
          </p:nvPicPr>
          <p:blipFill rotWithShape="1">
            <a:blip r:embed="rId3">
              <a:alphaModFix/>
            </a:blip>
            <a:srcRect b="0" l="0" r="0" t="0"/>
            <a:stretch/>
          </p:blipFill>
          <p:spPr>
            <a:xfrm flipH="1">
              <a:off x="188" y="1473"/>
              <a:ext cx="981" cy="1105"/>
            </a:xfrm>
            <a:prstGeom prst="rect">
              <a:avLst/>
            </a:prstGeom>
            <a:noFill/>
            <a:ln>
              <a:noFill/>
            </a:ln>
          </p:spPr>
        </p:pic>
        <p:sp>
          <p:nvSpPr>
            <p:cNvPr id="5812" name="Google Shape;5812;p91"/>
            <p:cNvSpPr/>
            <p:nvPr/>
          </p:nvSpPr>
          <p:spPr>
            <a:xfrm flipH="1">
              <a:off x="598" y="1587"/>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13" name="Google Shape;5813;p91"/>
          <p:cNvSpPr txBox="1"/>
          <p:nvPr/>
        </p:nvSpPr>
        <p:spPr>
          <a:xfrm>
            <a:off x="2145917" y="4216884"/>
            <a:ext cx="833437" cy="7381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h1</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10.1.0.1</a:t>
            </a:r>
            <a:endParaRPr/>
          </a:p>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4" name="Google Shape;5814;p91"/>
          <p:cNvSpPr txBox="1"/>
          <p:nvPr/>
        </p:nvSpPr>
        <p:spPr>
          <a:xfrm>
            <a:off x="3903312" y="54534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h2</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10.1.0.2</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15" name="Google Shape;5815;p91"/>
          <p:cNvCxnSpPr/>
          <p:nvPr/>
        </p:nvCxnSpPr>
        <p:spPr>
          <a:xfrm flipH="1" rot="10800000">
            <a:off x="5992946" y="4568825"/>
            <a:ext cx="306387" cy="490538"/>
          </a:xfrm>
          <a:prstGeom prst="straightConnector1">
            <a:avLst/>
          </a:prstGeom>
          <a:noFill/>
          <a:ln cap="flat" cmpd="sng" w="25400">
            <a:solidFill>
              <a:srgbClr val="000000"/>
            </a:solidFill>
            <a:prstDash val="solid"/>
            <a:round/>
            <a:headEnd len="sm" w="sm" type="none"/>
            <a:tailEnd len="sm" w="sm" type="none"/>
          </a:ln>
        </p:spPr>
      </p:cxnSp>
      <p:cxnSp>
        <p:nvCxnSpPr>
          <p:cNvPr id="5816" name="Google Shape;5816;p91"/>
          <p:cNvCxnSpPr/>
          <p:nvPr/>
        </p:nvCxnSpPr>
        <p:spPr>
          <a:xfrm>
            <a:off x="6747008" y="4448175"/>
            <a:ext cx="531813" cy="0"/>
          </a:xfrm>
          <a:prstGeom prst="straightConnector1">
            <a:avLst/>
          </a:prstGeom>
          <a:noFill/>
          <a:ln cap="flat" cmpd="sng" w="25400">
            <a:solidFill>
              <a:srgbClr val="000000"/>
            </a:solidFill>
            <a:prstDash val="solid"/>
            <a:round/>
            <a:headEnd len="sm" w="sm" type="none"/>
            <a:tailEnd len="sm" w="sm" type="none"/>
          </a:ln>
        </p:spPr>
      </p:cxnSp>
      <p:grpSp>
        <p:nvGrpSpPr>
          <p:cNvPr id="5817" name="Google Shape;5817;p91"/>
          <p:cNvGrpSpPr/>
          <p:nvPr/>
        </p:nvGrpSpPr>
        <p:grpSpPr>
          <a:xfrm>
            <a:off x="6953383" y="4221163"/>
            <a:ext cx="757238" cy="628650"/>
            <a:chOff x="-44" y="1473"/>
            <a:chExt cx="981" cy="1105"/>
          </a:xfrm>
        </p:grpSpPr>
        <p:pic>
          <p:nvPicPr>
            <p:cNvPr descr="desktop_computer_stylized_medium" id="5818" name="Google Shape;581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19" name="Google Shape;581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20" name="Google Shape;5820;p91"/>
          <p:cNvGrpSpPr/>
          <p:nvPr/>
        </p:nvGrpSpPr>
        <p:grpSpPr>
          <a:xfrm>
            <a:off x="5475421" y="4835525"/>
            <a:ext cx="757237" cy="628650"/>
            <a:chOff x="-44" y="1473"/>
            <a:chExt cx="981" cy="1105"/>
          </a:xfrm>
        </p:grpSpPr>
        <p:pic>
          <p:nvPicPr>
            <p:cNvPr descr="desktop_computer_stylized_medium" id="5821" name="Google Shape;5821;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22" name="Google Shape;5822;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23" name="Google Shape;5823;p91"/>
          <p:cNvSpPr txBox="1"/>
          <p:nvPr/>
        </p:nvSpPr>
        <p:spPr>
          <a:xfrm>
            <a:off x="7645947" y="4249738"/>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h4</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10.2.0.4</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4" name="Google Shape;5824;p91"/>
          <p:cNvSpPr txBox="1"/>
          <p:nvPr/>
        </p:nvSpPr>
        <p:spPr>
          <a:xfrm>
            <a:off x="5524907" y="5349807"/>
            <a:ext cx="833438"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h3</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10.2.0.3</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25" name="Google Shape;5825;p91"/>
          <p:cNvCxnSpPr/>
          <p:nvPr/>
        </p:nvCxnSpPr>
        <p:spPr>
          <a:xfrm>
            <a:off x="3349758" y="2681288"/>
            <a:ext cx="706438" cy="0"/>
          </a:xfrm>
          <a:prstGeom prst="straightConnector1">
            <a:avLst/>
          </a:prstGeom>
          <a:noFill/>
          <a:ln cap="flat" cmpd="sng" w="25400">
            <a:solidFill>
              <a:srgbClr val="000000"/>
            </a:solidFill>
            <a:prstDash val="solid"/>
            <a:round/>
            <a:headEnd len="sm" w="sm" type="none"/>
            <a:tailEnd len="sm" w="sm" type="none"/>
          </a:ln>
        </p:spPr>
      </p:cxnSp>
      <p:cxnSp>
        <p:nvCxnSpPr>
          <p:cNvPr id="5826" name="Google Shape;5826;p91"/>
          <p:cNvCxnSpPr/>
          <p:nvPr/>
        </p:nvCxnSpPr>
        <p:spPr>
          <a:xfrm rot="10800000">
            <a:off x="4327658" y="2014538"/>
            <a:ext cx="0" cy="474662"/>
          </a:xfrm>
          <a:prstGeom prst="straightConnector1">
            <a:avLst/>
          </a:prstGeom>
          <a:noFill/>
          <a:ln cap="flat" cmpd="sng" w="25400">
            <a:solidFill>
              <a:srgbClr val="000000"/>
            </a:solidFill>
            <a:prstDash val="solid"/>
            <a:round/>
            <a:headEnd len="sm" w="sm" type="none"/>
            <a:tailEnd len="sm" w="sm" type="none"/>
          </a:ln>
        </p:spPr>
      </p:cxnSp>
      <p:grpSp>
        <p:nvGrpSpPr>
          <p:cNvPr id="5827" name="Google Shape;5827;p91"/>
          <p:cNvGrpSpPr/>
          <p:nvPr/>
        </p:nvGrpSpPr>
        <p:grpSpPr>
          <a:xfrm>
            <a:off x="3846646" y="1622425"/>
            <a:ext cx="757237" cy="628650"/>
            <a:chOff x="-44" y="1473"/>
            <a:chExt cx="981" cy="1105"/>
          </a:xfrm>
        </p:grpSpPr>
        <p:pic>
          <p:nvPicPr>
            <p:cNvPr descr="desktop_computer_stylized_medium" id="5828" name="Google Shape;5828;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29" name="Google Shape;5829;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5830" name="Google Shape;5830;p91"/>
          <p:cNvGrpSpPr/>
          <p:nvPr/>
        </p:nvGrpSpPr>
        <p:grpSpPr>
          <a:xfrm>
            <a:off x="2792546" y="2561879"/>
            <a:ext cx="757237" cy="628650"/>
            <a:chOff x="-44" y="1473"/>
            <a:chExt cx="981" cy="1105"/>
          </a:xfrm>
        </p:grpSpPr>
        <p:pic>
          <p:nvPicPr>
            <p:cNvPr descr="desktop_computer_stylized_medium" id="5831" name="Google Shape;5831;p9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32" name="Google Shape;5832;p9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833" name="Google Shape;5833;p91"/>
          <p:cNvSpPr txBox="1"/>
          <p:nvPr/>
        </p:nvSpPr>
        <p:spPr>
          <a:xfrm>
            <a:off x="2881446" y="3065116"/>
            <a:ext cx="833437"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h5</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10.3.0.5</a:t>
            </a:r>
            <a:endParaRPr/>
          </a:p>
        </p:txBody>
      </p:sp>
      <p:sp>
        <p:nvSpPr>
          <p:cNvPr id="5834" name="Google Shape;5834;p91"/>
          <p:cNvSpPr txBox="1"/>
          <p:nvPr/>
        </p:nvSpPr>
        <p:spPr>
          <a:xfrm>
            <a:off x="4289558" y="3949700"/>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s1</a:t>
            </a:r>
            <a:endParaRPr/>
          </a:p>
        </p:txBody>
      </p:sp>
      <p:sp>
        <p:nvSpPr>
          <p:cNvPr id="5835" name="Google Shape;5835;p91"/>
          <p:cNvSpPr txBox="1"/>
          <p:nvPr/>
        </p:nvSpPr>
        <p:spPr>
          <a:xfrm>
            <a:off x="6450146" y="3976688"/>
            <a:ext cx="4286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s2</a:t>
            </a:r>
            <a:endParaRPr/>
          </a:p>
        </p:txBody>
      </p:sp>
      <p:sp>
        <p:nvSpPr>
          <p:cNvPr id="5836" name="Google Shape;5836;p91"/>
          <p:cNvSpPr txBox="1"/>
          <p:nvPr/>
        </p:nvSpPr>
        <p:spPr>
          <a:xfrm>
            <a:off x="4507046" y="2168525"/>
            <a:ext cx="4286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Arial"/>
              <a:buNone/>
            </a:pPr>
            <a:r>
              <a:rPr b="0" i="0" lang="en-US" sz="1800" u="none" cap="none" strike="noStrike">
                <a:solidFill>
                  <a:srgbClr val="C00000"/>
                </a:solidFill>
                <a:latin typeface="Arial"/>
                <a:ea typeface="Arial"/>
                <a:cs typeface="Arial"/>
                <a:sym typeface="Arial"/>
              </a:rPr>
              <a:t>s3</a:t>
            </a:r>
            <a:endParaRPr/>
          </a:p>
        </p:txBody>
      </p:sp>
      <p:cxnSp>
        <p:nvCxnSpPr>
          <p:cNvPr id="5837" name="Google Shape;5837;p91"/>
          <p:cNvCxnSpPr/>
          <p:nvPr/>
        </p:nvCxnSpPr>
        <p:spPr>
          <a:xfrm>
            <a:off x="4346708" y="2871788"/>
            <a:ext cx="1392238" cy="219075"/>
          </a:xfrm>
          <a:prstGeom prst="straightConnector1">
            <a:avLst/>
          </a:prstGeom>
          <a:noFill/>
          <a:ln cap="flat" cmpd="sng" w="12700">
            <a:solidFill>
              <a:srgbClr val="CC0000">
                <a:alpha val="49803"/>
              </a:srgbClr>
            </a:solidFill>
            <a:prstDash val="dash"/>
            <a:round/>
            <a:headEnd len="med" w="med" type="none"/>
            <a:tailEnd len="med" w="med" type="none"/>
          </a:ln>
        </p:spPr>
      </p:cxnSp>
      <p:cxnSp>
        <p:nvCxnSpPr>
          <p:cNvPr id="5838" name="Google Shape;5838;p91"/>
          <p:cNvCxnSpPr/>
          <p:nvPr/>
        </p:nvCxnSpPr>
        <p:spPr>
          <a:xfrm>
            <a:off x="5824671" y="3154363"/>
            <a:ext cx="533400" cy="976312"/>
          </a:xfrm>
          <a:prstGeom prst="straightConnector1">
            <a:avLst/>
          </a:prstGeom>
          <a:noFill/>
          <a:ln cap="flat" cmpd="sng" w="12700">
            <a:solidFill>
              <a:srgbClr val="CC0000">
                <a:alpha val="49803"/>
              </a:srgbClr>
            </a:solidFill>
            <a:prstDash val="dash"/>
            <a:round/>
            <a:headEnd len="med" w="med" type="none"/>
            <a:tailEnd len="med" w="med" type="none"/>
          </a:ln>
        </p:spPr>
      </p:cxnSp>
      <p:sp>
        <p:nvSpPr>
          <p:cNvPr id="5839" name="Google Shape;5839;p91"/>
          <p:cNvSpPr txBox="1"/>
          <p:nvPr/>
        </p:nvSpPr>
        <p:spPr>
          <a:xfrm>
            <a:off x="4118108" y="2173288"/>
            <a:ext cx="271463"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0" name="Google Shape;5840;p91"/>
          <p:cNvSpPr txBox="1"/>
          <p:nvPr/>
        </p:nvSpPr>
        <p:spPr>
          <a:xfrm>
            <a:off x="3649796" y="2419350"/>
            <a:ext cx="273050"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1" name="Google Shape;5841;p91"/>
          <p:cNvSpPr txBox="1"/>
          <p:nvPr/>
        </p:nvSpPr>
        <p:spPr>
          <a:xfrm>
            <a:off x="4018096" y="2790894"/>
            <a:ext cx="269875"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42" name="Google Shape;5842;p91"/>
          <p:cNvSpPr txBox="1"/>
          <p:nvPr/>
        </p:nvSpPr>
        <p:spPr>
          <a:xfrm>
            <a:off x="4495933" y="2687638"/>
            <a:ext cx="274638"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43" name="Google Shape;5843;p91"/>
          <p:cNvSpPr txBox="1"/>
          <p:nvPr/>
        </p:nvSpPr>
        <p:spPr>
          <a:xfrm>
            <a:off x="4021271" y="4006850"/>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4" name="Google Shape;5844;p91"/>
          <p:cNvSpPr txBox="1"/>
          <p:nvPr/>
        </p:nvSpPr>
        <p:spPr>
          <a:xfrm>
            <a:off x="3664083" y="4276725"/>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5" name="Google Shape;5845;p91"/>
          <p:cNvSpPr txBox="1"/>
          <p:nvPr/>
        </p:nvSpPr>
        <p:spPr>
          <a:xfrm>
            <a:off x="4046671" y="4624388"/>
            <a:ext cx="269875"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46" name="Google Shape;5846;p91"/>
          <p:cNvSpPr txBox="1"/>
          <p:nvPr/>
        </p:nvSpPr>
        <p:spPr>
          <a:xfrm>
            <a:off x="4554671" y="4437063"/>
            <a:ext cx="273050" cy="277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47" name="Google Shape;5847;p91"/>
          <p:cNvSpPr txBox="1"/>
          <p:nvPr/>
        </p:nvSpPr>
        <p:spPr>
          <a:xfrm>
            <a:off x="5811971" y="408940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sp>
        <p:nvSpPr>
          <p:cNvPr id="5848" name="Google Shape;5848;p91"/>
          <p:cNvSpPr txBox="1"/>
          <p:nvPr/>
        </p:nvSpPr>
        <p:spPr>
          <a:xfrm>
            <a:off x="5783396" y="4437063"/>
            <a:ext cx="274637"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p:txBody>
      </p:sp>
      <p:sp>
        <p:nvSpPr>
          <p:cNvPr id="5849" name="Google Shape;5849;p91"/>
          <p:cNvSpPr txBox="1"/>
          <p:nvPr/>
        </p:nvSpPr>
        <p:spPr>
          <a:xfrm>
            <a:off x="6150108" y="4641850"/>
            <a:ext cx="269875" cy="2778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p:txBody>
      </p:sp>
      <p:sp>
        <p:nvSpPr>
          <p:cNvPr id="5850" name="Google Shape;5850;p91"/>
          <p:cNvSpPr txBox="1"/>
          <p:nvPr/>
        </p:nvSpPr>
        <p:spPr>
          <a:xfrm>
            <a:off x="6708908" y="4394200"/>
            <a:ext cx="274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4</a:t>
            </a:r>
            <a:endParaRPr/>
          </a:p>
        </p:txBody>
      </p:sp>
      <p:sp>
        <p:nvSpPr>
          <p:cNvPr id="5851" name="Google Shape;5851;p91"/>
          <p:cNvSpPr txBox="1"/>
          <p:nvPr/>
        </p:nvSpPr>
        <p:spPr>
          <a:xfrm>
            <a:off x="4469291" y="1666393"/>
            <a:ext cx="83502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A8"/>
              </a:buClr>
              <a:buSzPts val="1400"/>
              <a:buFont typeface="Arial"/>
              <a:buNone/>
            </a:pPr>
            <a:r>
              <a:rPr b="0" i="0" lang="en-US" sz="1400" u="none" cap="none" strike="noStrike">
                <a:solidFill>
                  <a:srgbClr val="0000A8"/>
                </a:solidFill>
                <a:latin typeface="Arial"/>
                <a:ea typeface="Arial"/>
                <a:cs typeface="Arial"/>
                <a:sym typeface="Arial"/>
              </a:rPr>
              <a:t>Host h6</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10.3.0.6</a:t>
            </a:r>
            <a:endParaRPr/>
          </a:p>
        </p:txBody>
      </p:sp>
      <p:grpSp>
        <p:nvGrpSpPr>
          <p:cNvPr id="5852" name="Google Shape;5852;p91"/>
          <p:cNvGrpSpPr/>
          <p:nvPr/>
        </p:nvGrpSpPr>
        <p:grpSpPr>
          <a:xfrm>
            <a:off x="5400808" y="1862138"/>
            <a:ext cx="1270000" cy="1482725"/>
            <a:chOff x="5418667" y="1587500"/>
            <a:chExt cx="1270000" cy="1481667"/>
          </a:xfrm>
        </p:grpSpPr>
        <p:grpSp>
          <p:nvGrpSpPr>
            <p:cNvPr id="5853" name="Google Shape;5853;p91"/>
            <p:cNvGrpSpPr/>
            <p:nvPr/>
          </p:nvGrpSpPr>
          <p:grpSpPr>
            <a:xfrm>
              <a:off x="5440087" y="1742411"/>
              <a:ext cx="1047344" cy="1163369"/>
              <a:chOff x="5440087" y="1742411"/>
              <a:chExt cx="1047344" cy="1163369"/>
            </a:xfrm>
          </p:grpSpPr>
          <p:grpSp>
            <p:nvGrpSpPr>
              <p:cNvPr id="5854" name="Google Shape;5854;p91"/>
              <p:cNvGrpSpPr/>
              <p:nvPr/>
            </p:nvGrpSpPr>
            <p:grpSpPr>
              <a:xfrm>
                <a:off x="5838397" y="2273382"/>
                <a:ext cx="350328" cy="632398"/>
                <a:chOff x="4140" y="429"/>
                <a:chExt cx="1425" cy="2396"/>
              </a:xfrm>
            </p:grpSpPr>
            <p:sp>
              <p:nvSpPr>
                <p:cNvPr id="5855" name="Google Shape;5855;p9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6" name="Google Shape;5856;p91"/>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7" name="Google Shape;5857;p9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8" name="Google Shape;5858;p9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59" name="Google Shape;5859;p91"/>
                <p:cNvSpPr/>
                <p:nvPr/>
              </p:nvSpPr>
              <p:spPr>
                <a:xfrm>
                  <a:off x="4210" y="690"/>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0" name="Google Shape;5860;p91"/>
                <p:cNvGrpSpPr/>
                <p:nvPr/>
              </p:nvGrpSpPr>
              <p:grpSpPr>
                <a:xfrm>
                  <a:off x="4748" y="666"/>
                  <a:ext cx="578" cy="150"/>
                  <a:chOff x="613" y="2566"/>
                  <a:chExt cx="721" cy="144"/>
                </a:xfrm>
              </p:grpSpPr>
              <p:sp>
                <p:nvSpPr>
                  <p:cNvPr id="5861" name="Google Shape;5861;p91"/>
                  <p:cNvSpPr/>
                  <p:nvPr/>
                </p:nvSpPr>
                <p:spPr>
                  <a:xfrm>
                    <a:off x="613" y="2566"/>
                    <a:ext cx="721" cy="14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2" name="Google Shape;5862;p91"/>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63" name="Google Shape;5863;p91"/>
                <p:cNvSpPr/>
                <p:nvPr/>
              </p:nvSpPr>
              <p:spPr>
                <a:xfrm>
                  <a:off x="4220" y="1022"/>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4" name="Google Shape;5864;p91"/>
                <p:cNvGrpSpPr/>
                <p:nvPr/>
              </p:nvGrpSpPr>
              <p:grpSpPr>
                <a:xfrm>
                  <a:off x="4748" y="990"/>
                  <a:ext cx="578" cy="134"/>
                  <a:chOff x="615" y="2564"/>
                  <a:chExt cx="721" cy="139"/>
                </a:xfrm>
              </p:grpSpPr>
              <p:sp>
                <p:nvSpPr>
                  <p:cNvPr id="5865" name="Google Shape;5865;p91"/>
                  <p:cNvSpPr/>
                  <p:nvPr/>
                </p:nvSpPr>
                <p:spPr>
                  <a:xfrm>
                    <a:off x="615" y="2564"/>
                    <a:ext cx="721"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6" name="Google Shape;5866;p91"/>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67" name="Google Shape;5867;p91"/>
                <p:cNvSpPr/>
                <p:nvPr/>
              </p:nvSpPr>
              <p:spPr>
                <a:xfrm>
                  <a:off x="4220" y="1354"/>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8" name="Google Shape;5868;p91"/>
                <p:cNvSpPr/>
                <p:nvPr/>
              </p:nvSpPr>
              <p:spPr>
                <a:xfrm>
                  <a:off x="4230" y="1655"/>
                  <a:ext cx="598" cy="47"/>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9" name="Google Shape;5869;p91"/>
                <p:cNvGrpSpPr/>
                <p:nvPr/>
              </p:nvGrpSpPr>
              <p:grpSpPr>
                <a:xfrm>
                  <a:off x="4738" y="1647"/>
                  <a:ext cx="578" cy="135"/>
                  <a:chOff x="618" y="2586"/>
                  <a:chExt cx="720" cy="124"/>
                </a:xfrm>
              </p:grpSpPr>
              <p:sp>
                <p:nvSpPr>
                  <p:cNvPr id="5870" name="Google Shape;5870;p91"/>
                  <p:cNvSpPr/>
                  <p:nvPr/>
                </p:nvSpPr>
                <p:spPr>
                  <a:xfrm>
                    <a:off x="618" y="2586"/>
                    <a:ext cx="720" cy="12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1" name="Google Shape;5871;p91"/>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72" name="Google Shape;5872;p9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5873" name="Google Shape;5873;p91"/>
                <p:cNvGrpSpPr/>
                <p:nvPr/>
              </p:nvGrpSpPr>
              <p:grpSpPr>
                <a:xfrm>
                  <a:off x="4738" y="1330"/>
                  <a:ext cx="588" cy="134"/>
                  <a:chOff x="613" y="2571"/>
                  <a:chExt cx="732" cy="134"/>
                </a:xfrm>
              </p:grpSpPr>
              <p:sp>
                <p:nvSpPr>
                  <p:cNvPr id="5874" name="Google Shape;5874;p91"/>
                  <p:cNvSpPr/>
                  <p:nvPr/>
                </p:nvSpPr>
                <p:spPr>
                  <a:xfrm>
                    <a:off x="613" y="2571"/>
                    <a:ext cx="732" cy="134"/>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5" name="Google Shape;5875;p91"/>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76" name="Google Shape;5876;p91"/>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7" name="Google Shape;5877;p9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78" name="Google Shape;5878;p9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79" name="Google Shape;5879;p91"/>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0" name="Google Shape;5880;p9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81" name="Google Shape;5881;p91"/>
                <p:cNvSpPr/>
                <p:nvPr/>
              </p:nvSpPr>
              <p:spPr>
                <a:xfrm>
                  <a:off x="4140" y="2675"/>
                  <a:ext cx="1196"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2" name="Google Shape;5882;p91"/>
                <p:cNvSpPr/>
                <p:nvPr/>
              </p:nvSpPr>
              <p:spPr>
                <a:xfrm>
                  <a:off x="4210" y="2714"/>
                  <a:ext cx="1066" cy="79"/>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3" name="Google Shape;5883;p91"/>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4" name="Google Shape;5884;p91"/>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5885" name="Google Shape;5885;p91"/>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6" name="Google Shape;5886;p91"/>
                <p:cNvSpPr/>
                <p:nvPr/>
              </p:nvSpPr>
              <p:spPr>
                <a:xfrm>
                  <a:off x="5067" y="1837"/>
                  <a:ext cx="80" cy="759"/>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887" name="Google Shape;5887;p91"/>
              <p:cNvPicPr preferRelativeResize="0"/>
              <p:nvPr/>
            </p:nvPicPr>
            <p:blipFill rotWithShape="1">
              <a:blip r:embed="rId4">
                <a:alphaModFix/>
              </a:blip>
              <a:srcRect b="0" l="0" r="0" t="0"/>
              <a:stretch/>
            </p:blipFill>
            <p:spPr>
              <a:xfrm>
                <a:off x="5440087" y="1742411"/>
                <a:ext cx="1039824" cy="309703"/>
              </a:xfrm>
              <a:prstGeom prst="rect">
                <a:avLst/>
              </a:prstGeom>
              <a:noFill/>
              <a:ln>
                <a:noFill/>
              </a:ln>
            </p:spPr>
          </p:pic>
          <p:sp>
            <p:nvSpPr>
              <p:cNvPr id="5888" name="Google Shape;5888;p91"/>
              <p:cNvSpPr txBox="1"/>
              <p:nvPr/>
            </p:nvSpPr>
            <p:spPr>
              <a:xfrm>
                <a:off x="5558972" y="1947149"/>
                <a:ext cx="928459" cy="58477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controller</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89" name="Google Shape;5889;p91"/>
            <p:cNvSpPr/>
            <p:nvPr/>
          </p:nvSpPr>
          <p:spPr>
            <a:xfrm>
              <a:off x="5418667" y="1587500"/>
              <a:ext cx="1270000" cy="1481667"/>
            </a:xfrm>
            <a:prstGeom prst="rect">
              <a:avLst/>
            </a:prstGeom>
            <a:solidFill>
              <a:srgbClr val="FFFFFF">
                <a:alpha val="6549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90" name="Google Shape;5890;p91"/>
          <p:cNvGrpSpPr/>
          <p:nvPr/>
        </p:nvGrpSpPr>
        <p:grpSpPr>
          <a:xfrm>
            <a:off x="3869633" y="4253948"/>
            <a:ext cx="728870" cy="410817"/>
            <a:chOff x="7493876" y="2774731"/>
            <a:chExt cx="1481958" cy="894622"/>
          </a:xfrm>
        </p:grpSpPr>
        <p:sp>
          <p:nvSpPr>
            <p:cNvPr id="5891" name="Google Shape;5891;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892" name="Google Shape;5892;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893" name="Google Shape;5893;p91"/>
            <p:cNvGrpSpPr/>
            <p:nvPr/>
          </p:nvGrpSpPr>
          <p:grpSpPr>
            <a:xfrm>
              <a:off x="7713663" y="2848339"/>
              <a:ext cx="1042107" cy="425543"/>
              <a:chOff x="7786941" y="2884917"/>
              <a:chExt cx="897649" cy="353919"/>
            </a:xfrm>
          </p:grpSpPr>
          <p:sp>
            <p:nvSpPr>
              <p:cNvPr id="5894" name="Google Shape;5894;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5" name="Google Shape;5895;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6" name="Google Shape;5896;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897" name="Google Shape;5897;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898" name="Google Shape;5898;p91"/>
          <p:cNvGrpSpPr/>
          <p:nvPr/>
        </p:nvGrpSpPr>
        <p:grpSpPr>
          <a:xfrm>
            <a:off x="6009859" y="4287078"/>
            <a:ext cx="728870" cy="410817"/>
            <a:chOff x="7493876" y="2774731"/>
            <a:chExt cx="1481958" cy="894622"/>
          </a:xfrm>
        </p:grpSpPr>
        <p:sp>
          <p:nvSpPr>
            <p:cNvPr id="5899" name="Google Shape;5899;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0" name="Google Shape;5900;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01" name="Google Shape;5901;p91"/>
            <p:cNvGrpSpPr/>
            <p:nvPr/>
          </p:nvGrpSpPr>
          <p:grpSpPr>
            <a:xfrm>
              <a:off x="7713663" y="2848339"/>
              <a:ext cx="1042107" cy="425543"/>
              <a:chOff x="7786941" y="2884917"/>
              <a:chExt cx="897649" cy="353919"/>
            </a:xfrm>
          </p:grpSpPr>
          <p:sp>
            <p:nvSpPr>
              <p:cNvPr id="5902" name="Google Shape;5902;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3" name="Google Shape;5903;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4" name="Google Shape;5904;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05" name="Google Shape;5905;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5906" name="Google Shape;5906;p91"/>
          <p:cNvGrpSpPr/>
          <p:nvPr/>
        </p:nvGrpSpPr>
        <p:grpSpPr>
          <a:xfrm>
            <a:off x="3882885" y="2411896"/>
            <a:ext cx="728870" cy="410817"/>
            <a:chOff x="7493876" y="2774731"/>
            <a:chExt cx="1481958" cy="894622"/>
          </a:xfrm>
        </p:grpSpPr>
        <p:sp>
          <p:nvSpPr>
            <p:cNvPr id="5907" name="Google Shape;5907;p9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5908" name="Google Shape;5908;p91"/>
            <p:cNvSpPr/>
            <p:nvPr/>
          </p:nvSpPr>
          <p:spPr>
            <a:xfrm>
              <a:off x="7494729" y="2774731"/>
              <a:ext cx="1480163" cy="579140"/>
            </a:xfrm>
            <a:prstGeom prst="ellipse">
              <a:avLst/>
            </a:prstGeom>
            <a:solidFill>
              <a:srgbClr val="B8C2C9"/>
            </a:solidFill>
            <a:ln cap="flat" cmpd="sng" w="9525">
              <a:solidFill>
                <a:srgbClr val="0000A8"/>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5909" name="Google Shape;5909;p91"/>
            <p:cNvGrpSpPr/>
            <p:nvPr/>
          </p:nvGrpSpPr>
          <p:grpSpPr>
            <a:xfrm>
              <a:off x="7713663" y="2848339"/>
              <a:ext cx="1042107" cy="425543"/>
              <a:chOff x="7786941" y="2884917"/>
              <a:chExt cx="897649" cy="353919"/>
            </a:xfrm>
          </p:grpSpPr>
          <p:sp>
            <p:nvSpPr>
              <p:cNvPr id="5910" name="Google Shape;5910;p9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1" name="Google Shape;5911;p9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2" name="Google Shape;5912;p9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13" name="Google Shape;5913;p9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
        <p:nvSpPr>
          <p:cNvPr id="5914" name="Google Shape;5914;p91"/>
          <p:cNvSpPr txBox="1"/>
          <p:nvPr/>
        </p:nvSpPr>
        <p:spPr>
          <a:xfrm>
            <a:off x="7200353" y="1519586"/>
            <a:ext cx="4619940" cy="21113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Orchestrated tables can create </a:t>
            </a:r>
            <a:r>
              <a:rPr b="0" i="1" lang="en-US" sz="2800" u="none" cap="none" strike="noStrike">
                <a:solidFill>
                  <a:srgbClr val="CC0000"/>
                </a:solidFill>
                <a:latin typeface="Calibri"/>
                <a:ea typeface="Calibri"/>
                <a:cs typeface="Calibri"/>
                <a:sym typeface="Calibri"/>
              </a:rPr>
              <a:t>network-wide</a:t>
            </a:r>
            <a:r>
              <a:rPr b="0" i="0" lang="en-US" sz="2800" u="none" cap="none" strike="noStrike">
                <a:solidFill>
                  <a:srgbClr val="CC0000"/>
                </a:solidFill>
                <a:latin typeface="Calibri"/>
                <a:ea typeface="Calibri"/>
                <a:cs typeface="Calibri"/>
                <a:sym typeface="Calibri"/>
              </a:rPr>
              <a:t> </a:t>
            </a:r>
            <a:r>
              <a:rPr b="0" i="0" lang="en-US" sz="2800" u="none" cap="none" strike="noStrike">
                <a:solidFill>
                  <a:srgbClr val="000000"/>
                </a:solidFill>
                <a:latin typeface="Calibri"/>
                <a:ea typeface="Calibri"/>
                <a:cs typeface="Calibri"/>
                <a:sym typeface="Calibri"/>
              </a:rPr>
              <a:t>behavior, e.g.,:</a:t>
            </a:r>
            <a:endParaRPr/>
          </a:p>
          <a:p>
            <a:pPr indent="-225425" lvl="0" marL="342900" marR="0" rtl="0" algn="l">
              <a:lnSpc>
                <a:spcPct val="90000"/>
              </a:lnSpc>
              <a:spcBef>
                <a:spcPts val="600"/>
              </a:spcBef>
              <a:spcAft>
                <a:spcPts val="0"/>
              </a:spcAft>
              <a:buClr>
                <a:srgbClr val="0000A8"/>
              </a:buClr>
              <a:buSzPts val="2600"/>
              <a:buFont typeface="Noto Sans Symbols"/>
              <a:buChar char="▪"/>
            </a:pPr>
            <a:r>
              <a:rPr b="0" i="0" lang="en-US" sz="2600" u="none" cap="none" strike="noStrike">
                <a:solidFill>
                  <a:srgbClr val="000000"/>
                </a:solidFill>
                <a:latin typeface="Calibri"/>
                <a:ea typeface="Calibri"/>
                <a:cs typeface="Calibri"/>
                <a:sym typeface="Calibri"/>
              </a:rPr>
              <a:t>datagrams from hosts h5 and h6 should be sent to h3 or h4, via s1 and from there to s2</a:t>
            </a:r>
            <a:endParaRPr/>
          </a:p>
        </p:txBody>
      </p:sp>
      <p:sp>
        <p:nvSpPr>
          <p:cNvPr id="5915" name="Google Shape;5915;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9"/>
                                        </p:tgtEl>
                                        <p:attrNameLst>
                                          <p:attrName>style.visibility</p:attrName>
                                        </p:attrNameLst>
                                      </p:cBhvr>
                                      <p:to>
                                        <p:strVal val="visible"/>
                                      </p:to>
                                    </p:set>
                                    <p:animEffect filter="fade" transition="in">
                                      <p:cBhvr>
                                        <p:cTn dur="500"/>
                                        <p:tgtEl>
                                          <p:spTgt spid="57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1"/>
                                        </p:tgtEl>
                                        <p:attrNameLst>
                                          <p:attrName>style.visibility</p:attrName>
                                        </p:attrNameLst>
                                      </p:cBhvr>
                                      <p:to>
                                        <p:strVal val="visible"/>
                                      </p:to>
                                    </p:set>
                                    <p:animEffect filter="fade" transition="in">
                                      <p:cBhvr>
                                        <p:cTn dur="500"/>
                                        <p:tgtEl>
                                          <p:spTgt spid="5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9"/>
                                        </p:tgtEl>
                                        <p:attrNameLst>
                                          <p:attrName>style.visibility</p:attrName>
                                        </p:attrNameLst>
                                      </p:cBhvr>
                                      <p:to>
                                        <p:strVal val="visible"/>
                                      </p:to>
                                    </p:set>
                                    <p:animEffect filter="fade" transition="in">
                                      <p:cBhvr>
                                        <p:cTn dur="500"/>
                                        <p:tgtEl>
                                          <p:spTgt spid="57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0" name="Shape 5920"/>
        <p:cNvGrpSpPr/>
        <p:nvPr/>
      </p:nvGrpSpPr>
      <p:grpSpPr>
        <a:xfrm>
          <a:off x="0" y="0"/>
          <a:ext cx="0" cy="0"/>
          <a:chOff x="0" y="0"/>
          <a:chExt cx="0" cy="0"/>
        </a:xfrm>
      </p:grpSpPr>
      <p:sp>
        <p:nvSpPr>
          <p:cNvPr id="5921" name="Google Shape;5921;p92"/>
          <p:cNvSpPr txBox="1"/>
          <p:nvPr>
            <p:ph type="title"/>
          </p:nvPr>
        </p:nvSpPr>
        <p:spPr>
          <a:xfrm>
            <a:off x="838199" y="279543"/>
            <a:ext cx="10847119"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9"/>
              </a:buClr>
              <a:buSzPts val="4800"/>
              <a:buFont typeface="Calibri"/>
              <a:buNone/>
            </a:pPr>
            <a:r>
              <a:rPr b="0" lang="en-US" sz="4800">
                <a:solidFill>
                  <a:srgbClr val="000099"/>
                </a:solidFill>
                <a:latin typeface="Calibri"/>
                <a:ea typeface="Calibri"/>
                <a:cs typeface="Calibri"/>
                <a:sym typeface="Calibri"/>
              </a:rPr>
              <a:t>Generalized forwarding: summary</a:t>
            </a:r>
            <a:endParaRPr/>
          </a:p>
        </p:txBody>
      </p:sp>
      <p:sp>
        <p:nvSpPr>
          <p:cNvPr id="5922" name="Google Shape;5922;p92"/>
          <p:cNvSpPr txBox="1"/>
          <p:nvPr/>
        </p:nvSpPr>
        <p:spPr>
          <a:xfrm>
            <a:off x="764316" y="1301513"/>
            <a:ext cx="11259652" cy="4832092"/>
          </a:xfrm>
          <a:prstGeom prst="rect">
            <a:avLst/>
          </a:prstGeom>
          <a:noFill/>
          <a:ln>
            <a:noFill/>
          </a:ln>
        </p:spPr>
        <p:txBody>
          <a:bodyPr anchorCtr="0" anchor="t" bIns="45700" lIns="91425" spcFirstLastPara="1" rIns="91425" wrap="square" tIns="45700">
            <a:spAutoFit/>
          </a:bodyPr>
          <a:lstStyle/>
          <a:p>
            <a:pPr indent="-277813" lvl="0" marL="288925"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CC0000"/>
                </a:solidFill>
                <a:latin typeface="Calibri"/>
                <a:ea typeface="Calibri"/>
                <a:cs typeface="Calibri"/>
                <a:sym typeface="Calibri"/>
              </a:rPr>
              <a:t>“match plus action” </a:t>
            </a:r>
            <a:r>
              <a:rPr b="0" i="0" lang="en-US" sz="2800" u="none" cap="none" strike="noStrike">
                <a:solidFill>
                  <a:srgbClr val="000000"/>
                </a:solidFill>
                <a:latin typeface="Calibri"/>
                <a:ea typeface="Calibri"/>
                <a:cs typeface="Calibri"/>
                <a:sym typeface="Calibri"/>
              </a:rPr>
              <a:t>abstraction: match bits in arriving packet header(s) in any layers, take action</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matching over many fields (link-, network-, transport-layer)</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local actions: drop, forward, modify, or send matched packet to controller</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“program” n</a:t>
            </a:r>
            <a:r>
              <a:rPr b="0" i="1" lang="en-US" sz="2800" u="none" cap="none" strike="noStrike">
                <a:solidFill>
                  <a:srgbClr val="000000"/>
                </a:solidFill>
                <a:latin typeface="Calibri"/>
                <a:ea typeface="Calibri"/>
                <a:cs typeface="Calibri"/>
                <a:sym typeface="Calibri"/>
              </a:rPr>
              <a:t>etwork-wide</a:t>
            </a:r>
            <a:r>
              <a:rPr b="0" i="0" lang="en-US" sz="2800" u="none" cap="none" strike="noStrike">
                <a:solidFill>
                  <a:srgbClr val="000000"/>
                </a:solidFill>
                <a:latin typeface="Calibri"/>
                <a:ea typeface="Calibri"/>
                <a:cs typeface="Calibri"/>
                <a:sym typeface="Calibri"/>
              </a:rPr>
              <a:t> behaviors</a:t>
            </a:r>
            <a:endParaRPr/>
          </a:p>
          <a:p>
            <a:pPr indent="-311150" lvl="0" marL="31115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simple form of “network programmability”</a:t>
            </a:r>
            <a:endParaRPr/>
          </a:p>
          <a:p>
            <a:pPr indent="-292100" lvl="1" marL="914400" marR="0" rtl="0" algn="l">
              <a:lnSpc>
                <a:spcPct val="100000"/>
              </a:lnSpc>
              <a:spcBef>
                <a:spcPts val="0"/>
              </a:spcBef>
              <a:spcAft>
                <a:spcPts val="0"/>
              </a:spcAft>
              <a:buClr>
                <a:srgbClr val="0013A3"/>
              </a:buClr>
              <a:buSzPts val="2800"/>
              <a:buFont typeface="Arial"/>
              <a:buChar char="•"/>
            </a:pPr>
            <a:r>
              <a:rPr b="0" i="0" lang="en-US" sz="2800" u="none" cap="none" strike="noStrike">
                <a:solidFill>
                  <a:srgbClr val="000000"/>
                </a:solidFill>
                <a:latin typeface="Calibri"/>
                <a:ea typeface="Calibri"/>
                <a:cs typeface="Calibri"/>
                <a:sym typeface="Calibri"/>
              </a:rPr>
              <a:t>programmable, per-packet “processing”</a:t>
            </a:r>
            <a:endParaRPr/>
          </a:p>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0000"/>
                </a:solidFill>
                <a:latin typeface="Calibri"/>
                <a:ea typeface="Calibri"/>
                <a:cs typeface="Calibri"/>
                <a:sym typeface="Calibri"/>
              </a:rPr>
              <a:t>historical roots: </a:t>
            </a:r>
            <a:r>
              <a:rPr b="0" i="0" lang="en-US" sz="2800" u="none" cap="none" strike="noStrike">
                <a:solidFill>
                  <a:srgbClr val="000000"/>
                </a:solidFill>
                <a:latin typeface="Calibri"/>
                <a:ea typeface="Calibri"/>
                <a:cs typeface="Calibri"/>
                <a:sym typeface="Calibri"/>
              </a:rPr>
              <a:t>active networking</a:t>
            </a:r>
            <a:endParaRPr/>
          </a:p>
          <a:p>
            <a:pPr indent="-292100" lvl="1" marL="914400" marR="0" rtl="0" algn="l">
              <a:lnSpc>
                <a:spcPct val="100000"/>
              </a:lnSpc>
              <a:spcBef>
                <a:spcPts val="0"/>
              </a:spcBef>
              <a:spcAft>
                <a:spcPts val="0"/>
              </a:spcAft>
              <a:buClr>
                <a:srgbClr val="0013A3"/>
              </a:buClr>
              <a:buSzPts val="2800"/>
              <a:buFont typeface="Arial"/>
              <a:buChar char="•"/>
            </a:pPr>
            <a:r>
              <a:rPr b="0" i="1" lang="en-US" sz="2800" u="none" cap="none" strike="noStrike">
                <a:solidFill>
                  <a:srgbClr val="000000"/>
                </a:solidFill>
                <a:latin typeface="Calibri"/>
                <a:ea typeface="Calibri"/>
                <a:cs typeface="Calibri"/>
                <a:sym typeface="Calibri"/>
              </a:rPr>
              <a:t>today: </a:t>
            </a:r>
            <a:r>
              <a:rPr b="0" i="0" lang="en-US" sz="2800" u="none" cap="none" strike="noStrike">
                <a:solidFill>
                  <a:srgbClr val="000000"/>
                </a:solidFill>
                <a:latin typeface="Calibri"/>
                <a:ea typeface="Calibri"/>
                <a:cs typeface="Calibri"/>
                <a:sym typeface="Calibri"/>
              </a:rPr>
              <a:t>more generalized programming: </a:t>
            </a:r>
            <a:endParaRPr/>
          </a:p>
          <a:p>
            <a:pPr indent="0" lvl="1" marL="622300" marR="0" rtl="0" algn="l">
              <a:lnSpc>
                <a:spcPct val="100000"/>
              </a:lnSpc>
              <a:spcBef>
                <a:spcPts val="0"/>
              </a:spcBef>
              <a:spcAft>
                <a:spcPts val="0"/>
              </a:spcAft>
              <a:buClr>
                <a:srgbClr val="0013A3"/>
              </a:buClr>
              <a:buSzPts val="2800"/>
              <a:buFont typeface="Calibri"/>
              <a:buNone/>
            </a:pPr>
            <a:r>
              <a:rPr b="0" i="0" lang="en-US" sz="2800" u="none" cap="none" strike="noStrike">
                <a:solidFill>
                  <a:srgbClr val="000000"/>
                </a:solidFill>
                <a:latin typeface="Calibri"/>
                <a:ea typeface="Calibri"/>
                <a:cs typeface="Calibri"/>
                <a:sym typeface="Calibri"/>
              </a:rPr>
              <a:t>    P4 (see p4.org).</a:t>
            </a:r>
            <a:endParaRPr b="0" i="0" sz="2800" u="none" cap="none" strike="noStrike">
              <a:solidFill>
                <a:srgbClr val="000000"/>
              </a:solidFill>
              <a:latin typeface="Calibri"/>
              <a:ea typeface="Calibri"/>
              <a:cs typeface="Calibri"/>
              <a:sym typeface="Calibri"/>
            </a:endParaRPr>
          </a:p>
        </p:txBody>
      </p:sp>
      <p:sp>
        <p:nvSpPr>
          <p:cNvPr id="5923" name="Google Shape;5923;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0" st="0"/>
                                            </p:txEl>
                                          </p:spTgt>
                                        </p:tgtEl>
                                        <p:attrNameLst>
                                          <p:attrName>style.visibility</p:attrName>
                                        </p:attrNameLst>
                                      </p:cBhvr>
                                      <p:to>
                                        <p:strVal val="visible"/>
                                      </p:to>
                                    </p:set>
                                    <p:animEffect filter="fade" transition="in">
                                      <p:cBhvr>
                                        <p:cTn dur="500"/>
                                        <p:tgtEl>
                                          <p:spTgt spid="59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1" st="1"/>
                                            </p:txEl>
                                          </p:spTgt>
                                        </p:tgtEl>
                                        <p:attrNameLst>
                                          <p:attrName>style.visibility</p:attrName>
                                        </p:attrNameLst>
                                      </p:cBhvr>
                                      <p:to>
                                        <p:strVal val="visible"/>
                                      </p:to>
                                    </p:set>
                                    <p:animEffect filter="fade" transition="in">
                                      <p:cBhvr>
                                        <p:cTn dur="500"/>
                                        <p:tgtEl>
                                          <p:spTgt spid="59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2" st="2"/>
                                            </p:txEl>
                                          </p:spTgt>
                                        </p:tgtEl>
                                        <p:attrNameLst>
                                          <p:attrName>style.visibility</p:attrName>
                                        </p:attrNameLst>
                                      </p:cBhvr>
                                      <p:to>
                                        <p:strVal val="visible"/>
                                      </p:to>
                                    </p:set>
                                    <p:animEffect filter="fade" transition="in">
                                      <p:cBhvr>
                                        <p:cTn dur="500"/>
                                        <p:tgtEl>
                                          <p:spTgt spid="59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3" st="3"/>
                                            </p:txEl>
                                          </p:spTgt>
                                        </p:tgtEl>
                                        <p:attrNameLst>
                                          <p:attrName>style.visibility</p:attrName>
                                        </p:attrNameLst>
                                      </p:cBhvr>
                                      <p:to>
                                        <p:strVal val="visible"/>
                                      </p:to>
                                    </p:set>
                                    <p:animEffect filter="fade" transition="in">
                                      <p:cBhvr>
                                        <p:cTn dur="500"/>
                                        <p:tgtEl>
                                          <p:spTgt spid="59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4" st="4"/>
                                            </p:txEl>
                                          </p:spTgt>
                                        </p:tgtEl>
                                        <p:attrNameLst>
                                          <p:attrName>style.visibility</p:attrName>
                                        </p:attrNameLst>
                                      </p:cBhvr>
                                      <p:to>
                                        <p:strVal val="visible"/>
                                      </p:to>
                                    </p:set>
                                    <p:animEffect filter="fade" transition="in">
                                      <p:cBhvr>
                                        <p:cTn dur="500"/>
                                        <p:tgtEl>
                                          <p:spTgt spid="59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5" st="5"/>
                                            </p:txEl>
                                          </p:spTgt>
                                        </p:tgtEl>
                                        <p:attrNameLst>
                                          <p:attrName>style.visibility</p:attrName>
                                        </p:attrNameLst>
                                      </p:cBhvr>
                                      <p:to>
                                        <p:strVal val="visible"/>
                                      </p:to>
                                    </p:set>
                                    <p:animEffect filter="fade" transition="in">
                                      <p:cBhvr>
                                        <p:cTn dur="500"/>
                                        <p:tgtEl>
                                          <p:spTgt spid="59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6" st="6"/>
                                            </p:txEl>
                                          </p:spTgt>
                                        </p:tgtEl>
                                        <p:attrNameLst>
                                          <p:attrName>style.visibility</p:attrName>
                                        </p:attrNameLst>
                                      </p:cBhvr>
                                      <p:to>
                                        <p:strVal val="visible"/>
                                      </p:to>
                                    </p:set>
                                    <p:animEffect filter="fade" transition="in">
                                      <p:cBhvr>
                                        <p:cTn dur="500"/>
                                        <p:tgtEl>
                                          <p:spTgt spid="59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7" st="7"/>
                                            </p:txEl>
                                          </p:spTgt>
                                        </p:tgtEl>
                                        <p:attrNameLst>
                                          <p:attrName>style.visibility</p:attrName>
                                        </p:attrNameLst>
                                      </p:cBhvr>
                                      <p:to>
                                        <p:strVal val="visible"/>
                                      </p:to>
                                    </p:set>
                                    <p:animEffect filter="fade" transition="in">
                                      <p:cBhvr>
                                        <p:cTn dur="500"/>
                                        <p:tgtEl>
                                          <p:spTgt spid="59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22">
                                            <p:txEl>
                                              <p:pRg end="8" st="8"/>
                                            </p:txEl>
                                          </p:spTgt>
                                        </p:tgtEl>
                                        <p:attrNameLst>
                                          <p:attrName>style.visibility</p:attrName>
                                        </p:attrNameLst>
                                      </p:cBhvr>
                                      <p:to>
                                        <p:strVal val="visible"/>
                                      </p:to>
                                    </p:set>
                                    <p:animEffect filter="fade" transition="in">
                                      <p:cBhvr>
                                        <p:cTn dur="500"/>
                                        <p:tgtEl>
                                          <p:spTgt spid="592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8" name="Shape 5928"/>
        <p:cNvGrpSpPr/>
        <p:nvPr/>
      </p:nvGrpSpPr>
      <p:grpSpPr>
        <a:xfrm>
          <a:off x="0" y="0"/>
          <a:ext cx="0" cy="0"/>
          <a:chOff x="0" y="0"/>
          <a:chExt cx="0" cy="0"/>
        </a:xfrm>
      </p:grpSpPr>
      <p:sp>
        <p:nvSpPr>
          <p:cNvPr id="5929" name="Google Shape;5929;p93"/>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layer: “data plane” roadmap</a:t>
            </a:r>
            <a:endParaRPr sz="4400"/>
          </a:p>
        </p:txBody>
      </p:sp>
      <p:pic>
        <p:nvPicPr>
          <p:cNvPr descr="A train crossing a bridge over a body of water&#10;&#10;Description automatically generated" id="5930" name="Google Shape;5930;p93"/>
          <p:cNvPicPr preferRelativeResize="0"/>
          <p:nvPr/>
        </p:nvPicPr>
        <p:blipFill rotWithShape="1">
          <a:blip r:embed="rId3">
            <a:alphaModFix/>
          </a:blip>
          <a:srcRect b="0" l="0" r="0" t="0"/>
          <a:stretch/>
        </p:blipFill>
        <p:spPr>
          <a:xfrm>
            <a:off x="8015288" y="1379196"/>
            <a:ext cx="3102316" cy="2326737"/>
          </a:xfrm>
          <a:prstGeom prst="rect">
            <a:avLst/>
          </a:prstGeom>
          <a:noFill/>
          <a:ln>
            <a:noFill/>
          </a:ln>
        </p:spPr>
      </p:pic>
      <p:sp>
        <p:nvSpPr>
          <p:cNvPr id="5931" name="Google Shape;5931;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5932" name="Google Shape;5932;p93"/>
          <p:cNvSpPr txBox="1"/>
          <p:nvPr/>
        </p:nvSpPr>
        <p:spPr>
          <a:xfrm>
            <a:off x="755191" y="1922053"/>
            <a:ext cx="6618109" cy="3461321"/>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Network layer: overview</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What’s inside a router</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IP: the Internet Protocol</a:t>
            </a:r>
            <a:endParaRPr/>
          </a:p>
          <a:p>
            <a:pPr indent="-277813" lvl="0" marL="407988" marR="0" rtl="0" algn="l">
              <a:lnSpc>
                <a:spcPct val="90000"/>
              </a:lnSpc>
              <a:spcBef>
                <a:spcPts val="600"/>
              </a:spcBef>
              <a:spcAft>
                <a:spcPts val="0"/>
              </a:spcAft>
              <a:buClr>
                <a:srgbClr val="BFBFBF"/>
              </a:buClr>
              <a:buSzPts val="3200"/>
              <a:buFont typeface="Noto Sans Symbols"/>
              <a:buChar char="▪"/>
            </a:pPr>
            <a:r>
              <a:rPr b="0" i="0" lang="en-US" sz="3200" u="none" cap="none" strike="noStrike">
                <a:solidFill>
                  <a:srgbClr val="BFBFBF"/>
                </a:solidFill>
                <a:latin typeface="Calibri"/>
                <a:ea typeface="Calibri"/>
                <a:cs typeface="Calibri"/>
                <a:sym typeface="Calibri"/>
              </a:rPr>
              <a:t>Generalized Forwarding</a:t>
            </a:r>
            <a:endParaRPr/>
          </a:p>
          <a:p>
            <a:pPr indent="-285750" lvl="0" marL="403225" marR="0" rtl="0" algn="l">
              <a:lnSpc>
                <a:spcPct val="90000"/>
              </a:lnSpc>
              <a:spcBef>
                <a:spcPts val="800"/>
              </a:spcBef>
              <a:spcAft>
                <a:spcPts val="0"/>
              </a:spcAft>
              <a:buClr>
                <a:srgbClr val="0013A3"/>
              </a:buClr>
              <a:buSzPts val="3600"/>
              <a:buFont typeface="Noto Sans Symbols"/>
              <a:buChar char="▪"/>
            </a:pPr>
            <a:r>
              <a:rPr b="0" i="0" lang="en-US" sz="3600" u="none" cap="none" strike="noStrike">
                <a:solidFill>
                  <a:schemeClr val="dk1"/>
                </a:solidFill>
                <a:latin typeface="Calibri"/>
                <a:ea typeface="Calibri"/>
                <a:cs typeface="Calibri"/>
                <a:sym typeface="Calibri"/>
              </a:rPr>
              <a:t>Middleboxes</a:t>
            </a:r>
            <a:endParaRPr/>
          </a:p>
          <a:p>
            <a:pPr indent="-285750" lvl="1" marL="746125" marR="0" rtl="0" algn="l">
              <a:lnSpc>
                <a:spcPct val="90000"/>
              </a:lnSpc>
              <a:spcBef>
                <a:spcPts val="800"/>
              </a:spcBef>
              <a:spcAft>
                <a:spcPts val="0"/>
              </a:spcAft>
              <a:buClr>
                <a:srgbClr val="0013A3"/>
              </a:buClr>
              <a:buSzPts val="2800"/>
              <a:buFont typeface="Arial"/>
              <a:buChar char="•"/>
            </a:pPr>
            <a:r>
              <a:rPr b="0" i="0" lang="en-US" sz="2800" u="none" cap="none" strike="noStrike">
                <a:solidFill>
                  <a:schemeClr val="dk1"/>
                </a:solidFill>
                <a:latin typeface="Calibri"/>
                <a:ea typeface="Calibri"/>
                <a:cs typeface="Calibri"/>
                <a:sym typeface="Calibri"/>
              </a:rPr>
              <a:t>middlebox functions</a:t>
            </a:r>
            <a:endParaRPr/>
          </a:p>
          <a:p>
            <a:pPr indent="-285750" lvl="1" marL="746125" marR="0" rtl="0" algn="l">
              <a:lnSpc>
                <a:spcPct val="90000"/>
              </a:lnSpc>
              <a:spcBef>
                <a:spcPts val="800"/>
              </a:spcBef>
              <a:spcAft>
                <a:spcPts val="0"/>
              </a:spcAft>
              <a:buClr>
                <a:srgbClr val="0013A3"/>
              </a:buClr>
              <a:buSzPts val="2800"/>
              <a:buFont typeface="Arial"/>
              <a:buChar char="•"/>
            </a:pPr>
            <a:r>
              <a:rPr b="0" i="0" lang="en-US" sz="2800" u="none" cap="none" strike="noStrike">
                <a:solidFill>
                  <a:schemeClr val="dk1"/>
                </a:solidFill>
                <a:latin typeface="Calibri"/>
                <a:ea typeface="Calibri"/>
                <a:cs typeface="Calibri"/>
                <a:sym typeface="Calibri"/>
              </a:rPr>
              <a:t>evolution, architectural principles of the Internet</a:t>
            </a:r>
            <a:endParaRPr/>
          </a:p>
          <a:p>
            <a:pPr indent="-74612" lvl="0" marL="407988" marR="0" rtl="0" algn="l">
              <a:lnSpc>
                <a:spcPct val="90000"/>
              </a:lnSpc>
              <a:spcBef>
                <a:spcPts val="600"/>
              </a:spcBef>
              <a:spcAft>
                <a:spcPts val="0"/>
              </a:spcAft>
              <a:buClr>
                <a:srgbClr val="BFBFBF"/>
              </a:buClr>
              <a:buSzPts val="3200"/>
              <a:buFont typeface="Noto Sans Symbols"/>
              <a:buNone/>
            </a:pPr>
            <a:r>
              <a:t/>
            </a:r>
            <a:endParaRPr b="0" i="0" sz="3200" u="none" cap="none" strike="noStrike">
              <a:solidFill>
                <a:srgbClr val="BFBFBF"/>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7" name="Shape 5937"/>
        <p:cNvGrpSpPr/>
        <p:nvPr/>
      </p:nvGrpSpPr>
      <p:grpSpPr>
        <a:xfrm>
          <a:off x="0" y="0"/>
          <a:ext cx="0" cy="0"/>
          <a:chOff x="0" y="0"/>
          <a:chExt cx="0" cy="0"/>
        </a:xfrm>
      </p:grpSpPr>
      <p:sp>
        <p:nvSpPr>
          <p:cNvPr id="5938" name="Google Shape;5938;p94"/>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Middleboxes</a:t>
            </a:r>
            <a:endParaRPr/>
          </a:p>
        </p:txBody>
      </p:sp>
      <p:sp>
        <p:nvSpPr>
          <p:cNvPr id="5939" name="Google Shape;5939;p94"/>
          <p:cNvSpPr txBox="1"/>
          <p:nvPr/>
        </p:nvSpPr>
        <p:spPr>
          <a:xfrm>
            <a:off x="2023441" y="2348120"/>
            <a:ext cx="8563597"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“any intermediary box performing functions apart from normal, standard functions of an IP router on the data path between a source host and destination host”</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40" name="Google Shape;5940;p94"/>
          <p:cNvSpPr/>
          <p:nvPr/>
        </p:nvSpPr>
        <p:spPr>
          <a:xfrm>
            <a:off x="1756329" y="1865864"/>
            <a:ext cx="9187896" cy="2920450"/>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1" name="Google Shape;5941;p94"/>
          <p:cNvSpPr txBox="1"/>
          <p:nvPr/>
        </p:nvSpPr>
        <p:spPr>
          <a:xfrm>
            <a:off x="2208971" y="1685512"/>
            <a:ext cx="3000437"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Middlebox (RFC  3234)</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5" name="Shape 5945"/>
        <p:cNvGrpSpPr/>
        <p:nvPr/>
      </p:nvGrpSpPr>
      <p:grpSpPr>
        <a:xfrm>
          <a:off x="0" y="0"/>
          <a:ext cx="0" cy="0"/>
          <a:chOff x="0" y="0"/>
          <a:chExt cx="0" cy="0"/>
        </a:xfrm>
      </p:grpSpPr>
      <p:sp>
        <p:nvSpPr>
          <p:cNvPr id="5946" name="Google Shape;5946;p9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Middleboxes everywhere!</a:t>
            </a:r>
            <a:endParaRPr/>
          </a:p>
        </p:txBody>
      </p:sp>
      <p:sp>
        <p:nvSpPr>
          <p:cNvPr id="5947" name="Google Shape;5947;p95"/>
          <p:cNvSpPr/>
          <p:nvPr/>
        </p:nvSpPr>
        <p:spPr>
          <a:xfrm>
            <a:off x="5738405" y="3238056"/>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48" name="Google Shape;5948;p95"/>
          <p:cNvSpPr/>
          <p:nvPr/>
        </p:nvSpPr>
        <p:spPr>
          <a:xfrm>
            <a:off x="4037567" y="2012012"/>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949" name="Google Shape;5949;p95"/>
          <p:cNvGrpSpPr/>
          <p:nvPr/>
        </p:nvGrpSpPr>
        <p:grpSpPr>
          <a:xfrm>
            <a:off x="3958567" y="3461529"/>
            <a:ext cx="1458912" cy="933450"/>
            <a:chOff x="2889" y="1631"/>
            <a:chExt cx="980" cy="743"/>
          </a:xfrm>
        </p:grpSpPr>
        <p:sp>
          <p:nvSpPr>
            <p:cNvPr id="5950" name="Google Shape;5950;p95"/>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5951" name="Google Shape;5951;p95"/>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grpSp>
      <p:sp>
        <p:nvSpPr>
          <p:cNvPr id="5952" name="Google Shape;5952;p95"/>
          <p:cNvSpPr/>
          <p:nvPr/>
        </p:nvSpPr>
        <p:spPr>
          <a:xfrm>
            <a:off x="4465618" y="4855412"/>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953" name="Google Shape;5953;p95"/>
          <p:cNvSpPr txBox="1"/>
          <p:nvPr/>
        </p:nvSpPr>
        <p:spPr>
          <a:xfrm>
            <a:off x="4060125" y="5952053"/>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400"/>
              <a:buFont typeface="Noto Sans Symbols"/>
              <a:buNone/>
            </a:pPr>
            <a:r>
              <a:rPr b="0" i="0" lang="en-US" sz="1400" u="none" cap="none" strike="noStrike">
                <a:solidFill>
                  <a:srgbClr val="000000"/>
                </a:solidFill>
                <a:latin typeface="Calibri"/>
                <a:ea typeface="Calibri"/>
                <a:cs typeface="Calibri"/>
                <a:sym typeface="Calibri"/>
              </a:rPr>
              <a:t>          network</a:t>
            </a:r>
            <a:endParaRPr/>
          </a:p>
        </p:txBody>
      </p:sp>
      <p:sp>
        <p:nvSpPr>
          <p:cNvPr id="5954" name="Google Shape;5954;p95"/>
          <p:cNvSpPr/>
          <p:nvPr/>
        </p:nvSpPr>
        <p:spPr>
          <a:xfrm>
            <a:off x="6975363" y="3351818"/>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8999">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955" name="Google Shape;5955;p95"/>
          <p:cNvGrpSpPr/>
          <p:nvPr/>
        </p:nvGrpSpPr>
        <p:grpSpPr>
          <a:xfrm>
            <a:off x="7590917" y="4100328"/>
            <a:ext cx="687393" cy="721548"/>
            <a:chOff x="5203089" y="1751190"/>
            <a:chExt cx="858331" cy="662414"/>
          </a:xfrm>
        </p:grpSpPr>
        <p:sp>
          <p:nvSpPr>
            <p:cNvPr id="5956" name="Google Shape;5956;p9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57" name="Google Shape;5957;p9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958" name="Google Shape;5958;p9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959" name="Google Shape;5959;p9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960" name="Google Shape;5960;p9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961" name="Google Shape;5961;p9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962" name="Google Shape;5962;p9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963" name="Google Shape;5963;p9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964" name="Google Shape;5964;p95"/>
          <p:cNvGrpSpPr/>
          <p:nvPr/>
        </p:nvGrpSpPr>
        <p:grpSpPr>
          <a:xfrm>
            <a:off x="7524388" y="3366449"/>
            <a:ext cx="594613" cy="648336"/>
            <a:chOff x="5203089" y="1751190"/>
            <a:chExt cx="858331" cy="662414"/>
          </a:xfrm>
        </p:grpSpPr>
        <p:sp>
          <p:nvSpPr>
            <p:cNvPr id="5965" name="Google Shape;5965;p9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66" name="Google Shape;5966;p9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967" name="Google Shape;5967;p9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968" name="Google Shape;5968;p9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969" name="Google Shape;5969;p9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970" name="Google Shape;5970;p9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971" name="Google Shape;5971;p9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972" name="Google Shape;5972;p9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5973" name="Google Shape;5973;p95"/>
          <p:cNvSpPr/>
          <p:nvPr/>
        </p:nvSpPr>
        <p:spPr>
          <a:xfrm>
            <a:off x="6294030" y="1954320"/>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74" name="Google Shape;5974;p95"/>
          <p:cNvSpPr txBox="1"/>
          <p:nvPr/>
        </p:nvSpPr>
        <p:spPr>
          <a:xfrm>
            <a:off x="6180418" y="2023473"/>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national or global ISP</a:t>
            </a:r>
            <a:endParaRPr/>
          </a:p>
        </p:txBody>
      </p:sp>
      <p:sp>
        <p:nvSpPr>
          <p:cNvPr id="5975" name="Google Shape;5975;p95"/>
          <p:cNvSpPr/>
          <p:nvPr/>
        </p:nvSpPr>
        <p:spPr>
          <a:xfrm>
            <a:off x="6032285" y="3850186"/>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976" name="Google Shape;5976;p95"/>
          <p:cNvSpPr txBox="1"/>
          <p:nvPr/>
        </p:nvSpPr>
        <p:spPr>
          <a:xfrm>
            <a:off x="7670984" y="4850215"/>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network</a:t>
            </a:r>
            <a:endParaRPr/>
          </a:p>
        </p:txBody>
      </p:sp>
      <p:cxnSp>
        <p:nvCxnSpPr>
          <p:cNvPr id="5977" name="Google Shape;5977;p95"/>
          <p:cNvCxnSpPr/>
          <p:nvPr/>
        </p:nvCxnSpPr>
        <p:spPr>
          <a:xfrm rot="10800000">
            <a:off x="7313137" y="3752403"/>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5978" name="Google Shape;5978;p95"/>
          <p:cNvCxnSpPr/>
          <p:nvPr/>
        </p:nvCxnSpPr>
        <p:spPr>
          <a:xfrm rot="10800000">
            <a:off x="7414052" y="3812962"/>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5979" name="Google Shape;5979;p95"/>
          <p:cNvCxnSpPr/>
          <p:nvPr/>
        </p:nvCxnSpPr>
        <p:spPr>
          <a:xfrm flipH="1" rot="10800000">
            <a:off x="7390114" y="3805699"/>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5980" name="Google Shape;5980;p95"/>
          <p:cNvCxnSpPr/>
          <p:nvPr/>
        </p:nvCxnSpPr>
        <p:spPr>
          <a:xfrm rot="10800000">
            <a:off x="7323991" y="3767174"/>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5981" name="Google Shape;5981;p95"/>
          <p:cNvCxnSpPr/>
          <p:nvPr/>
        </p:nvCxnSpPr>
        <p:spPr>
          <a:xfrm rot="10800000">
            <a:off x="7303837" y="4243920"/>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5982" name="Google Shape;5982;p95"/>
          <p:cNvCxnSpPr/>
          <p:nvPr/>
        </p:nvCxnSpPr>
        <p:spPr>
          <a:xfrm rot="10800000">
            <a:off x="6648412" y="4260020"/>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983" name="Google Shape;5983;p95"/>
          <p:cNvCxnSpPr/>
          <p:nvPr/>
        </p:nvCxnSpPr>
        <p:spPr>
          <a:xfrm rot="10800000">
            <a:off x="5972833" y="4260020"/>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984" name="Google Shape;5984;p95"/>
          <p:cNvCxnSpPr/>
          <p:nvPr/>
        </p:nvCxnSpPr>
        <p:spPr>
          <a:xfrm flipH="1">
            <a:off x="6030085" y="3679950"/>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5985" name="Google Shape;5985;p95"/>
          <p:cNvCxnSpPr/>
          <p:nvPr/>
        </p:nvCxnSpPr>
        <p:spPr>
          <a:xfrm>
            <a:off x="6486286" y="3679950"/>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5986" name="Google Shape;5986;p95"/>
          <p:cNvCxnSpPr/>
          <p:nvPr/>
        </p:nvCxnSpPr>
        <p:spPr>
          <a:xfrm>
            <a:off x="6890885" y="2926970"/>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5987" name="Google Shape;5987;p95"/>
          <p:cNvCxnSpPr/>
          <p:nvPr/>
        </p:nvCxnSpPr>
        <p:spPr>
          <a:xfrm flipH="1">
            <a:off x="6551936" y="2867291"/>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5988" name="Google Shape;5988;p95"/>
          <p:cNvGrpSpPr/>
          <p:nvPr/>
        </p:nvGrpSpPr>
        <p:grpSpPr>
          <a:xfrm>
            <a:off x="4610470" y="2299603"/>
            <a:ext cx="3283852" cy="3640284"/>
            <a:chOff x="7881336" y="2104198"/>
            <a:chExt cx="3283852" cy="3640284"/>
          </a:xfrm>
        </p:grpSpPr>
        <p:cxnSp>
          <p:nvCxnSpPr>
            <p:cNvPr id="5989" name="Google Shape;5989;p95"/>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5990" name="Google Shape;5990;p95"/>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5991" name="Google Shape;5991;p95"/>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5992" name="Google Shape;5992;p95"/>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5993" name="Google Shape;5993;p95"/>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5994" name="Google Shape;5994;p95"/>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5995" name="Google Shape;5995;p95"/>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5996" name="Google Shape;5996;p95"/>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5997" name="Google Shape;5997;p95"/>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5998" name="Google Shape;5998;p95"/>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5999" name="Google Shape;5999;p95"/>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000" name="Google Shape;6000;p95"/>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6001" name="Google Shape;6001;p95"/>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6002" name="Google Shape;6002;p95"/>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6003" name="Google Shape;6003;p95"/>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6004" name="Google Shape;6004;p95"/>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6005" name="Google Shape;6005;p95"/>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6006" name="Google Shape;6006;p95"/>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6007" name="Google Shape;6007;p95"/>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6008" name="Google Shape;6008;p95"/>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6009" name="Google Shape;6009;p95"/>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6010" name="Google Shape;6010;p95"/>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6011" name="Google Shape;6011;p95"/>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6012" name="Google Shape;6012;p95"/>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6013" name="Google Shape;6013;p95"/>
          <p:cNvPicPr preferRelativeResize="0"/>
          <p:nvPr/>
        </p:nvPicPr>
        <p:blipFill rotWithShape="1">
          <a:blip r:embed="rId3">
            <a:alphaModFix/>
          </a:blip>
          <a:srcRect b="0" l="0" r="0" t="0"/>
          <a:stretch/>
        </p:blipFill>
        <p:spPr>
          <a:xfrm>
            <a:off x="4315455" y="3986208"/>
            <a:ext cx="506412" cy="106009"/>
          </a:xfrm>
          <a:prstGeom prst="rect">
            <a:avLst/>
          </a:prstGeom>
          <a:noFill/>
          <a:ln>
            <a:noFill/>
          </a:ln>
        </p:spPr>
      </p:pic>
      <p:pic>
        <p:nvPicPr>
          <p:cNvPr descr="antenna_radiation_stylized" id="6014" name="Google Shape;6014;p95"/>
          <p:cNvPicPr preferRelativeResize="0"/>
          <p:nvPr/>
        </p:nvPicPr>
        <p:blipFill rotWithShape="1">
          <a:blip r:embed="rId4">
            <a:alphaModFix/>
          </a:blip>
          <a:srcRect b="0" l="0" r="0" t="0"/>
          <a:stretch/>
        </p:blipFill>
        <p:spPr>
          <a:xfrm>
            <a:off x="5995290" y="5653216"/>
            <a:ext cx="452014" cy="95159"/>
          </a:xfrm>
          <a:prstGeom prst="rect">
            <a:avLst/>
          </a:prstGeom>
          <a:noFill/>
          <a:ln>
            <a:noFill/>
          </a:ln>
        </p:spPr>
      </p:pic>
      <p:cxnSp>
        <p:nvCxnSpPr>
          <p:cNvPr id="6015" name="Google Shape;6015;p95"/>
          <p:cNvCxnSpPr/>
          <p:nvPr/>
        </p:nvCxnSpPr>
        <p:spPr>
          <a:xfrm>
            <a:off x="5109681" y="2907587"/>
            <a:ext cx="151280" cy="81182"/>
          </a:xfrm>
          <a:prstGeom prst="straightConnector1">
            <a:avLst/>
          </a:prstGeom>
          <a:noFill/>
          <a:ln cap="flat" cmpd="sng" w="9525">
            <a:solidFill>
              <a:schemeClr val="dk1"/>
            </a:solidFill>
            <a:prstDash val="solid"/>
            <a:round/>
            <a:headEnd len="med" w="med" type="none"/>
            <a:tailEnd len="med" w="med" type="none"/>
          </a:ln>
        </p:spPr>
      </p:cxnSp>
      <p:pic>
        <p:nvPicPr>
          <p:cNvPr descr="access_point_stylized_small" id="6016" name="Google Shape;6016;p95"/>
          <p:cNvPicPr preferRelativeResize="0"/>
          <p:nvPr/>
        </p:nvPicPr>
        <p:blipFill rotWithShape="1">
          <a:blip r:embed="rId5">
            <a:alphaModFix/>
          </a:blip>
          <a:srcRect b="0" l="0" r="0" t="0"/>
          <a:stretch/>
        </p:blipFill>
        <p:spPr>
          <a:xfrm>
            <a:off x="4367099" y="4034177"/>
            <a:ext cx="370169" cy="306751"/>
          </a:xfrm>
          <a:prstGeom prst="rect">
            <a:avLst/>
          </a:prstGeom>
          <a:noFill/>
          <a:ln>
            <a:noFill/>
          </a:ln>
        </p:spPr>
      </p:pic>
      <p:pic>
        <p:nvPicPr>
          <p:cNvPr descr="access_point_stylized_small" id="6017" name="Google Shape;6017;p95"/>
          <p:cNvPicPr preferRelativeResize="0"/>
          <p:nvPr/>
        </p:nvPicPr>
        <p:blipFill rotWithShape="1">
          <a:blip r:embed="rId5">
            <a:alphaModFix/>
          </a:blip>
          <a:srcRect b="0" l="0" r="0" t="0"/>
          <a:stretch/>
        </p:blipFill>
        <p:spPr>
          <a:xfrm>
            <a:off x="6043827" y="5696510"/>
            <a:ext cx="380935" cy="317464"/>
          </a:xfrm>
          <a:prstGeom prst="rect">
            <a:avLst/>
          </a:prstGeom>
          <a:noFill/>
          <a:ln>
            <a:noFill/>
          </a:ln>
        </p:spPr>
      </p:pic>
      <p:grpSp>
        <p:nvGrpSpPr>
          <p:cNvPr id="6018" name="Google Shape;6018;p95"/>
          <p:cNvGrpSpPr/>
          <p:nvPr/>
        </p:nvGrpSpPr>
        <p:grpSpPr>
          <a:xfrm>
            <a:off x="6602582" y="5511315"/>
            <a:ext cx="309740" cy="190838"/>
            <a:chOff x="3668110" y="2448910"/>
            <a:chExt cx="3794234" cy="2165130"/>
          </a:xfrm>
        </p:grpSpPr>
        <p:sp>
          <p:nvSpPr>
            <p:cNvPr id="6019" name="Google Shape;6019;p9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0" name="Google Shape;6020;p9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021" name="Google Shape;6021;p95"/>
            <p:cNvGrpSpPr/>
            <p:nvPr/>
          </p:nvGrpSpPr>
          <p:grpSpPr>
            <a:xfrm>
              <a:off x="3941378" y="2603243"/>
              <a:ext cx="3202061" cy="1066110"/>
              <a:chOff x="7939341" y="3037317"/>
              <a:chExt cx="897649" cy="353919"/>
            </a:xfrm>
          </p:grpSpPr>
          <p:sp>
            <p:nvSpPr>
              <p:cNvPr id="6022" name="Google Shape;6022;p9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3" name="Google Shape;6023;p9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4" name="Google Shape;6024;p9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25" name="Google Shape;6025;p9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26" name="Google Shape;6026;p95"/>
          <p:cNvGrpSpPr/>
          <p:nvPr/>
        </p:nvGrpSpPr>
        <p:grpSpPr>
          <a:xfrm>
            <a:off x="5429836" y="5139698"/>
            <a:ext cx="393760" cy="218578"/>
            <a:chOff x="7493876" y="2774731"/>
            <a:chExt cx="1481958" cy="894622"/>
          </a:xfrm>
        </p:grpSpPr>
        <p:sp>
          <p:nvSpPr>
            <p:cNvPr id="6027" name="Google Shape;602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28" name="Google Shape;602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29" name="Google Shape;6029;p95"/>
            <p:cNvGrpSpPr/>
            <p:nvPr/>
          </p:nvGrpSpPr>
          <p:grpSpPr>
            <a:xfrm>
              <a:off x="7713663" y="2848339"/>
              <a:ext cx="1042107" cy="425543"/>
              <a:chOff x="7786941" y="2884917"/>
              <a:chExt cx="897649" cy="353919"/>
            </a:xfrm>
          </p:grpSpPr>
          <p:sp>
            <p:nvSpPr>
              <p:cNvPr id="6030" name="Google Shape;603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1" name="Google Shape;603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2" name="Google Shape;603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3" name="Google Shape;603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34" name="Google Shape;6034;p95"/>
          <p:cNvGrpSpPr/>
          <p:nvPr/>
        </p:nvGrpSpPr>
        <p:grpSpPr>
          <a:xfrm>
            <a:off x="5064737" y="5366711"/>
            <a:ext cx="309740" cy="190838"/>
            <a:chOff x="3668110" y="2448910"/>
            <a:chExt cx="3794234" cy="2165130"/>
          </a:xfrm>
        </p:grpSpPr>
        <p:sp>
          <p:nvSpPr>
            <p:cNvPr id="6035" name="Google Shape;6035;p9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6" name="Google Shape;6036;p9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037" name="Google Shape;6037;p95"/>
            <p:cNvGrpSpPr/>
            <p:nvPr/>
          </p:nvGrpSpPr>
          <p:grpSpPr>
            <a:xfrm>
              <a:off x="3941378" y="2603243"/>
              <a:ext cx="3202061" cy="1066110"/>
              <a:chOff x="7939341" y="3037317"/>
              <a:chExt cx="897649" cy="353919"/>
            </a:xfrm>
          </p:grpSpPr>
          <p:sp>
            <p:nvSpPr>
              <p:cNvPr id="6038" name="Google Shape;6038;p9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39" name="Google Shape;6039;p9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0" name="Google Shape;6040;p9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1" name="Google Shape;6041;p9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42" name="Google Shape;6042;p95"/>
          <p:cNvGrpSpPr/>
          <p:nvPr/>
        </p:nvGrpSpPr>
        <p:grpSpPr>
          <a:xfrm>
            <a:off x="5189619" y="2977737"/>
            <a:ext cx="353678" cy="168275"/>
            <a:chOff x="7493876" y="2774731"/>
            <a:chExt cx="1481958" cy="894622"/>
          </a:xfrm>
        </p:grpSpPr>
        <p:sp>
          <p:nvSpPr>
            <p:cNvPr id="6043" name="Google Shape;6043;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44" name="Google Shape;6044;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45" name="Google Shape;6045;p95"/>
            <p:cNvGrpSpPr/>
            <p:nvPr/>
          </p:nvGrpSpPr>
          <p:grpSpPr>
            <a:xfrm>
              <a:off x="7713663" y="2848339"/>
              <a:ext cx="1042107" cy="425543"/>
              <a:chOff x="7786941" y="2884917"/>
              <a:chExt cx="897649" cy="353919"/>
            </a:xfrm>
          </p:grpSpPr>
          <p:sp>
            <p:nvSpPr>
              <p:cNvPr id="6046" name="Google Shape;6046;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7" name="Google Shape;6047;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8" name="Google Shape;6048;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49" name="Google Shape;6049;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50" name="Google Shape;6050;p95"/>
          <p:cNvGrpSpPr/>
          <p:nvPr/>
        </p:nvGrpSpPr>
        <p:grpSpPr>
          <a:xfrm>
            <a:off x="7637302" y="3773643"/>
            <a:ext cx="170989" cy="97052"/>
            <a:chOff x="7493876" y="2774731"/>
            <a:chExt cx="1481958" cy="894622"/>
          </a:xfrm>
        </p:grpSpPr>
        <p:sp>
          <p:nvSpPr>
            <p:cNvPr id="6051" name="Google Shape;6051;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52" name="Google Shape;6052;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53" name="Google Shape;6053;p95"/>
            <p:cNvGrpSpPr/>
            <p:nvPr/>
          </p:nvGrpSpPr>
          <p:grpSpPr>
            <a:xfrm>
              <a:off x="7713663" y="2848339"/>
              <a:ext cx="1042107" cy="425543"/>
              <a:chOff x="7786941" y="2884917"/>
              <a:chExt cx="897649" cy="353919"/>
            </a:xfrm>
          </p:grpSpPr>
          <p:sp>
            <p:nvSpPr>
              <p:cNvPr id="6054" name="Google Shape;6054;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5" name="Google Shape;6055;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6" name="Google Shape;605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57" name="Google Shape;605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58" name="Google Shape;6058;p95"/>
          <p:cNvGrpSpPr/>
          <p:nvPr/>
        </p:nvGrpSpPr>
        <p:grpSpPr>
          <a:xfrm>
            <a:off x="7163826" y="3668416"/>
            <a:ext cx="353678" cy="198344"/>
            <a:chOff x="7493876" y="2774731"/>
            <a:chExt cx="1481958" cy="894622"/>
          </a:xfrm>
        </p:grpSpPr>
        <p:sp>
          <p:nvSpPr>
            <p:cNvPr id="6059" name="Google Shape;6059;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60" name="Google Shape;6060;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61" name="Google Shape;6061;p95"/>
            <p:cNvGrpSpPr/>
            <p:nvPr/>
          </p:nvGrpSpPr>
          <p:grpSpPr>
            <a:xfrm>
              <a:off x="7713663" y="2848339"/>
              <a:ext cx="1042107" cy="425543"/>
              <a:chOff x="7786941" y="2884917"/>
              <a:chExt cx="897649" cy="353919"/>
            </a:xfrm>
          </p:grpSpPr>
          <p:sp>
            <p:nvSpPr>
              <p:cNvPr id="6062" name="Google Shape;6062;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3" name="Google Shape;6063;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4" name="Google Shape;6064;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65" name="Google Shape;6065;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66" name="Google Shape;6066;p95"/>
          <p:cNvGrpSpPr/>
          <p:nvPr/>
        </p:nvGrpSpPr>
        <p:grpSpPr>
          <a:xfrm>
            <a:off x="6701941" y="2374570"/>
            <a:ext cx="353678" cy="198344"/>
            <a:chOff x="7493876" y="2774731"/>
            <a:chExt cx="1481958" cy="894622"/>
          </a:xfrm>
        </p:grpSpPr>
        <p:sp>
          <p:nvSpPr>
            <p:cNvPr id="6067" name="Google Shape;606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68" name="Google Shape;606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69" name="Google Shape;6069;p95"/>
            <p:cNvGrpSpPr/>
            <p:nvPr/>
          </p:nvGrpSpPr>
          <p:grpSpPr>
            <a:xfrm>
              <a:off x="7713663" y="2848339"/>
              <a:ext cx="1042107" cy="425543"/>
              <a:chOff x="7786941" y="2884917"/>
              <a:chExt cx="897649" cy="353919"/>
            </a:xfrm>
          </p:grpSpPr>
          <p:sp>
            <p:nvSpPr>
              <p:cNvPr id="6070" name="Google Shape;607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1" name="Google Shape;607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2" name="Google Shape;607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3" name="Google Shape;607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74" name="Google Shape;6074;p95"/>
          <p:cNvGrpSpPr/>
          <p:nvPr/>
        </p:nvGrpSpPr>
        <p:grpSpPr>
          <a:xfrm>
            <a:off x="7280431" y="2785645"/>
            <a:ext cx="353678" cy="198344"/>
            <a:chOff x="7493876" y="2774731"/>
            <a:chExt cx="1481958" cy="894622"/>
          </a:xfrm>
        </p:grpSpPr>
        <p:sp>
          <p:nvSpPr>
            <p:cNvPr id="6075" name="Google Shape;6075;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76" name="Google Shape;6076;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77" name="Google Shape;6077;p95"/>
            <p:cNvGrpSpPr/>
            <p:nvPr/>
          </p:nvGrpSpPr>
          <p:grpSpPr>
            <a:xfrm>
              <a:off x="7713663" y="2848339"/>
              <a:ext cx="1042107" cy="425543"/>
              <a:chOff x="7786941" y="2884917"/>
              <a:chExt cx="897649" cy="353919"/>
            </a:xfrm>
          </p:grpSpPr>
          <p:sp>
            <p:nvSpPr>
              <p:cNvPr id="6078" name="Google Shape;6078;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79" name="Google Shape;6079;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0" name="Google Shape;6080;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1" name="Google Shape;6081;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82" name="Google Shape;6082;p95"/>
          <p:cNvGrpSpPr/>
          <p:nvPr/>
        </p:nvGrpSpPr>
        <p:grpSpPr>
          <a:xfrm>
            <a:off x="7397042" y="2280241"/>
            <a:ext cx="353678" cy="198344"/>
            <a:chOff x="7493876" y="2774731"/>
            <a:chExt cx="1481958" cy="894622"/>
          </a:xfrm>
        </p:grpSpPr>
        <p:sp>
          <p:nvSpPr>
            <p:cNvPr id="6083" name="Google Shape;6083;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84" name="Google Shape;6084;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85" name="Google Shape;6085;p95"/>
            <p:cNvGrpSpPr/>
            <p:nvPr/>
          </p:nvGrpSpPr>
          <p:grpSpPr>
            <a:xfrm>
              <a:off x="7713663" y="2848339"/>
              <a:ext cx="1042107" cy="425543"/>
              <a:chOff x="7786941" y="2884917"/>
              <a:chExt cx="897649" cy="353919"/>
            </a:xfrm>
          </p:grpSpPr>
          <p:sp>
            <p:nvSpPr>
              <p:cNvPr id="6086" name="Google Shape;6086;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7" name="Google Shape;6087;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8" name="Google Shape;6088;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89" name="Google Shape;6089;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90" name="Google Shape;6090;p95"/>
          <p:cNvGrpSpPr/>
          <p:nvPr/>
        </p:nvGrpSpPr>
        <p:grpSpPr>
          <a:xfrm>
            <a:off x="6733343" y="2833843"/>
            <a:ext cx="353678" cy="198344"/>
            <a:chOff x="7493876" y="2774731"/>
            <a:chExt cx="1481958" cy="894622"/>
          </a:xfrm>
        </p:grpSpPr>
        <p:sp>
          <p:nvSpPr>
            <p:cNvPr id="6091" name="Google Shape;6091;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092" name="Google Shape;6092;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093" name="Google Shape;6093;p95"/>
            <p:cNvGrpSpPr/>
            <p:nvPr/>
          </p:nvGrpSpPr>
          <p:grpSpPr>
            <a:xfrm>
              <a:off x="7713663" y="2848339"/>
              <a:ext cx="1042107" cy="425543"/>
              <a:chOff x="7786941" y="2884917"/>
              <a:chExt cx="897649" cy="353919"/>
            </a:xfrm>
          </p:grpSpPr>
          <p:sp>
            <p:nvSpPr>
              <p:cNvPr id="6094" name="Google Shape;6094;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5" name="Google Shape;6095;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6" name="Google Shape;609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097" name="Google Shape;609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098" name="Google Shape;6098;p95"/>
          <p:cNvGrpSpPr/>
          <p:nvPr/>
        </p:nvGrpSpPr>
        <p:grpSpPr>
          <a:xfrm>
            <a:off x="6250355" y="3566310"/>
            <a:ext cx="367224" cy="240304"/>
            <a:chOff x="7493876" y="2774731"/>
            <a:chExt cx="1481958" cy="894622"/>
          </a:xfrm>
        </p:grpSpPr>
        <p:sp>
          <p:nvSpPr>
            <p:cNvPr id="6099" name="Google Shape;6099;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00" name="Google Shape;6100;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01" name="Google Shape;6101;p95"/>
            <p:cNvGrpSpPr/>
            <p:nvPr/>
          </p:nvGrpSpPr>
          <p:grpSpPr>
            <a:xfrm>
              <a:off x="7713663" y="2848339"/>
              <a:ext cx="1042107" cy="425543"/>
              <a:chOff x="7786941" y="2884917"/>
              <a:chExt cx="897649" cy="353919"/>
            </a:xfrm>
          </p:grpSpPr>
          <p:sp>
            <p:nvSpPr>
              <p:cNvPr id="6102" name="Google Shape;6102;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3" name="Google Shape;6103;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4" name="Google Shape;6104;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05" name="Google Shape;6105;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06" name="Google Shape;6106;p95"/>
          <p:cNvGrpSpPr/>
          <p:nvPr/>
        </p:nvGrpSpPr>
        <p:grpSpPr>
          <a:xfrm>
            <a:off x="7128476" y="4164603"/>
            <a:ext cx="353678" cy="198344"/>
            <a:chOff x="7493876" y="2774731"/>
            <a:chExt cx="1481958" cy="894622"/>
          </a:xfrm>
        </p:grpSpPr>
        <p:sp>
          <p:nvSpPr>
            <p:cNvPr id="6107" name="Google Shape;6107;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08" name="Google Shape;6108;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09" name="Google Shape;6109;p95"/>
            <p:cNvGrpSpPr/>
            <p:nvPr/>
          </p:nvGrpSpPr>
          <p:grpSpPr>
            <a:xfrm>
              <a:off x="7713663" y="2848339"/>
              <a:ext cx="1042107" cy="425543"/>
              <a:chOff x="7786941" y="2884917"/>
              <a:chExt cx="897649" cy="353919"/>
            </a:xfrm>
          </p:grpSpPr>
          <p:sp>
            <p:nvSpPr>
              <p:cNvPr id="6110" name="Google Shape;6110;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1" name="Google Shape;6111;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2" name="Google Shape;6112;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3" name="Google Shape;6113;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14" name="Google Shape;6114;p95"/>
          <p:cNvGrpSpPr/>
          <p:nvPr/>
        </p:nvGrpSpPr>
        <p:grpSpPr>
          <a:xfrm>
            <a:off x="7679199" y="4541403"/>
            <a:ext cx="228295" cy="120400"/>
            <a:chOff x="7493876" y="2774731"/>
            <a:chExt cx="1481958" cy="894622"/>
          </a:xfrm>
        </p:grpSpPr>
        <p:sp>
          <p:nvSpPr>
            <p:cNvPr id="6115" name="Google Shape;6115;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116" name="Google Shape;6116;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117" name="Google Shape;6117;p95"/>
            <p:cNvGrpSpPr/>
            <p:nvPr/>
          </p:nvGrpSpPr>
          <p:grpSpPr>
            <a:xfrm>
              <a:off x="7713663" y="2848339"/>
              <a:ext cx="1042107" cy="425543"/>
              <a:chOff x="7786941" y="2884917"/>
              <a:chExt cx="897649" cy="353919"/>
            </a:xfrm>
          </p:grpSpPr>
          <p:sp>
            <p:nvSpPr>
              <p:cNvPr id="6118" name="Google Shape;6118;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19" name="Google Shape;6119;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0" name="Google Shape;6120;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121" name="Google Shape;6121;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122" name="Google Shape;6122;p95"/>
          <p:cNvGrpSpPr/>
          <p:nvPr/>
        </p:nvGrpSpPr>
        <p:grpSpPr>
          <a:xfrm>
            <a:off x="4452729" y="2531165"/>
            <a:ext cx="363739" cy="310210"/>
            <a:chOff x="7432700" y="2327293"/>
            <a:chExt cx="534987" cy="414882"/>
          </a:xfrm>
        </p:grpSpPr>
        <p:pic>
          <p:nvPicPr>
            <p:cNvPr descr="antenna_stylized" id="6123" name="Google Shape;6123;p95"/>
            <p:cNvPicPr preferRelativeResize="0"/>
            <p:nvPr/>
          </p:nvPicPr>
          <p:blipFill rotWithShape="1">
            <a:blip r:embed="rId6">
              <a:alphaModFix/>
            </a:blip>
            <a:srcRect b="0" l="0" r="0" t="0"/>
            <a:stretch/>
          </p:blipFill>
          <p:spPr>
            <a:xfrm>
              <a:off x="7432700" y="2327293"/>
              <a:ext cx="530702" cy="223756"/>
            </a:xfrm>
            <a:prstGeom prst="rect">
              <a:avLst/>
            </a:prstGeom>
            <a:noFill/>
            <a:ln>
              <a:noFill/>
            </a:ln>
          </p:spPr>
        </p:pic>
        <p:pic>
          <p:nvPicPr>
            <p:cNvPr descr="laptop_keyboard" id="6124" name="Google Shape;6124;p95"/>
            <p:cNvPicPr preferRelativeResize="0"/>
            <p:nvPr/>
          </p:nvPicPr>
          <p:blipFill rotWithShape="1">
            <a:blip r:embed="rId7">
              <a:alphaModFix/>
            </a:blip>
            <a:srcRect b="0" l="0" r="0" t="0"/>
            <a:stretch/>
          </p:blipFill>
          <p:spPr>
            <a:xfrm flipH="1" rot="109064">
              <a:off x="7458407" y="2575770"/>
              <a:ext cx="437221" cy="159511"/>
            </a:xfrm>
            <a:prstGeom prst="rect">
              <a:avLst/>
            </a:prstGeom>
            <a:noFill/>
            <a:ln>
              <a:noFill/>
            </a:ln>
          </p:spPr>
        </p:pic>
        <p:sp>
          <p:nvSpPr>
            <p:cNvPr id="6125" name="Google Shape;6125;p95"/>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126" name="Google Shape;6126;p95"/>
            <p:cNvPicPr preferRelativeResize="0"/>
            <p:nvPr/>
          </p:nvPicPr>
          <p:blipFill rotWithShape="1">
            <a:blip r:embed="rId8">
              <a:alphaModFix/>
            </a:blip>
            <a:srcRect b="0" l="0" r="0" t="0"/>
            <a:stretch/>
          </p:blipFill>
          <p:spPr>
            <a:xfrm>
              <a:off x="7620637" y="2426338"/>
              <a:ext cx="319785" cy="189429"/>
            </a:xfrm>
            <a:prstGeom prst="rect">
              <a:avLst/>
            </a:prstGeom>
            <a:noFill/>
            <a:ln>
              <a:noFill/>
            </a:ln>
          </p:spPr>
        </p:pic>
        <p:sp>
          <p:nvSpPr>
            <p:cNvPr id="6127" name="Google Shape;6127;p95"/>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8" name="Google Shape;6128;p95"/>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29" name="Google Shape;6129;p95"/>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0" name="Google Shape;6130;p95"/>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1" name="Google Shape;6131;p95"/>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2" name="Google Shape;6132;p95"/>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133" name="Google Shape;6133;p95"/>
            <p:cNvGrpSpPr/>
            <p:nvPr/>
          </p:nvGrpSpPr>
          <p:grpSpPr>
            <a:xfrm>
              <a:off x="7594735" y="2642220"/>
              <a:ext cx="98740" cy="36846"/>
              <a:chOff x="1740" y="2642"/>
              <a:chExt cx="752" cy="327"/>
            </a:xfrm>
          </p:grpSpPr>
          <p:sp>
            <p:nvSpPr>
              <p:cNvPr id="6134" name="Google Shape;6134;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5" name="Google Shape;6135;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6" name="Google Shape;6136;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7" name="Google Shape;6137;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8" name="Google Shape;6138;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39" name="Google Shape;6139;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40" name="Google Shape;6140;p95"/>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1" name="Google Shape;6141;p95"/>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2" name="Google Shape;6142;p95"/>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3" name="Google Shape;6143;p95"/>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4" name="Google Shape;6144;p95"/>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45" name="Google Shape;6145;p95"/>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46" name="Google Shape;6146;p95"/>
          <p:cNvGrpSpPr/>
          <p:nvPr/>
        </p:nvGrpSpPr>
        <p:grpSpPr>
          <a:xfrm>
            <a:off x="4823792" y="2160105"/>
            <a:ext cx="711560" cy="179030"/>
            <a:chOff x="8493165" y="2029804"/>
            <a:chExt cx="849312" cy="226109"/>
          </a:xfrm>
        </p:grpSpPr>
        <p:pic>
          <p:nvPicPr>
            <p:cNvPr descr="car_icon_small" id="6147" name="Google Shape;6147;p95"/>
            <p:cNvPicPr preferRelativeResize="0"/>
            <p:nvPr/>
          </p:nvPicPr>
          <p:blipFill rotWithShape="1">
            <a:blip r:embed="rId9">
              <a:alphaModFix/>
            </a:blip>
            <a:srcRect b="0" l="0" r="0" t="0"/>
            <a:stretch/>
          </p:blipFill>
          <p:spPr>
            <a:xfrm>
              <a:off x="8493165" y="2087638"/>
              <a:ext cx="849312" cy="168275"/>
            </a:xfrm>
            <a:prstGeom prst="rect">
              <a:avLst/>
            </a:prstGeom>
            <a:noFill/>
            <a:ln>
              <a:noFill/>
            </a:ln>
          </p:spPr>
        </p:pic>
        <p:pic>
          <p:nvPicPr>
            <p:cNvPr descr="antenna_stylized" id="6148" name="Google Shape;6148;p95"/>
            <p:cNvPicPr preferRelativeResize="0"/>
            <p:nvPr/>
          </p:nvPicPr>
          <p:blipFill rotWithShape="1">
            <a:blip r:embed="rId6">
              <a:alphaModFix/>
            </a:blip>
            <a:srcRect b="0" l="0" r="0" t="0"/>
            <a:stretch/>
          </p:blipFill>
          <p:spPr>
            <a:xfrm>
              <a:off x="8704645" y="2029804"/>
              <a:ext cx="530702" cy="223756"/>
            </a:xfrm>
            <a:prstGeom prst="rect">
              <a:avLst/>
            </a:prstGeom>
            <a:noFill/>
            <a:ln>
              <a:noFill/>
            </a:ln>
          </p:spPr>
        </p:pic>
      </p:grpSp>
      <p:grpSp>
        <p:nvGrpSpPr>
          <p:cNvPr id="6149" name="Google Shape;6149;p95"/>
          <p:cNvGrpSpPr/>
          <p:nvPr/>
        </p:nvGrpSpPr>
        <p:grpSpPr>
          <a:xfrm>
            <a:off x="4246735" y="3497702"/>
            <a:ext cx="857739" cy="583764"/>
            <a:chOff x="7487144" y="3296104"/>
            <a:chExt cx="857739" cy="583764"/>
          </a:xfrm>
        </p:grpSpPr>
        <p:grpSp>
          <p:nvGrpSpPr>
            <p:cNvPr id="6150" name="Google Shape;6150;p95"/>
            <p:cNvGrpSpPr/>
            <p:nvPr/>
          </p:nvGrpSpPr>
          <p:grpSpPr>
            <a:xfrm>
              <a:off x="7487144" y="3389820"/>
              <a:ext cx="350807" cy="310034"/>
              <a:chOff x="7487144" y="3389820"/>
              <a:chExt cx="350807" cy="310034"/>
            </a:xfrm>
          </p:grpSpPr>
          <p:pic>
            <p:nvPicPr>
              <p:cNvPr descr="antenna_stylized" id="6151" name="Google Shape;6151;p95"/>
              <p:cNvPicPr preferRelativeResize="0"/>
              <p:nvPr/>
            </p:nvPicPr>
            <p:blipFill rotWithShape="1">
              <a:blip r:embed="rId10">
                <a:alphaModFix/>
              </a:blip>
              <a:srcRect b="0" l="0" r="0" t="0"/>
              <a:stretch/>
            </p:blipFill>
            <p:spPr>
              <a:xfrm>
                <a:off x="7487144" y="3389820"/>
                <a:ext cx="347997" cy="167557"/>
              </a:xfrm>
              <a:prstGeom prst="rect">
                <a:avLst/>
              </a:prstGeom>
              <a:noFill/>
              <a:ln>
                <a:noFill/>
              </a:ln>
            </p:spPr>
          </p:pic>
          <p:pic>
            <p:nvPicPr>
              <p:cNvPr descr="laptop_keyboard" id="6152" name="Google Shape;6152;p95"/>
              <p:cNvPicPr preferRelativeResize="0"/>
              <p:nvPr/>
            </p:nvPicPr>
            <p:blipFill rotWithShape="1">
              <a:blip r:embed="rId11">
                <a:alphaModFix/>
              </a:blip>
              <a:srcRect b="0" l="0" r="0" t="0"/>
              <a:stretch/>
            </p:blipFill>
            <p:spPr>
              <a:xfrm flipH="1" rot="109064">
                <a:off x="7504001" y="3575889"/>
                <a:ext cx="286699" cy="119448"/>
              </a:xfrm>
              <a:prstGeom prst="rect">
                <a:avLst/>
              </a:prstGeom>
              <a:noFill/>
              <a:ln>
                <a:noFill/>
              </a:ln>
            </p:spPr>
          </p:pic>
          <p:sp>
            <p:nvSpPr>
              <p:cNvPr id="6153" name="Google Shape;6153;p95"/>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154" name="Google Shape;6154;p95"/>
              <p:cNvPicPr preferRelativeResize="0"/>
              <p:nvPr/>
            </p:nvPicPr>
            <p:blipFill rotWithShape="1">
              <a:blip r:embed="rId12">
                <a:alphaModFix/>
              </a:blip>
              <a:srcRect b="0" l="0" r="0" t="0"/>
              <a:stretch/>
            </p:blipFill>
            <p:spPr>
              <a:xfrm>
                <a:off x="7610380" y="3463988"/>
                <a:ext cx="209692" cy="141851"/>
              </a:xfrm>
              <a:prstGeom prst="rect">
                <a:avLst/>
              </a:prstGeom>
              <a:noFill/>
              <a:ln>
                <a:noFill/>
              </a:ln>
            </p:spPr>
          </p:pic>
          <p:sp>
            <p:nvSpPr>
              <p:cNvPr id="6155" name="Google Shape;6155;p95"/>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6" name="Google Shape;6156;p95"/>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7" name="Google Shape;6157;p95"/>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8" name="Google Shape;6158;p95"/>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59" name="Google Shape;6159;p95"/>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0" name="Google Shape;6160;p95"/>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161" name="Google Shape;6161;p95"/>
              <p:cNvGrpSpPr/>
              <p:nvPr/>
            </p:nvGrpSpPr>
            <p:grpSpPr>
              <a:xfrm>
                <a:off x="7593395" y="3625649"/>
                <a:ext cx="64747" cy="27592"/>
                <a:chOff x="1740" y="2642"/>
                <a:chExt cx="752" cy="327"/>
              </a:xfrm>
            </p:grpSpPr>
            <p:sp>
              <p:nvSpPr>
                <p:cNvPr id="6162" name="Google Shape;6162;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3" name="Google Shape;6163;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4" name="Google Shape;6164;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5" name="Google Shape;6165;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6" name="Google Shape;6166;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7" name="Google Shape;6167;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68" name="Google Shape;6168;p95"/>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69" name="Google Shape;6169;p95"/>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0" name="Google Shape;6170;p95"/>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1" name="Google Shape;6171;p95"/>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2" name="Google Shape;6172;p95"/>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73" name="Google Shape;6173;p95"/>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74" name="Google Shape;6174;p95"/>
            <p:cNvGrpSpPr/>
            <p:nvPr/>
          </p:nvGrpSpPr>
          <p:grpSpPr>
            <a:xfrm flipH="1">
              <a:off x="7985622" y="3537823"/>
              <a:ext cx="359261" cy="342045"/>
              <a:chOff x="2839" y="3501"/>
              <a:chExt cx="755" cy="803"/>
            </a:xfrm>
          </p:grpSpPr>
          <p:pic>
            <p:nvPicPr>
              <p:cNvPr descr="desktop_computer_stylized_medium" id="6175" name="Google Shape;6175;p95"/>
              <p:cNvPicPr preferRelativeResize="0"/>
              <p:nvPr/>
            </p:nvPicPr>
            <p:blipFill rotWithShape="1">
              <a:blip r:embed="rId13">
                <a:alphaModFix/>
              </a:blip>
              <a:srcRect b="0" l="0" r="0" t="0"/>
              <a:stretch/>
            </p:blipFill>
            <p:spPr>
              <a:xfrm>
                <a:off x="2839" y="3501"/>
                <a:ext cx="755" cy="803"/>
              </a:xfrm>
              <a:prstGeom prst="rect">
                <a:avLst/>
              </a:prstGeom>
              <a:noFill/>
              <a:ln>
                <a:noFill/>
              </a:ln>
            </p:spPr>
          </p:pic>
          <p:sp>
            <p:nvSpPr>
              <p:cNvPr id="6176" name="Google Shape;6176;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77" name="Google Shape;6177;p95"/>
            <p:cNvGrpSpPr/>
            <p:nvPr/>
          </p:nvGrpSpPr>
          <p:grpSpPr>
            <a:xfrm>
              <a:off x="7797061" y="3296104"/>
              <a:ext cx="347997" cy="396620"/>
              <a:chOff x="7797061" y="3296104"/>
              <a:chExt cx="347997" cy="396620"/>
            </a:xfrm>
          </p:grpSpPr>
          <p:pic>
            <p:nvPicPr>
              <p:cNvPr descr="fridge2.png" id="6178" name="Google Shape;6178;p95"/>
              <p:cNvPicPr preferRelativeResize="0"/>
              <p:nvPr/>
            </p:nvPicPr>
            <p:blipFill rotWithShape="1">
              <a:blip r:embed="rId14">
                <a:alphaModFix/>
              </a:blip>
              <a:srcRect b="0" l="0" r="0" t="0"/>
              <a:stretch/>
            </p:blipFill>
            <p:spPr>
              <a:xfrm>
                <a:off x="7896825" y="3355697"/>
                <a:ext cx="189578" cy="337027"/>
              </a:xfrm>
              <a:prstGeom prst="rect">
                <a:avLst/>
              </a:prstGeom>
              <a:noFill/>
              <a:ln>
                <a:noFill/>
              </a:ln>
            </p:spPr>
          </p:pic>
          <p:pic>
            <p:nvPicPr>
              <p:cNvPr descr="antenna_stylized" id="6179" name="Google Shape;6179;p95"/>
              <p:cNvPicPr preferRelativeResize="0"/>
              <p:nvPr/>
            </p:nvPicPr>
            <p:blipFill rotWithShape="1">
              <a:blip r:embed="rId10">
                <a:alphaModFix/>
              </a:blip>
              <a:srcRect b="0" l="0" r="0" t="0"/>
              <a:stretch/>
            </p:blipFill>
            <p:spPr>
              <a:xfrm>
                <a:off x="7797061" y="3296104"/>
                <a:ext cx="347997" cy="167557"/>
              </a:xfrm>
              <a:prstGeom prst="rect">
                <a:avLst/>
              </a:prstGeom>
              <a:noFill/>
              <a:ln>
                <a:noFill/>
              </a:ln>
            </p:spPr>
          </p:pic>
        </p:grpSp>
      </p:grpSp>
      <p:grpSp>
        <p:nvGrpSpPr>
          <p:cNvPr id="6180" name="Google Shape;6180;p95"/>
          <p:cNvGrpSpPr/>
          <p:nvPr/>
        </p:nvGrpSpPr>
        <p:grpSpPr>
          <a:xfrm>
            <a:off x="7818164" y="3600763"/>
            <a:ext cx="518448" cy="1212242"/>
            <a:chOff x="11058573" y="3399165"/>
            <a:chExt cx="518448" cy="1212242"/>
          </a:xfrm>
        </p:grpSpPr>
        <p:grpSp>
          <p:nvGrpSpPr>
            <p:cNvPr id="6181" name="Google Shape;6181;p95"/>
            <p:cNvGrpSpPr/>
            <p:nvPr/>
          </p:nvGrpSpPr>
          <p:grpSpPr>
            <a:xfrm>
              <a:off x="11087182" y="4159591"/>
              <a:ext cx="489839" cy="451816"/>
              <a:chOff x="5103720" y="2693365"/>
              <a:chExt cx="611650" cy="414788"/>
            </a:xfrm>
          </p:grpSpPr>
          <p:cxnSp>
            <p:nvCxnSpPr>
              <p:cNvPr id="6182" name="Google Shape;6182;p9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183" name="Google Shape;6183;p95"/>
              <p:cNvGrpSpPr/>
              <p:nvPr/>
            </p:nvGrpSpPr>
            <p:grpSpPr>
              <a:xfrm>
                <a:off x="5275406" y="2693365"/>
                <a:ext cx="439964" cy="414788"/>
                <a:chOff x="5275406" y="2711455"/>
                <a:chExt cx="452949" cy="405518"/>
              </a:xfrm>
            </p:grpSpPr>
            <p:pic>
              <p:nvPicPr>
                <p:cNvPr descr="server_rack.png" id="6184" name="Google Shape;6184;p95"/>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6185" name="Google Shape;6185;p95"/>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6186" name="Google Shape;6186;p95"/>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nvGrpSpPr>
            <p:cNvPr id="6187" name="Google Shape;6187;p95"/>
            <p:cNvGrpSpPr/>
            <p:nvPr/>
          </p:nvGrpSpPr>
          <p:grpSpPr>
            <a:xfrm>
              <a:off x="11058573" y="3399165"/>
              <a:ext cx="423724" cy="405973"/>
              <a:chOff x="5103720" y="2693365"/>
              <a:chExt cx="611650" cy="414788"/>
            </a:xfrm>
          </p:grpSpPr>
          <p:cxnSp>
            <p:nvCxnSpPr>
              <p:cNvPr id="6188" name="Google Shape;6188;p9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6189" name="Google Shape;6189;p95"/>
              <p:cNvGrpSpPr/>
              <p:nvPr/>
            </p:nvGrpSpPr>
            <p:grpSpPr>
              <a:xfrm>
                <a:off x="5275406" y="2693365"/>
                <a:ext cx="439964" cy="414788"/>
                <a:chOff x="5275406" y="2711455"/>
                <a:chExt cx="452949" cy="405518"/>
              </a:xfrm>
            </p:grpSpPr>
            <p:pic>
              <p:nvPicPr>
                <p:cNvPr descr="server_rack.png" id="6190" name="Google Shape;6190;p95"/>
                <p:cNvPicPr preferRelativeResize="0"/>
                <p:nvPr/>
              </p:nvPicPr>
              <p:blipFill rotWithShape="1">
                <a:blip r:embed="rId15">
                  <a:alphaModFix/>
                </a:blip>
                <a:srcRect b="0" l="0" r="0" t="0"/>
                <a:stretch/>
              </p:blipFill>
              <p:spPr>
                <a:xfrm>
                  <a:off x="5537367" y="2770786"/>
                  <a:ext cx="190988" cy="313366"/>
                </a:xfrm>
                <a:prstGeom prst="rect">
                  <a:avLst/>
                </a:prstGeom>
                <a:noFill/>
                <a:ln>
                  <a:noFill/>
                </a:ln>
              </p:spPr>
            </p:pic>
            <p:pic>
              <p:nvPicPr>
                <p:cNvPr descr="server_rack.png" id="6191" name="Google Shape;6191;p95"/>
                <p:cNvPicPr preferRelativeResize="0"/>
                <p:nvPr/>
              </p:nvPicPr>
              <p:blipFill rotWithShape="1">
                <a:blip r:embed="rId15">
                  <a:alphaModFix/>
                </a:blip>
                <a:srcRect b="0" l="0" r="0" t="0"/>
                <a:stretch/>
              </p:blipFill>
              <p:spPr>
                <a:xfrm>
                  <a:off x="5275406" y="2764002"/>
                  <a:ext cx="190988" cy="313366"/>
                </a:xfrm>
                <a:prstGeom prst="rect">
                  <a:avLst/>
                </a:prstGeom>
                <a:noFill/>
                <a:ln>
                  <a:noFill/>
                </a:ln>
              </p:spPr>
            </p:pic>
            <p:pic>
              <p:nvPicPr>
                <p:cNvPr descr="server_rack.png" id="6192" name="Google Shape;6192;p95"/>
                <p:cNvPicPr preferRelativeResize="0"/>
                <p:nvPr/>
              </p:nvPicPr>
              <p:blipFill rotWithShape="1">
                <a:blip r:embed="rId15">
                  <a:alphaModFix/>
                </a:blip>
                <a:srcRect b="0" l="0" r="0" t="0"/>
                <a:stretch/>
              </p:blipFill>
              <p:spPr>
                <a:xfrm>
                  <a:off x="5385676" y="2711455"/>
                  <a:ext cx="247152" cy="405518"/>
                </a:xfrm>
                <a:prstGeom prst="rect">
                  <a:avLst/>
                </a:prstGeom>
                <a:noFill/>
                <a:ln>
                  <a:noFill/>
                </a:ln>
              </p:spPr>
            </p:pic>
          </p:grpSp>
        </p:grpSp>
      </p:grpSp>
      <p:grpSp>
        <p:nvGrpSpPr>
          <p:cNvPr id="6193" name="Google Shape;6193;p95"/>
          <p:cNvGrpSpPr/>
          <p:nvPr/>
        </p:nvGrpSpPr>
        <p:grpSpPr>
          <a:xfrm flipH="1">
            <a:off x="4734072" y="5072439"/>
            <a:ext cx="345630" cy="320302"/>
            <a:chOff x="2839" y="3501"/>
            <a:chExt cx="755" cy="803"/>
          </a:xfrm>
        </p:grpSpPr>
        <p:pic>
          <p:nvPicPr>
            <p:cNvPr descr="desktop_computer_stylized_medium" id="6194" name="Google Shape;6194;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195" name="Google Shape;6195;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196" name="Google Shape;6196;p95"/>
          <p:cNvGrpSpPr/>
          <p:nvPr/>
        </p:nvGrpSpPr>
        <p:grpSpPr>
          <a:xfrm>
            <a:off x="5954898" y="6025087"/>
            <a:ext cx="310186" cy="312008"/>
            <a:chOff x="877" y="1008"/>
            <a:chExt cx="2747" cy="2626"/>
          </a:xfrm>
        </p:grpSpPr>
        <p:pic>
          <p:nvPicPr>
            <p:cNvPr descr="antenna_stylized" id="6197" name="Google Shape;6197;p95"/>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6198" name="Google Shape;6198;p95"/>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6199" name="Google Shape;6199;p9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200" name="Google Shape;6200;p95"/>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6201" name="Google Shape;6201;p9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2" name="Google Shape;6202;p9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3" name="Google Shape;6203;p9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4" name="Google Shape;6204;p9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5" name="Google Shape;6205;p9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6" name="Google Shape;6206;p9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07" name="Google Shape;6207;p95"/>
            <p:cNvGrpSpPr/>
            <p:nvPr/>
          </p:nvGrpSpPr>
          <p:grpSpPr>
            <a:xfrm>
              <a:off x="1709" y="3008"/>
              <a:ext cx="507" cy="234"/>
              <a:chOff x="1740" y="2642"/>
              <a:chExt cx="752" cy="327"/>
            </a:xfrm>
          </p:grpSpPr>
          <p:sp>
            <p:nvSpPr>
              <p:cNvPr id="6208" name="Google Shape;6208;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09" name="Google Shape;6209;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0" name="Google Shape;6210;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1" name="Google Shape;6211;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2" name="Google Shape;6212;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3" name="Google Shape;6213;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14" name="Google Shape;6214;p9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5" name="Google Shape;6215;p9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6" name="Google Shape;6216;p9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7" name="Google Shape;6217;p9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8" name="Google Shape;6218;p9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19" name="Google Shape;6219;p9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0" name="Google Shape;6220;p95"/>
          <p:cNvGrpSpPr/>
          <p:nvPr/>
        </p:nvGrpSpPr>
        <p:grpSpPr>
          <a:xfrm flipH="1">
            <a:off x="4907126" y="5676935"/>
            <a:ext cx="345630" cy="320302"/>
            <a:chOff x="2839" y="3501"/>
            <a:chExt cx="755" cy="803"/>
          </a:xfrm>
        </p:grpSpPr>
        <p:pic>
          <p:nvPicPr>
            <p:cNvPr descr="desktop_computer_stylized_medium" id="6221" name="Google Shape;6221;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22" name="Google Shape;6222;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3" name="Google Shape;6223;p95"/>
          <p:cNvGrpSpPr/>
          <p:nvPr/>
        </p:nvGrpSpPr>
        <p:grpSpPr>
          <a:xfrm flipH="1">
            <a:off x="5305351" y="5698408"/>
            <a:ext cx="345630" cy="320302"/>
            <a:chOff x="2839" y="3501"/>
            <a:chExt cx="755" cy="803"/>
          </a:xfrm>
        </p:grpSpPr>
        <p:pic>
          <p:nvPicPr>
            <p:cNvPr descr="desktop_computer_stylized_medium" id="6224" name="Google Shape;6224;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25" name="Google Shape;6225;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26" name="Google Shape;6226;p95"/>
          <p:cNvGrpSpPr/>
          <p:nvPr/>
        </p:nvGrpSpPr>
        <p:grpSpPr>
          <a:xfrm>
            <a:off x="6287963" y="5967416"/>
            <a:ext cx="319264" cy="256836"/>
            <a:chOff x="877" y="1008"/>
            <a:chExt cx="2747" cy="2626"/>
          </a:xfrm>
        </p:grpSpPr>
        <p:pic>
          <p:nvPicPr>
            <p:cNvPr descr="antenna_stylized" id="6227" name="Google Shape;6227;p95"/>
            <p:cNvPicPr preferRelativeResize="0"/>
            <p:nvPr/>
          </p:nvPicPr>
          <p:blipFill rotWithShape="1">
            <a:blip r:embed="rId17">
              <a:alphaModFix/>
            </a:blip>
            <a:srcRect b="0" l="0" r="0" t="0"/>
            <a:stretch/>
          </p:blipFill>
          <p:spPr>
            <a:xfrm>
              <a:off x="877" y="1008"/>
              <a:ext cx="2725" cy="1421"/>
            </a:xfrm>
            <a:prstGeom prst="rect">
              <a:avLst/>
            </a:prstGeom>
            <a:noFill/>
            <a:ln>
              <a:noFill/>
            </a:ln>
          </p:spPr>
        </p:pic>
        <p:pic>
          <p:nvPicPr>
            <p:cNvPr descr="laptop_keyboard" id="6228" name="Google Shape;6228;p95"/>
            <p:cNvPicPr preferRelativeResize="0"/>
            <p:nvPr/>
          </p:nvPicPr>
          <p:blipFill rotWithShape="1">
            <a:blip r:embed="rId18">
              <a:alphaModFix/>
            </a:blip>
            <a:srcRect b="0" l="0" r="0" t="0"/>
            <a:stretch/>
          </p:blipFill>
          <p:spPr>
            <a:xfrm flipH="1" rot="109064">
              <a:off x="1009" y="2586"/>
              <a:ext cx="2245" cy="1013"/>
            </a:xfrm>
            <a:prstGeom prst="rect">
              <a:avLst/>
            </a:prstGeom>
            <a:noFill/>
            <a:ln>
              <a:noFill/>
            </a:ln>
          </p:spPr>
        </p:pic>
        <p:sp>
          <p:nvSpPr>
            <p:cNvPr id="6229" name="Google Shape;6229;p9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230" name="Google Shape;6230;p95"/>
            <p:cNvPicPr preferRelativeResize="0"/>
            <p:nvPr/>
          </p:nvPicPr>
          <p:blipFill rotWithShape="1">
            <a:blip r:embed="rId19">
              <a:alphaModFix/>
            </a:blip>
            <a:srcRect b="0" l="0" r="0" t="0"/>
            <a:stretch/>
          </p:blipFill>
          <p:spPr>
            <a:xfrm>
              <a:off x="1842" y="1637"/>
              <a:ext cx="1642" cy="1203"/>
            </a:xfrm>
            <a:prstGeom prst="rect">
              <a:avLst/>
            </a:prstGeom>
            <a:noFill/>
            <a:ln>
              <a:noFill/>
            </a:ln>
          </p:spPr>
        </p:pic>
        <p:sp>
          <p:nvSpPr>
            <p:cNvPr id="6231" name="Google Shape;6231;p9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2" name="Google Shape;6232;p9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3" name="Google Shape;6233;p9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4" name="Google Shape;6234;p9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5" name="Google Shape;6235;p9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6" name="Google Shape;6236;p9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37" name="Google Shape;6237;p95"/>
            <p:cNvGrpSpPr/>
            <p:nvPr/>
          </p:nvGrpSpPr>
          <p:grpSpPr>
            <a:xfrm>
              <a:off x="1709" y="3008"/>
              <a:ext cx="507" cy="234"/>
              <a:chOff x="1740" y="2642"/>
              <a:chExt cx="752" cy="327"/>
            </a:xfrm>
          </p:grpSpPr>
          <p:sp>
            <p:nvSpPr>
              <p:cNvPr id="6238" name="Google Shape;6238;p9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39" name="Google Shape;6239;p9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0" name="Google Shape;6240;p9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1" name="Google Shape;6241;p9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2" name="Google Shape;6242;p9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3" name="Google Shape;6243;p9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44" name="Google Shape;6244;p9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5" name="Google Shape;6245;p9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6" name="Google Shape;6246;p9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7" name="Google Shape;6247;p9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8" name="Google Shape;6248;p9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49" name="Google Shape;6249;p9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250" name="Google Shape;6250;p95"/>
          <p:cNvSpPr/>
          <p:nvPr/>
        </p:nvSpPr>
        <p:spPr>
          <a:xfrm>
            <a:off x="6906810" y="5809249"/>
            <a:ext cx="34049" cy="33292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1" name="Google Shape;6251;p95"/>
          <p:cNvSpPr/>
          <p:nvPr/>
        </p:nvSpPr>
        <p:spPr>
          <a:xfrm>
            <a:off x="6913187" y="5829201"/>
            <a:ext cx="20333" cy="3080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2" name="Google Shape;6252;p95"/>
          <p:cNvSpPr/>
          <p:nvPr/>
        </p:nvSpPr>
        <p:spPr>
          <a:xfrm>
            <a:off x="6908735" y="5985031"/>
            <a:ext cx="31643" cy="27525"/>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53" name="Google Shape;6253;p95"/>
          <p:cNvSpPr/>
          <p:nvPr/>
        </p:nvSpPr>
        <p:spPr>
          <a:xfrm>
            <a:off x="6779516" y="5846677"/>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54" name="Google Shape;6254;p95"/>
          <p:cNvGrpSpPr/>
          <p:nvPr/>
        </p:nvGrpSpPr>
        <p:grpSpPr>
          <a:xfrm>
            <a:off x="6844270" y="5843169"/>
            <a:ext cx="69517" cy="21877"/>
            <a:chOff x="613" y="2566"/>
            <a:chExt cx="721" cy="144"/>
          </a:xfrm>
        </p:grpSpPr>
        <p:sp>
          <p:nvSpPr>
            <p:cNvPr id="6255" name="Google Shape;6255;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56" name="Google Shape;6256;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57" name="Google Shape;6257;p95"/>
          <p:cNvSpPr/>
          <p:nvPr/>
        </p:nvSpPr>
        <p:spPr>
          <a:xfrm>
            <a:off x="6780719" y="5895028"/>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58" name="Google Shape;6258;p95"/>
          <p:cNvGrpSpPr/>
          <p:nvPr/>
        </p:nvGrpSpPr>
        <p:grpSpPr>
          <a:xfrm>
            <a:off x="6844222" y="5890388"/>
            <a:ext cx="69517" cy="19515"/>
            <a:chOff x="615" y="2564"/>
            <a:chExt cx="721" cy="139"/>
          </a:xfrm>
        </p:grpSpPr>
        <p:sp>
          <p:nvSpPr>
            <p:cNvPr id="6259" name="Google Shape;6259;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0" name="Google Shape;6260;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61" name="Google Shape;6261;p95"/>
          <p:cNvSpPr/>
          <p:nvPr/>
        </p:nvSpPr>
        <p:spPr>
          <a:xfrm>
            <a:off x="6780719" y="5943379"/>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2" name="Google Shape;6262;p95"/>
          <p:cNvSpPr/>
          <p:nvPr/>
        </p:nvSpPr>
        <p:spPr>
          <a:xfrm>
            <a:off x="6781922" y="5987216"/>
            <a:ext cx="71949" cy="68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63" name="Google Shape;6263;p95"/>
          <p:cNvGrpSpPr/>
          <p:nvPr/>
        </p:nvGrpSpPr>
        <p:grpSpPr>
          <a:xfrm>
            <a:off x="6843068" y="5985986"/>
            <a:ext cx="69541" cy="19618"/>
            <a:chOff x="618" y="2586"/>
            <a:chExt cx="720" cy="124"/>
          </a:xfrm>
        </p:grpSpPr>
        <p:sp>
          <p:nvSpPr>
            <p:cNvPr id="6264" name="Google Shape;6264;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5" name="Google Shape;6265;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66" name="Google Shape;6266;p95"/>
          <p:cNvSpPr/>
          <p:nvPr/>
        </p:nvSpPr>
        <p:spPr>
          <a:xfrm>
            <a:off x="6909217" y="5943379"/>
            <a:ext cx="31643" cy="27380"/>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267" name="Google Shape;6267;p95"/>
          <p:cNvGrpSpPr/>
          <p:nvPr/>
        </p:nvGrpSpPr>
        <p:grpSpPr>
          <a:xfrm>
            <a:off x="6843066" y="5939884"/>
            <a:ext cx="70700" cy="19515"/>
            <a:chOff x="613" y="2571"/>
            <a:chExt cx="732" cy="134"/>
          </a:xfrm>
        </p:grpSpPr>
        <p:sp>
          <p:nvSpPr>
            <p:cNvPr id="6268" name="Google Shape;6268;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69" name="Google Shape;6269;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70" name="Google Shape;6270;p95"/>
          <p:cNvSpPr/>
          <p:nvPr/>
        </p:nvSpPr>
        <p:spPr>
          <a:xfrm>
            <a:off x="6904163" y="5808666"/>
            <a:ext cx="8422" cy="332778"/>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1" name="Google Shape;6271;p95"/>
          <p:cNvSpPr/>
          <p:nvPr/>
        </p:nvSpPr>
        <p:spPr>
          <a:xfrm>
            <a:off x="6912104" y="5892844"/>
            <a:ext cx="28515" cy="31020"/>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2" name="Google Shape;6272;p95"/>
          <p:cNvSpPr/>
          <p:nvPr/>
        </p:nvSpPr>
        <p:spPr>
          <a:xfrm>
            <a:off x="6912465" y="5845221"/>
            <a:ext cx="29357" cy="34953"/>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3" name="Google Shape;6273;p95"/>
          <p:cNvSpPr/>
          <p:nvPr/>
        </p:nvSpPr>
        <p:spPr>
          <a:xfrm>
            <a:off x="6936528" y="6126444"/>
            <a:ext cx="6016" cy="1383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4" name="Google Shape;6274;p95"/>
          <p:cNvSpPr/>
          <p:nvPr/>
        </p:nvSpPr>
        <p:spPr>
          <a:xfrm>
            <a:off x="6910901" y="6126881"/>
            <a:ext cx="29477" cy="29127"/>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75" name="Google Shape;6275;p95"/>
          <p:cNvSpPr/>
          <p:nvPr/>
        </p:nvSpPr>
        <p:spPr>
          <a:xfrm>
            <a:off x="6771094" y="6135765"/>
            <a:ext cx="143898" cy="21845"/>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6" name="Google Shape;6276;p95"/>
          <p:cNvSpPr/>
          <p:nvPr/>
        </p:nvSpPr>
        <p:spPr>
          <a:xfrm>
            <a:off x="6779516" y="6141444"/>
            <a:ext cx="128257" cy="11505"/>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7" name="Google Shape;6277;p95"/>
          <p:cNvSpPr/>
          <p:nvPr/>
        </p:nvSpPr>
        <p:spPr>
          <a:xfrm>
            <a:off x="6791427" y="6093093"/>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78" name="Google Shape;6278;p95"/>
          <p:cNvSpPr/>
          <p:nvPr/>
        </p:nvSpPr>
        <p:spPr>
          <a:xfrm>
            <a:off x="6813084" y="6093093"/>
            <a:ext cx="19130" cy="2068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279" name="Google Shape;6279;p95"/>
          <p:cNvSpPr/>
          <p:nvPr/>
        </p:nvSpPr>
        <p:spPr>
          <a:xfrm>
            <a:off x="6833418" y="6093093"/>
            <a:ext cx="19130" cy="2068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80" name="Google Shape;6280;p95"/>
          <p:cNvSpPr/>
          <p:nvPr/>
        </p:nvSpPr>
        <p:spPr>
          <a:xfrm>
            <a:off x="6882627" y="6013722"/>
            <a:ext cx="9625" cy="110538"/>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81" name="Google Shape;6281;p95"/>
          <p:cNvGrpSpPr/>
          <p:nvPr/>
        </p:nvGrpSpPr>
        <p:grpSpPr>
          <a:xfrm flipH="1">
            <a:off x="4527198" y="5453338"/>
            <a:ext cx="345630" cy="320302"/>
            <a:chOff x="2839" y="3501"/>
            <a:chExt cx="755" cy="803"/>
          </a:xfrm>
        </p:grpSpPr>
        <p:pic>
          <p:nvPicPr>
            <p:cNvPr descr="desktop_computer_stylized_medium" id="6282" name="Google Shape;6282;p9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6283" name="Google Shape;6283;p9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284" name="Google Shape;6284;p95"/>
          <p:cNvGrpSpPr/>
          <p:nvPr/>
        </p:nvGrpSpPr>
        <p:grpSpPr>
          <a:xfrm>
            <a:off x="4712859" y="2375563"/>
            <a:ext cx="397547" cy="306949"/>
            <a:chOff x="2751" y="1851"/>
            <a:chExt cx="462" cy="478"/>
          </a:xfrm>
        </p:grpSpPr>
        <p:pic>
          <p:nvPicPr>
            <p:cNvPr descr="iphone_stylized_small" id="6285" name="Google Shape;6285;p95"/>
            <p:cNvPicPr preferRelativeResize="0"/>
            <p:nvPr/>
          </p:nvPicPr>
          <p:blipFill rotWithShape="1">
            <a:blip r:embed="rId20">
              <a:alphaModFix/>
            </a:blip>
            <a:srcRect b="0" l="0" r="0" t="0"/>
            <a:stretch/>
          </p:blipFill>
          <p:spPr>
            <a:xfrm>
              <a:off x="2928" y="1922"/>
              <a:ext cx="152" cy="407"/>
            </a:xfrm>
            <a:prstGeom prst="rect">
              <a:avLst/>
            </a:prstGeom>
            <a:noFill/>
            <a:ln>
              <a:noFill/>
            </a:ln>
          </p:spPr>
        </p:pic>
        <p:pic>
          <p:nvPicPr>
            <p:cNvPr descr="antenna_radiation_stylized" id="6286" name="Google Shape;6286;p95"/>
            <p:cNvPicPr preferRelativeResize="0"/>
            <p:nvPr/>
          </p:nvPicPr>
          <p:blipFill rotWithShape="1">
            <a:blip r:embed="rId21">
              <a:alphaModFix/>
            </a:blip>
            <a:srcRect b="0" l="0" r="0" t="0"/>
            <a:stretch/>
          </p:blipFill>
          <p:spPr>
            <a:xfrm>
              <a:off x="2751" y="1851"/>
              <a:ext cx="462" cy="110"/>
            </a:xfrm>
            <a:prstGeom prst="rect">
              <a:avLst/>
            </a:prstGeom>
            <a:noFill/>
            <a:ln>
              <a:noFill/>
            </a:ln>
          </p:spPr>
        </p:pic>
      </p:grpSp>
      <p:grpSp>
        <p:nvGrpSpPr>
          <p:cNvPr id="6287" name="Google Shape;6287;p95"/>
          <p:cNvGrpSpPr/>
          <p:nvPr/>
        </p:nvGrpSpPr>
        <p:grpSpPr>
          <a:xfrm>
            <a:off x="7007207" y="5446229"/>
            <a:ext cx="177192" cy="330833"/>
            <a:chOff x="4140" y="429"/>
            <a:chExt cx="1425" cy="2396"/>
          </a:xfrm>
        </p:grpSpPr>
        <p:sp>
          <p:nvSpPr>
            <p:cNvPr id="6288" name="Google Shape;6288;p9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89" name="Google Shape;6289;p9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0" name="Google Shape;6290;p9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91" name="Google Shape;6291;p9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292" name="Google Shape;6292;p9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93" name="Google Shape;6293;p95"/>
            <p:cNvGrpSpPr/>
            <p:nvPr/>
          </p:nvGrpSpPr>
          <p:grpSpPr>
            <a:xfrm>
              <a:off x="4748" y="666"/>
              <a:ext cx="578" cy="150"/>
              <a:chOff x="613" y="2566"/>
              <a:chExt cx="721" cy="144"/>
            </a:xfrm>
          </p:grpSpPr>
          <p:sp>
            <p:nvSpPr>
              <p:cNvPr id="6294" name="Google Shape;6294;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5" name="Google Shape;6295;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296" name="Google Shape;6296;p9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297" name="Google Shape;6297;p95"/>
            <p:cNvGrpSpPr/>
            <p:nvPr/>
          </p:nvGrpSpPr>
          <p:grpSpPr>
            <a:xfrm>
              <a:off x="4748" y="990"/>
              <a:ext cx="578" cy="134"/>
              <a:chOff x="615" y="2564"/>
              <a:chExt cx="721" cy="139"/>
            </a:xfrm>
          </p:grpSpPr>
          <p:sp>
            <p:nvSpPr>
              <p:cNvPr id="6298" name="Google Shape;6298;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299" name="Google Shape;6299;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0" name="Google Shape;6300;p9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1" name="Google Shape;6301;p9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02" name="Google Shape;6302;p95"/>
            <p:cNvGrpSpPr/>
            <p:nvPr/>
          </p:nvGrpSpPr>
          <p:grpSpPr>
            <a:xfrm>
              <a:off x="4738" y="1647"/>
              <a:ext cx="578" cy="135"/>
              <a:chOff x="618" y="2586"/>
              <a:chExt cx="720" cy="124"/>
            </a:xfrm>
          </p:grpSpPr>
          <p:sp>
            <p:nvSpPr>
              <p:cNvPr id="6303" name="Google Shape;6303;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4" name="Google Shape;6304;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5" name="Google Shape;6305;p9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06" name="Google Shape;6306;p95"/>
            <p:cNvGrpSpPr/>
            <p:nvPr/>
          </p:nvGrpSpPr>
          <p:grpSpPr>
            <a:xfrm>
              <a:off x="4738" y="1330"/>
              <a:ext cx="588" cy="134"/>
              <a:chOff x="613" y="2571"/>
              <a:chExt cx="732" cy="134"/>
            </a:xfrm>
          </p:grpSpPr>
          <p:sp>
            <p:nvSpPr>
              <p:cNvPr id="6307" name="Google Shape;6307;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08" name="Google Shape;6308;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09" name="Google Shape;6309;p9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0" name="Google Shape;6310;p9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1" name="Google Shape;6311;p9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2" name="Google Shape;6312;p9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3" name="Google Shape;6313;p9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14" name="Google Shape;6314;p9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5" name="Google Shape;6315;p9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6" name="Google Shape;6316;p9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7" name="Google Shape;6317;p9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318" name="Google Shape;6318;p9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19" name="Google Shape;6319;p9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320" name="Google Shape;6320;p95"/>
          <p:cNvGrpSpPr/>
          <p:nvPr/>
        </p:nvGrpSpPr>
        <p:grpSpPr>
          <a:xfrm>
            <a:off x="6755725" y="5788678"/>
            <a:ext cx="214974" cy="403920"/>
            <a:chOff x="4140" y="429"/>
            <a:chExt cx="1425" cy="2396"/>
          </a:xfrm>
        </p:grpSpPr>
        <p:sp>
          <p:nvSpPr>
            <p:cNvPr id="6321" name="Google Shape;6321;p9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2" name="Google Shape;6322;p9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23" name="Google Shape;6323;p9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4" name="Google Shape;6324;p9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25" name="Google Shape;6325;p9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26" name="Google Shape;6326;p95"/>
            <p:cNvGrpSpPr/>
            <p:nvPr/>
          </p:nvGrpSpPr>
          <p:grpSpPr>
            <a:xfrm>
              <a:off x="4748" y="666"/>
              <a:ext cx="578" cy="150"/>
              <a:chOff x="613" y="2566"/>
              <a:chExt cx="721" cy="144"/>
            </a:xfrm>
          </p:grpSpPr>
          <p:sp>
            <p:nvSpPr>
              <p:cNvPr id="6327" name="Google Shape;6327;p9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28" name="Google Shape;6328;p9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29" name="Google Shape;6329;p9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30" name="Google Shape;6330;p95"/>
            <p:cNvGrpSpPr/>
            <p:nvPr/>
          </p:nvGrpSpPr>
          <p:grpSpPr>
            <a:xfrm>
              <a:off x="4748" y="990"/>
              <a:ext cx="578" cy="134"/>
              <a:chOff x="615" y="2564"/>
              <a:chExt cx="721" cy="139"/>
            </a:xfrm>
          </p:grpSpPr>
          <p:sp>
            <p:nvSpPr>
              <p:cNvPr id="6331" name="Google Shape;6331;p9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2" name="Google Shape;6332;p9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33" name="Google Shape;6333;p9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4" name="Google Shape;6334;p9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35" name="Google Shape;6335;p95"/>
            <p:cNvGrpSpPr/>
            <p:nvPr/>
          </p:nvGrpSpPr>
          <p:grpSpPr>
            <a:xfrm>
              <a:off x="4738" y="1647"/>
              <a:ext cx="578" cy="135"/>
              <a:chOff x="618" y="2586"/>
              <a:chExt cx="720" cy="124"/>
            </a:xfrm>
          </p:grpSpPr>
          <p:sp>
            <p:nvSpPr>
              <p:cNvPr id="6336" name="Google Shape;6336;p9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37" name="Google Shape;6337;p9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38" name="Google Shape;6338;p9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339" name="Google Shape;6339;p95"/>
            <p:cNvGrpSpPr/>
            <p:nvPr/>
          </p:nvGrpSpPr>
          <p:grpSpPr>
            <a:xfrm>
              <a:off x="4738" y="1330"/>
              <a:ext cx="588" cy="134"/>
              <a:chOff x="613" y="2571"/>
              <a:chExt cx="732" cy="134"/>
            </a:xfrm>
          </p:grpSpPr>
          <p:sp>
            <p:nvSpPr>
              <p:cNvPr id="6340" name="Google Shape;6340;p9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1" name="Google Shape;6341;p9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342" name="Google Shape;6342;p9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3" name="Google Shape;6343;p9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4" name="Google Shape;6344;p9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5" name="Google Shape;6345;p9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6" name="Google Shape;6346;p9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347" name="Google Shape;6347;p9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8" name="Google Shape;6348;p9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49" name="Google Shape;6349;p9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50" name="Google Shape;6350;p9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351" name="Google Shape;6351;p9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352" name="Google Shape;6352;p9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353" name="Google Shape;6353;p95"/>
          <p:cNvGrpSpPr/>
          <p:nvPr/>
        </p:nvGrpSpPr>
        <p:grpSpPr>
          <a:xfrm>
            <a:off x="5852005" y="4128902"/>
            <a:ext cx="367224" cy="240304"/>
            <a:chOff x="7493876" y="2774731"/>
            <a:chExt cx="1481958" cy="894622"/>
          </a:xfrm>
        </p:grpSpPr>
        <p:sp>
          <p:nvSpPr>
            <p:cNvPr id="6354" name="Google Shape;6354;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55" name="Google Shape;6355;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56" name="Google Shape;6356;p95"/>
            <p:cNvGrpSpPr/>
            <p:nvPr/>
          </p:nvGrpSpPr>
          <p:grpSpPr>
            <a:xfrm>
              <a:off x="7713663" y="2848339"/>
              <a:ext cx="1042107" cy="425543"/>
              <a:chOff x="7786941" y="2884917"/>
              <a:chExt cx="897649" cy="353919"/>
            </a:xfrm>
          </p:grpSpPr>
          <p:sp>
            <p:nvSpPr>
              <p:cNvPr id="6357" name="Google Shape;6357;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8" name="Google Shape;6358;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59" name="Google Shape;6359;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0" name="Google Shape;6360;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61" name="Google Shape;6361;p95"/>
          <p:cNvGrpSpPr/>
          <p:nvPr/>
        </p:nvGrpSpPr>
        <p:grpSpPr>
          <a:xfrm>
            <a:off x="6354771" y="4172041"/>
            <a:ext cx="367224" cy="240304"/>
            <a:chOff x="7493876" y="2774731"/>
            <a:chExt cx="1481958" cy="894622"/>
          </a:xfrm>
        </p:grpSpPr>
        <p:sp>
          <p:nvSpPr>
            <p:cNvPr id="6362" name="Google Shape;6362;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63" name="Google Shape;6363;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64" name="Google Shape;6364;p95"/>
            <p:cNvGrpSpPr/>
            <p:nvPr/>
          </p:nvGrpSpPr>
          <p:grpSpPr>
            <a:xfrm>
              <a:off x="7713663" y="2848339"/>
              <a:ext cx="1042107" cy="425543"/>
              <a:chOff x="7786941" y="2884917"/>
              <a:chExt cx="897649" cy="353919"/>
            </a:xfrm>
          </p:grpSpPr>
          <p:sp>
            <p:nvSpPr>
              <p:cNvPr id="6365" name="Google Shape;6365;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6" name="Google Shape;6366;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7" name="Google Shape;6367;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68" name="Google Shape;6368;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69" name="Google Shape;6369;p95"/>
          <p:cNvGrpSpPr/>
          <p:nvPr/>
        </p:nvGrpSpPr>
        <p:grpSpPr>
          <a:xfrm>
            <a:off x="4803287" y="4138272"/>
            <a:ext cx="354986" cy="175668"/>
            <a:chOff x="7493876" y="2774731"/>
            <a:chExt cx="1481958" cy="894622"/>
          </a:xfrm>
        </p:grpSpPr>
        <p:sp>
          <p:nvSpPr>
            <p:cNvPr id="6370" name="Google Shape;6370;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71" name="Google Shape;6371;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72" name="Google Shape;6372;p95"/>
            <p:cNvGrpSpPr/>
            <p:nvPr/>
          </p:nvGrpSpPr>
          <p:grpSpPr>
            <a:xfrm>
              <a:off x="7713663" y="2848339"/>
              <a:ext cx="1042107" cy="425543"/>
              <a:chOff x="7786941" y="2884917"/>
              <a:chExt cx="897649" cy="353919"/>
            </a:xfrm>
          </p:grpSpPr>
          <p:sp>
            <p:nvSpPr>
              <p:cNvPr id="6373" name="Google Shape;6373;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4" name="Google Shape;6374;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5" name="Google Shape;6375;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76" name="Google Shape;6376;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77" name="Google Shape;6377;p95"/>
          <p:cNvGrpSpPr/>
          <p:nvPr/>
        </p:nvGrpSpPr>
        <p:grpSpPr>
          <a:xfrm>
            <a:off x="6001110" y="4947964"/>
            <a:ext cx="393760" cy="218578"/>
            <a:chOff x="7493876" y="2774731"/>
            <a:chExt cx="1481958" cy="894622"/>
          </a:xfrm>
        </p:grpSpPr>
        <p:sp>
          <p:nvSpPr>
            <p:cNvPr id="6378" name="Google Shape;6378;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79" name="Google Shape;6379;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80" name="Google Shape;6380;p95"/>
            <p:cNvGrpSpPr/>
            <p:nvPr/>
          </p:nvGrpSpPr>
          <p:grpSpPr>
            <a:xfrm>
              <a:off x="7713663" y="2848339"/>
              <a:ext cx="1042107" cy="425543"/>
              <a:chOff x="7786941" y="2884917"/>
              <a:chExt cx="897649" cy="353919"/>
            </a:xfrm>
          </p:grpSpPr>
          <p:sp>
            <p:nvSpPr>
              <p:cNvPr id="6381" name="Google Shape;6381;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2" name="Google Shape;6382;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3" name="Google Shape;6383;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84" name="Google Shape;6384;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85" name="Google Shape;6385;p95"/>
          <p:cNvGrpSpPr/>
          <p:nvPr/>
        </p:nvGrpSpPr>
        <p:grpSpPr>
          <a:xfrm>
            <a:off x="6536775" y="5162261"/>
            <a:ext cx="393760" cy="218578"/>
            <a:chOff x="7493876" y="2774731"/>
            <a:chExt cx="1481958" cy="894622"/>
          </a:xfrm>
        </p:grpSpPr>
        <p:sp>
          <p:nvSpPr>
            <p:cNvPr id="6386" name="Google Shape;6386;p9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387" name="Google Shape;6387;p9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388" name="Google Shape;6388;p95"/>
            <p:cNvGrpSpPr/>
            <p:nvPr/>
          </p:nvGrpSpPr>
          <p:grpSpPr>
            <a:xfrm>
              <a:off x="7713663" y="2848339"/>
              <a:ext cx="1042107" cy="425543"/>
              <a:chOff x="7786941" y="2884917"/>
              <a:chExt cx="897649" cy="353919"/>
            </a:xfrm>
          </p:grpSpPr>
          <p:sp>
            <p:nvSpPr>
              <p:cNvPr id="6389" name="Google Shape;6389;p9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0" name="Google Shape;6390;p9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1" name="Google Shape;6391;p9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392" name="Google Shape;6392;p9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393" name="Google Shape;6393;p95"/>
          <p:cNvGrpSpPr/>
          <p:nvPr/>
        </p:nvGrpSpPr>
        <p:grpSpPr>
          <a:xfrm>
            <a:off x="5534723" y="1952089"/>
            <a:ext cx="271847" cy="453062"/>
            <a:chOff x="5534723" y="1952089"/>
            <a:chExt cx="271847" cy="453062"/>
          </a:xfrm>
        </p:grpSpPr>
        <p:pic>
          <p:nvPicPr>
            <p:cNvPr descr="cell_tower_radiation copy" id="6394" name="Google Shape;6394;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395" name="Google Shape;6395;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396" name="Google Shape;6396;p95"/>
            <p:cNvGrpSpPr/>
            <p:nvPr/>
          </p:nvGrpSpPr>
          <p:grpSpPr>
            <a:xfrm>
              <a:off x="5562338" y="2043663"/>
              <a:ext cx="212313" cy="361488"/>
              <a:chOff x="3130" y="3288"/>
              <a:chExt cx="410" cy="742"/>
            </a:xfrm>
          </p:grpSpPr>
          <p:cxnSp>
            <p:nvCxnSpPr>
              <p:cNvPr id="6397" name="Google Shape;6397;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398" name="Google Shape;6398;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399" name="Google Shape;6399;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00" name="Google Shape;6400;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01" name="Google Shape;6401;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02" name="Google Shape;6402;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03" name="Google Shape;6403;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04" name="Google Shape;6404;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05" name="Google Shape;6405;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06" name="Google Shape;6406;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07" name="Google Shape;6407;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08" name="Google Shape;6408;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09" name="Google Shape;6409;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10" name="Google Shape;6410;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11" name="Google Shape;6411;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cxnSp>
        <p:nvCxnSpPr>
          <p:cNvPr id="6412" name="Google Shape;6412;p95"/>
          <p:cNvCxnSpPr/>
          <p:nvPr/>
        </p:nvCxnSpPr>
        <p:spPr>
          <a:xfrm flipH="1">
            <a:off x="5420211" y="2869913"/>
            <a:ext cx="97012" cy="106867"/>
          </a:xfrm>
          <a:prstGeom prst="straightConnector1">
            <a:avLst/>
          </a:prstGeom>
          <a:noFill/>
          <a:ln cap="flat" cmpd="sng" w="9525">
            <a:solidFill>
              <a:schemeClr val="dk1"/>
            </a:solidFill>
            <a:prstDash val="solid"/>
            <a:round/>
            <a:headEnd len="med" w="med" type="none"/>
            <a:tailEnd len="med" w="med" type="none"/>
          </a:ln>
        </p:spPr>
      </p:cxnSp>
      <p:grpSp>
        <p:nvGrpSpPr>
          <p:cNvPr id="6413" name="Google Shape;6413;p95"/>
          <p:cNvGrpSpPr/>
          <p:nvPr/>
        </p:nvGrpSpPr>
        <p:grpSpPr>
          <a:xfrm>
            <a:off x="4625461" y="1922978"/>
            <a:ext cx="271847" cy="453062"/>
            <a:chOff x="5534723" y="1952089"/>
            <a:chExt cx="271847" cy="453062"/>
          </a:xfrm>
        </p:grpSpPr>
        <p:pic>
          <p:nvPicPr>
            <p:cNvPr descr="cell_tower_radiation copy" id="6414" name="Google Shape;6414;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415" name="Google Shape;6415;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16" name="Google Shape;6416;p95"/>
            <p:cNvGrpSpPr/>
            <p:nvPr/>
          </p:nvGrpSpPr>
          <p:grpSpPr>
            <a:xfrm>
              <a:off x="5562338" y="2043663"/>
              <a:ext cx="212313" cy="361488"/>
              <a:chOff x="3130" y="3288"/>
              <a:chExt cx="410" cy="742"/>
            </a:xfrm>
          </p:grpSpPr>
          <p:cxnSp>
            <p:nvCxnSpPr>
              <p:cNvPr id="6417" name="Google Shape;6417;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418" name="Google Shape;6418;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419" name="Google Shape;6419;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20" name="Google Shape;6420;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21" name="Google Shape;6421;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22" name="Google Shape;6422;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23" name="Google Shape;6423;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24" name="Google Shape;6424;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25" name="Google Shape;6425;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26" name="Google Shape;6426;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27" name="Google Shape;6427;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28" name="Google Shape;6428;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29" name="Google Shape;6429;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30" name="Google Shape;6430;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31" name="Google Shape;6431;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grpSp>
        <p:nvGrpSpPr>
          <p:cNvPr id="6432" name="Google Shape;6432;p95"/>
          <p:cNvGrpSpPr/>
          <p:nvPr/>
        </p:nvGrpSpPr>
        <p:grpSpPr>
          <a:xfrm>
            <a:off x="4185385" y="2421275"/>
            <a:ext cx="271847" cy="453062"/>
            <a:chOff x="5534723" y="1952089"/>
            <a:chExt cx="271847" cy="453062"/>
          </a:xfrm>
        </p:grpSpPr>
        <p:pic>
          <p:nvPicPr>
            <p:cNvPr descr="cell_tower_radiation copy" id="6433" name="Google Shape;6433;p95"/>
            <p:cNvPicPr preferRelativeResize="0"/>
            <p:nvPr/>
          </p:nvPicPr>
          <p:blipFill rotWithShape="1">
            <a:blip r:embed="rId22">
              <a:alphaModFix/>
            </a:blip>
            <a:srcRect b="0" l="0" r="0" t="0"/>
            <a:stretch/>
          </p:blipFill>
          <p:spPr>
            <a:xfrm>
              <a:off x="5534723" y="1952089"/>
              <a:ext cx="271847" cy="197860"/>
            </a:xfrm>
            <a:prstGeom prst="rect">
              <a:avLst/>
            </a:prstGeom>
            <a:noFill/>
            <a:ln>
              <a:noFill/>
            </a:ln>
          </p:spPr>
        </p:pic>
        <p:sp>
          <p:nvSpPr>
            <p:cNvPr id="6434" name="Google Shape;6434;p95"/>
            <p:cNvSpPr/>
            <p:nvPr/>
          </p:nvSpPr>
          <p:spPr>
            <a:xfrm>
              <a:off x="5640100" y="2023483"/>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435" name="Google Shape;6435;p95"/>
            <p:cNvGrpSpPr/>
            <p:nvPr/>
          </p:nvGrpSpPr>
          <p:grpSpPr>
            <a:xfrm>
              <a:off x="5562338" y="2043663"/>
              <a:ext cx="212313" cy="361488"/>
              <a:chOff x="3130" y="3288"/>
              <a:chExt cx="410" cy="742"/>
            </a:xfrm>
          </p:grpSpPr>
          <p:cxnSp>
            <p:nvCxnSpPr>
              <p:cNvPr id="6436" name="Google Shape;6436;p95"/>
              <p:cNvCxnSpPr/>
              <p:nvPr/>
            </p:nvCxnSpPr>
            <p:spPr>
              <a:xfrm flipH="1">
                <a:off x="3130" y="3288"/>
                <a:ext cx="205" cy="672"/>
              </a:xfrm>
              <a:prstGeom prst="straightConnector1">
                <a:avLst/>
              </a:prstGeom>
              <a:noFill/>
              <a:ln cap="flat" cmpd="sng" w="9525">
                <a:solidFill>
                  <a:schemeClr val="dk1"/>
                </a:solidFill>
                <a:prstDash val="solid"/>
                <a:round/>
                <a:headEnd len="med" w="med" type="none"/>
                <a:tailEnd len="med" w="med" type="none"/>
              </a:ln>
            </p:spPr>
          </p:cxnSp>
          <p:cxnSp>
            <p:nvCxnSpPr>
              <p:cNvPr id="6437" name="Google Shape;6437;p95"/>
              <p:cNvCxnSpPr/>
              <p:nvPr/>
            </p:nvCxnSpPr>
            <p:spPr>
              <a:xfrm>
                <a:off x="3335" y="3288"/>
                <a:ext cx="205" cy="669"/>
              </a:xfrm>
              <a:prstGeom prst="straightConnector1">
                <a:avLst/>
              </a:prstGeom>
              <a:noFill/>
              <a:ln cap="flat" cmpd="sng" w="9525">
                <a:solidFill>
                  <a:schemeClr val="dk1"/>
                </a:solidFill>
                <a:prstDash val="solid"/>
                <a:round/>
                <a:headEnd len="med" w="med" type="none"/>
                <a:tailEnd len="med" w="med" type="none"/>
              </a:ln>
            </p:spPr>
          </p:cxnSp>
          <p:cxnSp>
            <p:nvCxnSpPr>
              <p:cNvPr id="6438" name="Google Shape;6438;p95"/>
              <p:cNvCxnSpPr/>
              <p:nvPr/>
            </p:nvCxnSpPr>
            <p:spPr>
              <a:xfrm>
                <a:off x="3130"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39" name="Google Shape;6439;p95"/>
              <p:cNvCxnSpPr/>
              <p:nvPr/>
            </p:nvCxnSpPr>
            <p:spPr>
              <a:xfrm flipH="1">
                <a:off x="3335" y="3957"/>
                <a:ext cx="205" cy="73"/>
              </a:xfrm>
              <a:prstGeom prst="straightConnector1">
                <a:avLst/>
              </a:prstGeom>
              <a:noFill/>
              <a:ln cap="flat" cmpd="sng" w="9525">
                <a:solidFill>
                  <a:schemeClr val="dk1"/>
                </a:solidFill>
                <a:prstDash val="solid"/>
                <a:round/>
                <a:headEnd len="med" w="med" type="none"/>
                <a:tailEnd len="med" w="med" type="none"/>
              </a:ln>
            </p:spPr>
          </p:cxnSp>
          <p:cxnSp>
            <p:nvCxnSpPr>
              <p:cNvPr id="6440" name="Google Shape;6440;p95"/>
              <p:cNvCxnSpPr/>
              <p:nvPr/>
            </p:nvCxnSpPr>
            <p:spPr>
              <a:xfrm>
                <a:off x="3335" y="3303"/>
                <a:ext cx="0" cy="727"/>
              </a:xfrm>
              <a:prstGeom prst="straightConnector1">
                <a:avLst/>
              </a:prstGeom>
              <a:noFill/>
              <a:ln cap="flat" cmpd="sng" w="9525">
                <a:solidFill>
                  <a:schemeClr val="dk1"/>
                </a:solidFill>
                <a:prstDash val="solid"/>
                <a:round/>
                <a:headEnd len="med" w="med" type="none"/>
                <a:tailEnd len="med" w="med" type="none"/>
              </a:ln>
            </p:spPr>
          </p:cxnSp>
          <p:cxnSp>
            <p:nvCxnSpPr>
              <p:cNvPr id="6441" name="Google Shape;6441;p95"/>
              <p:cNvCxnSpPr/>
              <p:nvPr/>
            </p:nvCxnSpPr>
            <p:spPr>
              <a:xfrm flipH="1" rot="10800000">
                <a:off x="3130" y="3888"/>
                <a:ext cx="205" cy="72"/>
              </a:xfrm>
              <a:prstGeom prst="straightConnector1">
                <a:avLst/>
              </a:prstGeom>
              <a:noFill/>
              <a:ln cap="flat" cmpd="sng" w="9525">
                <a:solidFill>
                  <a:schemeClr val="dk1"/>
                </a:solidFill>
                <a:prstDash val="solid"/>
                <a:round/>
                <a:headEnd len="med" w="med" type="none"/>
                <a:tailEnd len="med" w="med" type="none"/>
              </a:ln>
            </p:spPr>
          </p:cxnSp>
          <p:cxnSp>
            <p:nvCxnSpPr>
              <p:cNvPr id="6442" name="Google Shape;6442;p95"/>
              <p:cNvCxnSpPr/>
              <p:nvPr/>
            </p:nvCxnSpPr>
            <p:spPr>
              <a:xfrm rot="10800000">
                <a:off x="3335" y="3888"/>
                <a:ext cx="205" cy="69"/>
              </a:xfrm>
              <a:prstGeom prst="straightConnector1">
                <a:avLst/>
              </a:prstGeom>
              <a:noFill/>
              <a:ln cap="flat" cmpd="sng" w="9525">
                <a:solidFill>
                  <a:schemeClr val="dk1"/>
                </a:solidFill>
                <a:prstDash val="solid"/>
                <a:round/>
                <a:headEnd len="med" w="med" type="none"/>
                <a:tailEnd len="med" w="med" type="none"/>
              </a:ln>
            </p:spPr>
          </p:cxnSp>
          <p:cxnSp>
            <p:nvCxnSpPr>
              <p:cNvPr id="6443" name="Google Shape;6443;p95"/>
              <p:cNvCxnSpPr/>
              <p:nvPr/>
            </p:nvCxnSpPr>
            <p:spPr>
              <a:xfrm>
                <a:off x="3217" y="3668"/>
                <a:ext cx="118" cy="55"/>
              </a:xfrm>
              <a:prstGeom prst="straightConnector1">
                <a:avLst/>
              </a:prstGeom>
              <a:noFill/>
              <a:ln cap="flat" cmpd="sng" w="9525">
                <a:solidFill>
                  <a:schemeClr val="dk1"/>
                </a:solidFill>
                <a:prstDash val="solid"/>
                <a:round/>
                <a:headEnd len="med" w="med" type="none"/>
                <a:tailEnd len="med" w="med" type="none"/>
              </a:ln>
            </p:spPr>
          </p:cxnSp>
          <p:cxnSp>
            <p:nvCxnSpPr>
              <p:cNvPr id="6444" name="Google Shape;6444;p95"/>
              <p:cNvCxnSpPr/>
              <p:nvPr/>
            </p:nvCxnSpPr>
            <p:spPr>
              <a:xfrm flipH="1" rot="10800000">
                <a:off x="3335" y="3668"/>
                <a:ext cx="124" cy="55"/>
              </a:xfrm>
              <a:prstGeom prst="straightConnector1">
                <a:avLst/>
              </a:prstGeom>
              <a:noFill/>
              <a:ln cap="flat" cmpd="sng" w="9525">
                <a:solidFill>
                  <a:schemeClr val="dk1"/>
                </a:solidFill>
                <a:prstDash val="solid"/>
                <a:round/>
                <a:headEnd len="med" w="med" type="none"/>
                <a:tailEnd len="med" w="med" type="none"/>
              </a:ln>
            </p:spPr>
          </p:cxnSp>
          <p:cxnSp>
            <p:nvCxnSpPr>
              <p:cNvPr id="6445" name="Google Shape;6445;p95"/>
              <p:cNvCxnSpPr/>
              <p:nvPr/>
            </p:nvCxnSpPr>
            <p:spPr>
              <a:xfrm>
                <a:off x="3178" y="3766"/>
                <a:ext cx="152" cy="75"/>
              </a:xfrm>
              <a:prstGeom prst="straightConnector1">
                <a:avLst/>
              </a:prstGeom>
              <a:noFill/>
              <a:ln cap="flat" cmpd="sng" w="9525">
                <a:solidFill>
                  <a:schemeClr val="dk1"/>
                </a:solidFill>
                <a:prstDash val="solid"/>
                <a:round/>
                <a:headEnd len="med" w="med" type="none"/>
                <a:tailEnd len="med" w="med" type="none"/>
              </a:ln>
            </p:spPr>
          </p:cxnSp>
          <p:cxnSp>
            <p:nvCxnSpPr>
              <p:cNvPr id="6446" name="Google Shape;6446;p95"/>
              <p:cNvCxnSpPr/>
              <p:nvPr/>
            </p:nvCxnSpPr>
            <p:spPr>
              <a:xfrm flipH="1" rot="10800000">
                <a:off x="3335" y="3781"/>
                <a:ext cx="153" cy="66"/>
              </a:xfrm>
              <a:prstGeom prst="straightConnector1">
                <a:avLst/>
              </a:prstGeom>
              <a:noFill/>
              <a:ln cap="flat" cmpd="sng" w="9525">
                <a:solidFill>
                  <a:schemeClr val="dk1"/>
                </a:solidFill>
                <a:prstDash val="solid"/>
                <a:round/>
                <a:headEnd len="med" w="med" type="none"/>
                <a:tailEnd len="med" w="med" type="none"/>
              </a:ln>
            </p:spPr>
          </p:cxnSp>
          <p:cxnSp>
            <p:nvCxnSpPr>
              <p:cNvPr id="6447" name="Google Shape;6447;p95"/>
              <p:cNvCxnSpPr/>
              <p:nvPr/>
            </p:nvCxnSpPr>
            <p:spPr>
              <a:xfrm flipH="1" rot="10800000">
                <a:off x="3335" y="3567"/>
                <a:ext cx="78" cy="27"/>
              </a:xfrm>
              <a:prstGeom prst="straightConnector1">
                <a:avLst/>
              </a:prstGeom>
              <a:noFill/>
              <a:ln cap="flat" cmpd="sng" w="9525">
                <a:solidFill>
                  <a:schemeClr val="dk1"/>
                </a:solidFill>
                <a:prstDash val="solid"/>
                <a:round/>
                <a:headEnd len="med" w="med" type="none"/>
                <a:tailEnd len="med" w="med" type="none"/>
              </a:ln>
            </p:spPr>
          </p:cxnSp>
          <p:cxnSp>
            <p:nvCxnSpPr>
              <p:cNvPr id="6448" name="Google Shape;6448;p95"/>
              <p:cNvCxnSpPr/>
              <p:nvPr/>
            </p:nvCxnSpPr>
            <p:spPr>
              <a:xfrm flipH="1" rot="10800000">
                <a:off x="3335" y="3428"/>
                <a:ext cx="49" cy="21"/>
              </a:xfrm>
              <a:prstGeom prst="straightConnector1">
                <a:avLst/>
              </a:prstGeom>
              <a:noFill/>
              <a:ln cap="flat" cmpd="sng" w="9525">
                <a:solidFill>
                  <a:schemeClr val="dk1"/>
                </a:solidFill>
                <a:prstDash val="solid"/>
                <a:round/>
                <a:headEnd len="med" w="med" type="none"/>
                <a:tailEnd len="med" w="med" type="none"/>
              </a:ln>
            </p:spPr>
          </p:cxnSp>
          <p:cxnSp>
            <p:nvCxnSpPr>
              <p:cNvPr id="6449" name="Google Shape;6449;p95"/>
              <p:cNvCxnSpPr/>
              <p:nvPr/>
            </p:nvCxnSpPr>
            <p:spPr>
              <a:xfrm>
                <a:off x="3247" y="3558"/>
                <a:ext cx="95" cy="36"/>
              </a:xfrm>
              <a:prstGeom prst="straightConnector1">
                <a:avLst/>
              </a:prstGeom>
              <a:noFill/>
              <a:ln cap="flat" cmpd="sng" w="9525">
                <a:solidFill>
                  <a:schemeClr val="dk1"/>
                </a:solidFill>
                <a:prstDash val="solid"/>
                <a:round/>
                <a:headEnd len="med" w="med" type="none"/>
                <a:tailEnd len="med" w="med" type="none"/>
              </a:ln>
            </p:spPr>
          </p:cxnSp>
          <p:cxnSp>
            <p:nvCxnSpPr>
              <p:cNvPr id="6450" name="Google Shape;6450;p95"/>
              <p:cNvCxnSpPr/>
              <p:nvPr/>
            </p:nvCxnSpPr>
            <p:spPr>
              <a:xfrm>
                <a:off x="3289" y="3422"/>
                <a:ext cx="55" cy="36"/>
              </a:xfrm>
              <a:prstGeom prst="straightConnector1">
                <a:avLst/>
              </a:prstGeom>
              <a:noFill/>
              <a:ln cap="flat" cmpd="sng" w="9525">
                <a:solidFill>
                  <a:schemeClr val="dk1"/>
                </a:solidFill>
                <a:prstDash val="solid"/>
                <a:round/>
                <a:headEnd len="med" w="med" type="none"/>
                <a:tailEnd len="med" w="med" type="none"/>
              </a:ln>
            </p:spPr>
          </p:cxnSp>
        </p:grpSp>
      </p:grpSp>
      <p:sp>
        <p:nvSpPr>
          <p:cNvPr id="6451" name="Google Shape;6451;p95"/>
          <p:cNvSpPr/>
          <p:nvPr/>
        </p:nvSpPr>
        <p:spPr>
          <a:xfrm>
            <a:off x="1119809" y="2216359"/>
            <a:ext cx="2332382" cy="11449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NAT</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home, cellular, institutional</a:t>
            </a:r>
            <a:endParaRPr/>
          </a:p>
        </p:txBody>
      </p:sp>
      <p:sp>
        <p:nvSpPr>
          <p:cNvPr id="6452" name="Google Shape;6452;p95"/>
          <p:cNvSpPr/>
          <p:nvPr/>
        </p:nvSpPr>
        <p:spPr>
          <a:xfrm>
            <a:off x="7957932" y="1255577"/>
            <a:ext cx="3995530" cy="11449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Firewalls, IDS</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corporate, institutional, service providers, ISPs</a:t>
            </a:r>
            <a:endParaRPr/>
          </a:p>
        </p:txBody>
      </p:sp>
      <p:sp>
        <p:nvSpPr>
          <p:cNvPr id="6453" name="Google Shape;6453;p95"/>
          <p:cNvSpPr/>
          <p:nvPr/>
        </p:nvSpPr>
        <p:spPr>
          <a:xfrm>
            <a:off x="8653671" y="3077751"/>
            <a:ext cx="3193773" cy="147732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Load balancers</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corporate, service provider, data center, mobile nets</a:t>
            </a:r>
            <a:endParaRPr/>
          </a:p>
        </p:txBody>
      </p:sp>
      <p:sp>
        <p:nvSpPr>
          <p:cNvPr id="6454" name="Google Shape;6454;p95"/>
          <p:cNvSpPr/>
          <p:nvPr/>
        </p:nvSpPr>
        <p:spPr>
          <a:xfrm>
            <a:off x="8183219" y="5297489"/>
            <a:ext cx="3193773" cy="81253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Caches</a:t>
            </a:r>
            <a:r>
              <a:rPr b="0" i="0" lang="en-US" sz="2800" u="none" cap="none" strike="noStrike">
                <a:solidFill>
                  <a:srgbClr val="000000"/>
                </a:solidFill>
                <a:latin typeface="Calibri"/>
                <a:ea typeface="Calibri"/>
                <a:cs typeface="Calibri"/>
                <a:sym typeface="Calibri"/>
              </a:rPr>
              <a:t>:</a:t>
            </a:r>
            <a:r>
              <a:rPr b="0" i="0" lang="en-US" sz="2400" u="none" cap="none" strike="noStrike">
                <a:solidFill>
                  <a:srgbClr val="000000"/>
                </a:solidFill>
                <a:latin typeface="Calibri"/>
                <a:ea typeface="Calibri"/>
                <a:cs typeface="Calibri"/>
                <a:sym typeface="Calibri"/>
              </a:rPr>
              <a:t> service provider, mobile, CDNs</a:t>
            </a:r>
            <a:endParaRPr/>
          </a:p>
        </p:txBody>
      </p:sp>
      <p:sp>
        <p:nvSpPr>
          <p:cNvPr id="6455" name="Google Shape;6455;p95"/>
          <p:cNvSpPr/>
          <p:nvPr/>
        </p:nvSpPr>
        <p:spPr>
          <a:xfrm>
            <a:off x="1384853" y="4369836"/>
            <a:ext cx="2332382" cy="1865126"/>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C00000"/>
              </a:buClr>
              <a:buSzPts val="2800"/>
              <a:buFont typeface="Calibri"/>
              <a:buNone/>
            </a:pPr>
            <a:r>
              <a:rPr b="0" i="0" lang="en-US" sz="2800" u="none" cap="none" strike="noStrike">
                <a:solidFill>
                  <a:srgbClr val="C00000"/>
                </a:solidFill>
                <a:latin typeface="Calibri"/>
                <a:ea typeface="Calibri"/>
                <a:cs typeface="Calibri"/>
                <a:sym typeface="Calibri"/>
              </a:rPr>
              <a:t>Application-specific</a:t>
            </a:r>
            <a:r>
              <a:rPr b="0" i="0" lang="en-US" sz="28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service providers, institutional, CDN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1"/>
                                        </p:tgtEl>
                                        <p:attrNameLst>
                                          <p:attrName>style.visibility</p:attrName>
                                        </p:attrNameLst>
                                      </p:cBhvr>
                                      <p:to>
                                        <p:strVal val="visible"/>
                                      </p:to>
                                    </p:set>
                                    <p:animEffect filter="fade" transition="in">
                                      <p:cBhvr>
                                        <p:cTn dur="500"/>
                                        <p:tgtEl>
                                          <p:spTgt spid="6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2"/>
                                        </p:tgtEl>
                                        <p:attrNameLst>
                                          <p:attrName>style.visibility</p:attrName>
                                        </p:attrNameLst>
                                      </p:cBhvr>
                                      <p:to>
                                        <p:strVal val="visible"/>
                                      </p:to>
                                    </p:set>
                                    <p:animEffect filter="fade" transition="in">
                                      <p:cBhvr>
                                        <p:cTn dur="500"/>
                                        <p:tgtEl>
                                          <p:spTgt spid="6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3"/>
                                        </p:tgtEl>
                                        <p:attrNameLst>
                                          <p:attrName>style.visibility</p:attrName>
                                        </p:attrNameLst>
                                      </p:cBhvr>
                                      <p:to>
                                        <p:strVal val="visible"/>
                                      </p:to>
                                    </p:set>
                                    <p:animEffect filter="fade" transition="in">
                                      <p:cBhvr>
                                        <p:cTn dur="500"/>
                                        <p:tgtEl>
                                          <p:spTgt spid="6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5"/>
                                        </p:tgtEl>
                                        <p:attrNameLst>
                                          <p:attrName>style.visibility</p:attrName>
                                        </p:attrNameLst>
                                      </p:cBhvr>
                                      <p:to>
                                        <p:strVal val="visible"/>
                                      </p:to>
                                    </p:set>
                                    <p:animEffect filter="fade" transition="in">
                                      <p:cBhvr>
                                        <p:cTn dur="500"/>
                                        <p:tgtEl>
                                          <p:spTgt spid="6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54"/>
                                        </p:tgtEl>
                                        <p:attrNameLst>
                                          <p:attrName>style.visibility</p:attrName>
                                        </p:attrNameLst>
                                      </p:cBhvr>
                                      <p:to>
                                        <p:strVal val="visible"/>
                                      </p:to>
                                    </p:set>
                                    <p:animEffect filter="fade" transition="in">
                                      <p:cBhvr>
                                        <p:cTn dur="500"/>
                                        <p:tgtEl>
                                          <p:spTgt spid="64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0" name="Shape 6460"/>
        <p:cNvGrpSpPr/>
        <p:nvPr/>
      </p:nvGrpSpPr>
      <p:grpSpPr>
        <a:xfrm>
          <a:off x="0" y="0"/>
          <a:ext cx="0" cy="0"/>
          <a:chOff x="0" y="0"/>
          <a:chExt cx="0" cy="0"/>
        </a:xfrm>
      </p:grpSpPr>
      <p:sp>
        <p:nvSpPr>
          <p:cNvPr id="6461" name="Google Shape;6461;p96"/>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Middleboxes</a:t>
            </a:r>
            <a:endParaRPr/>
          </a:p>
        </p:txBody>
      </p:sp>
      <p:sp>
        <p:nvSpPr>
          <p:cNvPr id="6462" name="Google Shape;6462;p96"/>
          <p:cNvSpPr/>
          <p:nvPr/>
        </p:nvSpPr>
        <p:spPr>
          <a:xfrm>
            <a:off x="857251" y="1503507"/>
            <a:ext cx="10706216" cy="4431983"/>
          </a:xfrm>
          <a:prstGeom prst="rect">
            <a:avLst/>
          </a:prstGeom>
          <a:noFill/>
          <a:ln>
            <a:noFill/>
          </a:ln>
        </p:spPr>
        <p:txBody>
          <a:bodyPr anchorCtr="0" anchor="t" bIns="45700" lIns="91425" spcFirstLastPara="1" rIns="91425" wrap="square" tIns="45700">
            <a:noAutofit/>
          </a:bodyPr>
          <a:lstStyle/>
          <a:p>
            <a:pPr indent="-330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initially: proprietary (closed) hardware solutions</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towards </a:t>
            </a:r>
            <a:r>
              <a:rPr b="0" i="0" lang="en-US" sz="2800" u="none" cap="none" strike="noStrike">
                <a:solidFill>
                  <a:srgbClr val="0000A8"/>
                </a:solidFill>
                <a:latin typeface="Calibri"/>
                <a:ea typeface="Calibri"/>
                <a:cs typeface="Calibri"/>
                <a:sym typeface="Calibri"/>
              </a:rPr>
              <a:t>“whitebox” hardware</a:t>
            </a:r>
            <a:r>
              <a:rPr b="0" i="0" lang="en-US" sz="2800" u="none" cap="none" strike="noStrike">
                <a:solidFill>
                  <a:srgbClr val="000000"/>
                </a:solidFill>
                <a:latin typeface="Calibri"/>
                <a:ea typeface="Calibri"/>
                <a:cs typeface="Calibri"/>
                <a:sym typeface="Calibri"/>
              </a:rPr>
              <a:t> implementing open API</a:t>
            </a:r>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away from proprietary hardware solutions</a:t>
            </a:r>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A8"/>
                </a:solidFill>
                <a:latin typeface="Calibri"/>
                <a:ea typeface="Calibri"/>
                <a:cs typeface="Calibri"/>
                <a:sym typeface="Calibri"/>
              </a:rPr>
              <a:t>programmable local actions </a:t>
            </a:r>
            <a:r>
              <a:rPr b="0" i="0" lang="en-US" sz="2800" u="none" cap="none" strike="noStrike">
                <a:solidFill>
                  <a:srgbClr val="000000"/>
                </a:solidFill>
                <a:latin typeface="Calibri"/>
                <a:ea typeface="Calibri"/>
                <a:cs typeface="Calibri"/>
                <a:sym typeface="Calibri"/>
              </a:rPr>
              <a:t>via match+action</a:t>
            </a:r>
            <a:endParaRPr b="0" i="0" sz="2800" u="none" cap="none" strike="noStrike">
              <a:solidFill>
                <a:srgbClr val="000000"/>
              </a:solidFill>
              <a:latin typeface="Calibri"/>
              <a:ea typeface="Calibri"/>
              <a:cs typeface="Calibri"/>
              <a:sym typeface="Calibri"/>
            </a:endParaRPr>
          </a:p>
          <a:p>
            <a:pPr indent="-339725" lvl="1" marL="9144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move towards innovation/differentiation in software</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00A8"/>
                </a:solidFill>
                <a:latin typeface="Calibri"/>
                <a:ea typeface="Calibri"/>
                <a:cs typeface="Calibri"/>
                <a:sym typeface="Calibri"/>
              </a:rPr>
              <a:t>SDN: </a:t>
            </a:r>
            <a:r>
              <a:rPr b="0" i="0" lang="en-US" sz="2800" u="none" cap="none" strike="noStrike">
                <a:solidFill>
                  <a:srgbClr val="000000"/>
                </a:solidFill>
                <a:latin typeface="Calibri"/>
                <a:ea typeface="Calibri"/>
                <a:cs typeface="Calibri"/>
                <a:sym typeface="Calibri"/>
              </a:rPr>
              <a:t>(logically) centralized control and configuration management often in  private/public cloud</a:t>
            </a:r>
            <a:endParaRPr/>
          </a:p>
          <a:p>
            <a:pPr indent="-339725" lvl="0" marL="457200" marR="0" rtl="0" algn="l">
              <a:lnSpc>
                <a:spcPct val="100000"/>
              </a:lnSpc>
              <a:spcBef>
                <a:spcPts val="600"/>
              </a:spcBef>
              <a:spcAft>
                <a:spcPts val="0"/>
              </a:spcAft>
              <a:buClr>
                <a:srgbClr val="0000A8"/>
              </a:buClr>
              <a:buSzPts val="2800"/>
              <a:buFont typeface="Noto Sans Symbols"/>
              <a:buChar char="▪"/>
            </a:pPr>
            <a:r>
              <a:rPr b="0" i="0" lang="en-US" sz="2800" u="none" cap="none" strike="noStrike">
                <a:solidFill>
                  <a:srgbClr val="0013A3"/>
                </a:solidFill>
                <a:latin typeface="Calibri"/>
                <a:ea typeface="Calibri"/>
                <a:cs typeface="Calibri"/>
                <a:sym typeface="Calibri"/>
              </a:rPr>
              <a:t>network functions virtualization (NFV): </a:t>
            </a:r>
            <a:r>
              <a:rPr b="0" i="0" lang="en-US" sz="2800" u="none" cap="none" strike="noStrike">
                <a:solidFill>
                  <a:srgbClr val="000000"/>
                </a:solidFill>
                <a:latin typeface="Calibri"/>
                <a:ea typeface="Calibri"/>
                <a:cs typeface="Calibri"/>
                <a:sym typeface="Calibri"/>
              </a:rPr>
              <a:t>programmable services over white box  networking, computation, storage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62">
                                            <p:txEl>
                                              <p:pRg end="0" st="0"/>
                                            </p:txEl>
                                          </p:spTgt>
                                        </p:tgtEl>
                                        <p:attrNameLst>
                                          <p:attrName>style.visibility</p:attrName>
                                        </p:attrNameLst>
                                      </p:cBhvr>
                                      <p:to>
                                        <p:strVal val="visible"/>
                                      </p:to>
                                    </p:set>
                                    <p:animEffect filter="fade" transition="in">
                                      <p:cBhvr>
                                        <p:cTn dur="500"/>
                                        <p:tgtEl>
                                          <p:spTgt spid="646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1" st="1"/>
                                            </p:txEl>
                                          </p:spTgt>
                                        </p:tgtEl>
                                        <p:attrNameLst>
                                          <p:attrName>style.visibility</p:attrName>
                                        </p:attrNameLst>
                                      </p:cBhvr>
                                      <p:to>
                                        <p:strVal val="visible"/>
                                      </p:to>
                                    </p:set>
                                    <p:animEffect filter="fade" transition="in">
                                      <p:cBhvr>
                                        <p:cTn dur="500"/>
                                        <p:tgtEl>
                                          <p:spTgt spid="646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2" st="2"/>
                                            </p:txEl>
                                          </p:spTgt>
                                        </p:tgtEl>
                                        <p:attrNameLst>
                                          <p:attrName>style.visibility</p:attrName>
                                        </p:attrNameLst>
                                      </p:cBhvr>
                                      <p:to>
                                        <p:strVal val="visible"/>
                                      </p:to>
                                    </p:set>
                                    <p:animEffect filter="fade" transition="in">
                                      <p:cBhvr>
                                        <p:cTn dur="500"/>
                                        <p:tgtEl>
                                          <p:spTgt spid="646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3" st="3"/>
                                            </p:txEl>
                                          </p:spTgt>
                                        </p:tgtEl>
                                        <p:attrNameLst>
                                          <p:attrName>style.visibility</p:attrName>
                                        </p:attrNameLst>
                                      </p:cBhvr>
                                      <p:to>
                                        <p:strVal val="visible"/>
                                      </p:to>
                                    </p:set>
                                    <p:animEffect filter="fade" transition="in">
                                      <p:cBhvr>
                                        <p:cTn dur="500"/>
                                        <p:tgtEl>
                                          <p:spTgt spid="646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4" st="4"/>
                                            </p:txEl>
                                          </p:spTgt>
                                        </p:tgtEl>
                                        <p:attrNameLst>
                                          <p:attrName>style.visibility</p:attrName>
                                        </p:attrNameLst>
                                      </p:cBhvr>
                                      <p:to>
                                        <p:strVal val="visible"/>
                                      </p:to>
                                    </p:set>
                                    <p:animEffect filter="fade" transition="in">
                                      <p:cBhvr>
                                        <p:cTn dur="500"/>
                                        <p:tgtEl>
                                          <p:spTgt spid="646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5" st="5"/>
                                            </p:txEl>
                                          </p:spTgt>
                                        </p:tgtEl>
                                        <p:attrNameLst>
                                          <p:attrName>style.visibility</p:attrName>
                                        </p:attrNameLst>
                                      </p:cBhvr>
                                      <p:to>
                                        <p:strVal val="visible"/>
                                      </p:to>
                                    </p:set>
                                    <p:animEffect filter="fade" transition="in">
                                      <p:cBhvr>
                                        <p:cTn dur="500"/>
                                        <p:tgtEl>
                                          <p:spTgt spid="646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6462">
                                            <p:txEl>
                                              <p:pRg end="6" st="6"/>
                                            </p:txEl>
                                          </p:spTgt>
                                        </p:tgtEl>
                                        <p:attrNameLst>
                                          <p:attrName>style.visibility</p:attrName>
                                        </p:attrNameLst>
                                      </p:cBhvr>
                                      <p:to>
                                        <p:strVal val="visible"/>
                                      </p:to>
                                    </p:set>
                                    <p:animEffect filter="fade" transition="in">
                                      <p:cBhvr>
                                        <p:cTn dur="500"/>
                                        <p:tgtEl>
                                          <p:spTgt spid="646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7" name="Shape 6467"/>
        <p:cNvGrpSpPr/>
        <p:nvPr/>
      </p:nvGrpSpPr>
      <p:grpSpPr>
        <a:xfrm>
          <a:off x="0" y="0"/>
          <a:ext cx="0" cy="0"/>
          <a:chOff x="0" y="0"/>
          <a:chExt cx="0" cy="0"/>
        </a:xfrm>
      </p:grpSpPr>
      <p:sp>
        <p:nvSpPr>
          <p:cNvPr id="6468" name="Google Shape;6468;p9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IP hourglass</a:t>
            </a:r>
            <a:endParaRPr/>
          </a:p>
        </p:txBody>
      </p:sp>
      <p:grpSp>
        <p:nvGrpSpPr>
          <p:cNvPr id="6469" name="Google Shape;6469;p97"/>
          <p:cNvGrpSpPr/>
          <p:nvPr/>
        </p:nvGrpSpPr>
        <p:grpSpPr>
          <a:xfrm>
            <a:off x="4090857" y="1806499"/>
            <a:ext cx="3614635" cy="3698754"/>
            <a:chOff x="638638" y="3966449"/>
            <a:chExt cx="2486251" cy="2981899"/>
          </a:xfrm>
        </p:grpSpPr>
        <p:sp>
          <p:nvSpPr>
            <p:cNvPr id="6470" name="Google Shape;6470;p97"/>
            <p:cNvSpPr/>
            <p:nvPr/>
          </p:nvSpPr>
          <p:spPr>
            <a:xfrm>
              <a:off x="698244" y="3966449"/>
              <a:ext cx="850271" cy="2960494"/>
            </a:xfrm>
            <a:custGeom>
              <a:rect b="b" l="l" r="r" t="t"/>
              <a:pathLst>
                <a:path extrusionOk="0" h="5030587" w="1475374">
                  <a:moveTo>
                    <a:pt x="15329" y="0"/>
                  </a:moveTo>
                  <a:cubicBezTo>
                    <a:pt x="11506" y="126358"/>
                    <a:pt x="-8193" y="338440"/>
                    <a:pt x="22909" y="490198"/>
                  </a:cubicBezTo>
                  <a:cubicBezTo>
                    <a:pt x="582101" y="1884724"/>
                    <a:pt x="1488947" y="1931578"/>
                    <a:pt x="1475220" y="2463970"/>
                  </a:cubicBezTo>
                  <a:cubicBezTo>
                    <a:pt x="1461493" y="2996362"/>
                    <a:pt x="432418" y="3246650"/>
                    <a:pt x="34630" y="4625210"/>
                  </a:cubicBezTo>
                  <a:cubicBezTo>
                    <a:pt x="-13183" y="4820661"/>
                    <a:pt x="2505" y="4908161"/>
                    <a:pt x="2317" y="50305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6471" name="Google Shape;6471;p97"/>
            <p:cNvSpPr/>
            <p:nvPr/>
          </p:nvSpPr>
          <p:spPr>
            <a:xfrm flipH="1">
              <a:off x="2208181" y="3968317"/>
              <a:ext cx="848879" cy="2945546"/>
            </a:xfrm>
            <a:custGeom>
              <a:rect b="b" l="l" r="r" t="t"/>
              <a:pathLst>
                <a:path extrusionOk="0" h="5005187" w="1472959">
                  <a:moveTo>
                    <a:pt x="6564" y="0"/>
                  </a:moveTo>
                  <a:cubicBezTo>
                    <a:pt x="18616" y="167633"/>
                    <a:pt x="-23308" y="297165"/>
                    <a:pt x="20494" y="487023"/>
                  </a:cubicBezTo>
                  <a:cubicBezTo>
                    <a:pt x="579686" y="1881549"/>
                    <a:pt x="1486532" y="1928403"/>
                    <a:pt x="1472805" y="2460795"/>
                  </a:cubicBezTo>
                  <a:cubicBezTo>
                    <a:pt x="1459078" y="2993187"/>
                    <a:pt x="430003" y="3243475"/>
                    <a:pt x="32215" y="4622035"/>
                  </a:cubicBezTo>
                  <a:cubicBezTo>
                    <a:pt x="6627" y="4811136"/>
                    <a:pt x="-3085" y="4835136"/>
                    <a:pt x="12602" y="50051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6472" name="Google Shape;6472;p97"/>
            <p:cNvGrpSpPr/>
            <p:nvPr/>
          </p:nvGrpSpPr>
          <p:grpSpPr>
            <a:xfrm>
              <a:off x="638638" y="3975358"/>
              <a:ext cx="2477214" cy="120420"/>
              <a:chOff x="551293" y="7597774"/>
              <a:chExt cx="4298417" cy="204622"/>
            </a:xfrm>
          </p:grpSpPr>
          <p:sp>
            <p:nvSpPr>
              <p:cNvPr id="6473" name="Google Shape;6473;p97"/>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474" name="Google Shape;6474;p97"/>
              <p:cNvGrpSpPr/>
              <p:nvPr/>
            </p:nvGrpSpPr>
            <p:grpSpPr>
              <a:xfrm>
                <a:off x="551293" y="7597774"/>
                <a:ext cx="360960" cy="204621"/>
                <a:chOff x="551293" y="7597774"/>
                <a:chExt cx="360960" cy="204621"/>
              </a:xfrm>
            </p:grpSpPr>
            <p:sp>
              <p:nvSpPr>
                <p:cNvPr id="6475" name="Google Shape;6475;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76" name="Google Shape;6476;p97"/>
                <p:cNvSpPr/>
                <p:nvPr/>
              </p:nvSpPr>
              <p:spPr>
                <a:xfrm rot="5400000">
                  <a:off x="710751" y="7569338"/>
                  <a:ext cx="142860"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477" name="Google Shape;6477;p97"/>
              <p:cNvGrpSpPr/>
              <p:nvPr/>
            </p:nvGrpSpPr>
            <p:grpSpPr>
              <a:xfrm flipH="1">
                <a:off x="4488749" y="7597775"/>
                <a:ext cx="360961" cy="204621"/>
                <a:chOff x="551293" y="7597774"/>
                <a:chExt cx="360962" cy="204621"/>
              </a:xfrm>
            </p:grpSpPr>
            <p:sp>
              <p:nvSpPr>
                <p:cNvPr id="6478" name="Google Shape;6478;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79" name="Google Shape;6479;p97"/>
                <p:cNvSpPr/>
                <p:nvPr/>
              </p:nvSpPr>
              <p:spPr>
                <a:xfrm rot="5400000">
                  <a:off x="712127" y="7566745"/>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6480" name="Google Shape;6480;p97"/>
            <p:cNvCxnSpPr/>
            <p:nvPr/>
          </p:nvCxnSpPr>
          <p:spPr>
            <a:xfrm>
              <a:off x="1363009" y="5119694"/>
              <a:ext cx="1037440" cy="0"/>
            </a:xfrm>
            <a:prstGeom prst="straightConnector1">
              <a:avLst/>
            </a:prstGeom>
            <a:noFill/>
            <a:ln cap="flat" cmpd="sng" w="38100">
              <a:solidFill>
                <a:srgbClr val="000090"/>
              </a:solidFill>
              <a:prstDash val="solid"/>
              <a:miter lim="800000"/>
              <a:headEnd len="sm" w="sm" type="none"/>
              <a:tailEnd len="sm" w="sm" type="none"/>
            </a:ln>
          </p:spPr>
        </p:cxnSp>
        <p:cxnSp>
          <p:nvCxnSpPr>
            <p:cNvPr id="6481" name="Google Shape;6481;p97"/>
            <p:cNvCxnSpPr/>
            <p:nvPr/>
          </p:nvCxnSpPr>
          <p:spPr>
            <a:xfrm>
              <a:off x="864736" y="4572767"/>
              <a:ext cx="2029754" cy="0"/>
            </a:xfrm>
            <a:prstGeom prst="straightConnector1">
              <a:avLst/>
            </a:prstGeom>
            <a:noFill/>
            <a:ln cap="flat" cmpd="sng" w="38100">
              <a:solidFill>
                <a:srgbClr val="000090"/>
              </a:solidFill>
              <a:prstDash val="solid"/>
              <a:miter lim="800000"/>
              <a:headEnd len="sm" w="sm" type="none"/>
              <a:tailEnd len="sm" w="sm" type="none"/>
            </a:ln>
          </p:spPr>
        </p:cxnSp>
        <p:cxnSp>
          <p:nvCxnSpPr>
            <p:cNvPr id="6482" name="Google Shape;6482;p97"/>
            <p:cNvCxnSpPr/>
            <p:nvPr/>
          </p:nvCxnSpPr>
          <p:spPr>
            <a:xfrm>
              <a:off x="904423" y="6258602"/>
              <a:ext cx="1951641" cy="0"/>
            </a:xfrm>
            <a:prstGeom prst="straightConnector1">
              <a:avLst/>
            </a:prstGeom>
            <a:noFill/>
            <a:ln cap="flat" cmpd="sng" w="38100">
              <a:solidFill>
                <a:srgbClr val="000090"/>
              </a:solidFill>
              <a:prstDash val="solid"/>
              <a:miter lim="800000"/>
              <a:headEnd len="sm" w="sm" type="none"/>
              <a:tailEnd len="sm" w="sm" type="none"/>
            </a:ln>
          </p:spPr>
        </p:cxnSp>
        <p:cxnSp>
          <p:nvCxnSpPr>
            <p:cNvPr id="6483" name="Google Shape;6483;p97"/>
            <p:cNvCxnSpPr/>
            <p:nvPr/>
          </p:nvCxnSpPr>
          <p:spPr>
            <a:xfrm>
              <a:off x="1336990" y="5748580"/>
              <a:ext cx="1083587" cy="0"/>
            </a:xfrm>
            <a:prstGeom prst="straightConnector1">
              <a:avLst/>
            </a:prstGeom>
            <a:noFill/>
            <a:ln cap="flat" cmpd="sng" w="38100">
              <a:solidFill>
                <a:srgbClr val="000090"/>
              </a:solidFill>
              <a:prstDash val="solid"/>
              <a:miter lim="800000"/>
              <a:headEnd len="sm" w="sm" type="none"/>
              <a:tailEnd len="sm" w="sm" type="none"/>
            </a:ln>
          </p:spPr>
        </p:cxnSp>
        <p:sp>
          <p:nvSpPr>
            <p:cNvPr id="6484" name="Google Shape;6484;p97"/>
            <p:cNvSpPr txBox="1"/>
            <p:nvPr/>
          </p:nvSpPr>
          <p:spPr>
            <a:xfrm>
              <a:off x="1701671" y="5248774"/>
              <a:ext cx="31666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IP</a:t>
              </a:r>
              <a:endParaRPr/>
            </a:p>
          </p:txBody>
        </p:sp>
        <p:sp>
          <p:nvSpPr>
            <p:cNvPr id="6485" name="Google Shape;6485;p97"/>
            <p:cNvSpPr txBox="1"/>
            <p:nvPr/>
          </p:nvSpPr>
          <p:spPr>
            <a:xfrm>
              <a:off x="1317827" y="4665231"/>
              <a:ext cx="55747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a:t>
              </a:r>
              <a:endParaRPr/>
            </a:p>
          </p:txBody>
        </p:sp>
        <p:sp>
          <p:nvSpPr>
            <p:cNvPr id="6486" name="Google Shape;6486;p97"/>
            <p:cNvSpPr txBox="1"/>
            <p:nvPr/>
          </p:nvSpPr>
          <p:spPr>
            <a:xfrm>
              <a:off x="1921463" y="4672273"/>
              <a:ext cx="56585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a:t>
              </a:r>
              <a:endParaRPr/>
            </a:p>
          </p:txBody>
        </p:sp>
        <p:sp>
          <p:nvSpPr>
            <p:cNvPr id="6487" name="Google Shape;6487;p97"/>
            <p:cNvSpPr txBox="1"/>
            <p:nvPr/>
          </p:nvSpPr>
          <p:spPr>
            <a:xfrm>
              <a:off x="929163" y="4095202"/>
              <a:ext cx="50322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HTTP</a:t>
              </a:r>
              <a:endParaRPr/>
            </a:p>
          </p:txBody>
        </p:sp>
        <p:sp>
          <p:nvSpPr>
            <p:cNvPr id="6488" name="Google Shape;6488;p97"/>
            <p:cNvSpPr txBox="1"/>
            <p:nvPr/>
          </p:nvSpPr>
          <p:spPr>
            <a:xfrm>
              <a:off x="1538498" y="4104718"/>
              <a:ext cx="53718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SMTP</a:t>
              </a:r>
              <a:endParaRPr/>
            </a:p>
          </p:txBody>
        </p:sp>
        <p:sp>
          <p:nvSpPr>
            <p:cNvPr id="6489" name="Google Shape;6489;p97"/>
            <p:cNvSpPr txBox="1"/>
            <p:nvPr/>
          </p:nvSpPr>
          <p:spPr>
            <a:xfrm>
              <a:off x="1222850" y="4267665"/>
              <a:ext cx="49749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a:t>
              </a:r>
              <a:endParaRPr/>
            </a:p>
          </p:txBody>
        </p:sp>
        <p:sp>
          <p:nvSpPr>
            <p:cNvPr id="6490" name="Google Shape;6490;p97"/>
            <p:cNvSpPr txBox="1"/>
            <p:nvPr/>
          </p:nvSpPr>
          <p:spPr>
            <a:xfrm>
              <a:off x="1867426" y="4272536"/>
              <a:ext cx="52686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DASH</a:t>
              </a:r>
              <a:endParaRPr/>
            </a:p>
          </p:txBody>
        </p:sp>
        <p:sp>
          <p:nvSpPr>
            <p:cNvPr id="6491" name="Google Shape;6491;p97"/>
            <p:cNvSpPr txBox="1"/>
            <p:nvPr/>
          </p:nvSpPr>
          <p:spPr>
            <a:xfrm>
              <a:off x="2165480" y="4095316"/>
              <a:ext cx="398741"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RTP</a:t>
              </a:r>
              <a:endParaRPr/>
            </a:p>
          </p:txBody>
        </p:sp>
        <p:sp>
          <p:nvSpPr>
            <p:cNvPr id="6492" name="Google Shape;6492;p97"/>
            <p:cNvSpPr txBox="1"/>
            <p:nvPr/>
          </p:nvSpPr>
          <p:spPr>
            <a:xfrm>
              <a:off x="2555094" y="4099819"/>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grpSp>
          <p:nvGrpSpPr>
            <p:cNvPr id="6493" name="Google Shape;6493;p97"/>
            <p:cNvGrpSpPr/>
            <p:nvPr/>
          </p:nvGrpSpPr>
          <p:grpSpPr>
            <a:xfrm>
              <a:off x="647675" y="6827928"/>
              <a:ext cx="2477214" cy="120420"/>
              <a:chOff x="551293" y="7597774"/>
              <a:chExt cx="4298417" cy="204622"/>
            </a:xfrm>
          </p:grpSpPr>
          <p:sp>
            <p:nvSpPr>
              <p:cNvPr id="6494" name="Google Shape;6494;p97"/>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495" name="Google Shape;6495;p97"/>
              <p:cNvGrpSpPr/>
              <p:nvPr/>
            </p:nvGrpSpPr>
            <p:grpSpPr>
              <a:xfrm>
                <a:off x="551293" y="7597774"/>
                <a:ext cx="360959" cy="204621"/>
                <a:chOff x="551293" y="7597774"/>
                <a:chExt cx="360959" cy="204621"/>
              </a:xfrm>
            </p:grpSpPr>
            <p:sp>
              <p:nvSpPr>
                <p:cNvPr id="6496" name="Google Shape;6496;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497" name="Google Shape;6497;p97"/>
                <p:cNvSpPr/>
                <p:nvPr/>
              </p:nvSpPr>
              <p:spPr>
                <a:xfrm rot="5400000">
                  <a:off x="712127" y="7567955"/>
                  <a:ext cx="140106"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498" name="Google Shape;6498;p97"/>
              <p:cNvGrpSpPr/>
              <p:nvPr/>
            </p:nvGrpSpPr>
            <p:grpSpPr>
              <a:xfrm flipH="1">
                <a:off x="4488749" y="7597775"/>
                <a:ext cx="360961" cy="204621"/>
                <a:chOff x="551293" y="7597774"/>
                <a:chExt cx="360962" cy="204621"/>
              </a:xfrm>
            </p:grpSpPr>
            <p:sp>
              <p:nvSpPr>
                <p:cNvPr id="6499" name="Google Shape;6499;p97"/>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00" name="Google Shape;6500;p97"/>
                <p:cNvSpPr/>
                <p:nvPr/>
              </p:nvSpPr>
              <p:spPr>
                <a:xfrm rot="5400000">
                  <a:off x="712127" y="7572322"/>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6501" name="Google Shape;6501;p97"/>
            <p:cNvSpPr txBox="1"/>
            <p:nvPr/>
          </p:nvSpPr>
          <p:spPr>
            <a:xfrm>
              <a:off x="1260427" y="5749165"/>
              <a:ext cx="843878"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a:t>
              </a:r>
              <a:endParaRPr b="0" i="0" sz="2000" u="none" cap="none" strike="noStrike">
                <a:solidFill>
                  <a:srgbClr val="000000"/>
                </a:solidFill>
                <a:latin typeface="Calibri"/>
                <a:ea typeface="Calibri"/>
                <a:cs typeface="Calibri"/>
                <a:sym typeface="Calibri"/>
              </a:endParaRPr>
            </a:p>
          </p:txBody>
        </p:sp>
        <p:sp>
          <p:nvSpPr>
            <p:cNvPr id="6502" name="Google Shape;6502;p97"/>
            <p:cNvSpPr txBox="1"/>
            <p:nvPr/>
          </p:nvSpPr>
          <p:spPr>
            <a:xfrm>
              <a:off x="1474067" y="5962529"/>
              <a:ext cx="556746"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WiFi</a:t>
              </a:r>
              <a:endParaRPr b="0" i="0" sz="2000" u="none" cap="none" strike="noStrike">
                <a:solidFill>
                  <a:srgbClr val="000000"/>
                </a:solidFill>
                <a:latin typeface="Calibri"/>
                <a:ea typeface="Calibri"/>
                <a:cs typeface="Calibri"/>
                <a:sym typeface="Calibri"/>
              </a:endParaRPr>
            </a:p>
          </p:txBody>
        </p:sp>
        <p:sp>
          <p:nvSpPr>
            <p:cNvPr id="6503" name="Google Shape;6503;p97"/>
            <p:cNvSpPr txBox="1"/>
            <p:nvPr/>
          </p:nvSpPr>
          <p:spPr>
            <a:xfrm>
              <a:off x="1841467" y="5962479"/>
              <a:ext cx="818760"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Bluetooth</a:t>
              </a:r>
              <a:endParaRPr b="0" i="0" sz="2000" u="none" cap="none" strike="noStrike">
                <a:solidFill>
                  <a:srgbClr val="000000"/>
                </a:solidFill>
                <a:latin typeface="Calibri"/>
                <a:ea typeface="Calibri"/>
                <a:cs typeface="Calibri"/>
                <a:sym typeface="Calibri"/>
              </a:endParaRPr>
            </a:p>
          </p:txBody>
        </p:sp>
        <p:sp>
          <p:nvSpPr>
            <p:cNvPr id="6504" name="Google Shape;6504;p97"/>
            <p:cNvSpPr txBox="1"/>
            <p:nvPr/>
          </p:nvSpPr>
          <p:spPr>
            <a:xfrm>
              <a:off x="1889184" y="5749647"/>
              <a:ext cx="414591"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PPP</a:t>
              </a:r>
              <a:endParaRPr b="0" i="0" sz="2000" u="none" cap="none" strike="noStrike">
                <a:solidFill>
                  <a:srgbClr val="000000"/>
                </a:solidFill>
                <a:latin typeface="Calibri"/>
                <a:ea typeface="Calibri"/>
                <a:cs typeface="Calibri"/>
                <a:sym typeface="Calibri"/>
              </a:endParaRPr>
            </a:p>
          </p:txBody>
        </p:sp>
        <p:sp>
          <p:nvSpPr>
            <p:cNvPr id="6505" name="Google Shape;6505;p97"/>
            <p:cNvSpPr txBox="1"/>
            <p:nvPr/>
          </p:nvSpPr>
          <p:spPr>
            <a:xfrm>
              <a:off x="1065185" y="5963701"/>
              <a:ext cx="526455"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PDCP</a:t>
              </a:r>
              <a:endParaRPr b="0" i="0" sz="2000" u="none" cap="none" strike="noStrike">
                <a:solidFill>
                  <a:srgbClr val="000000"/>
                </a:solidFill>
                <a:latin typeface="Calibri"/>
                <a:ea typeface="Calibri"/>
                <a:cs typeface="Calibri"/>
                <a:sym typeface="Calibri"/>
              </a:endParaRPr>
            </a:p>
          </p:txBody>
        </p:sp>
        <p:sp>
          <p:nvSpPr>
            <p:cNvPr id="6506" name="Google Shape;6506;p97"/>
            <p:cNvSpPr txBox="1"/>
            <p:nvPr/>
          </p:nvSpPr>
          <p:spPr>
            <a:xfrm>
              <a:off x="2174516" y="5708035"/>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507" name="Google Shape;6507;p97"/>
            <p:cNvSpPr txBox="1"/>
            <p:nvPr/>
          </p:nvSpPr>
          <p:spPr>
            <a:xfrm>
              <a:off x="1050427" y="6388801"/>
              <a:ext cx="181808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copper   radio   fiber</a:t>
              </a:r>
              <a:endParaRPr b="0" i="0" sz="2400" u="none" cap="none" strike="noStrike">
                <a:solidFill>
                  <a:srgbClr val="000000"/>
                </a:solidFill>
                <a:latin typeface="Calibri"/>
                <a:ea typeface="Calibri"/>
                <a:cs typeface="Calibri"/>
                <a:sym typeface="Calibri"/>
              </a:endParaRPr>
            </a:p>
          </p:txBody>
        </p:sp>
      </p:grpSp>
      <p:grpSp>
        <p:nvGrpSpPr>
          <p:cNvPr id="6508" name="Google Shape;6508;p97"/>
          <p:cNvGrpSpPr/>
          <p:nvPr/>
        </p:nvGrpSpPr>
        <p:grpSpPr>
          <a:xfrm>
            <a:off x="814038" y="2315737"/>
            <a:ext cx="4705817" cy="2677656"/>
            <a:chOff x="814038" y="2315737"/>
            <a:chExt cx="4705817" cy="2677656"/>
          </a:xfrm>
        </p:grpSpPr>
        <p:sp>
          <p:nvSpPr>
            <p:cNvPr id="6509" name="Google Shape;6509;p97"/>
            <p:cNvSpPr txBox="1"/>
            <p:nvPr/>
          </p:nvSpPr>
          <p:spPr>
            <a:xfrm>
              <a:off x="814038" y="2315737"/>
              <a:ext cx="3300761"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Internet’s “thin waist”: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1" lang="en-US" sz="2400" u="none" cap="none" strike="noStrike">
                  <a:solidFill>
                    <a:srgbClr val="000000"/>
                  </a:solidFill>
                  <a:latin typeface="Calibri"/>
                  <a:ea typeface="Calibri"/>
                  <a:cs typeface="Calibri"/>
                  <a:sym typeface="Calibri"/>
                </a:rPr>
                <a:t>one</a:t>
              </a:r>
              <a:r>
                <a:rPr b="0" i="0" lang="en-US" sz="2400" u="none" cap="none" strike="noStrike">
                  <a:solidFill>
                    <a:srgbClr val="000000"/>
                  </a:solidFill>
                  <a:latin typeface="Calibri"/>
                  <a:ea typeface="Calibri"/>
                  <a:cs typeface="Calibri"/>
                  <a:sym typeface="Calibri"/>
                </a:rPr>
                <a:t> network layer protocol: IP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1" lang="en-US" sz="2400" u="none" cap="none" strike="noStrike">
                  <a:solidFill>
                    <a:srgbClr val="000000"/>
                  </a:solidFill>
                  <a:latin typeface="Calibri"/>
                  <a:ea typeface="Calibri"/>
                  <a:cs typeface="Calibri"/>
                  <a:sym typeface="Calibri"/>
                </a:rPr>
                <a:t>must</a:t>
              </a:r>
              <a:r>
                <a:rPr b="0" i="0" lang="en-US" sz="2400" u="none" cap="none" strike="noStrike">
                  <a:solidFill>
                    <a:srgbClr val="000000"/>
                  </a:solidFill>
                  <a:latin typeface="Calibri"/>
                  <a:ea typeface="Calibri"/>
                  <a:cs typeface="Calibri"/>
                  <a:sym typeface="Calibri"/>
                </a:rPr>
                <a:t> be implemented by every (billions) of Internet-connected devices</a:t>
              </a:r>
              <a:endParaRPr/>
            </a:p>
          </p:txBody>
        </p:sp>
        <p:cxnSp>
          <p:nvCxnSpPr>
            <p:cNvPr id="6510" name="Google Shape;6510;p97"/>
            <p:cNvCxnSpPr/>
            <p:nvPr/>
          </p:nvCxnSpPr>
          <p:spPr>
            <a:xfrm>
              <a:off x="4103650" y="3657601"/>
              <a:ext cx="1416205" cy="0"/>
            </a:xfrm>
            <a:prstGeom prst="straightConnector1">
              <a:avLst/>
            </a:prstGeom>
            <a:noFill/>
            <a:ln cap="flat" cmpd="sng" w="31750">
              <a:solidFill>
                <a:srgbClr val="C00000"/>
              </a:solidFill>
              <a:prstDash val="solid"/>
              <a:miter lim="800000"/>
              <a:headEnd len="sm" w="sm" type="none"/>
              <a:tailEnd len="sm" w="sm" type="none"/>
            </a:ln>
          </p:spPr>
        </p:cxnSp>
      </p:grpSp>
      <p:grpSp>
        <p:nvGrpSpPr>
          <p:cNvPr id="6511" name="Google Shape;6511;p97"/>
          <p:cNvGrpSpPr/>
          <p:nvPr/>
        </p:nvGrpSpPr>
        <p:grpSpPr>
          <a:xfrm>
            <a:off x="6761019" y="2397851"/>
            <a:ext cx="5180585" cy="2520510"/>
            <a:chOff x="6761019" y="2397851"/>
            <a:chExt cx="5180585" cy="2520510"/>
          </a:xfrm>
        </p:grpSpPr>
        <p:sp>
          <p:nvSpPr>
            <p:cNvPr id="6512" name="Google Shape;6512;p97"/>
            <p:cNvSpPr txBox="1"/>
            <p:nvPr/>
          </p:nvSpPr>
          <p:spPr>
            <a:xfrm>
              <a:off x="9309916" y="2397851"/>
              <a:ext cx="263168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8"/>
                </a:buClr>
                <a:buSzPts val="2800"/>
                <a:buFont typeface="Calibri"/>
                <a:buNone/>
              </a:pPr>
              <a:r>
                <a:rPr b="0" i="1" lang="en-US" sz="2800" u="none" cap="none" strike="noStrike">
                  <a:solidFill>
                    <a:srgbClr val="0000A8"/>
                  </a:solidFill>
                  <a:latin typeface="Calibri"/>
                  <a:ea typeface="Calibri"/>
                  <a:cs typeface="Calibri"/>
                  <a:sym typeface="Calibri"/>
                </a:rPr>
                <a:t>many</a:t>
              </a:r>
              <a:r>
                <a:rPr b="0" i="0" lang="en-US" sz="2800" u="none" cap="none" strike="noStrike">
                  <a:solidFill>
                    <a:srgbClr val="000000"/>
                  </a:solidFill>
                  <a:latin typeface="Calibri"/>
                  <a:ea typeface="Calibri"/>
                  <a:cs typeface="Calibri"/>
                  <a:sym typeface="Calibri"/>
                </a:rPr>
                <a:t> protocols in physical, link, transport, and application layers </a:t>
              </a:r>
              <a:endParaRPr/>
            </a:p>
          </p:txBody>
        </p:sp>
        <p:grpSp>
          <p:nvGrpSpPr>
            <p:cNvPr id="6513" name="Google Shape;6513;p97"/>
            <p:cNvGrpSpPr/>
            <p:nvPr/>
          </p:nvGrpSpPr>
          <p:grpSpPr>
            <a:xfrm>
              <a:off x="7232069" y="2410687"/>
              <a:ext cx="2036621" cy="2507674"/>
              <a:chOff x="7315200" y="2521527"/>
              <a:chExt cx="1427018" cy="2507674"/>
            </a:xfrm>
          </p:grpSpPr>
          <p:cxnSp>
            <p:nvCxnSpPr>
              <p:cNvPr id="6514" name="Google Shape;6514;p97"/>
              <p:cNvCxnSpPr/>
              <p:nvPr/>
            </p:nvCxnSpPr>
            <p:spPr>
              <a:xfrm flipH="1" rot="10800000">
                <a:off x="7329055" y="3768436"/>
                <a:ext cx="1413163" cy="1260765"/>
              </a:xfrm>
              <a:prstGeom prst="straightConnector1">
                <a:avLst/>
              </a:prstGeom>
              <a:noFill/>
              <a:ln cap="flat" cmpd="sng" w="25400">
                <a:solidFill>
                  <a:srgbClr val="C00000"/>
                </a:solidFill>
                <a:prstDash val="solid"/>
                <a:miter lim="800000"/>
                <a:headEnd len="sm" w="sm" type="none"/>
                <a:tailEnd len="sm" w="sm" type="none"/>
              </a:ln>
            </p:spPr>
          </p:cxnSp>
          <p:cxnSp>
            <p:nvCxnSpPr>
              <p:cNvPr id="6515" name="Google Shape;6515;p97"/>
              <p:cNvCxnSpPr/>
              <p:nvPr/>
            </p:nvCxnSpPr>
            <p:spPr>
              <a:xfrm rot="10800000">
                <a:off x="7315200" y="2521527"/>
                <a:ext cx="1413163" cy="1260765"/>
              </a:xfrm>
              <a:prstGeom prst="straightConnector1">
                <a:avLst/>
              </a:prstGeom>
              <a:noFill/>
              <a:ln cap="flat" cmpd="sng" w="25400">
                <a:solidFill>
                  <a:srgbClr val="C00000"/>
                </a:solidFill>
                <a:prstDash val="solid"/>
                <a:miter lim="800000"/>
                <a:headEnd len="sm" w="sm" type="none"/>
                <a:tailEnd len="sm" w="sm" type="none"/>
              </a:ln>
            </p:spPr>
          </p:cxnSp>
        </p:grpSp>
        <p:cxnSp>
          <p:nvCxnSpPr>
            <p:cNvPr id="6516" name="Google Shape;6516;p97"/>
            <p:cNvCxnSpPr/>
            <p:nvPr/>
          </p:nvCxnSpPr>
          <p:spPr>
            <a:xfrm rot="10800000">
              <a:off x="6788728" y="2978728"/>
              <a:ext cx="2466108" cy="678872"/>
            </a:xfrm>
            <a:prstGeom prst="straightConnector1">
              <a:avLst/>
            </a:prstGeom>
            <a:noFill/>
            <a:ln cap="flat" cmpd="sng" w="25400">
              <a:solidFill>
                <a:srgbClr val="C00000"/>
              </a:solidFill>
              <a:prstDash val="solid"/>
              <a:miter lim="800000"/>
              <a:headEnd len="sm" w="sm" type="none"/>
              <a:tailEnd len="sm" w="sm" type="none"/>
            </a:ln>
          </p:spPr>
        </p:cxnSp>
        <p:cxnSp>
          <p:nvCxnSpPr>
            <p:cNvPr id="6517" name="Google Shape;6517;p97"/>
            <p:cNvCxnSpPr/>
            <p:nvPr/>
          </p:nvCxnSpPr>
          <p:spPr>
            <a:xfrm flipH="1">
              <a:off x="6761019" y="3671455"/>
              <a:ext cx="2466108" cy="678872"/>
            </a:xfrm>
            <a:prstGeom prst="straightConnector1">
              <a:avLst/>
            </a:prstGeom>
            <a:noFill/>
            <a:ln cap="flat" cmpd="sng" w="25400">
              <a:solidFill>
                <a:srgbClr val="C00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08"/>
                                        </p:tgtEl>
                                        <p:attrNameLst>
                                          <p:attrName>style.visibility</p:attrName>
                                        </p:attrNameLst>
                                      </p:cBhvr>
                                      <p:to>
                                        <p:strVal val="visible"/>
                                      </p:to>
                                    </p:set>
                                    <p:animEffect filter="fade" transition="in">
                                      <p:cBhvr>
                                        <p:cTn dur="500"/>
                                        <p:tgtEl>
                                          <p:spTgt spid="65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1"/>
                                        </p:tgtEl>
                                        <p:attrNameLst>
                                          <p:attrName>style.visibility</p:attrName>
                                        </p:attrNameLst>
                                      </p:cBhvr>
                                      <p:to>
                                        <p:strVal val="visible"/>
                                      </p:to>
                                    </p:set>
                                    <p:animEffect filter="fade" transition="in">
                                      <p:cBhvr>
                                        <p:cTn dur="500"/>
                                        <p:tgtEl>
                                          <p:spTgt spid="6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2" name="Shape 6522"/>
        <p:cNvGrpSpPr/>
        <p:nvPr/>
      </p:nvGrpSpPr>
      <p:grpSpPr>
        <a:xfrm>
          <a:off x="0" y="0"/>
          <a:ext cx="0" cy="0"/>
          <a:chOff x="0" y="0"/>
          <a:chExt cx="0" cy="0"/>
        </a:xfrm>
      </p:grpSpPr>
      <p:sp>
        <p:nvSpPr>
          <p:cNvPr id="6523" name="Google Shape;6523;p9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IP hourglass, at middle age</a:t>
            </a:r>
            <a:endParaRPr/>
          </a:p>
        </p:txBody>
      </p:sp>
      <p:grpSp>
        <p:nvGrpSpPr>
          <p:cNvPr id="6524" name="Google Shape;6524;p98"/>
          <p:cNvGrpSpPr/>
          <p:nvPr/>
        </p:nvGrpSpPr>
        <p:grpSpPr>
          <a:xfrm>
            <a:off x="4090857" y="1806499"/>
            <a:ext cx="3614635" cy="3698754"/>
            <a:chOff x="638638" y="3966449"/>
            <a:chExt cx="2486251" cy="2981899"/>
          </a:xfrm>
        </p:grpSpPr>
        <p:sp>
          <p:nvSpPr>
            <p:cNvPr id="6525" name="Google Shape;6525;p98"/>
            <p:cNvSpPr/>
            <p:nvPr/>
          </p:nvSpPr>
          <p:spPr>
            <a:xfrm>
              <a:off x="698244" y="3966449"/>
              <a:ext cx="850271" cy="2960494"/>
            </a:xfrm>
            <a:custGeom>
              <a:rect b="b" l="l" r="r" t="t"/>
              <a:pathLst>
                <a:path extrusionOk="0" h="5030587" w="1475374">
                  <a:moveTo>
                    <a:pt x="15329" y="0"/>
                  </a:moveTo>
                  <a:cubicBezTo>
                    <a:pt x="11506" y="126358"/>
                    <a:pt x="-8193" y="338440"/>
                    <a:pt x="22909" y="490198"/>
                  </a:cubicBezTo>
                  <a:cubicBezTo>
                    <a:pt x="582101" y="1884724"/>
                    <a:pt x="1488947" y="1931578"/>
                    <a:pt x="1475220" y="2463970"/>
                  </a:cubicBezTo>
                  <a:cubicBezTo>
                    <a:pt x="1461493" y="2996362"/>
                    <a:pt x="432418" y="3246650"/>
                    <a:pt x="34630" y="4625210"/>
                  </a:cubicBezTo>
                  <a:cubicBezTo>
                    <a:pt x="-13183" y="4820661"/>
                    <a:pt x="2505" y="4908161"/>
                    <a:pt x="2317" y="50305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6526" name="Google Shape;6526;p98"/>
            <p:cNvSpPr/>
            <p:nvPr/>
          </p:nvSpPr>
          <p:spPr>
            <a:xfrm flipH="1">
              <a:off x="2208181" y="3968317"/>
              <a:ext cx="848879" cy="2945546"/>
            </a:xfrm>
            <a:custGeom>
              <a:rect b="b" l="l" r="r" t="t"/>
              <a:pathLst>
                <a:path extrusionOk="0" h="5005187" w="1472959">
                  <a:moveTo>
                    <a:pt x="6564" y="0"/>
                  </a:moveTo>
                  <a:cubicBezTo>
                    <a:pt x="18616" y="167633"/>
                    <a:pt x="-23308" y="297165"/>
                    <a:pt x="20494" y="487023"/>
                  </a:cubicBezTo>
                  <a:cubicBezTo>
                    <a:pt x="579686" y="1881549"/>
                    <a:pt x="1486532" y="1928403"/>
                    <a:pt x="1472805" y="2460795"/>
                  </a:cubicBezTo>
                  <a:cubicBezTo>
                    <a:pt x="1459078" y="2993187"/>
                    <a:pt x="430003" y="3243475"/>
                    <a:pt x="32215" y="4622035"/>
                  </a:cubicBezTo>
                  <a:cubicBezTo>
                    <a:pt x="6627" y="4811136"/>
                    <a:pt x="-3085" y="4835136"/>
                    <a:pt x="12602" y="5005187"/>
                  </a:cubicBezTo>
                </a:path>
              </a:pathLst>
            </a:custGeom>
            <a:no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nvGrpSpPr>
            <p:cNvPr id="6527" name="Google Shape;6527;p98"/>
            <p:cNvGrpSpPr/>
            <p:nvPr/>
          </p:nvGrpSpPr>
          <p:grpSpPr>
            <a:xfrm>
              <a:off x="638638" y="3975358"/>
              <a:ext cx="2477214" cy="120420"/>
              <a:chOff x="551293" y="7597774"/>
              <a:chExt cx="4298417" cy="204622"/>
            </a:xfrm>
          </p:grpSpPr>
          <p:sp>
            <p:nvSpPr>
              <p:cNvPr id="6528" name="Google Shape;6528;p98"/>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529" name="Google Shape;6529;p98"/>
              <p:cNvGrpSpPr/>
              <p:nvPr/>
            </p:nvGrpSpPr>
            <p:grpSpPr>
              <a:xfrm>
                <a:off x="551293" y="7597774"/>
                <a:ext cx="360960" cy="204621"/>
                <a:chOff x="551293" y="7597774"/>
                <a:chExt cx="360960" cy="204621"/>
              </a:xfrm>
            </p:grpSpPr>
            <p:sp>
              <p:nvSpPr>
                <p:cNvPr id="6530" name="Google Shape;6530;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31" name="Google Shape;6531;p98"/>
                <p:cNvSpPr/>
                <p:nvPr/>
              </p:nvSpPr>
              <p:spPr>
                <a:xfrm rot="5400000">
                  <a:off x="710751" y="7569338"/>
                  <a:ext cx="142860"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532" name="Google Shape;6532;p98"/>
              <p:cNvGrpSpPr/>
              <p:nvPr/>
            </p:nvGrpSpPr>
            <p:grpSpPr>
              <a:xfrm flipH="1">
                <a:off x="4488749" y="7597775"/>
                <a:ext cx="360961" cy="204621"/>
                <a:chOff x="551293" y="7597774"/>
                <a:chExt cx="360962" cy="204621"/>
              </a:xfrm>
            </p:grpSpPr>
            <p:sp>
              <p:nvSpPr>
                <p:cNvPr id="6533" name="Google Shape;6533;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34" name="Google Shape;6534;p98"/>
                <p:cNvSpPr/>
                <p:nvPr/>
              </p:nvSpPr>
              <p:spPr>
                <a:xfrm rot="5400000">
                  <a:off x="712127" y="7566745"/>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cxnSp>
          <p:nvCxnSpPr>
            <p:cNvPr id="6535" name="Google Shape;6535;p98"/>
            <p:cNvCxnSpPr/>
            <p:nvPr/>
          </p:nvCxnSpPr>
          <p:spPr>
            <a:xfrm>
              <a:off x="1363009" y="5119694"/>
              <a:ext cx="1037440" cy="0"/>
            </a:xfrm>
            <a:prstGeom prst="straightConnector1">
              <a:avLst/>
            </a:prstGeom>
            <a:noFill/>
            <a:ln cap="flat" cmpd="sng" w="38100">
              <a:solidFill>
                <a:srgbClr val="000090"/>
              </a:solidFill>
              <a:prstDash val="solid"/>
              <a:miter lim="800000"/>
              <a:headEnd len="sm" w="sm" type="none"/>
              <a:tailEnd len="sm" w="sm" type="none"/>
            </a:ln>
          </p:spPr>
        </p:cxnSp>
        <p:cxnSp>
          <p:nvCxnSpPr>
            <p:cNvPr id="6536" name="Google Shape;6536;p98"/>
            <p:cNvCxnSpPr/>
            <p:nvPr/>
          </p:nvCxnSpPr>
          <p:spPr>
            <a:xfrm>
              <a:off x="864736" y="4572767"/>
              <a:ext cx="2029754" cy="0"/>
            </a:xfrm>
            <a:prstGeom prst="straightConnector1">
              <a:avLst/>
            </a:prstGeom>
            <a:noFill/>
            <a:ln cap="flat" cmpd="sng" w="38100">
              <a:solidFill>
                <a:srgbClr val="000090"/>
              </a:solidFill>
              <a:prstDash val="solid"/>
              <a:miter lim="800000"/>
              <a:headEnd len="sm" w="sm" type="none"/>
              <a:tailEnd len="sm" w="sm" type="none"/>
            </a:ln>
          </p:spPr>
        </p:cxnSp>
        <p:cxnSp>
          <p:nvCxnSpPr>
            <p:cNvPr id="6537" name="Google Shape;6537;p98"/>
            <p:cNvCxnSpPr/>
            <p:nvPr/>
          </p:nvCxnSpPr>
          <p:spPr>
            <a:xfrm>
              <a:off x="904423" y="6258602"/>
              <a:ext cx="1951641" cy="0"/>
            </a:xfrm>
            <a:prstGeom prst="straightConnector1">
              <a:avLst/>
            </a:prstGeom>
            <a:noFill/>
            <a:ln cap="flat" cmpd="sng" w="38100">
              <a:solidFill>
                <a:srgbClr val="000090"/>
              </a:solidFill>
              <a:prstDash val="solid"/>
              <a:miter lim="800000"/>
              <a:headEnd len="sm" w="sm" type="none"/>
              <a:tailEnd len="sm" w="sm" type="none"/>
            </a:ln>
          </p:spPr>
        </p:cxnSp>
        <p:cxnSp>
          <p:nvCxnSpPr>
            <p:cNvPr id="6538" name="Google Shape;6538;p98"/>
            <p:cNvCxnSpPr/>
            <p:nvPr/>
          </p:nvCxnSpPr>
          <p:spPr>
            <a:xfrm>
              <a:off x="1336990" y="5748580"/>
              <a:ext cx="1083587" cy="0"/>
            </a:xfrm>
            <a:prstGeom prst="straightConnector1">
              <a:avLst/>
            </a:prstGeom>
            <a:noFill/>
            <a:ln cap="flat" cmpd="sng" w="38100">
              <a:solidFill>
                <a:srgbClr val="000090"/>
              </a:solidFill>
              <a:prstDash val="solid"/>
              <a:miter lim="800000"/>
              <a:headEnd len="sm" w="sm" type="none"/>
              <a:tailEnd len="sm" w="sm" type="none"/>
            </a:ln>
          </p:spPr>
        </p:cxnSp>
        <p:sp>
          <p:nvSpPr>
            <p:cNvPr id="6539" name="Google Shape;6539;p98"/>
            <p:cNvSpPr txBox="1"/>
            <p:nvPr/>
          </p:nvSpPr>
          <p:spPr>
            <a:xfrm>
              <a:off x="1701671" y="5248774"/>
              <a:ext cx="31666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IP</a:t>
              </a:r>
              <a:endParaRPr/>
            </a:p>
          </p:txBody>
        </p:sp>
        <p:sp>
          <p:nvSpPr>
            <p:cNvPr id="6540" name="Google Shape;6540;p98"/>
            <p:cNvSpPr txBox="1"/>
            <p:nvPr/>
          </p:nvSpPr>
          <p:spPr>
            <a:xfrm>
              <a:off x="1317827" y="4665231"/>
              <a:ext cx="55747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TCP </a:t>
              </a:r>
              <a:endParaRPr/>
            </a:p>
          </p:txBody>
        </p:sp>
        <p:sp>
          <p:nvSpPr>
            <p:cNvPr id="6541" name="Google Shape;6541;p98"/>
            <p:cNvSpPr txBox="1"/>
            <p:nvPr/>
          </p:nvSpPr>
          <p:spPr>
            <a:xfrm>
              <a:off x="1921463" y="4672273"/>
              <a:ext cx="565850"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UDP</a:t>
              </a:r>
              <a:endParaRPr/>
            </a:p>
          </p:txBody>
        </p:sp>
        <p:sp>
          <p:nvSpPr>
            <p:cNvPr id="6542" name="Google Shape;6542;p98"/>
            <p:cNvSpPr txBox="1"/>
            <p:nvPr/>
          </p:nvSpPr>
          <p:spPr>
            <a:xfrm>
              <a:off x="929163" y="4095202"/>
              <a:ext cx="50322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HTTP</a:t>
              </a:r>
              <a:endParaRPr/>
            </a:p>
          </p:txBody>
        </p:sp>
        <p:sp>
          <p:nvSpPr>
            <p:cNvPr id="6543" name="Google Shape;6543;p98"/>
            <p:cNvSpPr txBox="1"/>
            <p:nvPr/>
          </p:nvSpPr>
          <p:spPr>
            <a:xfrm>
              <a:off x="1538498" y="4104718"/>
              <a:ext cx="53718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SMTP</a:t>
              </a:r>
              <a:endParaRPr/>
            </a:p>
          </p:txBody>
        </p:sp>
        <p:sp>
          <p:nvSpPr>
            <p:cNvPr id="6544" name="Google Shape;6544;p98"/>
            <p:cNvSpPr txBox="1"/>
            <p:nvPr/>
          </p:nvSpPr>
          <p:spPr>
            <a:xfrm>
              <a:off x="1222850" y="4267665"/>
              <a:ext cx="49749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QUIC</a:t>
              </a:r>
              <a:endParaRPr/>
            </a:p>
          </p:txBody>
        </p:sp>
        <p:sp>
          <p:nvSpPr>
            <p:cNvPr id="6545" name="Google Shape;6545;p98"/>
            <p:cNvSpPr txBox="1"/>
            <p:nvPr/>
          </p:nvSpPr>
          <p:spPr>
            <a:xfrm>
              <a:off x="1867426" y="4272536"/>
              <a:ext cx="526863"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DASH</a:t>
              </a:r>
              <a:endParaRPr/>
            </a:p>
          </p:txBody>
        </p:sp>
        <p:sp>
          <p:nvSpPr>
            <p:cNvPr id="6546" name="Google Shape;6546;p98"/>
            <p:cNvSpPr txBox="1"/>
            <p:nvPr/>
          </p:nvSpPr>
          <p:spPr>
            <a:xfrm>
              <a:off x="2165480" y="4095316"/>
              <a:ext cx="398741"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RTP</a:t>
              </a:r>
              <a:endParaRPr/>
            </a:p>
          </p:txBody>
        </p:sp>
        <p:sp>
          <p:nvSpPr>
            <p:cNvPr id="6547" name="Google Shape;6547;p98"/>
            <p:cNvSpPr txBox="1"/>
            <p:nvPr/>
          </p:nvSpPr>
          <p:spPr>
            <a:xfrm>
              <a:off x="2555094" y="4099819"/>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grpSp>
          <p:nvGrpSpPr>
            <p:cNvPr id="6548" name="Google Shape;6548;p98"/>
            <p:cNvGrpSpPr/>
            <p:nvPr/>
          </p:nvGrpSpPr>
          <p:grpSpPr>
            <a:xfrm>
              <a:off x="647675" y="6827928"/>
              <a:ext cx="2477214" cy="120420"/>
              <a:chOff x="551293" y="7597774"/>
              <a:chExt cx="4298417" cy="204622"/>
            </a:xfrm>
          </p:grpSpPr>
          <p:sp>
            <p:nvSpPr>
              <p:cNvPr id="6549" name="Google Shape;6549;p98"/>
              <p:cNvSpPr/>
              <p:nvPr/>
            </p:nvSpPr>
            <p:spPr>
              <a:xfrm>
                <a:off x="669925" y="7597775"/>
                <a:ext cx="4064730" cy="204621"/>
              </a:xfrm>
              <a:prstGeom prst="rect">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nvGrpSpPr>
              <p:cNvPr id="6550" name="Google Shape;6550;p98"/>
              <p:cNvGrpSpPr/>
              <p:nvPr/>
            </p:nvGrpSpPr>
            <p:grpSpPr>
              <a:xfrm>
                <a:off x="551293" y="7597774"/>
                <a:ext cx="360959" cy="204621"/>
                <a:chOff x="551293" y="7597774"/>
                <a:chExt cx="360959" cy="204621"/>
              </a:xfrm>
            </p:grpSpPr>
            <p:sp>
              <p:nvSpPr>
                <p:cNvPr id="6551" name="Google Shape;6551;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52" name="Google Shape;6552;p98"/>
                <p:cNvSpPr/>
                <p:nvPr/>
              </p:nvSpPr>
              <p:spPr>
                <a:xfrm rot="5400000">
                  <a:off x="712127" y="7567955"/>
                  <a:ext cx="140106" cy="2601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nvGrpSpPr>
              <p:cNvPr id="6553" name="Google Shape;6553;p98"/>
              <p:cNvGrpSpPr/>
              <p:nvPr/>
            </p:nvGrpSpPr>
            <p:grpSpPr>
              <a:xfrm flipH="1">
                <a:off x="4488749" y="7597775"/>
                <a:ext cx="360961" cy="204621"/>
                <a:chOff x="551293" y="7597774"/>
                <a:chExt cx="360962" cy="204621"/>
              </a:xfrm>
            </p:grpSpPr>
            <p:sp>
              <p:nvSpPr>
                <p:cNvPr id="6554" name="Google Shape;6554;p98"/>
                <p:cNvSpPr/>
                <p:nvPr/>
              </p:nvSpPr>
              <p:spPr>
                <a:xfrm>
                  <a:off x="551293" y="7597774"/>
                  <a:ext cx="201182" cy="204621"/>
                </a:xfrm>
                <a:prstGeom prst="ellipse">
                  <a:avLst/>
                </a:prstGeom>
                <a:solidFill>
                  <a:schemeClr val="lt1"/>
                </a:solidFill>
                <a:ln cap="flat" cmpd="sng" w="38100">
                  <a:solidFill>
                    <a:srgbClr val="0000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6555" name="Google Shape;6555;p98"/>
                <p:cNvSpPr/>
                <p:nvPr/>
              </p:nvSpPr>
              <p:spPr>
                <a:xfrm rot="5400000">
                  <a:off x="712127" y="7572322"/>
                  <a:ext cx="140106" cy="2601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grpSp>
        <p:sp>
          <p:nvSpPr>
            <p:cNvPr id="6556" name="Google Shape;6556;p98"/>
            <p:cNvSpPr txBox="1"/>
            <p:nvPr/>
          </p:nvSpPr>
          <p:spPr>
            <a:xfrm>
              <a:off x="1260427" y="5749165"/>
              <a:ext cx="843878"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Ethernet</a:t>
              </a:r>
              <a:endParaRPr b="0" i="0" sz="2000" u="none" cap="none" strike="noStrike">
                <a:solidFill>
                  <a:srgbClr val="000000"/>
                </a:solidFill>
                <a:latin typeface="Calibri"/>
                <a:ea typeface="Calibri"/>
                <a:cs typeface="Calibri"/>
                <a:sym typeface="Calibri"/>
              </a:endParaRPr>
            </a:p>
          </p:txBody>
        </p:sp>
        <p:sp>
          <p:nvSpPr>
            <p:cNvPr id="6557" name="Google Shape;6557;p98"/>
            <p:cNvSpPr txBox="1"/>
            <p:nvPr/>
          </p:nvSpPr>
          <p:spPr>
            <a:xfrm>
              <a:off x="1474067" y="5962529"/>
              <a:ext cx="556746"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WiFi</a:t>
              </a:r>
              <a:endParaRPr b="0" i="0" sz="2000" u="none" cap="none" strike="noStrike">
                <a:solidFill>
                  <a:srgbClr val="000000"/>
                </a:solidFill>
                <a:latin typeface="Calibri"/>
                <a:ea typeface="Calibri"/>
                <a:cs typeface="Calibri"/>
                <a:sym typeface="Calibri"/>
              </a:endParaRPr>
            </a:p>
          </p:txBody>
        </p:sp>
        <p:sp>
          <p:nvSpPr>
            <p:cNvPr id="6558" name="Google Shape;6558;p98"/>
            <p:cNvSpPr txBox="1"/>
            <p:nvPr/>
          </p:nvSpPr>
          <p:spPr>
            <a:xfrm>
              <a:off x="1841467" y="5962479"/>
              <a:ext cx="818760"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Bluetooth</a:t>
              </a:r>
              <a:endParaRPr b="0" i="0" sz="2000" u="none" cap="none" strike="noStrike">
                <a:solidFill>
                  <a:srgbClr val="000000"/>
                </a:solidFill>
                <a:latin typeface="Calibri"/>
                <a:ea typeface="Calibri"/>
                <a:cs typeface="Calibri"/>
                <a:sym typeface="Calibri"/>
              </a:endParaRPr>
            </a:p>
          </p:txBody>
        </p:sp>
        <p:sp>
          <p:nvSpPr>
            <p:cNvPr id="6559" name="Google Shape;6559;p98"/>
            <p:cNvSpPr txBox="1"/>
            <p:nvPr/>
          </p:nvSpPr>
          <p:spPr>
            <a:xfrm>
              <a:off x="1889184" y="5749647"/>
              <a:ext cx="414591"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PPP</a:t>
              </a:r>
              <a:endParaRPr b="0" i="0" sz="2000" u="none" cap="none" strike="noStrike">
                <a:solidFill>
                  <a:srgbClr val="000000"/>
                </a:solidFill>
                <a:latin typeface="Calibri"/>
                <a:ea typeface="Calibri"/>
                <a:cs typeface="Calibri"/>
                <a:sym typeface="Calibri"/>
              </a:endParaRPr>
            </a:p>
          </p:txBody>
        </p:sp>
        <p:sp>
          <p:nvSpPr>
            <p:cNvPr id="6560" name="Google Shape;6560;p98"/>
            <p:cNvSpPr txBox="1"/>
            <p:nvPr/>
          </p:nvSpPr>
          <p:spPr>
            <a:xfrm>
              <a:off x="1065185" y="5963701"/>
              <a:ext cx="526455" cy="2977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PDCP</a:t>
              </a:r>
              <a:endParaRPr b="0" i="0" sz="2000" u="none" cap="none" strike="noStrike">
                <a:solidFill>
                  <a:srgbClr val="000000"/>
                </a:solidFill>
                <a:latin typeface="Calibri"/>
                <a:ea typeface="Calibri"/>
                <a:cs typeface="Calibri"/>
                <a:sym typeface="Calibri"/>
              </a:endParaRPr>
            </a:p>
          </p:txBody>
        </p:sp>
        <p:sp>
          <p:nvSpPr>
            <p:cNvPr id="6561" name="Google Shape;6561;p98"/>
            <p:cNvSpPr txBox="1"/>
            <p:nvPr/>
          </p:nvSpPr>
          <p:spPr>
            <a:xfrm>
              <a:off x="2174516" y="5708035"/>
              <a:ext cx="352734" cy="4218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p:txBody>
        </p:sp>
        <p:sp>
          <p:nvSpPr>
            <p:cNvPr id="6562" name="Google Shape;6562;p98"/>
            <p:cNvSpPr txBox="1"/>
            <p:nvPr/>
          </p:nvSpPr>
          <p:spPr>
            <a:xfrm>
              <a:off x="1050427" y="6388801"/>
              <a:ext cx="1818080" cy="322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copper   radio   fiber</a:t>
              </a:r>
              <a:endParaRPr b="0" i="0" sz="2400" u="none" cap="none" strike="noStrike">
                <a:solidFill>
                  <a:srgbClr val="000000"/>
                </a:solidFill>
                <a:latin typeface="Calibri"/>
                <a:ea typeface="Calibri"/>
                <a:cs typeface="Calibri"/>
                <a:sym typeface="Calibri"/>
              </a:endParaRPr>
            </a:p>
          </p:txBody>
        </p:sp>
      </p:grpSp>
      <p:grpSp>
        <p:nvGrpSpPr>
          <p:cNvPr id="6563" name="Google Shape;6563;p98"/>
          <p:cNvGrpSpPr/>
          <p:nvPr/>
        </p:nvGrpSpPr>
        <p:grpSpPr>
          <a:xfrm>
            <a:off x="841747" y="2689811"/>
            <a:ext cx="3722144" cy="1938992"/>
            <a:chOff x="814038" y="2315737"/>
            <a:chExt cx="3722144" cy="1938992"/>
          </a:xfrm>
        </p:grpSpPr>
        <p:sp>
          <p:nvSpPr>
            <p:cNvPr id="6564" name="Google Shape;6564;p98"/>
            <p:cNvSpPr txBox="1"/>
            <p:nvPr/>
          </p:nvSpPr>
          <p:spPr>
            <a:xfrm>
              <a:off x="814038" y="2315737"/>
              <a:ext cx="3300761"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Internet’s middle age “love handles”? </a:t>
              </a:r>
              <a:endParaRPr/>
            </a:p>
            <a:p>
              <a:pPr indent="-3429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middleboxes, operating inside the network</a:t>
              </a:r>
              <a:endParaRPr/>
            </a:p>
          </p:txBody>
        </p:sp>
        <p:cxnSp>
          <p:nvCxnSpPr>
            <p:cNvPr id="6565" name="Google Shape;6565;p98"/>
            <p:cNvCxnSpPr/>
            <p:nvPr/>
          </p:nvCxnSpPr>
          <p:spPr>
            <a:xfrm>
              <a:off x="3119977" y="3283528"/>
              <a:ext cx="1416205" cy="0"/>
            </a:xfrm>
            <a:prstGeom prst="straightConnector1">
              <a:avLst/>
            </a:prstGeom>
            <a:noFill/>
            <a:ln cap="flat" cmpd="sng" w="31750">
              <a:solidFill>
                <a:srgbClr val="C00000"/>
              </a:solidFill>
              <a:prstDash val="solid"/>
              <a:miter lim="800000"/>
              <a:headEnd len="sm" w="sm" type="none"/>
              <a:tailEnd len="sm" w="sm" type="none"/>
            </a:ln>
          </p:spPr>
        </p:cxnSp>
      </p:grpSp>
      <p:sp>
        <p:nvSpPr>
          <p:cNvPr id="6566" name="Google Shape;6566;p98"/>
          <p:cNvSpPr/>
          <p:nvPr/>
        </p:nvSpPr>
        <p:spPr>
          <a:xfrm>
            <a:off x="5165725" y="3255382"/>
            <a:ext cx="1473200" cy="1059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7" name="Google Shape;6567;p98"/>
          <p:cNvSpPr/>
          <p:nvPr/>
        </p:nvSpPr>
        <p:spPr>
          <a:xfrm>
            <a:off x="5149849" y="3890382"/>
            <a:ext cx="1501775" cy="1059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8" name="Google Shape;6568;p98"/>
          <p:cNvSpPr/>
          <p:nvPr/>
        </p:nvSpPr>
        <p:spPr>
          <a:xfrm flipH="1">
            <a:off x="6637380" y="3217837"/>
            <a:ext cx="369715" cy="828053"/>
          </a:xfrm>
          <a:custGeom>
            <a:rect b="b" l="l" r="r" t="t"/>
            <a:pathLst>
              <a:path extrusionOk="0" h="800239" w="369715">
                <a:moveTo>
                  <a:pt x="344127" y="0"/>
                </a:moveTo>
                <a:cubicBezTo>
                  <a:pt x="336312" y="14328"/>
                  <a:pt x="408361" y="83641"/>
                  <a:pt x="339976" y="142907"/>
                </a:cubicBezTo>
                <a:cubicBezTo>
                  <a:pt x="271591" y="202174"/>
                  <a:pt x="-1297" y="210639"/>
                  <a:pt x="5" y="408629"/>
                </a:cubicBezTo>
                <a:cubicBezTo>
                  <a:pt x="1307" y="606619"/>
                  <a:pt x="257915" y="604667"/>
                  <a:pt x="324346" y="674354"/>
                </a:cubicBezTo>
                <a:cubicBezTo>
                  <a:pt x="390777" y="744041"/>
                  <a:pt x="308714" y="782003"/>
                  <a:pt x="314575" y="800239"/>
                </a:cubicBezTo>
              </a:path>
            </a:pathLst>
          </a:custGeom>
          <a:noFill/>
          <a:ln cap="flat" cmpd="sng" w="34925">
            <a:solidFill>
              <a:srgbClr val="010F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69" name="Google Shape;6569;p98"/>
          <p:cNvSpPr/>
          <p:nvPr/>
        </p:nvSpPr>
        <p:spPr>
          <a:xfrm>
            <a:off x="4783916" y="3219154"/>
            <a:ext cx="366191" cy="818528"/>
          </a:xfrm>
          <a:custGeom>
            <a:rect b="b" l="l" r="r" t="t"/>
            <a:pathLst>
              <a:path extrusionOk="0" h="791033" w="366191">
                <a:moveTo>
                  <a:pt x="328252" y="0"/>
                </a:moveTo>
                <a:cubicBezTo>
                  <a:pt x="320437" y="14328"/>
                  <a:pt x="408361" y="77504"/>
                  <a:pt x="339976" y="136770"/>
                </a:cubicBezTo>
                <a:cubicBezTo>
                  <a:pt x="271591" y="196037"/>
                  <a:pt x="-1297" y="204502"/>
                  <a:pt x="5" y="402492"/>
                </a:cubicBezTo>
                <a:cubicBezTo>
                  <a:pt x="1307" y="600482"/>
                  <a:pt x="257915" y="598530"/>
                  <a:pt x="324346" y="668217"/>
                </a:cubicBezTo>
                <a:cubicBezTo>
                  <a:pt x="390777" y="737904"/>
                  <a:pt x="311889" y="772797"/>
                  <a:pt x="317750" y="791033"/>
                </a:cubicBezTo>
              </a:path>
            </a:pathLst>
          </a:custGeom>
          <a:noFill/>
          <a:ln cap="flat" cmpd="sng" w="34925">
            <a:solidFill>
              <a:srgbClr val="010F9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0" name="Google Shape;6570;p98"/>
          <p:cNvSpPr/>
          <p:nvPr/>
        </p:nvSpPr>
        <p:spPr>
          <a:xfrm>
            <a:off x="6229349" y="3311525"/>
            <a:ext cx="371475" cy="634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71" name="Google Shape;6571;p98"/>
          <p:cNvSpPr/>
          <p:nvPr/>
        </p:nvSpPr>
        <p:spPr>
          <a:xfrm>
            <a:off x="5191123" y="3310518"/>
            <a:ext cx="371475" cy="63499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6572" name="Google Shape;6572;p98"/>
          <p:cNvGrpSpPr/>
          <p:nvPr/>
        </p:nvGrpSpPr>
        <p:grpSpPr>
          <a:xfrm>
            <a:off x="4789786" y="3158838"/>
            <a:ext cx="2248918" cy="926583"/>
            <a:chOff x="4789786" y="3158838"/>
            <a:chExt cx="2248918" cy="926583"/>
          </a:xfrm>
        </p:grpSpPr>
        <p:sp>
          <p:nvSpPr>
            <p:cNvPr id="6573" name="Google Shape;6573;p98"/>
            <p:cNvSpPr txBox="1"/>
            <p:nvPr/>
          </p:nvSpPr>
          <p:spPr>
            <a:xfrm rot="-1239059">
              <a:off x="4849091" y="3366655"/>
              <a:ext cx="68800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NAT</a:t>
              </a:r>
              <a:endParaRPr b="0" i="0" sz="1800" u="none" cap="none" strike="noStrike">
                <a:solidFill>
                  <a:srgbClr val="000000"/>
                </a:solidFill>
                <a:latin typeface="Calibri"/>
                <a:ea typeface="Calibri"/>
                <a:cs typeface="Calibri"/>
                <a:sym typeface="Calibri"/>
              </a:endParaRPr>
            </a:p>
          </p:txBody>
        </p:sp>
        <p:sp>
          <p:nvSpPr>
            <p:cNvPr id="6574" name="Google Shape;6574;p98"/>
            <p:cNvSpPr txBox="1"/>
            <p:nvPr/>
          </p:nvSpPr>
          <p:spPr>
            <a:xfrm rot="2147458">
              <a:off x="6270499" y="3366656"/>
              <a:ext cx="69923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NFV</a:t>
              </a:r>
              <a:endParaRPr b="0" i="0" sz="1800" u="none" cap="none" strike="noStrike">
                <a:solidFill>
                  <a:srgbClr val="000000"/>
                </a:solidFill>
                <a:latin typeface="Calibri"/>
                <a:ea typeface="Calibri"/>
                <a:cs typeface="Calibri"/>
                <a:sym typeface="Calibri"/>
              </a:endParaRPr>
            </a:p>
          </p:txBody>
        </p:sp>
        <p:sp>
          <p:nvSpPr>
            <p:cNvPr id="6575" name="Google Shape;6575;p98"/>
            <p:cNvSpPr txBox="1"/>
            <p:nvPr/>
          </p:nvSpPr>
          <p:spPr>
            <a:xfrm>
              <a:off x="5369952" y="3685311"/>
              <a:ext cx="109882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Firewalls</a:t>
              </a:r>
              <a:endParaRPr b="0" i="0" sz="1800" u="none" cap="none" strike="noStrike">
                <a:solidFill>
                  <a:srgbClr val="000000"/>
                </a:solidFill>
                <a:latin typeface="Calibri"/>
                <a:ea typeface="Calibri"/>
                <a:cs typeface="Calibri"/>
                <a:sym typeface="Calibri"/>
              </a:endParaRPr>
            </a:p>
          </p:txBody>
        </p:sp>
        <p:sp>
          <p:nvSpPr>
            <p:cNvPr id="6576" name="Google Shape;6576;p98"/>
            <p:cNvSpPr txBox="1"/>
            <p:nvPr/>
          </p:nvSpPr>
          <p:spPr>
            <a:xfrm>
              <a:off x="5453078" y="3158838"/>
              <a:ext cx="97283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caching</a:t>
              </a:r>
              <a:endParaRPr b="0" i="0" sz="18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3"/>
                                        </p:tgtEl>
                                        <p:attrNameLst>
                                          <p:attrName>style.visibility</p:attrName>
                                        </p:attrNameLst>
                                      </p:cBhvr>
                                      <p:to>
                                        <p:strVal val="visible"/>
                                      </p:to>
                                    </p:set>
                                    <p:animEffect filter="fade" transition="in">
                                      <p:cBhvr>
                                        <p:cTn dur="500"/>
                                        <p:tgtEl>
                                          <p:spTgt spid="65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1" name="Shape 6581"/>
        <p:cNvGrpSpPr/>
        <p:nvPr/>
      </p:nvGrpSpPr>
      <p:grpSpPr>
        <a:xfrm>
          <a:off x="0" y="0"/>
          <a:ext cx="0" cy="0"/>
          <a:chOff x="0" y="0"/>
          <a:chExt cx="0" cy="0"/>
        </a:xfrm>
      </p:grpSpPr>
      <p:sp>
        <p:nvSpPr>
          <p:cNvPr id="6582" name="Google Shape;6582;p99"/>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Architectural Principles of the Internet</a:t>
            </a:r>
            <a:endParaRPr/>
          </a:p>
        </p:txBody>
      </p:sp>
      <p:sp>
        <p:nvSpPr>
          <p:cNvPr id="6583" name="Google Shape;6583;p99"/>
          <p:cNvSpPr txBox="1"/>
          <p:nvPr/>
        </p:nvSpPr>
        <p:spPr>
          <a:xfrm>
            <a:off x="1111205" y="2084451"/>
            <a:ext cx="10513191" cy="8402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“Many members of the Internet community would argue that there is no architecture, but only a tradition, which was not written down for the first 25 years (or at least not by the IAB).  However, in very general terms, the community believes that</a:t>
            </a:r>
            <a:endParaRPr/>
          </a:p>
        </p:txBody>
      </p:sp>
      <p:sp>
        <p:nvSpPr>
          <p:cNvPr id="6584" name="Google Shape;6584;p99"/>
          <p:cNvSpPr/>
          <p:nvPr/>
        </p:nvSpPr>
        <p:spPr>
          <a:xfrm>
            <a:off x="941941" y="1923014"/>
            <a:ext cx="10917982" cy="1995658"/>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85" name="Google Shape;6585;p99"/>
          <p:cNvSpPr txBox="1"/>
          <p:nvPr/>
        </p:nvSpPr>
        <p:spPr>
          <a:xfrm>
            <a:off x="1366008" y="1671224"/>
            <a:ext cx="1413079"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RFC  1958</a:t>
            </a:r>
            <a:endParaRPr/>
          </a:p>
        </p:txBody>
      </p:sp>
      <p:sp>
        <p:nvSpPr>
          <p:cNvPr id="6586" name="Google Shape;6586;p99"/>
          <p:cNvSpPr txBox="1"/>
          <p:nvPr/>
        </p:nvSpPr>
        <p:spPr>
          <a:xfrm>
            <a:off x="1429860" y="2583215"/>
            <a:ext cx="10513191" cy="125572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a:t>
            </a:r>
            <a:r>
              <a:rPr b="0" i="0" lang="en-US" sz="2800" u="none" cap="none" strike="noStrike">
                <a:solidFill>
                  <a:srgbClr val="C00000"/>
                </a:solidFill>
                <a:latin typeface="Calibri"/>
                <a:ea typeface="Calibri"/>
                <a:cs typeface="Calibri"/>
                <a:sym typeface="Calibri"/>
              </a:rPr>
              <a:t>the goal is connectivity, the tool is the Internet Protocol, and the intelligence is end to end rather than hidden in the network.”</a:t>
            </a:r>
            <a:endParaRPr/>
          </a:p>
        </p:txBody>
      </p:sp>
      <p:sp>
        <p:nvSpPr>
          <p:cNvPr id="6587" name="Google Shape;6587;p99"/>
          <p:cNvSpPr txBox="1"/>
          <p:nvPr/>
        </p:nvSpPr>
        <p:spPr>
          <a:xfrm>
            <a:off x="1959984" y="4274126"/>
            <a:ext cx="9084254" cy="23391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0F90"/>
              </a:buClr>
              <a:buSzPts val="3200"/>
              <a:buFont typeface="Calibri"/>
              <a:buNone/>
            </a:pPr>
            <a:r>
              <a:rPr b="0" i="0" lang="en-US" sz="3200" u="none" cap="none" strike="noStrike">
                <a:solidFill>
                  <a:srgbClr val="000000"/>
                </a:solidFill>
                <a:latin typeface="Calibri"/>
                <a:ea typeface="Calibri"/>
                <a:cs typeface="Calibri"/>
                <a:sym typeface="Calibri"/>
              </a:rPr>
              <a:t>Three cornerstone beliefs:</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simple connectivity</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IP protocol: that narrow waist</a:t>
            </a:r>
            <a:endParaRPr/>
          </a:p>
          <a:p>
            <a:pPr indent="-311150" lvl="0" marL="577850" marR="0" rtl="0" algn="l">
              <a:lnSpc>
                <a:spcPct val="100000"/>
              </a:lnSpc>
              <a:spcBef>
                <a:spcPts val="0"/>
              </a:spcBef>
              <a:spcAft>
                <a:spcPts val="0"/>
              </a:spcAft>
              <a:buClr>
                <a:srgbClr val="010F90"/>
              </a:buClr>
              <a:buSzPts val="3200"/>
              <a:buFont typeface="Noto Sans Symbols"/>
              <a:buChar char="▪"/>
            </a:pPr>
            <a:r>
              <a:rPr b="0" i="0" lang="en-US" sz="3200" u="none" cap="none" strike="noStrike">
                <a:solidFill>
                  <a:srgbClr val="000000"/>
                </a:solidFill>
                <a:latin typeface="Calibri"/>
                <a:ea typeface="Calibri"/>
                <a:cs typeface="Calibri"/>
                <a:sym typeface="Calibri"/>
              </a:rPr>
              <a:t>intelligence, complexity at network edge</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0" st="0"/>
                                            </p:txEl>
                                          </p:spTgt>
                                        </p:tgtEl>
                                        <p:attrNameLst>
                                          <p:attrName>style.visibility</p:attrName>
                                        </p:attrNameLst>
                                      </p:cBhvr>
                                      <p:to>
                                        <p:strVal val="visible"/>
                                      </p:to>
                                    </p:set>
                                    <p:animEffect filter="fade" transition="in">
                                      <p:cBhvr>
                                        <p:cTn dur="500"/>
                                        <p:tgtEl>
                                          <p:spTgt spid="65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1" st="1"/>
                                            </p:txEl>
                                          </p:spTgt>
                                        </p:tgtEl>
                                        <p:attrNameLst>
                                          <p:attrName>style.visibility</p:attrName>
                                        </p:attrNameLst>
                                      </p:cBhvr>
                                      <p:to>
                                        <p:strVal val="visible"/>
                                      </p:to>
                                    </p:set>
                                    <p:animEffect filter="fade" transition="in">
                                      <p:cBhvr>
                                        <p:cTn dur="500"/>
                                        <p:tgtEl>
                                          <p:spTgt spid="65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2" st="2"/>
                                            </p:txEl>
                                          </p:spTgt>
                                        </p:tgtEl>
                                        <p:attrNameLst>
                                          <p:attrName>style.visibility</p:attrName>
                                        </p:attrNameLst>
                                      </p:cBhvr>
                                      <p:to>
                                        <p:strVal val="visible"/>
                                      </p:to>
                                    </p:set>
                                    <p:animEffect filter="fade" transition="in">
                                      <p:cBhvr>
                                        <p:cTn dur="500"/>
                                        <p:tgtEl>
                                          <p:spTgt spid="65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3" st="3"/>
                                            </p:txEl>
                                          </p:spTgt>
                                        </p:tgtEl>
                                        <p:attrNameLst>
                                          <p:attrName>style.visibility</p:attrName>
                                        </p:attrNameLst>
                                      </p:cBhvr>
                                      <p:to>
                                        <p:strVal val="visible"/>
                                      </p:to>
                                    </p:set>
                                    <p:animEffect filter="fade" transition="in">
                                      <p:cBhvr>
                                        <p:cTn dur="500"/>
                                        <p:tgtEl>
                                          <p:spTgt spid="65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7">
                                            <p:txEl>
                                              <p:pRg end="4" st="4"/>
                                            </p:txEl>
                                          </p:spTgt>
                                        </p:tgtEl>
                                        <p:attrNameLst>
                                          <p:attrName>style.visibility</p:attrName>
                                        </p:attrNameLst>
                                      </p:cBhvr>
                                      <p:to>
                                        <p:strVal val="visible"/>
                                      </p:to>
                                    </p:set>
                                    <p:animEffect filter="fade" transition="in">
                                      <p:cBhvr>
                                        <p:cTn dur="500"/>
                                        <p:tgtEl>
                                          <p:spTgt spid="658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2" name="Shape 6592"/>
        <p:cNvGrpSpPr/>
        <p:nvPr/>
      </p:nvGrpSpPr>
      <p:grpSpPr>
        <a:xfrm>
          <a:off x="0" y="0"/>
          <a:ext cx="0" cy="0"/>
          <a:chOff x="0" y="0"/>
          <a:chExt cx="0" cy="0"/>
        </a:xfrm>
      </p:grpSpPr>
      <p:sp>
        <p:nvSpPr>
          <p:cNvPr id="6593" name="Google Shape;6593;p100"/>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The end-end argument</a:t>
            </a:r>
            <a:endParaRPr/>
          </a:p>
        </p:txBody>
      </p:sp>
      <p:sp>
        <p:nvSpPr>
          <p:cNvPr id="6594" name="Google Shape;6594;p100"/>
          <p:cNvSpPr txBox="1"/>
          <p:nvPr/>
        </p:nvSpPr>
        <p:spPr>
          <a:xfrm>
            <a:off x="872836" y="1256363"/>
            <a:ext cx="104740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F90"/>
              </a:buClr>
              <a:buSzPts val="2800"/>
              <a:buFont typeface="Noto Sans Symbols"/>
              <a:buChar char="▪"/>
            </a:pPr>
            <a:r>
              <a:rPr b="0" i="0" lang="en-US" sz="2800" u="none" cap="none" strike="noStrike">
                <a:solidFill>
                  <a:srgbClr val="000000"/>
                </a:solidFill>
                <a:latin typeface="Calibri"/>
                <a:ea typeface="Calibri"/>
                <a:cs typeface="Calibri"/>
                <a:sym typeface="Calibri"/>
              </a:rPr>
              <a:t>some network functionality (e.g., reliable data transfer, congestion) can be implemented </a:t>
            </a:r>
            <a:r>
              <a:rPr b="0" i="0" lang="en-US" sz="2800" u="none" cap="none" strike="noStrike">
                <a:solidFill>
                  <a:srgbClr val="010F90"/>
                </a:solidFill>
                <a:latin typeface="Calibri"/>
                <a:ea typeface="Calibri"/>
                <a:cs typeface="Calibri"/>
                <a:sym typeface="Calibri"/>
              </a:rPr>
              <a:t>in network</a:t>
            </a:r>
            <a:r>
              <a:rPr b="0" i="0" lang="en-US" sz="2800" u="none" cap="none" strike="noStrike">
                <a:solidFill>
                  <a:srgbClr val="000000"/>
                </a:solidFill>
                <a:latin typeface="Calibri"/>
                <a:ea typeface="Calibri"/>
                <a:cs typeface="Calibri"/>
                <a:sym typeface="Calibri"/>
              </a:rPr>
              <a:t>, or at </a:t>
            </a:r>
            <a:r>
              <a:rPr b="0" i="0" lang="en-US" sz="2800" u="none" cap="none" strike="noStrike">
                <a:solidFill>
                  <a:srgbClr val="010F90"/>
                </a:solidFill>
                <a:latin typeface="Calibri"/>
                <a:ea typeface="Calibri"/>
                <a:cs typeface="Calibri"/>
                <a:sym typeface="Calibri"/>
              </a:rPr>
              <a:t>network edge</a:t>
            </a:r>
            <a:endParaRPr/>
          </a:p>
        </p:txBody>
      </p:sp>
      <p:grpSp>
        <p:nvGrpSpPr>
          <p:cNvPr id="6595" name="Google Shape;6595;p100"/>
          <p:cNvGrpSpPr/>
          <p:nvPr/>
        </p:nvGrpSpPr>
        <p:grpSpPr>
          <a:xfrm>
            <a:off x="1874509" y="2628915"/>
            <a:ext cx="7991761" cy="1770965"/>
            <a:chOff x="1218293" y="1951181"/>
            <a:chExt cx="7991761" cy="1770965"/>
          </a:xfrm>
        </p:grpSpPr>
        <p:cxnSp>
          <p:nvCxnSpPr>
            <p:cNvPr id="6596" name="Google Shape;6596;p100"/>
            <p:cNvCxnSpPr/>
            <p:nvPr/>
          </p:nvCxnSpPr>
          <p:spPr>
            <a:xfrm>
              <a:off x="2053652" y="2320066"/>
              <a:ext cx="6316843" cy="0"/>
            </a:xfrm>
            <a:prstGeom prst="straightConnector1">
              <a:avLst/>
            </a:prstGeom>
            <a:noFill/>
            <a:ln cap="flat" cmpd="sng" w="41275">
              <a:solidFill>
                <a:srgbClr val="C00000"/>
              </a:solidFill>
              <a:prstDash val="solid"/>
              <a:miter lim="800000"/>
              <a:headEnd len="med" w="med" type="triangle"/>
              <a:tailEnd len="med" w="med" type="triangle"/>
            </a:ln>
          </p:spPr>
        </p:cxnSp>
        <p:sp>
          <p:nvSpPr>
            <p:cNvPr id="6597" name="Google Shape;6597;p100"/>
            <p:cNvSpPr txBox="1"/>
            <p:nvPr/>
          </p:nvSpPr>
          <p:spPr>
            <a:xfrm>
              <a:off x="3228340" y="1951181"/>
              <a:ext cx="425719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end-end implementation of reliable data transfer</a:t>
              </a:r>
              <a:endParaRPr/>
            </a:p>
          </p:txBody>
        </p:sp>
        <p:grpSp>
          <p:nvGrpSpPr>
            <p:cNvPr id="6598" name="Google Shape;6598;p100"/>
            <p:cNvGrpSpPr/>
            <p:nvPr/>
          </p:nvGrpSpPr>
          <p:grpSpPr>
            <a:xfrm>
              <a:off x="1218293" y="2035635"/>
              <a:ext cx="1045784" cy="954793"/>
              <a:chOff x="1334466" y="2020644"/>
              <a:chExt cx="1045784" cy="954793"/>
            </a:xfrm>
          </p:grpSpPr>
          <p:sp>
            <p:nvSpPr>
              <p:cNvPr id="6599" name="Google Shape;6599;p100"/>
              <p:cNvSpPr/>
              <p:nvPr/>
            </p:nvSpPr>
            <p:spPr>
              <a:xfrm flipH="1">
                <a:off x="2065300" y="203246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00" name="Google Shape;6600;p100"/>
              <p:cNvSpPr/>
              <p:nvPr/>
            </p:nvSpPr>
            <p:spPr>
              <a:xfrm>
                <a:off x="1435419" y="2060250"/>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01" name="Google Shape;6601;p100"/>
              <p:cNvSpPr/>
              <p:nvPr/>
            </p:nvSpPr>
            <p:spPr>
              <a:xfrm>
                <a:off x="1442562" y="2215173"/>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02" name="Google Shape;6602;p100"/>
              <p:cNvSpPr txBox="1"/>
              <p:nvPr/>
            </p:nvSpPr>
            <p:spPr>
              <a:xfrm>
                <a:off x="1334466" y="2020644"/>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603" name="Google Shape;6603;p100"/>
              <p:cNvCxnSpPr/>
              <p:nvPr/>
            </p:nvCxnSpPr>
            <p:spPr>
              <a:xfrm>
                <a:off x="1434403" y="22162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4" name="Google Shape;6604;p100"/>
              <p:cNvCxnSpPr/>
              <p:nvPr/>
            </p:nvCxnSpPr>
            <p:spPr>
              <a:xfrm>
                <a:off x="1434547" y="2372157"/>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5" name="Google Shape;6605;p100"/>
              <p:cNvCxnSpPr/>
              <p:nvPr/>
            </p:nvCxnSpPr>
            <p:spPr>
              <a:xfrm>
                <a:off x="1441177" y="25210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06" name="Google Shape;6606;p100"/>
              <p:cNvCxnSpPr/>
              <p:nvPr/>
            </p:nvCxnSpPr>
            <p:spPr>
              <a:xfrm>
                <a:off x="1444564" y="2673426"/>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607" name="Google Shape;6607;p100"/>
            <p:cNvGrpSpPr/>
            <p:nvPr/>
          </p:nvGrpSpPr>
          <p:grpSpPr>
            <a:xfrm>
              <a:off x="8189615" y="2033344"/>
              <a:ext cx="1020439" cy="962288"/>
              <a:chOff x="1031745" y="1247139"/>
              <a:chExt cx="1020439" cy="962288"/>
            </a:xfrm>
          </p:grpSpPr>
          <p:sp>
            <p:nvSpPr>
              <p:cNvPr id="6608" name="Google Shape;6608;p100"/>
              <p:cNvSpPr/>
              <p:nvPr/>
            </p:nvSpPr>
            <p:spPr>
              <a:xfrm>
                <a:off x="1031745" y="126645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09" name="Google Shape;6609;p100"/>
              <p:cNvSpPr/>
              <p:nvPr/>
            </p:nvSpPr>
            <p:spPr>
              <a:xfrm>
                <a:off x="1338749" y="1286745"/>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10" name="Google Shape;6610;p100"/>
              <p:cNvSpPr/>
              <p:nvPr/>
            </p:nvSpPr>
            <p:spPr>
              <a:xfrm>
                <a:off x="1345892" y="1441668"/>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611" name="Google Shape;6611;p100"/>
              <p:cNvSpPr txBox="1"/>
              <p:nvPr/>
            </p:nvSpPr>
            <p:spPr>
              <a:xfrm>
                <a:off x="1237796" y="1247139"/>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612" name="Google Shape;6612;p100"/>
              <p:cNvCxnSpPr/>
              <p:nvPr/>
            </p:nvCxnSpPr>
            <p:spPr>
              <a:xfrm>
                <a:off x="1337733" y="1442721"/>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3" name="Google Shape;6613;p100"/>
              <p:cNvCxnSpPr/>
              <p:nvPr/>
            </p:nvCxnSpPr>
            <p:spPr>
              <a:xfrm>
                <a:off x="1337877" y="15986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4" name="Google Shape;6614;p100"/>
              <p:cNvCxnSpPr/>
              <p:nvPr/>
            </p:nvCxnSpPr>
            <p:spPr>
              <a:xfrm>
                <a:off x="1344507" y="1747521"/>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615" name="Google Shape;6615;p100"/>
              <p:cNvCxnSpPr/>
              <p:nvPr/>
            </p:nvCxnSpPr>
            <p:spPr>
              <a:xfrm>
                <a:off x="1347894" y="1899921"/>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616" name="Google Shape;6616;p100"/>
            <p:cNvGrpSpPr/>
            <p:nvPr/>
          </p:nvGrpSpPr>
          <p:grpSpPr>
            <a:xfrm>
              <a:off x="1749876" y="2642212"/>
              <a:ext cx="7135940" cy="1079934"/>
              <a:chOff x="1749876" y="2642212"/>
              <a:chExt cx="7135940" cy="1079934"/>
            </a:xfrm>
          </p:grpSpPr>
          <p:sp>
            <p:nvSpPr>
              <p:cNvPr id="6617" name="Google Shape;6617;p100"/>
              <p:cNvSpPr/>
              <p:nvPr/>
            </p:nvSpPr>
            <p:spPr>
              <a:xfrm flipH="1" rot="10800000">
                <a:off x="7164592" y="3041210"/>
                <a:ext cx="1721224" cy="680936"/>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18" name="Google Shape;6618;p100"/>
              <p:cNvSpPr/>
              <p:nvPr/>
            </p:nvSpPr>
            <p:spPr>
              <a:xfrm>
                <a:off x="3602816" y="2963532"/>
                <a:ext cx="3498815" cy="627560"/>
              </a:xfrm>
              <a:custGeom>
                <a:rect b="b" l="l" r="r" t="t"/>
                <a:pathLst>
                  <a:path extrusionOk="0" h="1800235" w="153955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14651" y="1329420"/>
                      <a:pt x="1514186" y="1190207"/>
                    </a:cubicBezTo>
                    <a:cubicBezTo>
                      <a:pt x="1513721" y="1050994"/>
                      <a:pt x="1395410" y="1107931"/>
                      <a:pt x="1386703" y="889068"/>
                    </a:cubicBezTo>
                    <a:cubicBezTo>
                      <a:pt x="1403366" y="652864"/>
                      <a:pt x="1524555" y="649456"/>
                      <a:pt x="1509771" y="523246"/>
                    </a:cubicBezTo>
                    <a:cubicBezTo>
                      <a:pt x="1494987" y="39703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19" name="Google Shape;6619;p100"/>
              <p:cNvSpPr/>
              <p:nvPr/>
            </p:nvSpPr>
            <p:spPr>
              <a:xfrm>
                <a:off x="1983600" y="2906040"/>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p:txBody>
          </p:sp>
          <p:sp>
            <p:nvSpPr>
              <p:cNvPr id="6620" name="Google Shape;6620;p100"/>
              <p:cNvSpPr/>
              <p:nvPr/>
            </p:nvSpPr>
            <p:spPr>
              <a:xfrm>
                <a:off x="1749876" y="2642212"/>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pic>
            <p:nvPicPr>
              <p:cNvPr descr="antenna_radiation_stylized" id="6621" name="Google Shape;6621;p100"/>
              <p:cNvPicPr preferRelativeResize="0"/>
              <p:nvPr/>
            </p:nvPicPr>
            <p:blipFill rotWithShape="1">
              <a:blip r:embed="rId3">
                <a:alphaModFix/>
              </a:blip>
              <a:srcRect b="0" l="0" r="0" t="0"/>
              <a:stretch/>
            </p:blipFill>
            <p:spPr>
              <a:xfrm>
                <a:off x="2126484" y="3177185"/>
                <a:ext cx="506412" cy="106009"/>
              </a:xfrm>
              <a:prstGeom prst="rect">
                <a:avLst/>
              </a:prstGeom>
              <a:noFill/>
              <a:ln>
                <a:noFill/>
              </a:ln>
            </p:spPr>
          </p:pic>
          <p:cxnSp>
            <p:nvCxnSpPr>
              <p:cNvPr id="6622" name="Google Shape;6622;p100"/>
              <p:cNvCxnSpPr/>
              <p:nvPr/>
            </p:nvCxnSpPr>
            <p:spPr>
              <a:xfrm>
                <a:off x="2807672" y="3216792"/>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623" name="Google Shape;6623;p100"/>
              <p:cNvCxnSpPr/>
              <p:nvPr/>
            </p:nvCxnSpPr>
            <p:spPr>
              <a:xfrm flipH="1" rot="10800000">
                <a:off x="2417147" y="3427929"/>
                <a:ext cx="168275" cy="3175"/>
              </a:xfrm>
              <a:prstGeom prst="straightConnector1">
                <a:avLst/>
              </a:prstGeom>
              <a:noFill/>
              <a:ln cap="flat" cmpd="sng" w="9525">
                <a:solidFill>
                  <a:schemeClr val="dk1"/>
                </a:solidFill>
                <a:prstDash val="solid"/>
                <a:round/>
                <a:headEnd len="med" w="med" type="none"/>
                <a:tailEnd len="med" w="med" type="none"/>
              </a:ln>
            </p:spPr>
          </p:cxnSp>
          <p:grpSp>
            <p:nvGrpSpPr>
              <p:cNvPr id="6624" name="Google Shape;6624;p100"/>
              <p:cNvGrpSpPr/>
              <p:nvPr/>
            </p:nvGrpSpPr>
            <p:grpSpPr>
              <a:xfrm flipH="1">
                <a:off x="2536522" y="2920104"/>
                <a:ext cx="359261" cy="342045"/>
                <a:chOff x="2839" y="3501"/>
                <a:chExt cx="755" cy="803"/>
              </a:xfrm>
            </p:grpSpPr>
            <p:pic>
              <p:nvPicPr>
                <p:cNvPr descr="desktop_computer_stylized_medium" id="6625" name="Google Shape;6625;p10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6626" name="Google Shape;6626;p10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627" name="Google Shape;6627;p100"/>
              <p:cNvGrpSpPr/>
              <p:nvPr/>
            </p:nvGrpSpPr>
            <p:grpSpPr>
              <a:xfrm>
                <a:off x="2347961" y="2678385"/>
                <a:ext cx="347997" cy="396620"/>
                <a:chOff x="7797061" y="3296104"/>
                <a:chExt cx="347997" cy="396620"/>
              </a:xfrm>
            </p:grpSpPr>
            <p:pic>
              <p:nvPicPr>
                <p:cNvPr descr="fridge2.png" id="6628" name="Google Shape;6628;p100"/>
                <p:cNvPicPr preferRelativeResize="0"/>
                <p:nvPr/>
              </p:nvPicPr>
              <p:blipFill rotWithShape="1">
                <a:blip r:embed="rId5">
                  <a:alphaModFix/>
                </a:blip>
                <a:srcRect b="0" l="0" r="0" t="0"/>
                <a:stretch/>
              </p:blipFill>
              <p:spPr>
                <a:xfrm>
                  <a:off x="7896825" y="3355697"/>
                  <a:ext cx="189578" cy="337027"/>
                </a:xfrm>
                <a:prstGeom prst="rect">
                  <a:avLst/>
                </a:prstGeom>
                <a:noFill/>
                <a:ln>
                  <a:noFill/>
                </a:ln>
              </p:spPr>
            </p:pic>
            <p:pic>
              <p:nvPicPr>
                <p:cNvPr descr="antenna_stylized" id="6629" name="Google Shape;6629;p100"/>
                <p:cNvPicPr preferRelativeResize="0"/>
                <p:nvPr/>
              </p:nvPicPr>
              <p:blipFill rotWithShape="1">
                <a:blip r:embed="rId6">
                  <a:alphaModFix/>
                </a:blip>
                <a:srcRect b="0" l="0" r="0" t="0"/>
                <a:stretch/>
              </p:blipFill>
              <p:spPr>
                <a:xfrm>
                  <a:off x="7797061" y="3296104"/>
                  <a:ext cx="347997" cy="167557"/>
                </a:xfrm>
                <a:prstGeom prst="rect">
                  <a:avLst/>
                </a:prstGeom>
                <a:noFill/>
                <a:ln>
                  <a:noFill/>
                </a:ln>
              </p:spPr>
            </p:pic>
          </p:grpSp>
          <p:grpSp>
            <p:nvGrpSpPr>
              <p:cNvPr id="6630" name="Google Shape;6630;p100"/>
              <p:cNvGrpSpPr/>
              <p:nvPr/>
            </p:nvGrpSpPr>
            <p:grpSpPr>
              <a:xfrm>
                <a:off x="2594596" y="3318955"/>
                <a:ext cx="354986" cy="175668"/>
                <a:chOff x="7493876" y="2774731"/>
                <a:chExt cx="1481958" cy="894622"/>
              </a:xfrm>
            </p:grpSpPr>
            <p:sp>
              <p:nvSpPr>
                <p:cNvPr id="6631" name="Google Shape;663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32" name="Google Shape;663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33" name="Google Shape;6633;p100"/>
                <p:cNvGrpSpPr/>
                <p:nvPr/>
              </p:nvGrpSpPr>
              <p:grpSpPr>
                <a:xfrm>
                  <a:off x="7713663" y="2848339"/>
                  <a:ext cx="1042107" cy="425543"/>
                  <a:chOff x="7786941" y="2884917"/>
                  <a:chExt cx="897649" cy="353919"/>
                </a:xfrm>
              </p:grpSpPr>
              <p:sp>
                <p:nvSpPr>
                  <p:cNvPr id="6634" name="Google Shape;663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5" name="Google Shape;663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6" name="Google Shape;663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37" name="Google Shape;663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ccess_point_stylized_small" id="6638" name="Google Shape;6638;p100"/>
              <p:cNvPicPr preferRelativeResize="0"/>
              <p:nvPr/>
            </p:nvPicPr>
            <p:blipFill rotWithShape="1">
              <a:blip r:embed="rId7">
                <a:alphaModFix/>
              </a:blip>
              <a:srcRect b="0" l="0" r="0" t="0"/>
              <a:stretch/>
            </p:blipFill>
            <p:spPr>
              <a:xfrm>
                <a:off x="2158408" y="3214860"/>
                <a:ext cx="370169" cy="306751"/>
              </a:xfrm>
              <a:prstGeom prst="rect">
                <a:avLst/>
              </a:prstGeom>
              <a:noFill/>
              <a:ln>
                <a:noFill/>
              </a:ln>
            </p:spPr>
          </p:pic>
          <p:cxnSp>
            <p:nvCxnSpPr>
              <p:cNvPr id="6639" name="Google Shape;6639;p100"/>
              <p:cNvCxnSpPr/>
              <p:nvPr/>
            </p:nvCxnSpPr>
            <p:spPr>
              <a:xfrm>
                <a:off x="2942945" y="3429728"/>
                <a:ext cx="5562600" cy="0"/>
              </a:xfrm>
              <a:prstGeom prst="straightConnector1">
                <a:avLst/>
              </a:prstGeom>
              <a:noFill/>
              <a:ln cap="flat" cmpd="sng" w="15875">
                <a:solidFill>
                  <a:schemeClr val="dk1"/>
                </a:solidFill>
                <a:prstDash val="solid"/>
                <a:miter lim="800000"/>
                <a:headEnd len="sm" w="sm" type="none"/>
                <a:tailEnd len="sm" w="sm" type="none"/>
              </a:ln>
            </p:spPr>
          </p:cxnSp>
          <p:grpSp>
            <p:nvGrpSpPr>
              <p:cNvPr id="6640" name="Google Shape;6640;p100"/>
              <p:cNvGrpSpPr/>
              <p:nvPr/>
            </p:nvGrpSpPr>
            <p:grpSpPr>
              <a:xfrm>
                <a:off x="5931972" y="3301911"/>
                <a:ext cx="397110" cy="220011"/>
                <a:chOff x="7493876" y="2774731"/>
                <a:chExt cx="1481958" cy="894622"/>
              </a:xfrm>
            </p:grpSpPr>
            <p:sp>
              <p:nvSpPr>
                <p:cNvPr id="6641" name="Google Shape;664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42" name="Google Shape;664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43" name="Google Shape;6643;p100"/>
                <p:cNvGrpSpPr/>
                <p:nvPr/>
              </p:nvGrpSpPr>
              <p:grpSpPr>
                <a:xfrm>
                  <a:off x="7713663" y="2848339"/>
                  <a:ext cx="1042107" cy="425543"/>
                  <a:chOff x="7786941" y="2884917"/>
                  <a:chExt cx="897649" cy="353919"/>
                </a:xfrm>
              </p:grpSpPr>
              <p:sp>
                <p:nvSpPr>
                  <p:cNvPr id="6644" name="Google Shape;664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5" name="Google Shape;664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6" name="Google Shape;664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47" name="Google Shape;664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648" name="Google Shape;6648;p100"/>
              <p:cNvCxnSpPr/>
              <p:nvPr/>
            </p:nvCxnSpPr>
            <p:spPr>
              <a:xfrm>
                <a:off x="8002192" y="3160324"/>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6649" name="Google Shape;6649;p100"/>
              <p:cNvCxnSpPr/>
              <p:nvPr/>
            </p:nvCxnSpPr>
            <p:spPr>
              <a:xfrm flipH="1" rot="10800000">
                <a:off x="7419299" y="3160324"/>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6650" name="Google Shape;6650;p100"/>
              <p:cNvCxnSpPr/>
              <p:nvPr/>
            </p:nvCxnSpPr>
            <p:spPr>
              <a:xfrm>
                <a:off x="7390977" y="3430683"/>
                <a:ext cx="1030502" cy="0"/>
              </a:xfrm>
              <a:prstGeom prst="straightConnector1">
                <a:avLst/>
              </a:prstGeom>
              <a:noFill/>
              <a:ln cap="flat" cmpd="sng" w="9525">
                <a:solidFill>
                  <a:schemeClr val="dk1"/>
                </a:solidFill>
                <a:prstDash val="solid"/>
                <a:round/>
                <a:headEnd len="med" w="med" type="none"/>
                <a:tailEnd len="med" w="med" type="none"/>
              </a:ln>
            </p:spPr>
          </p:cxnSp>
          <p:grpSp>
            <p:nvGrpSpPr>
              <p:cNvPr id="6651" name="Google Shape;6651;p100"/>
              <p:cNvGrpSpPr/>
              <p:nvPr/>
            </p:nvGrpSpPr>
            <p:grpSpPr>
              <a:xfrm>
                <a:off x="4827559" y="3298669"/>
                <a:ext cx="397110" cy="220011"/>
                <a:chOff x="7493876" y="2774731"/>
                <a:chExt cx="1481958" cy="894622"/>
              </a:xfrm>
            </p:grpSpPr>
            <p:sp>
              <p:nvSpPr>
                <p:cNvPr id="6652" name="Google Shape;6652;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53" name="Google Shape;6653;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54" name="Google Shape;6654;p100"/>
                <p:cNvGrpSpPr/>
                <p:nvPr/>
              </p:nvGrpSpPr>
              <p:grpSpPr>
                <a:xfrm>
                  <a:off x="7713663" y="2848339"/>
                  <a:ext cx="1042107" cy="425543"/>
                  <a:chOff x="7786941" y="2884917"/>
                  <a:chExt cx="897649" cy="353919"/>
                </a:xfrm>
              </p:grpSpPr>
              <p:sp>
                <p:nvSpPr>
                  <p:cNvPr id="6655" name="Google Shape;6655;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6" name="Google Shape;6656;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7" name="Google Shape;6657;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58" name="Google Shape;6658;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59" name="Google Shape;6659;p100"/>
              <p:cNvGrpSpPr/>
              <p:nvPr/>
            </p:nvGrpSpPr>
            <p:grpSpPr>
              <a:xfrm>
                <a:off x="3863224" y="3299318"/>
                <a:ext cx="397110" cy="220011"/>
                <a:chOff x="7493876" y="2774731"/>
                <a:chExt cx="1481958" cy="894622"/>
              </a:xfrm>
            </p:grpSpPr>
            <p:sp>
              <p:nvSpPr>
                <p:cNvPr id="6660" name="Google Shape;6660;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61" name="Google Shape;6661;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62" name="Google Shape;6662;p100"/>
                <p:cNvGrpSpPr/>
                <p:nvPr/>
              </p:nvGrpSpPr>
              <p:grpSpPr>
                <a:xfrm>
                  <a:off x="7713663" y="2848339"/>
                  <a:ext cx="1042107" cy="425543"/>
                  <a:chOff x="7786941" y="2884917"/>
                  <a:chExt cx="897649" cy="353919"/>
                </a:xfrm>
              </p:grpSpPr>
              <p:sp>
                <p:nvSpPr>
                  <p:cNvPr id="6663" name="Google Shape;6663;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4" name="Google Shape;6664;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5" name="Google Shape;6665;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66" name="Google Shape;6666;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67" name="Google Shape;6667;p100"/>
              <p:cNvGrpSpPr/>
              <p:nvPr/>
            </p:nvGrpSpPr>
            <p:grpSpPr>
              <a:xfrm>
                <a:off x="7232235" y="3290887"/>
                <a:ext cx="397110" cy="220011"/>
                <a:chOff x="7493876" y="2774731"/>
                <a:chExt cx="1481958" cy="894622"/>
              </a:xfrm>
            </p:grpSpPr>
            <p:sp>
              <p:nvSpPr>
                <p:cNvPr id="6668" name="Google Shape;6668;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69" name="Google Shape;6669;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70" name="Google Shape;6670;p100"/>
                <p:cNvGrpSpPr/>
                <p:nvPr/>
              </p:nvGrpSpPr>
              <p:grpSpPr>
                <a:xfrm>
                  <a:off x="7713663" y="2848339"/>
                  <a:ext cx="1042107" cy="425543"/>
                  <a:chOff x="7786941" y="2884917"/>
                  <a:chExt cx="897649" cy="353919"/>
                </a:xfrm>
              </p:grpSpPr>
              <p:sp>
                <p:nvSpPr>
                  <p:cNvPr id="6671" name="Google Shape;6671;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2" name="Google Shape;6672;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3" name="Google Shape;6673;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74" name="Google Shape;6674;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75" name="Google Shape;6675;p100"/>
              <p:cNvGrpSpPr/>
              <p:nvPr/>
            </p:nvGrpSpPr>
            <p:grpSpPr>
              <a:xfrm>
                <a:off x="8279579" y="3291536"/>
                <a:ext cx="397110" cy="220011"/>
                <a:chOff x="7493876" y="2774731"/>
                <a:chExt cx="1481958" cy="894622"/>
              </a:xfrm>
            </p:grpSpPr>
            <p:sp>
              <p:nvSpPr>
                <p:cNvPr id="6676" name="Google Shape;6676;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77" name="Google Shape;6677;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78" name="Google Shape;6678;p100"/>
                <p:cNvGrpSpPr/>
                <p:nvPr/>
              </p:nvGrpSpPr>
              <p:grpSpPr>
                <a:xfrm>
                  <a:off x="7713663" y="2848339"/>
                  <a:ext cx="1042107" cy="425543"/>
                  <a:chOff x="7786941" y="2884917"/>
                  <a:chExt cx="897649" cy="353919"/>
                </a:xfrm>
              </p:grpSpPr>
              <p:sp>
                <p:nvSpPr>
                  <p:cNvPr id="6679" name="Google Shape;6679;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0" name="Google Shape;6680;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1" name="Google Shape;6681;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2" name="Google Shape;6682;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83" name="Google Shape;6683;p100"/>
              <p:cNvGrpSpPr/>
              <p:nvPr/>
            </p:nvGrpSpPr>
            <p:grpSpPr>
              <a:xfrm>
                <a:off x="7821081" y="3120979"/>
                <a:ext cx="397110" cy="220011"/>
                <a:chOff x="7493876" y="2774731"/>
                <a:chExt cx="1481958" cy="894622"/>
              </a:xfrm>
            </p:grpSpPr>
            <p:sp>
              <p:nvSpPr>
                <p:cNvPr id="6684" name="Google Shape;6684;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685" name="Google Shape;6685;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686" name="Google Shape;6686;p100"/>
                <p:cNvGrpSpPr/>
                <p:nvPr/>
              </p:nvGrpSpPr>
              <p:grpSpPr>
                <a:xfrm>
                  <a:off x="7713663" y="2848339"/>
                  <a:ext cx="1042107" cy="425543"/>
                  <a:chOff x="7786941" y="2884917"/>
                  <a:chExt cx="897649" cy="353919"/>
                </a:xfrm>
              </p:grpSpPr>
              <p:sp>
                <p:nvSpPr>
                  <p:cNvPr id="6687" name="Google Shape;6687;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8" name="Google Shape;6688;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89" name="Google Shape;6689;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90" name="Google Shape;6690;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691" name="Google Shape;6691;p100"/>
              <p:cNvGrpSpPr/>
              <p:nvPr/>
            </p:nvGrpSpPr>
            <p:grpSpPr>
              <a:xfrm>
                <a:off x="8090784" y="2648336"/>
                <a:ext cx="214974" cy="403920"/>
                <a:chOff x="4140" y="429"/>
                <a:chExt cx="1425" cy="2396"/>
              </a:xfrm>
            </p:grpSpPr>
            <p:sp>
              <p:nvSpPr>
                <p:cNvPr id="6692" name="Google Shape;6692;p10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3" name="Google Shape;6693;p10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694" name="Google Shape;6694;p10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5" name="Google Shape;6695;p10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696" name="Google Shape;6696;p10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697" name="Google Shape;6697;p100"/>
                <p:cNvGrpSpPr/>
                <p:nvPr/>
              </p:nvGrpSpPr>
              <p:grpSpPr>
                <a:xfrm>
                  <a:off x="4748" y="666"/>
                  <a:ext cx="578" cy="150"/>
                  <a:chOff x="613" y="2566"/>
                  <a:chExt cx="721" cy="144"/>
                </a:xfrm>
              </p:grpSpPr>
              <p:sp>
                <p:nvSpPr>
                  <p:cNvPr id="6698" name="Google Shape;6698;p10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699" name="Google Shape;6699;p10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0" name="Google Shape;6700;p10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701" name="Google Shape;6701;p100"/>
                <p:cNvGrpSpPr/>
                <p:nvPr/>
              </p:nvGrpSpPr>
              <p:grpSpPr>
                <a:xfrm>
                  <a:off x="4748" y="990"/>
                  <a:ext cx="578" cy="134"/>
                  <a:chOff x="615" y="2564"/>
                  <a:chExt cx="721" cy="139"/>
                </a:xfrm>
              </p:grpSpPr>
              <p:sp>
                <p:nvSpPr>
                  <p:cNvPr id="6702" name="Google Shape;6702;p10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3" name="Google Shape;6703;p10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4" name="Google Shape;6704;p10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5" name="Google Shape;6705;p10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706" name="Google Shape;6706;p100"/>
                <p:cNvGrpSpPr/>
                <p:nvPr/>
              </p:nvGrpSpPr>
              <p:grpSpPr>
                <a:xfrm>
                  <a:off x="4738" y="1647"/>
                  <a:ext cx="578" cy="135"/>
                  <a:chOff x="618" y="2586"/>
                  <a:chExt cx="720" cy="124"/>
                </a:xfrm>
              </p:grpSpPr>
              <p:sp>
                <p:nvSpPr>
                  <p:cNvPr id="6707" name="Google Shape;6707;p10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08" name="Google Shape;6708;p10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09" name="Google Shape;6709;p10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10" name="Google Shape;6710;p100"/>
                <p:cNvGrpSpPr/>
                <p:nvPr/>
              </p:nvGrpSpPr>
              <p:grpSpPr>
                <a:xfrm>
                  <a:off x="4738" y="1330"/>
                  <a:ext cx="588" cy="134"/>
                  <a:chOff x="613" y="2571"/>
                  <a:chExt cx="732" cy="134"/>
                </a:xfrm>
              </p:grpSpPr>
              <p:sp>
                <p:nvSpPr>
                  <p:cNvPr id="6711" name="Google Shape;6711;p10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2" name="Google Shape;6712;p10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713" name="Google Shape;6713;p10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4" name="Google Shape;6714;p10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5" name="Google Shape;6715;p10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6" name="Google Shape;6716;p10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7" name="Google Shape;6717;p10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18" name="Google Shape;6718;p10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19" name="Google Shape;6719;p10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0" name="Google Shape;6720;p10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1" name="Google Shape;6721;p10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722" name="Google Shape;6722;p10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723" name="Google Shape;6723;p10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6724" name="Google Shape;6724;p100"/>
              <p:cNvGrpSpPr/>
              <p:nvPr/>
            </p:nvGrpSpPr>
            <p:grpSpPr>
              <a:xfrm>
                <a:off x="2038044" y="2772101"/>
                <a:ext cx="350807" cy="310034"/>
                <a:chOff x="7487144" y="3389820"/>
                <a:chExt cx="350807" cy="310034"/>
              </a:xfrm>
            </p:grpSpPr>
            <p:pic>
              <p:nvPicPr>
                <p:cNvPr descr="antenna_stylized" id="6725" name="Google Shape;6725;p100"/>
                <p:cNvPicPr preferRelativeResize="0"/>
                <p:nvPr/>
              </p:nvPicPr>
              <p:blipFill rotWithShape="1">
                <a:blip r:embed="rId6">
                  <a:alphaModFix/>
                </a:blip>
                <a:srcRect b="0" l="0" r="0" t="0"/>
                <a:stretch/>
              </p:blipFill>
              <p:spPr>
                <a:xfrm>
                  <a:off x="7487144" y="3389820"/>
                  <a:ext cx="347997" cy="167557"/>
                </a:xfrm>
                <a:prstGeom prst="rect">
                  <a:avLst/>
                </a:prstGeom>
                <a:noFill/>
                <a:ln>
                  <a:noFill/>
                </a:ln>
              </p:spPr>
            </p:pic>
            <p:pic>
              <p:nvPicPr>
                <p:cNvPr descr="laptop_keyboard" id="6726" name="Google Shape;6726;p100"/>
                <p:cNvPicPr preferRelativeResize="0"/>
                <p:nvPr/>
              </p:nvPicPr>
              <p:blipFill rotWithShape="1">
                <a:blip r:embed="rId8">
                  <a:alphaModFix/>
                </a:blip>
                <a:srcRect b="0" l="0" r="0" t="0"/>
                <a:stretch/>
              </p:blipFill>
              <p:spPr>
                <a:xfrm flipH="1" rot="109064">
                  <a:off x="7504001" y="3575889"/>
                  <a:ext cx="286699" cy="119448"/>
                </a:xfrm>
                <a:prstGeom prst="rect">
                  <a:avLst/>
                </a:prstGeom>
                <a:noFill/>
                <a:ln>
                  <a:noFill/>
                </a:ln>
              </p:spPr>
            </p:pic>
            <p:sp>
              <p:nvSpPr>
                <p:cNvPr id="6727" name="Google Shape;6727;p100"/>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28" name="Google Shape;6728;p100"/>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29" name="Google Shape;6729;p100"/>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0" name="Google Shape;6730;p100"/>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1" name="Google Shape;6731;p100"/>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2" name="Google Shape;6732;p100"/>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3" name="Google Shape;6733;p100"/>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734" name="Google Shape;6734;p100"/>
                <p:cNvGrpSpPr/>
                <p:nvPr/>
              </p:nvGrpSpPr>
              <p:grpSpPr>
                <a:xfrm>
                  <a:off x="7593395" y="3625649"/>
                  <a:ext cx="64747" cy="27592"/>
                  <a:chOff x="1740" y="2642"/>
                  <a:chExt cx="752" cy="327"/>
                </a:xfrm>
              </p:grpSpPr>
              <p:sp>
                <p:nvSpPr>
                  <p:cNvPr id="6735" name="Google Shape;6735;p10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6" name="Google Shape;6736;p10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7" name="Google Shape;6737;p10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8" name="Google Shape;6738;p10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39" name="Google Shape;6739;p10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0" name="Google Shape;6740;p10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741" name="Google Shape;6741;p100"/>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2" name="Google Shape;6742;p100"/>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3" name="Google Shape;6743;p100"/>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4" name="Google Shape;6744;p100"/>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5" name="Google Shape;6745;p100"/>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46" name="Google Shape;6746;p100"/>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747" name="Google Shape;6747;p100"/>
                <p:cNvPicPr preferRelativeResize="0"/>
                <p:nvPr/>
              </p:nvPicPr>
              <p:blipFill rotWithShape="1">
                <a:blip r:embed="rId9">
                  <a:alphaModFix/>
                </a:blip>
                <a:srcRect b="0" l="0" r="0" t="0"/>
                <a:stretch/>
              </p:blipFill>
              <p:spPr>
                <a:xfrm>
                  <a:off x="7610380" y="3463988"/>
                  <a:ext cx="209692" cy="141851"/>
                </a:xfrm>
                <a:prstGeom prst="rect">
                  <a:avLst/>
                </a:prstGeom>
                <a:noFill/>
                <a:ln>
                  <a:noFill/>
                </a:ln>
              </p:spPr>
            </p:pic>
          </p:grpSp>
          <p:cxnSp>
            <p:nvCxnSpPr>
              <p:cNvPr id="6748" name="Google Shape;6748;p100"/>
              <p:cNvCxnSpPr/>
              <p:nvPr/>
            </p:nvCxnSpPr>
            <p:spPr>
              <a:xfrm flipH="1" rot="10800000">
                <a:off x="8093653" y="3049307"/>
                <a:ext cx="69231" cy="77991"/>
              </a:xfrm>
              <a:prstGeom prst="straightConnector1">
                <a:avLst/>
              </a:prstGeom>
              <a:noFill/>
              <a:ln cap="flat" cmpd="sng" w="9525">
                <a:solidFill>
                  <a:schemeClr val="dk1"/>
                </a:solidFill>
                <a:prstDash val="solid"/>
                <a:round/>
                <a:headEnd len="med" w="med" type="none"/>
                <a:tailEnd len="med" w="med" type="none"/>
              </a:ln>
            </p:spPr>
          </p:cxnSp>
        </p:grpSp>
      </p:grpSp>
      <p:grpSp>
        <p:nvGrpSpPr>
          <p:cNvPr id="6749" name="Google Shape;6749;p100"/>
          <p:cNvGrpSpPr/>
          <p:nvPr/>
        </p:nvGrpSpPr>
        <p:grpSpPr>
          <a:xfrm>
            <a:off x="1893346" y="4744519"/>
            <a:ext cx="7964014" cy="1722627"/>
            <a:chOff x="1247888" y="3937689"/>
            <a:chExt cx="7964014" cy="1722627"/>
          </a:xfrm>
        </p:grpSpPr>
        <p:sp>
          <p:nvSpPr>
            <p:cNvPr id="6750" name="Google Shape;6750;p100"/>
            <p:cNvSpPr/>
            <p:nvPr/>
          </p:nvSpPr>
          <p:spPr>
            <a:xfrm flipH="1" rot="10800000">
              <a:off x="7166385" y="4979380"/>
              <a:ext cx="1721224" cy="680936"/>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51" name="Google Shape;6751;p100"/>
            <p:cNvSpPr/>
            <p:nvPr/>
          </p:nvSpPr>
          <p:spPr>
            <a:xfrm>
              <a:off x="3604609" y="4901702"/>
              <a:ext cx="3498815" cy="627560"/>
            </a:xfrm>
            <a:custGeom>
              <a:rect b="b" l="l" r="r" t="t"/>
              <a:pathLst>
                <a:path extrusionOk="0" h="1800235" w="153955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14651" y="1329420"/>
                    <a:pt x="1514186" y="1190207"/>
                  </a:cubicBezTo>
                  <a:cubicBezTo>
                    <a:pt x="1513721" y="1050994"/>
                    <a:pt x="1395410" y="1107931"/>
                    <a:pt x="1386703" y="889068"/>
                  </a:cubicBezTo>
                  <a:cubicBezTo>
                    <a:pt x="1403366" y="652864"/>
                    <a:pt x="1524555" y="649456"/>
                    <a:pt x="1509771" y="523246"/>
                  </a:cubicBezTo>
                  <a:cubicBezTo>
                    <a:pt x="1494987" y="39703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2" name="Google Shape;6752;p100"/>
            <p:cNvSpPr/>
            <p:nvPr/>
          </p:nvSpPr>
          <p:spPr>
            <a:xfrm>
              <a:off x="1985393" y="4844210"/>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1" i="0" sz="2400" u="none" cap="none" strike="noStrike">
                <a:solidFill>
                  <a:srgbClr val="000000"/>
                </a:solidFill>
                <a:latin typeface="Arial"/>
                <a:ea typeface="Arial"/>
                <a:cs typeface="Arial"/>
                <a:sym typeface="Arial"/>
              </a:endParaRPr>
            </a:p>
          </p:txBody>
        </p:sp>
        <p:sp>
          <p:nvSpPr>
            <p:cNvPr id="6753" name="Google Shape;6753;p100"/>
            <p:cNvSpPr/>
            <p:nvPr/>
          </p:nvSpPr>
          <p:spPr>
            <a:xfrm>
              <a:off x="1751669" y="4580382"/>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rgbClr val="00CCFF"/>
                </a:solidFill>
                <a:latin typeface="Arial"/>
                <a:ea typeface="Arial"/>
                <a:cs typeface="Arial"/>
                <a:sym typeface="Arial"/>
              </a:endParaRPr>
            </a:p>
          </p:txBody>
        </p:sp>
        <p:pic>
          <p:nvPicPr>
            <p:cNvPr descr="antenna_radiation_stylized" id="6754" name="Google Shape;6754;p100"/>
            <p:cNvPicPr preferRelativeResize="0"/>
            <p:nvPr/>
          </p:nvPicPr>
          <p:blipFill rotWithShape="1">
            <a:blip r:embed="rId3">
              <a:alphaModFix/>
            </a:blip>
            <a:srcRect b="0" l="0" r="0" t="0"/>
            <a:stretch/>
          </p:blipFill>
          <p:spPr>
            <a:xfrm>
              <a:off x="2128277" y="5115355"/>
              <a:ext cx="506412" cy="106009"/>
            </a:xfrm>
            <a:prstGeom prst="rect">
              <a:avLst/>
            </a:prstGeom>
            <a:noFill/>
            <a:ln>
              <a:noFill/>
            </a:ln>
          </p:spPr>
        </p:pic>
        <p:cxnSp>
          <p:nvCxnSpPr>
            <p:cNvPr id="6755" name="Google Shape;6755;p100"/>
            <p:cNvCxnSpPr/>
            <p:nvPr/>
          </p:nvCxnSpPr>
          <p:spPr>
            <a:xfrm>
              <a:off x="2809465" y="5154962"/>
              <a:ext cx="0" cy="131762"/>
            </a:xfrm>
            <a:prstGeom prst="straightConnector1">
              <a:avLst/>
            </a:prstGeom>
            <a:noFill/>
            <a:ln cap="flat" cmpd="sng" w="9525">
              <a:solidFill>
                <a:schemeClr val="dk1"/>
              </a:solidFill>
              <a:prstDash val="solid"/>
              <a:round/>
              <a:headEnd len="med" w="med" type="none"/>
              <a:tailEnd len="med" w="med" type="none"/>
            </a:ln>
          </p:spPr>
        </p:cxnSp>
        <p:cxnSp>
          <p:nvCxnSpPr>
            <p:cNvPr id="6756" name="Google Shape;6756;p100"/>
            <p:cNvCxnSpPr/>
            <p:nvPr/>
          </p:nvCxnSpPr>
          <p:spPr>
            <a:xfrm flipH="1" rot="10800000">
              <a:off x="2418940" y="5366099"/>
              <a:ext cx="168275" cy="3175"/>
            </a:xfrm>
            <a:prstGeom prst="straightConnector1">
              <a:avLst/>
            </a:prstGeom>
            <a:noFill/>
            <a:ln cap="flat" cmpd="sng" w="9525">
              <a:solidFill>
                <a:schemeClr val="dk1"/>
              </a:solidFill>
              <a:prstDash val="solid"/>
              <a:round/>
              <a:headEnd len="med" w="med" type="none"/>
              <a:tailEnd len="med" w="med" type="none"/>
            </a:ln>
          </p:spPr>
        </p:cxnSp>
        <p:grpSp>
          <p:nvGrpSpPr>
            <p:cNvPr id="6757" name="Google Shape;6757;p100"/>
            <p:cNvGrpSpPr/>
            <p:nvPr/>
          </p:nvGrpSpPr>
          <p:grpSpPr>
            <a:xfrm flipH="1">
              <a:off x="2538315" y="4858274"/>
              <a:ext cx="359261" cy="342045"/>
              <a:chOff x="2839" y="3501"/>
              <a:chExt cx="755" cy="803"/>
            </a:xfrm>
          </p:grpSpPr>
          <p:pic>
            <p:nvPicPr>
              <p:cNvPr descr="desktop_computer_stylized_medium" id="6758" name="Google Shape;6758;p100"/>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6759" name="Google Shape;6759;p100"/>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760" name="Google Shape;6760;p100"/>
            <p:cNvGrpSpPr/>
            <p:nvPr/>
          </p:nvGrpSpPr>
          <p:grpSpPr>
            <a:xfrm>
              <a:off x="2349754" y="4616555"/>
              <a:ext cx="347997" cy="396620"/>
              <a:chOff x="7797061" y="3296104"/>
              <a:chExt cx="347997" cy="396620"/>
            </a:xfrm>
          </p:grpSpPr>
          <p:pic>
            <p:nvPicPr>
              <p:cNvPr descr="fridge2.png" id="6761" name="Google Shape;6761;p100"/>
              <p:cNvPicPr preferRelativeResize="0"/>
              <p:nvPr/>
            </p:nvPicPr>
            <p:blipFill rotWithShape="1">
              <a:blip r:embed="rId5">
                <a:alphaModFix/>
              </a:blip>
              <a:srcRect b="0" l="0" r="0" t="0"/>
              <a:stretch/>
            </p:blipFill>
            <p:spPr>
              <a:xfrm>
                <a:off x="7896825" y="3355697"/>
                <a:ext cx="189578" cy="337027"/>
              </a:xfrm>
              <a:prstGeom prst="rect">
                <a:avLst/>
              </a:prstGeom>
              <a:noFill/>
              <a:ln>
                <a:noFill/>
              </a:ln>
            </p:spPr>
          </p:pic>
          <p:pic>
            <p:nvPicPr>
              <p:cNvPr descr="antenna_stylized" id="6762" name="Google Shape;6762;p100"/>
              <p:cNvPicPr preferRelativeResize="0"/>
              <p:nvPr/>
            </p:nvPicPr>
            <p:blipFill rotWithShape="1">
              <a:blip r:embed="rId6">
                <a:alphaModFix/>
              </a:blip>
              <a:srcRect b="0" l="0" r="0" t="0"/>
              <a:stretch/>
            </p:blipFill>
            <p:spPr>
              <a:xfrm>
                <a:off x="7797061" y="3296104"/>
                <a:ext cx="347997" cy="167557"/>
              </a:xfrm>
              <a:prstGeom prst="rect">
                <a:avLst/>
              </a:prstGeom>
              <a:noFill/>
              <a:ln>
                <a:noFill/>
              </a:ln>
            </p:spPr>
          </p:pic>
        </p:grpSp>
        <p:grpSp>
          <p:nvGrpSpPr>
            <p:cNvPr id="6763" name="Google Shape;6763;p100"/>
            <p:cNvGrpSpPr/>
            <p:nvPr/>
          </p:nvGrpSpPr>
          <p:grpSpPr>
            <a:xfrm>
              <a:off x="2596389" y="5257125"/>
              <a:ext cx="354986" cy="175668"/>
              <a:chOff x="7493876" y="2774731"/>
              <a:chExt cx="1481958" cy="894622"/>
            </a:xfrm>
          </p:grpSpPr>
          <p:sp>
            <p:nvSpPr>
              <p:cNvPr id="6764" name="Google Shape;6764;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65" name="Google Shape;6765;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66" name="Google Shape;6766;p100"/>
              <p:cNvGrpSpPr/>
              <p:nvPr/>
            </p:nvGrpSpPr>
            <p:grpSpPr>
              <a:xfrm>
                <a:off x="7713663" y="2848339"/>
                <a:ext cx="1042107" cy="425543"/>
                <a:chOff x="7786941" y="2884917"/>
                <a:chExt cx="897649" cy="353919"/>
              </a:xfrm>
            </p:grpSpPr>
            <p:sp>
              <p:nvSpPr>
                <p:cNvPr id="6767" name="Google Shape;6767;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8" name="Google Shape;6768;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9" name="Google Shape;6769;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0" name="Google Shape;6770;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pic>
          <p:nvPicPr>
            <p:cNvPr descr="access_point_stylized_small" id="6771" name="Google Shape;6771;p100"/>
            <p:cNvPicPr preferRelativeResize="0"/>
            <p:nvPr/>
          </p:nvPicPr>
          <p:blipFill rotWithShape="1">
            <a:blip r:embed="rId7">
              <a:alphaModFix/>
            </a:blip>
            <a:srcRect b="0" l="0" r="0" t="0"/>
            <a:stretch/>
          </p:blipFill>
          <p:spPr>
            <a:xfrm>
              <a:off x="2160201" y="5153030"/>
              <a:ext cx="370169" cy="306751"/>
            </a:xfrm>
            <a:prstGeom prst="rect">
              <a:avLst/>
            </a:prstGeom>
            <a:noFill/>
            <a:ln>
              <a:noFill/>
            </a:ln>
          </p:spPr>
        </p:pic>
        <p:cxnSp>
          <p:nvCxnSpPr>
            <p:cNvPr id="6772" name="Google Shape;6772;p100"/>
            <p:cNvCxnSpPr/>
            <p:nvPr/>
          </p:nvCxnSpPr>
          <p:spPr>
            <a:xfrm>
              <a:off x="2944738" y="5367898"/>
              <a:ext cx="5562600" cy="0"/>
            </a:xfrm>
            <a:prstGeom prst="straightConnector1">
              <a:avLst/>
            </a:prstGeom>
            <a:noFill/>
            <a:ln cap="flat" cmpd="sng" w="15875">
              <a:solidFill>
                <a:schemeClr val="dk1"/>
              </a:solidFill>
              <a:prstDash val="solid"/>
              <a:miter lim="800000"/>
              <a:headEnd len="sm" w="sm" type="none"/>
              <a:tailEnd len="sm" w="sm" type="none"/>
            </a:ln>
          </p:spPr>
        </p:cxnSp>
        <p:cxnSp>
          <p:nvCxnSpPr>
            <p:cNvPr id="6773" name="Google Shape;6773;p100"/>
            <p:cNvCxnSpPr/>
            <p:nvPr/>
          </p:nvCxnSpPr>
          <p:spPr>
            <a:xfrm>
              <a:off x="8003985" y="5098494"/>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6774" name="Google Shape;6774;p100"/>
            <p:cNvCxnSpPr/>
            <p:nvPr/>
          </p:nvCxnSpPr>
          <p:spPr>
            <a:xfrm flipH="1" rot="10800000">
              <a:off x="7421092" y="5098494"/>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6775" name="Google Shape;6775;p100"/>
            <p:cNvCxnSpPr/>
            <p:nvPr/>
          </p:nvCxnSpPr>
          <p:spPr>
            <a:xfrm>
              <a:off x="7392770" y="5368853"/>
              <a:ext cx="1030502" cy="0"/>
            </a:xfrm>
            <a:prstGeom prst="straightConnector1">
              <a:avLst/>
            </a:prstGeom>
            <a:noFill/>
            <a:ln cap="flat" cmpd="sng" w="9525">
              <a:solidFill>
                <a:schemeClr val="dk1"/>
              </a:solidFill>
              <a:prstDash val="solid"/>
              <a:round/>
              <a:headEnd len="med" w="med" type="none"/>
              <a:tailEnd len="med" w="med" type="none"/>
            </a:ln>
          </p:spPr>
        </p:cxnSp>
        <p:grpSp>
          <p:nvGrpSpPr>
            <p:cNvPr id="6776" name="Google Shape;6776;p100"/>
            <p:cNvGrpSpPr/>
            <p:nvPr/>
          </p:nvGrpSpPr>
          <p:grpSpPr>
            <a:xfrm>
              <a:off x="8281372" y="5229706"/>
              <a:ext cx="397110" cy="220011"/>
              <a:chOff x="7493876" y="2774731"/>
              <a:chExt cx="1481958" cy="894622"/>
            </a:xfrm>
          </p:grpSpPr>
          <p:sp>
            <p:nvSpPr>
              <p:cNvPr id="6777" name="Google Shape;6777;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778" name="Google Shape;6778;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779" name="Google Shape;6779;p100"/>
              <p:cNvGrpSpPr/>
              <p:nvPr/>
            </p:nvGrpSpPr>
            <p:grpSpPr>
              <a:xfrm>
                <a:off x="7713663" y="2848339"/>
                <a:ext cx="1042107" cy="425543"/>
                <a:chOff x="7786941" y="2884917"/>
                <a:chExt cx="897649" cy="353919"/>
              </a:xfrm>
            </p:grpSpPr>
            <p:sp>
              <p:nvSpPr>
                <p:cNvPr id="6780" name="Google Shape;6780;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1" name="Google Shape;6781;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2" name="Google Shape;6782;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3" name="Google Shape;6783;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784" name="Google Shape;6784;p100"/>
            <p:cNvGrpSpPr/>
            <p:nvPr/>
          </p:nvGrpSpPr>
          <p:grpSpPr>
            <a:xfrm>
              <a:off x="1247888" y="3937689"/>
              <a:ext cx="1045784" cy="958635"/>
              <a:chOff x="1334466" y="2016802"/>
              <a:chExt cx="1045784" cy="958635"/>
            </a:xfrm>
          </p:grpSpPr>
          <p:sp>
            <p:nvSpPr>
              <p:cNvPr id="6785" name="Google Shape;6785;p100"/>
              <p:cNvSpPr/>
              <p:nvPr/>
            </p:nvSpPr>
            <p:spPr>
              <a:xfrm flipH="1">
                <a:off x="2065300" y="2032462"/>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86" name="Google Shape;6786;p100"/>
              <p:cNvSpPr/>
              <p:nvPr/>
            </p:nvSpPr>
            <p:spPr>
              <a:xfrm>
                <a:off x="1435419" y="2060250"/>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787" name="Google Shape;6787;p100"/>
              <p:cNvSpPr/>
              <p:nvPr/>
            </p:nvSpPr>
            <p:spPr>
              <a:xfrm>
                <a:off x="1438720" y="2372695"/>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788" name="Google Shape;6788;p100"/>
              <p:cNvSpPr txBox="1"/>
              <p:nvPr/>
            </p:nvSpPr>
            <p:spPr>
              <a:xfrm>
                <a:off x="1334466" y="2016802"/>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789" name="Google Shape;6789;p100"/>
              <p:cNvCxnSpPr/>
              <p:nvPr/>
            </p:nvCxnSpPr>
            <p:spPr>
              <a:xfrm>
                <a:off x="1434403" y="22162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0" name="Google Shape;6790;p100"/>
              <p:cNvCxnSpPr/>
              <p:nvPr/>
            </p:nvCxnSpPr>
            <p:spPr>
              <a:xfrm>
                <a:off x="1434547" y="2372157"/>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1" name="Google Shape;6791;p100"/>
              <p:cNvCxnSpPr/>
              <p:nvPr/>
            </p:nvCxnSpPr>
            <p:spPr>
              <a:xfrm>
                <a:off x="1433493" y="2521026"/>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792" name="Google Shape;6792;p100"/>
              <p:cNvCxnSpPr/>
              <p:nvPr/>
            </p:nvCxnSpPr>
            <p:spPr>
              <a:xfrm>
                <a:off x="1433038" y="2673426"/>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793" name="Google Shape;6793;p100"/>
            <p:cNvGrpSpPr/>
            <p:nvPr/>
          </p:nvGrpSpPr>
          <p:grpSpPr>
            <a:xfrm>
              <a:off x="2039837" y="4710271"/>
              <a:ext cx="350807" cy="310034"/>
              <a:chOff x="7487144" y="3389820"/>
              <a:chExt cx="350807" cy="310034"/>
            </a:xfrm>
          </p:grpSpPr>
          <p:pic>
            <p:nvPicPr>
              <p:cNvPr descr="antenna_stylized" id="6794" name="Google Shape;6794;p100"/>
              <p:cNvPicPr preferRelativeResize="0"/>
              <p:nvPr/>
            </p:nvPicPr>
            <p:blipFill rotWithShape="1">
              <a:blip r:embed="rId6">
                <a:alphaModFix/>
              </a:blip>
              <a:srcRect b="0" l="0" r="0" t="0"/>
              <a:stretch/>
            </p:blipFill>
            <p:spPr>
              <a:xfrm>
                <a:off x="7487144" y="3389820"/>
                <a:ext cx="347997" cy="167557"/>
              </a:xfrm>
              <a:prstGeom prst="rect">
                <a:avLst/>
              </a:prstGeom>
              <a:noFill/>
              <a:ln>
                <a:noFill/>
              </a:ln>
            </p:spPr>
          </p:pic>
          <p:pic>
            <p:nvPicPr>
              <p:cNvPr descr="laptop_keyboard" id="6795" name="Google Shape;6795;p100"/>
              <p:cNvPicPr preferRelativeResize="0"/>
              <p:nvPr/>
            </p:nvPicPr>
            <p:blipFill rotWithShape="1">
              <a:blip r:embed="rId8">
                <a:alphaModFix/>
              </a:blip>
              <a:srcRect b="0" l="0" r="0" t="0"/>
              <a:stretch/>
            </p:blipFill>
            <p:spPr>
              <a:xfrm flipH="1" rot="109064">
                <a:off x="7504001" y="3575889"/>
                <a:ext cx="286699" cy="119448"/>
              </a:xfrm>
              <a:prstGeom prst="rect">
                <a:avLst/>
              </a:prstGeom>
              <a:noFill/>
              <a:ln>
                <a:noFill/>
              </a:ln>
            </p:spPr>
          </p:pic>
          <p:sp>
            <p:nvSpPr>
              <p:cNvPr id="6796" name="Google Shape;6796;p100"/>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7" name="Google Shape;6797;p100"/>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8" name="Google Shape;6798;p100"/>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99" name="Google Shape;6799;p100"/>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0" name="Google Shape;6800;p100"/>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1" name="Google Shape;6801;p100"/>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2" name="Google Shape;6802;p100"/>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03" name="Google Shape;6803;p100"/>
              <p:cNvGrpSpPr/>
              <p:nvPr/>
            </p:nvGrpSpPr>
            <p:grpSpPr>
              <a:xfrm>
                <a:off x="7593395" y="3625649"/>
                <a:ext cx="64747" cy="27592"/>
                <a:chOff x="1740" y="2642"/>
                <a:chExt cx="752" cy="327"/>
              </a:xfrm>
            </p:grpSpPr>
            <p:sp>
              <p:nvSpPr>
                <p:cNvPr id="6804" name="Google Shape;6804;p100"/>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5" name="Google Shape;6805;p100"/>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6" name="Google Shape;6806;p100"/>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7" name="Google Shape;6807;p100"/>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8" name="Google Shape;6808;p100"/>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9" name="Google Shape;6809;p100"/>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810" name="Google Shape;6810;p100"/>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1" name="Google Shape;6811;p100"/>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2" name="Google Shape;6812;p100"/>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3" name="Google Shape;6813;p100"/>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4" name="Google Shape;6814;p100"/>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5" name="Google Shape;6815;p100"/>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816" name="Google Shape;6816;p100"/>
              <p:cNvPicPr preferRelativeResize="0"/>
              <p:nvPr/>
            </p:nvPicPr>
            <p:blipFill rotWithShape="1">
              <a:blip r:embed="rId9">
                <a:alphaModFix/>
              </a:blip>
              <a:srcRect b="0" l="0" r="0" t="0"/>
              <a:stretch/>
            </p:blipFill>
            <p:spPr>
              <a:xfrm>
                <a:off x="7610380" y="3463988"/>
                <a:ext cx="209692" cy="141851"/>
              </a:xfrm>
              <a:prstGeom prst="rect">
                <a:avLst/>
              </a:prstGeom>
              <a:noFill/>
              <a:ln>
                <a:noFill/>
              </a:ln>
            </p:spPr>
          </p:pic>
        </p:grpSp>
        <p:grpSp>
          <p:nvGrpSpPr>
            <p:cNvPr id="6817" name="Google Shape;6817;p100"/>
            <p:cNvGrpSpPr/>
            <p:nvPr/>
          </p:nvGrpSpPr>
          <p:grpSpPr>
            <a:xfrm>
              <a:off x="8203190" y="4015802"/>
              <a:ext cx="1008712" cy="969393"/>
              <a:chOff x="8854651" y="4004028"/>
              <a:chExt cx="1008712" cy="969393"/>
            </a:xfrm>
          </p:grpSpPr>
          <p:sp>
            <p:nvSpPr>
              <p:cNvPr id="6818" name="Google Shape;6818;p100"/>
              <p:cNvSpPr/>
              <p:nvPr/>
            </p:nvSpPr>
            <p:spPr>
              <a:xfrm>
                <a:off x="8854651" y="4030446"/>
                <a:ext cx="314950" cy="942975"/>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19" name="Google Shape;6819;p100"/>
              <p:cNvSpPr/>
              <p:nvPr/>
            </p:nvSpPr>
            <p:spPr>
              <a:xfrm>
                <a:off x="9149928" y="4047476"/>
                <a:ext cx="618744" cy="779122"/>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20" name="Google Shape;6820;p100"/>
              <p:cNvSpPr/>
              <p:nvPr/>
            </p:nvSpPr>
            <p:spPr>
              <a:xfrm>
                <a:off x="9153229" y="4359921"/>
                <a:ext cx="611601"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21" name="Google Shape;6821;p100"/>
              <p:cNvSpPr txBox="1"/>
              <p:nvPr/>
            </p:nvSpPr>
            <p:spPr>
              <a:xfrm>
                <a:off x="9048975" y="4004028"/>
                <a:ext cx="814388" cy="854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transport</a:t>
                </a:r>
                <a:endParaRPr/>
              </a:p>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data 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22" name="Google Shape;6822;p100"/>
              <p:cNvCxnSpPr/>
              <p:nvPr/>
            </p:nvCxnSpPr>
            <p:spPr>
              <a:xfrm>
                <a:off x="9148912" y="42034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3" name="Google Shape;6823;p100"/>
              <p:cNvCxnSpPr/>
              <p:nvPr/>
            </p:nvCxnSpPr>
            <p:spPr>
              <a:xfrm>
                <a:off x="9149056" y="4359383"/>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4" name="Google Shape;6824;p100"/>
              <p:cNvCxnSpPr/>
              <p:nvPr/>
            </p:nvCxnSpPr>
            <p:spPr>
              <a:xfrm>
                <a:off x="9148002" y="4508252"/>
                <a:ext cx="619760" cy="0"/>
              </a:xfrm>
              <a:prstGeom prst="straightConnector1">
                <a:avLst/>
              </a:prstGeom>
              <a:noFill/>
              <a:ln cap="flat" cmpd="sng" w="12700">
                <a:solidFill>
                  <a:schemeClr val="dk1"/>
                </a:solidFill>
                <a:prstDash val="solid"/>
                <a:miter lim="800000"/>
                <a:headEnd len="sm" w="sm" type="none"/>
                <a:tailEnd len="sm" w="sm" type="none"/>
              </a:ln>
            </p:spPr>
          </p:cxnSp>
          <p:cxnSp>
            <p:nvCxnSpPr>
              <p:cNvPr id="6825" name="Google Shape;6825;p100"/>
              <p:cNvCxnSpPr/>
              <p:nvPr/>
            </p:nvCxnSpPr>
            <p:spPr>
              <a:xfrm>
                <a:off x="9147547" y="4660652"/>
                <a:ext cx="619760"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26" name="Google Shape;6826;p100"/>
            <p:cNvGrpSpPr/>
            <p:nvPr/>
          </p:nvGrpSpPr>
          <p:grpSpPr>
            <a:xfrm>
              <a:off x="8092577" y="4586506"/>
              <a:ext cx="214974" cy="403920"/>
              <a:chOff x="4140" y="429"/>
              <a:chExt cx="1425" cy="2396"/>
            </a:xfrm>
          </p:grpSpPr>
          <p:sp>
            <p:nvSpPr>
              <p:cNvPr id="6827" name="Google Shape;6827;p10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28" name="Google Shape;6828;p100"/>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29" name="Google Shape;6829;p10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30" name="Google Shape;6830;p10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31" name="Google Shape;6831;p100"/>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32" name="Google Shape;6832;p100"/>
              <p:cNvGrpSpPr/>
              <p:nvPr/>
            </p:nvGrpSpPr>
            <p:grpSpPr>
              <a:xfrm>
                <a:off x="4748" y="666"/>
                <a:ext cx="578" cy="150"/>
                <a:chOff x="613" y="2566"/>
                <a:chExt cx="721" cy="144"/>
              </a:xfrm>
            </p:grpSpPr>
            <p:sp>
              <p:nvSpPr>
                <p:cNvPr id="6833" name="Google Shape;6833;p100"/>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4" name="Google Shape;6834;p100"/>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35" name="Google Shape;6835;p100"/>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36" name="Google Shape;6836;p100"/>
              <p:cNvGrpSpPr/>
              <p:nvPr/>
            </p:nvGrpSpPr>
            <p:grpSpPr>
              <a:xfrm>
                <a:off x="4748" y="990"/>
                <a:ext cx="578" cy="134"/>
                <a:chOff x="615" y="2564"/>
                <a:chExt cx="721" cy="139"/>
              </a:xfrm>
            </p:grpSpPr>
            <p:sp>
              <p:nvSpPr>
                <p:cNvPr id="6837" name="Google Shape;6837;p100"/>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38" name="Google Shape;6838;p100"/>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39" name="Google Shape;6839;p100"/>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0" name="Google Shape;6840;p100"/>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6841" name="Google Shape;6841;p100"/>
              <p:cNvGrpSpPr/>
              <p:nvPr/>
            </p:nvGrpSpPr>
            <p:grpSpPr>
              <a:xfrm>
                <a:off x="4738" y="1647"/>
                <a:ext cx="578" cy="135"/>
                <a:chOff x="618" y="2586"/>
                <a:chExt cx="720" cy="124"/>
              </a:xfrm>
            </p:grpSpPr>
            <p:sp>
              <p:nvSpPr>
                <p:cNvPr id="6842" name="Google Shape;6842;p100"/>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3" name="Google Shape;6843;p100"/>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44" name="Google Shape;6844;p10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845" name="Google Shape;6845;p100"/>
              <p:cNvGrpSpPr/>
              <p:nvPr/>
            </p:nvGrpSpPr>
            <p:grpSpPr>
              <a:xfrm>
                <a:off x="4738" y="1330"/>
                <a:ext cx="588" cy="134"/>
                <a:chOff x="613" y="2571"/>
                <a:chExt cx="732" cy="134"/>
              </a:xfrm>
            </p:grpSpPr>
            <p:sp>
              <p:nvSpPr>
                <p:cNvPr id="6846" name="Google Shape;6846;p100"/>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7" name="Google Shape;6847;p100"/>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6848" name="Google Shape;6848;p100"/>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49" name="Google Shape;6849;p10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0" name="Google Shape;6850;p10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1" name="Google Shape;6851;p100"/>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2" name="Google Shape;6852;p10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53" name="Google Shape;6853;p100"/>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4" name="Google Shape;6854;p100"/>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5" name="Google Shape;6855;p100"/>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6" name="Google Shape;6856;p100"/>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6857" name="Google Shape;6857;p100"/>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6858" name="Google Shape;6858;p100"/>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cxnSp>
          <p:nvCxnSpPr>
            <p:cNvPr id="6859" name="Google Shape;6859;p100"/>
            <p:cNvCxnSpPr>
              <a:endCxn id="6854" idx="0"/>
            </p:cNvCxnSpPr>
            <p:nvPr/>
          </p:nvCxnSpPr>
          <p:spPr>
            <a:xfrm flipH="1" rot="10800000">
              <a:off x="8100145" y="4971714"/>
              <a:ext cx="83400" cy="94800"/>
            </a:xfrm>
            <a:prstGeom prst="straightConnector1">
              <a:avLst/>
            </a:prstGeom>
            <a:noFill/>
            <a:ln cap="flat" cmpd="sng" w="9525">
              <a:solidFill>
                <a:schemeClr val="dk1"/>
              </a:solidFill>
              <a:prstDash val="solid"/>
              <a:miter lim="800000"/>
              <a:headEnd len="sm" w="sm" type="none"/>
              <a:tailEnd len="sm" w="sm" type="none"/>
            </a:ln>
          </p:spPr>
        </p:cxnSp>
        <p:grpSp>
          <p:nvGrpSpPr>
            <p:cNvPr id="6860" name="Google Shape;6860;p100"/>
            <p:cNvGrpSpPr/>
            <p:nvPr/>
          </p:nvGrpSpPr>
          <p:grpSpPr>
            <a:xfrm>
              <a:off x="2821259" y="4737483"/>
              <a:ext cx="806605" cy="606348"/>
              <a:chOff x="2821259" y="5835340"/>
              <a:chExt cx="806605" cy="606348"/>
            </a:xfrm>
          </p:grpSpPr>
          <p:sp>
            <p:nvSpPr>
              <p:cNvPr id="6861" name="Google Shape;6861;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2" name="Google Shape;6862;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63" name="Google Shape;6863;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64" name="Google Shape;6864;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65" name="Google Shape;6865;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66" name="Google Shape;6866;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67" name="Google Shape;6867;p100"/>
            <p:cNvGrpSpPr/>
            <p:nvPr/>
          </p:nvGrpSpPr>
          <p:grpSpPr>
            <a:xfrm>
              <a:off x="3977268" y="4735086"/>
              <a:ext cx="806605" cy="606348"/>
              <a:chOff x="2821259" y="5835340"/>
              <a:chExt cx="806605" cy="606348"/>
            </a:xfrm>
          </p:grpSpPr>
          <p:sp>
            <p:nvSpPr>
              <p:cNvPr id="6868" name="Google Shape;6868;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69" name="Google Shape;6869;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0" name="Google Shape;6870;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1" name="Google Shape;6871;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72" name="Google Shape;6872;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73" name="Google Shape;6873;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74" name="Google Shape;6874;p100"/>
            <p:cNvGrpSpPr/>
            <p:nvPr/>
          </p:nvGrpSpPr>
          <p:grpSpPr>
            <a:xfrm>
              <a:off x="4943707" y="4739525"/>
              <a:ext cx="806605" cy="606348"/>
              <a:chOff x="2821259" y="5835340"/>
              <a:chExt cx="806605" cy="606348"/>
            </a:xfrm>
          </p:grpSpPr>
          <p:sp>
            <p:nvSpPr>
              <p:cNvPr id="6875" name="Google Shape;6875;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76" name="Google Shape;6876;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7" name="Google Shape;6877;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78" name="Google Shape;6878;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79" name="Google Shape;6879;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80" name="Google Shape;6880;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81" name="Google Shape;6881;p100"/>
            <p:cNvGrpSpPr/>
            <p:nvPr/>
          </p:nvGrpSpPr>
          <p:grpSpPr>
            <a:xfrm>
              <a:off x="5820935" y="4737036"/>
              <a:ext cx="806605" cy="606348"/>
              <a:chOff x="2821259" y="5835340"/>
              <a:chExt cx="806605" cy="606348"/>
            </a:xfrm>
          </p:grpSpPr>
          <p:sp>
            <p:nvSpPr>
              <p:cNvPr id="6882" name="Google Shape;6882;p100"/>
              <p:cNvSpPr/>
              <p:nvPr/>
            </p:nvSpPr>
            <p:spPr>
              <a:xfrm>
                <a:off x="2821259" y="5861824"/>
                <a:ext cx="227300" cy="579864"/>
              </a:xfrm>
              <a:custGeom>
                <a:rect b="b" l="l" r="r" t="t"/>
                <a:pathLst>
                  <a:path extrusionOk="0" h="10000" w="10333">
                    <a:moveTo>
                      <a:pt x="0" y="10000"/>
                    </a:moveTo>
                    <a:lnTo>
                      <a:pt x="10000" y="0"/>
                    </a:lnTo>
                    <a:lnTo>
                      <a:pt x="10333" y="8347"/>
                    </a:lnTo>
                    <a:lnTo>
                      <a:pt x="0" y="10000"/>
                    </a:lnTo>
                    <a:close/>
                  </a:path>
                </a:pathLst>
              </a:custGeom>
              <a:gradFill>
                <a:gsLst>
                  <a:gs pos="0">
                    <a:schemeClr val="lt1"/>
                  </a:gs>
                  <a:gs pos="100000">
                    <a:srgbClr val="BFBFBF"/>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83" name="Google Shape;6883;p100"/>
              <p:cNvSpPr/>
              <p:nvPr/>
            </p:nvSpPr>
            <p:spPr>
              <a:xfrm>
                <a:off x="3028886" y="5876693"/>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84" name="Google Shape;6884;p100"/>
              <p:cNvSpPr/>
              <p:nvPr/>
            </p:nvSpPr>
            <p:spPr>
              <a:xfrm>
                <a:off x="3032188" y="5882716"/>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85" name="Google Shape;6885;p100"/>
              <p:cNvSpPr txBox="1"/>
              <p:nvPr/>
            </p:nvSpPr>
            <p:spPr>
              <a:xfrm>
                <a:off x="2950236" y="5835340"/>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86" name="Google Shape;6886;p100"/>
              <p:cNvCxnSpPr/>
              <p:nvPr/>
            </p:nvCxnSpPr>
            <p:spPr>
              <a:xfrm>
                <a:off x="3034394" y="6034764"/>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87" name="Google Shape;6887;p100"/>
              <p:cNvCxnSpPr/>
              <p:nvPr/>
            </p:nvCxnSpPr>
            <p:spPr>
              <a:xfrm>
                <a:off x="3034394" y="6187164"/>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88" name="Google Shape;6888;p100"/>
            <p:cNvGrpSpPr/>
            <p:nvPr/>
          </p:nvGrpSpPr>
          <p:grpSpPr>
            <a:xfrm>
              <a:off x="6790401" y="4730432"/>
              <a:ext cx="677628" cy="553998"/>
              <a:chOff x="6839228" y="4734871"/>
              <a:chExt cx="677628" cy="553998"/>
            </a:xfrm>
          </p:grpSpPr>
          <p:sp>
            <p:nvSpPr>
              <p:cNvPr id="6889" name="Google Shape;6889;p100"/>
              <p:cNvSpPr/>
              <p:nvPr/>
            </p:nvSpPr>
            <p:spPr>
              <a:xfrm>
                <a:off x="6917878" y="4776224"/>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90" name="Google Shape;6890;p100"/>
              <p:cNvSpPr/>
              <p:nvPr/>
            </p:nvSpPr>
            <p:spPr>
              <a:xfrm>
                <a:off x="6921180" y="4782247"/>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891" name="Google Shape;6891;p100"/>
              <p:cNvSpPr txBox="1"/>
              <p:nvPr/>
            </p:nvSpPr>
            <p:spPr>
              <a:xfrm>
                <a:off x="6839228" y="4734871"/>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892" name="Google Shape;6892;p100"/>
              <p:cNvCxnSpPr/>
              <p:nvPr/>
            </p:nvCxnSpPr>
            <p:spPr>
              <a:xfrm>
                <a:off x="6923386" y="4934295"/>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893" name="Google Shape;6893;p100"/>
              <p:cNvCxnSpPr/>
              <p:nvPr/>
            </p:nvCxnSpPr>
            <p:spPr>
              <a:xfrm>
                <a:off x="6923386" y="5086695"/>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894" name="Google Shape;6894;p100"/>
            <p:cNvGrpSpPr/>
            <p:nvPr/>
          </p:nvGrpSpPr>
          <p:grpSpPr>
            <a:xfrm>
              <a:off x="3865017" y="5237488"/>
              <a:ext cx="397110" cy="220011"/>
              <a:chOff x="7493876" y="2774731"/>
              <a:chExt cx="1481958" cy="894622"/>
            </a:xfrm>
          </p:grpSpPr>
          <p:sp>
            <p:nvSpPr>
              <p:cNvPr id="6895" name="Google Shape;6895;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896" name="Google Shape;6896;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897" name="Google Shape;6897;p100"/>
              <p:cNvGrpSpPr/>
              <p:nvPr/>
            </p:nvGrpSpPr>
            <p:grpSpPr>
              <a:xfrm>
                <a:off x="7713663" y="2848339"/>
                <a:ext cx="1042107" cy="425543"/>
                <a:chOff x="7786941" y="2884917"/>
                <a:chExt cx="897649" cy="353919"/>
              </a:xfrm>
            </p:grpSpPr>
            <p:sp>
              <p:nvSpPr>
                <p:cNvPr id="6898" name="Google Shape;6898;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99" name="Google Shape;6899;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0" name="Google Shape;6900;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1" name="Google Shape;6901;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02" name="Google Shape;6902;p100"/>
            <p:cNvGrpSpPr/>
            <p:nvPr/>
          </p:nvGrpSpPr>
          <p:grpSpPr>
            <a:xfrm>
              <a:off x="4829352" y="5236839"/>
              <a:ext cx="397110" cy="220011"/>
              <a:chOff x="7493876" y="2774731"/>
              <a:chExt cx="1481958" cy="894622"/>
            </a:xfrm>
          </p:grpSpPr>
          <p:sp>
            <p:nvSpPr>
              <p:cNvPr id="6903" name="Google Shape;6903;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04" name="Google Shape;6904;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05" name="Google Shape;6905;p100"/>
              <p:cNvGrpSpPr/>
              <p:nvPr/>
            </p:nvGrpSpPr>
            <p:grpSpPr>
              <a:xfrm>
                <a:off x="7713663" y="2848339"/>
                <a:ext cx="1042107" cy="425543"/>
                <a:chOff x="7786941" y="2884917"/>
                <a:chExt cx="897649" cy="353919"/>
              </a:xfrm>
            </p:grpSpPr>
            <p:sp>
              <p:nvSpPr>
                <p:cNvPr id="6906" name="Google Shape;6906;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7" name="Google Shape;6907;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8" name="Google Shape;6908;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09" name="Google Shape;6909;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10" name="Google Shape;6910;p100"/>
            <p:cNvGrpSpPr/>
            <p:nvPr/>
          </p:nvGrpSpPr>
          <p:grpSpPr>
            <a:xfrm>
              <a:off x="5769528" y="5235642"/>
              <a:ext cx="397110" cy="220011"/>
              <a:chOff x="7493876" y="2774731"/>
              <a:chExt cx="1481958" cy="894622"/>
            </a:xfrm>
          </p:grpSpPr>
          <p:sp>
            <p:nvSpPr>
              <p:cNvPr id="6911" name="Google Shape;6911;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12" name="Google Shape;6912;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13" name="Google Shape;6913;p100"/>
              <p:cNvGrpSpPr/>
              <p:nvPr/>
            </p:nvGrpSpPr>
            <p:grpSpPr>
              <a:xfrm>
                <a:off x="7713663" y="2848339"/>
                <a:ext cx="1042107" cy="425543"/>
                <a:chOff x="7786941" y="2884917"/>
                <a:chExt cx="897649" cy="353919"/>
              </a:xfrm>
            </p:grpSpPr>
            <p:sp>
              <p:nvSpPr>
                <p:cNvPr id="6914" name="Google Shape;6914;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5" name="Google Shape;6915;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6" name="Google Shape;6916;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17" name="Google Shape;6917;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18" name="Google Shape;6918;p100"/>
            <p:cNvGrpSpPr/>
            <p:nvPr/>
          </p:nvGrpSpPr>
          <p:grpSpPr>
            <a:xfrm>
              <a:off x="7234028" y="5229057"/>
              <a:ext cx="397110" cy="220011"/>
              <a:chOff x="7493876" y="2774731"/>
              <a:chExt cx="1481958" cy="894622"/>
            </a:xfrm>
          </p:grpSpPr>
          <p:sp>
            <p:nvSpPr>
              <p:cNvPr id="6919" name="Google Shape;6919;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20" name="Google Shape;6920;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21" name="Google Shape;6921;p100"/>
              <p:cNvGrpSpPr/>
              <p:nvPr/>
            </p:nvGrpSpPr>
            <p:grpSpPr>
              <a:xfrm>
                <a:off x="7713663" y="2848339"/>
                <a:ext cx="1042107" cy="425543"/>
                <a:chOff x="7786941" y="2884917"/>
                <a:chExt cx="897649" cy="353919"/>
              </a:xfrm>
            </p:grpSpPr>
            <p:sp>
              <p:nvSpPr>
                <p:cNvPr id="6922" name="Google Shape;6922;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3" name="Google Shape;6923;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4" name="Google Shape;6924;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25" name="Google Shape;6925;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6926" name="Google Shape;6926;p100"/>
            <p:cNvGrpSpPr/>
            <p:nvPr/>
          </p:nvGrpSpPr>
          <p:grpSpPr>
            <a:xfrm>
              <a:off x="7453267" y="4541042"/>
              <a:ext cx="677628" cy="553998"/>
              <a:chOff x="6839228" y="4734871"/>
              <a:chExt cx="677628" cy="553998"/>
            </a:xfrm>
          </p:grpSpPr>
          <p:sp>
            <p:nvSpPr>
              <p:cNvPr id="6927" name="Google Shape;6927;p100"/>
              <p:cNvSpPr/>
              <p:nvPr/>
            </p:nvSpPr>
            <p:spPr>
              <a:xfrm>
                <a:off x="6917878" y="4776224"/>
                <a:ext cx="502333" cy="472699"/>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928" name="Google Shape;6928;p100"/>
              <p:cNvSpPr/>
              <p:nvPr/>
            </p:nvSpPr>
            <p:spPr>
              <a:xfrm>
                <a:off x="6921180" y="4782247"/>
                <a:ext cx="502750" cy="153452"/>
              </a:xfrm>
              <a:prstGeom prst="rect">
                <a:avLst/>
              </a:prstGeom>
              <a:solidFill>
                <a:srgbClr val="CC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929" name="Google Shape;6929;p100"/>
              <p:cNvSpPr txBox="1"/>
              <p:nvPr/>
            </p:nvSpPr>
            <p:spPr>
              <a:xfrm>
                <a:off x="6839228" y="4734871"/>
                <a:ext cx="677628" cy="55399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network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link</a:t>
                </a:r>
                <a:endParaRPr/>
              </a:p>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physical</a:t>
                </a:r>
                <a:endParaRPr b="0" i="0" sz="2400" u="none" cap="none" strike="noStrike">
                  <a:solidFill>
                    <a:srgbClr val="000000"/>
                  </a:solidFill>
                  <a:latin typeface="Calibri"/>
                  <a:ea typeface="Calibri"/>
                  <a:cs typeface="Calibri"/>
                  <a:sym typeface="Calibri"/>
                </a:endParaRPr>
              </a:p>
            </p:txBody>
          </p:sp>
          <p:cxnSp>
            <p:nvCxnSpPr>
              <p:cNvPr id="6930" name="Google Shape;6930;p100"/>
              <p:cNvCxnSpPr/>
              <p:nvPr/>
            </p:nvCxnSpPr>
            <p:spPr>
              <a:xfrm>
                <a:off x="6923386" y="4934295"/>
                <a:ext cx="493108" cy="0"/>
              </a:xfrm>
              <a:prstGeom prst="straightConnector1">
                <a:avLst/>
              </a:prstGeom>
              <a:noFill/>
              <a:ln cap="flat" cmpd="sng" w="12700">
                <a:solidFill>
                  <a:schemeClr val="dk1"/>
                </a:solidFill>
                <a:prstDash val="solid"/>
                <a:miter lim="800000"/>
                <a:headEnd len="sm" w="sm" type="none"/>
                <a:tailEnd len="sm" w="sm" type="none"/>
              </a:ln>
            </p:spPr>
          </p:cxnSp>
          <p:cxnSp>
            <p:nvCxnSpPr>
              <p:cNvPr id="6931" name="Google Shape;6931;p100"/>
              <p:cNvCxnSpPr/>
              <p:nvPr/>
            </p:nvCxnSpPr>
            <p:spPr>
              <a:xfrm>
                <a:off x="6923386" y="5086695"/>
                <a:ext cx="493108" cy="0"/>
              </a:xfrm>
              <a:prstGeom prst="straightConnector1">
                <a:avLst/>
              </a:prstGeom>
              <a:noFill/>
              <a:ln cap="flat" cmpd="sng" w="12700">
                <a:solidFill>
                  <a:schemeClr val="dk1"/>
                </a:solidFill>
                <a:prstDash val="solid"/>
                <a:miter lim="800000"/>
                <a:headEnd len="sm" w="sm" type="none"/>
                <a:tailEnd len="sm" w="sm" type="none"/>
              </a:ln>
            </p:spPr>
          </p:cxnSp>
        </p:grpSp>
        <p:grpSp>
          <p:nvGrpSpPr>
            <p:cNvPr id="6932" name="Google Shape;6932;p100"/>
            <p:cNvGrpSpPr/>
            <p:nvPr/>
          </p:nvGrpSpPr>
          <p:grpSpPr>
            <a:xfrm>
              <a:off x="7804288" y="5036846"/>
              <a:ext cx="397110" cy="220011"/>
              <a:chOff x="7493876" y="2774731"/>
              <a:chExt cx="1481958" cy="894622"/>
            </a:xfrm>
          </p:grpSpPr>
          <p:sp>
            <p:nvSpPr>
              <p:cNvPr id="6933" name="Google Shape;6933;p10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6934" name="Google Shape;6934;p10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6935" name="Google Shape;6935;p100"/>
              <p:cNvGrpSpPr/>
              <p:nvPr/>
            </p:nvGrpSpPr>
            <p:grpSpPr>
              <a:xfrm>
                <a:off x="7713663" y="2848339"/>
                <a:ext cx="1042107" cy="425543"/>
                <a:chOff x="7786941" y="2884917"/>
                <a:chExt cx="897649" cy="353919"/>
              </a:xfrm>
            </p:grpSpPr>
            <p:sp>
              <p:nvSpPr>
                <p:cNvPr id="6936" name="Google Shape;6936;p10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7" name="Google Shape;6937;p10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8" name="Google Shape;6938;p10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39" name="Google Shape;6939;p10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cxnSp>
          <p:nvCxnSpPr>
            <p:cNvPr id="6940" name="Google Shape;6940;p100"/>
            <p:cNvCxnSpPr/>
            <p:nvPr/>
          </p:nvCxnSpPr>
          <p:spPr>
            <a:xfrm>
              <a:off x="3569596" y="4866525"/>
              <a:ext cx="589045"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1" name="Google Shape;6941;p100"/>
            <p:cNvCxnSpPr/>
            <p:nvPr/>
          </p:nvCxnSpPr>
          <p:spPr>
            <a:xfrm>
              <a:off x="4699026" y="4876800"/>
              <a:ext cx="432470"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2" name="Google Shape;6942;p100"/>
            <p:cNvCxnSpPr/>
            <p:nvPr/>
          </p:nvCxnSpPr>
          <p:spPr>
            <a:xfrm>
              <a:off x="5665618" y="4878724"/>
              <a:ext cx="359401" cy="0"/>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3" name="Google Shape;6943;p100"/>
            <p:cNvCxnSpPr/>
            <p:nvPr/>
          </p:nvCxnSpPr>
          <p:spPr>
            <a:xfrm>
              <a:off x="6548703" y="4872297"/>
              <a:ext cx="307209" cy="4503"/>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4" name="Google Shape;6944;p100"/>
            <p:cNvCxnSpPr/>
            <p:nvPr/>
          </p:nvCxnSpPr>
          <p:spPr>
            <a:xfrm flipH="1" rot="10800000">
              <a:off x="7390356" y="4659682"/>
              <a:ext cx="133611" cy="263048"/>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5" name="Google Shape;6945;p100"/>
            <p:cNvCxnSpPr/>
            <p:nvPr/>
          </p:nvCxnSpPr>
          <p:spPr>
            <a:xfrm flipH="1" rot="10800000">
              <a:off x="8049738" y="4480142"/>
              <a:ext cx="446562" cy="185475"/>
            </a:xfrm>
            <a:prstGeom prst="straightConnector1">
              <a:avLst/>
            </a:prstGeom>
            <a:noFill/>
            <a:ln cap="flat" cmpd="sng" w="34925">
              <a:solidFill>
                <a:srgbClr val="C00000"/>
              </a:solidFill>
              <a:prstDash val="solid"/>
              <a:miter lim="800000"/>
              <a:headEnd len="med" w="med" type="triangle"/>
              <a:tailEnd len="med" w="med" type="triangle"/>
            </a:ln>
          </p:spPr>
        </p:cxnSp>
        <p:cxnSp>
          <p:nvCxnSpPr>
            <p:cNvPr id="6946" name="Google Shape;6946;p100"/>
            <p:cNvCxnSpPr/>
            <p:nvPr/>
          </p:nvCxnSpPr>
          <p:spPr>
            <a:xfrm>
              <a:off x="1972527" y="4375922"/>
              <a:ext cx="1046246" cy="480001"/>
            </a:xfrm>
            <a:prstGeom prst="straightConnector1">
              <a:avLst/>
            </a:prstGeom>
            <a:noFill/>
            <a:ln cap="flat" cmpd="sng" w="34925">
              <a:solidFill>
                <a:srgbClr val="C00000"/>
              </a:solidFill>
              <a:prstDash val="solid"/>
              <a:miter lim="800000"/>
              <a:headEnd len="med" w="med" type="triangle"/>
              <a:tailEnd len="med" w="med" type="triangle"/>
            </a:ln>
          </p:spPr>
        </p:cxnSp>
        <p:sp>
          <p:nvSpPr>
            <p:cNvPr id="6947" name="Google Shape;6947;p100"/>
            <p:cNvSpPr txBox="1"/>
            <p:nvPr/>
          </p:nvSpPr>
          <p:spPr>
            <a:xfrm>
              <a:off x="2595431" y="4190565"/>
              <a:ext cx="563686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hop-by-hop (in-network) implementation of reliable data transfer</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5"/>
                                        </p:tgtEl>
                                        <p:attrNameLst>
                                          <p:attrName>style.visibility</p:attrName>
                                        </p:attrNameLst>
                                      </p:cBhvr>
                                      <p:to>
                                        <p:strVal val="visible"/>
                                      </p:to>
                                    </p:set>
                                    <p:animEffect filter="fade" transition="in">
                                      <p:cBhvr>
                                        <p:cTn dur="500"/>
                                        <p:tgtEl>
                                          <p:spTgt spid="65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9"/>
                                        </p:tgtEl>
                                        <p:attrNameLst>
                                          <p:attrName>style.visibility</p:attrName>
                                        </p:attrNameLst>
                                      </p:cBhvr>
                                      <p:to>
                                        <p:strVal val="visible"/>
                                      </p:to>
                                    </p:set>
                                    <p:animEffect filter="fade" transition="in">
                                      <p:cBhvr>
                                        <p:cTn dur="500"/>
                                        <p:tgtEl>
                                          <p:spTgt spid="67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2" name="Shape 6952"/>
        <p:cNvGrpSpPr/>
        <p:nvPr/>
      </p:nvGrpSpPr>
      <p:grpSpPr>
        <a:xfrm>
          <a:off x="0" y="0"/>
          <a:ext cx="0" cy="0"/>
          <a:chOff x="0" y="0"/>
          <a:chExt cx="0" cy="0"/>
        </a:xfrm>
      </p:grpSpPr>
      <p:sp>
        <p:nvSpPr>
          <p:cNvPr id="6953" name="Google Shape;6953;p101"/>
          <p:cNvSpPr txBox="1"/>
          <p:nvPr>
            <p:ph type="title"/>
          </p:nvPr>
        </p:nvSpPr>
        <p:spPr>
          <a:xfrm>
            <a:off x="838200" y="34580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The end-end argument</a:t>
            </a:r>
            <a:endParaRPr/>
          </a:p>
        </p:txBody>
      </p:sp>
      <p:grpSp>
        <p:nvGrpSpPr>
          <p:cNvPr id="6954" name="Google Shape;6954;p101"/>
          <p:cNvGrpSpPr/>
          <p:nvPr/>
        </p:nvGrpSpPr>
        <p:grpSpPr>
          <a:xfrm>
            <a:off x="622852" y="2604051"/>
            <a:ext cx="10917982" cy="3953614"/>
            <a:chOff x="622852" y="2604051"/>
            <a:chExt cx="10917982" cy="3953614"/>
          </a:xfrm>
        </p:grpSpPr>
        <p:sp>
          <p:nvSpPr>
            <p:cNvPr id="6955" name="Google Shape;6955;p101"/>
            <p:cNvSpPr txBox="1"/>
            <p:nvPr/>
          </p:nvSpPr>
          <p:spPr>
            <a:xfrm>
              <a:off x="833679" y="2696215"/>
              <a:ext cx="10513191" cy="3665619"/>
            </a:xfrm>
            <a:prstGeom prst="rect">
              <a:avLst/>
            </a:prstGeom>
            <a:noFill/>
            <a:ln>
              <a:noFill/>
            </a:ln>
          </p:spPr>
          <p:txBody>
            <a:bodyPr anchorCtr="0" anchor="t" bIns="45700" lIns="91425" spcFirstLastPara="1" rIns="91425" wrap="square" tIns="45700">
              <a:spAutoFit/>
            </a:bodyPr>
            <a:lstStyle/>
            <a:p>
              <a:pPr indent="0" lvl="0" marL="344488"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“The function in question can completely and correctly be implemented only with the knowledge and help of the application standing at the end points of the communication system. Therefore, providing that questioned function as a feature of the communication system itself is not possible. (Sometimes an incomplete version of the function provided by the communication system may be useful as a performance enhancement.)</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a:t>
              </a:r>
              <a:endParaRPr/>
            </a:p>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We call this line of reasoning against low-level function implementation the “end-to-end argument.”</a:t>
              </a:r>
              <a:endParaRPr/>
            </a:p>
            <a:p>
              <a:pPr indent="0" lvl="0" marL="0" marR="0" rtl="0" algn="l">
                <a:lnSpc>
                  <a:spcPct val="9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56" name="Google Shape;6956;p101"/>
            <p:cNvSpPr/>
            <p:nvPr/>
          </p:nvSpPr>
          <p:spPr>
            <a:xfrm>
              <a:off x="622852" y="2604051"/>
              <a:ext cx="10917982" cy="3727476"/>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957" name="Google Shape;6957;p101"/>
            <p:cNvSpPr txBox="1"/>
            <p:nvPr/>
          </p:nvSpPr>
          <p:spPr>
            <a:xfrm>
              <a:off x="6622472" y="6096000"/>
              <a:ext cx="3238066"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Saltzer, Reed, Clark 1981</a:t>
              </a:r>
              <a:endParaRPr/>
            </a:p>
          </p:txBody>
        </p:sp>
      </p:grpSp>
      <p:sp>
        <p:nvSpPr>
          <p:cNvPr id="6958" name="Google Shape;6958;p101"/>
          <p:cNvSpPr txBox="1"/>
          <p:nvPr/>
        </p:nvSpPr>
        <p:spPr>
          <a:xfrm>
            <a:off x="872836" y="1256363"/>
            <a:ext cx="10474037" cy="95410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10F90"/>
              </a:buClr>
              <a:buSzPts val="2800"/>
              <a:buFont typeface="Noto Sans Symbols"/>
              <a:buChar char="▪"/>
            </a:pPr>
            <a:r>
              <a:rPr b="0" i="0" lang="en-US" sz="2800" u="none" cap="none" strike="noStrike">
                <a:solidFill>
                  <a:srgbClr val="000000"/>
                </a:solidFill>
                <a:latin typeface="Calibri"/>
                <a:ea typeface="Calibri"/>
                <a:cs typeface="Calibri"/>
                <a:sym typeface="Calibri"/>
              </a:rPr>
              <a:t>some network functionality (e.g., reliable data transfer, congestion) can be implemented </a:t>
            </a:r>
            <a:r>
              <a:rPr b="0" i="0" lang="en-US" sz="2800" u="none" cap="none" strike="noStrike">
                <a:solidFill>
                  <a:srgbClr val="010F90"/>
                </a:solidFill>
                <a:latin typeface="Calibri"/>
                <a:ea typeface="Calibri"/>
                <a:cs typeface="Calibri"/>
                <a:sym typeface="Calibri"/>
              </a:rPr>
              <a:t>in network</a:t>
            </a:r>
            <a:r>
              <a:rPr b="0" i="0" lang="en-US" sz="2800" u="none" cap="none" strike="noStrike">
                <a:solidFill>
                  <a:srgbClr val="000000"/>
                </a:solidFill>
                <a:latin typeface="Calibri"/>
                <a:ea typeface="Calibri"/>
                <a:cs typeface="Calibri"/>
                <a:sym typeface="Calibri"/>
              </a:rPr>
              <a:t>, or at </a:t>
            </a:r>
            <a:r>
              <a:rPr b="0" i="0" lang="en-US" sz="2800" u="none" cap="none" strike="noStrike">
                <a:solidFill>
                  <a:srgbClr val="010F90"/>
                </a:solidFill>
                <a:latin typeface="Calibri"/>
                <a:ea typeface="Calibri"/>
                <a:cs typeface="Calibri"/>
                <a:sym typeface="Calibri"/>
              </a:rPr>
              <a:t>network edge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54"/>
                                        </p:tgtEl>
                                        <p:attrNameLst>
                                          <p:attrName>style.visibility</p:attrName>
                                        </p:attrNameLst>
                                      </p:cBhvr>
                                      <p:to>
                                        <p:strVal val="visible"/>
                                      </p:to>
                                    </p:set>
                                    <p:animEffect filter="fade" transition="in">
                                      <p:cBhvr>
                                        <p:cTn dur="500"/>
                                        <p:tgtEl>
                                          <p:spTgt spid="6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3" name="Shape 6963"/>
        <p:cNvGrpSpPr/>
        <p:nvPr/>
      </p:nvGrpSpPr>
      <p:grpSpPr>
        <a:xfrm>
          <a:off x="0" y="0"/>
          <a:ext cx="0" cy="0"/>
          <a:chOff x="0" y="0"/>
          <a:chExt cx="0" cy="0"/>
        </a:xfrm>
      </p:grpSpPr>
      <p:sp>
        <p:nvSpPr>
          <p:cNvPr id="6964" name="Google Shape;6964;p10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Where’s the intelligence?</a:t>
            </a:r>
            <a:endParaRPr/>
          </a:p>
        </p:txBody>
      </p:sp>
      <p:grpSp>
        <p:nvGrpSpPr>
          <p:cNvPr id="6965" name="Google Shape;6965;p102"/>
          <p:cNvGrpSpPr/>
          <p:nvPr/>
        </p:nvGrpSpPr>
        <p:grpSpPr>
          <a:xfrm>
            <a:off x="435537" y="1971666"/>
            <a:ext cx="3436371" cy="3967162"/>
            <a:chOff x="692717" y="2243138"/>
            <a:chExt cx="3436371" cy="3967162"/>
          </a:xfrm>
        </p:grpSpPr>
        <p:sp>
          <p:nvSpPr>
            <p:cNvPr id="6966" name="Google Shape;6966;p102"/>
            <p:cNvSpPr/>
            <p:nvPr/>
          </p:nvSpPr>
          <p:spPr>
            <a:xfrm>
              <a:off x="1025226" y="2358375"/>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A close up of a logo&#10;&#10;Description automatically generated" id="6967" name="Google Shape;6967;p102"/>
            <p:cNvPicPr preferRelativeResize="0"/>
            <p:nvPr/>
          </p:nvPicPr>
          <p:blipFill rotWithShape="1">
            <a:blip r:embed="rId3">
              <a:alphaModFix/>
            </a:blip>
            <a:srcRect b="0" l="0" r="0" t="0"/>
            <a:stretch/>
          </p:blipFill>
          <p:spPr>
            <a:xfrm>
              <a:off x="767764" y="2352964"/>
              <a:ext cx="3175000" cy="2540000"/>
            </a:xfrm>
            <a:prstGeom prst="rect">
              <a:avLst/>
            </a:prstGeom>
            <a:noFill/>
            <a:ln>
              <a:noFill/>
            </a:ln>
          </p:spPr>
        </p:pic>
        <p:grpSp>
          <p:nvGrpSpPr>
            <p:cNvPr id="6968" name="Google Shape;6968;p102"/>
            <p:cNvGrpSpPr/>
            <p:nvPr/>
          </p:nvGrpSpPr>
          <p:grpSpPr>
            <a:xfrm>
              <a:off x="1481138" y="4114740"/>
              <a:ext cx="670927" cy="642997"/>
              <a:chOff x="1709738" y="4400490"/>
              <a:chExt cx="670927" cy="642997"/>
            </a:xfrm>
          </p:grpSpPr>
          <p:pic>
            <p:nvPicPr>
              <p:cNvPr id="6969" name="Google Shape;6969;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0" name="Google Shape;6970;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sp>
          <p:nvSpPr>
            <p:cNvPr id="6971" name="Google Shape;6971;p102"/>
            <p:cNvSpPr txBox="1"/>
            <p:nvPr/>
          </p:nvSpPr>
          <p:spPr>
            <a:xfrm>
              <a:off x="692717" y="5286970"/>
              <a:ext cx="3436371"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13A3"/>
                </a:buClr>
                <a:buSzPts val="2400"/>
                <a:buFont typeface="Calibri"/>
                <a:buNone/>
              </a:pPr>
              <a:r>
                <a:rPr b="0" i="0" lang="en-US" sz="2400" u="none" cap="none" strike="noStrike">
                  <a:solidFill>
                    <a:srgbClr val="010F90"/>
                  </a:solidFill>
                  <a:latin typeface="Calibri"/>
                  <a:ea typeface="Calibri"/>
                  <a:cs typeface="Calibri"/>
                  <a:sym typeface="Calibri"/>
                </a:rPr>
                <a:t>20</a:t>
              </a:r>
              <a:r>
                <a:rPr b="0" baseline="30000" i="0" lang="en-US" sz="2400" u="none" cap="none" strike="noStrike">
                  <a:solidFill>
                    <a:srgbClr val="010F90"/>
                  </a:solidFill>
                  <a:latin typeface="Calibri"/>
                  <a:ea typeface="Calibri"/>
                  <a:cs typeface="Calibri"/>
                  <a:sym typeface="Calibri"/>
                </a:rPr>
                <a:t>th</a:t>
              </a:r>
              <a:r>
                <a:rPr b="0" i="0" lang="en-US" sz="2400" u="none" cap="none" strike="noStrike">
                  <a:solidFill>
                    <a:srgbClr val="010F90"/>
                  </a:solidFill>
                  <a:latin typeface="Calibri"/>
                  <a:ea typeface="Calibri"/>
                  <a:cs typeface="Calibri"/>
                  <a:sym typeface="Calibri"/>
                </a:rPr>
                <a:t> century phone net:</a:t>
              </a:r>
              <a:endParaRPr/>
            </a:p>
            <a:p>
              <a:pPr indent="-28575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intelligence/computing at network switches</a:t>
              </a:r>
              <a:endParaRPr/>
            </a:p>
          </p:txBody>
        </p:sp>
        <p:grpSp>
          <p:nvGrpSpPr>
            <p:cNvPr id="6972" name="Google Shape;6972;p102"/>
            <p:cNvGrpSpPr/>
            <p:nvPr/>
          </p:nvGrpSpPr>
          <p:grpSpPr>
            <a:xfrm>
              <a:off x="2876551" y="4224277"/>
              <a:ext cx="670927" cy="642997"/>
              <a:chOff x="1709738" y="4400490"/>
              <a:chExt cx="670927" cy="642997"/>
            </a:xfrm>
          </p:grpSpPr>
          <p:pic>
            <p:nvPicPr>
              <p:cNvPr id="6973" name="Google Shape;6973;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4" name="Google Shape;6974;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75" name="Google Shape;6975;p102"/>
            <p:cNvGrpSpPr/>
            <p:nvPr/>
          </p:nvGrpSpPr>
          <p:grpSpPr>
            <a:xfrm>
              <a:off x="3000375" y="3171825"/>
              <a:ext cx="742368" cy="676275"/>
              <a:chOff x="1709738" y="4400490"/>
              <a:chExt cx="670927" cy="642997"/>
            </a:xfrm>
          </p:grpSpPr>
          <p:pic>
            <p:nvPicPr>
              <p:cNvPr id="6976" name="Google Shape;6976;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77" name="Google Shape;6977;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78" name="Google Shape;6978;p102"/>
            <p:cNvGrpSpPr/>
            <p:nvPr/>
          </p:nvGrpSpPr>
          <p:grpSpPr>
            <a:xfrm>
              <a:off x="1943099" y="2243138"/>
              <a:ext cx="494717" cy="500060"/>
              <a:chOff x="1709738" y="4400490"/>
              <a:chExt cx="670927" cy="642997"/>
            </a:xfrm>
          </p:grpSpPr>
          <p:pic>
            <p:nvPicPr>
              <p:cNvPr id="6979" name="Google Shape;6979;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0" name="Google Shape;6980;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1" name="Google Shape;6981;p102"/>
            <p:cNvGrpSpPr/>
            <p:nvPr/>
          </p:nvGrpSpPr>
          <p:grpSpPr>
            <a:xfrm>
              <a:off x="2867026" y="2424113"/>
              <a:ext cx="623304" cy="557210"/>
              <a:chOff x="1709738" y="4400490"/>
              <a:chExt cx="670927" cy="642997"/>
            </a:xfrm>
          </p:grpSpPr>
          <p:pic>
            <p:nvPicPr>
              <p:cNvPr id="6982" name="Google Shape;6982;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3" name="Google Shape;6983;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4" name="Google Shape;6984;p102"/>
            <p:cNvGrpSpPr/>
            <p:nvPr/>
          </p:nvGrpSpPr>
          <p:grpSpPr>
            <a:xfrm>
              <a:off x="1081089" y="2838451"/>
              <a:ext cx="623304" cy="557210"/>
              <a:chOff x="1709738" y="4400490"/>
              <a:chExt cx="670927" cy="642997"/>
            </a:xfrm>
          </p:grpSpPr>
          <p:pic>
            <p:nvPicPr>
              <p:cNvPr id="6985" name="Google Shape;6985;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6" name="Google Shape;6986;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nvGrpSpPr>
            <p:cNvPr id="6987" name="Google Shape;6987;p102"/>
            <p:cNvGrpSpPr/>
            <p:nvPr/>
          </p:nvGrpSpPr>
          <p:grpSpPr>
            <a:xfrm>
              <a:off x="719139" y="3590926"/>
              <a:ext cx="623304" cy="557210"/>
              <a:chOff x="1709738" y="4400490"/>
              <a:chExt cx="670927" cy="642997"/>
            </a:xfrm>
          </p:grpSpPr>
          <p:pic>
            <p:nvPicPr>
              <p:cNvPr id="6988" name="Google Shape;6988;p102"/>
              <p:cNvPicPr preferRelativeResize="0"/>
              <p:nvPr/>
            </p:nvPicPr>
            <p:blipFill rotWithShape="1">
              <a:blip r:embed="rId4">
                <a:alphaModFix/>
              </a:blip>
              <a:srcRect b="0" l="0" r="0" t="0"/>
              <a:stretch/>
            </p:blipFill>
            <p:spPr>
              <a:xfrm>
                <a:off x="1709738" y="4429125"/>
                <a:ext cx="614362" cy="614362"/>
              </a:xfrm>
              <a:prstGeom prst="rect">
                <a:avLst/>
              </a:prstGeom>
              <a:noFill/>
              <a:ln>
                <a:noFill/>
              </a:ln>
            </p:spPr>
          </p:pic>
          <p:pic>
            <p:nvPicPr>
              <p:cNvPr id="6989" name="Google Shape;6989;p102"/>
              <p:cNvPicPr preferRelativeResize="0"/>
              <p:nvPr/>
            </p:nvPicPr>
            <p:blipFill rotWithShape="1">
              <a:blip r:embed="rId5">
                <a:alphaModFix/>
              </a:blip>
              <a:srcRect b="0" l="0" r="0" t="0"/>
              <a:stretch/>
            </p:blipFill>
            <p:spPr>
              <a:xfrm>
                <a:off x="1870356" y="4400490"/>
                <a:ext cx="510309" cy="311786"/>
              </a:xfrm>
              <a:prstGeom prst="rect">
                <a:avLst/>
              </a:prstGeom>
              <a:noFill/>
              <a:ln>
                <a:noFill/>
              </a:ln>
            </p:spPr>
          </p:pic>
        </p:grpSp>
      </p:grpSp>
      <p:grpSp>
        <p:nvGrpSpPr>
          <p:cNvPr id="6990" name="Google Shape;6990;p102"/>
          <p:cNvGrpSpPr/>
          <p:nvPr/>
        </p:nvGrpSpPr>
        <p:grpSpPr>
          <a:xfrm>
            <a:off x="4169273" y="1790770"/>
            <a:ext cx="3360230" cy="4170668"/>
            <a:chOff x="4426457" y="2119394"/>
            <a:chExt cx="3360230" cy="4170668"/>
          </a:xfrm>
        </p:grpSpPr>
        <p:grpSp>
          <p:nvGrpSpPr>
            <p:cNvPr id="6991" name="Google Shape;6991;p102"/>
            <p:cNvGrpSpPr/>
            <p:nvPr/>
          </p:nvGrpSpPr>
          <p:grpSpPr>
            <a:xfrm>
              <a:off x="4426457" y="2119394"/>
              <a:ext cx="3360230" cy="4170668"/>
              <a:chOff x="4426457" y="2119394"/>
              <a:chExt cx="3360230" cy="4170668"/>
            </a:xfrm>
          </p:grpSpPr>
          <p:sp>
            <p:nvSpPr>
              <p:cNvPr id="6992" name="Google Shape;6992;p102"/>
              <p:cNvSpPr/>
              <p:nvPr/>
            </p:nvSpPr>
            <p:spPr>
              <a:xfrm>
                <a:off x="4807517" y="2372230"/>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6993" name="Google Shape;6993;p102"/>
              <p:cNvGrpSpPr/>
              <p:nvPr/>
            </p:nvGrpSpPr>
            <p:grpSpPr>
              <a:xfrm>
                <a:off x="4624853" y="3711377"/>
                <a:ext cx="310186" cy="312008"/>
                <a:chOff x="877" y="1008"/>
                <a:chExt cx="2747" cy="2626"/>
              </a:xfrm>
            </p:grpSpPr>
            <p:pic>
              <p:nvPicPr>
                <p:cNvPr descr="antenna_stylized" id="6994" name="Google Shape;6994;p102"/>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6995" name="Google Shape;6995;p102"/>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6996" name="Google Shape;6996;p10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6997" name="Google Shape;6997;p102"/>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6998" name="Google Shape;6998;p10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99" name="Google Shape;6999;p10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0" name="Google Shape;7000;p10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1" name="Google Shape;7001;p10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2" name="Google Shape;7002;p10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3" name="Google Shape;7003;p10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04" name="Google Shape;7004;p102"/>
                <p:cNvGrpSpPr/>
                <p:nvPr/>
              </p:nvGrpSpPr>
              <p:grpSpPr>
                <a:xfrm>
                  <a:off x="1709" y="3008"/>
                  <a:ext cx="507" cy="234"/>
                  <a:chOff x="1740" y="2642"/>
                  <a:chExt cx="752" cy="327"/>
                </a:xfrm>
              </p:grpSpPr>
              <p:sp>
                <p:nvSpPr>
                  <p:cNvPr id="7005" name="Google Shape;7005;p10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6" name="Google Shape;7006;p10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7" name="Google Shape;7007;p10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8" name="Google Shape;7008;p10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09" name="Google Shape;7009;p10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0" name="Google Shape;7010;p10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011" name="Google Shape;7011;p10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2" name="Google Shape;7012;p10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3" name="Google Shape;7013;p10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4" name="Google Shape;7014;p10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5" name="Google Shape;7015;p10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6" name="Google Shape;7016;p10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17" name="Google Shape;7017;p102"/>
              <p:cNvGrpSpPr/>
              <p:nvPr/>
            </p:nvGrpSpPr>
            <p:grpSpPr>
              <a:xfrm flipH="1">
                <a:off x="5139088" y="4243681"/>
                <a:ext cx="345630" cy="320302"/>
                <a:chOff x="2839" y="3501"/>
                <a:chExt cx="755" cy="803"/>
              </a:xfrm>
            </p:grpSpPr>
            <p:pic>
              <p:nvPicPr>
                <p:cNvPr descr="desktop_computer_stylized_medium" id="7018" name="Google Shape;7018;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019" name="Google Shape;7019;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20" name="Google Shape;7020;p102"/>
              <p:cNvGrpSpPr/>
              <p:nvPr/>
            </p:nvGrpSpPr>
            <p:grpSpPr>
              <a:xfrm>
                <a:off x="6854798" y="4517975"/>
                <a:ext cx="177192" cy="330833"/>
                <a:chOff x="4140" y="429"/>
                <a:chExt cx="1425" cy="2396"/>
              </a:xfrm>
            </p:grpSpPr>
            <p:sp>
              <p:nvSpPr>
                <p:cNvPr id="7021" name="Google Shape;7021;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2" name="Google Shape;7022;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23" name="Google Shape;7023;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4" name="Google Shape;7024;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25" name="Google Shape;7025;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26" name="Google Shape;7026;p102"/>
                <p:cNvGrpSpPr/>
                <p:nvPr/>
              </p:nvGrpSpPr>
              <p:grpSpPr>
                <a:xfrm>
                  <a:off x="4748" y="666"/>
                  <a:ext cx="578" cy="150"/>
                  <a:chOff x="613" y="2566"/>
                  <a:chExt cx="721" cy="144"/>
                </a:xfrm>
              </p:grpSpPr>
              <p:sp>
                <p:nvSpPr>
                  <p:cNvPr id="7027" name="Google Shape;7027;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28" name="Google Shape;7028;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29" name="Google Shape;7029;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30" name="Google Shape;7030;p102"/>
                <p:cNvGrpSpPr/>
                <p:nvPr/>
              </p:nvGrpSpPr>
              <p:grpSpPr>
                <a:xfrm>
                  <a:off x="4748" y="990"/>
                  <a:ext cx="578" cy="134"/>
                  <a:chOff x="615" y="2564"/>
                  <a:chExt cx="721" cy="139"/>
                </a:xfrm>
              </p:grpSpPr>
              <p:sp>
                <p:nvSpPr>
                  <p:cNvPr id="7031" name="Google Shape;7031;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2" name="Google Shape;7032;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33" name="Google Shape;7033;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4" name="Google Shape;7034;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35" name="Google Shape;7035;p102"/>
                <p:cNvGrpSpPr/>
                <p:nvPr/>
              </p:nvGrpSpPr>
              <p:grpSpPr>
                <a:xfrm>
                  <a:off x="4738" y="1647"/>
                  <a:ext cx="578" cy="135"/>
                  <a:chOff x="618" y="2586"/>
                  <a:chExt cx="720" cy="124"/>
                </a:xfrm>
              </p:grpSpPr>
              <p:sp>
                <p:nvSpPr>
                  <p:cNvPr id="7036" name="Google Shape;7036;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37" name="Google Shape;7037;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38" name="Google Shape;7038;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39" name="Google Shape;7039;p102"/>
                <p:cNvGrpSpPr/>
                <p:nvPr/>
              </p:nvGrpSpPr>
              <p:grpSpPr>
                <a:xfrm>
                  <a:off x="4738" y="1330"/>
                  <a:ext cx="588" cy="134"/>
                  <a:chOff x="613" y="2571"/>
                  <a:chExt cx="732" cy="134"/>
                </a:xfrm>
              </p:grpSpPr>
              <p:sp>
                <p:nvSpPr>
                  <p:cNvPr id="7040" name="Google Shape;7040;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1" name="Google Shape;7041;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42" name="Google Shape;7042;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3" name="Google Shape;7043;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4" name="Google Shape;7044;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5" name="Google Shape;7045;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6" name="Google Shape;7046;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47" name="Google Shape;7047;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8" name="Google Shape;7048;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49" name="Google Shape;7049;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0" name="Google Shape;7050;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051" name="Google Shape;7051;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2" name="Google Shape;7052;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053" name="Google Shape;7053;p102"/>
              <p:cNvGrpSpPr/>
              <p:nvPr/>
            </p:nvGrpSpPr>
            <p:grpSpPr>
              <a:xfrm>
                <a:off x="5095271" y="2910847"/>
                <a:ext cx="177192" cy="330833"/>
                <a:chOff x="4140" y="429"/>
                <a:chExt cx="1425" cy="2396"/>
              </a:xfrm>
            </p:grpSpPr>
            <p:sp>
              <p:nvSpPr>
                <p:cNvPr id="7054" name="Google Shape;7054;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5" name="Google Shape;7055;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56" name="Google Shape;7056;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7" name="Google Shape;7057;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58" name="Google Shape;7058;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59" name="Google Shape;7059;p102"/>
                <p:cNvGrpSpPr/>
                <p:nvPr/>
              </p:nvGrpSpPr>
              <p:grpSpPr>
                <a:xfrm>
                  <a:off x="4748" y="666"/>
                  <a:ext cx="578" cy="150"/>
                  <a:chOff x="613" y="2566"/>
                  <a:chExt cx="721" cy="144"/>
                </a:xfrm>
              </p:grpSpPr>
              <p:sp>
                <p:nvSpPr>
                  <p:cNvPr id="7060" name="Google Shape;7060;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1" name="Google Shape;7061;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62" name="Google Shape;7062;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63" name="Google Shape;7063;p102"/>
                <p:cNvGrpSpPr/>
                <p:nvPr/>
              </p:nvGrpSpPr>
              <p:grpSpPr>
                <a:xfrm>
                  <a:off x="4748" y="990"/>
                  <a:ext cx="578" cy="134"/>
                  <a:chOff x="615" y="2564"/>
                  <a:chExt cx="721" cy="139"/>
                </a:xfrm>
              </p:grpSpPr>
              <p:sp>
                <p:nvSpPr>
                  <p:cNvPr id="7064" name="Google Shape;7064;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5" name="Google Shape;7065;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66" name="Google Shape;7066;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67" name="Google Shape;7067;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68" name="Google Shape;7068;p102"/>
                <p:cNvGrpSpPr/>
                <p:nvPr/>
              </p:nvGrpSpPr>
              <p:grpSpPr>
                <a:xfrm>
                  <a:off x="4738" y="1647"/>
                  <a:ext cx="578" cy="135"/>
                  <a:chOff x="618" y="2586"/>
                  <a:chExt cx="720" cy="124"/>
                </a:xfrm>
              </p:grpSpPr>
              <p:sp>
                <p:nvSpPr>
                  <p:cNvPr id="7069" name="Google Shape;7069;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0" name="Google Shape;7070;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71" name="Google Shape;7071;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72" name="Google Shape;7072;p102"/>
                <p:cNvGrpSpPr/>
                <p:nvPr/>
              </p:nvGrpSpPr>
              <p:grpSpPr>
                <a:xfrm>
                  <a:off x="4738" y="1330"/>
                  <a:ext cx="588" cy="134"/>
                  <a:chOff x="613" y="2571"/>
                  <a:chExt cx="732" cy="134"/>
                </a:xfrm>
              </p:grpSpPr>
              <p:sp>
                <p:nvSpPr>
                  <p:cNvPr id="7073" name="Google Shape;7073;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4" name="Google Shape;7074;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75" name="Google Shape;7075;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6" name="Google Shape;7076;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77" name="Google Shape;7077;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78" name="Google Shape;7078;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79" name="Google Shape;7079;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80" name="Google Shape;7080;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1" name="Google Shape;7081;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2" name="Google Shape;7082;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3" name="Google Shape;7083;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084" name="Google Shape;7084;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85" name="Google Shape;7085;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086" name="Google Shape;7086;p102"/>
              <p:cNvGrpSpPr/>
              <p:nvPr/>
            </p:nvGrpSpPr>
            <p:grpSpPr>
              <a:xfrm flipH="1">
                <a:off x="5509918" y="2398512"/>
                <a:ext cx="345630" cy="320302"/>
                <a:chOff x="2839" y="3501"/>
                <a:chExt cx="755" cy="803"/>
              </a:xfrm>
            </p:grpSpPr>
            <p:pic>
              <p:nvPicPr>
                <p:cNvPr descr="desktop_computer_stylized_medium" id="7087" name="Google Shape;7087;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088" name="Google Shape;7088;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089" name="Google Shape;7089;p102"/>
              <p:cNvGrpSpPr/>
              <p:nvPr/>
            </p:nvGrpSpPr>
            <p:grpSpPr>
              <a:xfrm>
                <a:off x="6937925" y="4379430"/>
                <a:ext cx="177192" cy="330833"/>
                <a:chOff x="4140" y="429"/>
                <a:chExt cx="1425" cy="2396"/>
              </a:xfrm>
            </p:grpSpPr>
            <p:sp>
              <p:nvSpPr>
                <p:cNvPr id="7090" name="Google Shape;7090;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1" name="Google Shape;7091;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92" name="Google Shape;7092;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3" name="Google Shape;7093;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94" name="Google Shape;7094;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95" name="Google Shape;7095;p102"/>
                <p:cNvGrpSpPr/>
                <p:nvPr/>
              </p:nvGrpSpPr>
              <p:grpSpPr>
                <a:xfrm>
                  <a:off x="4748" y="666"/>
                  <a:ext cx="578" cy="150"/>
                  <a:chOff x="613" y="2566"/>
                  <a:chExt cx="721" cy="144"/>
                </a:xfrm>
              </p:grpSpPr>
              <p:sp>
                <p:nvSpPr>
                  <p:cNvPr id="7096" name="Google Shape;7096;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097" name="Google Shape;7097;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098" name="Google Shape;7098;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099" name="Google Shape;7099;p102"/>
                <p:cNvGrpSpPr/>
                <p:nvPr/>
              </p:nvGrpSpPr>
              <p:grpSpPr>
                <a:xfrm>
                  <a:off x="4748" y="990"/>
                  <a:ext cx="578" cy="134"/>
                  <a:chOff x="615" y="2564"/>
                  <a:chExt cx="721" cy="139"/>
                </a:xfrm>
              </p:grpSpPr>
              <p:sp>
                <p:nvSpPr>
                  <p:cNvPr id="7100" name="Google Shape;7100;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1" name="Google Shape;7101;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02" name="Google Shape;7102;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3" name="Google Shape;7103;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04" name="Google Shape;7104;p102"/>
                <p:cNvGrpSpPr/>
                <p:nvPr/>
              </p:nvGrpSpPr>
              <p:grpSpPr>
                <a:xfrm>
                  <a:off x="4738" y="1647"/>
                  <a:ext cx="578" cy="135"/>
                  <a:chOff x="618" y="2586"/>
                  <a:chExt cx="720" cy="124"/>
                </a:xfrm>
              </p:grpSpPr>
              <p:sp>
                <p:nvSpPr>
                  <p:cNvPr id="7105" name="Google Shape;7105;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06" name="Google Shape;7106;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07" name="Google Shape;7107;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08" name="Google Shape;7108;p102"/>
                <p:cNvGrpSpPr/>
                <p:nvPr/>
              </p:nvGrpSpPr>
              <p:grpSpPr>
                <a:xfrm>
                  <a:off x="4738" y="1330"/>
                  <a:ext cx="588" cy="134"/>
                  <a:chOff x="613" y="2571"/>
                  <a:chExt cx="732" cy="134"/>
                </a:xfrm>
              </p:grpSpPr>
              <p:sp>
                <p:nvSpPr>
                  <p:cNvPr id="7109" name="Google Shape;7109;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0" name="Google Shape;7110;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11" name="Google Shape;7111;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2" name="Google Shape;7112;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3" name="Google Shape;7113;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4" name="Google Shape;7114;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5" name="Google Shape;7115;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16" name="Google Shape;7116;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7" name="Google Shape;7117;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8" name="Google Shape;7118;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19" name="Google Shape;7119;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120" name="Google Shape;7120;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21" name="Google Shape;7121;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122" name="Google Shape;7122;p102"/>
              <p:cNvGrpSpPr/>
              <p:nvPr/>
            </p:nvGrpSpPr>
            <p:grpSpPr>
              <a:xfrm>
                <a:off x="6965634" y="2509067"/>
                <a:ext cx="177192" cy="330833"/>
                <a:chOff x="4140" y="429"/>
                <a:chExt cx="1425" cy="2396"/>
              </a:xfrm>
            </p:grpSpPr>
            <p:sp>
              <p:nvSpPr>
                <p:cNvPr id="7123" name="Google Shape;7123;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4" name="Google Shape;7124;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25" name="Google Shape;7125;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6" name="Google Shape;7126;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27" name="Google Shape;7127;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28" name="Google Shape;7128;p102"/>
                <p:cNvGrpSpPr/>
                <p:nvPr/>
              </p:nvGrpSpPr>
              <p:grpSpPr>
                <a:xfrm>
                  <a:off x="4748" y="666"/>
                  <a:ext cx="578" cy="150"/>
                  <a:chOff x="613" y="2566"/>
                  <a:chExt cx="721" cy="144"/>
                </a:xfrm>
              </p:grpSpPr>
              <p:sp>
                <p:nvSpPr>
                  <p:cNvPr id="7129" name="Google Shape;7129;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0" name="Google Shape;7130;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31" name="Google Shape;7131;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32" name="Google Shape;7132;p102"/>
                <p:cNvGrpSpPr/>
                <p:nvPr/>
              </p:nvGrpSpPr>
              <p:grpSpPr>
                <a:xfrm>
                  <a:off x="4748" y="990"/>
                  <a:ext cx="578" cy="134"/>
                  <a:chOff x="615" y="2564"/>
                  <a:chExt cx="721" cy="139"/>
                </a:xfrm>
              </p:grpSpPr>
              <p:sp>
                <p:nvSpPr>
                  <p:cNvPr id="7133" name="Google Shape;7133;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4" name="Google Shape;7134;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35" name="Google Shape;7135;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6" name="Google Shape;7136;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137" name="Google Shape;7137;p102"/>
                <p:cNvGrpSpPr/>
                <p:nvPr/>
              </p:nvGrpSpPr>
              <p:grpSpPr>
                <a:xfrm>
                  <a:off x="4738" y="1647"/>
                  <a:ext cx="578" cy="135"/>
                  <a:chOff x="618" y="2586"/>
                  <a:chExt cx="720" cy="124"/>
                </a:xfrm>
              </p:grpSpPr>
              <p:sp>
                <p:nvSpPr>
                  <p:cNvPr id="7138" name="Google Shape;7138;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39" name="Google Shape;7139;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40" name="Google Shape;7140;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41" name="Google Shape;7141;p102"/>
                <p:cNvGrpSpPr/>
                <p:nvPr/>
              </p:nvGrpSpPr>
              <p:grpSpPr>
                <a:xfrm>
                  <a:off x="4738" y="1330"/>
                  <a:ext cx="588" cy="134"/>
                  <a:chOff x="613" y="2571"/>
                  <a:chExt cx="732" cy="134"/>
                </a:xfrm>
              </p:grpSpPr>
              <p:sp>
                <p:nvSpPr>
                  <p:cNvPr id="7142" name="Google Shape;7142;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3" name="Google Shape;7143;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144" name="Google Shape;7144;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5" name="Google Shape;7145;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6" name="Google Shape;7146;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7" name="Google Shape;7147;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48" name="Google Shape;7148;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49" name="Google Shape;7149;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0" name="Google Shape;7150;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1" name="Google Shape;7151;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2" name="Google Shape;7152;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153" name="Google Shape;7153;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154" name="Google Shape;7154;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155" name="Google Shape;7155;p102"/>
              <p:cNvGrpSpPr/>
              <p:nvPr/>
            </p:nvGrpSpPr>
            <p:grpSpPr>
              <a:xfrm flipH="1">
                <a:off x="6829342" y="3343136"/>
                <a:ext cx="345630" cy="320302"/>
                <a:chOff x="2839" y="3501"/>
                <a:chExt cx="755" cy="803"/>
              </a:xfrm>
            </p:grpSpPr>
            <p:pic>
              <p:nvPicPr>
                <p:cNvPr descr="desktop_computer_stylized_medium" id="7156" name="Google Shape;7156;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157" name="Google Shape;7157;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A close up of a logo&#10;&#10;Description automatically generated" id="7158" name="Google Shape;7158;p102"/>
              <p:cNvPicPr preferRelativeResize="0"/>
              <p:nvPr/>
            </p:nvPicPr>
            <p:blipFill rotWithShape="1">
              <a:blip r:embed="rId10">
                <a:alphaModFix/>
              </a:blip>
              <a:srcRect b="0" l="0" r="0" t="0"/>
              <a:stretch/>
            </p:blipFill>
            <p:spPr>
              <a:xfrm>
                <a:off x="4426457" y="3527648"/>
                <a:ext cx="429108" cy="419677"/>
              </a:xfrm>
              <a:prstGeom prst="rect">
                <a:avLst/>
              </a:prstGeom>
              <a:noFill/>
              <a:ln>
                <a:noFill/>
              </a:ln>
            </p:spPr>
          </p:pic>
          <p:pic>
            <p:nvPicPr>
              <p:cNvPr descr="A close up of a logo&#10;&#10;Description automatically generated" id="7159" name="Google Shape;7159;p102"/>
              <p:cNvPicPr preferRelativeResize="0"/>
              <p:nvPr/>
            </p:nvPicPr>
            <p:blipFill rotWithShape="1">
              <a:blip r:embed="rId10">
                <a:alphaModFix/>
              </a:blip>
              <a:srcRect b="0" l="0" r="0" t="0"/>
              <a:stretch/>
            </p:blipFill>
            <p:spPr>
              <a:xfrm>
                <a:off x="4931884" y="4096736"/>
                <a:ext cx="429108" cy="419677"/>
              </a:xfrm>
              <a:prstGeom prst="rect">
                <a:avLst/>
              </a:prstGeom>
              <a:noFill/>
              <a:ln>
                <a:noFill/>
              </a:ln>
            </p:spPr>
          </p:pic>
          <p:pic>
            <p:nvPicPr>
              <p:cNvPr descr="A close up of a logo&#10;&#10;Description automatically generated" id="7160" name="Google Shape;7160;p102"/>
              <p:cNvPicPr preferRelativeResize="0"/>
              <p:nvPr/>
            </p:nvPicPr>
            <p:blipFill rotWithShape="1">
              <a:blip r:embed="rId10">
                <a:alphaModFix/>
              </a:blip>
              <a:srcRect b="0" l="0" r="0" t="0"/>
              <a:stretch/>
            </p:blipFill>
            <p:spPr>
              <a:xfrm>
                <a:off x="4833500" y="2632539"/>
                <a:ext cx="429108" cy="419677"/>
              </a:xfrm>
              <a:prstGeom prst="rect">
                <a:avLst/>
              </a:prstGeom>
              <a:noFill/>
              <a:ln>
                <a:noFill/>
              </a:ln>
            </p:spPr>
          </p:pic>
          <p:pic>
            <p:nvPicPr>
              <p:cNvPr descr="A close up of a logo&#10;&#10;Description automatically generated" id="7161" name="Google Shape;7161;p102"/>
              <p:cNvPicPr preferRelativeResize="0"/>
              <p:nvPr/>
            </p:nvPicPr>
            <p:blipFill rotWithShape="1">
              <a:blip r:embed="rId10">
                <a:alphaModFix/>
              </a:blip>
              <a:srcRect b="0" l="0" r="0" t="0"/>
              <a:stretch/>
            </p:blipFill>
            <p:spPr>
              <a:xfrm>
                <a:off x="5385227" y="2119394"/>
                <a:ext cx="429108" cy="419677"/>
              </a:xfrm>
              <a:prstGeom prst="rect">
                <a:avLst/>
              </a:prstGeom>
              <a:noFill/>
              <a:ln>
                <a:noFill/>
              </a:ln>
            </p:spPr>
          </p:pic>
          <p:pic>
            <p:nvPicPr>
              <p:cNvPr descr="A close up of a logo&#10;&#10;Description automatically generated" id="7162" name="Google Shape;7162;p102"/>
              <p:cNvPicPr preferRelativeResize="0"/>
              <p:nvPr/>
            </p:nvPicPr>
            <p:blipFill rotWithShape="1">
              <a:blip r:embed="rId10">
                <a:alphaModFix/>
              </a:blip>
              <a:srcRect b="0" l="0" r="0" t="0"/>
              <a:stretch/>
            </p:blipFill>
            <p:spPr>
              <a:xfrm>
                <a:off x="6695095" y="2213920"/>
                <a:ext cx="429108" cy="419677"/>
              </a:xfrm>
              <a:prstGeom prst="rect">
                <a:avLst/>
              </a:prstGeom>
              <a:noFill/>
              <a:ln>
                <a:noFill/>
              </a:ln>
            </p:spPr>
          </p:pic>
          <p:pic>
            <p:nvPicPr>
              <p:cNvPr descr="A close up of a logo&#10;&#10;Description automatically generated" id="7163" name="Google Shape;7163;p102"/>
              <p:cNvPicPr preferRelativeResize="0"/>
              <p:nvPr/>
            </p:nvPicPr>
            <p:blipFill rotWithShape="1">
              <a:blip r:embed="rId10">
                <a:alphaModFix/>
              </a:blip>
              <a:srcRect b="0" l="0" r="0" t="0"/>
              <a:stretch/>
            </p:blipFill>
            <p:spPr>
              <a:xfrm>
                <a:off x="6922731" y="3136036"/>
                <a:ext cx="429108" cy="419677"/>
              </a:xfrm>
              <a:prstGeom prst="rect">
                <a:avLst/>
              </a:prstGeom>
              <a:noFill/>
              <a:ln>
                <a:noFill/>
              </a:ln>
            </p:spPr>
          </p:pic>
          <p:pic>
            <p:nvPicPr>
              <p:cNvPr descr="A close up of a logo&#10;&#10;Description automatically generated" id="7164" name="Google Shape;7164;p102"/>
              <p:cNvPicPr preferRelativeResize="0"/>
              <p:nvPr/>
            </p:nvPicPr>
            <p:blipFill rotWithShape="1">
              <a:blip r:embed="rId10">
                <a:alphaModFix/>
              </a:blip>
              <a:srcRect b="0" l="0" r="0" t="0"/>
              <a:stretch/>
            </p:blipFill>
            <p:spPr>
              <a:xfrm>
                <a:off x="6872575" y="4168111"/>
                <a:ext cx="429108" cy="419677"/>
              </a:xfrm>
              <a:prstGeom prst="rect">
                <a:avLst/>
              </a:prstGeom>
              <a:noFill/>
              <a:ln>
                <a:noFill/>
              </a:ln>
            </p:spPr>
          </p:pic>
          <p:sp>
            <p:nvSpPr>
              <p:cNvPr id="7165" name="Google Shape;7165;p102"/>
              <p:cNvSpPr txBox="1"/>
              <p:nvPr/>
            </p:nvSpPr>
            <p:spPr>
              <a:xfrm>
                <a:off x="4538652" y="5366732"/>
                <a:ext cx="3248035" cy="92333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10F90"/>
                  </a:buClr>
                  <a:buSzPts val="2400"/>
                  <a:buFont typeface="Calibri"/>
                  <a:buNone/>
                </a:pPr>
                <a:r>
                  <a:rPr b="0" i="0" lang="en-US" sz="2400" u="none" cap="none" strike="noStrike">
                    <a:solidFill>
                      <a:srgbClr val="010F90"/>
                    </a:solidFill>
                    <a:latin typeface="Calibri"/>
                    <a:ea typeface="Calibri"/>
                    <a:cs typeface="Calibri"/>
                    <a:sym typeface="Calibri"/>
                  </a:rPr>
                  <a:t>Internet (pre-2005)</a:t>
                </a:r>
                <a:endParaRPr/>
              </a:p>
              <a:p>
                <a:pPr indent="-28575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 computing at edge</a:t>
                </a:r>
                <a:endParaRPr/>
              </a:p>
            </p:txBody>
          </p:sp>
        </p:grpSp>
        <p:pic>
          <p:nvPicPr>
            <p:cNvPr descr="A picture containing artifact, building, brick, cake&#10;&#10;Description automatically generated" id="7166" name="Google Shape;7166;p102"/>
            <p:cNvPicPr preferRelativeResize="0"/>
            <p:nvPr/>
          </p:nvPicPr>
          <p:blipFill rotWithShape="1">
            <a:blip r:embed="rId4">
              <a:alphaModFix/>
            </a:blip>
            <a:srcRect b="0" l="0" r="0" t="0"/>
            <a:stretch/>
          </p:blipFill>
          <p:spPr>
            <a:xfrm>
              <a:off x="5686424" y="3033711"/>
              <a:ext cx="914401" cy="914401"/>
            </a:xfrm>
            <a:prstGeom prst="rect">
              <a:avLst/>
            </a:prstGeom>
            <a:noFill/>
            <a:ln>
              <a:noFill/>
            </a:ln>
          </p:spPr>
        </p:pic>
      </p:grpSp>
      <p:grpSp>
        <p:nvGrpSpPr>
          <p:cNvPr id="7167" name="Google Shape;7167;p102"/>
          <p:cNvGrpSpPr/>
          <p:nvPr/>
        </p:nvGrpSpPr>
        <p:grpSpPr>
          <a:xfrm>
            <a:off x="7800957" y="1848355"/>
            <a:ext cx="4085350" cy="4354493"/>
            <a:chOff x="8272461" y="2105539"/>
            <a:chExt cx="4085350" cy="4354493"/>
          </a:xfrm>
        </p:grpSpPr>
        <p:grpSp>
          <p:nvGrpSpPr>
            <p:cNvPr id="7168" name="Google Shape;7168;p102"/>
            <p:cNvGrpSpPr/>
            <p:nvPr/>
          </p:nvGrpSpPr>
          <p:grpSpPr>
            <a:xfrm>
              <a:off x="8272461" y="2105539"/>
              <a:ext cx="4085350" cy="4354493"/>
              <a:chOff x="8272461" y="2105539"/>
              <a:chExt cx="4085350" cy="4354493"/>
            </a:xfrm>
          </p:grpSpPr>
          <p:sp>
            <p:nvSpPr>
              <p:cNvPr id="7169" name="Google Shape;7169;p102"/>
              <p:cNvSpPr/>
              <p:nvPr/>
            </p:nvSpPr>
            <p:spPr>
              <a:xfrm>
                <a:off x="8728353" y="2358375"/>
                <a:ext cx="2282947" cy="278166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70" name="Google Shape;7170;p102"/>
              <p:cNvGrpSpPr/>
              <p:nvPr/>
            </p:nvGrpSpPr>
            <p:grpSpPr>
              <a:xfrm>
                <a:off x="8545689" y="3697522"/>
                <a:ext cx="310186" cy="312008"/>
                <a:chOff x="877" y="1008"/>
                <a:chExt cx="2747" cy="2626"/>
              </a:xfrm>
            </p:grpSpPr>
            <p:pic>
              <p:nvPicPr>
                <p:cNvPr descr="antenna_stylized" id="7171" name="Google Shape;7171;p102"/>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7172" name="Google Shape;7172;p102"/>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7173" name="Google Shape;7173;p102"/>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screen" id="7174" name="Google Shape;7174;p102"/>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7175" name="Google Shape;7175;p102"/>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6" name="Google Shape;7176;p102"/>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7" name="Google Shape;7177;p102"/>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8" name="Google Shape;7178;p102"/>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79" name="Google Shape;7179;p102"/>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0" name="Google Shape;7180;p102"/>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181" name="Google Shape;7181;p102"/>
                <p:cNvGrpSpPr/>
                <p:nvPr/>
              </p:nvGrpSpPr>
              <p:grpSpPr>
                <a:xfrm>
                  <a:off x="1709" y="3008"/>
                  <a:ext cx="507" cy="234"/>
                  <a:chOff x="1740" y="2642"/>
                  <a:chExt cx="752" cy="327"/>
                </a:xfrm>
              </p:grpSpPr>
              <p:sp>
                <p:nvSpPr>
                  <p:cNvPr id="7182" name="Google Shape;7182;p102"/>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3" name="Google Shape;7183;p102"/>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4" name="Google Shape;7184;p102"/>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5" name="Google Shape;7185;p102"/>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6" name="Google Shape;7186;p102"/>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7" name="Google Shape;7187;p102"/>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188" name="Google Shape;7188;p102"/>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89" name="Google Shape;7189;p102"/>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0" name="Google Shape;7190;p102"/>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1" name="Google Shape;7191;p102"/>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2" name="Google Shape;7192;p102"/>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3" name="Google Shape;7193;p102"/>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194" name="Google Shape;7194;p102"/>
              <p:cNvGrpSpPr/>
              <p:nvPr/>
            </p:nvGrpSpPr>
            <p:grpSpPr>
              <a:xfrm flipH="1">
                <a:off x="9059924" y="4229826"/>
                <a:ext cx="345630" cy="320302"/>
                <a:chOff x="2839" y="3501"/>
                <a:chExt cx="755" cy="803"/>
              </a:xfrm>
            </p:grpSpPr>
            <p:pic>
              <p:nvPicPr>
                <p:cNvPr descr="desktop_computer_stylized_medium" id="7195" name="Google Shape;7195;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196" name="Google Shape;7196;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197" name="Google Shape;7197;p102"/>
              <p:cNvGrpSpPr/>
              <p:nvPr/>
            </p:nvGrpSpPr>
            <p:grpSpPr>
              <a:xfrm>
                <a:off x="10775634" y="4504120"/>
                <a:ext cx="177192" cy="330833"/>
                <a:chOff x="4140" y="429"/>
                <a:chExt cx="1425" cy="2396"/>
              </a:xfrm>
            </p:grpSpPr>
            <p:sp>
              <p:nvSpPr>
                <p:cNvPr id="7198" name="Google Shape;7198;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99" name="Google Shape;7199;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0" name="Google Shape;7200;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1" name="Google Shape;7201;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02" name="Google Shape;7202;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03" name="Google Shape;7203;p102"/>
                <p:cNvGrpSpPr/>
                <p:nvPr/>
              </p:nvGrpSpPr>
              <p:grpSpPr>
                <a:xfrm>
                  <a:off x="4748" y="666"/>
                  <a:ext cx="578" cy="150"/>
                  <a:chOff x="613" y="2566"/>
                  <a:chExt cx="721" cy="144"/>
                </a:xfrm>
              </p:grpSpPr>
              <p:sp>
                <p:nvSpPr>
                  <p:cNvPr id="7204" name="Google Shape;7204;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5" name="Google Shape;7205;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06" name="Google Shape;7206;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07" name="Google Shape;7207;p102"/>
                <p:cNvGrpSpPr/>
                <p:nvPr/>
              </p:nvGrpSpPr>
              <p:grpSpPr>
                <a:xfrm>
                  <a:off x="4748" y="990"/>
                  <a:ext cx="578" cy="134"/>
                  <a:chOff x="615" y="2564"/>
                  <a:chExt cx="721" cy="139"/>
                </a:xfrm>
              </p:grpSpPr>
              <p:sp>
                <p:nvSpPr>
                  <p:cNvPr id="7208" name="Google Shape;7208;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09" name="Google Shape;7209;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0" name="Google Shape;7210;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1" name="Google Shape;7211;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12" name="Google Shape;7212;p102"/>
                <p:cNvGrpSpPr/>
                <p:nvPr/>
              </p:nvGrpSpPr>
              <p:grpSpPr>
                <a:xfrm>
                  <a:off x="4738" y="1647"/>
                  <a:ext cx="578" cy="135"/>
                  <a:chOff x="618" y="2586"/>
                  <a:chExt cx="720" cy="124"/>
                </a:xfrm>
              </p:grpSpPr>
              <p:sp>
                <p:nvSpPr>
                  <p:cNvPr id="7213" name="Google Shape;7213;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4" name="Google Shape;7214;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5" name="Google Shape;7215;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16" name="Google Shape;7216;p102"/>
                <p:cNvGrpSpPr/>
                <p:nvPr/>
              </p:nvGrpSpPr>
              <p:grpSpPr>
                <a:xfrm>
                  <a:off x="4738" y="1330"/>
                  <a:ext cx="588" cy="134"/>
                  <a:chOff x="613" y="2571"/>
                  <a:chExt cx="732" cy="134"/>
                </a:xfrm>
              </p:grpSpPr>
              <p:sp>
                <p:nvSpPr>
                  <p:cNvPr id="7217" name="Google Shape;7217;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18" name="Google Shape;7218;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19" name="Google Shape;7219;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0" name="Google Shape;7220;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1" name="Google Shape;7221;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2" name="Google Shape;7222;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3" name="Google Shape;7223;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24" name="Google Shape;7224;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5" name="Google Shape;7225;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6" name="Google Shape;7226;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7" name="Google Shape;7227;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28" name="Google Shape;7228;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29" name="Google Shape;7229;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30" name="Google Shape;7230;p102"/>
              <p:cNvGrpSpPr/>
              <p:nvPr/>
            </p:nvGrpSpPr>
            <p:grpSpPr>
              <a:xfrm>
                <a:off x="9016107" y="2896992"/>
                <a:ext cx="177192" cy="330833"/>
                <a:chOff x="4140" y="429"/>
                <a:chExt cx="1425" cy="2396"/>
              </a:xfrm>
            </p:grpSpPr>
            <p:sp>
              <p:nvSpPr>
                <p:cNvPr id="7231" name="Google Shape;7231;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2" name="Google Shape;7232;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33" name="Google Shape;7233;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4" name="Google Shape;7234;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35" name="Google Shape;7235;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36" name="Google Shape;7236;p102"/>
                <p:cNvGrpSpPr/>
                <p:nvPr/>
              </p:nvGrpSpPr>
              <p:grpSpPr>
                <a:xfrm>
                  <a:off x="4748" y="666"/>
                  <a:ext cx="578" cy="150"/>
                  <a:chOff x="613" y="2566"/>
                  <a:chExt cx="721" cy="144"/>
                </a:xfrm>
              </p:grpSpPr>
              <p:sp>
                <p:nvSpPr>
                  <p:cNvPr id="7237" name="Google Shape;7237;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38" name="Google Shape;7238;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39" name="Google Shape;7239;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40" name="Google Shape;7240;p102"/>
                <p:cNvGrpSpPr/>
                <p:nvPr/>
              </p:nvGrpSpPr>
              <p:grpSpPr>
                <a:xfrm>
                  <a:off x="4748" y="990"/>
                  <a:ext cx="578" cy="134"/>
                  <a:chOff x="615" y="2564"/>
                  <a:chExt cx="721" cy="139"/>
                </a:xfrm>
              </p:grpSpPr>
              <p:sp>
                <p:nvSpPr>
                  <p:cNvPr id="7241" name="Google Shape;7241;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2" name="Google Shape;7242;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43" name="Google Shape;7243;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4" name="Google Shape;7244;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45" name="Google Shape;7245;p102"/>
                <p:cNvGrpSpPr/>
                <p:nvPr/>
              </p:nvGrpSpPr>
              <p:grpSpPr>
                <a:xfrm>
                  <a:off x="4738" y="1647"/>
                  <a:ext cx="578" cy="135"/>
                  <a:chOff x="618" y="2586"/>
                  <a:chExt cx="720" cy="124"/>
                </a:xfrm>
              </p:grpSpPr>
              <p:sp>
                <p:nvSpPr>
                  <p:cNvPr id="7246" name="Google Shape;7246;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47" name="Google Shape;7247;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48" name="Google Shape;7248;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49" name="Google Shape;7249;p102"/>
                <p:cNvGrpSpPr/>
                <p:nvPr/>
              </p:nvGrpSpPr>
              <p:grpSpPr>
                <a:xfrm>
                  <a:off x="4738" y="1330"/>
                  <a:ext cx="588" cy="134"/>
                  <a:chOff x="613" y="2571"/>
                  <a:chExt cx="732" cy="134"/>
                </a:xfrm>
              </p:grpSpPr>
              <p:sp>
                <p:nvSpPr>
                  <p:cNvPr id="7250" name="Google Shape;7250;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1" name="Google Shape;7251;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52" name="Google Shape;7252;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3" name="Google Shape;7253;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4" name="Google Shape;7254;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5" name="Google Shape;7255;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6" name="Google Shape;7256;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7" name="Google Shape;7257;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8" name="Google Shape;7258;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59" name="Google Shape;7259;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0" name="Google Shape;7260;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61" name="Google Shape;7261;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2" name="Google Shape;7262;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63" name="Google Shape;7263;p102"/>
              <p:cNvGrpSpPr/>
              <p:nvPr/>
            </p:nvGrpSpPr>
            <p:grpSpPr>
              <a:xfrm flipH="1">
                <a:off x="9430754" y="2384657"/>
                <a:ext cx="345630" cy="320302"/>
                <a:chOff x="2839" y="3501"/>
                <a:chExt cx="755" cy="803"/>
              </a:xfrm>
            </p:grpSpPr>
            <p:pic>
              <p:nvPicPr>
                <p:cNvPr descr="desktop_computer_stylized_medium" id="7264" name="Google Shape;7264;p102"/>
                <p:cNvPicPr preferRelativeResize="0"/>
                <p:nvPr/>
              </p:nvPicPr>
              <p:blipFill rotWithShape="1">
                <a:blip r:embed="rId9">
                  <a:alphaModFix/>
                </a:blip>
                <a:srcRect b="0" l="0" r="0" t="0"/>
                <a:stretch/>
              </p:blipFill>
              <p:spPr>
                <a:xfrm>
                  <a:off x="2839" y="3501"/>
                  <a:ext cx="755" cy="803"/>
                </a:xfrm>
                <a:prstGeom prst="rect">
                  <a:avLst/>
                </a:prstGeom>
                <a:noFill/>
                <a:ln>
                  <a:noFill/>
                </a:ln>
              </p:spPr>
            </p:pic>
            <p:sp>
              <p:nvSpPr>
                <p:cNvPr id="7265" name="Google Shape;7265;p102"/>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66" name="Google Shape;7266;p102"/>
              <p:cNvGrpSpPr/>
              <p:nvPr/>
            </p:nvGrpSpPr>
            <p:grpSpPr>
              <a:xfrm>
                <a:off x="10858761" y="4365575"/>
                <a:ext cx="177192" cy="330833"/>
                <a:chOff x="4140" y="429"/>
                <a:chExt cx="1425" cy="2396"/>
              </a:xfrm>
            </p:grpSpPr>
            <p:sp>
              <p:nvSpPr>
                <p:cNvPr id="7267" name="Google Shape;7267;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68" name="Google Shape;7268;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69" name="Google Shape;7269;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70" name="Google Shape;7270;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71" name="Google Shape;7271;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72" name="Google Shape;7272;p102"/>
                <p:cNvGrpSpPr/>
                <p:nvPr/>
              </p:nvGrpSpPr>
              <p:grpSpPr>
                <a:xfrm>
                  <a:off x="4748" y="666"/>
                  <a:ext cx="578" cy="150"/>
                  <a:chOff x="613" y="2566"/>
                  <a:chExt cx="721" cy="144"/>
                </a:xfrm>
              </p:grpSpPr>
              <p:sp>
                <p:nvSpPr>
                  <p:cNvPr id="7273" name="Google Shape;7273;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74" name="Google Shape;7274;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75" name="Google Shape;7275;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76" name="Google Shape;7276;p102"/>
                <p:cNvGrpSpPr/>
                <p:nvPr/>
              </p:nvGrpSpPr>
              <p:grpSpPr>
                <a:xfrm>
                  <a:off x="4748" y="990"/>
                  <a:ext cx="578" cy="134"/>
                  <a:chOff x="615" y="2564"/>
                  <a:chExt cx="721" cy="139"/>
                </a:xfrm>
              </p:grpSpPr>
              <p:sp>
                <p:nvSpPr>
                  <p:cNvPr id="7277" name="Google Shape;7277;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78" name="Google Shape;7278;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79" name="Google Shape;7279;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0" name="Google Shape;7280;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281" name="Google Shape;7281;p102"/>
                <p:cNvGrpSpPr/>
                <p:nvPr/>
              </p:nvGrpSpPr>
              <p:grpSpPr>
                <a:xfrm>
                  <a:off x="4738" y="1647"/>
                  <a:ext cx="578" cy="135"/>
                  <a:chOff x="618" y="2586"/>
                  <a:chExt cx="720" cy="124"/>
                </a:xfrm>
              </p:grpSpPr>
              <p:sp>
                <p:nvSpPr>
                  <p:cNvPr id="7282" name="Google Shape;7282;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3" name="Google Shape;7283;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84" name="Google Shape;7284;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285" name="Google Shape;7285;p102"/>
                <p:cNvGrpSpPr/>
                <p:nvPr/>
              </p:nvGrpSpPr>
              <p:grpSpPr>
                <a:xfrm>
                  <a:off x="4738" y="1330"/>
                  <a:ext cx="588" cy="134"/>
                  <a:chOff x="613" y="2571"/>
                  <a:chExt cx="732" cy="134"/>
                </a:xfrm>
              </p:grpSpPr>
              <p:sp>
                <p:nvSpPr>
                  <p:cNvPr id="7286" name="Google Shape;7286;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7" name="Google Shape;7287;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288" name="Google Shape;7288;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89" name="Google Shape;7289;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0" name="Google Shape;7290;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1" name="Google Shape;7291;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2" name="Google Shape;7292;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93" name="Google Shape;7293;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4" name="Google Shape;7294;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5" name="Google Shape;7295;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6" name="Google Shape;7296;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297" name="Google Shape;7297;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298" name="Google Shape;7298;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grpSp>
            <p:nvGrpSpPr>
              <p:cNvPr id="7299" name="Google Shape;7299;p102"/>
              <p:cNvGrpSpPr/>
              <p:nvPr/>
            </p:nvGrpSpPr>
            <p:grpSpPr>
              <a:xfrm>
                <a:off x="10886470" y="2495212"/>
                <a:ext cx="177192" cy="330833"/>
                <a:chOff x="4140" y="429"/>
                <a:chExt cx="1425" cy="2396"/>
              </a:xfrm>
            </p:grpSpPr>
            <p:sp>
              <p:nvSpPr>
                <p:cNvPr id="7300" name="Google Shape;7300;p102"/>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1" name="Google Shape;7301;p102"/>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02" name="Google Shape;7302;p102"/>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3" name="Google Shape;7303;p102"/>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04" name="Google Shape;7304;p102"/>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05" name="Google Shape;7305;p102"/>
                <p:cNvGrpSpPr/>
                <p:nvPr/>
              </p:nvGrpSpPr>
              <p:grpSpPr>
                <a:xfrm>
                  <a:off x="4748" y="666"/>
                  <a:ext cx="578" cy="150"/>
                  <a:chOff x="613" y="2566"/>
                  <a:chExt cx="721" cy="144"/>
                </a:xfrm>
              </p:grpSpPr>
              <p:sp>
                <p:nvSpPr>
                  <p:cNvPr id="7306" name="Google Shape;7306;p102"/>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07" name="Google Shape;7307;p102"/>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08" name="Google Shape;7308;p102"/>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09" name="Google Shape;7309;p102"/>
                <p:cNvGrpSpPr/>
                <p:nvPr/>
              </p:nvGrpSpPr>
              <p:grpSpPr>
                <a:xfrm>
                  <a:off x="4748" y="990"/>
                  <a:ext cx="578" cy="134"/>
                  <a:chOff x="615" y="2564"/>
                  <a:chExt cx="721" cy="139"/>
                </a:xfrm>
              </p:grpSpPr>
              <p:sp>
                <p:nvSpPr>
                  <p:cNvPr id="7310" name="Google Shape;7310;p102"/>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1" name="Google Shape;7311;p102"/>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12" name="Google Shape;7312;p102"/>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3" name="Google Shape;7313;p102"/>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nvGrpSpPr>
                <p:cNvPr id="7314" name="Google Shape;7314;p102"/>
                <p:cNvGrpSpPr/>
                <p:nvPr/>
              </p:nvGrpSpPr>
              <p:grpSpPr>
                <a:xfrm>
                  <a:off x="4738" y="1647"/>
                  <a:ext cx="578" cy="135"/>
                  <a:chOff x="618" y="2586"/>
                  <a:chExt cx="720" cy="124"/>
                </a:xfrm>
              </p:grpSpPr>
              <p:sp>
                <p:nvSpPr>
                  <p:cNvPr id="7315" name="Google Shape;7315;p102"/>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16" name="Google Shape;7316;p102"/>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17" name="Google Shape;7317;p102"/>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318" name="Google Shape;7318;p102"/>
                <p:cNvGrpSpPr/>
                <p:nvPr/>
              </p:nvGrpSpPr>
              <p:grpSpPr>
                <a:xfrm>
                  <a:off x="4738" y="1330"/>
                  <a:ext cx="588" cy="134"/>
                  <a:chOff x="613" y="2571"/>
                  <a:chExt cx="732" cy="134"/>
                </a:xfrm>
              </p:grpSpPr>
              <p:sp>
                <p:nvSpPr>
                  <p:cNvPr id="7319" name="Google Shape;7319;p102"/>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0" name="Google Shape;7320;p102"/>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sp>
              <p:nvSpPr>
                <p:cNvPr id="7321" name="Google Shape;7321;p102"/>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2" name="Google Shape;7322;p102"/>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3" name="Google Shape;7323;p102"/>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4" name="Google Shape;7324;p102"/>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5" name="Google Shape;7325;p102"/>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26" name="Google Shape;7326;p102"/>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7" name="Google Shape;7327;p102"/>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8" name="Google Shape;7328;p102"/>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29" name="Google Shape;7329;p102"/>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i="0" sz="1800" u="none" cap="none" strike="noStrike">
                    <a:solidFill>
                      <a:srgbClr val="FF0000"/>
                    </a:solidFill>
                    <a:latin typeface="Arial"/>
                    <a:ea typeface="Arial"/>
                    <a:cs typeface="Arial"/>
                    <a:sym typeface="Arial"/>
                  </a:endParaRPr>
                </a:p>
              </p:txBody>
            </p:sp>
            <p:sp>
              <p:nvSpPr>
                <p:cNvPr id="7330" name="Google Shape;7330;p102"/>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sp>
              <p:nvSpPr>
                <p:cNvPr id="7331" name="Google Shape;7331;p102"/>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i="0" sz="2400" u="none" cap="none" strike="noStrike">
                    <a:solidFill>
                      <a:srgbClr val="000000"/>
                    </a:solidFill>
                    <a:latin typeface="Arial"/>
                    <a:ea typeface="Arial"/>
                    <a:cs typeface="Arial"/>
                    <a:sym typeface="Arial"/>
                  </a:endParaRPr>
                </a:p>
              </p:txBody>
            </p:sp>
          </p:grpSp>
          <p:pic>
            <p:nvPicPr>
              <p:cNvPr descr="A close up of a logo&#10;&#10;Description automatically generated" id="7332" name="Google Shape;7332;p102"/>
              <p:cNvPicPr preferRelativeResize="0"/>
              <p:nvPr/>
            </p:nvPicPr>
            <p:blipFill rotWithShape="1">
              <a:blip r:embed="rId10">
                <a:alphaModFix/>
              </a:blip>
              <a:srcRect b="0" l="0" r="0" t="0"/>
              <a:stretch/>
            </p:blipFill>
            <p:spPr>
              <a:xfrm>
                <a:off x="8347293" y="3513793"/>
                <a:ext cx="429108" cy="419677"/>
              </a:xfrm>
              <a:prstGeom prst="rect">
                <a:avLst/>
              </a:prstGeom>
              <a:noFill/>
              <a:ln>
                <a:noFill/>
              </a:ln>
            </p:spPr>
          </p:pic>
          <p:pic>
            <p:nvPicPr>
              <p:cNvPr descr="A close up of a logo&#10;&#10;Description automatically generated" id="7333" name="Google Shape;7333;p102"/>
              <p:cNvPicPr preferRelativeResize="0"/>
              <p:nvPr/>
            </p:nvPicPr>
            <p:blipFill rotWithShape="1">
              <a:blip r:embed="rId10">
                <a:alphaModFix/>
              </a:blip>
              <a:srcRect b="0" l="0" r="0" t="0"/>
              <a:stretch/>
            </p:blipFill>
            <p:spPr>
              <a:xfrm>
                <a:off x="8852720" y="4082881"/>
                <a:ext cx="429108" cy="419677"/>
              </a:xfrm>
              <a:prstGeom prst="rect">
                <a:avLst/>
              </a:prstGeom>
              <a:noFill/>
              <a:ln>
                <a:noFill/>
              </a:ln>
            </p:spPr>
          </p:pic>
          <p:pic>
            <p:nvPicPr>
              <p:cNvPr descr="A close up of a logo&#10;&#10;Description automatically generated" id="7334" name="Google Shape;7334;p102"/>
              <p:cNvPicPr preferRelativeResize="0"/>
              <p:nvPr/>
            </p:nvPicPr>
            <p:blipFill rotWithShape="1">
              <a:blip r:embed="rId10">
                <a:alphaModFix/>
              </a:blip>
              <a:srcRect b="0" l="0" r="0" t="0"/>
              <a:stretch/>
            </p:blipFill>
            <p:spPr>
              <a:xfrm>
                <a:off x="8754336" y="2618684"/>
                <a:ext cx="429108" cy="419677"/>
              </a:xfrm>
              <a:prstGeom prst="rect">
                <a:avLst/>
              </a:prstGeom>
              <a:noFill/>
              <a:ln>
                <a:noFill/>
              </a:ln>
            </p:spPr>
          </p:pic>
          <p:pic>
            <p:nvPicPr>
              <p:cNvPr descr="A close up of a logo&#10;&#10;Description automatically generated" id="7335" name="Google Shape;7335;p102"/>
              <p:cNvPicPr preferRelativeResize="0"/>
              <p:nvPr/>
            </p:nvPicPr>
            <p:blipFill rotWithShape="1">
              <a:blip r:embed="rId10">
                <a:alphaModFix/>
              </a:blip>
              <a:srcRect b="0" l="0" r="0" t="0"/>
              <a:stretch/>
            </p:blipFill>
            <p:spPr>
              <a:xfrm>
                <a:off x="9306063" y="2105539"/>
                <a:ext cx="429108" cy="419677"/>
              </a:xfrm>
              <a:prstGeom prst="rect">
                <a:avLst/>
              </a:prstGeom>
              <a:noFill/>
              <a:ln>
                <a:noFill/>
              </a:ln>
            </p:spPr>
          </p:pic>
          <p:pic>
            <p:nvPicPr>
              <p:cNvPr descr="A close up of a logo&#10;&#10;Description automatically generated" id="7336" name="Google Shape;7336;p102"/>
              <p:cNvPicPr preferRelativeResize="0"/>
              <p:nvPr/>
            </p:nvPicPr>
            <p:blipFill rotWithShape="1">
              <a:blip r:embed="rId10">
                <a:alphaModFix/>
              </a:blip>
              <a:srcRect b="0" l="0" r="0" t="0"/>
              <a:stretch/>
            </p:blipFill>
            <p:spPr>
              <a:xfrm>
                <a:off x="10615931" y="2200065"/>
                <a:ext cx="429108" cy="419677"/>
              </a:xfrm>
              <a:prstGeom prst="rect">
                <a:avLst/>
              </a:prstGeom>
              <a:noFill/>
              <a:ln>
                <a:noFill/>
              </a:ln>
            </p:spPr>
          </p:pic>
          <p:pic>
            <p:nvPicPr>
              <p:cNvPr descr="A close up of a logo&#10;&#10;Description automatically generated" id="7337" name="Google Shape;7337;p102"/>
              <p:cNvPicPr preferRelativeResize="0"/>
              <p:nvPr/>
            </p:nvPicPr>
            <p:blipFill rotWithShape="1">
              <a:blip r:embed="rId10">
                <a:alphaModFix/>
              </a:blip>
              <a:srcRect b="0" l="0" r="0" t="0"/>
              <a:stretch/>
            </p:blipFill>
            <p:spPr>
              <a:xfrm>
                <a:off x="10793411" y="4154256"/>
                <a:ext cx="429108" cy="419677"/>
              </a:xfrm>
              <a:prstGeom prst="rect">
                <a:avLst/>
              </a:prstGeom>
              <a:noFill/>
              <a:ln>
                <a:noFill/>
              </a:ln>
            </p:spPr>
          </p:pic>
          <p:sp>
            <p:nvSpPr>
              <p:cNvPr id="7338" name="Google Shape;7338;p102"/>
              <p:cNvSpPr txBox="1"/>
              <p:nvPr/>
            </p:nvSpPr>
            <p:spPr>
              <a:xfrm>
                <a:off x="8272461" y="5287403"/>
                <a:ext cx="4085350" cy="11726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10F90"/>
                  </a:buClr>
                  <a:buSzPts val="2400"/>
                  <a:buFont typeface="Calibri"/>
                  <a:buNone/>
                </a:pPr>
                <a:r>
                  <a:rPr b="0" i="0" lang="en-US" sz="2400" u="none" cap="none" strike="noStrike">
                    <a:solidFill>
                      <a:srgbClr val="010F90"/>
                    </a:solidFill>
                    <a:latin typeface="Calibri"/>
                    <a:ea typeface="Calibri"/>
                    <a:cs typeface="Calibri"/>
                    <a:sym typeface="Calibri"/>
                  </a:rPr>
                  <a:t>Internet (post-2005)</a:t>
                </a:r>
                <a:endParaRPr/>
              </a:p>
              <a:p>
                <a:pPr indent="-21590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programmable network devices</a:t>
                </a:r>
                <a:endParaRPr/>
              </a:p>
              <a:p>
                <a:pPr indent="-215900" lvl="0" marL="285750" marR="0" rtl="0" algn="l">
                  <a:lnSpc>
                    <a:spcPct val="90000"/>
                  </a:lnSpc>
                  <a:spcBef>
                    <a:spcPts val="0"/>
                  </a:spcBef>
                  <a:spcAft>
                    <a:spcPts val="0"/>
                  </a:spcAft>
                  <a:buClr>
                    <a:srgbClr val="0013A3"/>
                  </a:buClr>
                  <a:buSzPts val="1800"/>
                  <a:buFont typeface="Arial"/>
                  <a:buChar char="•"/>
                </a:pPr>
                <a:r>
                  <a:rPr b="0" i="0" lang="en-US" sz="1800" u="none" cap="none" strike="noStrike">
                    <a:solidFill>
                      <a:srgbClr val="000000"/>
                    </a:solidFill>
                    <a:latin typeface="Calibri"/>
                    <a:ea typeface="Calibri"/>
                    <a:cs typeface="Calibri"/>
                    <a:sym typeface="Calibri"/>
                  </a:rPr>
                  <a:t>intelligence, computing, massive application-level infrastructure at edge</a:t>
                </a:r>
                <a:endParaRPr/>
              </a:p>
            </p:txBody>
          </p:sp>
          <p:grpSp>
            <p:nvGrpSpPr>
              <p:cNvPr id="7339" name="Google Shape;7339;p102"/>
              <p:cNvGrpSpPr/>
              <p:nvPr/>
            </p:nvGrpSpPr>
            <p:grpSpPr>
              <a:xfrm>
                <a:off x="8678469" y="3231324"/>
                <a:ext cx="415925" cy="454737"/>
                <a:chOff x="8221279" y="806779"/>
                <a:chExt cx="415925" cy="454737"/>
              </a:xfrm>
            </p:grpSpPr>
            <p:grpSp>
              <p:nvGrpSpPr>
                <p:cNvPr id="7340" name="Google Shape;7340;p102"/>
                <p:cNvGrpSpPr/>
                <p:nvPr/>
              </p:nvGrpSpPr>
              <p:grpSpPr>
                <a:xfrm>
                  <a:off x="8221279" y="806779"/>
                  <a:ext cx="415925" cy="385763"/>
                  <a:chOff x="2751" y="1851"/>
                  <a:chExt cx="462" cy="478"/>
                </a:xfrm>
              </p:grpSpPr>
              <p:pic>
                <p:nvPicPr>
                  <p:cNvPr descr="iphone_stylized_small" id="7341" name="Google Shape;7341;p102"/>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7342" name="Google Shape;7342;p102"/>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pic>
              <p:nvPicPr>
                <p:cNvPr descr="A close up of a logo&#10;&#10;Description automatically generated" id="7343" name="Google Shape;7343;p102"/>
                <p:cNvPicPr preferRelativeResize="0"/>
                <p:nvPr/>
              </p:nvPicPr>
              <p:blipFill rotWithShape="1">
                <a:blip r:embed="rId10">
                  <a:alphaModFix/>
                </a:blip>
                <a:srcRect b="0" l="0" r="0" t="0"/>
                <a:stretch/>
              </p:blipFill>
              <p:spPr>
                <a:xfrm>
                  <a:off x="8319654" y="999354"/>
                  <a:ext cx="268053" cy="262162"/>
                </a:xfrm>
                <a:prstGeom prst="rect">
                  <a:avLst/>
                </a:prstGeom>
                <a:noFill/>
                <a:ln>
                  <a:noFill/>
                </a:ln>
              </p:spPr>
            </p:pic>
          </p:grpSp>
          <p:grpSp>
            <p:nvGrpSpPr>
              <p:cNvPr id="7344" name="Google Shape;7344;p102"/>
              <p:cNvGrpSpPr/>
              <p:nvPr/>
            </p:nvGrpSpPr>
            <p:grpSpPr>
              <a:xfrm>
                <a:off x="9135670" y="2455469"/>
                <a:ext cx="415925" cy="454737"/>
                <a:chOff x="8221279" y="806779"/>
                <a:chExt cx="415925" cy="454737"/>
              </a:xfrm>
            </p:grpSpPr>
            <p:grpSp>
              <p:nvGrpSpPr>
                <p:cNvPr id="7345" name="Google Shape;7345;p102"/>
                <p:cNvGrpSpPr/>
                <p:nvPr/>
              </p:nvGrpSpPr>
              <p:grpSpPr>
                <a:xfrm>
                  <a:off x="8221279" y="806779"/>
                  <a:ext cx="415925" cy="385763"/>
                  <a:chOff x="2751" y="1851"/>
                  <a:chExt cx="462" cy="478"/>
                </a:xfrm>
              </p:grpSpPr>
              <p:pic>
                <p:nvPicPr>
                  <p:cNvPr descr="iphone_stylized_small" id="7346" name="Google Shape;7346;p102"/>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7347" name="Google Shape;7347;p102"/>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pic>
              <p:nvPicPr>
                <p:cNvPr descr="A close up of a logo&#10;&#10;Description automatically generated" id="7348" name="Google Shape;7348;p102"/>
                <p:cNvPicPr preferRelativeResize="0"/>
                <p:nvPr/>
              </p:nvPicPr>
              <p:blipFill rotWithShape="1">
                <a:blip r:embed="rId10">
                  <a:alphaModFix/>
                </a:blip>
                <a:srcRect b="0" l="0" r="0" t="0"/>
                <a:stretch/>
              </p:blipFill>
              <p:spPr>
                <a:xfrm>
                  <a:off x="8319654" y="999354"/>
                  <a:ext cx="268053" cy="262162"/>
                </a:xfrm>
                <a:prstGeom prst="rect">
                  <a:avLst/>
                </a:prstGeom>
                <a:noFill/>
                <a:ln>
                  <a:noFill/>
                </a:ln>
              </p:spPr>
            </p:pic>
          </p:grpSp>
        </p:grpSp>
        <p:pic>
          <p:nvPicPr>
            <p:cNvPr descr="A picture containing artifact, building, brick, cake&#10;&#10;Description automatically generated" id="7349" name="Google Shape;7349;p102"/>
            <p:cNvPicPr preferRelativeResize="0"/>
            <p:nvPr/>
          </p:nvPicPr>
          <p:blipFill rotWithShape="1">
            <a:blip r:embed="rId4">
              <a:alphaModFix/>
            </a:blip>
            <a:srcRect b="0" l="0" r="0" t="0"/>
            <a:stretch/>
          </p:blipFill>
          <p:spPr>
            <a:xfrm>
              <a:off x="9686925" y="3148013"/>
              <a:ext cx="895350" cy="895350"/>
            </a:xfrm>
            <a:prstGeom prst="rect">
              <a:avLst/>
            </a:prstGeom>
            <a:noFill/>
            <a:ln>
              <a:noFill/>
            </a:ln>
          </p:spPr>
        </p:pic>
      </p:grpSp>
      <p:pic>
        <p:nvPicPr>
          <p:cNvPr descr="A close up of a logo&#10;&#10;Description automatically generated" id="7350" name="Google Shape;7350;p102"/>
          <p:cNvPicPr preferRelativeResize="0"/>
          <p:nvPr/>
        </p:nvPicPr>
        <p:blipFill rotWithShape="1">
          <a:blip r:embed="rId10">
            <a:alphaModFix/>
          </a:blip>
          <a:srcRect b="0" l="0" r="0" t="0"/>
          <a:stretch/>
        </p:blipFill>
        <p:spPr>
          <a:xfrm>
            <a:off x="9125079" y="2572464"/>
            <a:ext cx="797421" cy="779895"/>
          </a:xfrm>
          <a:prstGeom prst="rect">
            <a:avLst/>
          </a:prstGeom>
          <a:noFill/>
          <a:ln>
            <a:noFill/>
          </a:ln>
        </p:spPr>
      </p:pic>
      <p:grpSp>
        <p:nvGrpSpPr>
          <p:cNvPr id="7351" name="Google Shape;7351;p102"/>
          <p:cNvGrpSpPr/>
          <p:nvPr/>
        </p:nvGrpSpPr>
        <p:grpSpPr>
          <a:xfrm>
            <a:off x="9029832" y="1319926"/>
            <a:ext cx="2039235" cy="3523095"/>
            <a:chOff x="9458462" y="1519960"/>
            <a:chExt cx="2039235" cy="3523095"/>
          </a:xfrm>
        </p:grpSpPr>
        <p:grpSp>
          <p:nvGrpSpPr>
            <p:cNvPr id="7352" name="Google Shape;7352;p102"/>
            <p:cNvGrpSpPr/>
            <p:nvPr/>
          </p:nvGrpSpPr>
          <p:grpSpPr>
            <a:xfrm>
              <a:off x="9458462" y="1519960"/>
              <a:ext cx="1110980" cy="932295"/>
              <a:chOff x="8253126" y="-932295"/>
              <a:chExt cx="1110980" cy="932295"/>
            </a:xfrm>
          </p:grpSpPr>
          <p:grpSp>
            <p:nvGrpSpPr>
              <p:cNvPr id="7353" name="Google Shape;7353;p102"/>
              <p:cNvGrpSpPr/>
              <p:nvPr/>
            </p:nvGrpSpPr>
            <p:grpSpPr>
              <a:xfrm>
                <a:off x="8646606" y="-648336"/>
                <a:ext cx="717500" cy="648336"/>
                <a:chOff x="9034533" y="580804"/>
                <a:chExt cx="717500" cy="648336"/>
              </a:xfrm>
            </p:grpSpPr>
            <p:grpSp>
              <p:nvGrpSpPr>
                <p:cNvPr id="7354" name="Google Shape;7354;p102"/>
                <p:cNvGrpSpPr/>
                <p:nvPr/>
              </p:nvGrpSpPr>
              <p:grpSpPr>
                <a:xfrm>
                  <a:off x="9034533" y="580804"/>
                  <a:ext cx="594613" cy="648336"/>
                  <a:chOff x="5203089" y="1751190"/>
                  <a:chExt cx="858331" cy="662414"/>
                </a:xfrm>
              </p:grpSpPr>
              <p:sp>
                <p:nvSpPr>
                  <p:cNvPr id="7355" name="Google Shape;7355;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56" name="Google Shape;7356;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57" name="Google Shape;7357;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58" name="Google Shape;7358;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59" name="Google Shape;7359;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60" name="Google Shape;7360;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61" name="Google Shape;7361;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62" name="Google Shape;7362;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63" name="Google Shape;7363;p102"/>
                <p:cNvGrpSpPr/>
                <p:nvPr/>
              </p:nvGrpSpPr>
              <p:grpSpPr>
                <a:xfrm>
                  <a:off x="9447245" y="815118"/>
                  <a:ext cx="304788" cy="405973"/>
                  <a:chOff x="5275406" y="2711455"/>
                  <a:chExt cx="452949" cy="405518"/>
                </a:xfrm>
              </p:grpSpPr>
              <p:pic>
                <p:nvPicPr>
                  <p:cNvPr descr="server_rack.png" id="7364" name="Google Shape;7364;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65" name="Google Shape;7365;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66" name="Google Shape;7366;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67" name="Google Shape;7367;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nvGrpSpPr>
            <p:cNvPr id="7368" name="Google Shape;7368;p102"/>
            <p:cNvGrpSpPr/>
            <p:nvPr/>
          </p:nvGrpSpPr>
          <p:grpSpPr>
            <a:xfrm>
              <a:off x="9541589" y="4110760"/>
              <a:ext cx="1110980" cy="932295"/>
              <a:chOff x="8253126" y="-932295"/>
              <a:chExt cx="1110980" cy="932295"/>
            </a:xfrm>
          </p:grpSpPr>
          <p:grpSp>
            <p:nvGrpSpPr>
              <p:cNvPr id="7369" name="Google Shape;7369;p102"/>
              <p:cNvGrpSpPr/>
              <p:nvPr/>
            </p:nvGrpSpPr>
            <p:grpSpPr>
              <a:xfrm>
                <a:off x="8646606" y="-648336"/>
                <a:ext cx="717500" cy="648336"/>
                <a:chOff x="9034533" y="580804"/>
                <a:chExt cx="717500" cy="648336"/>
              </a:xfrm>
            </p:grpSpPr>
            <p:grpSp>
              <p:nvGrpSpPr>
                <p:cNvPr id="7370" name="Google Shape;7370;p102"/>
                <p:cNvGrpSpPr/>
                <p:nvPr/>
              </p:nvGrpSpPr>
              <p:grpSpPr>
                <a:xfrm>
                  <a:off x="9034533" y="580804"/>
                  <a:ext cx="594613" cy="648336"/>
                  <a:chOff x="5203089" y="1751190"/>
                  <a:chExt cx="858331" cy="662414"/>
                </a:xfrm>
              </p:grpSpPr>
              <p:sp>
                <p:nvSpPr>
                  <p:cNvPr id="7371" name="Google Shape;7371;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72" name="Google Shape;7372;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73" name="Google Shape;7373;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74" name="Google Shape;7374;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75" name="Google Shape;7375;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76" name="Google Shape;7376;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77" name="Google Shape;7377;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78" name="Google Shape;7378;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79" name="Google Shape;7379;p102"/>
                <p:cNvGrpSpPr/>
                <p:nvPr/>
              </p:nvGrpSpPr>
              <p:grpSpPr>
                <a:xfrm>
                  <a:off x="9447245" y="815118"/>
                  <a:ext cx="304788" cy="405973"/>
                  <a:chOff x="5275406" y="2711455"/>
                  <a:chExt cx="452949" cy="405518"/>
                </a:xfrm>
              </p:grpSpPr>
              <p:pic>
                <p:nvPicPr>
                  <p:cNvPr descr="server_rack.png" id="7380" name="Google Shape;7380;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81" name="Google Shape;7381;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82" name="Google Shape;7382;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83" name="Google Shape;7383;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nvGrpSpPr>
            <p:cNvPr id="7384" name="Google Shape;7384;p102"/>
            <p:cNvGrpSpPr/>
            <p:nvPr/>
          </p:nvGrpSpPr>
          <p:grpSpPr>
            <a:xfrm>
              <a:off x="10386717" y="3002396"/>
              <a:ext cx="1110980" cy="932295"/>
              <a:chOff x="8253126" y="-932295"/>
              <a:chExt cx="1110980" cy="932295"/>
            </a:xfrm>
          </p:grpSpPr>
          <p:grpSp>
            <p:nvGrpSpPr>
              <p:cNvPr id="7385" name="Google Shape;7385;p102"/>
              <p:cNvGrpSpPr/>
              <p:nvPr/>
            </p:nvGrpSpPr>
            <p:grpSpPr>
              <a:xfrm>
                <a:off x="8646606" y="-648336"/>
                <a:ext cx="717500" cy="648336"/>
                <a:chOff x="9034533" y="580804"/>
                <a:chExt cx="717500" cy="648336"/>
              </a:xfrm>
            </p:grpSpPr>
            <p:grpSp>
              <p:nvGrpSpPr>
                <p:cNvPr id="7386" name="Google Shape;7386;p102"/>
                <p:cNvGrpSpPr/>
                <p:nvPr/>
              </p:nvGrpSpPr>
              <p:grpSpPr>
                <a:xfrm>
                  <a:off x="9034533" y="580804"/>
                  <a:ext cx="594613" cy="648336"/>
                  <a:chOff x="5203089" y="1751190"/>
                  <a:chExt cx="858331" cy="662414"/>
                </a:xfrm>
              </p:grpSpPr>
              <p:sp>
                <p:nvSpPr>
                  <p:cNvPr id="7387" name="Google Shape;7387;p102"/>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88" name="Google Shape;7388;p102"/>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389" name="Google Shape;7389;p102"/>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390" name="Google Shape;7390;p102"/>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391" name="Google Shape;7391;p102"/>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392" name="Google Shape;7392;p102"/>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393" name="Google Shape;7393;p102"/>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394" name="Google Shape;7394;p102"/>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395" name="Google Shape;7395;p102"/>
                <p:cNvGrpSpPr/>
                <p:nvPr/>
              </p:nvGrpSpPr>
              <p:grpSpPr>
                <a:xfrm>
                  <a:off x="9447245" y="815118"/>
                  <a:ext cx="304788" cy="405973"/>
                  <a:chOff x="5275406" y="2711455"/>
                  <a:chExt cx="452949" cy="405518"/>
                </a:xfrm>
              </p:grpSpPr>
              <p:pic>
                <p:nvPicPr>
                  <p:cNvPr descr="server_rack.png" id="7396" name="Google Shape;7396;p102"/>
                  <p:cNvPicPr preferRelativeResize="0"/>
                  <p:nvPr/>
                </p:nvPicPr>
                <p:blipFill rotWithShape="1">
                  <a:blip r:embed="rId13">
                    <a:alphaModFix/>
                  </a:blip>
                  <a:srcRect b="0" l="0" r="0" t="0"/>
                  <a:stretch/>
                </p:blipFill>
                <p:spPr>
                  <a:xfrm>
                    <a:off x="5537367" y="2770786"/>
                    <a:ext cx="190988" cy="313366"/>
                  </a:xfrm>
                  <a:prstGeom prst="rect">
                    <a:avLst/>
                  </a:prstGeom>
                  <a:noFill/>
                  <a:ln>
                    <a:noFill/>
                  </a:ln>
                </p:spPr>
              </p:pic>
              <p:pic>
                <p:nvPicPr>
                  <p:cNvPr descr="server_rack.png" id="7397" name="Google Shape;7397;p102"/>
                  <p:cNvPicPr preferRelativeResize="0"/>
                  <p:nvPr/>
                </p:nvPicPr>
                <p:blipFill rotWithShape="1">
                  <a:blip r:embed="rId13">
                    <a:alphaModFix/>
                  </a:blip>
                  <a:srcRect b="0" l="0" r="0" t="0"/>
                  <a:stretch/>
                </p:blipFill>
                <p:spPr>
                  <a:xfrm>
                    <a:off x="5275406" y="2764002"/>
                    <a:ext cx="190988" cy="313366"/>
                  </a:xfrm>
                  <a:prstGeom prst="rect">
                    <a:avLst/>
                  </a:prstGeom>
                  <a:noFill/>
                  <a:ln>
                    <a:noFill/>
                  </a:ln>
                </p:spPr>
              </p:pic>
              <p:pic>
                <p:nvPicPr>
                  <p:cNvPr descr="server_rack.png" id="7398" name="Google Shape;7398;p102"/>
                  <p:cNvPicPr preferRelativeResize="0"/>
                  <p:nvPr/>
                </p:nvPicPr>
                <p:blipFill rotWithShape="1">
                  <a:blip r:embed="rId13">
                    <a:alphaModFix/>
                  </a:blip>
                  <a:srcRect b="0" l="0" r="0" t="0"/>
                  <a:stretch/>
                </p:blipFill>
                <p:spPr>
                  <a:xfrm>
                    <a:off x="5385676" y="2711455"/>
                    <a:ext cx="247152" cy="405518"/>
                  </a:xfrm>
                  <a:prstGeom prst="rect">
                    <a:avLst/>
                  </a:prstGeom>
                  <a:noFill/>
                  <a:ln>
                    <a:noFill/>
                  </a:ln>
                </p:spPr>
              </p:pic>
            </p:grpSp>
          </p:grpSp>
          <p:pic>
            <p:nvPicPr>
              <p:cNvPr descr="A close up of a logo&#10;&#10;Description automatically generated" id="7399" name="Google Shape;7399;p102"/>
              <p:cNvPicPr preferRelativeResize="0"/>
              <p:nvPr/>
            </p:nvPicPr>
            <p:blipFill rotWithShape="1">
              <a:blip r:embed="rId10">
                <a:alphaModFix/>
              </a:blip>
              <a:srcRect b="0" l="0" r="0" t="0"/>
              <a:stretch/>
            </p:blipFill>
            <p:spPr>
              <a:xfrm>
                <a:off x="8253126" y="-932295"/>
                <a:ext cx="797421" cy="779895"/>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65"/>
                                        </p:tgtEl>
                                        <p:attrNameLst>
                                          <p:attrName>style.visibility</p:attrName>
                                        </p:attrNameLst>
                                      </p:cBhvr>
                                      <p:to>
                                        <p:strVal val="visible"/>
                                      </p:to>
                                    </p:set>
                                    <p:animEffect filter="fade" transition="in">
                                      <p:cBhvr>
                                        <p:cTn dur="500"/>
                                        <p:tgtEl>
                                          <p:spTgt spid="6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90"/>
                                        </p:tgtEl>
                                        <p:attrNameLst>
                                          <p:attrName>style.visibility</p:attrName>
                                        </p:attrNameLst>
                                      </p:cBhvr>
                                      <p:to>
                                        <p:strVal val="visible"/>
                                      </p:to>
                                    </p:set>
                                    <p:animEffect filter="fade" transition="in">
                                      <p:cBhvr>
                                        <p:cTn dur="500"/>
                                        <p:tgtEl>
                                          <p:spTgt spid="69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7"/>
                                        </p:tgtEl>
                                        <p:attrNameLst>
                                          <p:attrName>style.visibility</p:attrName>
                                        </p:attrNameLst>
                                      </p:cBhvr>
                                      <p:to>
                                        <p:strVal val="visible"/>
                                      </p:to>
                                    </p:set>
                                    <p:animEffect filter="fade" transition="in">
                                      <p:cBhvr>
                                        <p:cTn dur="500"/>
                                        <p:tgtEl>
                                          <p:spTgt spid="7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0"/>
                                        </p:tgtEl>
                                        <p:attrNameLst>
                                          <p:attrName>style.visibility</p:attrName>
                                        </p:attrNameLst>
                                      </p:cBhvr>
                                      <p:to>
                                        <p:strVal val="visible"/>
                                      </p:to>
                                    </p:set>
                                    <p:animEffect filter="fade" transition="in">
                                      <p:cBhvr>
                                        <p:cTn dur="500"/>
                                        <p:tgtEl>
                                          <p:spTgt spid="7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1"/>
                                        </p:tgtEl>
                                        <p:attrNameLst>
                                          <p:attrName>style.visibility</p:attrName>
                                        </p:attrNameLst>
                                      </p:cBhvr>
                                      <p:to>
                                        <p:strVal val="visible"/>
                                      </p:to>
                                    </p:set>
                                    <p:animEffect filter="fade" transition="in">
                                      <p:cBhvr>
                                        <p:cTn dur="500"/>
                                        <p:tgtEl>
                                          <p:spTgt spid="7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3" name="Shape 7403"/>
        <p:cNvGrpSpPr/>
        <p:nvPr/>
      </p:nvGrpSpPr>
      <p:grpSpPr>
        <a:xfrm>
          <a:off x="0" y="0"/>
          <a:ext cx="0" cy="0"/>
          <a:chOff x="0" y="0"/>
          <a:chExt cx="0" cy="0"/>
        </a:xfrm>
      </p:grpSpPr>
      <p:sp>
        <p:nvSpPr>
          <p:cNvPr id="7404" name="Google Shape;7404;p103"/>
          <p:cNvSpPr txBox="1"/>
          <p:nvPr>
            <p:ph idx="1" type="body"/>
          </p:nvPr>
        </p:nvSpPr>
        <p:spPr>
          <a:xfrm>
            <a:off x="943897" y="4660822"/>
            <a:ext cx="10220632" cy="1798638"/>
          </a:xfrm>
          <a:prstGeom prst="rect">
            <a:avLst/>
          </a:prstGeom>
          <a:noFill/>
          <a:ln>
            <a:noFill/>
          </a:ln>
        </p:spPr>
        <p:txBody>
          <a:bodyPr anchorCtr="0" anchor="t" bIns="45700" lIns="91425" spcFirstLastPara="1" rIns="91425" wrap="square" tIns="45700">
            <a:normAutofit/>
          </a:bodyPr>
          <a:lstStyle/>
          <a:p>
            <a:pPr indent="-393699" lvl="0" marL="407988" rtl="0" algn="l">
              <a:lnSpc>
                <a:spcPct val="90000"/>
              </a:lnSpc>
              <a:spcBef>
                <a:spcPts val="0"/>
              </a:spcBef>
              <a:spcAft>
                <a:spcPts val="0"/>
              </a:spcAft>
              <a:buSzPts val="2800"/>
              <a:buNone/>
            </a:pPr>
            <a:r>
              <a:rPr i="1" lang="en-US">
                <a:solidFill>
                  <a:srgbClr val="CC0000"/>
                </a:solidFill>
              </a:rPr>
              <a:t>Question: </a:t>
            </a:r>
            <a:r>
              <a:rPr lang="en-US"/>
              <a:t>how are forwarding tables (destination-based forwarding) or flow tables (generalized forwarding) computed?</a:t>
            </a:r>
            <a:endParaRPr/>
          </a:p>
          <a:p>
            <a:pPr indent="0" lvl="0" marL="0" rtl="0" algn="l">
              <a:lnSpc>
                <a:spcPct val="90000"/>
              </a:lnSpc>
              <a:spcBef>
                <a:spcPts val="1000"/>
              </a:spcBef>
              <a:spcAft>
                <a:spcPts val="0"/>
              </a:spcAft>
              <a:buSzPts val="2800"/>
              <a:buNone/>
            </a:pPr>
            <a:r>
              <a:rPr i="1" lang="en-US">
                <a:solidFill>
                  <a:srgbClr val="CC0000"/>
                </a:solidFill>
              </a:rPr>
              <a:t>Answer: </a:t>
            </a:r>
            <a:r>
              <a:rPr lang="en-US"/>
              <a:t>by the control plane (next chapter)</a:t>
            </a:r>
            <a:endParaRPr/>
          </a:p>
        </p:txBody>
      </p:sp>
      <p:sp>
        <p:nvSpPr>
          <p:cNvPr id="7405" name="Google Shape;7405;p10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4: done!</a:t>
            </a:r>
            <a:endParaRPr/>
          </a:p>
        </p:txBody>
      </p:sp>
      <p:pic>
        <p:nvPicPr>
          <p:cNvPr descr="A train crossing a bridge over a body of water&#10;&#10;Description automatically generated" id="7406" name="Google Shape;7406;p103"/>
          <p:cNvPicPr preferRelativeResize="0"/>
          <p:nvPr/>
        </p:nvPicPr>
        <p:blipFill rotWithShape="1">
          <a:blip r:embed="rId3">
            <a:alphaModFix/>
          </a:blip>
          <a:srcRect b="0" l="0" r="0" t="0"/>
          <a:stretch/>
        </p:blipFill>
        <p:spPr>
          <a:xfrm>
            <a:off x="7720321" y="1098976"/>
            <a:ext cx="3102316" cy="2326737"/>
          </a:xfrm>
          <a:prstGeom prst="rect">
            <a:avLst/>
          </a:prstGeom>
          <a:noFill/>
          <a:ln>
            <a:noFill/>
          </a:ln>
        </p:spPr>
      </p:pic>
      <p:grpSp>
        <p:nvGrpSpPr>
          <p:cNvPr id="7407" name="Google Shape;7407;p103"/>
          <p:cNvGrpSpPr/>
          <p:nvPr/>
        </p:nvGrpSpPr>
        <p:grpSpPr>
          <a:xfrm>
            <a:off x="740443" y="1568091"/>
            <a:ext cx="6618109" cy="2679445"/>
            <a:chOff x="637204" y="2128530"/>
            <a:chExt cx="6618109" cy="2679445"/>
          </a:xfrm>
        </p:grpSpPr>
        <p:sp>
          <p:nvSpPr>
            <p:cNvPr id="7408" name="Google Shape;7408;p103"/>
            <p:cNvSpPr txBox="1"/>
            <p:nvPr/>
          </p:nvSpPr>
          <p:spPr>
            <a:xfrm>
              <a:off x="641095" y="3687365"/>
              <a:ext cx="5479486" cy="1120610"/>
            </a:xfrm>
            <a:prstGeom prst="rect">
              <a:avLst/>
            </a:prstGeom>
            <a:noFill/>
            <a:ln>
              <a:noFill/>
            </a:ln>
          </p:spPr>
          <p:txBody>
            <a:bodyPr anchorCtr="0" anchor="t" bIns="45700" lIns="91425" spcFirstLastPara="1" rIns="91425" wrap="square" tIns="45700">
              <a:norm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Generalized Forwarding, SDN</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Middleboxes</a:t>
              </a:r>
              <a:endParaRPr/>
            </a:p>
            <a:p>
              <a:pPr indent="-79375" lvl="1" marL="695325" marR="0" rtl="0" algn="l">
                <a:lnSpc>
                  <a:spcPct val="90000"/>
                </a:lnSpc>
                <a:spcBef>
                  <a:spcPts val="500"/>
                </a:spcBef>
                <a:spcAft>
                  <a:spcPts val="0"/>
                </a:spcAft>
                <a:buClr>
                  <a:srgbClr val="0000A8"/>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7409" name="Google Shape;7409;p103"/>
            <p:cNvSpPr txBox="1"/>
            <p:nvPr/>
          </p:nvSpPr>
          <p:spPr>
            <a:xfrm>
              <a:off x="637204" y="2128530"/>
              <a:ext cx="6618109" cy="1617559"/>
            </a:xfrm>
            <a:prstGeom prst="rect">
              <a:avLst/>
            </a:prstGeom>
            <a:noFill/>
            <a:ln>
              <a:noFill/>
            </a:ln>
          </p:spPr>
          <p:txBody>
            <a:bodyPr anchorCtr="0" anchor="t" bIns="45700" lIns="91425" spcFirstLastPara="1" rIns="91425" wrap="square" tIns="45700">
              <a:noAutofit/>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Network layer: overview</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What’s inside a router</a:t>
              </a:r>
              <a:endParaRPr/>
            </a:p>
            <a:p>
              <a:pPr indent="-277813" lvl="0" marL="407988" marR="0" rtl="0" algn="l">
                <a:lnSpc>
                  <a:spcPct val="90000"/>
                </a:lnSpc>
                <a:spcBef>
                  <a:spcPts val="6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IP: the Internet Protocol</a:t>
              </a:r>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4" name="Shape 7414"/>
        <p:cNvGrpSpPr/>
        <p:nvPr/>
      </p:nvGrpSpPr>
      <p:grpSpPr>
        <a:xfrm>
          <a:off x="0" y="0"/>
          <a:ext cx="0" cy="0"/>
          <a:chOff x="0" y="0"/>
          <a:chExt cx="0" cy="0"/>
        </a:xfrm>
      </p:grpSpPr>
      <p:sp>
        <p:nvSpPr>
          <p:cNvPr id="7415" name="Google Shape;7415;p104"/>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4 slides</a:t>
            </a:r>
            <a:endParaRPr sz="4400"/>
          </a:p>
        </p:txBody>
      </p:sp>
      <p:sp>
        <p:nvSpPr>
          <p:cNvPr id="7416" name="Google Shape;7416;p10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1" name="Shape 7421"/>
        <p:cNvGrpSpPr/>
        <p:nvPr/>
      </p:nvGrpSpPr>
      <p:grpSpPr>
        <a:xfrm>
          <a:off x="0" y="0"/>
          <a:ext cx="0" cy="0"/>
          <a:chOff x="0" y="0"/>
          <a:chExt cx="0" cy="0"/>
        </a:xfrm>
      </p:grpSpPr>
      <p:sp>
        <p:nvSpPr>
          <p:cNvPr id="7422" name="Google Shape;7422;p105"/>
          <p:cNvSpPr txBox="1"/>
          <p:nvPr>
            <p:ph idx="1" type="body"/>
          </p:nvPr>
        </p:nvSpPr>
        <p:spPr>
          <a:xfrm>
            <a:off x="722890" y="1409075"/>
            <a:ext cx="5557988" cy="520158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network links have MTU (max. transfer size) - largest possible link-level frame</a:t>
            </a:r>
            <a:endParaRPr/>
          </a:p>
          <a:p>
            <a:pPr indent="-231775" lvl="1" marL="695325" rtl="0" algn="l">
              <a:lnSpc>
                <a:spcPct val="90000"/>
              </a:lnSpc>
              <a:spcBef>
                <a:spcPts val="500"/>
              </a:spcBef>
              <a:spcAft>
                <a:spcPts val="0"/>
              </a:spcAft>
              <a:buSzPts val="2400"/>
              <a:buChar char="•"/>
            </a:pPr>
            <a:r>
              <a:rPr lang="en-US"/>
              <a:t>different link types, different MTUs </a:t>
            </a:r>
            <a:endParaRPr/>
          </a:p>
          <a:p>
            <a:pPr indent="-222250" lvl="0" marL="352425" rtl="0" algn="l">
              <a:lnSpc>
                <a:spcPct val="90000"/>
              </a:lnSpc>
              <a:spcBef>
                <a:spcPts val="1000"/>
              </a:spcBef>
              <a:spcAft>
                <a:spcPts val="0"/>
              </a:spcAft>
              <a:buSzPts val="2800"/>
              <a:buChar char="▪"/>
            </a:pPr>
            <a:r>
              <a:rPr lang="en-US"/>
              <a:t>large IP datagram divided (“fragmented”) within net</a:t>
            </a:r>
            <a:endParaRPr/>
          </a:p>
          <a:p>
            <a:pPr indent="-231775" lvl="1" marL="695325" rtl="0" algn="l">
              <a:lnSpc>
                <a:spcPct val="90000"/>
              </a:lnSpc>
              <a:spcBef>
                <a:spcPts val="500"/>
              </a:spcBef>
              <a:spcAft>
                <a:spcPts val="0"/>
              </a:spcAft>
              <a:buSzPts val="2400"/>
              <a:buChar char="•"/>
            </a:pPr>
            <a:r>
              <a:rPr lang="en-US"/>
              <a:t>one datagram becomes several datagrams</a:t>
            </a:r>
            <a:endParaRPr/>
          </a:p>
          <a:p>
            <a:pPr indent="-231775" lvl="1" marL="695325" rtl="0" algn="l">
              <a:lnSpc>
                <a:spcPct val="90000"/>
              </a:lnSpc>
              <a:spcBef>
                <a:spcPts val="500"/>
              </a:spcBef>
              <a:spcAft>
                <a:spcPts val="0"/>
              </a:spcAft>
              <a:buSzPts val="2400"/>
              <a:buChar char="•"/>
            </a:pPr>
            <a:r>
              <a:rPr lang="en-US"/>
              <a:t>“reassembled” only at </a:t>
            </a:r>
            <a:r>
              <a:rPr i="1" lang="en-US"/>
              <a:t>destination</a:t>
            </a:r>
            <a:endParaRPr/>
          </a:p>
          <a:p>
            <a:pPr indent="-231775" lvl="1" marL="695325" rtl="0" algn="l">
              <a:lnSpc>
                <a:spcPct val="90000"/>
              </a:lnSpc>
              <a:spcBef>
                <a:spcPts val="500"/>
              </a:spcBef>
              <a:spcAft>
                <a:spcPts val="0"/>
              </a:spcAft>
              <a:buSzPts val="2400"/>
              <a:buChar char="•"/>
            </a:pPr>
            <a:r>
              <a:rPr lang="en-US"/>
              <a:t>IP header bits used to identify, order related fragments</a:t>
            </a:r>
            <a:endParaRPr/>
          </a:p>
        </p:txBody>
      </p:sp>
      <p:sp>
        <p:nvSpPr>
          <p:cNvPr id="7423" name="Google Shape;7423;p10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fragmentation/reassembly</a:t>
            </a:r>
            <a:endParaRPr/>
          </a:p>
        </p:txBody>
      </p:sp>
      <p:sp>
        <p:nvSpPr>
          <p:cNvPr id="7424" name="Google Shape;7424;p105"/>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7425" name="Google Shape;7425;p105"/>
          <p:cNvSpPr/>
          <p:nvPr/>
        </p:nvSpPr>
        <p:spPr>
          <a:xfrm>
            <a:off x="7707312" y="1493863"/>
            <a:ext cx="2436813" cy="2255838"/>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7426" name="Google Shape;7426;p105"/>
          <p:cNvSpPr/>
          <p:nvPr/>
        </p:nvSpPr>
        <p:spPr>
          <a:xfrm>
            <a:off x="7707312" y="3895751"/>
            <a:ext cx="1976438" cy="1987550"/>
          </a:xfrm>
          <a:custGeom>
            <a:rect b="b" l="l" r="r" t="t"/>
            <a:pathLst>
              <a:path extrusionOk="0" h="940" w="873">
                <a:moveTo>
                  <a:pt x="2" y="405"/>
                </a:moveTo>
                <a:cubicBezTo>
                  <a:pt x="17" y="290"/>
                  <a:pt x="138" y="129"/>
                  <a:pt x="230" y="65"/>
                </a:cubicBezTo>
                <a:cubicBezTo>
                  <a:pt x="322" y="1"/>
                  <a:pt x="460" y="0"/>
                  <a:pt x="555" y="22"/>
                </a:cubicBezTo>
                <a:cubicBezTo>
                  <a:pt x="650" y="44"/>
                  <a:pt x="748" y="143"/>
                  <a:pt x="800" y="197"/>
                </a:cubicBezTo>
                <a:cubicBezTo>
                  <a:pt x="852" y="251"/>
                  <a:pt x="859" y="292"/>
                  <a:pt x="866" y="347"/>
                </a:cubicBezTo>
                <a:cubicBezTo>
                  <a:pt x="873" y="402"/>
                  <a:pt x="855" y="457"/>
                  <a:pt x="842" y="527"/>
                </a:cubicBezTo>
                <a:cubicBezTo>
                  <a:pt x="829" y="597"/>
                  <a:pt x="827" y="714"/>
                  <a:pt x="788" y="767"/>
                </a:cubicBezTo>
                <a:cubicBezTo>
                  <a:pt x="749" y="820"/>
                  <a:pt x="670" y="819"/>
                  <a:pt x="608" y="845"/>
                </a:cubicBezTo>
                <a:cubicBezTo>
                  <a:pt x="546" y="871"/>
                  <a:pt x="496" y="940"/>
                  <a:pt x="418" y="925"/>
                </a:cubicBezTo>
                <a:cubicBezTo>
                  <a:pt x="340" y="910"/>
                  <a:pt x="208" y="840"/>
                  <a:pt x="139" y="754"/>
                </a:cubicBezTo>
                <a:cubicBezTo>
                  <a:pt x="69" y="667"/>
                  <a:pt x="0" y="546"/>
                  <a:pt x="2" y="405"/>
                </a:cubicBezTo>
                <a:close/>
              </a:path>
            </a:pathLst>
          </a:custGeom>
          <a:solidFill>
            <a:srgbClr val="9CE0F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cxnSp>
        <p:nvCxnSpPr>
          <p:cNvPr id="7427" name="Google Shape;7427;p105"/>
          <p:cNvCxnSpPr/>
          <p:nvPr/>
        </p:nvCxnSpPr>
        <p:spPr>
          <a:xfrm flipH="1" rot="10800000">
            <a:off x="7780337" y="2449538"/>
            <a:ext cx="127000" cy="3175"/>
          </a:xfrm>
          <a:prstGeom prst="straightConnector1">
            <a:avLst/>
          </a:prstGeom>
          <a:noFill/>
          <a:ln cap="flat" cmpd="sng" w="12700">
            <a:solidFill>
              <a:srgbClr val="000000"/>
            </a:solidFill>
            <a:prstDash val="solid"/>
            <a:round/>
            <a:headEnd len="med" w="med" type="none"/>
            <a:tailEnd len="med" w="med" type="none"/>
          </a:ln>
        </p:spPr>
      </p:cxnSp>
      <p:cxnSp>
        <p:nvCxnSpPr>
          <p:cNvPr id="7428" name="Google Shape;7428;p105"/>
          <p:cNvCxnSpPr/>
          <p:nvPr/>
        </p:nvCxnSpPr>
        <p:spPr>
          <a:xfrm>
            <a:off x="8356600" y="1774851"/>
            <a:ext cx="658812" cy="279400"/>
          </a:xfrm>
          <a:prstGeom prst="straightConnector1">
            <a:avLst/>
          </a:prstGeom>
          <a:noFill/>
          <a:ln cap="flat" cmpd="sng" w="12700">
            <a:solidFill>
              <a:srgbClr val="000000"/>
            </a:solidFill>
            <a:prstDash val="solid"/>
            <a:round/>
            <a:headEnd len="med" w="med" type="none"/>
            <a:tailEnd len="med" w="med" type="none"/>
          </a:ln>
        </p:spPr>
      </p:cxnSp>
      <p:cxnSp>
        <p:nvCxnSpPr>
          <p:cNvPr id="7429" name="Google Shape;7429;p105"/>
          <p:cNvCxnSpPr/>
          <p:nvPr/>
        </p:nvCxnSpPr>
        <p:spPr>
          <a:xfrm>
            <a:off x="9202737" y="2111401"/>
            <a:ext cx="196850" cy="669925"/>
          </a:xfrm>
          <a:prstGeom prst="straightConnector1">
            <a:avLst/>
          </a:prstGeom>
          <a:noFill/>
          <a:ln cap="flat" cmpd="sng" w="12700">
            <a:solidFill>
              <a:srgbClr val="000000"/>
            </a:solidFill>
            <a:prstDash val="solid"/>
            <a:round/>
            <a:headEnd len="med" w="med" type="none"/>
            <a:tailEnd len="med" w="med" type="none"/>
          </a:ln>
        </p:spPr>
      </p:cxnSp>
      <p:cxnSp>
        <p:nvCxnSpPr>
          <p:cNvPr id="7430" name="Google Shape;7430;p105"/>
          <p:cNvCxnSpPr/>
          <p:nvPr/>
        </p:nvCxnSpPr>
        <p:spPr>
          <a:xfrm>
            <a:off x="8105775" y="1887563"/>
            <a:ext cx="1587" cy="582613"/>
          </a:xfrm>
          <a:prstGeom prst="straightConnector1">
            <a:avLst/>
          </a:prstGeom>
          <a:noFill/>
          <a:ln cap="flat" cmpd="sng" w="12700">
            <a:solidFill>
              <a:srgbClr val="000000"/>
            </a:solidFill>
            <a:prstDash val="solid"/>
            <a:round/>
            <a:headEnd len="med" w="med" type="none"/>
            <a:tailEnd len="med" w="med" type="none"/>
          </a:ln>
        </p:spPr>
      </p:cxnSp>
      <p:cxnSp>
        <p:nvCxnSpPr>
          <p:cNvPr id="7431" name="Google Shape;7431;p105"/>
          <p:cNvCxnSpPr/>
          <p:nvPr/>
        </p:nvCxnSpPr>
        <p:spPr>
          <a:xfrm>
            <a:off x="8340725" y="2541613"/>
            <a:ext cx="971550" cy="401638"/>
          </a:xfrm>
          <a:prstGeom prst="straightConnector1">
            <a:avLst/>
          </a:prstGeom>
          <a:noFill/>
          <a:ln cap="flat" cmpd="sng" w="12700">
            <a:solidFill>
              <a:srgbClr val="000000"/>
            </a:solidFill>
            <a:prstDash val="solid"/>
            <a:round/>
            <a:headEnd len="med" w="med" type="none"/>
            <a:tailEnd len="med" w="med" type="none"/>
          </a:ln>
        </p:spPr>
      </p:cxnSp>
      <p:cxnSp>
        <p:nvCxnSpPr>
          <p:cNvPr id="7432" name="Google Shape;7432;p105"/>
          <p:cNvCxnSpPr/>
          <p:nvPr/>
        </p:nvCxnSpPr>
        <p:spPr>
          <a:xfrm rot="10800000">
            <a:off x="9613900" y="3071838"/>
            <a:ext cx="476250" cy="687388"/>
          </a:xfrm>
          <a:prstGeom prst="straightConnector1">
            <a:avLst/>
          </a:prstGeom>
          <a:noFill/>
          <a:ln cap="flat" cmpd="sng" w="12700">
            <a:solidFill>
              <a:srgbClr val="000000"/>
            </a:solidFill>
            <a:prstDash val="solid"/>
            <a:round/>
            <a:headEnd len="med" w="med" type="none"/>
            <a:tailEnd len="med" w="med" type="none"/>
          </a:ln>
        </p:spPr>
      </p:cxnSp>
      <p:cxnSp>
        <p:nvCxnSpPr>
          <p:cNvPr id="7433" name="Google Shape;7433;p105"/>
          <p:cNvCxnSpPr/>
          <p:nvPr/>
        </p:nvCxnSpPr>
        <p:spPr>
          <a:xfrm flipH="1">
            <a:off x="8364537" y="2079651"/>
            <a:ext cx="758825" cy="517525"/>
          </a:xfrm>
          <a:prstGeom prst="straightConnector1">
            <a:avLst/>
          </a:prstGeom>
          <a:noFill/>
          <a:ln cap="flat" cmpd="sng" w="12700">
            <a:solidFill>
              <a:srgbClr val="000000"/>
            </a:solidFill>
            <a:prstDash val="solid"/>
            <a:round/>
            <a:headEnd len="med" w="med" type="none"/>
            <a:tailEnd len="med" w="med" type="none"/>
          </a:ln>
        </p:spPr>
      </p:cxnSp>
      <p:cxnSp>
        <p:nvCxnSpPr>
          <p:cNvPr id="7434" name="Google Shape;7434;p105"/>
          <p:cNvCxnSpPr/>
          <p:nvPr/>
        </p:nvCxnSpPr>
        <p:spPr>
          <a:xfrm flipH="1">
            <a:off x="8374062" y="1519263"/>
            <a:ext cx="476250" cy="342900"/>
          </a:xfrm>
          <a:prstGeom prst="straightConnector1">
            <a:avLst/>
          </a:prstGeom>
          <a:noFill/>
          <a:ln cap="flat" cmpd="sng" w="12700">
            <a:solidFill>
              <a:srgbClr val="000000"/>
            </a:solidFill>
            <a:prstDash val="solid"/>
            <a:round/>
            <a:headEnd len="med" w="med" type="none"/>
            <a:tailEnd len="med" w="med" type="none"/>
          </a:ln>
        </p:spPr>
      </p:cxnSp>
      <p:cxnSp>
        <p:nvCxnSpPr>
          <p:cNvPr id="7435" name="Google Shape;7435;p105"/>
          <p:cNvCxnSpPr/>
          <p:nvPr/>
        </p:nvCxnSpPr>
        <p:spPr>
          <a:xfrm flipH="1">
            <a:off x="9091612" y="1695476"/>
            <a:ext cx="273050" cy="236537"/>
          </a:xfrm>
          <a:prstGeom prst="straightConnector1">
            <a:avLst/>
          </a:prstGeom>
          <a:noFill/>
          <a:ln cap="flat" cmpd="sng" w="12700">
            <a:solidFill>
              <a:srgbClr val="000000"/>
            </a:solidFill>
            <a:prstDash val="solid"/>
            <a:round/>
            <a:headEnd len="med" w="med" type="none"/>
            <a:tailEnd len="med" w="med" type="none"/>
          </a:ln>
        </p:spPr>
      </p:cxnSp>
      <p:cxnSp>
        <p:nvCxnSpPr>
          <p:cNvPr id="7436" name="Google Shape;7436;p105"/>
          <p:cNvCxnSpPr/>
          <p:nvPr/>
        </p:nvCxnSpPr>
        <p:spPr>
          <a:xfrm flipH="1">
            <a:off x="9508303" y="4069262"/>
            <a:ext cx="644816" cy="976332"/>
          </a:xfrm>
          <a:prstGeom prst="straightConnector1">
            <a:avLst/>
          </a:prstGeom>
          <a:noFill/>
          <a:ln cap="flat" cmpd="sng" w="12700">
            <a:solidFill>
              <a:srgbClr val="000000"/>
            </a:solidFill>
            <a:prstDash val="solid"/>
            <a:round/>
            <a:headEnd len="med" w="med" type="none"/>
            <a:tailEnd len="med" w="med" type="none"/>
          </a:ln>
        </p:spPr>
      </p:cxnSp>
      <p:grpSp>
        <p:nvGrpSpPr>
          <p:cNvPr id="7437" name="Google Shape;7437;p105"/>
          <p:cNvGrpSpPr/>
          <p:nvPr/>
        </p:nvGrpSpPr>
        <p:grpSpPr>
          <a:xfrm>
            <a:off x="8120159" y="2618770"/>
            <a:ext cx="1215928" cy="605468"/>
            <a:chOff x="3156" y="1735"/>
            <a:chExt cx="766" cy="381"/>
          </a:xfrm>
        </p:grpSpPr>
        <p:grpSp>
          <p:nvGrpSpPr>
            <p:cNvPr id="7438" name="Google Shape;7438;p105"/>
            <p:cNvGrpSpPr/>
            <p:nvPr/>
          </p:nvGrpSpPr>
          <p:grpSpPr>
            <a:xfrm rot="1433392">
              <a:off x="3150" y="1862"/>
              <a:ext cx="650" cy="108"/>
              <a:chOff x="4710" y="1742"/>
              <a:chExt cx="650" cy="108"/>
            </a:xfrm>
          </p:grpSpPr>
          <p:sp>
            <p:nvSpPr>
              <p:cNvPr id="7439" name="Google Shape;7439;p105"/>
              <p:cNvSpPr/>
              <p:nvPr/>
            </p:nvSpPr>
            <p:spPr>
              <a:xfrm>
                <a:off x="4712" y="1742"/>
                <a:ext cx="648"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0" name="Google Shape;7440;p105"/>
              <p:cNvSpPr/>
              <p:nvPr/>
            </p:nvSpPr>
            <p:spPr>
              <a:xfrm>
                <a:off x="4710" y="1742"/>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41" name="Google Shape;7441;p105"/>
            <p:cNvCxnSpPr/>
            <p:nvPr/>
          </p:nvCxnSpPr>
          <p:spPr>
            <a:xfrm>
              <a:off x="3784" y="2060"/>
              <a:ext cx="138" cy="56"/>
            </a:xfrm>
            <a:prstGeom prst="straightConnector1">
              <a:avLst/>
            </a:prstGeom>
            <a:noFill/>
            <a:ln cap="flat" cmpd="sng" w="9525">
              <a:solidFill>
                <a:srgbClr val="000000"/>
              </a:solidFill>
              <a:prstDash val="solid"/>
              <a:round/>
              <a:headEnd len="med" w="med" type="none"/>
              <a:tailEnd len="med" w="med" type="triangle"/>
            </a:ln>
          </p:spPr>
        </p:cxnSp>
      </p:grpSp>
      <p:sp>
        <p:nvSpPr>
          <p:cNvPr id="7442" name="Google Shape;7442;p105"/>
          <p:cNvSpPr txBox="1"/>
          <p:nvPr/>
        </p:nvSpPr>
        <p:spPr>
          <a:xfrm>
            <a:off x="9725025" y="2106638"/>
            <a:ext cx="246697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fragmentation:</a:t>
            </a:r>
            <a:r>
              <a:rPr b="0" i="0" lang="en-US" sz="16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99"/>
              </a:buClr>
              <a:buSzPts val="1600"/>
              <a:buFont typeface="Arial"/>
              <a:buNone/>
            </a:pPr>
            <a:r>
              <a:rPr b="1" i="1" lang="en-US" sz="1600" u="none" cap="none" strike="noStrike">
                <a:solidFill>
                  <a:srgbClr val="000099"/>
                </a:solidFill>
                <a:latin typeface="Arial"/>
                <a:ea typeface="Arial"/>
                <a:cs typeface="Arial"/>
                <a:sym typeface="Arial"/>
              </a:rPr>
              <a:t>in:</a:t>
            </a:r>
            <a:r>
              <a:rPr b="0" i="0" lang="en-US" sz="1600" u="none" cap="none" strike="noStrike">
                <a:solidFill>
                  <a:srgbClr val="000000"/>
                </a:solidFill>
                <a:latin typeface="Arial"/>
                <a:ea typeface="Arial"/>
                <a:cs typeface="Arial"/>
                <a:sym typeface="Arial"/>
              </a:rPr>
              <a:t> one large datagram</a:t>
            </a:r>
            <a:endParaRPr/>
          </a:p>
          <a:p>
            <a:pPr indent="0" lvl="0" marL="0" marR="0" rtl="0" algn="l">
              <a:lnSpc>
                <a:spcPct val="100000"/>
              </a:lnSpc>
              <a:spcBef>
                <a:spcPts val="0"/>
              </a:spcBef>
              <a:spcAft>
                <a:spcPts val="0"/>
              </a:spcAft>
              <a:buClr>
                <a:srgbClr val="000099"/>
              </a:buClr>
              <a:buSzPts val="1600"/>
              <a:buFont typeface="Arial"/>
              <a:buNone/>
            </a:pPr>
            <a:r>
              <a:rPr b="1" i="1" lang="en-US" sz="1600" u="none" cap="none" strike="noStrike">
                <a:solidFill>
                  <a:srgbClr val="000099"/>
                </a:solidFill>
                <a:latin typeface="Arial"/>
                <a:ea typeface="Arial"/>
                <a:cs typeface="Arial"/>
                <a:sym typeface="Arial"/>
              </a:rPr>
              <a:t>out:</a:t>
            </a:r>
            <a:r>
              <a:rPr b="0" i="0" lang="en-US" sz="1600" u="none" cap="none" strike="noStrike">
                <a:solidFill>
                  <a:srgbClr val="000000"/>
                </a:solidFill>
                <a:latin typeface="Arial"/>
                <a:ea typeface="Arial"/>
                <a:cs typeface="Arial"/>
                <a:sym typeface="Arial"/>
              </a:rPr>
              <a:t> 3 smaller datagrams</a:t>
            </a:r>
            <a:endParaRPr b="0" i="0" sz="1800" u="none" cap="none" strike="noStrike">
              <a:solidFill>
                <a:srgbClr val="000000"/>
              </a:solidFill>
              <a:latin typeface="Arial"/>
              <a:ea typeface="Arial"/>
              <a:cs typeface="Arial"/>
              <a:sym typeface="Arial"/>
            </a:endParaRPr>
          </a:p>
        </p:txBody>
      </p:sp>
      <p:cxnSp>
        <p:nvCxnSpPr>
          <p:cNvPr id="7443" name="Google Shape;7443;p105"/>
          <p:cNvCxnSpPr/>
          <p:nvPr/>
        </p:nvCxnSpPr>
        <p:spPr>
          <a:xfrm>
            <a:off x="8594725" y="5043513"/>
            <a:ext cx="287337" cy="3175"/>
          </a:xfrm>
          <a:prstGeom prst="straightConnector1">
            <a:avLst/>
          </a:prstGeom>
          <a:noFill/>
          <a:ln cap="flat" cmpd="sng" w="12700">
            <a:solidFill>
              <a:srgbClr val="000000"/>
            </a:solidFill>
            <a:prstDash val="solid"/>
            <a:round/>
            <a:headEnd len="med" w="med" type="none"/>
            <a:tailEnd len="med" w="med" type="none"/>
          </a:ln>
        </p:spPr>
      </p:cxnSp>
      <p:grpSp>
        <p:nvGrpSpPr>
          <p:cNvPr id="7444" name="Google Shape;7444;p105"/>
          <p:cNvGrpSpPr/>
          <p:nvPr/>
        </p:nvGrpSpPr>
        <p:grpSpPr>
          <a:xfrm>
            <a:off x="8511515" y="4216280"/>
            <a:ext cx="710930" cy="562242"/>
            <a:chOff x="3403" y="2741"/>
            <a:chExt cx="448" cy="354"/>
          </a:xfrm>
        </p:grpSpPr>
        <p:grpSp>
          <p:nvGrpSpPr>
            <p:cNvPr id="7445" name="Google Shape;7445;p105"/>
            <p:cNvGrpSpPr/>
            <p:nvPr/>
          </p:nvGrpSpPr>
          <p:grpSpPr>
            <a:xfrm rot="-10773343">
              <a:off x="3566" y="2742"/>
              <a:ext cx="280" cy="108"/>
              <a:chOff x="5080" y="1860"/>
              <a:chExt cx="280" cy="108"/>
            </a:xfrm>
          </p:grpSpPr>
          <p:sp>
            <p:nvSpPr>
              <p:cNvPr id="7446" name="Google Shape;7446;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7" name="Google Shape;7447;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48" name="Google Shape;7448;p105"/>
            <p:cNvGrpSpPr/>
            <p:nvPr/>
          </p:nvGrpSpPr>
          <p:grpSpPr>
            <a:xfrm rot="-10773343">
              <a:off x="3568" y="2864"/>
              <a:ext cx="280" cy="108"/>
              <a:chOff x="5080" y="1860"/>
              <a:chExt cx="280" cy="108"/>
            </a:xfrm>
          </p:grpSpPr>
          <p:sp>
            <p:nvSpPr>
              <p:cNvPr id="7449" name="Google Shape;7449;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0" name="Google Shape;7450;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51" name="Google Shape;7451;p105"/>
            <p:cNvGrpSpPr/>
            <p:nvPr/>
          </p:nvGrpSpPr>
          <p:grpSpPr>
            <a:xfrm rot="-10773343">
              <a:off x="3570" y="2986"/>
              <a:ext cx="280" cy="108"/>
              <a:chOff x="5080" y="1860"/>
              <a:chExt cx="280" cy="108"/>
            </a:xfrm>
          </p:grpSpPr>
          <p:sp>
            <p:nvSpPr>
              <p:cNvPr id="7452" name="Google Shape;7452;p105"/>
              <p:cNvSpPr/>
              <p:nvPr/>
            </p:nvSpPr>
            <p:spPr>
              <a:xfrm>
                <a:off x="5216"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3" name="Google Shape;7453;p105"/>
              <p:cNvSpPr/>
              <p:nvPr/>
            </p:nvSpPr>
            <p:spPr>
              <a:xfrm>
                <a:off x="5080"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54" name="Google Shape;7454;p105"/>
            <p:cNvCxnSpPr/>
            <p:nvPr/>
          </p:nvCxnSpPr>
          <p:spPr>
            <a:xfrm rot="9691848">
              <a:off x="3412" y="2778"/>
              <a:ext cx="138" cy="44"/>
            </a:xfrm>
            <a:prstGeom prst="straightConnector1">
              <a:avLst/>
            </a:prstGeom>
            <a:noFill/>
            <a:ln cap="flat" cmpd="sng" w="9525">
              <a:solidFill>
                <a:srgbClr val="000000"/>
              </a:solidFill>
              <a:prstDash val="solid"/>
              <a:round/>
              <a:headEnd len="med" w="med" type="none"/>
              <a:tailEnd len="med" w="med" type="triangle"/>
            </a:ln>
          </p:spPr>
        </p:cxnSp>
        <p:cxnSp>
          <p:nvCxnSpPr>
            <p:cNvPr id="7455" name="Google Shape;7455;p105"/>
            <p:cNvCxnSpPr/>
            <p:nvPr/>
          </p:nvCxnSpPr>
          <p:spPr>
            <a:xfrm rot="9691848">
              <a:off x="3406" y="2888"/>
              <a:ext cx="138" cy="44"/>
            </a:xfrm>
            <a:prstGeom prst="straightConnector1">
              <a:avLst/>
            </a:prstGeom>
            <a:noFill/>
            <a:ln cap="flat" cmpd="sng" w="9525">
              <a:solidFill>
                <a:srgbClr val="000000"/>
              </a:solidFill>
              <a:prstDash val="solid"/>
              <a:round/>
              <a:headEnd len="med" w="med" type="none"/>
              <a:tailEnd len="med" w="med" type="triangle"/>
            </a:ln>
          </p:spPr>
        </p:cxnSp>
        <p:cxnSp>
          <p:nvCxnSpPr>
            <p:cNvPr id="7456" name="Google Shape;7456;p105"/>
            <p:cNvCxnSpPr/>
            <p:nvPr/>
          </p:nvCxnSpPr>
          <p:spPr>
            <a:xfrm rot="9691848">
              <a:off x="3408" y="3018"/>
              <a:ext cx="138" cy="44"/>
            </a:xfrm>
            <a:prstGeom prst="straightConnector1">
              <a:avLst/>
            </a:prstGeom>
            <a:noFill/>
            <a:ln cap="flat" cmpd="sng" w="9525">
              <a:solidFill>
                <a:srgbClr val="000000"/>
              </a:solidFill>
              <a:prstDash val="solid"/>
              <a:round/>
              <a:headEnd len="med" w="med" type="none"/>
              <a:tailEnd len="med" w="med" type="triangle"/>
            </a:ln>
          </p:spPr>
        </p:cxnSp>
      </p:grpSp>
      <p:grpSp>
        <p:nvGrpSpPr>
          <p:cNvPr id="7457" name="Google Shape;7457;p105"/>
          <p:cNvGrpSpPr/>
          <p:nvPr/>
        </p:nvGrpSpPr>
        <p:grpSpPr>
          <a:xfrm>
            <a:off x="7392328" y="3737001"/>
            <a:ext cx="1400834" cy="491582"/>
            <a:chOff x="2698" y="2439"/>
            <a:chExt cx="882" cy="310"/>
          </a:xfrm>
        </p:grpSpPr>
        <p:grpSp>
          <p:nvGrpSpPr>
            <p:cNvPr id="7458" name="Google Shape;7458;p105"/>
            <p:cNvGrpSpPr/>
            <p:nvPr/>
          </p:nvGrpSpPr>
          <p:grpSpPr>
            <a:xfrm>
              <a:off x="2698" y="2636"/>
              <a:ext cx="810" cy="112"/>
              <a:chOff x="2537" y="2636"/>
              <a:chExt cx="810" cy="112"/>
            </a:xfrm>
          </p:grpSpPr>
          <p:grpSp>
            <p:nvGrpSpPr>
              <p:cNvPr id="7459" name="Google Shape;7459;p105"/>
              <p:cNvGrpSpPr/>
              <p:nvPr/>
            </p:nvGrpSpPr>
            <p:grpSpPr>
              <a:xfrm rot="10793026">
                <a:off x="2697" y="2637"/>
                <a:ext cx="649" cy="111"/>
                <a:chOff x="4712" y="1742"/>
                <a:chExt cx="648" cy="110"/>
              </a:xfrm>
            </p:grpSpPr>
            <p:sp>
              <p:nvSpPr>
                <p:cNvPr id="7460" name="Google Shape;7460;p105"/>
                <p:cNvSpPr/>
                <p:nvPr/>
              </p:nvSpPr>
              <p:spPr>
                <a:xfrm>
                  <a:off x="4712" y="1742"/>
                  <a:ext cx="648"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61" name="Google Shape;7461;p105"/>
                <p:cNvSpPr/>
                <p:nvPr/>
              </p:nvSpPr>
              <p:spPr>
                <a:xfrm>
                  <a:off x="4714" y="1744"/>
                  <a:ext cx="534"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462" name="Google Shape;7462;p105"/>
              <p:cNvCxnSpPr/>
              <p:nvPr/>
            </p:nvCxnSpPr>
            <p:spPr>
              <a:xfrm rot="9691848">
                <a:off x="2540" y="2666"/>
                <a:ext cx="138" cy="44"/>
              </a:xfrm>
              <a:prstGeom prst="straightConnector1">
                <a:avLst/>
              </a:prstGeom>
              <a:noFill/>
              <a:ln cap="flat" cmpd="sng" w="9525">
                <a:solidFill>
                  <a:srgbClr val="000000"/>
                </a:solidFill>
                <a:prstDash val="solid"/>
                <a:round/>
                <a:headEnd len="med" w="med" type="none"/>
                <a:tailEnd len="med" w="med" type="triangle"/>
              </a:ln>
            </p:spPr>
          </p:cxnSp>
        </p:grpSp>
        <p:sp>
          <p:nvSpPr>
            <p:cNvPr id="7463" name="Google Shape;7463;p105"/>
            <p:cNvSpPr txBox="1"/>
            <p:nvPr/>
          </p:nvSpPr>
          <p:spPr>
            <a:xfrm>
              <a:off x="2810" y="2439"/>
              <a:ext cx="770" cy="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reassembly</a:t>
              </a:r>
              <a:endParaRPr b="0" i="1" sz="1800" u="none" cap="none" strike="noStrike">
                <a:solidFill>
                  <a:srgbClr val="CC0000"/>
                </a:solidFill>
                <a:latin typeface="Arial"/>
                <a:ea typeface="Arial"/>
                <a:cs typeface="Arial"/>
                <a:sym typeface="Arial"/>
              </a:endParaRPr>
            </a:p>
          </p:txBody>
        </p:sp>
      </p:grpSp>
      <p:grpSp>
        <p:nvGrpSpPr>
          <p:cNvPr id="7464" name="Google Shape;7464;p105"/>
          <p:cNvGrpSpPr/>
          <p:nvPr/>
        </p:nvGrpSpPr>
        <p:grpSpPr>
          <a:xfrm>
            <a:off x="6959600" y="1573238"/>
            <a:ext cx="838200" cy="1720850"/>
            <a:chOff x="2345" y="1140"/>
            <a:chExt cx="528" cy="1084"/>
          </a:xfrm>
        </p:grpSpPr>
        <p:cxnSp>
          <p:nvCxnSpPr>
            <p:cNvPr id="7465" name="Google Shape;7465;p105"/>
            <p:cNvCxnSpPr/>
            <p:nvPr/>
          </p:nvCxnSpPr>
          <p:spPr>
            <a:xfrm flipH="1" rot="10800000">
              <a:off x="2811" y="1459"/>
              <a:ext cx="62" cy="5"/>
            </a:xfrm>
            <a:prstGeom prst="straightConnector1">
              <a:avLst/>
            </a:prstGeom>
            <a:noFill/>
            <a:ln cap="flat" cmpd="sng" w="19050">
              <a:solidFill>
                <a:srgbClr val="000000"/>
              </a:solidFill>
              <a:prstDash val="solid"/>
              <a:round/>
              <a:headEnd len="med" w="med" type="none"/>
              <a:tailEnd len="med" w="med" type="none"/>
            </a:ln>
          </p:spPr>
        </p:cxnSp>
        <p:cxnSp>
          <p:nvCxnSpPr>
            <p:cNvPr id="7466" name="Google Shape;7466;p105"/>
            <p:cNvCxnSpPr/>
            <p:nvPr/>
          </p:nvCxnSpPr>
          <p:spPr>
            <a:xfrm flipH="1" rot="10800000">
              <a:off x="2811" y="1967"/>
              <a:ext cx="62" cy="2"/>
            </a:xfrm>
            <a:prstGeom prst="straightConnector1">
              <a:avLst/>
            </a:prstGeom>
            <a:noFill/>
            <a:ln cap="flat" cmpd="sng" w="19050">
              <a:solidFill>
                <a:srgbClr val="000000"/>
              </a:solidFill>
              <a:prstDash val="solid"/>
              <a:round/>
              <a:headEnd len="med" w="med" type="none"/>
              <a:tailEnd len="med" w="med" type="none"/>
            </a:ln>
          </p:spPr>
        </p:cxnSp>
        <p:cxnSp>
          <p:nvCxnSpPr>
            <p:cNvPr id="7467" name="Google Shape;7467;p105"/>
            <p:cNvCxnSpPr/>
            <p:nvPr/>
          </p:nvCxnSpPr>
          <p:spPr>
            <a:xfrm>
              <a:off x="2868" y="1456"/>
              <a:ext cx="0" cy="510"/>
            </a:xfrm>
            <a:prstGeom prst="straightConnector1">
              <a:avLst/>
            </a:prstGeom>
            <a:noFill/>
            <a:ln cap="flat" cmpd="sng" w="12700">
              <a:solidFill>
                <a:srgbClr val="000000"/>
              </a:solidFill>
              <a:prstDash val="solid"/>
              <a:round/>
              <a:headEnd len="med" w="med" type="none"/>
              <a:tailEnd len="med" w="med" type="none"/>
            </a:ln>
          </p:spPr>
        </p:cxnSp>
        <p:grpSp>
          <p:nvGrpSpPr>
            <p:cNvPr id="7468" name="Google Shape;7468;p105"/>
            <p:cNvGrpSpPr/>
            <p:nvPr/>
          </p:nvGrpSpPr>
          <p:grpSpPr>
            <a:xfrm>
              <a:off x="2345" y="1140"/>
              <a:ext cx="503" cy="444"/>
              <a:chOff x="-44" y="1473"/>
              <a:chExt cx="981" cy="1105"/>
            </a:xfrm>
          </p:grpSpPr>
          <p:pic>
            <p:nvPicPr>
              <p:cNvPr descr="desktop_computer_stylized_medium" id="7469" name="Google Shape;7469;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70" name="Google Shape;7470;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7471" name="Google Shape;7471;p105"/>
            <p:cNvSpPr txBox="1"/>
            <p:nvPr/>
          </p:nvSpPr>
          <p:spPr>
            <a:xfrm rot="5400000">
              <a:off x="2526" y="1509"/>
              <a:ext cx="340"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endParaRPr/>
            </a:p>
          </p:txBody>
        </p:sp>
        <p:grpSp>
          <p:nvGrpSpPr>
            <p:cNvPr id="7472" name="Google Shape;7472;p105"/>
            <p:cNvGrpSpPr/>
            <p:nvPr/>
          </p:nvGrpSpPr>
          <p:grpSpPr>
            <a:xfrm>
              <a:off x="2357" y="1780"/>
              <a:ext cx="503" cy="444"/>
              <a:chOff x="-44" y="1473"/>
              <a:chExt cx="981" cy="1105"/>
            </a:xfrm>
          </p:grpSpPr>
          <p:pic>
            <p:nvPicPr>
              <p:cNvPr descr="desktop_computer_stylized_medium" id="7473" name="Google Shape;7473;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74" name="Google Shape;7474;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7475" name="Google Shape;7475;p105"/>
          <p:cNvGrpSpPr/>
          <p:nvPr/>
        </p:nvGrpSpPr>
        <p:grpSpPr>
          <a:xfrm>
            <a:off x="7862887" y="4265638"/>
            <a:ext cx="738188" cy="1385888"/>
            <a:chOff x="2345" y="1140"/>
            <a:chExt cx="528" cy="1084"/>
          </a:xfrm>
        </p:grpSpPr>
        <p:cxnSp>
          <p:nvCxnSpPr>
            <p:cNvPr id="7476" name="Google Shape;7476;p105"/>
            <p:cNvCxnSpPr/>
            <p:nvPr/>
          </p:nvCxnSpPr>
          <p:spPr>
            <a:xfrm flipH="1" rot="10800000">
              <a:off x="2811" y="1459"/>
              <a:ext cx="62" cy="5"/>
            </a:xfrm>
            <a:prstGeom prst="straightConnector1">
              <a:avLst/>
            </a:prstGeom>
            <a:noFill/>
            <a:ln cap="flat" cmpd="sng" w="19050">
              <a:solidFill>
                <a:srgbClr val="000000"/>
              </a:solidFill>
              <a:prstDash val="solid"/>
              <a:round/>
              <a:headEnd len="med" w="med" type="none"/>
              <a:tailEnd len="med" w="med" type="none"/>
            </a:ln>
          </p:spPr>
        </p:cxnSp>
        <p:cxnSp>
          <p:nvCxnSpPr>
            <p:cNvPr id="7477" name="Google Shape;7477;p105"/>
            <p:cNvCxnSpPr/>
            <p:nvPr/>
          </p:nvCxnSpPr>
          <p:spPr>
            <a:xfrm flipH="1" rot="10800000">
              <a:off x="2811" y="1967"/>
              <a:ext cx="62" cy="2"/>
            </a:xfrm>
            <a:prstGeom prst="straightConnector1">
              <a:avLst/>
            </a:prstGeom>
            <a:noFill/>
            <a:ln cap="flat" cmpd="sng" w="19050">
              <a:solidFill>
                <a:srgbClr val="000000"/>
              </a:solidFill>
              <a:prstDash val="solid"/>
              <a:round/>
              <a:headEnd len="med" w="med" type="none"/>
              <a:tailEnd len="med" w="med" type="none"/>
            </a:ln>
          </p:spPr>
        </p:cxnSp>
        <p:cxnSp>
          <p:nvCxnSpPr>
            <p:cNvPr id="7478" name="Google Shape;7478;p105"/>
            <p:cNvCxnSpPr/>
            <p:nvPr/>
          </p:nvCxnSpPr>
          <p:spPr>
            <a:xfrm>
              <a:off x="2868" y="1455"/>
              <a:ext cx="0" cy="509"/>
            </a:xfrm>
            <a:prstGeom prst="straightConnector1">
              <a:avLst/>
            </a:prstGeom>
            <a:noFill/>
            <a:ln cap="flat" cmpd="sng" w="12700">
              <a:solidFill>
                <a:srgbClr val="000000"/>
              </a:solidFill>
              <a:prstDash val="solid"/>
              <a:round/>
              <a:headEnd len="med" w="med" type="none"/>
              <a:tailEnd len="med" w="med" type="none"/>
            </a:ln>
          </p:spPr>
        </p:cxnSp>
        <p:grpSp>
          <p:nvGrpSpPr>
            <p:cNvPr id="7479" name="Google Shape;7479;p105"/>
            <p:cNvGrpSpPr/>
            <p:nvPr/>
          </p:nvGrpSpPr>
          <p:grpSpPr>
            <a:xfrm>
              <a:off x="2345" y="1140"/>
              <a:ext cx="503" cy="444"/>
              <a:chOff x="-44" y="1473"/>
              <a:chExt cx="981" cy="1105"/>
            </a:xfrm>
          </p:grpSpPr>
          <p:pic>
            <p:nvPicPr>
              <p:cNvPr descr="desktop_computer_stylized_medium" id="7480" name="Google Shape;7480;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81" name="Google Shape;7481;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7482" name="Google Shape;7482;p105"/>
            <p:cNvSpPr txBox="1"/>
            <p:nvPr/>
          </p:nvSpPr>
          <p:spPr>
            <a:xfrm rot="5400000">
              <a:off x="2463" y="1529"/>
              <a:ext cx="422" cy="3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endParaRPr/>
            </a:p>
          </p:txBody>
        </p:sp>
        <p:grpSp>
          <p:nvGrpSpPr>
            <p:cNvPr id="7483" name="Google Shape;7483;p105"/>
            <p:cNvGrpSpPr/>
            <p:nvPr/>
          </p:nvGrpSpPr>
          <p:grpSpPr>
            <a:xfrm>
              <a:off x="2357" y="1780"/>
              <a:ext cx="503" cy="444"/>
              <a:chOff x="-44" y="1473"/>
              <a:chExt cx="981" cy="1105"/>
            </a:xfrm>
          </p:grpSpPr>
          <p:pic>
            <p:nvPicPr>
              <p:cNvPr descr="desktop_computer_stylized_medium" id="7484" name="Google Shape;7484;p10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7485" name="Google Shape;7485;p10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grpSp>
        <p:nvGrpSpPr>
          <p:cNvPr id="7486" name="Google Shape;7486;p105"/>
          <p:cNvGrpSpPr/>
          <p:nvPr/>
        </p:nvGrpSpPr>
        <p:grpSpPr>
          <a:xfrm>
            <a:off x="7884408" y="1659012"/>
            <a:ext cx="632991" cy="300938"/>
            <a:chOff x="7493876" y="2774731"/>
            <a:chExt cx="1481958" cy="894622"/>
          </a:xfrm>
        </p:grpSpPr>
        <p:sp>
          <p:nvSpPr>
            <p:cNvPr id="7487" name="Google Shape;7487;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88" name="Google Shape;7488;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89" name="Google Shape;7489;p105"/>
            <p:cNvGrpSpPr/>
            <p:nvPr/>
          </p:nvGrpSpPr>
          <p:grpSpPr>
            <a:xfrm>
              <a:off x="7713663" y="2848339"/>
              <a:ext cx="1042107" cy="425543"/>
              <a:chOff x="7786941" y="2884917"/>
              <a:chExt cx="897649" cy="353919"/>
            </a:xfrm>
          </p:grpSpPr>
          <p:sp>
            <p:nvSpPr>
              <p:cNvPr id="7490" name="Google Shape;7490;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1" name="Google Shape;7491;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2" name="Google Shape;7492;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3" name="Google Shape;7493;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494" name="Google Shape;7494;p105"/>
          <p:cNvGrpSpPr/>
          <p:nvPr/>
        </p:nvGrpSpPr>
        <p:grpSpPr>
          <a:xfrm>
            <a:off x="7880158" y="2314150"/>
            <a:ext cx="632991" cy="300938"/>
            <a:chOff x="7493876" y="2774731"/>
            <a:chExt cx="1481958" cy="894622"/>
          </a:xfrm>
        </p:grpSpPr>
        <p:sp>
          <p:nvSpPr>
            <p:cNvPr id="7495" name="Google Shape;7495;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496" name="Google Shape;7496;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497" name="Google Shape;7497;p105"/>
            <p:cNvGrpSpPr/>
            <p:nvPr/>
          </p:nvGrpSpPr>
          <p:grpSpPr>
            <a:xfrm>
              <a:off x="7713663" y="2848339"/>
              <a:ext cx="1042107" cy="425543"/>
              <a:chOff x="7786941" y="2884917"/>
              <a:chExt cx="897649" cy="353919"/>
            </a:xfrm>
          </p:grpSpPr>
          <p:sp>
            <p:nvSpPr>
              <p:cNvPr id="7498" name="Google Shape;7498;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99" name="Google Shape;7499;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0" name="Google Shape;7500;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1" name="Google Shape;7501;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02" name="Google Shape;7502;p105"/>
          <p:cNvGrpSpPr/>
          <p:nvPr/>
        </p:nvGrpSpPr>
        <p:grpSpPr>
          <a:xfrm>
            <a:off x="8793951" y="1869094"/>
            <a:ext cx="632991" cy="300938"/>
            <a:chOff x="7493876" y="2774731"/>
            <a:chExt cx="1481958" cy="894622"/>
          </a:xfrm>
        </p:grpSpPr>
        <p:sp>
          <p:nvSpPr>
            <p:cNvPr id="7503" name="Google Shape;7503;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04" name="Google Shape;7504;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05" name="Google Shape;7505;p105"/>
            <p:cNvGrpSpPr/>
            <p:nvPr/>
          </p:nvGrpSpPr>
          <p:grpSpPr>
            <a:xfrm>
              <a:off x="7713663" y="2848339"/>
              <a:ext cx="1042107" cy="425543"/>
              <a:chOff x="7786941" y="2884917"/>
              <a:chExt cx="897649" cy="353919"/>
            </a:xfrm>
          </p:grpSpPr>
          <p:sp>
            <p:nvSpPr>
              <p:cNvPr id="7506" name="Google Shape;7506;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7" name="Google Shape;7507;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8" name="Google Shape;7508;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09" name="Google Shape;7509;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10" name="Google Shape;7510;p105"/>
          <p:cNvGrpSpPr/>
          <p:nvPr/>
        </p:nvGrpSpPr>
        <p:grpSpPr>
          <a:xfrm>
            <a:off x="9121216" y="2764672"/>
            <a:ext cx="632991" cy="300938"/>
            <a:chOff x="7493876" y="2774731"/>
            <a:chExt cx="1481958" cy="894622"/>
          </a:xfrm>
        </p:grpSpPr>
        <p:sp>
          <p:nvSpPr>
            <p:cNvPr id="7511" name="Google Shape;7511;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12" name="Google Shape;7512;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13" name="Google Shape;7513;p105"/>
            <p:cNvGrpSpPr/>
            <p:nvPr/>
          </p:nvGrpSpPr>
          <p:grpSpPr>
            <a:xfrm>
              <a:off x="7713663" y="2848339"/>
              <a:ext cx="1042107" cy="425543"/>
              <a:chOff x="7786941" y="2884917"/>
              <a:chExt cx="897649" cy="353919"/>
            </a:xfrm>
          </p:grpSpPr>
          <p:sp>
            <p:nvSpPr>
              <p:cNvPr id="7514" name="Google Shape;7514;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5" name="Google Shape;7515;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6" name="Google Shape;7516;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17" name="Google Shape;7517;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18" name="Google Shape;7518;p105"/>
          <p:cNvGrpSpPr/>
          <p:nvPr/>
        </p:nvGrpSpPr>
        <p:grpSpPr>
          <a:xfrm>
            <a:off x="9419001" y="2959190"/>
            <a:ext cx="1145811" cy="811148"/>
            <a:chOff x="3974" y="1949"/>
            <a:chExt cx="722" cy="511"/>
          </a:xfrm>
        </p:grpSpPr>
        <p:grpSp>
          <p:nvGrpSpPr>
            <p:cNvPr id="7519" name="Google Shape;7519;p105"/>
            <p:cNvGrpSpPr/>
            <p:nvPr/>
          </p:nvGrpSpPr>
          <p:grpSpPr>
            <a:xfrm rot="3346875">
              <a:off x="3958" y="2041"/>
              <a:ext cx="281" cy="109"/>
              <a:chOff x="5078" y="1860"/>
              <a:chExt cx="281" cy="109"/>
            </a:xfrm>
          </p:grpSpPr>
          <p:sp>
            <p:nvSpPr>
              <p:cNvPr id="7520" name="Google Shape;7520;p105"/>
              <p:cNvSpPr/>
              <p:nvPr/>
            </p:nvSpPr>
            <p:spPr>
              <a:xfrm>
                <a:off x="5215" y="1861"/>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1" name="Google Shape;7521;p105"/>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22" name="Google Shape;7522;p105"/>
            <p:cNvGrpSpPr/>
            <p:nvPr/>
          </p:nvGrpSpPr>
          <p:grpSpPr>
            <a:xfrm rot="3215306">
              <a:off x="4157" y="2106"/>
              <a:ext cx="282" cy="108"/>
              <a:chOff x="5076" y="1860"/>
              <a:chExt cx="282" cy="108"/>
            </a:xfrm>
          </p:grpSpPr>
          <p:sp>
            <p:nvSpPr>
              <p:cNvPr id="7523" name="Google Shape;7523;p105"/>
              <p:cNvSpPr/>
              <p:nvPr/>
            </p:nvSpPr>
            <p:spPr>
              <a:xfrm>
                <a:off x="5214"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4" name="Google Shape;7524;p105"/>
              <p:cNvSpPr/>
              <p:nvPr/>
            </p:nvSpPr>
            <p:spPr>
              <a:xfrm>
                <a:off x="5076"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25" name="Google Shape;7525;p105"/>
            <p:cNvGrpSpPr/>
            <p:nvPr/>
          </p:nvGrpSpPr>
          <p:grpSpPr>
            <a:xfrm rot="3051000">
              <a:off x="4380" y="2183"/>
              <a:ext cx="280" cy="108"/>
              <a:chOff x="5078" y="1860"/>
              <a:chExt cx="280" cy="108"/>
            </a:xfrm>
          </p:grpSpPr>
          <p:sp>
            <p:nvSpPr>
              <p:cNvPr id="7526" name="Google Shape;7526;p105"/>
              <p:cNvSpPr/>
              <p:nvPr/>
            </p:nvSpPr>
            <p:spPr>
              <a:xfrm>
                <a:off x="5214" y="1860"/>
                <a:ext cx="144" cy="108"/>
              </a:xfrm>
              <a:prstGeom prst="rect">
                <a:avLst/>
              </a:prstGeom>
              <a:solidFill>
                <a:srgbClr val="3333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7" name="Google Shape;7527;p105"/>
              <p:cNvSpPr/>
              <p:nvPr/>
            </p:nvSpPr>
            <p:spPr>
              <a:xfrm>
                <a:off x="5078" y="1860"/>
                <a:ext cx="166" cy="108"/>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7528" name="Google Shape;7528;p105"/>
            <p:cNvCxnSpPr/>
            <p:nvPr/>
          </p:nvCxnSpPr>
          <p:spPr>
            <a:xfrm>
              <a:off x="4184" y="2216"/>
              <a:ext cx="84" cy="112"/>
            </a:xfrm>
            <a:prstGeom prst="straightConnector1">
              <a:avLst/>
            </a:prstGeom>
            <a:noFill/>
            <a:ln cap="flat" cmpd="sng" w="9525">
              <a:solidFill>
                <a:srgbClr val="000000"/>
              </a:solidFill>
              <a:prstDash val="solid"/>
              <a:round/>
              <a:headEnd len="med" w="med" type="none"/>
              <a:tailEnd len="med" w="med" type="triangle"/>
            </a:ln>
          </p:spPr>
        </p:cxnSp>
        <p:cxnSp>
          <p:nvCxnSpPr>
            <p:cNvPr id="7529" name="Google Shape;7529;p105"/>
            <p:cNvCxnSpPr/>
            <p:nvPr/>
          </p:nvCxnSpPr>
          <p:spPr>
            <a:xfrm>
              <a:off x="4388" y="2278"/>
              <a:ext cx="82" cy="112"/>
            </a:xfrm>
            <a:prstGeom prst="straightConnector1">
              <a:avLst/>
            </a:prstGeom>
            <a:noFill/>
            <a:ln cap="flat" cmpd="sng" w="9525">
              <a:solidFill>
                <a:srgbClr val="000000"/>
              </a:solidFill>
              <a:prstDash val="solid"/>
              <a:round/>
              <a:headEnd len="med" w="med" type="none"/>
              <a:tailEnd len="med" w="med" type="triangle"/>
            </a:ln>
          </p:spPr>
        </p:cxnSp>
        <p:cxnSp>
          <p:nvCxnSpPr>
            <p:cNvPr id="7530" name="Google Shape;7530;p105"/>
            <p:cNvCxnSpPr/>
            <p:nvPr/>
          </p:nvCxnSpPr>
          <p:spPr>
            <a:xfrm>
              <a:off x="4620" y="2350"/>
              <a:ext cx="76" cy="110"/>
            </a:xfrm>
            <a:prstGeom prst="straightConnector1">
              <a:avLst/>
            </a:prstGeom>
            <a:noFill/>
            <a:ln cap="flat" cmpd="sng" w="9525">
              <a:solidFill>
                <a:srgbClr val="000000"/>
              </a:solidFill>
              <a:prstDash val="solid"/>
              <a:round/>
              <a:headEnd len="med" w="med" type="none"/>
              <a:tailEnd len="med" w="med" type="triangle"/>
            </a:ln>
          </p:spPr>
        </p:cxnSp>
      </p:grpSp>
      <p:grpSp>
        <p:nvGrpSpPr>
          <p:cNvPr id="7531" name="Google Shape;7531;p105"/>
          <p:cNvGrpSpPr/>
          <p:nvPr/>
        </p:nvGrpSpPr>
        <p:grpSpPr>
          <a:xfrm>
            <a:off x="9820071" y="3769540"/>
            <a:ext cx="632991" cy="300938"/>
            <a:chOff x="7493876" y="2774731"/>
            <a:chExt cx="1481958" cy="894622"/>
          </a:xfrm>
        </p:grpSpPr>
        <p:sp>
          <p:nvSpPr>
            <p:cNvPr id="7532" name="Google Shape;7532;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33" name="Google Shape;7533;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34" name="Google Shape;7534;p105"/>
            <p:cNvGrpSpPr/>
            <p:nvPr/>
          </p:nvGrpSpPr>
          <p:grpSpPr>
            <a:xfrm>
              <a:off x="7713663" y="2848339"/>
              <a:ext cx="1042107" cy="425543"/>
              <a:chOff x="7786941" y="2884917"/>
              <a:chExt cx="897649" cy="353919"/>
            </a:xfrm>
          </p:grpSpPr>
          <p:sp>
            <p:nvSpPr>
              <p:cNvPr id="7535" name="Google Shape;7535;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6" name="Google Shape;7536;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7" name="Google Shape;7537;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8" name="Google Shape;7538;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7539" name="Google Shape;7539;p105"/>
          <p:cNvGrpSpPr/>
          <p:nvPr/>
        </p:nvGrpSpPr>
        <p:grpSpPr>
          <a:xfrm>
            <a:off x="8883206" y="4890985"/>
            <a:ext cx="632991" cy="300938"/>
            <a:chOff x="7493876" y="2774731"/>
            <a:chExt cx="1481958" cy="894622"/>
          </a:xfrm>
        </p:grpSpPr>
        <p:sp>
          <p:nvSpPr>
            <p:cNvPr id="7540" name="Google Shape;7540;p10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7541" name="Google Shape;7541;p10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7542" name="Google Shape;7542;p105"/>
            <p:cNvGrpSpPr/>
            <p:nvPr/>
          </p:nvGrpSpPr>
          <p:grpSpPr>
            <a:xfrm>
              <a:off x="7713663" y="2848339"/>
              <a:ext cx="1042107" cy="425543"/>
              <a:chOff x="7786941" y="2884917"/>
              <a:chExt cx="897649" cy="353919"/>
            </a:xfrm>
          </p:grpSpPr>
          <p:sp>
            <p:nvSpPr>
              <p:cNvPr id="7543" name="Google Shape;7543;p10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4" name="Google Shape;7544;p10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5" name="Google Shape;7545;p10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46" name="Google Shape;7546;p10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7"/>
                                        </p:tgtEl>
                                        <p:attrNameLst>
                                          <p:attrName>style.visibility</p:attrName>
                                        </p:attrNameLst>
                                      </p:cBhvr>
                                      <p:to>
                                        <p:strVal val="visible"/>
                                      </p:to>
                                    </p:set>
                                    <p:animEffect filter="fade" transition="in">
                                      <p:cBhvr>
                                        <p:cTn dur="1000"/>
                                        <p:tgtEl>
                                          <p:spTgt spid="7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8"/>
                                        </p:tgtEl>
                                        <p:attrNameLst>
                                          <p:attrName>style.visibility</p:attrName>
                                        </p:attrNameLst>
                                      </p:cBhvr>
                                      <p:to>
                                        <p:strVal val="visible"/>
                                      </p:to>
                                    </p:set>
                                    <p:animEffect filter="fade" transition="in">
                                      <p:cBhvr>
                                        <p:cTn dur="1000"/>
                                        <p:tgtEl>
                                          <p:spTgt spid="7518"/>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0" st="0"/>
                                            </p:txEl>
                                          </p:spTgt>
                                        </p:tgtEl>
                                        <p:attrNameLst>
                                          <p:attrName>style.visibility</p:attrName>
                                        </p:attrNameLst>
                                      </p:cBhvr>
                                      <p:to>
                                        <p:strVal val="visible"/>
                                      </p:to>
                                    </p:set>
                                    <p:animEffect filter="fade" transition="in">
                                      <p:cBhvr>
                                        <p:cTn dur="500"/>
                                        <p:tgtEl>
                                          <p:spTgt spid="744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1" st="1"/>
                                            </p:txEl>
                                          </p:spTgt>
                                        </p:tgtEl>
                                        <p:attrNameLst>
                                          <p:attrName>style.visibility</p:attrName>
                                        </p:attrNameLst>
                                      </p:cBhvr>
                                      <p:to>
                                        <p:strVal val="visible"/>
                                      </p:to>
                                    </p:set>
                                    <p:animEffect filter="fade" transition="in">
                                      <p:cBhvr>
                                        <p:cTn dur="500"/>
                                        <p:tgtEl>
                                          <p:spTgt spid="744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7442">
                                            <p:txEl>
                                              <p:pRg end="2" st="2"/>
                                            </p:txEl>
                                          </p:spTgt>
                                        </p:tgtEl>
                                        <p:attrNameLst>
                                          <p:attrName>style.visibility</p:attrName>
                                        </p:attrNameLst>
                                      </p:cBhvr>
                                      <p:to>
                                        <p:strVal val="visible"/>
                                      </p:to>
                                    </p:set>
                                    <p:animEffect filter="fade" transition="in">
                                      <p:cBhvr>
                                        <p:cTn dur="500"/>
                                        <p:tgtEl>
                                          <p:spTgt spid="74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4"/>
                                        </p:tgtEl>
                                        <p:attrNameLst>
                                          <p:attrName>style.visibility</p:attrName>
                                        </p:attrNameLst>
                                      </p:cBhvr>
                                      <p:to>
                                        <p:strVal val="visible"/>
                                      </p:to>
                                    </p:set>
                                    <p:animEffect filter="fade" transition="in">
                                      <p:cBhvr>
                                        <p:cTn dur="1000"/>
                                        <p:tgtEl>
                                          <p:spTgt spid="7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57"/>
                                        </p:tgtEl>
                                        <p:attrNameLst>
                                          <p:attrName>style.visibility</p:attrName>
                                        </p:attrNameLst>
                                      </p:cBhvr>
                                      <p:to>
                                        <p:strVal val="visible"/>
                                      </p:to>
                                    </p:set>
                                    <p:animEffect filter="fade" transition="in">
                                      <p:cBhvr>
                                        <p:cTn dur="500"/>
                                        <p:tgtEl>
                                          <p:spTgt spid="7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1" name="Shape 7551"/>
        <p:cNvGrpSpPr/>
        <p:nvPr/>
      </p:nvGrpSpPr>
      <p:grpSpPr>
        <a:xfrm>
          <a:off x="0" y="0"/>
          <a:ext cx="0" cy="0"/>
          <a:chOff x="0" y="0"/>
          <a:chExt cx="0" cy="0"/>
        </a:xfrm>
      </p:grpSpPr>
      <p:sp>
        <p:nvSpPr>
          <p:cNvPr id="7552" name="Google Shape;7552;p10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IP fragmentation/reassembly</a:t>
            </a:r>
            <a:endParaRPr/>
          </a:p>
        </p:txBody>
      </p:sp>
      <p:sp>
        <p:nvSpPr>
          <p:cNvPr id="7553" name="Google Shape;7553;p106"/>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grpSp>
        <p:nvGrpSpPr>
          <p:cNvPr id="7554" name="Google Shape;7554;p106"/>
          <p:cNvGrpSpPr/>
          <p:nvPr/>
        </p:nvGrpSpPr>
        <p:grpSpPr>
          <a:xfrm>
            <a:off x="4989773" y="1527175"/>
            <a:ext cx="4181475" cy="660400"/>
            <a:chOff x="3006" y="1205"/>
            <a:chExt cx="2634" cy="416"/>
          </a:xfrm>
        </p:grpSpPr>
        <p:sp>
          <p:nvSpPr>
            <p:cNvPr id="7555" name="Google Shape;7555;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56" name="Google Shape;7556;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57" name="Google Shape;7557;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58" name="Google Shape;7558;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59" name="Google Shape;7559;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=4000</a:t>
              </a:r>
              <a:endParaRPr/>
            </a:p>
          </p:txBody>
        </p:sp>
        <p:cxnSp>
          <p:nvCxnSpPr>
            <p:cNvPr id="7560" name="Google Shape;7560;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1" name="Google Shape;7561;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2" name="Google Shape;7562;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3" name="Google Shape;7563;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64" name="Google Shape;7564;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65" name="Google Shape;7565;p106"/>
            <p:cNvSpPr/>
            <p:nvPr/>
          </p:nvSpPr>
          <p:spPr>
            <a:xfrm>
              <a:off x="5232" y="1237"/>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66" name="Google Shape;7566;p106"/>
          <p:cNvGrpSpPr/>
          <p:nvPr/>
        </p:nvGrpSpPr>
        <p:grpSpPr>
          <a:xfrm>
            <a:off x="5078673" y="2290763"/>
            <a:ext cx="4645025" cy="3330574"/>
            <a:chOff x="2321" y="1443"/>
            <a:chExt cx="2926" cy="2098"/>
          </a:xfrm>
        </p:grpSpPr>
        <p:grpSp>
          <p:nvGrpSpPr>
            <p:cNvPr id="7567" name="Google Shape;7567;p106"/>
            <p:cNvGrpSpPr/>
            <p:nvPr/>
          </p:nvGrpSpPr>
          <p:grpSpPr>
            <a:xfrm>
              <a:off x="2613" y="2066"/>
              <a:ext cx="2634" cy="416"/>
              <a:chOff x="3006" y="1205"/>
              <a:chExt cx="2634" cy="416"/>
            </a:xfrm>
          </p:grpSpPr>
          <p:sp>
            <p:nvSpPr>
              <p:cNvPr id="7568" name="Google Shape;7568;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69" name="Google Shape;7569;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70" name="Google Shape;7570;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71" name="Google Shape;7571;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7572" name="Google Shape;7572;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=1500</a:t>
                </a:r>
                <a:endParaRPr/>
              </a:p>
            </p:txBody>
          </p:sp>
          <p:cxnSp>
            <p:nvCxnSpPr>
              <p:cNvPr id="7573" name="Google Shape;7573;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4" name="Google Shape;7574;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5" name="Google Shape;7575;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6" name="Google Shape;7576;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77" name="Google Shape;7577;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78" name="Google Shape;7578;p106"/>
              <p:cNvSpPr/>
              <p:nvPr/>
            </p:nvSpPr>
            <p:spPr>
              <a:xfrm>
                <a:off x="5232" y="1235"/>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79" name="Google Shape;7579;p106"/>
            <p:cNvGrpSpPr/>
            <p:nvPr/>
          </p:nvGrpSpPr>
          <p:grpSpPr>
            <a:xfrm>
              <a:off x="2613" y="2570"/>
              <a:ext cx="2634" cy="416"/>
              <a:chOff x="3006" y="1205"/>
              <a:chExt cx="2634" cy="416"/>
            </a:xfrm>
          </p:grpSpPr>
          <p:sp>
            <p:nvSpPr>
              <p:cNvPr id="7580" name="Google Shape;7580;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81" name="Google Shape;7581;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82" name="Google Shape;7582;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=185</a:t>
                </a:r>
                <a:endParaRPr/>
              </a:p>
            </p:txBody>
          </p:sp>
          <p:sp>
            <p:nvSpPr>
              <p:cNvPr id="7583" name="Google Shape;7583;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7584" name="Google Shape;7584;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=1500</a:t>
                </a:r>
                <a:endParaRPr/>
              </a:p>
            </p:txBody>
          </p:sp>
          <p:cxnSp>
            <p:nvCxnSpPr>
              <p:cNvPr id="7585" name="Google Shape;7585;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6" name="Google Shape;7586;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7" name="Google Shape;7587;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8" name="Google Shape;7588;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89" name="Google Shape;7589;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590" name="Google Shape;7590;p106"/>
              <p:cNvSpPr/>
              <p:nvPr/>
            </p:nvSpPr>
            <p:spPr>
              <a:xfrm>
                <a:off x="5232" y="1235"/>
                <a:ext cx="138" cy="35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591" name="Google Shape;7591;p106"/>
            <p:cNvGrpSpPr/>
            <p:nvPr/>
          </p:nvGrpSpPr>
          <p:grpSpPr>
            <a:xfrm>
              <a:off x="2607" y="3092"/>
              <a:ext cx="2634" cy="449"/>
              <a:chOff x="3006" y="1205"/>
              <a:chExt cx="2634" cy="449"/>
            </a:xfrm>
          </p:grpSpPr>
          <p:sp>
            <p:nvSpPr>
              <p:cNvPr id="7592" name="Google Shape;7592;p106"/>
              <p:cNvSpPr/>
              <p:nvPr/>
            </p:nvSpPr>
            <p:spPr>
              <a:xfrm>
                <a:off x="3006" y="1242"/>
                <a:ext cx="2634" cy="342"/>
              </a:xfrm>
              <a:prstGeom prst="rect">
                <a:avLst/>
              </a:prstGeom>
              <a:solidFill>
                <a:srgbClr val="FFFFFF"/>
              </a:solidFill>
              <a:ln cap="flat" cmpd="sng" w="19050">
                <a:solidFill>
                  <a:srgbClr val="000000"/>
                </a:solidFill>
                <a:prstDash val="solid"/>
                <a:miter lim="800000"/>
                <a:headEnd len="sm" w="sm" type="none"/>
                <a:tailEnd len="sm" w="sm" type="none"/>
              </a:ln>
              <a:effectLst>
                <a:outerShdw blurRad="50800" rotWithShape="0" algn="bl" dir="18900000" dist="38100">
                  <a:srgbClr val="0000A3">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93" name="Google Shape;7593;p106"/>
              <p:cNvSpPr txBox="1"/>
              <p:nvPr/>
            </p:nvSpPr>
            <p:spPr>
              <a:xfrm>
                <a:off x="3734" y="1205"/>
                <a:ext cx="272"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ID</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=x</a:t>
                </a:r>
                <a:endParaRPr/>
              </a:p>
            </p:txBody>
          </p:sp>
          <p:sp>
            <p:nvSpPr>
              <p:cNvPr id="7594" name="Google Shape;7594;p106"/>
              <p:cNvSpPr txBox="1"/>
              <p:nvPr/>
            </p:nvSpPr>
            <p:spPr>
              <a:xfrm>
                <a:off x="4648" y="1217"/>
                <a:ext cx="468"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=370</a:t>
                </a:r>
                <a:endParaRPr/>
              </a:p>
            </p:txBody>
          </p:sp>
          <p:sp>
            <p:nvSpPr>
              <p:cNvPr id="7595" name="Google Shape;7595;p106"/>
              <p:cNvSpPr txBox="1"/>
              <p:nvPr/>
            </p:nvSpPr>
            <p:spPr>
              <a:xfrm>
                <a:off x="4017" y="1217"/>
                <a:ext cx="596"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fragflag</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p:txBody>
          </p:sp>
          <p:sp>
            <p:nvSpPr>
              <p:cNvPr id="7596" name="Google Shape;7596;p106"/>
              <p:cNvSpPr txBox="1"/>
              <p:nvPr/>
            </p:nvSpPr>
            <p:spPr>
              <a:xfrm>
                <a:off x="3230" y="1205"/>
                <a:ext cx="520"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length</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=1040</a:t>
                </a:r>
                <a:endParaRPr/>
              </a:p>
            </p:txBody>
          </p:sp>
          <p:cxnSp>
            <p:nvCxnSpPr>
              <p:cNvPr id="7597" name="Google Shape;7597;p106"/>
              <p:cNvCxnSpPr/>
              <p:nvPr/>
            </p:nvCxnSpPr>
            <p:spPr>
              <a:xfrm>
                <a:off x="3246"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98" name="Google Shape;7598;p106"/>
              <p:cNvCxnSpPr/>
              <p:nvPr/>
            </p:nvCxnSpPr>
            <p:spPr>
              <a:xfrm>
                <a:off x="3750"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599" name="Google Shape;7599;p106"/>
              <p:cNvCxnSpPr/>
              <p:nvPr/>
            </p:nvCxnSpPr>
            <p:spPr>
              <a:xfrm>
                <a:off x="4020" y="1254"/>
                <a:ext cx="0" cy="342"/>
              </a:xfrm>
              <a:prstGeom prst="straightConnector1">
                <a:avLst/>
              </a:prstGeom>
              <a:noFill/>
              <a:ln cap="flat" cmpd="sng" w="19050">
                <a:solidFill>
                  <a:srgbClr val="000000"/>
                </a:solidFill>
                <a:prstDash val="solid"/>
                <a:round/>
                <a:headEnd len="med" w="med" type="none"/>
                <a:tailEnd len="med" w="med" type="none"/>
              </a:ln>
            </p:spPr>
          </p:cxnSp>
          <p:cxnSp>
            <p:nvCxnSpPr>
              <p:cNvPr id="7600" name="Google Shape;7600;p106"/>
              <p:cNvCxnSpPr/>
              <p:nvPr/>
            </p:nvCxnSpPr>
            <p:spPr>
              <a:xfrm>
                <a:off x="4638" y="1242"/>
                <a:ext cx="0" cy="342"/>
              </a:xfrm>
              <a:prstGeom prst="straightConnector1">
                <a:avLst/>
              </a:prstGeom>
              <a:noFill/>
              <a:ln cap="flat" cmpd="sng" w="19050">
                <a:solidFill>
                  <a:srgbClr val="000000"/>
                </a:solidFill>
                <a:prstDash val="solid"/>
                <a:round/>
                <a:headEnd len="med" w="med" type="none"/>
                <a:tailEnd len="med" w="med" type="none"/>
              </a:ln>
            </p:spPr>
          </p:cxnSp>
          <p:cxnSp>
            <p:nvCxnSpPr>
              <p:cNvPr id="7601" name="Google Shape;7601;p106"/>
              <p:cNvCxnSpPr/>
              <p:nvPr/>
            </p:nvCxnSpPr>
            <p:spPr>
              <a:xfrm>
                <a:off x="5112" y="1242"/>
                <a:ext cx="0" cy="342"/>
              </a:xfrm>
              <a:prstGeom prst="straightConnector1">
                <a:avLst/>
              </a:prstGeom>
              <a:noFill/>
              <a:ln cap="flat" cmpd="sng" w="19050">
                <a:solidFill>
                  <a:srgbClr val="000000"/>
                </a:solidFill>
                <a:prstDash val="solid"/>
                <a:round/>
                <a:headEnd len="med" w="med" type="none"/>
                <a:tailEnd len="med" w="med" type="none"/>
              </a:ln>
            </p:spPr>
          </p:cxnSp>
          <p:sp>
            <p:nvSpPr>
              <p:cNvPr id="7602" name="Google Shape;7602;p106"/>
              <p:cNvSpPr/>
              <p:nvPr/>
            </p:nvSpPr>
            <p:spPr>
              <a:xfrm>
                <a:off x="5224" y="1235"/>
                <a:ext cx="146" cy="41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603" name="Google Shape;7603;p106"/>
            <p:cNvSpPr/>
            <p:nvPr/>
          </p:nvSpPr>
          <p:spPr>
            <a:xfrm>
              <a:off x="2337" y="1443"/>
              <a:ext cx="210" cy="1362"/>
            </a:xfrm>
            <a:custGeom>
              <a:rect b="b" l="l" r="r" t="t"/>
              <a:pathLst>
                <a:path extrusionOk="0" h="1362" w="210">
                  <a:moveTo>
                    <a:pt x="0" y="0"/>
                  </a:moveTo>
                  <a:lnTo>
                    <a:pt x="0" y="1362"/>
                  </a:lnTo>
                  <a:lnTo>
                    <a:pt x="210" y="858"/>
                  </a:lnTo>
                </a:path>
              </a:pathLst>
            </a:custGeom>
            <a:noFill/>
            <a:ln cap="flat" cmpd="sng" w="19050">
              <a:solidFill>
                <a:srgbClr val="CC0000"/>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7604" name="Google Shape;7604;p106"/>
            <p:cNvCxnSpPr/>
            <p:nvPr/>
          </p:nvCxnSpPr>
          <p:spPr>
            <a:xfrm>
              <a:off x="2337" y="2787"/>
              <a:ext cx="228" cy="0"/>
            </a:xfrm>
            <a:prstGeom prst="straightConnector1">
              <a:avLst/>
            </a:prstGeom>
            <a:noFill/>
            <a:ln cap="flat" cmpd="sng" w="19050">
              <a:solidFill>
                <a:srgbClr val="CC0000"/>
              </a:solidFill>
              <a:prstDash val="solid"/>
              <a:round/>
              <a:headEnd len="med" w="med" type="none"/>
              <a:tailEnd len="med" w="med" type="triangle"/>
            </a:ln>
          </p:spPr>
        </p:cxnSp>
        <p:cxnSp>
          <p:nvCxnSpPr>
            <p:cNvPr id="7605" name="Google Shape;7605;p106"/>
            <p:cNvCxnSpPr/>
            <p:nvPr/>
          </p:nvCxnSpPr>
          <p:spPr>
            <a:xfrm>
              <a:off x="2343" y="2793"/>
              <a:ext cx="210" cy="498"/>
            </a:xfrm>
            <a:prstGeom prst="straightConnector1">
              <a:avLst/>
            </a:prstGeom>
            <a:noFill/>
            <a:ln cap="flat" cmpd="sng" w="19050">
              <a:solidFill>
                <a:srgbClr val="CC0000"/>
              </a:solidFill>
              <a:prstDash val="solid"/>
              <a:round/>
              <a:headEnd len="med" w="med" type="none"/>
              <a:tailEnd len="med" w="med" type="triangle"/>
            </a:ln>
          </p:spPr>
        </p:cxnSp>
        <p:sp>
          <p:nvSpPr>
            <p:cNvPr id="7606" name="Google Shape;7606;p106"/>
            <p:cNvSpPr txBox="1"/>
            <p:nvPr/>
          </p:nvSpPr>
          <p:spPr>
            <a:xfrm>
              <a:off x="2321" y="1490"/>
              <a:ext cx="1988" cy="4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one large datagram becomes</a:t>
              </a:r>
              <a:endParaRPr/>
            </a:p>
            <a:p>
              <a:pPr indent="0" lvl="0" marL="0" marR="0" rtl="0" algn="l">
                <a:lnSpc>
                  <a:spcPct val="100000"/>
                </a:lnSpc>
                <a:spcBef>
                  <a:spcPts val="0"/>
                </a:spcBef>
                <a:spcAft>
                  <a:spcPts val="0"/>
                </a:spcAft>
                <a:buClr>
                  <a:srgbClr val="CC0000"/>
                </a:buClr>
                <a:buSzPts val="1800"/>
                <a:buFont typeface="Arial"/>
                <a:buNone/>
              </a:pPr>
              <a:r>
                <a:rPr b="0" i="1" lang="en-US" sz="1800" u="none" cap="none" strike="noStrike">
                  <a:solidFill>
                    <a:srgbClr val="CC0000"/>
                  </a:solidFill>
                  <a:latin typeface="Arial"/>
                  <a:ea typeface="Arial"/>
                  <a:cs typeface="Arial"/>
                  <a:sym typeface="Arial"/>
                </a:rPr>
                <a:t>several smaller datagrams</a:t>
              </a:r>
              <a:endParaRPr/>
            </a:p>
          </p:txBody>
        </p:sp>
      </p:grpSp>
      <p:sp>
        <p:nvSpPr>
          <p:cNvPr id="7607" name="Google Shape;7607;p106"/>
          <p:cNvSpPr/>
          <p:nvPr/>
        </p:nvSpPr>
        <p:spPr>
          <a:xfrm>
            <a:off x="734518" y="1472029"/>
            <a:ext cx="3806877" cy="16779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0000A3"/>
                </a:solidFill>
                <a:latin typeface="Calibri"/>
                <a:ea typeface="Calibri"/>
                <a:cs typeface="Calibri"/>
                <a:sym typeface="Calibri"/>
              </a:rPr>
              <a:t>example:</a:t>
            </a:r>
            <a:endParaRPr/>
          </a:p>
          <a:p>
            <a:pPr indent="-284163" lvl="0" marL="40322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4000 byte datagram</a:t>
            </a:r>
            <a:endParaRPr/>
          </a:p>
          <a:p>
            <a:pPr indent="-284163" lvl="0" marL="403225"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MTU = 1500 bytes</a:t>
            </a:r>
            <a:endParaRPr/>
          </a:p>
          <a:p>
            <a:pPr indent="-260350" lvl="0" marL="342900" marR="0" rtl="0" algn="l">
              <a:lnSpc>
                <a:spcPct val="85000"/>
              </a:lnSpc>
              <a:spcBef>
                <a:spcPts val="400"/>
              </a:spcBef>
              <a:spcAft>
                <a:spcPts val="0"/>
              </a:spcAft>
              <a:buClr>
                <a:srgbClr val="000099"/>
              </a:buClr>
              <a:buSzPts val="1300"/>
              <a:buFont typeface="Noto Sans Symbols"/>
              <a:buNone/>
            </a:pPr>
            <a:r>
              <a:t/>
            </a:r>
            <a:endParaRPr b="0" i="0" sz="2000" u="none" cap="none" strike="noStrike">
              <a:solidFill>
                <a:srgbClr val="000000"/>
              </a:solidFill>
              <a:latin typeface="Gill Sans"/>
              <a:ea typeface="Gill Sans"/>
              <a:cs typeface="Gill Sans"/>
              <a:sym typeface="Gill Sans"/>
            </a:endParaRPr>
          </a:p>
        </p:txBody>
      </p:sp>
      <p:sp>
        <p:nvSpPr>
          <p:cNvPr id="7608" name="Google Shape;7608;p106"/>
          <p:cNvSpPr txBox="1"/>
          <p:nvPr/>
        </p:nvSpPr>
        <p:spPr>
          <a:xfrm>
            <a:off x="2437073" y="3238500"/>
            <a:ext cx="16065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1480 bytes in </a:t>
            </a:r>
            <a:br>
              <a:rPr b="0" i="0" lang="en-US" sz="1800" u="none" cap="none" strike="noStrike">
                <a:solidFill>
                  <a:srgbClr val="000000"/>
                </a:solidFill>
                <a:latin typeface="Arial"/>
                <a:ea typeface="Arial"/>
                <a:cs typeface="Arial"/>
                <a:sym typeface="Arial"/>
              </a:rPr>
            </a:br>
            <a:r>
              <a:rPr b="0" i="0" lang="en-US" sz="1800" u="none" cap="none" strike="noStrike">
                <a:solidFill>
                  <a:srgbClr val="000000"/>
                </a:solidFill>
                <a:latin typeface="Arial"/>
                <a:ea typeface="Arial"/>
                <a:cs typeface="Arial"/>
                <a:sym typeface="Arial"/>
              </a:rPr>
              <a:t>data field</a:t>
            </a:r>
            <a:endParaRPr/>
          </a:p>
        </p:txBody>
      </p:sp>
      <p:sp>
        <p:nvSpPr>
          <p:cNvPr id="7609" name="Google Shape;7609;p106"/>
          <p:cNvSpPr txBox="1"/>
          <p:nvPr/>
        </p:nvSpPr>
        <p:spPr>
          <a:xfrm>
            <a:off x="2899035" y="4071938"/>
            <a:ext cx="946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offset =</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1480/8 </a:t>
            </a:r>
            <a:endParaRPr/>
          </a:p>
        </p:txBody>
      </p:sp>
      <p:cxnSp>
        <p:nvCxnSpPr>
          <p:cNvPr id="7610" name="Google Shape;7610;p106"/>
          <p:cNvCxnSpPr/>
          <p:nvPr/>
        </p:nvCxnSpPr>
        <p:spPr>
          <a:xfrm>
            <a:off x="3380048" y="3590925"/>
            <a:ext cx="2619375" cy="0"/>
          </a:xfrm>
          <a:prstGeom prst="straightConnector1">
            <a:avLst/>
          </a:prstGeom>
          <a:noFill/>
          <a:ln cap="flat" cmpd="sng" w="9525">
            <a:solidFill>
              <a:srgbClr val="000000"/>
            </a:solidFill>
            <a:prstDash val="solid"/>
            <a:round/>
            <a:headEnd len="med" w="med" type="none"/>
            <a:tailEnd len="med" w="med" type="none"/>
          </a:ln>
        </p:spPr>
      </p:cxnSp>
      <p:cxnSp>
        <p:nvCxnSpPr>
          <p:cNvPr id="7611" name="Google Shape;7611;p106"/>
          <p:cNvCxnSpPr/>
          <p:nvPr/>
        </p:nvCxnSpPr>
        <p:spPr>
          <a:xfrm rot="10800000">
            <a:off x="3713423" y="4394200"/>
            <a:ext cx="4672012" cy="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6"/>
                                        </p:tgtEl>
                                        <p:attrNameLst>
                                          <p:attrName>style.visibility</p:attrName>
                                        </p:attrNameLst>
                                      </p:cBhvr>
                                      <p:to>
                                        <p:strVal val="visible"/>
                                      </p:to>
                                    </p:set>
                                    <p:animEffect filter="fade" transition="in">
                                      <p:cBhvr>
                                        <p:cTn dur="1000"/>
                                        <p:tgtEl>
                                          <p:spTgt spid="7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8"/>
                                        </p:tgtEl>
                                        <p:attrNameLst>
                                          <p:attrName>style.visibility</p:attrName>
                                        </p:attrNameLst>
                                      </p:cBhvr>
                                      <p:to>
                                        <p:strVal val="visible"/>
                                      </p:to>
                                    </p:set>
                                    <p:animEffect filter="fade" transition="in">
                                      <p:cBhvr>
                                        <p:cTn dur="500"/>
                                        <p:tgtEl>
                                          <p:spTgt spid="7608"/>
                                        </p:tgtEl>
                                      </p:cBhvr>
                                    </p:animEffect>
                                  </p:childTnLst>
                                </p:cTn>
                              </p:par>
                              <p:par>
                                <p:cTn fill="hold" nodeType="withEffect" presetClass="entr" presetID="10" presetSubtype="0">
                                  <p:stCondLst>
                                    <p:cond delay="0"/>
                                  </p:stCondLst>
                                  <p:childTnLst>
                                    <p:set>
                                      <p:cBhvr>
                                        <p:cTn dur="1" fill="hold">
                                          <p:stCondLst>
                                            <p:cond delay="0"/>
                                          </p:stCondLst>
                                        </p:cTn>
                                        <p:tgtEl>
                                          <p:spTgt spid="7610"/>
                                        </p:tgtEl>
                                        <p:attrNameLst>
                                          <p:attrName>style.visibility</p:attrName>
                                        </p:attrNameLst>
                                      </p:cBhvr>
                                      <p:to>
                                        <p:strVal val="visible"/>
                                      </p:to>
                                    </p:set>
                                    <p:animEffect filter="fade" transition="in">
                                      <p:cBhvr>
                                        <p:cTn dur="500"/>
                                        <p:tgtEl>
                                          <p:spTgt spid="7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9"/>
                                        </p:tgtEl>
                                        <p:attrNameLst>
                                          <p:attrName>style.visibility</p:attrName>
                                        </p:attrNameLst>
                                      </p:cBhvr>
                                      <p:to>
                                        <p:strVal val="visible"/>
                                      </p:to>
                                    </p:set>
                                    <p:animEffect filter="fade" transition="in">
                                      <p:cBhvr>
                                        <p:cTn dur="500"/>
                                        <p:tgtEl>
                                          <p:spTgt spid="7609"/>
                                        </p:tgtEl>
                                      </p:cBhvr>
                                    </p:animEffect>
                                  </p:childTnLst>
                                </p:cTn>
                              </p:par>
                              <p:par>
                                <p:cTn fill="hold" nodeType="withEffect" presetClass="entr" presetID="10" presetSubtype="0">
                                  <p:stCondLst>
                                    <p:cond delay="0"/>
                                  </p:stCondLst>
                                  <p:childTnLst>
                                    <p:set>
                                      <p:cBhvr>
                                        <p:cTn dur="1" fill="hold">
                                          <p:stCondLst>
                                            <p:cond delay="0"/>
                                          </p:stCondLst>
                                        </p:cTn>
                                        <p:tgtEl>
                                          <p:spTgt spid="7611"/>
                                        </p:tgtEl>
                                        <p:attrNameLst>
                                          <p:attrName>style.visibility</p:attrName>
                                        </p:attrNameLst>
                                      </p:cBhvr>
                                      <p:to>
                                        <p:strVal val="visible"/>
                                      </p:to>
                                    </p:set>
                                    <p:animEffect filter="fade" transition="in">
                                      <p:cBhvr>
                                        <p:cTn dur="500"/>
                                        <p:tgtEl>
                                          <p:spTgt spid="76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6" name="Shape 7616"/>
        <p:cNvGrpSpPr/>
        <p:nvPr/>
      </p:nvGrpSpPr>
      <p:grpSpPr>
        <a:xfrm>
          <a:off x="0" y="0"/>
          <a:ext cx="0" cy="0"/>
          <a:chOff x="0" y="0"/>
          <a:chExt cx="0" cy="0"/>
        </a:xfrm>
      </p:grpSpPr>
      <p:sp>
        <p:nvSpPr>
          <p:cNvPr id="7617" name="Google Shape;7617;p107"/>
          <p:cNvSpPr txBox="1"/>
          <p:nvPr>
            <p:ph type="title"/>
          </p:nvPr>
        </p:nvSpPr>
        <p:spPr>
          <a:xfrm>
            <a:off x="748259" y="23619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DHCP: Wireshark output </a:t>
            </a:r>
            <a:r>
              <a:rPr lang="en-US" sz="4000"/>
              <a:t>(home LAN)</a:t>
            </a:r>
            <a:endParaRPr/>
          </a:p>
        </p:txBody>
      </p:sp>
      <p:sp>
        <p:nvSpPr>
          <p:cNvPr id="7618" name="Google Shape;7618;p107"/>
          <p:cNvSpPr txBox="1"/>
          <p:nvPr>
            <p:ph idx="12" type="sldNum"/>
          </p:nvPr>
        </p:nvSpPr>
        <p:spPr>
          <a:xfrm>
            <a:off x="9219616" y="649936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
        <p:nvSpPr>
          <p:cNvPr id="7619" name="Google Shape;7619;p107"/>
          <p:cNvSpPr txBox="1"/>
          <p:nvPr/>
        </p:nvSpPr>
        <p:spPr>
          <a:xfrm>
            <a:off x="6509140" y="1334125"/>
            <a:ext cx="5682860" cy="527221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Message type: </a:t>
            </a:r>
            <a:r>
              <a:rPr b="1" i="0" lang="en-US" sz="1400" u="none" cap="none" strike="noStrike">
                <a:solidFill>
                  <a:srgbClr val="FF0000"/>
                </a:solidFill>
                <a:latin typeface="Arial"/>
                <a:ea typeface="Arial"/>
                <a:cs typeface="Arial"/>
                <a:sym typeface="Arial"/>
              </a:rPr>
              <a:t>Boot Reply (2)</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address length: 6</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Hops: 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Transaction ID: 0x6b3a11b7</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Seconds elapsed: 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Bootp flags: 0x0000 (Unicast)</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Client IP address: 192.168.1.101 (192.168.1.101)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Your (client) IP address: 0.0.0.0 (0.0.0.0)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Next server IP address: 192.168.1.1 (192.168.1.1)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Relay agent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Server host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 file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Magic cookie: (OK)</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(t=53,l=1) DHCP Message Type = DHCP ACK</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(t=54,l=4) Server Identifier = 192.168.1.1</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(t=1,l=4) Subnet Mask = 255.255.255.0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(t=3,l=4) Router = 192.168.1.1</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(6) Domain Name Server</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Length: 12; Value: 445747E2445749F244574092; </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68.87.71.226;</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68.87.73.242; </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IP Address: 68.87.64.146</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(t=15,l=20) Domain Name = "hsd1.ma.comcast.net."</a:t>
            </a:r>
            <a:endParaRPr/>
          </a:p>
          <a:p>
            <a:pPr indent="0" lvl="0" marL="0" marR="0" rtl="0" algn="l">
              <a:lnSpc>
                <a:spcPct val="90000"/>
              </a:lnSpc>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
        <p:nvSpPr>
          <p:cNvPr id="7620" name="Google Shape;7620;p107"/>
          <p:cNvSpPr txBox="1"/>
          <p:nvPr/>
        </p:nvSpPr>
        <p:spPr>
          <a:xfrm>
            <a:off x="861699" y="1214204"/>
            <a:ext cx="5808925" cy="552151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Message type: </a:t>
            </a:r>
            <a:r>
              <a:rPr b="1" i="0" lang="en-US" sz="1400" u="sng" cap="none" strike="noStrike">
                <a:solidFill>
                  <a:srgbClr val="FF0000"/>
                </a:solidFill>
                <a:latin typeface="Arial"/>
                <a:ea typeface="Arial"/>
                <a:cs typeface="Arial"/>
                <a:sym typeface="Arial"/>
              </a:rPr>
              <a:t>Boot Request (1)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Hardware address length: 6</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Hops: 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Transaction ID: 0x6b3a11b7</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Seconds elapsed: 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Bootp flags: 0x0000 (Unicast)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Client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Your (client)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Next server IP address: 0.0.0.0 (0.0.0.0)</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Relay agent IP address: 0.0.0.0 (0.0.0.0)</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Server host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Boot file name not given</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Magic cookie: (OK)</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(t=53,l=1) </a:t>
            </a:r>
            <a:r>
              <a:rPr b="1" i="0" lang="en-US" sz="1400" u="none" cap="none" strike="noStrike">
                <a:solidFill>
                  <a:srgbClr val="FF0000"/>
                </a:solidFill>
                <a:latin typeface="Arial"/>
                <a:ea typeface="Arial"/>
                <a:cs typeface="Arial"/>
                <a:sym typeface="Arial"/>
              </a:rPr>
              <a:t>DHCP Message Type = DHCP Request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(61) Client identifier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Length: 7; Value: 010016D323688A; </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Hardware type: Ethernet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Client MAC address: Wistron_23:68:8a (00:16:d3:23:68:8a)</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(t=50,l=4) Requested IP Address = 192.168.1.101</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Option: (t=12,l=5) Host Name = "nomad"</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Option: (55) Parameter Request List</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Length: 11; Value: 010F03062C2E2F1F21F92B</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1" i="0" lang="en-US" sz="1400" u="none" cap="none" strike="noStrike">
                <a:solidFill>
                  <a:srgbClr val="FF0000"/>
                </a:solidFill>
                <a:latin typeface="Arial"/>
                <a:ea typeface="Arial"/>
                <a:cs typeface="Arial"/>
                <a:sym typeface="Arial"/>
              </a:rPr>
              <a:t>1 = Subnet Mask; 15 = Domain Name</a:t>
            </a:r>
            <a:endParaRPr/>
          </a:p>
          <a:p>
            <a:pPr indent="0" lvl="0" marL="0" marR="0" rtl="0" algn="l">
              <a:lnSpc>
                <a:spcPct val="90000"/>
              </a:lnSpc>
              <a:spcBef>
                <a:spcPts val="0"/>
              </a:spcBef>
              <a:spcAft>
                <a:spcPts val="0"/>
              </a:spcAft>
              <a:buNone/>
            </a:pPr>
            <a:r>
              <a:rPr b="1" i="0" lang="en-US" sz="1400" u="none" cap="none" strike="noStrike">
                <a:solidFill>
                  <a:srgbClr val="FF0000"/>
                </a:solidFill>
                <a:latin typeface="Arial"/>
                <a:ea typeface="Arial"/>
                <a:cs typeface="Arial"/>
                <a:sym typeface="Arial"/>
              </a:rPr>
              <a:t>     3 = Router; 6 = Domain Name Server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44 = NetBIOS over TCP/IP Name Server</a:t>
            </a:r>
            <a:endParaRPr/>
          </a:p>
          <a:p>
            <a:pPr indent="0" lvl="0" marL="0" marR="0" rtl="0" algn="l">
              <a:lnSpc>
                <a:spcPct val="90000"/>
              </a:lnSpc>
              <a:spcBef>
                <a:spcPts val="0"/>
              </a:spcBef>
              <a:spcAft>
                <a:spcPts val="0"/>
              </a:spcAft>
              <a:buNone/>
            </a:pPr>
            <a:r>
              <a:rPr b="0" i="0" lang="en-US" sz="14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7621" name="Google Shape;7621;p107"/>
          <p:cNvSpPr txBox="1"/>
          <p:nvPr/>
        </p:nvSpPr>
        <p:spPr>
          <a:xfrm>
            <a:off x="9687941" y="1610037"/>
            <a:ext cx="9653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00A3"/>
                </a:solidFill>
                <a:latin typeface="Arial"/>
                <a:ea typeface="Arial"/>
                <a:cs typeface="Arial"/>
                <a:sym typeface="Arial"/>
              </a:rPr>
              <a:t>reply</a:t>
            </a:r>
            <a:endParaRPr b="0" i="0" sz="2400" u="none" cap="none" strike="noStrike">
              <a:solidFill>
                <a:srgbClr val="0000A3"/>
              </a:solidFill>
              <a:latin typeface="Arial"/>
              <a:ea typeface="Arial"/>
              <a:cs typeface="Arial"/>
              <a:sym typeface="Arial"/>
            </a:endParaRPr>
          </a:p>
        </p:txBody>
      </p:sp>
      <p:sp>
        <p:nvSpPr>
          <p:cNvPr id="7622" name="Google Shape;7622;p107"/>
          <p:cNvSpPr txBox="1"/>
          <p:nvPr/>
        </p:nvSpPr>
        <p:spPr>
          <a:xfrm>
            <a:off x="3572396" y="1556166"/>
            <a:ext cx="138531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000A3"/>
                </a:solidFill>
                <a:latin typeface="Arial"/>
                <a:ea typeface="Arial"/>
                <a:cs typeface="Arial"/>
                <a:sym typeface="Arial"/>
              </a:rPr>
              <a:t>request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