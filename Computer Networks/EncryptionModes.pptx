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916939" y="1378203"/>
            <a:ext cx="10219690" cy="437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16939" y="1378203"/>
            <a:ext cx="10219690" cy="437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Encryption Modes</a:t>
            </a:r>
            <a:endParaRPr/>
          </a:p>
        </p:txBody>
      </p:sp>
      <p:sp>
        <p:nvSpPr>
          <p:cNvPr id="44" name="Google Shape;44;p7"/>
          <p:cNvSpPr txBox="1"/>
          <p:nvPr/>
        </p:nvSpPr>
        <p:spPr>
          <a:xfrm>
            <a:off x="916939" y="1795779"/>
            <a:ext cx="9804400" cy="3706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0">
            <a:spAutoFit/>
          </a:bodyPr>
          <a:lstStyle/>
          <a:p>
            <a:pPr indent="-228600" lvl="0" marL="241300" marR="508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Encryption mode or mode of operation refers to the many ways to make the input of an encryption algorithm different.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Examples include: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Electronic Codebook (ECB)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Cipher Block Chaining (CBC)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Propagating CBC (PCBC)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Cipher Feedback (CFB)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Output Feedback (OFB)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Counter (CTR)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Electronic Codebook (ECB) Mode</a:t>
            </a:r>
            <a:endParaRPr/>
          </a:p>
        </p:txBody>
      </p:sp>
      <p:pic>
        <p:nvPicPr>
          <p:cNvPr id="50" name="Google Shape;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4779" y="1572788"/>
            <a:ext cx="6707138" cy="4624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Cipher Block Chaining (CBC) Mode</a:t>
            </a:r>
            <a:endParaRPr/>
          </a:p>
        </p:txBody>
      </p:sp>
      <p:pic>
        <p:nvPicPr>
          <p:cNvPr id="56" name="Google Shape;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055" y="1318503"/>
            <a:ext cx="7248731" cy="530689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9"/>
          <p:cNvSpPr txBox="1"/>
          <p:nvPr/>
        </p:nvSpPr>
        <p:spPr>
          <a:xfrm>
            <a:off x="8104527" y="2531364"/>
            <a:ext cx="3689985" cy="2395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The  main  purpose  of 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IV 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is  to ensure   that   even   if   two plaintexts  are  identical,  their ciphertexts  are  still  different, because  different  IVs  will  be used.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rtl="0" algn="just">
              <a:lnSpc>
                <a:spcPct val="118055"/>
              </a:lnSpc>
              <a:spcBef>
                <a:spcPts val="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Decryption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can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be parallelized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rtl="0" algn="just">
              <a:lnSpc>
                <a:spcPct val="118055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Encryption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cannot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be parallelized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Cipher Feedback (CFB) Mode</a:t>
            </a:r>
            <a:endParaRPr/>
          </a:p>
        </p:txBody>
      </p:sp>
      <p:sp>
        <p:nvSpPr>
          <p:cNvPr id="63" name="Google Shape;63;p10"/>
          <p:cNvSpPr txBox="1"/>
          <p:nvPr/>
        </p:nvSpPr>
        <p:spPr>
          <a:xfrm>
            <a:off x="7009626" y="1808988"/>
            <a:ext cx="4211320" cy="2640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075">
            <a:spAutoFit/>
          </a:bodyPr>
          <a:lstStyle/>
          <a:p>
            <a:pPr indent="-228600" lvl="0" marL="241300" marR="106679" rtl="0"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 block cipher is turned into a stream cipher.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rtl="0" algn="just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Ideal for encrypting real-time data.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610235" rtl="0" algn="just">
              <a:lnSpc>
                <a:spcPct val="109000"/>
              </a:lnSpc>
              <a:spcBef>
                <a:spcPts val="95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Padding not required for the last block.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5080" rtl="0" algn="just">
              <a:lnSpc>
                <a:spcPct val="91500"/>
              </a:lnSpc>
              <a:spcBef>
                <a:spcPts val="89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decryption using the CFB mode can be parallelized, while encryption can only be conducted sequentially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426" y="1504874"/>
            <a:ext cx="6505949" cy="494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Output Feedback (OFB) Mode</a:t>
            </a:r>
            <a:endParaRPr/>
          </a:p>
        </p:txBody>
      </p:sp>
      <p:sp>
        <p:nvSpPr>
          <p:cNvPr id="70" name="Google Shape;70;p11"/>
          <p:cNvSpPr txBox="1"/>
          <p:nvPr/>
        </p:nvSpPr>
        <p:spPr>
          <a:xfrm>
            <a:off x="7946804" y="1772411"/>
            <a:ext cx="3889375" cy="2397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8875">
            <a:spAutoFit/>
          </a:bodyPr>
          <a:lstStyle/>
          <a:p>
            <a:pPr indent="-228600" lvl="0" marL="241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Similar to CFB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Used as stream cipher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Does not need padding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9850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Decryption can parallelized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</a:pPr>
            <a:r>
              <a:t/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508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Encryption in the OFB mode can be parallelized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326632"/>
            <a:ext cx="7029864" cy="5349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916939" y="611124"/>
            <a:ext cx="1022794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Counter (CTR) Mode</a:t>
            </a:r>
            <a:endParaRPr/>
          </a:p>
        </p:txBody>
      </p:sp>
      <p:sp>
        <p:nvSpPr>
          <p:cNvPr id="77" name="Google Shape;77;p12"/>
          <p:cNvSpPr txBox="1"/>
          <p:nvPr/>
        </p:nvSpPr>
        <p:spPr>
          <a:xfrm>
            <a:off x="7155399" y="1437132"/>
            <a:ext cx="4674870" cy="386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-228600" lvl="0" marL="241300" marR="13716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It basically uses a counter to generate the key streams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102235" rtl="0" algn="l">
              <a:lnSpc>
                <a:spcPct val="89000"/>
              </a:lnSpc>
              <a:spcBef>
                <a:spcPts val="101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no key stream can be reused, hence the counter value for each block is prepended with a randomly generated value called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nonce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182245" rtl="0" algn="l">
              <a:lnSpc>
                <a:spcPct val="110500"/>
              </a:lnSpc>
              <a:spcBef>
                <a:spcPts val="1025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This nonce serves the same role as the IV does to the other encryption modes.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412750" rtl="0" algn="l">
              <a:lnSpc>
                <a:spcPct val="109000"/>
              </a:lnSpc>
              <a:spcBef>
                <a:spcPts val="91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both encryption and decryption can be parallelized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41300" marR="5080" rtl="0" algn="l">
              <a:lnSpc>
                <a:spcPct val="109000"/>
              </a:lnSpc>
              <a:spcBef>
                <a:spcPts val="944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the key stream in the CTR mode can be calculated in parallel during the encryption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405" y="1482289"/>
            <a:ext cx="5793833" cy="4879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