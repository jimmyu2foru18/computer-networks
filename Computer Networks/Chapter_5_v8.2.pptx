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</p:sldIdLst>
  <p:sldSz cy="6858000" cx="12192000"/>
  <p:notesSz cx="6858000" cy="9144000"/>
  <p:embeddedFontLst>
    <p:embeddedFont>
      <p:font typeface="Arial Narrow"/>
      <p:regular r:id="rId117"/>
      <p:bold r:id="rId118"/>
      <p:italic r:id="rId119"/>
      <p:boldItalic r:id="rId120"/>
    </p:embeddedFont>
    <p:embeddedFont>
      <p:font typeface="Gill Sans"/>
      <p:regular r:id="rId121"/>
      <p:bold r:id="rId1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96">
          <p15:clr>
            <a:srgbClr val="A4A3A4"/>
          </p15:clr>
        </p15:guide>
        <p15:guide id="2" orient="horz" pos="7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6"/>
        <p:guide pos="7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font" Target="fonts/GillSans-regular.fntdata"/><Relationship Id="rId25" Type="http://schemas.openxmlformats.org/officeDocument/2006/relationships/slide" Target="slides/slide19.xml"/><Relationship Id="rId120" Type="http://schemas.openxmlformats.org/officeDocument/2006/relationships/font" Target="fonts/ArialNarrow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22" Type="http://schemas.openxmlformats.org/officeDocument/2006/relationships/font" Target="fonts/GillSans-bold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ArialNarrow-bold.fntdata"/><Relationship Id="rId117" Type="http://schemas.openxmlformats.org/officeDocument/2006/relationships/font" Target="fonts/ArialNarrow-regular.fntdata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font" Target="fonts/ArialNarrow-italic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8.2  (April 2023)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lighter header font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Re-do of network management slides; redo of Bellman-Ford slides</a:t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7" name="Google Shape;13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7" name="Google Shape;13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9" name="Google Shape;13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3" name="Google Shape;13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0" name="Google Shape;15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5" name="Google Shape;17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6" name="Google Shape;186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5" name="Google Shape;18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7" name="Google Shape;21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7" name="Google Shape;21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6" name="Google Shape;22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6" name="Google Shape;246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2" name="Google Shape;26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4" name="Google Shape;278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0" name="Google Shape;294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1" name="Google Shape;294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6" name="Google Shape;30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7" name="Google Shape;309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6" name="Shape 3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7" name="Google Shape;325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8" name="Google Shape;325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2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4" name="Google Shape;341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5" name="Google Shape;341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0" name="Shape 3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Google Shape;342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2" name="Google Shape;342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3" name="Google Shape;342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5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7" name="Google Shape;359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8" name="Google Shape;359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6" name="Shape 3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7" name="Google Shape;380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8" name="Google Shape;380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9" name="Google Shape;380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2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4" name="Google Shape;398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5" name="Google Shape;398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4" name="Shape 4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5" name="Google Shape;415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6" name="Google Shape;415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7" name="Google Shape;4157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9" name="Shape 4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1" name="Google Shape;434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2" name="Google Shape;434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9" name="Shape 4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0" name="Google Shape;459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1" name="Google Shape;459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6" name="Shape 4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7" name="Google Shape;463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8" name="Google Shape;463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5" name="Shape 4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6" name="Google Shape;468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7" name="Google Shape;468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9" name="Shape 4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0" name="Google Shape;487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1" name="Google Shape;487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5" name="Shape 5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6" name="Google Shape;501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7" name="Google Shape;501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4" name="Shape 5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5" name="Google Shape;502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6" name="Google Shape;502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7" name="Google Shape;5027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4" name="Shape 5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5" name="Google Shape;503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6" name="Google Shape;503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3" name="Shape 5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4" name="Google Shape;504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5" name="Google Shape;504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2" name="Shape 5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3" name="Google Shape;505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4" name="Google Shape;505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9" name="Shape 5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0" name="Google Shape;524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1" name="Google Shape;524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1" name="Shape 5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2" name="Google Shape;537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3" name="Google Shape;537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8" name="Shape 5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9" name="Google Shape;537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0" name="Google Shape;538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5" name="Shape 5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" name="Google Shape;538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7" name="Google Shape;538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2" name="Shape 5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3" name="Google Shape;555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4" name="Google Shape;555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5" name="Google Shape;5555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2" name="Shape 5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3" name="Google Shape;556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4" name="Google Shape;556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9" name="Shape 5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" name="Google Shape;5570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1" name="Google Shape;557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0" name="Shape 5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1" name="Google Shape;5801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2" name="Google Shape;5802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5" name="Shape 6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6" name="Google Shape;602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7" name="Google Shape;602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2" name="Shape 6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3" name="Google Shape;603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4" name="Google Shape;603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7" name="Shape 6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8" name="Google Shape;626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9" name="Google Shape;626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6" name="Shape 6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7" name="Google Shape;6517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8" name="Google Shape;6518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3" name="Shape 6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4" name="Google Shape;6524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5" name="Google Shape;6525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1" name="Shape 6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2" name="Google Shape;681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3" name="Google Shape;681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0" name="Shape 7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1" name="Google Shape;7081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2" name="Google Shape;708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7" name="Shape 7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8" name="Google Shape;708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9" name="Google Shape;708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4" name="Shape 7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5" name="Google Shape;7325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6" name="Google Shape;7326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0" name="Shape 7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1" name="Google Shape;738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2" name="Google Shape;7382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1" name="Shape 7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2" name="Google Shape;743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3" name="Google Shape;743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8" name="Shape 7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9" name="Google Shape;7439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0" name="Google Shape;744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5" name="Shape 7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6" name="Google Shape;7446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7" name="Google Shape;744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8" name="Google Shape;7448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5" name="Shape 7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6" name="Google Shape;745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7" name="Google Shape;7457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2" name="Shape 7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3" name="Google Shape;7463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4" name="Google Shape;7464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5" name="Google Shape;7465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2" name="Shape 7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3" name="Google Shape;7703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4" name="Google Shape;770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5" name="Google Shape;7705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0" name="Shape 8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1" name="Google Shape;8061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2" name="Google Shape;8062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7" name="Shape 8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8" name="Google Shape;8068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9" name="Google Shape;8069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5" name="Shape 8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6" name="Google Shape;811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7" name="Google Shape;8117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9" name="Shape 8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0" name="Google Shape;8270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1" name="Google Shape;827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3" name="Shape 8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4" name="Google Shape;8424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5" name="Google Shape;8425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7" name="Shape 8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8" name="Google Shape;8578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9" name="Google Shape;8579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4" name="Shape 8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5" name="Google Shape;8945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6" name="Google Shape;894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2" name="Shape 9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3" name="Google Shape;9073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4" name="Google Shape;907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1" name="Shape 9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2" name="Google Shape;9202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3" name="Google Shape;9203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0" name="Shape 9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1" name="Google Shape;933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2" name="Google Shape;9332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2" name="Shape 9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3" name="Google Shape;9493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4" name="Google Shape;9494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5" name="Google Shape;9495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8" name="Shape 9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9" name="Google Shape;9579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0" name="Google Shape;958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1" name="Google Shape;9581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4" name="Shape 9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5" name="Google Shape;9665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6" name="Google Shape;9666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7" name="Google Shape;9667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1" name="Shape 9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2" name="Google Shape;9752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3" name="Google Shape;9753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4" name="Google Shape;9754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1" name="Shape 9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" name="Google Shape;9902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03" name="Google Shape;990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4" name="Google Shape;9904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3" name="Shape 10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4" name="Google Shape;10054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55" name="Google Shape;10055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6" name="Google Shape;10056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4" name="Shape 10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5" name="Google Shape;10125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6" name="Google Shape;10126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7" name="Google Shape;10127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7" name="Shape 10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8" name="Google Shape;10208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9" name="Google Shape;10209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4" name="Shape 10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5" name="Google Shape;10215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6" name="Google Shape;10216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5" name="Shape 10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6" name="Google Shape;10226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27" name="Google Shape;10227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8" name="Google Shape;10228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5" name="Shape 10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6" name="Google Shape;10236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7" name="Google Shape;10237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3" name="Shape 10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Google Shape;10244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5" name="Google Shape;10245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6" name="Shape 10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7" name="Google Shape;10317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8" name="Google Shape;10318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9" name="Google Shape;10319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6" name="Shape 10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7" name="Google Shape;10327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8" name="Google Shape;10328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7" name="Shape 10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8" name="Google Shape;10338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39" name="Google Shape;10339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0" name="Google Shape;10340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5" name="Shape 10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" name="Google Shape;10506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7" name="Google Shape;10507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8" name="Google Shape;10508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1" name="Shape 10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2" name="Google Shape;10672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3" name="Google Shape;10673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6" name="Shape 10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7" name="Google Shape;10927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8" name="Google Shape;10928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0" name="Shape 10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1" name="Google Shape;10951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2" name="Google Shape;10952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5" name="Shape 1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6" name="Google Shape;11006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7" name="Google Shape;11007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3" name="Shape 1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4" name="Google Shape;11024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5" name="Google Shape;11025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0" name="Shape 1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1" name="Google Shape;11031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2" name="Google Shape;11032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6" name="Shape 1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7" name="Google Shape;11127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8" name="Google Shape;11128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6" name="Shape 1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7" name="Google Shape;11137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8" name="Google Shape;11138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7" name="Shape 1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8" name="Google Shape;11148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9" name="Google Shape;11149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4" name="Shape 1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5" name="Google Shape;11225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6" name="Google Shape;11226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7" name="Google Shape;11227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3" name="Shape 1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4" name="Google Shape;11234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35" name="Google Shape;11235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6" name="Google Shape;11236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3" name="Shape 1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4" name="Google Shape;11244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45" name="Google Shape;11245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6" name="Google Shape;11246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0" name="Shape 1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1" name="Google Shape;11251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2" name="Google Shape;11252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3" name="Google Shape;11253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1" name="Shape 1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2" name="Google Shape;11372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3" name="Google Shape;11373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4" name="Google Shape;11374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.png"/><Relationship Id="rId11" Type="http://schemas.openxmlformats.org/officeDocument/2006/relationships/image" Target="../media/image13.png"/><Relationship Id="rId22" Type="http://schemas.openxmlformats.org/officeDocument/2006/relationships/image" Target="../media/image28.png"/><Relationship Id="rId10" Type="http://schemas.openxmlformats.org/officeDocument/2006/relationships/image" Target="../media/image8.png"/><Relationship Id="rId21" Type="http://schemas.openxmlformats.org/officeDocument/2006/relationships/image" Target="../media/image20.png"/><Relationship Id="rId13" Type="http://schemas.openxmlformats.org/officeDocument/2006/relationships/image" Target="../media/image9.png"/><Relationship Id="rId12" Type="http://schemas.openxmlformats.org/officeDocument/2006/relationships/image" Target="../media/image16.png"/><Relationship Id="rId23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5" Type="http://schemas.openxmlformats.org/officeDocument/2006/relationships/image" Target="../media/image5.png"/><Relationship Id="rId14" Type="http://schemas.openxmlformats.org/officeDocument/2006/relationships/image" Target="../media/image21.png"/><Relationship Id="rId17" Type="http://schemas.openxmlformats.org/officeDocument/2006/relationships/image" Target="../media/image33.png"/><Relationship Id="rId16" Type="http://schemas.openxmlformats.org/officeDocument/2006/relationships/image" Target="../media/image15.png"/><Relationship Id="rId5" Type="http://schemas.openxmlformats.org/officeDocument/2006/relationships/image" Target="../media/image4.png"/><Relationship Id="rId19" Type="http://schemas.openxmlformats.org/officeDocument/2006/relationships/image" Target="../media/image18.png"/><Relationship Id="rId6" Type="http://schemas.openxmlformats.org/officeDocument/2006/relationships/image" Target="../media/image11.png"/><Relationship Id="rId18" Type="http://schemas.openxmlformats.org/officeDocument/2006/relationships/image" Target="../media/image23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blog.cloudflare.com/october-2021-facebook-outage/" TargetMode="External"/><Relationship Id="rId4" Type="http://schemas.openxmlformats.org/officeDocument/2006/relationships/hyperlink" Target="https://engineering.fb.com/2021/10/04/networking-traffic/outage/" TargetMode="External"/><Relationship Id="rId5" Type="http://schemas.openxmlformats.org/officeDocument/2006/relationships/hyperlink" Target="https://engineering.fb.com/2021/10/05/networking-traffic/outage-details/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7.jpg"/><Relationship Id="rId4" Type="http://schemas.openxmlformats.org/officeDocument/2006/relationships/image" Target="../media/image35.png"/><Relationship Id="rId5" Type="http://schemas.openxmlformats.org/officeDocument/2006/relationships/image" Target="../media/image46.png"/><Relationship Id="rId6" Type="http://schemas.openxmlformats.org/officeDocument/2006/relationships/image" Target="../media/image36.png"/><Relationship Id="rId7" Type="http://schemas.openxmlformats.org/officeDocument/2006/relationships/image" Target="../media/image45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0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0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4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47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47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4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8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50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9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2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1"/>
          <p:cNvSpPr/>
          <p:nvPr/>
        </p:nvSpPr>
        <p:spPr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5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Network Layer: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Control Plane</a:t>
            </a:r>
            <a:endParaRPr/>
          </a:p>
        </p:txBody>
      </p:sp>
      <p:sp>
        <p:nvSpPr>
          <p:cNvPr id="56" name="Google Shape;56;p11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58" name="Google Shape;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layer control plane: our goals</a:t>
            </a:r>
            <a:endParaRPr/>
          </a:p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838200" y="1572572"/>
            <a:ext cx="5181600" cy="469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2725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understand principles behind network control plane: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traditional routing algorithms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SDN controllers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network management, configuration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6" name="Google Shape;66;p12"/>
          <p:cNvSpPr txBox="1"/>
          <p:nvPr>
            <p:ph idx="2" type="body"/>
          </p:nvPr>
        </p:nvSpPr>
        <p:spPr>
          <a:xfrm>
            <a:off x="6304934" y="1602070"/>
            <a:ext cx="55843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4079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instantiation, implementation in the Internet: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OSPF, BGP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OpenFlow, ODL and ONOS controllers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Internet Control Message Protocol: ICMP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SNMP, YANG/NETCONF</a:t>
            </a:r>
            <a:endParaRPr/>
          </a:p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74" name="Google Shape;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970936" y="4247536"/>
            <a:ext cx="10515600" cy="1473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Two approaches to structuring network control plane:</a:t>
            </a:r>
            <a:endParaRPr/>
          </a:p>
          <a:p>
            <a:pPr indent="-249238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per-router control (traditional)</a:t>
            </a:r>
            <a:endParaRPr/>
          </a:p>
          <a:p>
            <a:pPr indent="-249238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logically centralized control (software defined networking)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Network-layer functions</a:t>
            </a:r>
            <a:endParaRPr/>
          </a:p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5" name="Google Shape;85;p14"/>
          <p:cNvGrpSpPr/>
          <p:nvPr/>
        </p:nvGrpSpPr>
        <p:grpSpPr>
          <a:xfrm>
            <a:off x="817202" y="1662139"/>
            <a:ext cx="9934373" cy="918829"/>
            <a:chOff x="817202" y="1662139"/>
            <a:chExt cx="9934373" cy="918829"/>
          </a:xfrm>
        </p:grpSpPr>
        <p:sp>
          <p:nvSpPr>
            <p:cNvPr id="86" name="Google Shape;86;p14"/>
            <p:cNvSpPr txBox="1"/>
            <p:nvPr/>
          </p:nvSpPr>
          <p:spPr>
            <a:xfrm>
              <a:off x="817202" y="1662139"/>
              <a:ext cx="6556992" cy="918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36550" lvl="0" marL="4667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forwarding: 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move packets from router’s input to appropriate router output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7868781" y="1807341"/>
              <a:ext cx="2882794" cy="508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340"/>
                <a:buFont typeface="Noto Sans Symbols"/>
                <a:buNone/>
              </a:pPr>
              <a:r>
                <a:rPr b="0" i="1" lang="en-US" sz="36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data plane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4"/>
          <p:cNvGrpSpPr/>
          <p:nvPr/>
        </p:nvGrpSpPr>
        <p:grpSpPr>
          <a:xfrm>
            <a:off x="948416" y="2692736"/>
            <a:ext cx="10162404" cy="920619"/>
            <a:chOff x="977913" y="2913962"/>
            <a:chExt cx="10162404" cy="920619"/>
          </a:xfrm>
        </p:grpSpPr>
        <p:sp>
          <p:nvSpPr>
            <p:cNvPr id="89" name="Google Shape;89;p14"/>
            <p:cNvSpPr/>
            <p:nvPr/>
          </p:nvSpPr>
          <p:spPr>
            <a:xfrm>
              <a:off x="7847249" y="3047636"/>
              <a:ext cx="3293068" cy="563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control</a:t>
              </a:r>
              <a:r>
                <a:rPr b="1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plane</a:t>
              </a:r>
              <a:endParaRPr b="0" i="1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19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977913" y="2913962"/>
              <a:ext cx="6529016" cy="9206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routing: 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determine route taken by packets from source to destination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838200" y="27954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Per-router control plane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780773" y="1101105"/>
            <a:ext cx="1098715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 routing algorithm components </a:t>
            </a:r>
            <a:r>
              <a:rPr b="0" i="1" lang="en-US" sz="32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in each and every router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 in the control plane</a:t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4182648" y="5476945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15"/>
          <p:cNvCxnSpPr/>
          <p:nvPr/>
        </p:nvCxnSpPr>
        <p:spPr>
          <a:xfrm flipH="1" rot="10800000">
            <a:off x="4812885" y="5629345"/>
            <a:ext cx="1316038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5"/>
          <p:cNvCxnSpPr/>
          <p:nvPr/>
        </p:nvCxnSpPr>
        <p:spPr>
          <a:xfrm>
            <a:off x="4701760" y="5815082"/>
            <a:ext cx="2259013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5"/>
          <p:cNvCxnSpPr/>
          <p:nvPr/>
        </p:nvCxnSpPr>
        <p:spPr>
          <a:xfrm>
            <a:off x="4714460" y="5921445"/>
            <a:ext cx="714375" cy="274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15"/>
          <p:cNvCxnSpPr/>
          <p:nvPr/>
        </p:nvCxnSpPr>
        <p:spPr>
          <a:xfrm flipH="1" rot="10800000">
            <a:off x="5732048" y="6115120"/>
            <a:ext cx="1247775" cy="809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5"/>
          <p:cNvCxnSpPr/>
          <p:nvPr/>
        </p:nvCxnSpPr>
        <p:spPr>
          <a:xfrm>
            <a:off x="6392448" y="5661095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5"/>
          <p:cNvCxnSpPr/>
          <p:nvPr/>
        </p:nvCxnSpPr>
        <p:spPr>
          <a:xfrm flipH="1" rot="10800000">
            <a:off x="5676485" y="5815082"/>
            <a:ext cx="1790700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7003635" y="5843657"/>
            <a:ext cx="588963" cy="2714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5"/>
          <p:cNvCxnSpPr/>
          <p:nvPr/>
        </p:nvCxnSpPr>
        <p:spPr>
          <a:xfrm>
            <a:off x="6146385" y="5629345"/>
            <a:ext cx="814388" cy="4000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" name="Google Shape;107;p15"/>
          <p:cNvGrpSpPr/>
          <p:nvPr/>
        </p:nvGrpSpPr>
        <p:grpSpPr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108" name="Google Shape;108;p15"/>
            <p:cNvSpPr/>
            <p:nvPr/>
          </p:nvSpPr>
          <p:spPr>
            <a:xfrm flipH="1" rot="10800000">
              <a:off x="1874455" y="1694641"/>
              <a:ext cx="1125193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 flipH="1" rot="10800000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2160521" y="1673339"/>
              <a:ext cx="546704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2103307" y="1633104"/>
              <a:ext cx="661131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538765" y="1727776"/>
              <a:ext cx="241567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090593" y="1730143"/>
              <a:ext cx="238389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" name="Google Shape;115;p15"/>
            <p:cNvCxnSpPr>
              <a:endCxn id="11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16" name="Google Shape;116;p15"/>
            <p:cNvCxnSpPr/>
            <p:nvPr/>
          </p:nvCxnSpPr>
          <p:spPr>
            <a:xfrm rot="10800000">
              <a:off x="2996470" y="1734876"/>
              <a:ext cx="3178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17" name="Google Shape;117;p15"/>
          <p:cNvGrpSpPr/>
          <p:nvPr/>
        </p:nvGrpSpPr>
        <p:grpSpPr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118" name="Google Shape;118;p15"/>
            <p:cNvSpPr/>
            <p:nvPr/>
          </p:nvSpPr>
          <p:spPr>
            <a:xfrm flipH="1" rot="10800000">
              <a:off x="1874446" y="1692905"/>
              <a:ext cx="1125202" cy="32125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0" name="Google Shape;120;p15"/>
            <p:cNvSpPr/>
            <p:nvPr/>
          </p:nvSpPr>
          <p:spPr>
            <a:xfrm flipH="1" rot="10800000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2159708" y="1673868"/>
              <a:ext cx="548339" cy="159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102655" y="1633412"/>
              <a:ext cx="662444" cy="111846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2536889" y="1728599"/>
              <a:ext cx="244057" cy="97568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2089977" y="1730980"/>
              <a:ext cx="240888" cy="95187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" name="Google Shape;125;p15"/>
            <p:cNvCxnSpPr>
              <a:endCxn id="120" idx="2"/>
            </p:cNvCxnSpPr>
            <p:nvPr/>
          </p:nvCxnSpPr>
          <p:spPr>
            <a:xfrm rot="10800000">
              <a:off x="1871277" y="1736929"/>
              <a:ext cx="3300" cy="123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26" name="Google Shape;126;p15"/>
            <p:cNvCxnSpPr/>
            <p:nvPr/>
          </p:nvCxnSpPr>
          <p:spPr>
            <a:xfrm rot="10800000">
              <a:off x="2996477" y="1733359"/>
              <a:ext cx="3171" cy="1237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27" name="Google Shape;127;p15"/>
          <p:cNvGrpSpPr/>
          <p:nvPr/>
        </p:nvGrpSpPr>
        <p:grpSpPr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128" name="Google Shape;128;p15"/>
            <p:cNvSpPr/>
            <p:nvPr/>
          </p:nvSpPr>
          <p:spPr>
            <a:xfrm flipH="1" rot="10800000">
              <a:off x="1874457" y="1694641"/>
              <a:ext cx="1125191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 flipH="1" rot="10800000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2160522" y="1673340"/>
              <a:ext cx="546703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2103309" y="1633103"/>
              <a:ext cx="661129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2538763" y="1727776"/>
              <a:ext cx="24156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2090595" y="1730144"/>
              <a:ext cx="238387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" name="Google Shape;135;p15"/>
            <p:cNvCxnSpPr>
              <a:endCxn id="13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36" name="Google Shape;136;p15"/>
            <p:cNvCxnSpPr/>
            <p:nvPr/>
          </p:nvCxnSpPr>
          <p:spPr>
            <a:xfrm rot="10800000">
              <a:off x="2996468" y="1734877"/>
              <a:ext cx="3180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37" name="Google Shape;137;p15"/>
          <p:cNvGrpSpPr/>
          <p:nvPr/>
        </p:nvGrpSpPr>
        <p:grpSpPr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138" name="Google Shape;138;p15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15"/>
            <p:cNvCxnSpPr>
              <a:endCxn id="14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46" name="Google Shape;146;p15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47" name="Google Shape;147;p15"/>
          <p:cNvGrpSpPr/>
          <p:nvPr/>
        </p:nvGrpSpPr>
        <p:grpSpPr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148" name="Google Shape;148;p15"/>
            <p:cNvSpPr/>
            <p:nvPr/>
          </p:nvSpPr>
          <p:spPr>
            <a:xfrm>
              <a:off x="1776853" y="4829382"/>
              <a:ext cx="1220685" cy="920604"/>
            </a:xfrm>
            <a:custGeom>
              <a:rect b="b" l="l" r="r" t="t"/>
              <a:pathLst>
                <a:path extrusionOk="0" h="921649" w="1220510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6102428" y="4916682"/>
              <a:ext cx="925435" cy="757117"/>
            </a:xfrm>
            <a:custGeom>
              <a:rect b="b" l="l" r="r" t="t"/>
              <a:pathLst>
                <a:path extrusionOk="0" h="758185" w="926304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5288109" y="4937315"/>
              <a:ext cx="725426" cy="1099963"/>
            </a:xfrm>
            <a:custGeom>
              <a:rect b="b" l="l" r="r" t="t"/>
              <a:pathLst>
                <a:path extrusionOk="0" h="1101479" w="72500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4300767" y="4956362"/>
              <a:ext cx="514307" cy="577758"/>
            </a:xfrm>
            <a:custGeom>
              <a:rect b="b" l="l" r="r" t="t"/>
              <a:pathLst>
                <a:path extrusionOk="0" h="578353" w="514180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3521369" y="4919856"/>
              <a:ext cx="593675" cy="1215832"/>
            </a:xfrm>
            <a:custGeom>
              <a:rect b="b" l="l" r="r" t="t"/>
              <a:pathLst>
                <a:path extrusionOk="0" h="1215612" w="594113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153" name="Google Shape;153;p15"/>
            <p:cNvGrpSpPr/>
            <p:nvPr/>
          </p:nvGrpSpPr>
          <p:grpSpPr>
            <a:xfrm>
              <a:off x="1757805" y="2331054"/>
              <a:ext cx="1079409" cy="2674512"/>
              <a:chOff x="1757805" y="2331054"/>
              <a:chExt cx="1079409" cy="2674512"/>
            </a:xfrm>
          </p:grpSpPr>
          <p:sp>
            <p:nvSpPr>
              <p:cNvPr id="154" name="Google Shape;154;p15"/>
              <p:cNvSpPr/>
              <p:nvPr/>
            </p:nvSpPr>
            <p:spPr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155" name="Google Shape;155;p15"/>
              <p:cNvGrpSpPr/>
              <p:nvPr/>
            </p:nvGrpSpPr>
            <p:grpSpPr>
              <a:xfrm>
                <a:off x="1783203" y="4616691"/>
                <a:ext cx="1030201" cy="388875"/>
                <a:chOff x="4128891" y="3607011"/>
                <a:chExt cx="565669" cy="338400"/>
              </a:xfrm>
            </p:grpSpPr>
            <p:sp>
              <p:nvSpPr>
                <p:cNvPr id="156" name="Google Shape;156;p15"/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57" name="Google Shape;157;p15"/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58" name="Google Shape;158;p15"/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61" name="Google Shape;161;p15"/>
              <p:cNvSpPr/>
              <p:nvPr/>
            </p:nvSpPr>
            <p:spPr>
              <a:xfrm>
                <a:off x="1802251" y="3602440"/>
                <a:ext cx="1027025" cy="1163452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62" name="Google Shape;162;p15"/>
              <p:cNvCxnSpPr/>
              <p:nvPr/>
            </p:nvCxnSpPr>
            <p:spPr>
              <a:xfrm>
                <a:off x="1781615" y="2805642"/>
                <a:ext cx="20636" cy="20205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3" name="Google Shape;163;p15"/>
              <p:cNvCxnSpPr/>
              <p:nvPr/>
            </p:nvCxnSpPr>
            <p:spPr>
              <a:xfrm flipH="1">
                <a:off x="2818166" y="2805642"/>
                <a:ext cx="4762" cy="19761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64" name="Google Shape;164;p15"/>
              <p:cNvGrpSpPr/>
              <p:nvPr/>
            </p:nvGrpSpPr>
            <p:grpSpPr>
              <a:xfrm>
                <a:off x="1757805" y="2331054"/>
                <a:ext cx="1079409" cy="430145"/>
                <a:chOff x="2183302" y="1574638"/>
                <a:chExt cx="1200053" cy="430113"/>
              </a:xfrm>
            </p:grpSpPr>
            <p:sp>
              <p:nvSpPr>
                <p:cNvPr id="165" name="Google Shape;165;p15"/>
                <p:cNvSpPr/>
                <p:nvPr/>
              </p:nvSpPr>
              <p:spPr>
                <a:xfrm flipH="1" rot="10800000">
                  <a:off x="2186832" y="1690499"/>
                  <a:ext cx="1194758" cy="31425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6" name="Google Shape;166;p15"/>
                <p:cNvSpPr/>
                <p:nvPr/>
              </p:nvSpPr>
              <p:spPr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7" name="Google Shape;167;p15"/>
                <p:cNvSpPr/>
                <p:nvPr/>
              </p:nvSpPr>
              <p:spPr>
                <a:xfrm flipH="1" rot="10800000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8" name="Google Shape;168;p15"/>
                <p:cNvSpPr/>
                <p:nvPr/>
              </p:nvSpPr>
              <p:spPr>
                <a:xfrm>
                  <a:off x="2490374" y="1671453"/>
                  <a:ext cx="582379" cy="157125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9" name="Google Shape;169;p15"/>
                <p:cNvSpPr/>
                <p:nvPr/>
              </p:nvSpPr>
              <p:spPr>
                <a:xfrm>
                  <a:off x="2430372" y="1630188"/>
                  <a:ext cx="702384" cy="109512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" name="Google Shape;170;p15"/>
                <p:cNvSpPr/>
                <p:nvPr/>
              </p:nvSpPr>
              <p:spPr>
                <a:xfrm>
                  <a:off x="2892745" y="1723828"/>
                  <a:ext cx="257658" cy="9522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" name="Google Shape;171;p15"/>
                <p:cNvSpPr/>
                <p:nvPr/>
              </p:nvSpPr>
              <p:spPr>
                <a:xfrm>
                  <a:off x="2418018" y="1725416"/>
                  <a:ext cx="254129" cy="9522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2" name="Google Shape;172;p15"/>
                <p:cNvCxnSpPr>
                  <a:endCxn id="167" idx="2"/>
                </p:cNvCxnSpPr>
                <p:nvPr/>
              </p:nvCxnSpPr>
              <p:spPr>
                <a:xfrm rot="10800000">
                  <a:off x="2183302" y="1731764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 rot="10800000">
                  <a:off x="3379825" y="1728590"/>
                  <a:ext cx="3530" cy="1222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74" name="Google Shape;174;p15"/>
            <p:cNvGrpSpPr/>
            <p:nvPr/>
          </p:nvGrpSpPr>
          <p:grpSpPr>
            <a:xfrm>
              <a:off x="3500438" y="3173883"/>
              <a:ext cx="522287" cy="1831685"/>
              <a:chOff x="3500438" y="3173883"/>
              <a:chExt cx="522287" cy="1831685"/>
            </a:xfrm>
          </p:grpSpPr>
          <p:sp>
            <p:nvSpPr>
              <p:cNvPr id="175" name="Google Shape;175;p15"/>
              <p:cNvSpPr/>
              <p:nvPr/>
            </p:nvSpPr>
            <p:spPr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76" name="Google Shape;176;p15"/>
              <p:cNvCxnSpPr/>
              <p:nvPr/>
            </p:nvCxnSpPr>
            <p:spPr>
              <a:xfrm flipH="1">
                <a:off x="4019802" y="3321497"/>
                <a:ext cx="1588" cy="15364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177" name="Google Shape;177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8" name="Google Shape;178;p15"/>
              <p:cNvGrpSpPr/>
              <p:nvPr/>
            </p:nvGrpSpPr>
            <p:grpSpPr>
              <a:xfrm>
                <a:off x="3511845" y="4783352"/>
                <a:ext cx="507957" cy="222216"/>
                <a:chOff x="4129087" y="3606297"/>
                <a:chExt cx="568256" cy="339233"/>
              </a:xfrm>
            </p:grpSpPr>
            <p:sp>
              <p:nvSpPr>
                <p:cNvPr id="179" name="Google Shape;179;p15"/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0" name="Google Shape;180;p15"/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1" name="Google Shape;181;p15"/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82" name="Google Shape;182;p15"/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3" name="Google Shape;183;p15"/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84" name="Google Shape;184;p15"/>
              <p:cNvSpPr/>
              <p:nvPr/>
            </p:nvSpPr>
            <p:spPr>
              <a:xfrm>
                <a:off x="3516608" y="3697675"/>
                <a:ext cx="498433" cy="1163452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85" name="Google Shape;185;p15"/>
              <p:cNvCxnSpPr>
                <a:stCxn id="186" idx="2"/>
              </p:cNvCxnSpPr>
              <p:nvPr/>
            </p:nvCxnSpPr>
            <p:spPr>
              <a:xfrm flipH="1">
                <a:off x="3507045" y="3262769"/>
                <a:ext cx="4800" cy="1688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87" name="Google Shape;187;p15"/>
              <p:cNvGrpSpPr/>
              <p:nvPr/>
            </p:nvGrpSpPr>
            <p:grpSpPr>
              <a:xfrm>
                <a:off x="3511845" y="3173883"/>
                <a:ext cx="503196" cy="242848"/>
                <a:chOff x="2185178" y="1574269"/>
                <a:chExt cx="1198011" cy="430447"/>
              </a:xfrm>
            </p:grpSpPr>
            <p:sp>
              <p:nvSpPr>
                <p:cNvPr id="188" name="Google Shape;188;p15"/>
                <p:cNvSpPr/>
                <p:nvPr/>
              </p:nvSpPr>
              <p:spPr>
                <a:xfrm flipH="1" rot="10800000">
                  <a:off x="2188958" y="1689617"/>
                  <a:ext cx="1194231" cy="3150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9" name="Google Shape;189;p15"/>
                <p:cNvSpPr/>
                <p:nvPr/>
              </p:nvSpPr>
              <p:spPr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6" name="Google Shape;186;p15"/>
                <p:cNvSpPr/>
                <p:nvPr/>
              </p:nvSpPr>
              <p:spPr>
                <a:xfrm flipH="1" rot="10800000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0" name="Google Shape;190;p15"/>
                <p:cNvSpPr/>
                <p:nvPr/>
              </p:nvSpPr>
              <p:spPr>
                <a:xfrm>
                  <a:off x="2491295" y="1669924"/>
                  <a:ext cx="581999" cy="15754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1" name="Google Shape;191;p15"/>
                <p:cNvSpPr/>
                <p:nvPr/>
              </p:nvSpPr>
              <p:spPr>
                <a:xfrm>
                  <a:off x="2430828" y="1630537"/>
                  <a:ext cx="702933" cy="10972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" name="Google Shape;192;p15"/>
                <p:cNvSpPr/>
                <p:nvPr/>
              </p:nvSpPr>
              <p:spPr>
                <a:xfrm>
                  <a:off x="2891892" y="1723378"/>
                  <a:ext cx="260764" cy="95655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" name="Google Shape;193;p15"/>
                <p:cNvSpPr/>
                <p:nvPr/>
              </p:nvSpPr>
              <p:spPr>
                <a:xfrm>
                  <a:off x="2419489" y="1726192"/>
                  <a:ext cx="253208" cy="92841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4" name="Google Shape;194;p15"/>
                <p:cNvCxnSpPr>
                  <a:endCxn id="186" idx="2"/>
                </p:cNvCxnSpPr>
                <p:nvPr/>
              </p:nvCxnSpPr>
              <p:spPr>
                <a:xfrm rot="10800000">
                  <a:off x="2185178" y="1731819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95" name="Google Shape;195;p15"/>
                <p:cNvCxnSpPr/>
                <p:nvPr/>
              </p:nvCxnSpPr>
              <p:spPr>
                <a:xfrm rot="10800000">
                  <a:off x="3379409" y="1729005"/>
                  <a:ext cx="3780" cy="1209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96" name="Google Shape;196;p15"/>
            <p:cNvGrpSpPr/>
            <p:nvPr/>
          </p:nvGrpSpPr>
          <p:grpSpPr>
            <a:xfrm>
              <a:off x="4299179" y="2486604"/>
              <a:ext cx="528594" cy="2517375"/>
              <a:chOff x="4299179" y="2486604"/>
              <a:chExt cx="528594" cy="2517375"/>
            </a:xfrm>
          </p:grpSpPr>
          <p:sp>
            <p:nvSpPr>
              <p:cNvPr id="197" name="Google Shape;197;p15"/>
              <p:cNvSpPr/>
              <p:nvPr/>
            </p:nvSpPr>
            <p:spPr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98" name="Google Shape;198;p15"/>
              <p:cNvCxnSpPr/>
              <p:nvPr/>
            </p:nvCxnSpPr>
            <p:spPr>
              <a:xfrm>
                <a:off x="4821424" y="2642154"/>
                <a:ext cx="6349" cy="221421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99" name="Google Shape;199;p15"/>
              <p:cNvGrpSpPr/>
              <p:nvPr/>
            </p:nvGrpSpPr>
            <p:grpSpPr>
              <a:xfrm>
                <a:off x="4319815" y="4781764"/>
                <a:ext cx="507958" cy="222216"/>
                <a:chOff x="4129012" y="3606230"/>
                <a:chExt cx="568256" cy="339300"/>
              </a:xfrm>
            </p:grpSpPr>
            <p:sp>
              <p:nvSpPr>
                <p:cNvPr id="200" name="Google Shape;200;p15"/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1" name="Google Shape;201;p15"/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2" name="Google Shape;202;p15"/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03" name="Google Shape;203;p15"/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4" name="Google Shape;204;p15"/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05" name="Google Shape;205;p15"/>
              <p:cNvSpPr/>
              <p:nvPr/>
            </p:nvSpPr>
            <p:spPr>
              <a:xfrm>
                <a:off x="4324577" y="3696087"/>
                <a:ext cx="498433" cy="11634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06" name="Google Shape;206;p15"/>
              <p:cNvCxnSpPr>
                <a:stCxn id="207" idx="2"/>
              </p:cNvCxnSpPr>
              <p:nvPr/>
            </p:nvCxnSpPr>
            <p:spPr>
              <a:xfrm>
                <a:off x="4300767" y="2640567"/>
                <a:ext cx="14400" cy="230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08" name="Google Shape;208;p15"/>
              <p:cNvGrpSpPr/>
              <p:nvPr/>
            </p:nvGrpSpPr>
            <p:grpSpPr>
              <a:xfrm>
                <a:off x="4299179" y="2486604"/>
                <a:ext cx="504783" cy="242849"/>
                <a:chOff x="2183224" y="1574808"/>
                <a:chExt cx="1200054" cy="430149"/>
              </a:xfrm>
            </p:grpSpPr>
            <p:sp>
              <p:nvSpPr>
                <p:cNvPr id="207" name="Google Shape;207;p15"/>
                <p:cNvSpPr/>
                <p:nvPr/>
              </p:nvSpPr>
              <p:spPr>
                <a:xfrm flipH="1" rot="10800000">
                  <a:off x="2186998" y="1690077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9" name="Google Shape;209;p15"/>
                <p:cNvSpPr/>
                <p:nvPr/>
              </p:nvSpPr>
              <p:spPr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0" name="Google Shape;210;p15"/>
                <p:cNvSpPr/>
                <p:nvPr/>
              </p:nvSpPr>
              <p:spPr>
                <a:xfrm flipH="1" rot="10800000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1" name="Google Shape;211;p15"/>
                <p:cNvSpPr/>
                <p:nvPr/>
              </p:nvSpPr>
              <p:spPr>
                <a:xfrm>
                  <a:off x="2488899" y="1670396"/>
                  <a:ext cx="584931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2" name="Google Shape;212;p15"/>
                <p:cNvSpPr/>
                <p:nvPr/>
              </p:nvSpPr>
              <p:spPr>
                <a:xfrm>
                  <a:off x="2428519" y="1631037"/>
                  <a:ext cx="705691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" name="Google Shape;213;p15"/>
                <p:cNvSpPr/>
                <p:nvPr/>
              </p:nvSpPr>
              <p:spPr>
                <a:xfrm>
                  <a:off x="2892690" y="1723814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214;p15"/>
                <p:cNvSpPr/>
                <p:nvPr/>
              </p:nvSpPr>
              <p:spPr>
                <a:xfrm>
                  <a:off x="2417196" y="1726625"/>
                  <a:ext cx="252843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5" name="Google Shape;215;p15"/>
                <p:cNvCxnSpPr>
                  <a:endCxn id="210" idx="2"/>
                </p:cNvCxnSpPr>
                <p:nvPr/>
              </p:nvCxnSpPr>
              <p:spPr>
                <a:xfrm rot="10800000">
                  <a:off x="2183224" y="1732248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16" name="Google Shape;216;p15"/>
                <p:cNvCxnSpPr/>
                <p:nvPr/>
              </p:nvCxnSpPr>
              <p:spPr>
                <a:xfrm rot="10800000">
                  <a:off x="3379505" y="1729437"/>
                  <a:ext cx="3773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217" name="Google Shape;217;p15"/>
            <p:cNvGrpSpPr/>
            <p:nvPr/>
          </p:nvGrpSpPr>
          <p:grpSpPr>
            <a:xfrm>
              <a:off x="5491163" y="3178644"/>
              <a:ext cx="522287" cy="1825335"/>
              <a:chOff x="5491163" y="3178644"/>
              <a:chExt cx="522287" cy="1825335"/>
            </a:xfrm>
          </p:grpSpPr>
          <p:sp>
            <p:nvSpPr>
              <p:cNvPr id="218" name="Google Shape;218;p15"/>
              <p:cNvSpPr/>
              <p:nvPr/>
            </p:nvSpPr>
            <p:spPr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100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19" name="Google Shape;219;p15"/>
              <p:cNvCxnSpPr>
                <a:stCxn id="220" idx="6"/>
              </p:cNvCxnSpPr>
              <p:nvPr/>
            </p:nvCxnSpPr>
            <p:spPr>
              <a:xfrm>
                <a:off x="6004010" y="3267530"/>
                <a:ext cx="6300" cy="1582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221" name="Google Shape;221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22" name="Google Shape;222;p15"/>
              <p:cNvGrpSpPr/>
              <p:nvPr/>
            </p:nvGrpSpPr>
            <p:grpSpPr>
              <a:xfrm>
                <a:off x="5502403" y="4781764"/>
                <a:ext cx="507957" cy="222216"/>
                <a:chOff x="4128900" y="3606230"/>
                <a:chExt cx="568256" cy="339300"/>
              </a:xfrm>
            </p:grpSpPr>
            <p:sp>
              <p:nvSpPr>
                <p:cNvPr id="223" name="Google Shape;223;p15"/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4" name="Google Shape;224;p15"/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5" name="Google Shape;225;p15"/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26" name="Google Shape;226;p15"/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7" name="Google Shape;227;p15"/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28" name="Google Shape;228;p15"/>
              <p:cNvSpPr/>
              <p:nvPr/>
            </p:nvSpPr>
            <p:spPr>
              <a:xfrm>
                <a:off x="5507166" y="3694500"/>
                <a:ext cx="498433" cy="116504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29" name="Google Shape;229;p15"/>
              <p:cNvCxnSpPr>
                <a:stCxn id="221" idx="1"/>
              </p:cNvCxnSpPr>
              <p:nvPr/>
            </p:nvCxnSpPr>
            <p:spPr>
              <a:xfrm>
                <a:off x="5491163" y="3316941"/>
                <a:ext cx="6300" cy="1633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30" name="Google Shape;230;p15"/>
              <p:cNvGrpSpPr/>
              <p:nvPr/>
            </p:nvGrpSpPr>
            <p:grpSpPr>
              <a:xfrm>
                <a:off x="5500816" y="3178644"/>
                <a:ext cx="504782" cy="242849"/>
                <a:chOff x="2183606" y="1573485"/>
                <a:chExt cx="1200052" cy="430149"/>
              </a:xfrm>
            </p:grpSpPr>
            <p:sp>
              <p:nvSpPr>
                <p:cNvPr id="231" name="Google Shape;231;p15"/>
                <p:cNvSpPr/>
                <p:nvPr/>
              </p:nvSpPr>
              <p:spPr>
                <a:xfrm flipH="1" rot="10800000">
                  <a:off x="2187379" y="1688754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2" name="Google Shape;232;p15"/>
                <p:cNvSpPr/>
                <p:nvPr/>
              </p:nvSpPr>
              <p:spPr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0" name="Google Shape;220;p15"/>
                <p:cNvSpPr/>
                <p:nvPr/>
              </p:nvSpPr>
              <p:spPr>
                <a:xfrm flipH="1" rot="10800000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3" name="Google Shape;233;p15"/>
                <p:cNvSpPr/>
                <p:nvPr/>
              </p:nvSpPr>
              <p:spPr>
                <a:xfrm>
                  <a:off x="2489279" y="1669074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4" name="Google Shape;234;p15"/>
                <p:cNvSpPr/>
                <p:nvPr/>
              </p:nvSpPr>
              <p:spPr>
                <a:xfrm>
                  <a:off x="2428899" y="1629714"/>
                  <a:ext cx="705692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15"/>
                <p:cNvSpPr/>
                <p:nvPr/>
              </p:nvSpPr>
              <p:spPr>
                <a:xfrm>
                  <a:off x="2893071" y="1722492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" name="Google Shape;236;p15"/>
                <p:cNvSpPr/>
                <p:nvPr/>
              </p:nvSpPr>
              <p:spPr>
                <a:xfrm>
                  <a:off x="2417579" y="1725302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7" name="Google Shape;237;p15"/>
                <p:cNvCxnSpPr>
                  <a:endCxn id="220" idx="2"/>
                </p:cNvCxnSpPr>
                <p:nvPr/>
              </p:nvCxnSpPr>
              <p:spPr>
                <a:xfrm rot="10800000">
                  <a:off x="2183606" y="173092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38" name="Google Shape;238;p15"/>
                <p:cNvCxnSpPr/>
                <p:nvPr/>
              </p:nvCxnSpPr>
              <p:spPr>
                <a:xfrm rot="10800000">
                  <a:off x="3379883" y="1728114"/>
                  <a:ext cx="3775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239" name="Google Shape;239;p15"/>
            <p:cNvGrpSpPr/>
            <p:nvPr/>
          </p:nvGrpSpPr>
          <p:grpSpPr>
            <a:xfrm>
              <a:off x="6472285" y="2648504"/>
              <a:ext cx="522243" cy="2353889"/>
              <a:chOff x="6472285" y="2648504"/>
              <a:chExt cx="522243" cy="2353889"/>
            </a:xfrm>
          </p:grpSpPr>
          <p:sp>
            <p:nvSpPr>
              <p:cNvPr id="240" name="Google Shape;240;p15"/>
              <p:cNvSpPr/>
              <p:nvPr/>
            </p:nvSpPr>
            <p:spPr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41" name="Google Shape;241;p15"/>
              <p:cNvCxnSpPr/>
              <p:nvPr/>
            </p:nvCxnSpPr>
            <p:spPr>
              <a:xfrm>
                <a:off x="6994528" y="2846910"/>
                <a:ext cx="0" cy="19983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42" name="Google Shape;242;p15"/>
              <p:cNvGrpSpPr/>
              <p:nvPr/>
            </p:nvGrpSpPr>
            <p:grpSpPr>
              <a:xfrm>
                <a:off x="6486571" y="4765893"/>
                <a:ext cx="507957" cy="236499"/>
                <a:chOff x="4128808" y="3606294"/>
                <a:chExt cx="568256" cy="339218"/>
              </a:xfrm>
            </p:grpSpPr>
            <p:sp>
              <p:nvSpPr>
                <p:cNvPr id="243" name="Google Shape;243;p15"/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44" name="Google Shape;244;p15"/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45" name="Google Shape;245;p15"/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46" name="Google Shape;246;p15"/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15"/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48" name="Google Shape;248;p15"/>
              <p:cNvSpPr/>
              <p:nvPr/>
            </p:nvSpPr>
            <p:spPr>
              <a:xfrm>
                <a:off x="6491333" y="3610376"/>
                <a:ext cx="498433" cy="12380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49" name="Google Shape;249;p15"/>
              <p:cNvCxnSpPr/>
              <p:nvPr/>
            </p:nvCxnSpPr>
            <p:spPr>
              <a:xfrm>
                <a:off x="6472285" y="2818340"/>
                <a:ext cx="9524" cy="2126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50" name="Google Shape;250;p15"/>
              <p:cNvGrpSpPr/>
              <p:nvPr/>
            </p:nvGrpSpPr>
            <p:grpSpPr>
              <a:xfrm>
                <a:off x="6478635" y="2648504"/>
                <a:ext cx="504782" cy="242849"/>
                <a:chOff x="2184464" y="1575651"/>
                <a:chExt cx="1200052" cy="430151"/>
              </a:xfrm>
            </p:grpSpPr>
            <p:sp>
              <p:nvSpPr>
                <p:cNvPr id="251" name="Google Shape;251;p15"/>
                <p:cNvSpPr/>
                <p:nvPr/>
              </p:nvSpPr>
              <p:spPr>
                <a:xfrm flipH="1" rot="10800000">
                  <a:off x="2188237" y="1690921"/>
                  <a:ext cx="1196279" cy="314881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2" name="Google Shape;252;p15"/>
                <p:cNvSpPr/>
                <p:nvPr/>
              </p:nvSpPr>
              <p:spPr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3" name="Google Shape;253;p15"/>
                <p:cNvSpPr/>
                <p:nvPr/>
              </p:nvSpPr>
              <p:spPr>
                <a:xfrm flipH="1" rot="10800000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4" name="Google Shape;254;p15"/>
                <p:cNvSpPr/>
                <p:nvPr/>
              </p:nvSpPr>
              <p:spPr>
                <a:xfrm>
                  <a:off x="2490137" y="1671240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5" name="Google Shape;255;p15"/>
                <p:cNvSpPr/>
                <p:nvPr/>
              </p:nvSpPr>
              <p:spPr>
                <a:xfrm>
                  <a:off x="2429757" y="1631880"/>
                  <a:ext cx="705692" cy="10964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15"/>
                <p:cNvSpPr/>
                <p:nvPr/>
              </p:nvSpPr>
              <p:spPr>
                <a:xfrm>
                  <a:off x="2893929" y="1724658"/>
                  <a:ext cx="256615" cy="9558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15"/>
                <p:cNvSpPr/>
                <p:nvPr/>
              </p:nvSpPr>
              <p:spPr>
                <a:xfrm>
                  <a:off x="2418437" y="1727469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8" name="Google Shape;258;p15"/>
                <p:cNvCxnSpPr>
                  <a:endCxn id="253" idx="2"/>
                </p:cNvCxnSpPr>
                <p:nvPr/>
              </p:nvCxnSpPr>
              <p:spPr>
                <a:xfrm rot="10800000">
                  <a:off x="2184464" y="1733092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59" name="Google Shape;259;p15"/>
                <p:cNvCxnSpPr/>
                <p:nvPr/>
              </p:nvCxnSpPr>
              <p:spPr>
                <a:xfrm rot="10800000">
                  <a:off x="3380741" y="1730281"/>
                  <a:ext cx="3775" cy="12089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260" name="Google Shape;260;p15"/>
          <p:cNvGrpSpPr/>
          <p:nvPr/>
        </p:nvGrpSpPr>
        <p:grpSpPr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261" name="Google Shape;261;p15"/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2" name="Google Shape;262;p15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Algorithm</a:t>
              </a:r>
              <a:endParaRPr/>
            </a:p>
          </p:txBody>
        </p:sp>
        <p:cxnSp>
          <p:nvCxnSpPr>
            <p:cNvPr id="263" name="Google Shape;263;p15"/>
            <p:cNvCxnSpPr/>
            <p:nvPr/>
          </p:nvCxnSpPr>
          <p:spPr>
            <a:xfrm flipH="1" rot="10800000">
              <a:off x="2833815" y="807352"/>
              <a:ext cx="1517968" cy="214291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4" name="Google Shape;264;p15"/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5" name="Google Shape;265;p15"/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6" name="Google Shape;266;p15"/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7" name="Google Shape;267;p15"/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271" name="Google Shape;271;p15"/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2" name="Google Shape;272;p15"/>
            <p:cNvCxnSpPr>
              <a:endCxn id="267" idx="2"/>
            </p:cNvCxnSpPr>
            <p:nvPr/>
          </p:nvCxnSpPr>
          <p:spPr>
            <a:xfrm flipH="1" rot="10800000">
              <a:off x="3997770" y="985135"/>
              <a:ext cx="2561100" cy="46980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3" name="Google Shape;273;p15"/>
            <p:cNvCxnSpPr/>
            <p:nvPr/>
          </p:nvCxnSpPr>
          <p:spPr>
            <a:xfrm>
              <a:off x="3991345" y="1508959"/>
              <a:ext cx="1581481" cy="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4" name="Google Shape;274;p15"/>
            <p:cNvCxnSpPr/>
            <p:nvPr/>
          </p:nvCxnSpPr>
          <p:spPr>
            <a:xfrm flipH="1" rot="10800000">
              <a:off x="5996777" y="1083550"/>
              <a:ext cx="751044" cy="396836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75" name="Google Shape;275;p15"/>
          <p:cNvGrpSpPr/>
          <p:nvPr/>
        </p:nvGrpSpPr>
        <p:grpSpPr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276" name="Google Shape;276;p15"/>
            <p:cNvSpPr txBox="1"/>
            <p:nvPr/>
          </p:nvSpPr>
          <p:spPr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277" name="Google Shape;277;p15"/>
            <p:cNvSpPr txBox="1"/>
            <p:nvPr/>
          </p:nvSpPr>
          <p:spPr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278" name="Google Shape;278;p15"/>
            <p:cNvCxnSpPr/>
            <p:nvPr/>
          </p:nvCxnSpPr>
          <p:spPr>
            <a:xfrm>
              <a:off x="1557338" y="3613150"/>
              <a:ext cx="6207125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279" name="Google Shape;279;p15"/>
          <p:cNvGrpSpPr/>
          <p:nvPr/>
        </p:nvGrpSpPr>
        <p:grpSpPr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descr="fig42_table.pdf" id="280" name="Google Shape;28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46102" y="4471477"/>
              <a:ext cx="966463" cy="966962"/>
            </a:xfrm>
            <a:prstGeom prst="rect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grpSp>
          <p:nvGrpSpPr>
            <p:cNvPr id="281" name="Google Shape;281;p15"/>
            <p:cNvGrpSpPr/>
            <p:nvPr/>
          </p:nvGrpSpPr>
          <p:grpSpPr>
            <a:xfrm>
              <a:off x="-3025207" y="5228700"/>
              <a:ext cx="3405278" cy="363530"/>
              <a:chOff x="-3025207" y="5228700"/>
              <a:chExt cx="3405278" cy="363530"/>
            </a:xfrm>
          </p:grpSpPr>
          <p:grpSp>
            <p:nvGrpSpPr>
              <p:cNvPr id="282" name="Google Shape;282;p15"/>
              <p:cNvGrpSpPr/>
              <p:nvPr/>
            </p:nvGrpSpPr>
            <p:grpSpPr>
              <a:xfrm>
                <a:off x="-3025207" y="5258861"/>
                <a:ext cx="430224" cy="333369"/>
                <a:chOff x="2931721" y="3908607"/>
                <a:chExt cx="430314" cy="333310"/>
              </a:xfrm>
            </p:grpSpPr>
            <p:sp>
              <p:nvSpPr>
                <p:cNvPr id="283" name="Google Shape;283;p15"/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84" name="Google Shape;284;p15"/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15"/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15"/>
                <p:cNvCxnSpPr>
                  <a:stCxn id="283" idx="2"/>
                </p:cNvCxnSpPr>
                <p:nvPr/>
              </p:nvCxnSpPr>
              <p:spPr>
                <a:xfrm rot="10800000">
                  <a:off x="3147760" y="4003717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87" name="Google Shape;287;p15"/>
              <p:cNvGrpSpPr/>
              <p:nvPr/>
            </p:nvGrpSpPr>
            <p:grpSpPr>
              <a:xfrm>
                <a:off x="-2217148" y="5257274"/>
                <a:ext cx="430223" cy="333369"/>
                <a:chOff x="2931743" y="3908513"/>
                <a:chExt cx="430312" cy="333376"/>
              </a:xfrm>
            </p:grpSpPr>
            <p:sp>
              <p:nvSpPr>
                <p:cNvPr id="288" name="Google Shape;288;p15"/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89" name="Google Shape;289;p15"/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0" name="Google Shape;290;p15"/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1" name="Google Shape;291;p15"/>
                <p:cNvCxnSpPr>
                  <a:stCxn id="288" idx="2"/>
                </p:cNvCxnSpPr>
                <p:nvPr/>
              </p:nvCxnSpPr>
              <p:spPr>
                <a:xfrm rot="10800000">
                  <a:off x="3147781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92" name="Google Shape;292;p15"/>
              <p:cNvGrpSpPr/>
              <p:nvPr/>
            </p:nvGrpSpPr>
            <p:grpSpPr>
              <a:xfrm>
                <a:off x="-1034429" y="5257274"/>
                <a:ext cx="430224" cy="333369"/>
                <a:chOff x="2931774" y="3908513"/>
                <a:chExt cx="430314" cy="333376"/>
              </a:xfrm>
            </p:grpSpPr>
            <p:sp>
              <p:nvSpPr>
                <p:cNvPr id="293" name="Google Shape;293;p15"/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94" name="Google Shape;294;p15"/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5" name="Google Shape;295;p15"/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6" name="Google Shape;296;p15"/>
                <p:cNvCxnSpPr>
                  <a:stCxn id="293" idx="2"/>
                </p:cNvCxnSpPr>
                <p:nvPr/>
              </p:nvCxnSpPr>
              <p:spPr>
                <a:xfrm rot="10800000">
                  <a:off x="3147813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97" name="Google Shape;297;p15"/>
              <p:cNvGrpSpPr/>
              <p:nvPr/>
            </p:nvGrpSpPr>
            <p:grpSpPr>
              <a:xfrm>
                <a:off x="-50153" y="5228700"/>
                <a:ext cx="430224" cy="350830"/>
                <a:chOff x="2931800" y="3912336"/>
                <a:chExt cx="430314" cy="329569"/>
              </a:xfrm>
            </p:grpSpPr>
            <p:sp>
              <p:nvSpPr>
                <p:cNvPr id="298" name="Google Shape;298;p15"/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99" name="Google Shape;299;p15"/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0" name="Google Shape;300;p15"/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1" name="Google Shape;301;p15"/>
                <p:cNvCxnSpPr>
                  <a:stCxn id="298" idx="2"/>
                </p:cNvCxnSpPr>
                <p:nvPr/>
              </p:nvCxnSpPr>
              <p:spPr>
                <a:xfrm rot="10800000">
                  <a:off x="3147839" y="4003405"/>
                  <a:ext cx="1500" cy="238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302" name="Google Shape;302;p15"/>
          <p:cNvGrpSpPr/>
          <p:nvPr/>
        </p:nvGrpSpPr>
        <p:grpSpPr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303" name="Google Shape;303;p15"/>
            <p:cNvCxnSpPr/>
            <p:nvPr/>
          </p:nvCxnSpPr>
          <p:spPr>
            <a:xfrm>
              <a:off x="-4267279" y="4047450"/>
              <a:ext cx="0" cy="422418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4" name="Google Shape;304;p15"/>
            <p:cNvCxnSpPr/>
            <p:nvPr/>
          </p:nvCxnSpPr>
          <p:spPr>
            <a:xfrm>
              <a:off x="-2808366" y="4361882"/>
              <a:ext cx="0" cy="8718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05" name="Google Shape;305;p15"/>
            <p:cNvCxnSpPr/>
            <p:nvPr/>
          </p:nvCxnSpPr>
          <p:spPr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06" name="Google Shape;306;p15"/>
            <p:cNvCxnSpPr/>
            <p:nvPr/>
          </p:nvCxnSpPr>
          <p:spPr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07" name="Google Shape;307;p15"/>
            <p:cNvCxnSpPr/>
            <p:nvPr/>
          </p:nvCxnSpPr>
          <p:spPr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cxnSp>
        <p:nvCxnSpPr>
          <p:cNvPr id="308" name="Google Shape;308;p15"/>
          <p:cNvCxnSpPr/>
          <p:nvPr/>
        </p:nvCxnSpPr>
        <p:spPr>
          <a:xfrm flipH="1">
            <a:off x="2872960" y="5842070"/>
            <a:ext cx="150812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5"/>
          <p:cNvSpPr txBox="1"/>
          <p:nvPr/>
        </p:nvSpPr>
        <p:spPr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0" name="Google Shape;310;p15"/>
          <p:cNvSpPr txBox="1"/>
          <p:nvPr/>
        </p:nvSpPr>
        <p:spPr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311" name="Google Shape;311;p15"/>
          <p:cNvGrpSpPr/>
          <p:nvPr/>
        </p:nvGrpSpPr>
        <p:grpSpPr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312" name="Google Shape;312;p15"/>
            <p:cNvSpPr/>
            <p:nvPr/>
          </p:nvSpPr>
          <p:spPr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3" name="Google Shape;313;p15"/>
            <p:cNvCxnSpPr/>
            <p:nvPr/>
          </p:nvCxnSpPr>
          <p:spPr>
            <a:xfrm>
              <a:off x="-2933828" y="3101502"/>
              <a:ext cx="471543" cy="0"/>
            </a:xfrm>
            <a:prstGeom prst="straightConnector1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4" name="Google Shape;314;p15"/>
            <p:cNvSpPr/>
            <p:nvPr/>
          </p:nvSpPr>
          <p:spPr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5"/>
            <p:cNvSpPr txBox="1"/>
            <p:nvPr/>
          </p:nvSpPr>
          <p:spPr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</p:txBody>
        </p:sp>
        <p:cxnSp>
          <p:nvCxnSpPr>
            <p:cNvPr id="316" name="Google Shape;316;p15"/>
            <p:cNvCxnSpPr/>
            <p:nvPr/>
          </p:nvCxnSpPr>
          <p:spPr>
            <a:xfrm>
              <a:off x="-3621642" y="2717403"/>
              <a:ext cx="405953" cy="300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17" name="Google Shape;317;p15"/>
          <p:cNvSpPr/>
          <p:nvPr/>
        </p:nvSpPr>
        <p:spPr>
          <a:xfrm>
            <a:off x="4084223" y="5708720"/>
            <a:ext cx="982662" cy="233362"/>
          </a:xfrm>
          <a:custGeom>
            <a:rect b="b" l="l" r="r" t="t"/>
            <a:pathLst>
              <a:path extrusionOk="0" h="167" w="554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15"/>
          <p:cNvGrpSpPr/>
          <p:nvPr/>
        </p:nvGrpSpPr>
        <p:grpSpPr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319" name="Google Shape;319;p15"/>
            <p:cNvSpPr/>
            <p:nvPr/>
          </p:nvSpPr>
          <p:spPr>
            <a:xfrm flipH="1" rot="10800000">
              <a:off x="1874448" y="1694641"/>
              <a:ext cx="1125200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1" name="Google Shape;321;p15"/>
            <p:cNvSpPr/>
            <p:nvPr/>
          </p:nvSpPr>
          <p:spPr>
            <a:xfrm flipH="1" rot="10800000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2159710" y="1673339"/>
              <a:ext cx="548337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2102657" y="1633104"/>
              <a:ext cx="662442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2536889" y="1727776"/>
              <a:ext cx="244059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2089979" y="1730143"/>
              <a:ext cx="240888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6" name="Google Shape;326;p15"/>
            <p:cNvCxnSpPr>
              <a:endCxn id="32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327" name="Google Shape;327;p15"/>
            <p:cNvCxnSpPr/>
            <p:nvPr/>
          </p:nvCxnSpPr>
          <p:spPr>
            <a:xfrm rot="10800000">
              <a:off x="2996479" y="1734876"/>
              <a:ext cx="3169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328" name="Google Shape;328;p15"/>
          <p:cNvSpPr txBox="1"/>
          <p:nvPr/>
        </p:nvSpPr>
        <p:spPr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30" name="Google Shape;330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"/>
          <p:cNvSpPr txBox="1"/>
          <p:nvPr>
            <p:ph type="title"/>
          </p:nvPr>
        </p:nvSpPr>
        <p:spPr>
          <a:xfrm>
            <a:off x="417576" y="261255"/>
            <a:ext cx="1121359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800"/>
              <a:t>Software-Defined Networking (SDN) control plane</a:t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controller computes, installs forwarding tables in routers</a:t>
            </a:r>
            <a:endParaRPr/>
          </a:p>
        </p:txBody>
      </p:sp>
      <p:grpSp>
        <p:nvGrpSpPr>
          <p:cNvPr id="338" name="Google Shape;338;p16"/>
          <p:cNvGrpSpPr/>
          <p:nvPr/>
        </p:nvGrpSpPr>
        <p:grpSpPr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339" name="Google Shape;339;p16"/>
            <p:cNvSpPr/>
            <p:nvPr/>
          </p:nvSpPr>
          <p:spPr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D0D0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1740529" y="2067687"/>
              <a:ext cx="198438" cy="1386150"/>
            </a:xfrm>
            <a:custGeom>
              <a:rect b="b" l="l" r="r" t="t"/>
              <a:pathLst>
                <a:path extrusionOk="0" h="1385496" w="199855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D0D0F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41" name="Google Shape;341;p16"/>
            <p:cNvSpPr/>
            <p:nvPr/>
          </p:nvSpPr>
          <p:spPr>
            <a:xfrm flipH="1">
              <a:off x="6969753" y="2061336"/>
              <a:ext cx="219075" cy="1370272"/>
            </a:xfrm>
            <a:custGeom>
              <a:rect b="b" l="l" r="r" t="t"/>
              <a:pathLst>
                <a:path extrusionOk="0" h="1370199" w="22023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rgbClr val="D0D0F4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342" name="Google Shape;342;p16"/>
            <p:cNvGrpSpPr/>
            <p:nvPr/>
          </p:nvGrpSpPr>
          <p:grpSpPr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343" name="Google Shape;343;p1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16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1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6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48" name="Google Shape;348;p16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349" name="Google Shape;349;p16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" name="Google Shape;350;p16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1" name="Google Shape;351;p16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52" name="Google Shape;352;p16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353" name="Google Shape;353;p16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54;p16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5" name="Google Shape;355;p16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6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57" name="Google Shape;357;p16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358" name="Google Shape;358;p16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16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0" name="Google Shape;360;p1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61" name="Google Shape;361;p16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362" name="Google Shape;362;p16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16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4" name="Google Shape;364;p16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5" name="Google Shape;375;p16"/>
            <p:cNvGrpSpPr/>
            <p:nvPr/>
          </p:nvGrpSpPr>
          <p:grpSpPr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376" name="Google Shape;376;p1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1" name="Google Shape;381;p16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382" name="Google Shape;382;p16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" name="Google Shape;383;p16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4" name="Google Shape;384;p16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5" name="Google Shape;385;p16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386" name="Google Shape;386;p16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" name="Google Shape;387;p16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8" name="Google Shape;388;p16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6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0" name="Google Shape;390;p16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391" name="Google Shape;391;p16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16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3" name="Google Shape;393;p1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" name="Google Shape;394;p16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395" name="Google Shape;395;p16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16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7" name="Google Shape;397;p16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16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1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6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6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6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6"/>
          <p:cNvSpPr/>
          <p:nvPr/>
        </p:nvSpPr>
        <p:spPr>
          <a:xfrm>
            <a:off x="4341668" y="5696917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6"/>
          <p:cNvCxnSpPr/>
          <p:nvPr/>
        </p:nvCxnSpPr>
        <p:spPr>
          <a:xfrm flipH="1" rot="10800000">
            <a:off x="5011593" y="5847730"/>
            <a:ext cx="1316037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16"/>
          <p:cNvCxnSpPr/>
          <p:nvPr/>
        </p:nvCxnSpPr>
        <p:spPr>
          <a:xfrm>
            <a:off x="4900468" y="6035055"/>
            <a:ext cx="2259012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16"/>
          <p:cNvCxnSpPr/>
          <p:nvPr/>
        </p:nvCxnSpPr>
        <p:spPr>
          <a:xfrm>
            <a:off x="4913168" y="6139830"/>
            <a:ext cx="714375" cy="2762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16"/>
          <p:cNvCxnSpPr/>
          <p:nvPr/>
        </p:nvCxnSpPr>
        <p:spPr>
          <a:xfrm flipH="1" rot="10800000">
            <a:off x="5930755" y="6333505"/>
            <a:ext cx="1247775" cy="825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16"/>
          <p:cNvCxnSpPr/>
          <p:nvPr/>
        </p:nvCxnSpPr>
        <p:spPr>
          <a:xfrm>
            <a:off x="6591155" y="5881067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16"/>
          <p:cNvCxnSpPr/>
          <p:nvPr/>
        </p:nvCxnSpPr>
        <p:spPr>
          <a:xfrm flipH="1" rot="10800000">
            <a:off x="5875193" y="6035055"/>
            <a:ext cx="1790700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16"/>
          <p:cNvCxnSpPr/>
          <p:nvPr/>
        </p:nvCxnSpPr>
        <p:spPr>
          <a:xfrm flipH="1" rot="10800000">
            <a:off x="7202343" y="6063630"/>
            <a:ext cx="588962" cy="2698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16"/>
          <p:cNvCxnSpPr/>
          <p:nvPr/>
        </p:nvCxnSpPr>
        <p:spPr>
          <a:xfrm>
            <a:off x="6345093" y="5847730"/>
            <a:ext cx="814387" cy="401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17" name="Google Shape;417;p16"/>
          <p:cNvGrpSpPr/>
          <p:nvPr/>
        </p:nvGrpSpPr>
        <p:grpSpPr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418" name="Google Shape;418;p16"/>
            <p:cNvSpPr txBox="1"/>
            <p:nvPr/>
          </p:nvSpPr>
          <p:spPr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419" name="Google Shape;419;p16"/>
            <p:cNvSpPr txBox="1"/>
            <p:nvPr/>
          </p:nvSpPr>
          <p:spPr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420" name="Google Shape;420;p16"/>
            <p:cNvCxnSpPr/>
            <p:nvPr/>
          </p:nvCxnSpPr>
          <p:spPr>
            <a:xfrm flipH="1" rot="10800000">
              <a:off x="1526216" y="3579760"/>
              <a:ext cx="6978041" cy="1111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421" name="Google Shape;421;p16"/>
          <p:cNvGrpSpPr/>
          <p:nvPr/>
        </p:nvGrpSpPr>
        <p:grpSpPr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422" name="Google Shape;422;p16"/>
            <p:cNvGrpSpPr/>
            <p:nvPr/>
          </p:nvGrpSpPr>
          <p:grpSpPr>
            <a:xfrm>
              <a:off x="2433511" y="2793697"/>
              <a:ext cx="349311" cy="317387"/>
              <a:chOff x="2931664" y="3912203"/>
              <a:chExt cx="430525" cy="329314"/>
            </a:xfrm>
          </p:grpSpPr>
          <p:sp>
            <p:nvSpPr>
              <p:cNvPr id="423" name="Google Shape;423;p16"/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24" name="Google Shape;424;p16"/>
              <p:cNvCxnSpPr/>
              <p:nvPr/>
            </p:nvCxnSpPr>
            <p:spPr>
              <a:xfrm>
                <a:off x="2931664" y="40044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16"/>
              <p:cNvCxnSpPr/>
              <p:nvPr/>
            </p:nvCxnSpPr>
            <p:spPr>
              <a:xfrm>
                <a:off x="2931664" y="4066980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16"/>
              <p:cNvCxnSpPr>
                <a:stCxn id="423" idx="2"/>
              </p:cNvCxnSpPr>
              <p:nvPr/>
            </p:nvCxnSpPr>
            <p:spPr>
              <a:xfrm rot="10800000">
                <a:off x="3149862" y="40045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27" name="Google Shape;427;p16"/>
            <p:cNvGrpSpPr/>
            <p:nvPr/>
          </p:nvGrpSpPr>
          <p:grpSpPr>
            <a:xfrm>
              <a:off x="3348072" y="2792111"/>
              <a:ext cx="350899" cy="317387"/>
              <a:chOff x="2930935" y="3912603"/>
              <a:chExt cx="430525" cy="329314"/>
            </a:xfrm>
          </p:grpSpPr>
          <p:sp>
            <p:nvSpPr>
              <p:cNvPr id="428" name="Google Shape;428;p16"/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29" name="Google Shape;429;p16"/>
              <p:cNvCxnSpPr/>
              <p:nvPr/>
            </p:nvCxnSpPr>
            <p:spPr>
              <a:xfrm>
                <a:off x="2930935" y="400481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16"/>
              <p:cNvCxnSpPr/>
              <p:nvPr/>
            </p:nvCxnSpPr>
            <p:spPr>
              <a:xfrm>
                <a:off x="2930935" y="406738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1" name="Google Shape;431;p16"/>
              <p:cNvCxnSpPr>
                <a:stCxn id="428" idx="2"/>
              </p:cNvCxnSpPr>
              <p:nvPr/>
            </p:nvCxnSpPr>
            <p:spPr>
              <a:xfrm rot="10800000">
                <a:off x="3147320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32" name="Google Shape;432;p16"/>
            <p:cNvGrpSpPr/>
            <p:nvPr/>
          </p:nvGrpSpPr>
          <p:grpSpPr>
            <a:xfrm>
              <a:off x="4181655" y="2792111"/>
              <a:ext cx="350900" cy="317387"/>
              <a:chOff x="2931113" y="3912603"/>
              <a:chExt cx="430527" cy="329314"/>
            </a:xfrm>
          </p:grpSpPr>
          <p:sp>
            <p:nvSpPr>
              <p:cNvPr id="433" name="Google Shape;433;p16"/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34" name="Google Shape;434;p16"/>
              <p:cNvCxnSpPr/>
              <p:nvPr/>
            </p:nvCxnSpPr>
            <p:spPr>
              <a:xfrm>
                <a:off x="2931113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16"/>
              <p:cNvCxnSpPr/>
              <p:nvPr/>
            </p:nvCxnSpPr>
            <p:spPr>
              <a:xfrm>
                <a:off x="2931113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16"/>
              <p:cNvCxnSpPr>
                <a:stCxn id="433" idx="2"/>
              </p:cNvCxnSpPr>
              <p:nvPr/>
            </p:nvCxnSpPr>
            <p:spPr>
              <a:xfrm rot="10800000">
                <a:off x="3147499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37" name="Google Shape;437;p16"/>
            <p:cNvGrpSpPr/>
            <p:nvPr/>
          </p:nvGrpSpPr>
          <p:grpSpPr>
            <a:xfrm>
              <a:off x="5374078" y="2795285"/>
              <a:ext cx="349311" cy="317387"/>
              <a:chOff x="2931371" y="3912603"/>
              <a:chExt cx="430525" cy="329314"/>
            </a:xfrm>
          </p:grpSpPr>
          <p:sp>
            <p:nvSpPr>
              <p:cNvPr id="438" name="Google Shape;438;p16"/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39" name="Google Shape;439;p16"/>
              <p:cNvCxnSpPr/>
              <p:nvPr/>
            </p:nvCxnSpPr>
            <p:spPr>
              <a:xfrm>
                <a:off x="2931371" y="40048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0" name="Google Shape;440;p16"/>
              <p:cNvCxnSpPr/>
              <p:nvPr/>
            </p:nvCxnSpPr>
            <p:spPr>
              <a:xfrm>
                <a:off x="2931371" y="406738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1" name="Google Shape;441;p16"/>
              <p:cNvCxnSpPr>
                <a:stCxn id="438" idx="2"/>
              </p:cNvCxnSpPr>
              <p:nvPr/>
            </p:nvCxnSpPr>
            <p:spPr>
              <a:xfrm rot="10800000">
                <a:off x="3149569" y="40049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42" name="Google Shape;442;p16"/>
            <p:cNvGrpSpPr/>
            <p:nvPr/>
          </p:nvGrpSpPr>
          <p:grpSpPr>
            <a:xfrm>
              <a:off x="6379141" y="2792111"/>
              <a:ext cx="350900" cy="317387"/>
              <a:chOff x="2931587" y="3912603"/>
              <a:chExt cx="430527" cy="329314"/>
            </a:xfrm>
          </p:grpSpPr>
          <p:sp>
            <p:nvSpPr>
              <p:cNvPr id="443" name="Google Shape;443;p16"/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44" name="Google Shape;444;p16"/>
              <p:cNvCxnSpPr/>
              <p:nvPr/>
            </p:nvCxnSpPr>
            <p:spPr>
              <a:xfrm>
                <a:off x="2931587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5" name="Google Shape;445;p16"/>
              <p:cNvCxnSpPr/>
              <p:nvPr/>
            </p:nvCxnSpPr>
            <p:spPr>
              <a:xfrm>
                <a:off x="2931587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6" name="Google Shape;446;p16"/>
              <p:cNvCxnSpPr>
                <a:stCxn id="443" idx="2"/>
              </p:cNvCxnSpPr>
              <p:nvPr/>
            </p:nvCxnSpPr>
            <p:spPr>
              <a:xfrm rot="10800000">
                <a:off x="3147973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47" name="Google Shape;447;p16"/>
          <p:cNvGrpSpPr/>
          <p:nvPr/>
        </p:nvGrpSpPr>
        <p:grpSpPr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448" name="Google Shape;448;p16"/>
            <p:cNvSpPr/>
            <p:nvPr/>
          </p:nvSpPr>
          <p:spPr>
            <a:xfrm>
              <a:off x="1877053" y="5330529"/>
              <a:ext cx="1281113" cy="758711"/>
            </a:xfrm>
            <a:custGeom>
              <a:rect b="b" l="l" r="r" t="t"/>
              <a:pathLst>
                <a:path extrusionOk="0" h="759828" w="1280499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6202992" y="5428939"/>
              <a:ext cx="865187" cy="553955"/>
            </a:xfrm>
            <a:custGeom>
              <a:rect b="b" l="l" r="r" t="t"/>
              <a:pathLst>
                <a:path extrusionOk="0" h="553361" w="86625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5377492" y="5449574"/>
              <a:ext cx="676275" cy="896802"/>
            </a:xfrm>
            <a:custGeom>
              <a:rect b="b" l="l" r="r" t="t"/>
              <a:pathLst>
                <a:path extrusionOk="0" h="896577" w="675040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4340853" y="5470208"/>
              <a:ext cx="514350" cy="401578"/>
            </a:xfrm>
            <a:custGeom>
              <a:rect b="b" l="l" r="r" t="t"/>
              <a:pathLst>
                <a:path extrusionOk="0" h="402193" w="514180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561391" y="5433701"/>
              <a:ext cx="573087" cy="1015848"/>
            </a:xfrm>
            <a:custGeom>
              <a:rect b="b" l="l" r="r" t="t"/>
              <a:pathLst>
                <a:path extrusionOk="0" h="1015244" w="574100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453" name="Google Shape;453;p16"/>
            <p:cNvGrpSpPr/>
            <p:nvPr/>
          </p:nvGrpSpPr>
          <p:grpSpPr>
            <a:xfrm>
              <a:off x="1856416" y="3709935"/>
              <a:ext cx="1049337" cy="1739639"/>
              <a:chOff x="1856416" y="3709935"/>
              <a:chExt cx="1049337" cy="1739639"/>
            </a:xfrm>
          </p:grpSpPr>
          <p:sp>
            <p:nvSpPr>
              <p:cNvPr id="454" name="Google Shape;454;p16"/>
              <p:cNvSpPr/>
              <p:nvPr/>
            </p:nvSpPr>
            <p:spPr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455" name="Google Shape;455;p16"/>
              <p:cNvGrpSpPr/>
              <p:nvPr/>
            </p:nvGrpSpPr>
            <p:grpSpPr>
              <a:xfrm>
                <a:off x="1859590" y="5089265"/>
                <a:ext cx="1035050" cy="360309"/>
                <a:chOff x="4129067" y="3606966"/>
                <a:chExt cx="567968" cy="338045"/>
              </a:xfrm>
            </p:grpSpPr>
            <p:sp>
              <p:nvSpPr>
                <p:cNvPr id="456" name="Google Shape;456;p16"/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57" name="Google Shape;457;p16"/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58" name="Google Shape;458;p16"/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459" name="Google Shape;459;p16"/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0" name="Google Shape;460;p16"/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61" name="Google Shape;461;p16"/>
              <p:cNvSpPr/>
              <p:nvPr/>
            </p:nvSpPr>
            <p:spPr>
              <a:xfrm>
                <a:off x="1877053" y="4705148"/>
                <a:ext cx="1028700" cy="522210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62" name="Google Shape;462;p16"/>
              <p:cNvCxnSpPr/>
              <p:nvPr/>
            </p:nvCxnSpPr>
            <p:spPr>
              <a:xfrm>
                <a:off x="1861178" y="3981356"/>
                <a:ext cx="17463" cy="13015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3" name="Google Shape;463;p16"/>
              <p:cNvCxnSpPr/>
              <p:nvPr/>
            </p:nvCxnSpPr>
            <p:spPr>
              <a:xfrm flipH="1">
                <a:off x="2894641" y="3971833"/>
                <a:ext cx="6350" cy="1269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64" name="Google Shape;464;p16"/>
              <p:cNvGrpSpPr/>
              <p:nvPr/>
            </p:nvGrpSpPr>
            <p:grpSpPr>
              <a:xfrm>
                <a:off x="1856416" y="3709935"/>
                <a:ext cx="1044574" cy="398402"/>
                <a:chOff x="2183302" y="1574638"/>
                <a:chExt cx="1199996" cy="429505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 flipH="1" rot="10800000">
                  <a:off x="2185125" y="1689286"/>
                  <a:ext cx="1196349" cy="31485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 flipH="1" rot="10800000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2489684" y="1670464"/>
                  <a:ext cx="581761" cy="15742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9" name="Google Shape;469;p16"/>
                <p:cNvSpPr/>
                <p:nvPr/>
              </p:nvSpPr>
              <p:spPr>
                <a:xfrm>
                  <a:off x="2429501" y="1629396"/>
                  <a:ext cx="703949" cy="11122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" name="Google Shape;470;p16"/>
                <p:cNvSpPr/>
                <p:nvPr/>
              </p:nvSpPr>
              <p:spPr>
                <a:xfrm>
                  <a:off x="2892722" y="1723510"/>
                  <a:ext cx="257143" cy="95826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1" name="Google Shape;471;p16"/>
                <p:cNvSpPr/>
                <p:nvPr/>
              </p:nvSpPr>
              <p:spPr>
                <a:xfrm>
                  <a:off x="2416736" y="1725222"/>
                  <a:ext cx="255318" cy="94114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2" name="Google Shape;472;p16"/>
                <p:cNvCxnSpPr>
                  <a:endCxn id="467" idx="2"/>
                </p:cNvCxnSpPr>
                <p:nvPr/>
              </p:nvCxnSpPr>
              <p:spPr>
                <a:xfrm rot="10800000">
                  <a:off x="2183302" y="1732067"/>
                  <a:ext cx="1800" cy="12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473" name="Google Shape;473;p16"/>
                <p:cNvCxnSpPr/>
                <p:nvPr/>
              </p:nvCxnSpPr>
              <p:spPr>
                <a:xfrm rot="10800000">
                  <a:off x="3381474" y="1728644"/>
                  <a:ext cx="1824" cy="12149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474" name="Google Shape;474;p16"/>
            <p:cNvGrpSpPr/>
            <p:nvPr/>
          </p:nvGrpSpPr>
          <p:grpSpPr>
            <a:xfrm>
              <a:off x="3566153" y="3862312"/>
              <a:ext cx="514350" cy="1669799"/>
              <a:chOff x="3566153" y="3862312"/>
              <a:chExt cx="514350" cy="1669799"/>
            </a:xfrm>
          </p:grpSpPr>
          <p:sp>
            <p:nvSpPr>
              <p:cNvPr id="475" name="Google Shape;475;p16"/>
              <p:cNvSpPr/>
              <p:nvPr/>
            </p:nvSpPr>
            <p:spPr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76" name="Google Shape;476;p16"/>
              <p:cNvCxnSpPr/>
              <p:nvPr/>
            </p:nvCxnSpPr>
            <p:spPr>
              <a:xfrm flipH="1">
                <a:off x="4078916" y="4019450"/>
                <a:ext cx="1587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77" name="Google Shape;477;p16"/>
              <p:cNvGrpSpPr/>
              <p:nvPr/>
            </p:nvGrpSpPr>
            <p:grpSpPr>
              <a:xfrm>
                <a:off x="3570916" y="5306720"/>
                <a:ext cx="508000" cy="225391"/>
                <a:chOff x="4128204" y="3600527"/>
                <a:chExt cx="568606" cy="344310"/>
              </a:xfrm>
            </p:grpSpPr>
            <p:sp>
              <p:nvSpPr>
                <p:cNvPr id="478" name="Google Shape;478;p16"/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79" name="Google Shape;479;p16"/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0" name="Google Shape;480;p16"/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481" name="Google Shape;481;p16"/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82" name="Google Shape;482;p16"/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83" name="Google Shape;483;p16"/>
              <p:cNvSpPr/>
              <p:nvPr/>
            </p:nvSpPr>
            <p:spPr>
              <a:xfrm>
                <a:off x="3572503" y="4574992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84" name="Google Shape;484;p16"/>
              <p:cNvCxnSpPr/>
              <p:nvPr/>
            </p:nvCxnSpPr>
            <p:spPr>
              <a:xfrm flipH="1">
                <a:off x="3566153" y="4027387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85" name="Google Shape;485;p16"/>
              <p:cNvGrpSpPr/>
              <p:nvPr/>
            </p:nvGrpSpPr>
            <p:grpSpPr>
              <a:xfrm>
                <a:off x="3569328" y="3862312"/>
                <a:ext cx="503238" cy="247614"/>
                <a:chOff x="2184877" y="1564501"/>
                <a:chExt cx="1198749" cy="439187"/>
              </a:xfrm>
            </p:grpSpPr>
            <p:sp>
              <p:nvSpPr>
                <p:cNvPr id="486" name="Google Shape;486;p16"/>
                <p:cNvSpPr/>
                <p:nvPr/>
              </p:nvSpPr>
              <p:spPr>
                <a:xfrm flipH="1" rot="10800000">
                  <a:off x="2188659" y="1691189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7" name="Google Shape;487;p16"/>
                <p:cNvSpPr/>
                <p:nvPr/>
              </p:nvSpPr>
              <p:spPr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8" name="Google Shape;488;p16"/>
                <p:cNvSpPr/>
                <p:nvPr/>
              </p:nvSpPr>
              <p:spPr>
                <a:xfrm flipH="1" rot="10800000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9" name="Google Shape;489;p16"/>
                <p:cNvSpPr/>
                <p:nvPr/>
              </p:nvSpPr>
              <p:spPr>
                <a:xfrm>
                  <a:off x="2491182" y="1671482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90" name="Google Shape;490;p16"/>
                <p:cNvSpPr/>
                <p:nvPr/>
              </p:nvSpPr>
              <p:spPr>
                <a:xfrm>
                  <a:off x="2430678" y="1629252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" name="Google Shape;491;p16"/>
                <p:cNvSpPr/>
                <p:nvPr/>
              </p:nvSpPr>
              <p:spPr>
                <a:xfrm>
                  <a:off x="2892025" y="1722158"/>
                  <a:ext cx="260925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2" name="Google Shape;492;p16"/>
                <p:cNvSpPr/>
                <p:nvPr/>
              </p:nvSpPr>
              <p:spPr>
                <a:xfrm>
                  <a:off x="2419332" y="1724972"/>
                  <a:ext cx="253364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3" name="Google Shape;493;p16"/>
                <p:cNvCxnSpPr>
                  <a:endCxn id="488" idx="2"/>
                </p:cNvCxnSpPr>
                <p:nvPr/>
              </p:nvCxnSpPr>
              <p:spPr>
                <a:xfrm rot="10800000">
                  <a:off x="2184877" y="1720750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494" name="Google Shape;494;p16"/>
                <p:cNvCxnSpPr/>
                <p:nvPr/>
              </p:nvCxnSpPr>
              <p:spPr>
                <a:xfrm rot="10800000">
                  <a:off x="3379842" y="1727788"/>
                  <a:ext cx="3783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495" name="Google Shape;495;p16"/>
            <p:cNvGrpSpPr/>
            <p:nvPr/>
          </p:nvGrpSpPr>
          <p:grpSpPr>
            <a:xfrm>
              <a:off x="4348791" y="3867073"/>
              <a:ext cx="514350" cy="1669799"/>
              <a:chOff x="4348791" y="3867073"/>
              <a:chExt cx="514350" cy="1669799"/>
            </a:xfrm>
          </p:grpSpPr>
          <p:sp>
            <p:nvSpPr>
              <p:cNvPr id="496" name="Google Shape;496;p16"/>
              <p:cNvSpPr/>
              <p:nvPr/>
            </p:nvSpPr>
            <p:spPr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97" name="Google Shape;497;p16"/>
              <p:cNvCxnSpPr/>
              <p:nvPr/>
            </p:nvCxnSpPr>
            <p:spPr>
              <a:xfrm flipH="1">
                <a:off x="4861553" y="402421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98" name="Google Shape;498;p16"/>
              <p:cNvGrpSpPr/>
              <p:nvPr/>
            </p:nvGrpSpPr>
            <p:grpSpPr>
              <a:xfrm>
                <a:off x="4353553" y="5311481"/>
                <a:ext cx="508000" cy="225391"/>
                <a:chOff x="4128204" y="3600524"/>
                <a:chExt cx="568606" cy="344310"/>
              </a:xfrm>
            </p:grpSpPr>
            <p:sp>
              <p:nvSpPr>
                <p:cNvPr id="499" name="Google Shape;499;p16"/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0" name="Google Shape;500;p16"/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1" name="Google Shape;501;p16"/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02" name="Google Shape;502;p16"/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3" name="Google Shape;503;p16"/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04" name="Google Shape;504;p16"/>
              <p:cNvSpPr/>
              <p:nvPr/>
            </p:nvSpPr>
            <p:spPr>
              <a:xfrm>
                <a:off x="4355141" y="457975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05" name="Google Shape;505;p16"/>
              <p:cNvCxnSpPr/>
              <p:nvPr/>
            </p:nvCxnSpPr>
            <p:spPr>
              <a:xfrm flipH="1">
                <a:off x="4348791" y="4032148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06" name="Google Shape;506;p16"/>
              <p:cNvGrpSpPr/>
              <p:nvPr/>
            </p:nvGrpSpPr>
            <p:grpSpPr>
              <a:xfrm>
                <a:off x="4351966" y="3867073"/>
                <a:ext cx="503237" cy="247613"/>
                <a:chOff x="2184879" y="1564498"/>
                <a:chExt cx="1198746" cy="439186"/>
              </a:xfrm>
            </p:grpSpPr>
            <p:sp>
              <p:nvSpPr>
                <p:cNvPr id="507" name="Google Shape;507;p16"/>
                <p:cNvSpPr/>
                <p:nvPr/>
              </p:nvSpPr>
              <p:spPr>
                <a:xfrm flipH="1" rot="10800000">
                  <a:off x="2188659" y="1691187"/>
                  <a:ext cx="1194966" cy="31249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8" name="Google Shape;508;p16"/>
                <p:cNvSpPr/>
                <p:nvPr/>
              </p:nvSpPr>
              <p:spPr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9" name="Google Shape;509;p16"/>
                <p:cNvSpPr/>
                <p:nvPr/>
              </p:nvSpPr>
              <p:spPr>
                <a:xfrm flipH="1" rot="10800000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0" name="Google Shape;510;p16"/>
                <p:cNvSpPr/>
                <p:nvPr/>
              </p:nvSpPr>
              <p:spPr>
                <a:xfrm>
                  <a:off x="2491182" y="1671479"/>
                  <a:ext cx="582357" cy="154842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1" name="Google Shape;511;p16"/>
                <p:cNvSpPr/>
                <p:nvPr/>
              </p:nvSpPr>
              <p:spPr>
                <a:xfrm>
                  <a:off x="2430678" y="1629250"/>
                  <a:ext cx="703366" cy="10979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2" name="Google Shape;512;p16"/>
                <p:cNvSpPr/>
                <p:nvPr/>
              </p:nvSpPr>
              <p:spPr>
                <a:xfrm>
                  <a:off x="2892025" y="1722154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3" name="Google Shape;513;p16"/>
                <p:cNvSpPr/>
                <p:nvPr/>
              </p:nvSpPr>
              <p:spPr>
                <a:xfrm>
                  <a:off x="2419334" y="1724970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14" name="Google Shape;514;p16"/>
                <p:cNvCxnSpPr>
                  <a:endCxn id="509" idx="2"/>
                </p:cNvCxnSpPr>
                <p:nvPr/>
              </p:nvCxnSpPr>
              <p:spPr>
                <a:xfrm rot="10800000">
                  <a:off x="2184879" y="1720747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15" name="Google Shape;515;p16"/>
                <p:cNvCxnSpPr/>
                <p:nvPr/>
              </p:nvCxnSpPr>
              <p:spPr>
                <a:xfrm rot="10800000">
                  <a:off x="3379845" y="1727785"/>
                  <a:ext cx="3780" cy="1210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516" name="Google Shape;516;p16"/>
            <p:cNvGrpSpPr/>
            <p:nvPr/>
          </p:nvGrpSpPr>
          <p:grpSpPr>
            <a:xfrm>
              <a:off x="5552117" y="3849614"/>
              <a:ext cx="514350" cy="1669799"/>
              <a:chOff x="5552117" y="3849614"/>
              <a:chExt cx="514350" cy="1669799"/>
            </a:xfrm>
          </p:grpSpPr>
          <p:sp>
            <p:nvSpPr>
              <p:cNvPr id="517" name="Google Shape;517;p16"/>
              <p:cNvSpPr/>
              <p:nvPr/>
            </p:nvSpPr>
            <p:spPr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18" name="Google Shape;518;p16"/>
              <p:cNvCxnSpPr/>
              <p:nvPr/>
            </p:nvCxnSpPr>
            <p:spPr>
              <a:xfrm flipH="1">
                <a:off x="6064879" y="400675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19" name="Google Shape;519;p16"/>
              <p:cNvGrpSpPr/>
              <p:nvPr/>
            </p:nvGrpSpPr>
            <p:grpSpPr>
              <a:xfrm>
                <a:off x="5556879" y="5294022"/>
                <a:ext cx="508000" cy="225392"/>
                <a:chOff x="4128205" y="3600530"/>
                <a:chExt cx="568606" cy="344311"/>
              </a:xfrm>
            </p:grpSpPr>
            <p:sp>
              <p:nvSpPr>
                <p:cNvPr id="520" name="Google Shape;520;p16"/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1" name="Google Shape;521;p16"/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2" name="Google Shape;522;p16"/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23" name="Google Shape;523;p16"/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4" name="Google Shape;524;p16"/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25" name="Google Shape;525;p16"/>
              <p:cNvSpPr/>
              <p:nvPr/>
            </p:nvSpPr>
            <p:spPr>
              <a:xfrm>
                <a:off x="5558467" y="456229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26" name="Google Shape;526;p16"/>
              <p:cNvCxnSpPr/>
              <p:nvPr/>
            </p:nvCxnSpPr>
            <p:spPr>
              <a:xfrm flipH="1">
                <a:off x="5552117" y="4014689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27" name="Google Shape;527;p16"/>
              <p:cNvGrpSpPr/>
              <p:nvPr/>
            </p:nvGrpSpPr>
            <p:grpSpPr>
              <a:xfrm>
                <a:off x="5555292" y="3849614"/>
                <a:ext cx="503237" cy="247613"/>
                <a:chOff x="2184881" y="1564505"/>
                <a:chExt cx="1198747" cy="439186"/>
              </a:xfrm>
            </p:grpSpPr>
            <p:sp>
              <p:nvSpPr>
                <p:cNvPr id="528" name="Google Shape;528;p16"/>
                <p:cNvSpPr/>
                <p:nvPr/>
              </p:nvSpPr>
              <p:spPr>
                <a:xfrm flipH="1" rot="10800000">
                  <a:off x="2188662" y="1691192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9" name="Google Shape;529;p16"/>
                <p:cNvSpPr/>
                <p:nvPr/>
              </p:nvSpPr>
              <p:spPr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0" name="Google Shape;530;p16"/>
                <p:cNvSpPr/>
                <p:nvPr/>
              </p:nvSpPr>
              <p:spPr>
                <a:xfrm flipH="1" rot="10800000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1" name="Google Shape;531;p16"/>
                <p:cNvSpPr/>
                <p:nvPr/>
              </p:nvSpPr>
              <p:spPr>
                <a:xfrm>
                  <a:off x="2491185" y="1671486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2" name="Google Shape;532;p16"/>
                <p:cNvSpPr/>
                <p:nvPr/>
              </p:nvSpPr>
              <p:spPr>
                <a:xfrm>
                  <a:off x="2430680" y="1629256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3" name="Google Shape;533;p16"/>
                <p:cNvSpPr/>
                <p:nvPr/>
              </p:nvSpPr>
              <p:spPr>
                <a:xfrm>
                  <a:off x="2892028" y="1722161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4" name="Google Shape;534;p16"/>
                <p:cNvSpPr/>
                <p:nvPr/>
              </p:nvSpPr>
              <p:spPr>
                <a:xfrm>
                  <a:off x="2419337" y="1724976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5" name="Google Shape;535;p16"/>
                <p:cNvCxnSpPr>
                  <a:endCxn id="530" idx="2"/>
                </p:cNvCxnSpPr>
                <p:nvPr/>
              </p:nvCxnSpPr>
              <p:spPr>
                <a:xfrm rot="10800000">
                  <a:off x="2184881" y="1720754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36" name="Google Shape;536;p16"/>
                <p:cNvCxnSpPr/>
                <p:nvPr/>
              </p:nvCxnSpPr>
              <p:spPr>
                <a:xfrm rot="10800000">
                  <a:off x="3379847" y="1727792"/>
                  <a:ext cx="3780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537" name="Google Shape;537;p16"/>
            <p:cNvGrpSpPr/>
            <p:nvPr/>
          </p:nvGrpSpPr>
          <p:grpSpPr>
            <a:xfrm>
              <a:off x="6547479" y="3836916"/>
              <a:ext cx="514350" cy="1671386"/>
              <a:chOff x="6547479" y="3836916"/>
              <a:chExt cx="514350" cy="1671386"/>
            </a:xfrm>
          </p:grpSpPr>
          <p:sp>
            <p:nvSpPr>
              <p:cNvPr id="538" name="Google Shape;538;p16"/>
              <p:cNvSpPr/>
              <p:nvPr/>
            </p:nvSpPr>
            <p:spPr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39" name="Google Shape;539;p16"/>
              <p:cNvCxnSpPr/>
              <p:nvPr/>
            </p:nvCxnSpPr>
            <p:spPr>
              <a:xfrm flipH="1">
                <a:off x="7060242" y="3994054"/>
                <a:ext cx="1587" cy="136663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40" name="Google Shape;540;p16"/>
              <p:cNvGrpSpPr/>
              <p:nvPr/>
            </p:nvGrpSpPr>
            <p:grpSpPr>
              <a:xfrm>
                <a:off x="6552242" y="5286085"/>
                <a:ext cx="508000" cy="222217"/>
                <a:chOff x="4128205" y="3605704"/>
                <a:chExt cx="568606" cy="339138"/>
              </a:xfrm>
            </p:grpSpPr>
            <p:sp>
              <p:nvSpPr>
                <p:cNvPr id="541" name="Google Shape;541;p16"/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42" name="Google Shape;542;p16"/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43" name="Google Shape;543;p16"/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44" name="Google Shape;544;p16"/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5" name="Google Shape;545;p16"/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46" name="Google Shape;546;p16"/>
              <p:cNvSpPr/>
              <p:nvPr/>
            </p:nvSpPr>
            <p:spPr>
              <a:xfrm>
                <a:off x="6553829" y="4551184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47" name="Google Shape;547;p16"/>
              <p:cNvCxnSpPr/>
              <p:nvPr/>
            </p:nvCxnSpPr>
            <p:spPr>
              <a:xfrm flipH="1">
                <a:off x="6547479" y="4001991"/>
                <a:ext cx="3175" cy="14523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48" name="Google Shape;548;p16"/>
              <p:cNvGrpSpPr/>
              <p:nvPr/>
            </p:nvGrpSpPr>
            <p:grpSpPr>
              <a:xfrm>
                <a:off x="6550654" y="3836916"/>
                <a:ext cx="503238" cy="249200"/>
                <a:chOff x="2184879" y="1564508"/>
                <a:chExt cx="1198749" cy="441581"/>
              </a:xfrm>
            </p:grpSpPr>
            <p:sp>
              <p:nvSpPr>
                <p:cNvPr id="549" name="Google Shape;549;p16"/>
                <p:cNvSpPr/>
                <p:nvPr/>
              </p:nvSpPr>
              <p:spPr>
                <a:xfrm flipH="1" rot="10800000">
                  <a:off x="2188662" y="1691075"/>
                  <a:ext cx="1194966" cy="315014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0" name="Google Shape;550;p16"/>
                <p:cNvSpPr/>
                <p:nvPr/>
              </p:nvSpPr>
              <p:spPr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1" name="Google Shape;551;p16"/>
                <p:cNvSpPr/>
                <p:nvPr/>
              </p:nvSpPr>
              <p:spPr>
                <a:xfrm flipH="1" rot="10800000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2" name="Google Shape;552;p16"/>
                <p:cNvSpPr/>
                <p:nvPr/>
              </p:nvSpPr>
              <p:spPr>
                <a:xfrm>
                  <a:off x="2491185" y="1671388"/>
                  <a:ext cx="582357" cy="157507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3" name="Google Shape;553;p16"/>
                <p:cNvSpPr/>
                <p:nvPr/>
              </p:nvSpPr>
              <p:spPr>
                <a:xfrm>
                  <a:off x="2430680" y="1629198"/>
                  <a:ext cx="703366" cy="112505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4" name="Google Shape;554;p16"/>
                <p:cNvSpPr/>
                <p:nvPr/>
              </p:nvSpPr>
              <p:spPr>
                <a:xfrm>
                  <a:off x="2892028" y="1724827"/>
                  <a:ext cx="260925" cy="9562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5" name="Google Shape;555;p16"/>
                <p:cNvSpPr/>
                <p:nvPr/>
              </p:nvSpPr>
              <p:spPr>
                <a:xfrm>
                  <a:off x="2419334" y="1727640"/>
                  <a:ext cx="253364" cy="92816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56" name="Google Shape;556;p16"/>
                <p:cNvCxnSpPr>
                  <a:endCxn id="551" idx="2"/>
                </p:cNvCxnSpPr>
                <p:nvPr/>
              </p:nvCxnSpPr>
              <p:spPr>
                <a:xfrm rot="10800000">
                  <a:off x="2184879" y="172201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57" name="Google Shape;557;p16"/>
                <p:cNvCxnSpPr/>
                <p:nvPr/>
              </p:nvCxnSpPr>
              <p:spPr>
                <a:xfrm rot="10800000">
                  <a:off x="3379845" y="1730452"/>
                  <a:ext cx="3783" cy="12094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558" name="Google Shape;558;p16"/>
          <p:cNvGrpSpPr/>
          <p:nvPr/>
        </p:nvGrpSpPr>
        <p:grpSpPr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559" name="Google Shape;559;p16"/>
            <p:cNvSpPr/>
            <p:nvPr/>
          </p:nvSpPr>
          <p:spPr>
            <a:xfrm>
              <a:off x="2381956" y="2439937"/>
              <a:ext cx="296789" cy="1743431"/>
            </a:xfrm>
            <a:custGeom>
              <a:rect b="b" l="l" r="r" t="t"/>
              <a:pathLst>
                <a:path extrusionOk="0" h="2022548" w="22853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60" name="Google Shape;560;p16"/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rect b="b" l="l" r="r" t="t"/>
              <a:pathLst>
                <a:path extrusionOk="0" h="2117725" w="30727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561" name="Google Shape;561;p16"/>
            <p:cNvCxnSpPr/>
            <p:nvPr/>
          </p:nvCxnSpPr>
          <p:spPr>
            <a:xfrm flipH="1" rot="10800000">
              <a:off x="5791061" y="2687638"/>
              <a:ext cx="7936" cy="206258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62" name="Google Shape;562;p16"/>
            <p:cNvCxnSpPr/>
            <p:nvPr/>
          </p:nvCxnSpPr>
          <p:spPr>
            <a:xfrm flipH="1" rot="10800000">
              <a:off x="4599144" y="2708279"/>
              <a:ext cx="17458" cy="2037179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63" name="Google Shape;563;p16"/>
            <p:cNvCxnSpPr/>
            <p:nvPr/>
          </p:nvCxnSpPr>
          <p:spPr>
            <a:xfrm rot="10800000">
              <a:off x="3807178" y="2762265"/>
              <a:ext cx="9523" cy="198319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564" name="Google Shape;564;p16"/>
          <p:cNvGrpSpPr/>
          <p:nvPr/>
        </p:nvGrpSpPr>
        <p:grpSpPr>
          <a:xfrm>
            <a:off x="3806679" y="4636468"/>
            <a:ext cx="4956176" cy="692149"/>
            <a:chOff x="2056656" y="4691836"/>
            <a:chExt cx="4955291" cy="692750"/>
          </a:xfrm>
        </p:grpSpPr>
        <p:grpSp>
          <p:nvGrpSpPr>
            <p:cNvPr id="565" name="Google Shape;565;p16"/>
            <p:cNvGrpSpPr/>
            <p:nvPr/>
          </p:nvGrpSpPr>
          <p:grpSpPr>
            <a:xfrm>
              <a:off x="3605780" y="5055689"/>
              <a:ext cx="430136" cy="328897"/>
              <a:chOff x="2932124" y="3912858"/>
              <a:chExt cx="430455" cy="329059"/>
            </a:xfrm>
          </p:grpSpPr>
          <p:sp>
            <p:nvSpPr>
              <p:cNvPr id="566" name="Google Shape;566;p16"/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7" name="Google Shape;567;p16"/>
              <p:cNvCxnSpPr/>
              <p:nvPr/>
            </p:nvCxnSpPr>
            <p:spPr>
              <a:xfrm>
                <a:off x="2932124" y="4005058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16"/>
              <p:cNvCxnSpPr/>
              <p:nvPr/>
            </p:nvCxnSpPr>
            <p:spPr>
              <a:xfrm>
                <a:off x="2932124" y="406864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16"/>
              <p:cNvCxnSpPr>
                <a:stCxn id="566" idx="2"/>
              </p:cNvCxnSpPr>
              <p:nvPr/>
            </p:nvCxnSpPr>
            <p:spPr>
              <a:xfrm rot="10800000">
                <a:off x="3148235" y="4004917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70" name="Google Shape;570;p16"/>
            <p:cNvGrpSpPr/>
            <p:nvPr/>
          </p:nvGrpSpPr>
          <p:grpSpPr>
            <a:xfrm>
              <a:off x="4388278" y="5055689"/>
              <a:ext cx="430135" cy="328897"/>
              <a:chOff x="2931985" y="3912924"/>
              <a:chExt cx="430454" cy="329059"/>
            </a:xfrm>
          </p:grpSpPr>
          <p:sp>
            <p:nvSpPr>
              <p:cNvPr id="571" name="Google Shape;571;p16"/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72" name="Google Shape;572;p16"/>
              <p:cNvCxnSpPr/>
              <p:nvPr/>
            </p:nvCxnSpPr>
            <p:spPr>
              <a:xfrm>
                <a:off x="2931985" y="400512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16"/>
              <p:cNvCxnSpPr/>
              <p:nvPr/>
            </p:nvCxnSpPr>
            <p:spPr>
              <a:xfrm>
                <a:off x="2931985" y="4068711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16"/>
              <p:cNvCxnSpPr>
                <a:stCxn id="571" idx="2"/>
              </p:cNvCxnSpPr>
              <p:nvPr/>
            </p:nvCxnSpPr>
            <p:spPr>
              <a:xfrm rot="10800000">
                <a:off x="3148095" y="4004983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75" name="Google Shape;575;p16"/>
            <p:cNvGrpSpPr/>
            <p:nvPr/>
          </p:nvGrpSpPr>
          <p:grpSpPr>
            <a:xfrm>
              <a:off x="5591389" y="5052511"/>
              <a:ext cx="430134" cy="328897"/>
              <a:chOff x="2931771" y="3912722"/>
              <a:chExt cx="430453" cy="329058"/>
            </a:xfrm>
          </p:grpSpPr>
          <p:sp>
            <p:nvSpPr>
              <p:cNvPr id="576" name="Google Shape;576;p16"/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77" name="Google Shape;577;p16"/>
              <p:cNvCxnSpPr/>
              <p:nvPr/>
            </p:nvCxnSpPr>
            <p:spPr>
              <a:xfrm>
                <a:off x="2931771" y="400492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16"/>
              <p:cNvCxnSpPr/>
              <p:nvPr/>
            </p:nvCxnSpPr>
            <p:spPr>
              <a:xfrm>
                <a:off x="2931771" y="4068509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16"/>
              <p:cNvCxnSpPr>
                <a:stCxn id="576" idx="2"/>
              </p:cNvCxnSpPr>
              <p:nvPr/>
            </p:nvCxnSpPr>
            <p:spPr>
              <a:xfrm rot="10800000">
                <a:off x="3147880" y="4004780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0" name="Google Shape;580;p16"/>
            <p:cNvGrpSpPr/>
            <p:nvPr/>
          </p:nvGrpSpPr>
          <p:grpSpPr>
            <a:xfrm>
              <a:off x="6581812" y="5046155"/>
              <a:ext cx="430135" cy="328898"/>
              <a:chOff x="2931660" y="3913102"/>
              <a:chExt cx="430454" cy="328747"/>
            </a:xfrm>
          </p:grpSpPr>
          <p:sp>
            <p:nvSpPr>
              <p:cNvPr id="581" name="Google Shape;581;p16"/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82" name="Google Shape;582;p16"/>
              <p:cNvCxnSpPr/>
              <p:nvPr/>
            </p:nvCxnSpPr>
            <p:spPr>
              <a:xfrm>
                <a:off x="2931660" y="400521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3" name="Google Shape;583;p16"/>
              <p:cNvCxnSpPr/>
              <p:nvPr/>
            </p:nvCxnSpPr>
            <p:spPr>
              <a:xfrm>
                <a:off x="2931660" y="406715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4" name="Google Shape;584;p16"/>
              <p:cNvCxnSpPr>
                <a:stCxn id="581" idx="2"/>
              </p:cNvCxnSpPr>
              <p:nvPr/>
            </p:nvCxnSpPr>
            <p:spPr>
              <a:xfrm rot="10800000">
                <a:off x="3147770" y="4005149"/>
                <a:ext cx="1500" cy="236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5" name="Google Shape;585;p16"/>
            <p:cNvGrpSpPr/>
            <p:nvPr/>
          </p:nvGrpSpPr>
          <p:grpSpPr>
            <a:xfrm>
              <a:off x="2056656" y="4691836"/>
              <a:ext cx="674567" cy="519563"/>
              <a:chOff x="2932675" y="3913607"/>
              <a:chExt cx="429970" cy="328266"/>
            </a:xfrm>
          </p:grpSpPr>
          <p:sp>
            <p:nvSpPr>
              <p:cNvPr id="586" name="Google Shape;586;p16"/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87" name="Google Shape;587;p16"/>
              <p:cNvCxnSpPr/>
              <p:nvPr/>
            </p:nvCxnSpPr>
            <p:spPr>
              <a:xfrm>
                <a:off x="2932675" y="4004959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8" name="Google Shape;588;p16"/>
              <p:cNvCxnSpPr/>
              <p:nvPr/>
            </p:nvCxnSpPr>
            <p:spPr>
              <a:xfrm>
                <a:off x="2932675" y="4069207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9" name="Google Shape;589;p16"/>
              <p:cNvCxnSpPr>
                <a:stCxn id="586" idx="2"/>
              </p:cNvCxnSpPr>
              <p:nvPr/>
            </p:nvCxnSpPr>
            <p:spPr>
              <a:xfrm rot="10800000">
                <a:off x="3148784" y="4004873"/>
                <a:ext cx="9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90" name="Google Shape;590;p16"/>
          <p:cNvGrpSpPr/>
          <p:nvPr/>
        </p:nvGrpSpPr>
        <p:grpSpPr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591" name="Google Shape;591;p16"/>
            <p:cNvSpPr/>
            <p:nvPr/>
          </p:nvSpPr>
          <p:spPr>
            <a:xfrm flipH="1" rot="10800000">
              <a:off x="1874317" y="1693636"/>
              <a:ext cx="1125331" cy="320525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1871277" y="1739425"/>
              <a:ext cx="1128371" cy="11733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3" name="Google Shape;593;p16"/>
            <p:cNvSpPr/>
            <p:nvPr/>
          </p:nvSpPr>
          <p:spPr>
            <a:xfrm flipH="1" rot="10800000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2160212" y="1673602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2102426" y="1633537"/>
              <a:ext cx="663033" cy="111612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2537350" y="1727978"/>
              <a:ext cx="243315" cy="97302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2090260" y="1730839"/>
              <a:ext cx="240272" cy="97302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8" name="Google Shape;598;p16"/>
            <p:cNvCxnSpPr>
              <a:endCxn id="59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599" name="Google Shape;599;p16"/>
            <p:cNvCxnSpPr/>
            <p:nvPr/>
          </p:nvCxnSpPr>
          <p:spPr>
            <a:xfrm rot="10800000">
              <a:off x="2996608" y="1733702"/>
              <a:ext cx="3040" cy="1230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00" name="Google Shape;600;p16"/>
          <p:cNvGrpSpPr/>
          <p:nvPr/>
        </p:nvGrpSpPr>
        <p:grpSpPr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601" name="Google Shape;601;p16"/>
            <p:cNvSpPr/>
            <p:nvPr/>
          </p:nvSpPr>
          <p:spPr>
            <a:xfrm flipH="1" rot="10800000">
              <a:off x="1874319" y="1693635"/>
              <a:ext cx="1125329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3" name="Google Shape;603;p16"/>
            <p:cNvSpPr/>
            <p:nvPr/>
          </p:nvSpPr>
          <p:spPr>
            <a:xfrm flipH="1" rot="10800000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2160214" y="1673603"/>
              <a:ext cx="547457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2102426" y="1633537"/>
              <a:ext cx="663031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2537351" y="1727977"/>
              <a:ext cx="243314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2090260" y="1730839"/>
              <a:ext cx="240274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8" name="Google Shape;608;p16"/>
            <p:cNvCxnSpPr>
              <a:endCxn id="60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09" name="Google Shape;609;p16"/>
            <p:cNvCxnSpPr/>
            <p:nvPr/>
          </p:nvCxnSpPr>
          <p:spPr>
            <a:xfrm rot="10800000">
              <a:off x="2996606" y="1733700"/>
              <a:ext cx="3042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10" name="Google Shape;610;p16"/>
          <p:cNvGrpSpPr/>
          <p:nvPr/>
        </p:nvGrpSpPr>
        <p:grpSpPr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611" name="Google Shape;611;p16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3" name="Google Shape;613;p16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8" name="Google Shape;618;p16"/>
            <p:cNvCxnSpPr>
              <a:endCxn id="61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19" name="Google Shape;619;p16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20" name="Google Shape;620;p16"/>
          <p:cNvGrpSpPr/>
          <p:nvPr/>
        </p:nvGrpSpPr>
        <p:grpSpPr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621" name="Google Shape;621;p16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3" name="Google Shape;623;p16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8" name="Google Shape;628;p16"/>
            <p:cNvCxnSpPr>
              <a:endCxn id="62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29" name="Google Shape;629;p16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30" name="Google Shape;630;p16"/>
          <p:cNvGrpSpPr/>
          <p:nvPr/>
        </p:nvGrpSpPr>
        <p:grpSpPr>
          <a:xfrm>
            <a:off x="4494068" y="2167905"/>
            <a:ext cx="3598862" cy="493712"/>
            <a:chOff x="2704632" y="2011398"/>
            <a:chExt cx="3598520" cy="493919"/>
          </a:xfrm>
        </p:grpSpPr>
        <p:sp>
          <p:nvSpPr>
            <p:cNvPr id="631" name="Google Shape;631;p16"/>
            <p:cNvSpPr/>
            <p:nvPr/>
          </p:nvSpPr>
          <p:spPr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196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1960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3" name="Google Shape;633;p16"/>
            <p:cNvSpPr txBox="1"/>
            <p:nvPr/>
          </p:nvSpPr>
          <p:spPr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1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Remote Controller</a:t>
              </a:r>
              <a:endParaRPr/>
            </a:p>
          </p:txBody>
        </p:sp>
      </p:grpSp>
      <p:grpSp>
        <p:nvGrpSpPr>
          <p:cNvPr id="634" name="Google Shape;634;p16"/>
          <p:cNvGrpSpPr/>
          <p:nvPr/>
        </p:nvGrpSpPr>
        <p:grpSpPr>
          <a:xfrm>
            <a:off x="3674918" y="4177680"/>
            <a:ext cx="5095875" cy="822325"/>
            <a:chOff x="3674918" y="4177680"/>
            <a:chExt cx="5095875" cy="822325"/>
          </a:xfrm>
        </p:grpSpPr>
        <p:grpSp>
          <p:nvGrpSpPr>
            <p:cNvPr id="635" name="Google Shape;635;p16"/>
            <p:cNvGrpSpPr/>
            <p:nvPr/>
          </p:nvGrpSpPr>
          <p:grpSpPr>
            <a:xfrm>
              <a:off x="3674918" y="4177680"/>
              <a:ext cx="923925" cy="406399"/>
              <a:chOff x="2705100" y="2011480"/>
              <a:chExt cx="3598690" cy="494427"/>
            </a:xfrm>
          </p:grpSpPr>
          <p:sp>
            <p:nvSpPr>
              <p:cNvPr id="636" name="Google Shape;636;p16"/>
              <p:cNvSpPr/>
              <p:nvPr/>
            </p:nvSpPr>
            <p:spPr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19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37" name="Google Shape;637;p16"/>
              <p:cNvSpPr/>
              <p:nvPr/>
            </p:nvSpPr>
            <p:spPr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1960"/>
                </a:srgbClr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38" name="Google Shape;638;p16"/>
              <p:cNvSpPr txBox="1"/>
              <p:nvPr/>
            </p:nvSpPr>
            <p:spPr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1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/>
              </a:p>
            </p:txBody>
          </p:sp>
        </p:grpSp>
        <p:grpSp>
          <p:nvGrpSpPr>
            <p:cNvPr id="639" name="Google Shape;639;p16"/>
            <p:cNvGrpSpPr/>
            <p:nvPr/>
          </p:nvGrpSpPr>
          <p:grpSpPr>
            <a:xfrm>
              <a:off x="5338618" y="4714256"/>
              <a:ext cx="463550" cy="285749"/>
              <a:chOff x="3558760" y="4573304"/>
              <a:chExt cx="463506" cy="285869"/>
            </a:xfrm>
          </p:grpSpPr>
          <p:grpSp>
            <p:nvGrpSpPr>
              <p:cNvPr id="640" name="Google Shape;640;p16"/>
              <p:cNvGrpSpPr/>
              <p:nvPr/>
            </p:nvGrpSpPr>
            <p:grpSpPr>
              <a:xfrm>
                <a:off x="3558760" y="4578067"/>
                <a:ext cx="463506" cy="262048"/>
                <a:chOff x="3558760" y="4578067"/>
                <a:chExt cx="463506" cy="262048"/>
              </a:xfrm>
            </p:grpSpPr>
            <p:sp>
              <p:nvSpPr>
                <p:cNvPr id="641" name="Google Shape;641;p16"/>
                <p:cNvSpPr/>
                <p:nvPr/>
              </p:nvSpPr>
              <p:spPr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42" name="Google Shape;642;p16"/>
                <p:cNvSpPr/>
                <p:nvPr/>
              </p:nvSpPr>
              <p:spPr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43" name="Google Shape;643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4" name="Google Shape;644;p16"/>
            <p:cNvGrpSpPr/>
            <p:nvPr/>
          </p:nvGrpSpPr>
          <p:grpSpPr>
            <a:xfrm>
              <a:off x="6119668" y="4712138"/>
              <a:ext cx="463550" cy="285749"/>
              <a:chOff x="3559588" y="4573304"/>
              <a:chExt cx="463506" cy="285869"/>
            </a:xfrm>
          </p:grpSpPr>
          <p:grpSp>
            <p:nvGrpSpPr>
              <p:cNvPr id="645" name="Google Shape;645;p16"/>
              <p:cNvGrpSpPr/>
              <p:nvPr/>
            </p:nvGrpSpPr>
            <p:grpSpPr>
              <a:xfrm>
                <a:off x="3559588" y="4581775"/>
                <a:ext cx="463506" cy="258870"/>
                <a:chOff x="3559588" y="4581775"/>
                <a:chExt cx="463506" cy="258870"/>
              </a:xfrm>
            </p:grpSpPr>
            <p:sp>
              <p:nvSpPr>
                <p:cNvPr id="646" name="Google Shape;646;p16"/>
                <p:cNvSpPr/>
                <p:nvPr/>
              </p:nvSpPr>
              <p:spPr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48" name="Google Shape;648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9" name="Google Shape;649;p16"/>
            <p:cNvGrpSpPr/>
            <p:nvPr/>
          </p:nvGrpSpPr>
          <p:grpSpPr>
            <a:xfrm>
              <a:off x="7319818" y="4710021"/>
              <a:ext cx="463550" cy="285749"/>
              <a:chOff x="3559368" y="4573304"/>
              <a:chExt cx="463506" cy="285869"/>
            </a:xfrm>
          </p:grpSpPr>
          <p:grpSp>
            <p:nvGrpSpPr>
              <p:cNvPr id="650" name="Google Shape;650;p16"/>
              <p:cNvGrpSpPr/>
              <p:nvPr/>
            </p:nvGrpSpPr>
            <p:grpSpPr>
              <a:xfrm>
                <a:off x="3559368" y="4577540"/>
                <a:ext cx="463506" cy="262047"/>
                <a:chOff x="3559368" y="4577540"/>
                <a:chExt cx="463506" cy="262047"/>
              </a:xfrm>
            </p:grpSpPr>
            <p:sp>
              <p:nvSpPr>
                <p:cNvPr id="651" name="Google Shape;651;p16"/>
                <p:cNvSpPr/>
                <p:nvPr/>
              </p:nvSpPr>
              <p:spPr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52" name="Google Shape;652;p16"/>
                <p:cNvSpPr/>
                <p:nvPr/>
              </p:nvSpPr>
              <p:spPr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53" name="Google Shape;653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16"/>
            <p:cNvGrpSpPr/>
            <p:nvPr/>
          </p:nvGrpSpPr>
          <p:grpSpPr>
            <a:xfrm>
              <a:off x="8307243" y="4707904"/>
              <a:ext cx="463550" cy="285749"/>
              <a:chOff x="3558912" y="4573304"/>
              <a:chExt cx="463506" cy="285869"/>
            </a:xfrm>
          </p:grpSpPr>
          <p:grpSp>
            <p:nvGrpSpPr>
              <p:cNvPr id="655" name="Google Shape;655;p16"/>
              <p:cNvGrpSpPr/>
              <p:nvPr/>
            </p:nvGrpSpPr>
            <p:grpSpPr>
              <a:xfrm>
                <a:off x="3558912" y="4578069"/>
                <a:ext cx="463506" cy="262048"/>
                <a:chOff x="3558912" y="4578069"/>
                <a:chExt cx="463506" cy="262048"/>
              </a:xfrm>
            </p:grpSpPr>
            <p:sp>
              <p:nvSpPr>
                <p:cNvPr id="656" name="Google Shape;656;p16"/>
                <p:cNvSpPr/>
                <p:nvPr/>
              </p:nvSpPr>
              <p:spPr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58" name="Google Shape;658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59" name="Google Shape;659;p16"/>
          <p:cNvGrpSpPr/>
          <p:nvPr/>
        </p:nvGrpSpPr>
        <p:grpSpPr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660" name="Google Shape;660;p16"/>
            <p:cNvCxnSpPr/>
            <p:nvPr/>
          </p:nvCxnSpPr>
          <p:spPr>
            <a:xfrm flipH="1">
              <a:off x="1282700" y="5802312"/>
              <a:ext cx="1508125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1" name="Google Shape;661;p16"/>
            <p:cNvSpPr txBox="1"/>
            <p:nvPr/>
          </p:nvSpPr>
          <p:spPr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62" name="Google Shape;662;p16"/>
            <p:cNvSpPr txBox="1"/>
            <p:nvPr/>
          </p:nvSpPr>
          <p:spPr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grpSp>
          <p:nvGrpSpPr>
            <p:cNvPr id="663" name="Google Shape;663;p16"/>
            <p:cNvGrpSpPr/>
            <p:nvPr/>
          </p:nvGrpSpPr>
          <p:grpSpPr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664" name="Google Shape;664;p16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65" name="Google Shape;665;p16"/>
              <p:cNvCxnSpPr/>
              <p:nvPr/>
            </p:nvCxnSpPr>
            <p:spPr>
              <a:xfrm>
                <a:off x="-2933828" y="3101502"/>
                <a:ext cx="47154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666" name="Google Shape;666;p16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16"/>
              <p:cNvSpPr txBox="1"/>
              <p:nvPr/>
            </p:nvSpPr>
            <p:spPr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  <p:cxnSp>
            <p:nvCxnSpPr>
              <p:cNvPr id="668" name="Google Shape;668;p16"/>
              <p:cNvCxnSpPr/>
              <p:nvPr/>
            </p:nvCxnSpPr>
            <p:spPr>
              <a:xfrm>
                <a:off x="-3621642" y="2717403"/>
                <a:ext cx="405953" cy="30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69" name="Google Shape;669;p16"/>
            <p:cNvSpPr/>
            <p:nvPr/>
          </p:nvSpPr>
          <p:spPr>
            <a:xfrm>
              <a:off x="2493963" y="5668963"/>
              <a:ext cx="982662" cy="233362"/>
            </a:xfrm>
            <a:custGeom>
              <a:rect b="b" l="l" r="r" t="t"/>
              <a:pathLst>
                <a:path extrusionOk="0" h="167" w="554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cap="flat" cmpd="sng" w="5715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0" name="Google Shape;670;p16"/>
            <p:cNvGrpSpPr/>
            <p:nvPr/>
          </p:nvGrpSpPr>
          <p:grpSpPr>
            <a:xfrm>
              <a:off x="2714625" y="5659438"/>
              <a:ext cx="565150" cy="293688"/>
              <a:chOff x="1871277" y="1576300"/>
              <a:chExt cx="1128371" cy="437862"/>
            </a:xfrm>
          </p:grpSpPr>
          <p:sp>
            <p:nvSpPr>
              <p:cNvPr id="671" name="Google Shape;671;p16"/>
              <p:cNvSpPr/>
              <p:nvPr/>
            </p:nvSpPr>
            <p:spPr>
              <a:xfrm flipH="1" rot="10800000">
                <a:off x="1874448" y="1694641"/>
                <a:ext cx="1125200" cy="319521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3" name="Google Shape;673;p16"/>
              <p:cNvSpPr/>
              <p:nvPr/>
            </p:nvSpPr>
            <p:spPr>
              <a:xfrm flipH="1" rot="10800000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4" name="Google Shape;674;p16"/>
              <p:cNvSpPr/>
              <p:nvPr/>
            </p:nvSpPr>
            <p:spPr>
              <a:xfrm>
                <a:off x="2159710" y="1673340"/>
                <a:ext cx="548337" cy="160944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5" name="Google Shape;675;p16"/>
              <p:cNvSpPr/>
              <p:nvPr/>
            </p:nvSpPr>
            <p:spPr>
              <a:xfrm>
                <a:off x="2102657" y="1633104"/>
                <a:ext cx="662442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16"/>
              <p:cNvSpPr/>
              <p:nvPr/>
            </p:nvSpPr>
            <p:spPr>
              <a:xfrm>
                <a:off x="2536889" y="1727776"/>
                <a:ext cx="244059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16"/>
              <p:cNvSpPr/>
              <p:nvPr/>
            </p:nvSpPr>
            <p:spPr>
              <a:xfrm>
                <a:off x="2089979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8" name="Google Shape;678;p16"/>
              <p:cNvCxnSpPr>
                <a:endCxn id="673" idx="2"/>
              </p:cNvCxnSpPr>
              <p:nvPr/>
            </p:nvCxnSpPr>
            <p:spPr>
              <a:xfrm rot="10800000">
                <a:off x="1871277" y="1736061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679" name="Google Shape;679;p16"/>
              <p:cNvCxnSpPr/>
              <p:nvPr/>
            </p:nvCxnSpPr>
            <p:spPr>
              <a:xfrm rot="10800000">
                <a:off x="2996479" y="1734878"/>
                <a:ext cx="3169" cy="1230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sp>
          <p:nvSpPr>
            <p:cNvPr id="680" name="Google Shape;680;p16"/>
            <p:cNvSpPr txBox="1"/>
            <p:nvPr/>
          </p:nvSpPr>
          <p:spPr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681" name="Google Shape;681;p16"/>
          <p:cNvSpPr txBox="1"/>
          <p:nvPr/>
        </p:nvSpPr>
        <p:spPr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2" name="Google Shape;682;p16"/>
          <p:cNvGrpSpPr/>
          <p:nvPr/>
        </p:nvGrpSpPr>
        <p:grpSpPr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683" name="Google Shape;683;p16"/>
            <p:cNvCxnSpPr/>
            <p:nvPr/>
          </p:nvCxnSpPr>
          <p:spPr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4" name="Google Shape;684;p16"/>
            <p:cNvCxnSpPr/>
            <p:nvPr/>
          </p:nvCxnSpPr>
          <p:spPr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85" name="Google Shape;685;p16"/>
            <p:cNvCxnSpPr/>
            <p:nvPr/>
          </p:nvCxnSpPr>
          <p:spPr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86" name="Google Shape;686;p16"/>
            <p:cNvCxnSpPr/>
            <p:nvPr/>
          </p:nvCxnSpPr>
          <p:spPr>
            <a:xfrm>
              <a:off x="-817641" y="3644638"/>
              <a:ext cx="0" cy="236462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87" name="Google Shape;687;p16"/>
            <p:cNvCxnSpPr/>
            <p:nvPr/>
          </p:nvCxnSpPr>
          <p:spPr>
            <a:xfrm>
              <a:off x="195792" y="3690049"/>
              <a:ext cx="1" cy="231156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688" name="Google Shape;688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695" name="Google Shape;6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17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7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8"/>
          <p:cNvSpPr txBox="1"/>
          <p:nvPr>
            <p:ph idx="1" type="body"/>
          </p:nvPr>
        </p:nvSpPr>
        <p:spPr>
          <a:xfrm>
            <a:off x="749710" y="1443808"/>
            <a:ext cx="603454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Routing</a:t>
            </a:r>
            <a:r>
              <a:rPr lang="en-US">
                <a:solidFill>
                  <a:srgbClr val="C00000"/>
                </a:solidFill>
              </a:rPr>
              <a:t> protocol goal: </a:t>
            </a:r>
            <a:r>
              <a:rPr lang="en-US"/>
              <a:t>determine “good” paths (equivalently, routes), from sending hosts to receiving host, through network of routers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path: </a:t>
            </a:r>
            <a:r>
              <a:rPr lang="en-US"/>
              <a:t>sequence of routers packets traverse from given initial source host to final destination host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“good”: </a:t>
            </a:r>
            <a:r>
              <a:rPr lang="en-US"/>
              <a:t>least “cost”, “fastest”, “least congested”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routing: a “top-10” networking challenge!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05" name="Google Shape;705;p18"/>
          <p:cNvSpPr txBox="1"/>
          <p:nvPr>
            <p:ph type="title"/>
          </p:nvPr>
        </p:nvSpPr>
        <p:spPr>
          <a:xfrm>
            <a:off x="838200" y="33383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Routing protocols</a:t>
            </a:r>
            <a:endParaRPr/>
          </a:p>
        </p:txBody>
      </p:sp>
      <p:sp>
        <p:nvSpPr>
          <p:cNvPr id="706" name="Google Shape;706;p18"/>
          <p:cNvSpPr/>
          <p:nvPr/>
        </p:nvSpPr>
        <p:spPr>
          <a:xfrm>
            <a:off x="9058928" y="2579084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7347816" y="1339341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8" name="Google Shape;708;p18"/>
          <p:cNvGrpSpPr/>
          <p:nvPr/>
        </p:nvGrpSpPr>
        <p:grpSpPr>
          <a:xfrm>
            <a:off x="7279090" y="2802557"/>
            <a:ext cx="1458912" cy="933450"/>
            <a:chOff x="2889" y="1631"/>
            <a:chExt cx="980" cy="743"/>
          </a:xfrm>
        </p:grpSpPr>
        <p:sp>
          <p:nvSpPr>
            <p:cNvPr id="709" name="Google Shape;709;p18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1" name="Google Shape;711;p18"/>
          <p:cNvSpPr/>
          <p:nvPr/>
        </p:nvSpPr>
        <p:spPr>
          <a:xfrm>
            <a:off x="7786141" y="4196440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8"/>
          <p:cNvSpPr txBox="1"/>
          <p:nvPr/>
        </p:nvSpPr>
        <p:spPr>
          <a:xfrm>
            <a:off x="7753014" y="1001767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713" name="Google Shape;713;p18"/>
          <p:cNvSpPr txBox="1"/>
          <p:nvPr/>
        </p:nvSpPr>
        <p:spPr>
          <a:xfrm>
            <a:off x="7380648" y="5293081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714" name="Google Shape;714;p18"/>
          <p:cNvSpPr/>
          <p:nvPr/>
        </p:nvSpPr>
        <p:spPr>
          <a:xfrm>
            <a:off x="10295886" y="2692846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5" name="Google Shape;715;p18"/>
          <p:cNvGrpSpPr/>
          <p:nvPr/>
        </p:nvGrpSpPr>
        <p:grpSpPr>
          <a:xfrm>
            <a:off x="10911440" y="3441356"/>
            <a:ext cx="687393" cy="721548"/>
            <a:chOff x="5203089" y="1751190"/>
            <a:chExt cx="858331" cy="662414"/>
          </a:xfrm>
        </p:grpSpPr>
        <p:sp>
          <p:nvSpPr>
            <p:cNvPr id="716" name="Google Shape;716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8" name="Google Shape;718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9" name="Google Shape;719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0" name="Google Shape;720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1" name="Google Shape;721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2" name="Google Shape;722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3" name="Google Shape;723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24" name="Google Shape;724;p18"/>
          <p:cNvGrpSpPr/>
          <p:nvPr/>
        </p:nvGrpSpPr>
        <p:grpSpPr>
          <a:xfrm>
            <a:off x="10844911" y="2707477"/>
            <a:ext cx="594613" cy="648336"/>
            <a:chOff x="5203089" y="1751190"/>
            <a:chExt cx="858331" cy="662414"/>
          </a:xfrm>
        </p:grpSpPr>
        <p:sp>
          <p:nvSpPr>
            <p:cNvPr id="725" name="Google Shape;725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7" name="Google Shape;727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8" name="Google Shape;728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9" name="Google Shape;729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0" name="Google Shape;730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1" name="Google Shape;731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2" name="Google Shape;732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33" name="Google Shape;733;p18"/>
          <p:cNvSpPr/>
          <p:nvPr/>
        </p:nvSpPr>
        <p:spPr>
          <a:xfrm>
            <a:off x="9614553" y="1295348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8"/>
          <p:cNvSpPr txBox="1"/>
          <p:nvPr/>
        </p:nvSpPr>
        <p:spPr>
          <a:xfrm>
            <a:off x="9500941" y="1364501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735" name="Google Shape;735;p18"/>
          <p:cNvSpPr/>
          <p:nvPr/>
        </p:nvSpPr>
        <p:spPr>
          <a:xfrm>
            <a:off x="9352808" y="3191214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8"/>
          <p:cNvSpPr txBox="1"/>
          <p:nvPr/>
        </p:nvSpPr>
        <p:spPr>
          <a:xfrm>
            <a:off x="10991507" y="4191243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737" name="Google Shape;737;p18"/>
          <p:cNvCxnSpPr/>
          <p:nvPr/>
        </p:nvCxnSpPr>
        <p:spPr>
          <a:xfrm rot="10800000">
            <a:off x="10633660" y="3093431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8" name="Google Shape;738;p18"/>
          <p:cNvCxnSpPr/>
          <p:nvPr/>
        </p:nvCxnSpPr>
        <p:spPr>
          <a:xfrm rot="10800000">
            <a:off x="10734575" y="3153990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9" name="Google Shape;739;p18"/>
          <p:cNvCxnSpPr/>
          <p:nvPr/>
        </p:nvCxnSpPr>
        <p:spPr>
          <a:xfrm flipH="1" rot="10800000">
            <a:off x="10710637" y="3146727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0" name="Google Shape;740;p18"/>
          <p:cNvCxnSpPr/>
          <p:nvPr/>
        </p:nvCxnSpPr>
        <p:spPr>
          <a:xfrm rot="10800000">
            <a:off x="10644514" y="3108202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1" name="Google Shape;741;p18"/>
          <p:cNvCxnSpPr/>
          <p:nvPr/>
        </p:nvCxnSpPr>
        <p:spPr>
          <a:xfrm rot="10800000">
            <a:off x="10624360" y="3584948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2" name="Google Shape;742;p18"/>
          <p:cNvCxnSpPr/>
          <p:nvPr/>
        </p:nvCxnSpPr>
        <p:spPr>
          <a:xfrm rot="10800000">
            <a:off x="9968935" y="3601048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3" name="Google Shape;743;p18"/>
          <p:cNvCxnSpPr/>
          <p:nvPr/>
        </p:nvCxnSpPr>
        <p:spPr>
          <a:xfrm rot="10800000">
            <a:off x="9293356" y="3601048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4" name="Google Shape;744;p18"/>
          <p:cNvCxnSpPr/>
          <p:nvPr/>
        </p:nvCxnSpPr>
        <p:spPr>
          <a:xfrm flipH="1">
            <a:off x="9350608" y="3020978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5" name="Google Shape;745;p18"/>
          <p:cNvCxnSpPr/>
          <p:nvPr/>
        </p:nvCxnSpPr>
        <p:spPr>
          <a:xfrm>
            <a:off x="9806809" y="3020978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6" name="Google Shape;746;p18"/>
          <p:cNvCxnSpPr/>
          <p:nvPr/>
        </p:nvCxnSpPr>
        <p:spPr>
          <a:xfrm>
            <a:off x="10211408" y="2267998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7" name="Google Shape;747;p18"/>
          <p:cNvCxnSpPr/>
          <p:nvPr/>
        </p:nvCxnSpPr>
        <p:spPr>
          <a:xfrm flipH="1">
            <a:off x="9872459" y="2208319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48" name="Google Shape;748;p18"/>
          <p:cNvGrpSpPr/>
          <p:nvPr/>
        </p:nvGrpSpPr>
        <p:grpSpPr>
          <a:xfrm>
            <a:off x="7635978" y="1640631"/>
            <a:ext cx="3578867" cy="3640284"/>
            <a:chOff x="7562238" y="2127325"/>
            <a:chExt cx="3578867" cy="3640284"/>
          </a:xfrm>
        </p:grpSpPr>
        <p:grpSp>
          <p:nvGrpSpPr>
            <p:cNvPr id="749" name="Google Shape;749;p18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750" name="Google Shape;750;p18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1" name="Google Shape;751;p18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" name="Google Shape;752;p18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" name="Google Shape;753;p18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4" name="Google Shape;754;p18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" name="Google Shape;755;p18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18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" name="Google Shape;757;p18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8" name="Google Shape;758;p18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18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18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18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18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" name="Google Shape;763;p18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" name="Google Shape;764;p18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5" name="Google Shape;765;p18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6" name="Google Shape;766;p18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7" name="Google Shape;767;p18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8" name="Google Shape;768;p18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9" name="Google Shape;769;p18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0" name="Google Shape;770;p18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1" name="Google Shape;771;p18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2" name="Google Shape;772;p18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" name="Google Shape;773;p18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774" name="Google Shape;77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75" name="Google Shape;775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776" name="Google Shape;776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8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78" name="Google Shape;778;p18"/>
          <p:cNvCxnSpPr/>
          <p:nvPr/>
        </p:nvCxnSpPr>
        <p:spPr>
          <a:xfrm>
            <a:off x="8281600" y="2213665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9" name="Google Shape;779;p18"/>
          <p:cNvGrpSpPr/>
          <p:nvPr/>
        </p:nvGrpSpPr>
        <p:grpSpPr>
          <a:xfrm>
            <a:off x="8124438" y="1822682"/>
            <a:ext cx="298450" cy="464008"/>
            <a:chOff x="3130" y="3288"/>
            <a:chExt cx="410" cy="742"/>
          </a:xfrm>
        </p:grpSpPr>
        <p:cxnSp>
          <p:nvCxnSpPr>
            <p:cNvPr id="780" name="Google Shape;780;p18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1" name="Google Shape;781;p18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2" name="Google Shape;782;p18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18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18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18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18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18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8" name="Google Shape;788;p18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9" name="Google Shape;789;p18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18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18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2" name="Google Shape;792;p18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" name="Google Shape;793;p18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" name="Google Shape;794;p18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795" name="Google Shape;79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796" name="Google Shape;79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18"/>
          <p:cNvGrpSpPr/>
          <p:nvPr/>
        </p:nvGrpSpPr>
        <p:grpSpPr>
          <a:xfrm>
            <a:off x="9923105" y="4852343"/>
            <a:ext cx="309740" cy="190838"/>
            <a:chOff x="3668110" y="2448910"/>
            <a:chExt cx="3794234" cy="2165130"/>
          </a:xfrm>
        </p:grpSpPr>
        <p:sp>
          <p:nvSpPr>
            <p:cNvPr id="798" name="Google Shape;798;p1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0" name="Google Shape;800;p1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01" name="Google Shape;801;p1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1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1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" name="Google Shape;805;p18"/>
          <p:cNvGrpSpPr/>
          <p:nvPr/>
        </p:nvGrpSpPr>
        <p:grpSpPr>
          <a:xfrm>
            <a:off x="8750359" y="4480726"/>
            <a:ext cx="393760" cy="218578"/>
            <a:chOff x="7493876" y="2774731"/>
            <a:chExt cx="1481958" cy="894622"/>
          </a:xfrm>
        </p:grpSpPr>
        <p:sp>
          <p:nvSpPr>
            <p:cNvPr id="806" name="Google Shape;80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8" name="Google Shape;80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9" name="Google Shape;80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3" name="Google Shape;813;p18"/>
          <p:cNvGrpSpPr/>
          <p:nvPr/>
        </p:nvGrpSpPr>
        <p:grpSpPr>
          <a:xfrm>
            <a:off x="8385260" y="4707739"/>
            <a:ext cx="309740" cy="190838"/>
            <a:chOff x="3668110" y="2448910"/>
            <a:chExt cx="3794234" cy="2165130"/>
          </a:xfrm>
        </p:grpSpPr>
        <p:sp>
          <p:nvSpPr>
            <p:cNvPr id="814" name="Google Shape;814;p1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6" name="Google Shape;816;p1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17" name="Google Shape;817;p1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1" name="Google Shape;821;p18"/>
          <p:cNvGrpSpPr/>
          <p:nvPr/>
        </p:nvGrpSpPr>
        <p:grpSpPr>
          <a:xfrm>
            <a:off x="8513567" y="2325615"/>
            <a:ext cx="353678" cy="168275"/>
            <a:chOff x="7493876" y="2774731"/>
            <a:chExt cx="1481958" cy="894622"/>
          </a:xfrm>
        </p:grpSpPr>
        <p:sp>
          <p:nvSpPr>
            <p:cNvPr id="822" name="Google Shape;82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4" name="Google Shape;82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5" name="Google Shape;82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9" name="Google Shape;829;p18"/>
          <p:cNvGrpSpPr/>
          <p:nvPr/>
        </p:nvGrpSpPr>
        <p:grpSpPr>
          <a:xfrm>
            <a:off x="10957825" y="3114671"/>
            <a:ext cx="170989" cy="97052"/>
            <a:chOff x="7493876" y="2774731"/>
            <a:chExt cx="1481958" cy="894622"/>
          </a:xfrm>
        </p:grpSpPr>
        <p:sp>
          <p:nvSpPr>
            <p:cNvPr id="830" name="Google Shape;83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2" name="Google Shape;83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3" name="Google Shape;83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7" name="Google Shape;837;p18"/>
          <p:cNvGrpSpPr/>
          <p:nvPr/>
        </p:nvGrpSpPr>
        <p:grpSpPr>
          <a:xfrm>
            <a:off x="10484349" y="3009444"/>
            <a:ext cx="353678" cy="198344"/>
            <a:chOff x="7493876" y="2774731"/>
            <a:chExt cx="1481958" cy="894622"/>
          </a:xfrm>
        </p:grpSpPr>
        <p:sp>
          <p:nvSpPr>
            <p:cNvPr id="838" name="Google Shape;83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0" name="Google Shape;84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1" name="Google Shape;84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5" name="Google Shape;845;p18"/>
          <p:cNvGrpSpPr/>
          <p:nvPr/>
        </p:nvGrpSpPr>
        <p:grpSpPr>
          <a:xfrm>
            <a:off x="10022464" y="1715598"/>
            <a:ext cx="353678" cy="198344"/>
            <a:chOff x="7493876" y="2774731"/>
            <a:chExt cx="1481958" cy="894622"/>
          </a:xfrm>
        </p:grpSpPr>
        <p:sp>
          <p:nvSpPr>
            <p:cNvPr id="846" name="Google Shape;84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8" name="Google Shape;84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9" name="Google Shape;84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3" name="Google Shape;853;p18"/>
          <p:cNvGrpSpPr/>
          <p:nvPr/>
        </p:nvGrpSpPr>
        <p:grpSpPr>
          <a:xfrm>
            <a:off x="10600954" y="2126673"/>
            <a:ext cx="353678" cy="198344"/>
            <a:chOff x="7493876" y="2774731"/>
            <a:chExt cx="1481958" cy="894622"/>
          </a:xfrm>
        </p:grpSpPr>
        <p:sp>
          <p:nvSpPr>
            <p:cNvPr id="854" name="Google Shape;85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6" name="Google Shape;85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7" name="Google Shape;85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61" name="Google Shape;861;p18"/>
          <p:cNvGrpSpPr/>
          <p:nvPr/>
        </p:nvGrpSpPr>
        <p:grpSpPr>
          <a:xfrm>
            <a:off x="10717565" y="1621269"/>
            <a:ext cx="353678" cy="198344"/>
            <a:chOff x="7493876" y="2774731"/>
            <a:chExt cx="1481958" cy="894622"/>
          </a:xfrm>
        </p:grpSpPr>
        <p:sp>
          <p:nvSpPr>
            <p:cNvPr id="862" name="Google Shape;86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3" name="Google Shape;86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4" name="Google Shape;86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5" name="Google Shape;86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69" name="Google Shape;869;p18"/>
          <p:cNvGrpSpPr/>
          <p:nvPr/>
        </p:nvGrpSpPr>
        <p:grpSpPr>
          <a:xfrm>
            <a:off x="10053866" y="2174871"/>
            <a:ext cx="353678" cy="198344"/>
            <a:chOff x="7493876" y="2774731"/>
            <a:chExt cx="1481958" cy="894622"/>
          </a:xfrm>
        </p:grpSpPr>
        <p:sp>
          <p:nvSpPr>
            <p:cNvPr id="870" name="Google Shape;87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1" name="Google Shape;87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72" name="Google Shape;87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3" name="Google Shape;87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7" name="Google Shape;877;p18"/>
          <p:cNvGrpSpPr/>
          <p:nvPr/>
        </p:nvGrpSpPr>
        <p:grpSpPr>
          <a:xfrm>
            <a:off x="9570878" y="2907338"/>
            <a:ext cx="367224" cy="240304"/>
            <a:chOff x="7493876" y="2774731"/>
            <a:chExt cx="1481958" cy="894622"/>
          </a:xfrm>
        </p:grpSpPr>
        <p:sp>
          <p:nvSpPr>
            <p:cNvPr id="878" name="Google Shape;87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9" name="Google Shape;87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80" name="Google Shape;88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1" name="Google Shape;88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5" name="Google Shape;885;p18"/>
          <p:cNvGrpSpPr/>
          <p:nvPr/>
        </p:nvGrpSpPr>
        <p:grpSpPr>
          <a:xfrm>
            <a:off x="10448999" y="3505631"/>
            <a:ext cx="353678" cy="198344"/>
            <a:chOff x="7493876" y="2774731"/>
            <a:chExt cx="1481958" cy="894622"/>
          </a:xfrm>
        </p:grpSpPr>
        <p:sp>
          <p:nvSpPr>
            <p:cNvPr id="886" name="Google Shape;88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88" name="Google Shape;88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9" name="Google Shape;88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93" name="Google Shape;893;p18"/>
          <p:cNvGrpSpPr/>
          <p:nvPr/>
        </p:nvGrpSpPr>
        <p:grpSpPr>
          <a:xfrm>
            <a:off x="10999722" y="3882431"/>
            <a:ext cx="228295" cy="120400"/>
            <a:chOff x="7493876" y="2774731"/>
            <a:chExt cx="1481958" cy="894622"/>
          </a:xfrm>
        </p:grpSpPr>
        <p:sp>
          <p:nvSpPr>
            <p:cNvPr id="894" name="Google Shape;89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95" name="Google Shape;89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96" name="Google Shape;89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7" name="Google Shape;89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1" name="Google Shape;901;p18"/>
          <p:cNvGrpSpPr/>
          <p:nvPr/>
        </p:nvGrpSpPr>
        <p:grpSpPr>
          <a:xfrm>
            <a:off x="7512814" y="1869919"/>
            <a:ext cx="534987" cy="414882"/>
            <a:chOff x="7432700" y="2327293"/>
            <a:chExt cx="534987" cy="414882"/>
          </a:xfrm>
        </p:grpSpPr>
        <p:pic>
          <p:nvPicPr>
            <p:cNvPr descr="antenna_stylized" id="902" name="Google Shape;902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03" name="Google Shape;903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4" name="Google Shape;904;p18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05" name="Google Shape;905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" name="Google Shape;906;p18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" name="Google Shape;912;p18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913" name="Google Shape;913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9" name="Google Shape;919;p18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8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5" name="Google Shape;925;p18"/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descr="light2.png" id="926" name="Google Shape;926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27" name="Google Shape;927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8" name="Google Shape;928;p18"/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descr="car_icon_small" id="929" name="Google Shape;929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30" name="Google Shape;930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1" name="Google Shape;931;p18"/>
          <p:cNvGrpSpPr/>
          <p:nvPr/>
        </p:nvGrpSpPr>
        <p:grpSpPr>
          <a:xfrm>
            <a:off x="7567258" y="2838730"/>
            <a:ext cx="857739" cy="583764"/>
            <a:chOff x="7487144" y="3296104"/>
            <a:chExt cx="857739" cy="583764"/>
          </a:xfrm>
        </p:grpSpPr>
        <p:grpSp>
          <p:nvGrpSpPr>
            <p:cNvPr id="932" name="Google Shape;932;p18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933" name="Google Shape;933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934" name="Google Shape;934;p18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5" name="Google Shape;935;p18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936" name="Google Shape;936;p18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7" name="Google Shape;937;p18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8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8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18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18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18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3" name="Google Shape;943;p18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944" name="Google Shape;944;p18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18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18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18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18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9" name="Google Shape;949;p1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50" name="Google Shape;950;p18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18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18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18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18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18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18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957" name="Google Shape;957;p1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8" name="Google Shape;958;p18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9" name="Google Shape;959;p18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960" name="Google Shape;960;p1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961" name="Google Shape;961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62" name="Google Shape;962;p18"/>
          <p:cNvGrpSpPr/>
          <p:nvPr/>
        </p:nvGrpSpPr>
        <p:grpSpPr>
          <a:xfrm>
            <a:off x="11138687" y="2941791"/>
            <a:ext cx="518448" cy="1212242"/>
            <a:chOff x="11058573" y="3399165"/>
            <a:chExt cx="518448" cy="1212242"/>
          </a:xfrm>
        </p:grpSpPr>
        <p:grpSp>
          <p:nvGrpSpPr>
            <p:cNvPr id="963" name="Google Shape;963;p18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964" name="Google Shape;964;p18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65" name="Google Shape;965;p18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966" name="Google Shape;966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67" name="Google Shape;967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68" name="Google Shape;968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969" name="Google Shape;969;p18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970" name="Google Shape;970;p18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71" name="Google Shape;971;p18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972" name="Google Shape;972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73" name="Google Shape;973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74" name="Google Shape;974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975" name="Google Shape;975;p18"/>
          <p:cNvGrpSpPr/>
          <p:nvPr/>
        </p:nvGrpSpPr>
        <p:grpSpPr>
          <a:xfrm flipH="1">
            <a:off x="8054595" y="4413467"/>
            <a:ext cx="345630" cy="320302"/>
            <a:chOff x="2839" y="3501"/>
            <a:chExt cx="755" cy="803"/>
          </a:xfrm>
        </p:grpSpPr>
        <p:pic>
          <p:nvPicPr>
            <p:cNvPr descr="desktop_computer_stylized_medium" id="976" name="Google Shape;976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7" name="Google Shape;977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8" name="Google Shape;978;p18"/>
          <p:cNvGrpSpPr/>
          <p:nvPr/>
        </p:nvGrpSpPr>
        <p:grpSpPr>
          <a:xfrm>
            <a:off x="9275421" y="5366115"/>
            <a:ext cx="310186" cy="312008"/>
            <a:chOff x="877" y="1008"/>
            <a:chExt cx="2747" cy="2626"/>
          </a:xfrm>
        </p:grpSpPr>
        <p:pic>
          <p:nvPicPr>
            <p:cNvPr descr="antenna_stylized" id="979" name="Google Shape;979;p1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80" name="Google Shape;980;p1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" name="Google Shape;981;p18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82" name="Google Shape;982;p1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18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9" name="Google Shape;989;p18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90" name="Google Shape;990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6" name="Google Shape;996;p18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18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8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18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18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18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2" name="Google Shape;1002;p18"/>
          <p:cNvGrpSpPr/>
          <p:nvPr/>
        </p:nvGrpSpPr>
        <p:grpSpPr>
          <a:xfrm flipH="1">
            <a:off x="8227649" y="5017963"/>
            <a:ext cx="345630" cy="320302"/>
            <a:chOff x="2839" y="3501"/>
            <a:chExt cx="755" cy="803"/>
          </a:xfrm>
        </p:grpSpPr>
        <p:pic>
          <p:nvPicPr>
            <p:cNvPr descr="desktop_computer_stylized_medium" id="1003" name="Google Shape;1003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4" name="Google Shape;1004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5" name="Google Shape;1005;p18"/>
          <p:cNvGrpSpPr/>
          <p:nvPr/>
        </p:nvGrpSpPr>
        <p:grpSpPr>
          <a:xfrm flipH="1">
            <a:off x="8625874" y="5039436"/>
            <a:ext cx="345630" cy="320302"/>
            <a:chOff x="2839" y="3501"/>
            <a:chExt cx="755" cy="803"/>
          </a:xfrm>
        </p:grpSpPr>
        <p:pic>
          <p:nvPicPr>
            <p:cNvPr descr="desktop_computer_stylized_medium" id="1006" name="Google Shape;1006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" name="Google Shape;1007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8" name="Google Shape;1008;p18"/>
          <p:cNvGrpSpPr/>
          <p:nvPr/>
        </p:nvGrpSpPr>
        <p:grpSpPr>
          <a:xfrm>
            <a:off x="9608486" y="5308444"/>
            <a:ext cx="319264" cy="256836"/>
            <a:chOff x="877" y="1008"/>
            <a:chExt cx="2747" cy="2626"/>
          </a:xfrm>
        </p:grpSpPr>
        <p:pic>
          <p:nvPicPr>
            <p:cNvPr descr="antenna_stylized" id="1009" name="Google Shape;1009;p1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010" name="Google Shape;1010;p1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18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012" name="Google Shape;1012;p1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18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18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18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18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18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18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9" name="Google Shape;1019;p18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020" name="Google Shape;1020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6" name="Google Shape;1026;p18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18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18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18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18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18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2" name="Google Shape;1032;p18"/>
          <p:cNvSpPr/>
          <p:nvPr/>
        </p:nvSpPr>
        <p:spPr>
          <a:xfrm>
            <a:off x="10227333" y="5150277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8"/>
          <p:cNvSpPr/>
          <p:nvPr/>
        </p:nvSpPr>
        <p:spPr>
          <a:xfrm>
            <a:off x="10233710" y="5170229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8"/>
          <p:cNvSpPr/>
          <p:nvPr/>
        </p:nvSpPr>
        <p:spPr>
          <a:xfrm>
            <a:off x="10229258" y="5326059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18"/>
          <p:cNvSpPr/>
          <p:nvPr/>
        </p:nvSpPr>
        <p:spPr>
          <a:xfrm>
            <a:off x="10100039" y="5187705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6" name="Google Shape;1036;p18"/>
          <p:cNvGrpSpPr/>
          <p:nvPr/>
        </p:nvGrpSpPr>
        <p:grpSpPr>
          <a:xfrm>
            <a:off x="10164793" y="5184197"/>
            <a:ext cx="69517" cy="21877"/>
            <a:chOff x="613" y="2566"/>
            <a:chExt cx="721" cy="144"/>
          </a:xfrm>
        </p:grpSpPr>
        <p:sp>
          <p:nvSpPr>
            <p:cNvPr id="1037" name="Google Shape;1037;p18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8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9" name="Google Shape;1039;p18"/>
          <p:cNvSpPr/>
          <p:nvPr/>
        </p:nvSpPr>
        <p:spPr>
          <a:xfrm>
            <a:off x="10101242" y="5236056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0" name="Google Shape;1040;p18"/>
          <p:cNvGrpSpPr/>
          <p:nvPr/>
        </p:nvGrpSpPr>
        <p:grpSpPr>
          <a:xfrm>
            <a:off x="10164745" y="5231416"/>
            <a:ext cx="69517" cy="19515"/>
            <a:chOff x="615" y="2564"/>
            <a:chExt cx="721" cy="139"/>
          </a:xfrm>
        </p:grpSpPr>
        <p:sp>
          <p:nvSpPr>
            <p:cNvPr id="1041" name="Google Shape;1041;p18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8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3" name="Google Shape;1043;p18"/>
          <p:cNvSpPr/>
          <p:nvPr/>
        </p:nvSpPr>
        <p:spPr>
          <a:xfrm>
            <a:off x="10101242" y="5284407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8"/>
          <p:cNvSpPr/>
          <p:nvPr/>
        </p:nvSpPr>
        <p:spPr>
          <a:xfrm>
            <a:off x="10102445" y="5328244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5" name="Google Shape;1045;p18"/>
          <p:cNvGrpSpPr/>
          <p:nvPr/>
        </p:nvGrpSpPr>
        <p:grpSpPr>
          <a:xfrm>
            <a:off x="10163591" y="5327014"/>
            <a:ext cx="69541" cy="19618"/>
            <a:chOff x="618" y="2586"/>
            <a:chExt cx="720" cy="124"/>
          </a:xfrm>
        </p:grpSpPr>
        <p:sp>
          <p:nvSpPr>
            <p:cNvPr id="1046" name="Google Shape;1046;p18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8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8" name="Google Shape;1048;p18"/>
          <p:cNvSpPr/>
          <p:nvPr/>
        </p:nvSpPr>
        <p:spPr>
          <a:xfrm>
            <a:off x="10229740" y="5284407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9" name="Google Shape;1049;p18"/>
          <p:cNvGrpSpPr/>
          <p:nvPr/>
        </p:nvGrpSpPr>
        <p:grpSpPr>
          <a:xfrm>
            <a:off x="10163589" y="5280912"/>
            <a:ext cx="70700" cy="19515"/>
            <a:chOff x="613" y="2571"/>
            <a:chExt cx="732" cy="134"/>
          </a:xfrm>
        </p:grpSpPr>
        <p:sp>
          <p:nvSpPr>
            <p:cNvPr id="1050" name="Google Shape;1050;p18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8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2" name="Google Shape;1052;p18"/>
          <p:cNvSpPr/>
          <p:nvPr/>
        </p:nvSpPr>
        <p:spPr>
          <a:xfrm>
            <a:off x="10224686" y="5149694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8"/>
          <p:cNvSpPr/>
          <p:nvPr/>
        </p:nvSpPr>
        <p:spPr>
          <a:xfrm>
            <a:off x="10232627" y="5233872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18"/>
          <p:cNvSpPr/>
          <p:nvPr/>
        </p:nvSpPr>
        <p:spPr>
          <a:xfrm>
            <a:off x="10232988" y="5186249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18"/>
          <p:cNvSpPr/>
          <p:nvPr/>
        </p:nvSpPr>
        <p:spPr>
          <a:xfrm>
            <a:off x="10257051" y="5467472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8"/>
          <p:cNvSpPr/>
          <p:nvPr/>
        </p:nvSpPr>
        <p:spPr>
          <a:xfrm>
            <a:off x="10231424" y="5467909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8"/>
          <p:cNvSpPr/>
          <p:nvPr/>
        </p:nvSpPr>
        <p:spPr>
          <a:xfrm>
            <a:off x="10091617" y="5476793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8"/>
          <p:cNvSpPr/>
          <p:nvPr/>
        </p:nvSpPr>
        <p:spPr>
          <a:xfrm>
            <a:off x="10100039" y="5482472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8"/>
          <p:cNvSpPr/>
          <p:nvPr/>
        </p:nvSpPr>
        <p:spPr>
          <a:xfrm>
            <a:off x="10111950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8"/>
          <p:cNvSpPr/>
          <p:nvPr/>
        </p:nvSpPr>
        <p:spPr>
          <a:xfrm>
            <a:off x="10133607" y="5434121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18"/>
          <p:cNvSpPr/>
          <p:nvPr/>
        </p:nvSpPr>
        <p:spPr>
          <a:xfrm>
            <a:off x="10153941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8"/>
          <p:cNvSpPr/>
          <p:nvPr/>
        </p:nvSpPr>
        <p:spPr>
          <a:xfrm>
            <a:off x="10203150" y="5354750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3" name="Google Shape;1063;p18"/>
          <p:cNvGrpSpPr/>
          <p:nvPr/>
        </p:nvGrpSpPr>
        <p:grpSpPr>
          <a:xfrm flipH="1">
            <a:off x="7847721" y="4794366"/>
            <a:ext cx="345630" cy="320302"/>
            <a:chOff x="2839" y="3501"/>
            <a:chExt cx="755" cy="803"/>
          </a:xfrm>
        </p:grpSpPr>
        <p:pic>
          <p:nvPicPr>
            <p:cNvPr descr="desktop_computer_stylized_medium" id="1064" name="Google Shape;1064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5" name="Google Shape;1065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6" name="Google Shape;1066;p18"/>
          <p:cNvGrpSpPr/>
          <p:nvPr/>
        </p:nvGrpSpPr>
        <p:grpSpPr>
          <a:xfrm>
            <a:off x="7823964" y="1373031"/>
            <a:ext cx="415925" cy="385763"/>
            <a:chOff x="2751" y="1851"/>
            <a:chExt cx="462" cy="478"/>
          </a:xfrm>
        </p:grpSpPr>
        <p:pic>
          <p:nvPicPr>
            <p:cNvPr descr="iphone_stylized_small" id="1067" name="Google Shape;1067;p1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068" name="Google Shape;1068;p1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9" name="Google Shape;1069;p18"/>
          <p:cNvGrpSpPr/>
          <p:nvPr/>
        </p:nvGrpSpPr>
        <p:grpSpPr>
          <a:xfrm>
            <a:off x="10327730" y="4787257"/>
            <a:ext cx="177192" cy="330833"/>
            <a:chOff x="4140" y="429"/>
            <a:chExt cx="1425" cy="2396"/>
          </a:xfrm>
        </p:grpSpPr>
        <p:sp>
          <p:nvSpPr>
            <p:cNvPr id="1070" name="Google Shape;1070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5" name="Google Shape;1075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076" name="Google Shape;1076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8" name="Google Shape;1078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9" name="Google Shape;1079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080" name="Google Shape;1080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2" name="Google Shape;1082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4" name="Google Shape;1084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085" name="Google Shape;1085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6" name="Google Shape;1086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7" name="Google Shape;1087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8" name="Google Shape;1088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089" name="Google Shape;1089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1" name="Google Shape;1091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2" name="Google Shape;1102;p18"/>
          <p:cNvGrpSpPr/>
          <p:nvPr/>
        </p:nvGrpSpPr>
        <p:grpSpPr>
          <a:xfrm>
            <a:off x="6645453" y="2199599"/>
            <a:ext cx="1038308" cy="956788"/>
            <a:chOff x="6571713" y="2686293"/>
            <a:chExt cx="1038308" cy="956788"/>
          </a:xfrm>
        </p:grpSpPr>
        <p:sp>
          <p:nvSpPr>
            <p:cNvPr id="1103" name="Google Shape;1103;p18"/>
            <p:cNvSpPr/>
            <p:nvPr/>
          </p:nvSpPr>
          <p:spPr>
            <a:xfrm flipH="1">
              <a:off x="7291095" y="2700162"/>
              <a:ext cx="318926" cy="942919"/>
            </a:xfrm>
            <a:custGeom>
              <a:rect b="b" l="l" r="r" t="t"/>
              <a:pathLst>
                <a:path extrusionOk="0" h="10279" w="1031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4" name="Google Shape;1104;p18"/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1105" name="Google Shape;1105;p18"/>
              <p:cNvSpPr/>
              <p:nvPr/>
            </p:nvSpPr>
            <p:spPr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18"/>
              <p:cNvSpPr/>
              <p:nvPr/>
            </p:nvSpPr>
            <p:spPr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18"/>
              <p:cNvSpPr txBox="1"/>
              <p:nvPr/>
            </p:nvSpPr>
            <p:spPr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8" name="Google Shape;1108;p18"/>
              <p:cNvCxnSpPr/>
              <p:nvPr/>
            </p:nvCxnSpPr>
            <p:spPr>
              <a:xfrm>
                <a:off x="6638631" y="289132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9" name="Google Shape;1109;p18"/>
              <p:cNvCxnSpPr/>
              <p:nvPr/>
            </p:nvCxnSpPr>
            <p:spPr>
              <a:xfrm>
                <a:off x="6638631" y="304054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0" name="Google Shape;1110;p18"/>
              <p:cNvCxnSpPr/>
              <p:nvPr/>
            </p:nvCxnSpPr>
            <p:spPr>
              <a:xfrm>
                <a:off x="6638631" y="318977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1" name="Google Shape;1111;p18"/>
              <p:cNvCxnSpPr/>
              <p:nvPr/>
            </p:nvCxnSpPr>
            <p:spPr>
              <a:xfrm>
                <a:off x="6638631" y="333899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12" name="Google Shape;1112;p18"/>
          <p:cNvGrpSpPr/>
          <p:nvPr/>
        </p:nvGrpSpPr>
        <p:grpSpPr>
          <a:xfrm>
            <a:off x="10275746" y="4871177"/>
            <a:ext cx="970347" cy="854075"/>
            <a:chOff x="10202006" y="5357871"/>
            <a:chExt cx="970347" cy="854075"/>
          </a:xfrm>
        </p:grpSpPr>
        <p:sp>
          <p:nvSpPr>
            <p:cNvPr id="1113" name="Google Shape;1113;p18"/>
            <p:cNvSpPr/>
            <p:nvPr/>
          </p:nvSpPr>
          <p:spPr>
            <a:xfrm>
              <a:off x="10202006" y="5397682"/>
              <a:ext cx="281273" cy="773122"/>
            </a:xfrm>
            <a:custGeom>
              <a:rect b="b" l="l" r="r" t="t"/>
              <a:pathLst>
                <a:path extrusionOk="0" h="10000" w="10001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4" name="Google Shape;1114;p18"/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1115" name="Google Shape;1115;p18"/>
              <p:cNvSpPr/>
              <p:nvPr/>
            </p:nvSpPr>
            <p:spPr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18"/>
              <p:cNvSpPr/>
              <p:nvPr/>
            </p:nvSpPr>
            <p:spPr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18"/>
              <p:cNvSpPr txBox="1"/>
              <p:nvPr/>
            </p:nvSpPr>
            <p:spPr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8" name="Google Shape;1118;p18"/>
              <p:cNvCxnSpPr/>
              <p:nvPr/>
            </p:nvCxnSpPr>
            <p:spPr>
              <a:xfrm>
                <a:off x="6638631" y="289132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9" name="Google Shape;1119;p18"/>
              <p:cNvCxnSpPr/>
              <p:nvPr/>
            </p:nvCxnSpPr>
            <p:spPr>
              <a:xfrm>
                <a:off x="6638631" y="304054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0" name="Google Shape;1120;p18"/>
              <p:cNvCxnSpPr/>
              <p:nvPr/>
            </p:nvCxnSpPr>
            <p:spPr>
              <a:xfrm>
                <a:off x="6638631" y="318977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1" name="Google Shape;1121;p18"/>
              <p:cNvCxnSpPr/>
              <p:nvPr/>
            </p:nvCxnSpPr>
            <p:spPr>
              <a:xfrm>
                <a:off x="6638631" y="333899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22" name="Google Shape;1122;p18"/>
          <p:cNvGrpSpPr/>
          <p:nvPr/>
        </p:nvGrpSpPr>
        <p:grpSpPr>
          <a:xfrm>
            <a:off x="10076248" y="5129706"/>
            <a:ext cx="214974" cy="403920"/>
            <a:chOff x="4140" y="429"/>
            <a:chExt cx="1425" cy="2396"/>
          </a:xfrm>
        </p:grpSpPr>
        <p:sp>
          <p:nvSpPr>
            <p:cNvPr id="1123" name="Google Shape;1123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8" name="Google Shape;1128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129" name="Google Shape;1129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1" name="Google Shape;1131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2" name="Google Shape;1132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133" name="Google Shape;1133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5" name="Google Shape;1135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7" name="Google Shape;1137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138" name="Google Shape;1138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0" name="Google Shape;1140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1" name="Google Shape;1141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142" name="Google Shape;1142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4" name="Google Shape;1144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5" name="Google Shape;1155;p18"/>
          <p:cNvGrpSpPr/>
          <p:nvPr/>
        </p:nvGrpSpPr>
        <p:grpSpPr>
          <a:xfrm>
            <a:off x="9172528" y="3469930"/>
            <a:ext cx="367224" cy="240304"/>
            <a:chOff x="7493876" y="2774731"/>
            <a:chExt cx="1481958" cy="894622"/>
          </a:xfrm>
        </p:grpSpPr>
        <p:sp>
          <p:nvSpPr>
            <p:cNvPr id="1156" name="Google Shape;115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57" name="Google Shape;115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58" name="Google Shape;115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59" name="Google Shape;115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63" name="Google Shape;1163;p18"/>
          <p:cNvGrpSpPr/>
          <p:nvPr/>
        </p:nvGrpSpPr>
        <p:grpSpPr>
          <a:xfrm>
            <a:off x="9675294" y="3513069"/>
            <a:ext cx="367224" cy="240304"/>
            <a:chOff x="7493876" y="2774731"/>
            <a:chExt cx="1481958" cy="894622"/>
          </a:xfrm>
        </p:grpSpPr>
        <p:sp>
          <p:nvSpPr>
            <p:cNvPr id="1164" name="Google Shape;116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65" name="Google Shape;116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66" name="Google Shape;116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67" name="Google Shape;116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1" name="Google Shape;1171;p18"/>
          <p:cNvGrpSpPr/>
          <p:nvPr/>
        </p:nvGrpSpPr>
        <p:grpSpPr>
          <a:xfrm>
            <a:off x="8123810" y="3479300"/>
            <a:ext cx="354986" cy="175668"/>
            <a:chOff x="7493876" y="2774731"/>
            <a:chExt cx="1481958" cy="894622"/>
          </a:xfrm>
        </p:grpSpPr>
        <p:sp>
          <p:nvSpPr>
            <p:cNvPr id="1172" name="Google Shape;117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73" name="Google Shape;117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74" name="Google Shape;117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75" name="Google Shape;117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9" name="Google Shape;1179;p18"/>
          <p:cNvGrpSpPr/>
          <p:nvPr/>
        </p:nvGrpSpPr>
        <p:grpSpPr>
          <a:xfrm>
            <a:off x="9321633" y="4288992"/>
            <a:ext cx="393760" cy="218578"/>
            <a:chOff x="7493876" y="2774731"/>
            <a:chExt cx="1481958" cy="894622"/>
          </a:xfrm>
        </p:grpSpPr>
        <p:sp>
          <p:nvSpPr>
            <p:cNvPr id="1180" name="Google Shape;118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81" name="Google Shape;118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82" name="Google Shape;118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83" name="Google Shape;118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7" name="Google Shape;1187;p18"/>
          <p:cNvGrpSpPr/>
          <p:nvPr/>
        </p:nvGrpSpPr>
        <p:grpSpPr>
          <a:xfrm>
            <a:off x="7848738" y="2976754"/>
            <a:ext cx="3007624" cy="1690703"/>
            <a:chOff x="7774998" y="3463448"/>
            <a:chExt cx="3007624" cy="1690703"/>
          </a:xfrm>
        </p:grpSpPr>
        <p:grpSp>
          <p:nvGrpSpPr>
            <p:cNvPr id="1188" name="Google Shape;1188;p18"/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1189" name="Google Shape;1189;p18"/>
              <p:cNvSpPr/>
              <p:nvPr/>
            </p:nvSpPr>
            <p:spPr>
              <a:xfrm rot="10800000">
                <a:off x="7818844" y="4090572"/>
                <a:ext cx="487903" cy="154569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0" name="Google Shape;1190;p18"/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1191" name="Google Shape;1191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2" name="Google Shape;1192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3" name="Google Shape;1193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194" name="Google Shape;1194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95" name="Google Shape;1195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196" name="Google Shape;1196;p18"/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1197" name="Google Shape;1197;p18"/>
              <p:cNvSpPr/>
              <p:nvPr/>
            </p:nvSpPr>
            <p:spPr>
              <a:xfrm flipH="1">
                <a:off x="8735937" y="3883244"/>
                <a:ext cx="487903" cy="154569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8" name="Google Shape;1198;p18"/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1199" name="Google Shape;1199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0" name="Google Shape;1200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1" name="Google Shape;1201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02" name="Google Shape;1202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03" name="Google Shape;1203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04" name="Google Shape;1204;p18"/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1205" name="Google Shape;1205;p18"/>
              <p:cNvSpPr/>
              <p:nvPr/>
            </p:nvSpPr>
            <p:spPr>
              <a:xfrm>
                <a:off x="9904716" y="3925785"/>
                <a:ext cx="466702" cy="183647"/>
              </a:xfrm>
              <a:custGeom>
                <a:rect b="b" l="l" r="r" t="t"/>
                <a:pathLst>
                  <a:path extrusionOk="0" h="12676" w="10000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6" name="Google Shape;1206;p18"/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1207" name="Google Shape;1207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8" name="Google Shape;1208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9" name="Google Shape;1209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10" name="Google Shape;1210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11" name="Google Shape;1211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12" name="Google Shape;1212;p18"/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1213" name="Google Shape;1213;p18"/>
              <p:cNvSpPr/>
              <p:nvPr/>
            </p:nvSpPr>
            <p:spPr>
              <a:xfrm>
                <a:off x="9598301" y="4724405"/>
                <a:ext cx="466702" cy="206262"/>
              </a:xfrm>
              <a:custGeom>
                <a:rect b="b" l="l" r="r" t="t"/>
                <a:pathLst>
                  <a:path extrusionOk="0" h="14237" w="10000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4" name="Google Shape;1214;p18"/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1215" name="Google Shape;1215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6" name="Google Shape;1216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7" name="Google Shape;1217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18" name="Google Shape;1218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19" name="Google Shape;1219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20" name="Google Shape;1220;p18"/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1221" name="Google Shape;1221;p18"/>
              <p:cNvSpPr/>
              <p:nvPr/>
            </p:nvSpPr>
            <p:spPr>
              <a:xfrm>
                <a:off x="10153753" y="5002899"/>
                <a:ext cx="590332" cy="151252"/>
              </a:xfrm>
              <a:custGeom>
                <a:rect b="b" l="l" r="r" t="t"/>
                <a:pathLst>
                  <a:path extrusionOk="0" h="10440" w="12649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22" name="Google Shape;1222;p18"/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1223" name="Google Shape;1223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4" name="Google Shape;1224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5" name="Google Shape;1225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26" name="Google Shape;1226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27" name="Google Shape;1227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1228" name="Google Shape;1228;p18"/>
          <p:cNvGrpSpPr/>
          <p:nvPr/>
        </p:nvGrpSpPr>
        <p:grpSpPr>
          <a:xfrm>
            <a:off x="9857298" y="4503289"/>
            <a:ext cx="393760" cy="218578"/>
            <a:chOff x="7493876" y="2774731"/>
            <a:chExt cx="1481958" cy="894622"/>
          </a:xfrm>
        </p:grpSpPr>
        <p:sp>
          <p:nvSpPr>
            <p:cNvPr id="1229" name="Google Shape;1229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30" name="Google Shape;1230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31" name="Google Shape;1231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32" name="Google Shape;1232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6" name="Google Shape;1236;p18"/>
          <p:cNvSpPr/>
          <p:nvPr/>
        </p:nvSpPr>
        <p:spPr>
          <a:xfrm>
            <a:off x="7362436" y="2627566"/>
            <a:ext cx="3064097" cy="2683755"/>
          </a:xfrm>
          <a:custGeom>
            <a:rect b="b" l="l" r="r" t="t"/>
            <a:pathLst>
              <a:path extrusionOk="0" h="2683755" w="3064097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9"/>
          <p:cNvSpPr txBox="1"/>
          <p:nvPr>
            <p:ph type="title"/>
          </p:nvPr>
        </p:nvSpPr>
        <p:spPr>
          <a:xfrm>
            <a:off x="838200" y="348585"/>
            <a:ext cx="686045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Graph abstraction: link costs</a:t>
            </a:r>
            <a:endParaRPr/>
          </a:p>
        </p:txBody>
      </p:sp>
      <p:sp>
        <p:nvSpPr>
          <p:cNvPr id="1244" name="Google Shape;1244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5" name="Google Shape;1245;p19"/>
          <p:cNvGrpSpPr/>
          <p:nvPr/>
        </p:nvGrpSpPr>
        <p:grpSpPr>
          <a:xfrm>
            <a:off x="1238864" y="1288538"/>
            <a:ext cx="3571875" cy="2236788"/>
            <a:chOff x="3162" y="1071"/>
            <a:chExt cx="2250" cy="1409"/>
          </a:xfrm>
        </p:grpSpPr>
        <p:sp>
          <p:nvSpPr>
            <p:cNvPr id="1246" name="Google Shape;1246;p19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9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9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9" name="Google Shape;1249;p19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19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1" name="Google Shape;1251;p19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9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9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4" name="Google Shape;1254;p19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5" name="Google Shape;1255;p19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6" name="Google Shape;1256;p19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9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9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9" name="Google Shape;1259;p19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0" name="Google Shape;1260;p19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1" name="Google Shape;1261;p19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9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9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4" name="Google Shape;1264;p19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5" name="Google Shape;1265;p19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6" name="Google Shape;1266;p19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9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9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9" name="Google Shape;1269;p19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0" name="Google Shape;1270;p19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1" name="Google Shape;1271;p19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9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9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4" name="Google Shape;1274;p19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5" name="Google Shape;1275;p19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6" name="Google Shape;1276;p19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9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9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9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9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9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9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9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9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9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9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7" name="Google Shape;1287;p19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288" name="Google Shape;1288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19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0" name="Google Shape;1290;p19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291" name="Google Shape;1291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3" name="Google Shape;1293;p19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294" name="Google Shape;1294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9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296" name="Google Shape;1296;p19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297" name="Google Shape;1297;p19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19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9" name="Google Shape;1299;p19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300" name="Google Shape;1300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2" name="Google Shape;1302;p19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303" name="Google Shape;1303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19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305" name="Google Shape;1305;p19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9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9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9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9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9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9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9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9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9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5" name="Google Shape;1315;p19"/>
          <p:cNvSpPr txBox="1"/>
          <p:nvPr/>
        </p:nvSpPr>
        <p:spPr>
          <a:xfrm>
            <a:off x="1411748" y="3898081"/>
            <a:ext cx="248080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graph: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(N,E)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19"/>
          <p:cNvSpPr txBox="1"/>
          <p:nvPr/>
        </p:nvSpPr>
        <p:spPr>
          <a:xfrm>
            <a:off x="5456905" y="1415845"/>
            <a:ext cx="588460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a,b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of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link connecting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w,z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5,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∞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8016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defined by network operator: could always be 1, or inversely related to bandwidth, or inversely related to congestion</a:t>
            </a:r>
            <a:endParaRPr/>
          </a:p>
        </p:txBody>
      </p:sp>
      <p:sp>
        <p:nvSpPr>
          <p:cNvPr id="1317" name="Google Shape;1317;p19"/>
          <p:cNvSpPr txBox="1"/>
          <p:nvPr/>
        </p:nvSpPr>
        <p:spPr>
          <a:xfrm>
            <a:off x="1638300" y="4537178"/>
            <a:ext cx="51144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N: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routers = { 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 v, w, x, y, z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1318" name="Google Shape;1318;p19"/>
          <p:cNvSpPr txBox="1"/>
          <p:nvPr/>
        </p:nvSpPr>
        <p:spPr>
          <a:xfrm>
            <a:off x="1638300" y="5106769"/>
            <a:ext cx="100759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E: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links =</a:t>
            </a:r>
            <a:r>
              <a:rPr b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u,v), (u,x), (v,x), (v,w), (x,w), (x,y), (w,y), (w,z), (y,z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20"/>
          <p:cNvSpPr txBox="1"/>
          <p:nvPr>
            <p:ph type="title"/>
          </p:nvPr>
        </p:nvSpPr>
        <p:spPr>
          <a:xfrm>
            <a:off x="838200" y="348585"/>
            <a:ext cx="832054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Routing algorithm classification</a:t>
            </a:r>
            <a:endParaRPr/>
          </a:p>
        </p:txBody>
      </p:sp>
      <p:sp>
        <p:nvSpPr>
          <p:cNvPr id="1325" name="Google Shape;1325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6" name="Google Shape;1326;p20"/>
          <p:cNvCxnSpPr/>
          <p:nvPr/>
        </p:nvCxnSpPr>
        <p:spPr>
          <a:xfrm>
            <a:off x="6091084" y="1312606"/>
            <a:ext cx="0" cy="5043948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27" name="Google Shape;1327;p20"/>
          <p:cNvCxnSpPr/>
          <p:nvPr/>
        </p:nvCxnSpPr>
        <p:spPr>
          <a:xfrm rot="10800000">
            <a:off x="235974" y="3441290"/>
            <a:ext cx="11665974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28" name="Google Shape;1328;p20"/>
          <p:cNvSpPr txBox="1"/>
          <p:nvPr/>
        </p:nvSpPr>
        <p:spPr>
          <a:xfrm>
            <a:off x="4542504" y="6312310"/>
            <a:ext cx="35812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or decentralized information?</a:t>
            </a:r>
            <a:endParaRPr/>
          </a:p>
        </p:txBody>
      </p:sp>
      <p:grpSp>
        <p:nvGrpSpPr>
          <p:cNvPr id="1329" name="Google Shape;1329;p20"/>
          <p:cNvGrpSpPr/>
          <p:nvPr/>
        </p:nvGrpSpPr>
        <p:grpSpPr>
          <a:xfrm>
            <a:off x="3996813" y="1474838"/>
            <a:ext cx="4513007" cy="1209368"/>
            <a:chOff x="3996813" y="1474838"/>
            <a:chExt cx="4513007" cy="1209368"/>
          </a:xfrm>
        </p:grpSpPr>
        <p:sp>
          <p:nvSpPr>
            <p:cNvPr id="1330" name="Google Shape;1330;p20"/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20"/>
            <p:cNvSpPr txBox="1"/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global: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routers have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complete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topology, link cost info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Arial"/>
                <a:buChar char="•"/>
              </a:pPr>
              <a:r>
                <a:rPr lang="en-US" sz="24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“link state”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algorithms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332" name="Google Shape;1332;p20"/>
          <p:cNvGrpSpPr/>
          <p:nvPr/>
        </p:nvGrpSpPr>
        <p:grpSpPr>
          <a:xfrm>
            <a:off x="3465869" y="4326195"/>
            <a:ext cx="6179575" cy="2458065"/>
            <a:chOff x="3465869" y="4326195"/>
            <a:chExt cx="6179575" cy="2458065"/>
          </a:xfrm>
        </p:grpSpPr>
        <p:sp>
          <p:nvSpPr>
            <p:cNvPr id="1333" name="Google Shape;1333;p20"/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20"/>
            <p:cNvSpPr txBox="1"/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decentralized: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iterative process of computation, exchange of info with neighbors</a:t>
              </a:r>
              <a:endParaRPr/>
            </a:p>
            <a:p>
              <a:pPr indent="-233362" lvl="0" marL="407988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routers initially only know link costs to attached neighbors</a:t>
              </a:r>
              <a:endParaRPr/>
            </a:p>
            <a:p>
              <a:pPr indent="-233362" lvl="0" marL="407988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lang="en-US" sz="24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“distance vector”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algorithms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5" name="Google Shape;1335;p20"/>
          <p:cNvSpPr txBox="1"/>
          <p:nvPr/>
        </p:nvSpPr>
        <p:spPr>
          <a:xfrm>
            <a:off x="250724" y="2823539"/>
            <a:ext cx="125361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fast do routes change?</a:t>
            </a:r>
            <a:endParaRPr/>
          </a:p>
        </p:txBody>
      </p:sp>
      <p:sp>
        <p:nvSpPr>
          <p:cNvPr id="1336" name="Google Shape;1336;p20"/>
          <p:cNvSpPr/>
          <p:nvPr/>
        </p:nvSpPr>
        <p:spPr>
          <a:xfrm>
            <a:off x="10171471" y="1184788"/>
            <a:ext cx="176981" cy="10323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7" name="Google Shape;1337;p20"/>
          <p:cNvGrpSpPr/>
          <p:nvPr/>
        </p:nvGrpSpPr>
        <p:grpSpPr>
          <a:xfrm>
            <a:off x="8740391" y="2620951"/>
            <a:ext cx="3451609" cy="2373608"/>
            <a:chOff x="8740391" y="2620951"/>
            <a:chExt cx="3451609" cy="2373608"/>
          </a:xfrm>
        </p:grpSpPr>
        <p:sp>
          <p:nvSpPr>
            <p:cNvPr id="1338" name="Google Shape;1338;p20"/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20"/>
            <p:cNvSpPr txBox="1"/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57150" lvl="0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dynamic</a:t>
              </a:r>
              <a:r>
                <a:rPr i="1" lang="en-US" sz="24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routes change more quickly</a:t>
              </a:r>
              <a:endParaRPr/>
            </a:p>
            <a:p>
              <a:pPr indent="-233362" lvl="1" marL="34925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periodic updates or in response to link cost changes</a:t>
              </a:r>
              <a:endParaRPr/>
            </a:p>
          </p:txBody>
        </p:sp>
      </p:grpSp>
      <p:grpSp>
        <p:nvGrpSpPr>
          <p:cNvPr id="1340" name="Google Shape;1340;p20"/>
          <p:cNvGrpSpPr/>
          <p:nvPr/>
        </p:nvGrpSpPr>
        <p:grpSpPr>
          <a:xfrm>
            <a:off x="1313787" y="3013586"/>
            <a:ext cx="3022237" cy="1209367"/>
            <a:chOff x="1313787" y="3013586"/>
            <a:chExt cx="3022237" cy="1209367"/>
          </a:xfrm>
        </p:grpSpPr>
        <p:sp>
          <p:nvSpPr>
            <p:cNvPr id="1341" name="Google Shape;1341;p20"/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20"/>
            <p:cNvSpPr txBox="1"/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static: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routes change slowly over time</a:t>
              </a:r>
              <a:endParaRPr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343" name="Google Shape;1343;p20"/>
          <p:cNvSpPr/>
          <p:nvPr/>
        </p:nvSpPr>
        <p:spPr>
          <a:xfrm>
            <a:off x="4365523" y="2064775"/>
            <a:ext cx="1622322" cy="737419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20"/>
          <p:cNvSpPr/>
          <p:nvPr/>
        </p:nvSpPr>
        <p:spPr>
          <a:xfrm>
            <a:off x="3883742" y="5624052"/>
            <a:ext cx="2281083" cy="737419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351" name="Google Shape;13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21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1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22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1361" name="Google Shape;1361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22"/>
          <p:cNvSpPr txBox="1"/>
          <p:nvPr/>
        </p:nvSpPr>
        <p:spPr>
          <a:xfrm>
            <a:off x="750989" y="1541236"/>
            <a:ext cx="5708805" cy="4903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centralized: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topology, link costs known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accomplished via “link state broadcast”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have same info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computes least cost paths from one node (“source”) to all other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forwarding table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that node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iterative: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iterations, know least cost path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destinations</a:t>
            </a:r>
            <a:endParaRPr/>
          </a:p>
        </p:txBody>
      </p:sp>
      <p:grpSp>
        <p:nvGrpSpPr>
          <p:cNvPr id="1363" name="Google Shape;1363;p22"/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1364" name="Google Shape;1364;p22"/>
            <p:cNvSpPr txBox="1"/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3050" lvl="0" marL="403225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aseline="-25000"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x,y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link cost from node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;  = ∞ if not direct neighbors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D(v):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current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estimate of cost of least-cost-path from source to destination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p(v):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predecessor node along path from source 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N':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set of nodes whose least-cost-path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definitively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known</a:t>
              </a:r>
              <a:endParaRPr/>
            </a:p>
            <a:p>
              <a:pPr indent="-44450" lvl="0" marL="352425" marR="0" rtl="0" algn="l">
                <a:lnSpc>
                  <a:spcPct val="7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65" name="Google Shape;1365;p22"/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22"/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notation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2" name="Google Shape;1372;p23"/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1373" name="Google Shape;1373;p23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23"/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75" name="Google Shape;1375;p23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376" name="Google Shape;1376;p23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1377" name="Google Shape;1377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3"/>
          <p:cNvSpPr txBox="1"/>
          <p:nvPr/>
        </p:nvSpPr>
        <p:spPr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Initialization: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                             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 compute least cost path from u to all other nodes */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 for all nodes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     if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knows direct-path-cost only to  direct neighbors    */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         then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= 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u,v      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but may not be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cost!                                                    */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     else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∞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endParaRPr/>
          </a:p>
        </p:txBody>
      </p:sp>
      <p:sp>
        <p:nvSpPr>
          <p:cNvPr id="1379" name="Google Shape;1379;p23"/>
          <p:cNvSpPr txBox="1"/>
          <p:nvPr/>
        </p:nvSpPr>
        <p:spPr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sz="24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sz="24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15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until all nodes in N'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380" name="Google Shape;1380;p23"/>
          <p:cNvSpPr txBox="1"/>
          <p:nvPr/>
        </p:nvSpPr>
        <p:spPr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D(w)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adjacent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D(v) =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 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D(v),  D(w) + c</a:t>
            </a:r>
            <a:r>
              <a:rPr b="1" baseline="-25000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w,v 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new least-path-cost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old least-cost-path to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known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least-cost-path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plus direct-cost from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*/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386;p24"/>
          <p:cNvGrpSpPr/>
          <p:nvPr/>
        </p:nvGrpSpPr>
        <p:grpSpPr>
          <a:xfrm>
            <a:off x="5701792" y="4279392"/>
            <a:ext cx="918006" cy="1764574"/>
            <a:chOff x="4618299" y="5972536"/>
            <a:chExt cx="2734563" cy="1944547"/>
          </a:xfrm>
        </p:grpSpPr>
        <p:sp>
          <p:nvSpPr>
            <p:cNvPr id="1387" name="Google Shape;1387;p24"/>
            <p:cNvSpPr/>
            <p:nvPr/>
          </p:nvSpPr>
          <p:spPr>
            <a:xfrm>
              <a:off x="4618299" y="5972536"/>
              <a:ext cx="2511706" cy="1944547"/>
            </a:xfrm>
            <a:prstGeom prst="rect">
              <a:avLst/>
            </a:prstGeom>
            <a:noFill/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24"/>
            <p:cNvSpPr/>
            <p:nvPr/>
          </p:nvSpPr>
          <p:spPr>
            <a:xfrm>
              <a:off x="6852056" y="6129160"/>
              <a:ext cx="500806" cy="16745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89" name="Google Shape;1389;p24"/>
            <p:cNvCxnSpPr/>
            <p:nvPr/>
          </p:nvCxnSpPr>
          <p:spPr>
            <a:xfrm>
              <a:off x="7131754" y="6015734"/>
              <a:ext cx="0" cy="235302"/>
            </a:xfrm>
            <a:prstGeom prst="straightConnector1">
              <a:avLst/>
            </a:prstGeom>
            <a:noFill/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390" name="Google Shape;1390;p24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391" name="Google Shape;1391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24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93" name="Google Shape;1393;p24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394" name="Google Shape;1394;p24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395" name="Google Shape;1395;p24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396" name="Google Shape;1396;p24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397" name="Google Shape;1397;p24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398" name="Google Shape;1398;p24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99" name="Google Shape;1399;p24"/>
          <p:cNvGrpSpPr/>
          <p:nvPr/>
        </p:nvGrpSpPr>
        <p:grpSpPr>
          <a:xfrm>
            <a:off x="1528762" y="4132366"/>
            <a:ext cx="3571875" cy="2236788"/>
            <a:chOff x="3162" y="1071"/>
            <a:chExt cx="2250" cy="1409"/>
          </a:xfrm>
        </p:grpSpPr>
        <p:sp>
          <p:nvSpPr>
            <p:cNvPr id="1400" name="Google Shape;1400;p24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24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24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3" name="Google Shape;1403;p24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24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5" name="Google Shape;1405;p24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24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24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8" name="Google Shape;1408;p24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9" name="Google Shape;1409;p24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0" name="Google Shape;1410;p24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24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24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3" name="Google Shape;1413;p24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4" name="Google Shape;1414;p24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5" name="Google Shape;1415;p24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24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24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8" name="Google Shape;1418;p24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9" name="Google Shape;1419;p24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0" name="Google Shape;1420;p24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24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24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3" name="Google Shape;1423;p24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4" name="Google Shape;1424;p24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5" name="Google Shape;1425;p24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24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24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8" name="Google Shape;1428;p24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9" name="Google Shape;1429;p24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0" name="Google Shape;1430;p24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24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24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24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24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24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24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24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24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24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24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1" name="Google Shape;1441;p24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442" name="Google Shape;1442;p2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24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4" name="Google Shape;1444;p24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445" name="Google Shape;1445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2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7" name="Google Shape;1447;p24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448" name="Google Shape;1448;p2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24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450" name="Google Shape;1450;p24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451" name="Google Shape;1451;p24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24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3" name="Google Shape;1453;p24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454" name="Google Shape;1454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2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6" name="Google Shape;1456;p24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457" name="Google Shape;1457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24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459" name="Google Shape;1459;p24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24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24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24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24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24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24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24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24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24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9" name="Google Shape;1469;p24"/>
          <p:cNvSpPr txBox="1"/>
          <p:nvPr/>
        </p:nvSpPr>
        <p:spPr>
          <a:xfrm>
            <a:off x="9490547" y="3198952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/>
          </a:p>
        </p:txBody>
      </p:sp>
      <p:sp>
        <p:nvSpPr>
          <p:cNvPr id="1470" name="Google Shape;1470;p24"/>
          <p:cNvSpPr txBox="1"/>
          <p:nvPr/>
        </p:nvSpPr>
        <p:spPr>
          <a:xfrm>
            <a:off x="5169952" y="1633417"/>
            <a:ext cx="12955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sp>
        <p:nvSpPr>
          <p:cNvPr id="1471" name="Google Shape;1471;p24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grpSp>
        <p:nvGrpSpPr>
          <p:cNvPr id="1472" name="Google Shape;1472;p24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473" name="Google Shape;1473;p24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474" name="Google Shape;1474;p24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grpSp>
        <p:nvGrpSpPr>
          <p:cNvPr id="1475" name="Google Shape;1475;p24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476" name="Google Shape;1476;p24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477" name="Google Shape;1477;p24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24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24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480" name="Google Shape;1480;p24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1481" name="Google Shape;1481;p24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482" name="Google Shape;1482;p24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24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484" name="Google Shape;1484;p24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485" name="Google Shape;1485;p24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1486" name="Google Shape;1486;p24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487" name="Google Shape;1487;p24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488" name="Google Shape;1488;p24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489" name="Google Shape;1489;p24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490" name="Google Shape;1490;p24"/>
          <p:cNvSpPr txBox="1"/>
          <p:nvPr/>
        </p:nvSpPr>
        <p:spPr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uxyvwz</a:t>
            </a:r>
            <a:endParaRPr/>
          </a:p>
        </p:txBody>
      </p:sp>
      <p:sp>
        <p:nvSpPr>
          <p:cNvPr id="1491" name="Google Shape;1491;p24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/>
          </a:p>
        </p:txBody>
      </p:sp>
      <p:sp>
        <p:nvSpPr>
          <p:cNvPr id="1492" name="Google Shape;1492;p24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sp>
        <p:nvSpPr>
          <p:cNvPr id="1493" name="Google Shape;1493;p24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sp>
        <p:nvSpPr>
          <p:cNvPr id="1494" name="Google Shape;1494;p24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495" name="Google Shape;1495;p24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496" name="Google Shape;1496;p24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7" name="Google Shape;1497;p24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8" name="Google Shape;1498;p24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9" name="Google Shape;1499;p24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0" name="Google Shape;1500;p24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1" name="Google Shape;1501;p24"/>
          <p:cNvSpPr txBox="1"/>
          <p:nvPr/>
        </p:nvSpPr>
        <p:spPr>
          <a:xfrm>
            <a:off x="4409954" y="1342663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502" name="Google Shape;1502;p24"/>
          <p:cNvSpPr txBox="1"/>
          <p:nvPr/>
        </p:nvSpPr>
        <p:spPr>
          <a:xfrm>
            <a:off x="5685099" y="1337058"/>
            <a:ext cx="367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503" name="Google Shape;1503;p24"/>
          <p:cNvSpPr txBox="1"/>
          <p:nvPr/>
        </p:nvSpPr>
        <p:spPr>
          <a:xfrm>
            <a:off x="6994969" y="1331453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504" name="Google Shape;1504;p24"/>
          <p:cNvSpPr txBox="1"/>
          <p:nvPr/>
        </p:nvSpPr>
        <p:spPr>
          <a:xfrm>
            <a:off x="8327989" y="1337423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505" name="Google Shape;1505;p24"/>
          <p:cNvSpPr txBox="1"/>
          <p:nvPr/>
        </p:nvSpPr>
        <p:spPr>
          <a:xfrm>
            <a:off x="9591559" y="1354968"/>
            <a:ext cx="2856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506" name="Google Shape;1506;p24"/>
          <p:cNvGrpSpPr/>
          <p:nvPr/>
        </p:nvGrpSpPr>
        <p:grpSpPr>
          <a:xfrm>
            <a:off x="3119488" y="1398905"/>
            <a:ext cx="4326893" cy="1233760"/>
            <a:chOff x="3104054" y="1398906"/>
            <a:chExt cx="4326893" cy="1233760"/>
          </a:xfrm>
        </p:grpSpPr>
        <p:grpSp>
          <p:nvGrpSpPr>
            <p:cNvPr id="1507" name="Google Shape;1507;p24"/>
            <p:cNvGrpSpPr/>
            <p:nvPr/>
          </p:nvGrpSpPr>
          <p:grpSpPr>
            <a:xfrm>
              <a:off x="3104054" y="1398906"/>
              <a:ext cx="4196366" cy="1233760"/>
              <a:chOff x="239710" y="526192"/>
              <a:chExt cx="4196366" cy="1233760"/>
            </a:xfrm>
          </p:grpSpPr>
          <p:sp>
            <p:nvSpPr>
              <p:cNvPr id="1508" name="Google Shape;1508;p24"/>
              <p:cNvSpPr/>
              <p:nvPr/>
            </p:nvSpPr>
            <p:spPr>
              <a:xfrm>
                <a:off x="4120980" y="526192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09" name="Google Shape;1509;p24"/>
              <p:cNvCxnSpPr>
                <a:stCxn id="1508" idx="4"/>
                <a:endCxn id="1510" idx="6"/>
              </p:cNvCxnSpPr>
              <p:nvPr/>
            </p:nvCxnSpPr>
            <p:spPr>
              <a:xfrm flipH="1">
                <a:off x="542028" y="821724"/>
                <a:ext cx="3736500" cy="7905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10" name="Google Shape;1510;p24"/>
              <p:cNvSpPr/>
              <p:nvPr/>
            </p:nvSpPr>
            <p:spPr>
              <a:xfrm>
                <a:off x="239710" y="14644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1" name="Google Shape;1511;p24"/>
            <p:cNvSpPr/>
            <p:nvPr/>
          </p:nvSpPr>
          <p:spPr>
            <a:xfrm>
              <a:off x="6828095" y="202556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12" name="Google Shape;1512;p24"/>
            <p:cNvCxnSpPr>
              <a:stCxn id="1511" idx="0"/>
            </p:cNvCxnSpPr>
            <p:nvPr/>
          </p:nvCxnSpPr>
          <p:spPr>
            <a:xfrm flipH="1" rot="10800000">
              <a:off x="7129521" y="1638269"/>
              <a:ext cx="600" cy="3873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13" name="Google Shape;1513;p24"/>
          <p:cNvGrpSpPr/>
          <p:nvPr/>
        </p:nvGrpSpPr>
        <p:grpSpPr>
          <a:xfrm>
            <a:off x="3117557" y="1389255"/>
            <a:ext cx="5681132" cy="1534706"/>
            <a:chOff x="1772965" y="1097960"/>
            <a:chExt cx="5681132" cy="1534706"/>
          </a:xfrm>
        </p:grpSpPr>
        <p:grpSp>
          <p:nvGrpSpPr>
            <p:cNvPr id="1514" name="Google Shape;1514;p24"/>
            <p:cNvGrpSpPr/>
            <p:nvPr/>
          </p:nvGrpSpPr>
          <p:grpSpPr>
            <a:xfrm>
              <a:off x="1772965" y="1097960"/>
              <a:ext cx="5539030" cy="1534706"/>
              <a:chOff x="-1091379" y="225246"/>
              <a:chExt cx="5539030" cy="1534706"/>
            </a:xfrm>
          </p:grpSpPr>
          <p:sp>
            <p:nvSpPr>
              <p:cNvPr id="1515" name="Google Shape;1515;p24"/>
              <p:cNvSpPr/>
              <p:nvPr/>
            </p:nvSpPr>
            <p:spPr>
              <a:xfrm>
                <a:off x="4132555" y="225246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16" name="Google Shape;1516;p24"/>
              <p:cNvCxnSpPr>
                <a:stCxn id="1515" idx="4"/>
                <a:endCxn id="1517" idx="6"/>
              </p:cNvCxnSpPr>
              <p:nvPr/>
            </p:nvCxnSpPr>
            <p:spPr>
              <a:xfrm flipH="1">
                <a:off x="-789197" y="520778"/>
                <a:ext cx="5079300" cy="10914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17" name="Google Shape;1517;p24"/>
              <p:cNvSpPr/>
              <p:nvPr/>
            </p:nvSpPr>
            <p:spPr>
              <a:xfrm>
                <a:off x="-1091379" y="14644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8" name="Google Shape;1518;p24"/>
            <p:cNvSpPr/>
            <p:nvPr/>
          </p:nvSpPr>
          <p:spPr>
            <a:xfrm>
              <a:off x="6851245" y="202556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19" name="Google Shape;1519;p24"/>
            <p:cNvCxnSpPr>
              <a:stCxn id="1518" idx="0"/>
              <a:endCxn id="1515" idx="4"/>
            </p:cNvCxnSpPr>
            <p:nvPr/>
          </p:nvCxnSpPr>
          <p:spPr>
            <a:xfrm flipH="1" rot="10800000">
              <a:off x="7152671" y="1393469"/>
              <a:ext cx="1800" cy="632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20" name="Google Shape;1520;p24"/>
          <p:cNvGrpSpPr/>
          <p:nvPr/>
        </p:nvGrpSpPr>
        <p:grpSpPr>
          <a:xfrm>
            <a:off x="3109189" y="1412217"/>
            <a:ext cx="1746239" cy="1817119"/>
            <a:chOff x="5709634" y="1003247"/>
            <a:chExt cx="1746239" cy="1817119"/>
          </a:xfrm>
        </p:grpSpPr>
        <p:grpSp>
          <p:nvGrpSpPr>
            <p:cNvPr id="1521" name="Google Shape;1521;p24"/>
            <p:cNvGrpSpPr/>
            <p:nvPr/>
          </p:nvGrpSpPr>
          <p:grpSpPr>
            <a:xfrm>
              <a:off x="5709634" y="1003247"/>
              <a:ext cx="1602361" cy="1817119"/>
              <a:chOff x="2845290" y="130533"/>
              <a:chExt cx="1602361" cy="1817119"/>
            </a:xfrm>
          </p:grpSpPr>
          <p:sp>
            <p:nvSpPr>
              <p:cNvPr id="1522" name="Google Shape;1522;p24"/>
              <p:cNvSpPr/>
              <p:nvPr/>
            </p:nvSpPr>
            <p:spPr>
              <a:xfrm>
                <a:off x="4132555" y="130533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23" name="Google Shape;1523;p24"/>
              <p:cNvCxnSpPr>
                <a:stCxn id="1522" idx="4"/>
                <a:endCxn id="1524" idx="6"/>
              </p:cNvCxnSpPr>
              <p:nvPr/>
            </p:nvCxnSpPr>
            <p:spPr>
              <a:xfrm flipH="1">
                <a:off x="3147403" y="426065"/>
                <a:ext cx="1142700" cy="13737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24" name="Google Shape;1524;p24"/>
              <p:cNvSpPr/>
              <p:nvPr/>
            </p:nvSpPr>
            <p:spPr>
              <a:xfrm>
                <a:off x="2845290" y="16521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25" name="Google Shape;1525;p24"/>
            <p:cNvSpPr/>
            <p:nvPr/>
          </p:nvSpPr>
          <p:spPr>
            <a:xfrm>
              <a:off x="6853021" y="219918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26" name="Google Shape;1526;p24"/>
            <p:cNvCxnSpPr>
              <a:stCxn id="1525" idx="0"/>
              <a:endCxn id="1522" idx="4"/>
            </p:cNvCxnSpPr>
            <p:nvPr/>
          </p:nvCxnSpPr>
          <p:spPr>
            <a:xfrm rot="10800000">
              <a:off x="7154447" y="1298889"/>
              <a:ext cx="0" cy="9003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27" name="Google Shape;1527;p24"/>
          <p:cNvGrpSpPr/>
          <p:nvPr/>
        </p:nvGrpSpPr>
        <p:grpSpPr>
          <a:xfrm>
            <a:off x="3082834" y="1400642"/>
            <a:ext cx="3065254" cy="2136777"/>
            <a:chOff x="4423568" y="495889"/>
            <a:chExt cx="3065254" cy="2136777"/>
          </a:xfrm>
        </p:grpSpPr>
        <p:grpSp>
          <p:nvGrpSpPr>
            <p:cNvPr id="1528" name="Google Shape;1528;p24"/>
            <p:cNvGrpSpPr/>
            <p:nvPr/>
          </p:nvGrpSpPr>
          <p:grpSpPr>
            <a:xfrm>
              <a:off x="4423568" y="495889"/>
              <a:ext cx="2923151" cy="2136777"/>
              <a:chOff x="1559224" y="-376825"/>
              <a:chExt cx="2923151" cy="2136777"/>
            </a:xfrm>
          </p:grpSpPr>
          <p:sp>
            <p:nvSpPr>
              <p:cNvPr id="1529" name="Google Shape;1529;p24"/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30" name="Google Shape;1530;p24"/>
              <p:cNvCxnSpPr>
                <a:stCxn id="1529" idx="4"/>
                <a:endCxn id="1531" idx="6"/>
              </p:cNvCxnSpPr>
              <p:nvPr/>
            </p:nvCxnSpPr>
            <p:spPr>
              <a:xfrm flipH="1">
                <a:off x="1861527" y="-81293"/>
                <a:ext cx="2463300" cy="16935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31" name="Google Shape;1531;p24"/>
              <p:cNvSpPr/>
              <p:nvPr/>
            </p:nvSpPr>
            <p:spPr>
              <a:xfrm>
                <a:off x="1559224" y="14644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2" name="Google Shape;1532;p24"/>
            <p:cNvSpPr/>
            <p:nvPr/>
          </p:nvSpPr>
          <p:spPr>
            <a:xfrm>
              <a:off x="6885970" y="202556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33" name="Google Shape;1533;p24"/>
            <p:cNvCxnSpPr>
              <a:stCxn id="1532" idx="0"/>
              <a:endCxn id="1529" idx="4"/>
            </p:cNvCxnSpPr>
            <p:nvPr/>
          </p:nvCxnSpPr>
          <p:spPr>
            <a:xfrm flipH="1" rot="10800000">
              <a:off x="7187396" y="791369"/>
              <a:ext cx="1800" cy="1234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34" name="Google Shape;1534;p24"/>
          <p:cNvGrpSpPr/>
          <p:nvPr/>
        </p:nvGrpSpPr>
        <p:grpSpPr>
          <a:xfrm>
            <a:off x="3084763" y="1437297"/>
            <a:ext cx="6956123" cy="2426144"/>
            <a:chOff x="534474" y="495889"/>
            <a:chExt cx="6956123" cy="2426144"/>
          </a:xfrm>
        </p:grpSpPr>
        <p:grpSp>
          <p:nvGrpSpPr>
            <p:cNvPr id="1535" name="Google Shape;1535;p24"/>
            <p:cNvGrpSpPr/>
            <p:nvPr/>
          </p:nvGrpSpPr>
          <p:grpSpPr>
            <a:xfrm>
              <a:off x="534474" y="495889"/>
              <a:ext cx="6812245" cy="2426144"/>
              <a:chOff x="-2329870" y="-376825"/>
              <a:chExt cx="6812245" cy="2426144"/>
            </a:xfrm>
          </p:grpSpPr>
          <p:sp>
            <p:nvSpPr>
              <p:cNvPr id="1536" name="Google Shape;1536;p24"/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37" name="Google Shape;1537;p24"/>
              <p:cNvCxnSpPr>
                <a:stCxn id="1536" idx="4"/>
                <a:endCxn id="1538" idx="6"/>
              </p:cNvCxnSpPr>
              <p:nvPr/>
            </p:nvCxnSpPr>
            <p:spPr>
              <a:xfrm flipH="1">
                <a:off x="-2027673" y="-81293"/>
                <a:ext cx="6352500" cy="19827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38" name="Google Shape;1538;p24"/>
              <p:cNvSpPr/>
              <p:nvPr/>
            </p:nvSpPr>
            <p:spPr>
              <a:xfrm>
                <a:off x="-2329870" y="1753787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9" name="Google Shape;1539;p24"/>
            <p:cNvSpPr/>
            <p:nvPr/>
          </p:nvSpPr>
          <p:spPr>
            <a:xfrm>
              <a:off x="6887745" y="2326511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40" name="Google Shape;1540;p24"/>
            <p:cNvCxnSpPr>
              <a:stCxn id="1539" idx="0"/>
              <a:endCxn id="1536" idx="4"/>
            </p:cNvCxnSpPr>
            <p:nvPr/>
          </p:nvCxnSpPr>
          <p:spPr>
            <a:xfrm rot="10800000">
              <a:off x="7189171" y="791411"/>
              <a:ext cx="0" cy="1535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1541" name="Google Shape;1541;p24"/>
          <p:cNvCxnSpPr>
            <a:endCxn id="1411" idx="2"/>
          </p:cNvCxnSpPr>
          <p:nvPr/>
        </p:nvCxnSpPr>
        <p:spPr>
          <a:xfrm>
            <a:off x="1957625" y="5544373"/>
            <a:ext cx="439500" cy="428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2" name="Google Shape;1542;p24"/>
          <p:cNvCxnSpPr>
            <a:endCxn id="1422" idx="2"/>
          </p:cNvCxnSpPr>
          <p:nvPr/>
        </p:nvCxnSpPr>
        <p:spPr>
          <a:xfrm>
            <a:off x="2908575" y="6055373"/>
            <a:ext cx="587100" cy="6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3" name="Google Shape;1543;p24"/>
          <p:cNvCxnSpPr>
            <a:stCxn id="1406" idx="7"/>
          </p:cNvCxnSpPr>
          <p:nvPr/>
        </p:nvCxnSpPr>
        <p:spPr>
          <a:xfrm flipH="1" rot="10800000">
            <a:off x="2068770" y="5023390"/>
            <a:ext cx="502200" cy="28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4" name="Google Shape;1544;p24"/>
          <p:cNvCxnSpPr/>
          <p:nvPr/>
        </p:nvCxnSpPr>
        <p:spPr>
          <a:xfrm rot="10800000">
            <a:off x="3744012" y="4988689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5" name="Google Shape;1545;p24"/>
          <p:cNvCxnSpPr/>
          <p:nvPr/>
        </p:nvCxnSpPr>
        <p:spPr>
          <a:xfrm flipH="1" rot="10800000">
            <a:off x="4007312" y="5577069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46" name="Google Shape;1546;p24"/>
          <p:cNvSpPr txBox="1"/>
          <p:nvPr/>
        </p:nvSpPr>
        <p:spPr>
          <a:xfrm>
            <a:off x="5894442" y="4463262"/>
            <a:ext cx="5770234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sp>
        <p:nvSpPr>
          <p:cNvPr id="1547" name="Google Shape;1547;p24"/>
          <p:cNvSpPr/>
          <p:nvPr/>
        </p:nvSpPr>
        <p:spPr>
          <a:xfrm>
            <a:off x="5606004" y="3868305"/>
            <a:ext cx="6721033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Initialization (step 0): For all a: if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then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D(a) = c</a:t>
            </a:r>
            <a:r>
              <a:rPr baseline="-25000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u,a 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25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554" name="Google Shape;1554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5" name="Google Shape;1555;p25"/>
          <p:cNvGrpSpPr/>
          <p:nvPr/>
        </p:nvGrpSpPr>
        <p:grpSpPr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1556" name="Google Shape;1556;p25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25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25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9" name="Google Shape;1559;p25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0" name="Google Shape;1560;p25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1" name="Google Shape;1561;p25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25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25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4" name="Google Shape;1564;p25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5" name="Google Shape;1565;p25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6" name="Google Shape;1566;p25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25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25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9" name="Google Shape;1569;p25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0" name="Google Shape;1570;p25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1" name="Google Shape;1571;p25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25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25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4" name="Google Shape;1574;p25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5" name="Google Shape;1575;p25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6" name="Google Shape;1576;p25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25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25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9" name="Google Shape;1579;p25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0" name="Google Shape;1580;p25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1" name="Google Shape;1581;p25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25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25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4" name="Google Shape;1584;p25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25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6" name="Google Shape;1586;p25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25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25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25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25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25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25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25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25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25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25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7" name="Google Shape;1597;p25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598" name="Google Shape;1598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2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0" name="Google Shape;1600;p25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601" name="Google Shape;1601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3" name="Google Shape;1603;p25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604" name="Google Shape;1604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2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606" name="Google Shape;1606;p25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607" name="Google Shape;1607;p2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25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9" name="Google Shape;1609;p25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610" name="Google Shape;1610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2" name="Google Shape;1612;p25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613" name="Google Shape;1613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2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615" name="Google Shape;1615;p25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25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25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25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25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25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25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25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25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25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5" name="Google Shape;1625;p25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cxnSp>
        <p:nvCxnSpPr>
          <p:cNvPr id="1626" name="Google Shape;1626;p25"/>
          <p:cNvCxnSpPr>
            <a:endCxn id="1567" idx="2"/>
          </p:cNvCxnSpPr>
          <p:nvPr/>
        </p:nvCxnSpPr>
        <p:spPr>
          <a:xfrm>
            <a:off x="4666101" y="2789598"/>
            <a:ext cx="439500" cy="428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7" name="Google Shape;1627;p25"/>
          <p:cNvCxnSpPr>
            <a:endCxn id="1578" idx="2"/>
          </p:cNvCxnSpPr>
          <p:nvPr/>
        </p:nvCxnSpPr>
        <p:spPr>
          <a:xfrm>
            <a:off x="5617051" y="3300598"/>
            <a:ext cx="587100" cy="6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8" name="Google Shape;1628;p25"/>
          <p:cNvCxnSpPr>
            <a:stCxn id="1562" idx="7"/>
          </p:cNvCxnSpPr>
          <p:nvPr/>
        </p:nvCxnSpPr>
        <p:spPr>
          <a:xfrm flipH="1" rot="10800000">
            <a:off x="4777246" y="2268615"/>
            <a:ext cx="502200" cy="28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9" name="Google Shape;1629;p25"/>
          <p:cNvCxnSpPr/>
          <p:nvPr/>
        </p:nvCxnSpPr>
        <p:spPr>
          <a:xfrm rot="10800000">
            <a:off x="6452488" y="22339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0" name="Google Shape;1630;p25"/>
          <p:cNvCxnSpPr/>
          <p:nvPr/>
        </p:nvCxnSpPr>
        <p:spPr>
          <a:xfrm flipH="1" rot="10800000">
            <a:off x="6715788" y="2822294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631" name="Google Shape;1631;p25"/>
          <p:cNvGrpSpPr/>
          <p:nvPr/>
        </p:nvGrpSpPr>
        <p:grpSpPr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1632" name="Google Shape;1632;p25"/>
            <p:cNvSpPr/>
            <p:nvPr/>
          </p:nvSpPr>
          <p:spPr>
            <a:xfrm>
              <a:off x="1648" y="1465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25"/>
            <p:cNvSpPr/>
            <p:nvPr/>
          </p:nvSpPr>
          <p:spPr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4" name="Google Shape;1634;p25"/>
            <p:cNvCxnSpPr/>
            <p:nvPr/>
          </p:nvCxnSpPr>
          <p:spPr>
            <a:xfrm>
              <a:off x="1388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5" name="Google Shape;1635;p25"/>
            <p:cNvCxnSpPr/>
            <p:nvPr/>
          </p:nvCxnSpPr>
          <p:spPr>
            <a:xfrm>
              <a:off x="1701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6" name="Google Shape;1636;p25"/>
            <p:cNvSpPr/>
            <p:nvPr/>
          </p:nvSpPr>
          <p:spPr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25"/>
            <p:cNvSpPr/>
            <p:nvPr/>
          </p:nvSpPr>
          <p:spPr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25"/>
            <p:cNvSpPr/>
            <p:nvPr/>
          </p:nvSpPr>
          <p:spPr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9" name="Google Shape;1639;p25"/>
            <p:cNvCxnSpPr/>
            <p:nvPr/>
          </p:nvCxnSpPr>
          <p:spPr>
            <a:xfrm>
              <a:off x="1862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0" name="Google Shape;1640;p25"/>
            <p:cNvCxnSpPr/>
            <p:nvPr/>
          </p:nvCxnSpPr>
          <p:spPr>
            <a:xfrm>
              <a:off x="2175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1" name="Google Shape;1641;p25"/>
            <p:cNvSpPr/>
            <p:nvPr/>
          </p:nvSpPr>
          <p:spPr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25"/>
            <p:cNvSpPr/>
            <p:nvPr/>
          </p:nvSpPr>
          <p:spPr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5"/>
            <p:cNvSpPr/>
            <p:nvPr/>
          </p:nvSpPr>
          <p:spPr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4" name="Google Shape;1644;p25"/>
            <p:cNvCxnSpPr/>
            <p:nvPr/>
          </p:nvCxnSpPr>
          <p:spPr>
            <a:xfrm>
              <a:off x="1858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5" name="Google Shape;1645;p25"/>
            <p:cNvCxnSpPr/>
            <p:nvPr/>
          </p:nvCxnSpPr>
          <p:spPr>
            <a:xfrm>
              <a:off x="2171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6" name="Google Shape;1646;p25"/>
            <p:cNvSpPr/>
            <p:nvPr/>
          </p:nvSpPr>
          <p:spPr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5"/>
            <p:cNvSpPr/>
            <p:nvPr/>
          </p:nvSpPr>
          <p:spPr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25"/>
            <p:cNvSpPr/>
            <p:nvPr/>
          </p:nvSpPr>
          <p:spPr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9" name="Google Shape;1649;p25"/>
            <p:cNvCxnSpPr/>
            <p:nvPr/>
          </p:nvCxnSpPr>
          <p:spPr>
            <a:xfrm>
              <a:off x="2541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0" name="Google Shape;1650;p25"/>
            <p:cNvCxnSpPr/>
            <p:nvPr/>
          </p:nvCxnSpPr>
          <p:spPr>
            <a:xfrm>
              <a:off x="2853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1" name="Google Shape;1651;p25"/>
            <p:cNvSpPr/>
            <p:nvPr/>
          </p:nvSpPr>
          <p:spPr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25"/>
            <p:cNvSpPr/>
            <p:nvPr/>
          </p:nvSpPr>
          <p:spPr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25"/>
            <p:cNvSpPr/>
            <p:nvPr/>
          </p:nvSpPr>
          <p:spPr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4" name="Google Shape;1654;p25"/>
            <p:cNvCxnSpPr/>
            <p:nvPr/>
          </p:nvCxnSpPr>
          <p:spPr>
            <a:xfrm>
              <a:off x="2551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5" name="Google Shape;1655;p25"/>
            <p:cNvCxnSpPr/>
            <p:nvPr/>
          </p:nvCxnSpPr>
          <p:spPr>
            <a:xfrm>
              <a:off x="2864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6" name="Google Shape;1656;p25"/>
            <p:cNvSpPr/>
            <p:nvPr/>
          </p:nvSpPr>
          <p:spPr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9" name="Google Shape;1659;p25"/>
            <p:cNvCxnSpPr/>
            <p:nvPr/>
          </p:nvCxnSpPr>
          <p:spPr>
            <a:xfrm>
              <a:off x="3116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0" name="Google Shape;1660;p25"/>
            <p:cNvCxnSpPr/>
            <p:nvPr/>
          </p:nvCxnSpPr>
          <p:spPr>
            <a:xfrm>
              <a:off x="3429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61" name="Google Shape;1661;p25"/>
            <p:cNvSpPr/>
            <p:nvPr/>
          </p:nvSpPr>
          <p:spPr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2707" y="1492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2866" y="1831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2185" y="2113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25"/>
            <p:cNvSpPr/>
            <p:nvPr/>
          </p:nvSpPr>
          <p:spPr>
            <a:xfrm>
              <a:off x="1594" y="1789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7" name="Google Shape;1667;p25"/>
            <p:cNvGrpSpPr/>
            <p:nvPr/>
          </p:nvGrpSpPr>
          <p:grpSpPr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1668" name="Google Shape;1668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2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0" name="Google Shape;1670;p25"/>
            <p:cNvGrpSpPr/>
            <p:nvPr/>
          </p:nvGrpSpPr>
          <p:grpSpPr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1671" name="Google Shape;1671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3" name="Google Shape;1673;p25"/>
            <p:cNvGrpSpPr/>
            <p:nvPr/>
          </p:nvGrpSpPr>
          <p:grpSpPr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1674" name="Google Shape;1674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2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676" name="Google Shape;1676;p25"/>
            <p:cNvGrpSpPr/>
            <p:nvPr/>
          </p:nvGrpSpPr>
          <p:grpSpPr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1677" name="Google Shape;1677;p2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25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9" name="Google Shape;1679;p25"/>
            <p:cNvGrpSpPr/>
            <p:nvPr/>
          </p:nvGrpSpPr>
          <p:grpSpPr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1680" name="Google Shape;1680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2" name="Google Shape;1682;p25"/>
            <p:cNvGrpSpPr/>
            <p:nvPr/>
          </p:nvGrpSpPr>
          <p:grpSpPr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1683" name="Google Shape;1683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2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</p:grpSp>
      <p:sp>
        <p:nvSpPr>
          <p:cNvPr id="1685" name="Google Shape;1685;p25"/>
          <p:cNvSpPr txBox="1"/>
          <p:nvPr/>
        </p:nvSpPr>
        <p:spPr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resulting least-cost-path tree from u:</a:t>
            </a:r>
            <a:endParaRPr/>
          </a:p>
        </p:txBody>
      </p:sp>
      <p:grpSp>
        <p:nvGrpSpPr>
          <p:cNvPr id="1686" name="Google Shape;1686;p25"/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1687" name="Google Shape;1687;p25"/>
            <p:cNvSpPr txBox="1"/>
            <p:nvPr/>
          </p:nvSpPr>
          <p:spPr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resulting forwarding table in u:</a:t>
              </a:r>
              <a:endParaRPr/>
            </a:p>
          </p:txBody>
        </p:sp>
        <p:grpSp>
          <p:nvGrpSpPr>
            <p:cNvPr id="1688" name="Google Shape;1688;p25"/>
            <p:cNvGrpSpPr/>
            <p:nvPr/>
          </p:nvGrpSpPr>
          <p:grpSpPr>
            <a:xfrm>
              <a:off x="7373074" y="4495305"/>
              <a:ext cx="2423080" cy="2074090"/>
              <a:chOff x="9178724" y="1740531"/>
              <a:chExt cx="2423080" cy="2074090"/>
            </a:xfrm>
          </p:grpSpPr>
          <p:sp>
            <p:nvSpPr>
              <p:cNvPr id="1689" name="Google Shape;1689;p25"/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rgbClr val="D8D8D8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5"/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5"/>
              <p:cNvSpPr txBox="1"/>
              <p:nvPr/>
            </p:nvSpPr>
            <p:spPr>
              <a:xfrm>
                <a:off x="9572264" y="2060295"/>
                <a:ext cx="404277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5"/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(u,v)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25"/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destination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25"/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outgoing link</a:t>
                </a:r>
                <a:endParaRPr/>
              </a:p>
            </p:txBody>
          </p:sp>
          <p:cxnSp>
            <p:nvCxnSpPr>
              <p:cNvPr id="1695" name="Google Shape;1695;p25"/>
              <p:cNvCxnSpPr/>
              <p:nvPr/>
            </p:nvCxnSpPr>
            <p:spPr>
              <a:xfrm>
                <a:off x="9178724" y="2060293"/>
                <a:ext cx="239596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96" name="Google Shape;1696;p25"/>
              <p:cNvCxnSpPr/>
              <p:nvPr/>
            </p:nvCxnSpPr>
            <p:spPr>
              <a:xfrm>
                <a:off x="10359342" y="1770927"/>
                <a:ext cx="0" cy="199084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697" name="Google Shape;1697;p25"/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1698" name="Google Shape;1698;p25"/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 from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directly</a:t>
              </a:r>
              <a:endParaRPr/>
            </a:p>
          </p:txBody>
        </p:sp>
        <p:cxnSp>
          <p:nvCxnSpPr>
            <p:cNvPr id="1699" name="Google Shape;1699;p25"/>
            <p:cNvCxnSpPr/>
            <p:nvPr/>
          </p:nvCxnSpPr>
          <p:spPr>
            <a:xfrm>
              <a:off x="8565265" y="5000264"/>
              <a:ext cx="682907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00" name="Google Shape;1700;p25"/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1701" name="Google Shape;1701;p25"/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 from u to all other destinations via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1702" name="Google Shape;1702;p25"/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26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another example</a:t>
            </a:r>
            <a:endParaRPr/>
          </a:p>
        </p:txBody>
      </p:sp>
      <p:sp>
        <p:nvSpPr>
          <p:cNvPr id="1709" name="Google Shape;1709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0" name="Google Shape;1710;p26"/>
          <p:cNvGrpSpPr/>
          <p:nvPr/>
        </p:nvGrpSpPr>
        <p:grpSpPr>
          <a:xfrm>
            <a:off x="7267328" y="1497821"/>
            <a:ext cx="4217987" cy="3361377"/>
            <a:chOff x="415" y="856"/>
            <a:chExt cx="2910" cy="2256"/>
          </a:xfrm>
        </p:grpSpPr>
        <p:grpSp>
          <p:nvGrpSpPr>
            <p:cNvPr id="1711" name="Google Shape;1711;p26"/>
            <p:cNvGrpSpPr/>
            <p:nvPr/>
          </p:nvGrpSpPr>
          <p:grpSpPr>
            <a:xfrm>
              <a:off x="1290" y="1997"/>
              <a:ext cx="316" cy="265"/>
              <a:chOff x="1613" y="2011"/>
              <a:chExt cx="316" cy="265"/>
            </a:xfrm>
          </p:grpSpPr>
          <p:sp>
            <p:nvSpPr>
              <p:cNvPr id="1712" name="Google Shape;1712;p26"/>
              <p:cNvSpPr/>
              <p:nvPr/>
            </p:nvSpPr>
            <p:spPr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13" name="Google Shape;1713;p26"/>
              <p:cNvCxnSpPr/>
              <p:nvPr/>
            </p:nvCxnSpPr>
            <p:spPr>
              <a:xfrm>
                <a:off x="1616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4" name="Google Shape;1714;p26"/>
              <p:cNvCxnSpPr/>
              <p:nvPr/>
            </p:nvCxnSpPr>
            <p:spPr>
              <a:xfrm>
                <a:off x="1929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15" name="Google Shape;1715;p26"/>
              <p:cNvSpPr/>
              <p:nvPr/>
            </p:nvSpPr>
            <p:spPr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6" name="Google Shape;1716;p26"/>
              <p:cNvSpPr/>
              <p:nvPr/>
            </p:nvSpPr>
            <p:spPr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26"/>
              <p:cNvSpPr/>
              <p:nvPr/>
            </p:nvSpPr>
            <p:spPr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26"/>
              <p:cNvSpPr txBox="1"/>
              <p:nvPr/>
            </p:nvSpPr>
            <p:spPr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19" name="Google Shape;1719;p26"/>
            <p:cNvSpPr txBox="1"/>
            <p:nvPr/>
          </p:nvSpPr>
          <p:spPr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26"/>
            <p:cNvSpPr txBox="1"/>
            <p:nvPr/>
          </p:nvSpPr>
          <p:spPr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1" name="Google Shape;1721;p26"/>
            <p:cNvGrpSpPr/>
            <p:nvPr/>
          </p:nvGrpSpPr>
          <p:grpSpPr>
            <a:xfrm>
              <a:off x="1299" y="2848"/>
              <a:ext cx="316" cy="264"/>
              <a:chOff x="1613" y="2011"/>
              <a:chExt cx="316" cy="264"/>
            </a:xfrm>
          </p:grpSpPr>
          <p:sp>
            <p:nvSpPr>
              <p:cNvPr id="1722" name="Google Shape;1722;p2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23" name="Google Shape;1723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4" name="Google Shape;1724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25" name="Google Shape;1725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26"/>
              <p:cNvSpPr/>
              <p:nvPr/>
            </p:nvSpPr>
            <p:spPr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26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8" name="Google Shape;1728;p26"/>
              <p:cNvSpPr txBox="1"/>
              <p:nvPr/>
            </p:nvSpPr>
            <p:spPr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9" name="Google Shape;1729;p26"/>
            <p:cNvGrpSpPr/>
            <p:nvPr/>
          </p:nvGrpSpPr>
          <p:grpSpPr>
            <a:xfrm>
              <a:off x="1293" y="856"/>
              <a:ext cx="318" cy="266"/>
              <a:chOff x="1611" y="2011"/>
              <a:chExt cx="318" cy="266"/>
            </a:xfrm>
          </p:grpSpPr>
          <p:sp>
            <p:nvSpPr>
              <p:cNvPr id="1730" name="Google Shape;1730;p2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31" name="Google Shape;1731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2" name="Google Shape;1732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33" name="Google Shape;1733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4" name="Google Shape;1734;p26"/>
              <p:cNvSpPr/>
              <p:nvPr/>
            </p:nvSpPr>
            <p:spPr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5" name="Google Shape;1735;p26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6" name="Google Shape;1736;p26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7" name="Google Shape;1737;p26"/>
            <p:cNvGrpSpPr/>
            <p:nvPr/>
          </p:nvGrpSpPr>
          <p:grpSpPr>
            <a:xfrm>
              <a:off x="415" y="2028"/>
              <a:ext cx="318" cy="267"/>
              <a:chOff x="1613" y="2011"/>
              <a:chExt cx="318" cy="267"/>
            </a:xfrm>
          </p:grpSpPr>
          <p:sp>
            <p:nvSpPr>
              <p:cNvPr id="1738" name="Google Shape;1738;p26"/>
              <p:cNvSpPr/>
              <p:nvPr/>
            </p:nvSpPr>
            <p:spPr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39" name="Google Shape;1739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0" name="Google Shape;1740;p26"/>
              <p:cNvCxnSpPr/>
              <p:nvPr/>
            </p:nvCxnSpPr>
            <p:spPr>
              <a:xfrm>
                <a:off x="1931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41" name="Google Shape;1741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26"/>
              <p:cNvSpPr/>
              <p:nvPr/>
            </p:nvSpPr>
            <p:spPr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26"/>
              <p:cNvSpPr/>
              <p:nvPr/>
            </p:nvSpPr>
            <p:spPr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4" name="Google Shape;1744;p26"/>
              <p:cNvSpPr txBox="1"/>
              <p:nvPr/>
            </p:nvSpPr>
            <p:spPr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45" name="Google Shape;1745;p26"/>
            <p:cNvCxnSpPr/>
            <p:nvPr/>
          </p:nvCxnSpPr>
          <p:spPr>
            <a:xfrm>
              <a:off x="738" y="2156"/>
              <a:ext cx="63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6" name="Google Shape;1746;p26"/>
            <p:cNvCxnSpPr/>
            <p:nvPr/>
          </p:nvCxnSpPr>
          <p:spPr>
            <a:xfrm>
              <a:off x="1440" y="1082"/>
              <a:ext cx="0" cy="9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7" name="Google Shape;1747;p26"/>
            <p:cNvCxnSpPr/>
            <p:nvPr/>
          </p:nvCxnSpPr>
          <p:spPr>
            <a:xfrm flipH="1">
              <a:off x="614" y="1021"/>
              <a:ext cx="674" cy="108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8" name="Google Shape;1748;p26"/>
            <p:cNvSpPr txBox="1"/>
            <p:nvPr/>
          </p:nvSpPr>
          <p:spPr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49" name="Google Shape;1749;p26"/>
            <p:cNvCxnSpPr/>
            <p:nvPr/>
          </p:nvCxnSpPr>
          <p:spPr>
            <a:xfrm>
              <a:off x="1447" y="2206"/>
              <a:ext cx="9" cy="71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0" name="Google Shape;1750;p26"/>
            <p:cNvSpPr txBox="1"/>
            <p:nvPr/>
          </p:nvSpPr>
          <p:spPr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26"/>
            <p:cNvSpPr/>
            <p:nvPr/>
          </p:nvSpPr>
          <p:spPr>
            <a:xfrm>
              <a:off x="601" y="2227"/>
              <a:ext cx="860" cy="799"/>
            </a:xfrm>
            <a:custGeom>
              <a:rect b="b" l="l" r="r" t="t"/>
              <a:pathLst>
                <a:path extrusionOk="0" h="10136" w="10032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26"/>
            <p:cNvSpPr txBox="1"/>
            <p:nvPr/>
          </p:nvSpPr>
          <p:spPr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53" name="Google Shape;1753;p26"/>
            <p:cNvCxnSpPr/>
            <p:nvPr/>
          </p:nvCxnSpPr>
          <p:spPr>
            <a:xfrm flipH="1">
              <a:off x="1450" y="2158"/>
              <a:ext cx="998" cy="82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4" name="Google Shape;1754;p26"/>
            <p:cNvSpPr txBox="1"/>
            <p:nvPr/>
          </p:nvSpPr>
          <p:spPr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26"/>
            <p:cNvSpPr/>
            <p:nvPr/>
          </p:nvSpPr>
          <p:spPr>
            <a:xfrm>
              <a:off x="1477" y="1946"/>
              <a:ext cx="991" cy="484"/>
            </a:xfrm>
            <a:custGeom>
              <a:rect b="b" l="l" r="r" t="t"/>
              <a:pathLst>
                <a:path extrusionOk="0" h="484" w="991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6" name="Google Shape;1756;p26"/>
            <p:cNvGrpSpPr/>
            <p:nvPr/>
          </p:nvGrpSpPr>
          <p:grpSpPr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1757" name="Google Shape;1757;p26"/>
              <p:cNvSpPr/>
              <p:nvPr/>
            </p:nvSpPr>
            <p:spPr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58" name="Google Shape;1758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9" name="Google Shape;1759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60" name="Google Shape;1760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1" name="Google Shape;1761;p26"/>
              <p:cNvSpPr/>
              <p:nvPr/>
            </p:nvSpPr>
            <p:spPr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2" name="Google Shape;1762;p26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3" name="Google Shape;1763;p26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64" name="Google Shape;1764;p26"/>
            <p:cNvSpPr txBox="1"/>
            <p:nvPr/>
          </p:nvSpPr>
          <p:spPr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65" name="Google Shape;1765;p26"/>
            <p:cNvGrpSpPr/>
            <p:nvPr/>
          </p:nvGrpSpPr>
          <p:grpSpPr>
            <a:xfrm>
              <a:off x="3007" y="2002"/>
              <a:ext cx="318" cy="264"/>
              <a:chOff x="1611" y="2011"/>
              <a:chExt cx="318" cy="264"/>
            </a:xfrm>
          </p:grpSpPr>
          <p:sp>
            <p:nvSpPr>
              <p:cNvPr id="1766" name="Google Shape;1766;p2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67" name="Google Shape;1767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8" name="Google Shape;1768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69" name="Google Shape;1769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0" name="Google Shape;1770;p26"/>
              <p:cNvSpPr/>
              <p:nvPr/>
            </p:nvSpPr>
            <p:spPr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1" name="Google Shape;1771;p26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2" name="Google Shape;1772;p26"/>
              <p:cNvSpPr txBox="1"/>
              <p:nvPr/>
            </p:nvSpPr>
            <p:spPr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73" name="Google Shape;1773;p26"/>
            <p:cNvCxnSpPr/>
            <p:nvPr/>
          </p:nvCxnSpPr>
          <p:spPr>
            <a:xfrm>
              <a:off x="2640" y="2149"/>
              <a:ext cx="35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4" name="Google Shape;1774;p26"/>
            <p:cNvSpPr txBox="1"/>
            <p:nvPr/>
          </p:nvSpPr>
          <p:spPr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5" name="Google Shape;1775;p26"/>
            <p:cNvCxnSpPr/>
            <p:nvPr/>
          </p:nvCxnSpPr>
          <p:spPr>
            <a:xfrm>
              <a:off x="1503" y="990"/>
              <a:ext cx="965" cy="1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6" name="Google Shape;1776;p26"/>
            <p:cNvSpPr txBox="1"/>
            <p:nvPr/>
          </p:nvSpPr>
          <p:spPr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26"/>
            <p:cNvSpPr/>
            <p:nvPr/>
          </p:nvSpPr>
          <p:spPr>
            <a:xfrm>
              <a:off x="1489" y="976"/>
              <a:ext cx="28" cy="14"/>
            </a:xfrm>
            <a:custGeom>
              <a:rect b="b" l="l" r="r" t="t"/>
              <a:pathLst>
                <a:path extrusionOk="0" h="14" w="28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26"/>
            <p:cNvSpPr/>
            <p:nvPr/>
          </p:nvSpPr>
          <p:spPr>
            <a:xfrm>
              <a:off x="1623" y="999"/>
              <a:ext cx="1510" cy="1052"/>
            </a:xfrm>
            <a:custGeom>
              <a:rect b="b" l="l" r="r" t="t"/>
              <a:pathLst>
                <a:path extrusionOk="0" h="1052" w="1510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26"/>
            <p:cNvSpPr txBox="1"/>
            <p:nvPr/>
          </p:nvSpPr>
          <p:spPr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0" name="Google Shape;1780;p26"/>
          <p:cNvSpPr txBox="1"/>
          <p:nvPr/>
        </p:nvSpPr>
        <p:spPr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26"/>
          <p:cNvSpPr txBox="1"/>
          <p:nvPr/>
        </p:nvSpPr>
        <p:spPr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782" name="Google Shape;1782;p26"/>
          <p:cNvSpPr txBox="1"/>
          <p:nvPr/>
        </p:nvSpPr>
        <p:spPr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p(v)</a:t>
            </a:r>
            <a:endParaRPr/>
          </a:p>
        </p:txBody>
      </p:sp>
      <p:sp>
        <p:nvSpPr>
          <p:cNvPr id="1783" name="Google Shape;1783;p26"/>
          <p:cNvSpPr txBox="1"/>
          <p:nvPr/>
        </p:nvSpPr>
        <p:spPr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784" name="Google Shape;1784;p26"/>
          <p:cNvSpPr txBox="1"/>
          <p:nvPr/>
        </p:nvSpPr>
        <p:spPr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85" name="Google Shape;1785;p26"/>
          <p:cNvSpPr txBox="1"/>
          <p:nvPr/>
        </p:nvSpPr>
        <p:spPr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86" name="Google Shape;1786;p26"/>
          <p:cNvSpPr txBox="1"/>
          <p:nvPr/>
        </p:nvSpPr>
        <p:spPr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87" name="Google Shape;1787;p26"/>
          <p:cNvSpPr txBox="1"/>
          <p:nvPr/>
        </p:nvSpPr>
        <p:spPr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88" name="Google Shape;1788;p26"/>
          <p:cNvSpPr txBox="1"/>
          <p:nvPr/>
        </p:nvSpPr>
        <p:spPr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789" name="Google Shape;1789;p26"/>
          <p:cNvSpPr txBox="1"/>
          <p:nvPr/>
        </p:nvSpPr>
        <p:spPr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p(w)</a:t>
            </a:r>
            <a:endParaRPr/>
          </a:p>
        </p:txBody>
      </p:sp>
      <p:sp>
        <p:nvSpPr>
          <p:cNvPr id="1790" name="Google Shape;1790;p26"/>
          <p:cNvSpPr txBox="1"/>
          <p:nvPr/>
        </p:nvSpPr>
        <p:spPr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p(x)</a:t>
            </a:r>
            <a:endParaRPr/>
          </a:p>
        </p:txBody>
      </p:sp>
      <p:sp>
        <p:nvSpPr>
          <p:cNvPr id="1791" name="Google Shape;1791;p26"/>
          <p:cNvSpPr txBox="1"/>
          <p:nvPr/>
        </p:nvSpPr>
        <p:spPr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p(y)</a:t>
            </a:r>
            <a:endParaRPr/>
          </a:p>
        </p:txBody>
      </p:sp>
      <p:sp>
        <p:nvSpPr>
          <p:cNvPr id="1792" name="Google Shape;1792;p26"/>
          <p:cNvSpPr txBox="1"/>
          <p:nvPr/>
        </p:nvSpPr>
        <p:spPr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p(z)</a:t>
            </a:r>
            <a:endParaRPr/>
          </a:p>
        </p:txBody>
      </p:sp>
      <p:cxnSp>
        <p:nvCxnSpPr>
          <p:cNvPr id="1793" name="Google Shape;1793;p26"/>
          <p:cNvCxnSpPr/>
          <p:nvPr/>
        </p:nvCxnSpPr>
        <p:spPr>
          <a:xfrm>
            <a:off x="939397" y="2690590"/>
            <a:ext cx="5150117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4" name="Google Shape;1794;p26"/>
          <p:cNvSpPr txBox="1"/>
          <p:nvPr/>
        </p:nvSpPr>
        <p:spPr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795" name="Google Shape;1795;p26"/>
          <p:cNvCxnSpPr/>
          <p:nvPr/>
        </p:nvCxnSpPr>
        <p:spPr>
          <a:xfrm>
            <a:off x="871302" y="3151241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26"/>
          <p:cNvCxnSpPr/>
          <p:nvPr/>
        </p:nvCxnSpPr>
        <p:spPr>
          <a:xfrm>
            <a:off x="871302" y="3618848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26"/>
          <p:cNvCxnSpPr/>
          <p:nvPr/>
        </p:nvCxnSpPr>
        <p:spPr>
          <a:xfrm>
            <a:off x="818428" y="4551040"/>
            <a:ext cx="5277571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26"/>
          <p:cNvCxnSpPr/>
          <p:nvPr/>
        </p:nvCxnSpPr>
        <p:spPr>
          <a:xfrm>
            <a:off x="866540" y="4075166"/>
            <a:ext cx="52294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26"/>
          <p:cNvCxnSpPr/>
          <p:nvPr/>
        </p:nvCxnSpPr>
        <p:spPr>
          <a:xfrm>
            <a:off x="866016" y="5009992"/>
            <a:ext cx="522998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00" name="Google Shape;1800;p26"/>
          <p:cNvGrpSpPr/>
          <p:nvPr/>
        </p:nvGrpSpPr>
        <p:grpSpPr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1801" name="Google Shape;1801;p26"/>
            <p:cNvSpPr txBox="1"/>
            <p:nvPr/>
          </p:nvSpPr>
          <p:spPr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26"/>
            <p:cNvSpPr txBox="1"/>
            <p:nvPr/>
          </p:nvSpPr>
          <p:spPr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26"/>
            <p:cNvSpPr txBox="1"/>
            <p:nvPr/>
          </p:nvSpPr>
          <p:spPr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7,u</a:t>
              </a:r>
              <a:endParaRPr/>
            </a:p>
          </p:txBody>
        </p:sp>
        <p:sp>
          <p:nvSpPr>
            <p:cNvPr id="1804" name="Google Shape;1804;p26"/>
            <p:cNvSpPr txBox="1"/>
            <p:nvPr/>
          </p:nvSpPr>
          <p:spPr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3,u</a:t>
              </a:r>
              <a:endParaRPr/>
            </a:p>
          </p:txBody>
        </p:sp>
        <p:sp>
          <p:nvSpPr>
            <p:cNvPr id="1805" name="Google Shape;1805;p26"/>
            <p:cNvSpPr txBox="1"/>
            <p:nvPr/>
          </p:nvSpPr>
          <p:spPr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</p:grpSp>
      <p:sp>
        <p:nvSpPr>
          <p:cNvPr id="1806" name="Google Shape;1806;p26"/>
          <p:cNvSpPr txBox="1"/>
          <p:nvPr/>
        </p:nvSpPr>
        <p:spPr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</a:t>
            </a:r>
            <a:endParaRPr/>
          </a:p>
        </p:txBody>
      </p:sp>
      <p:grpSp>
        <p:nvGrpSpPr>
          <p:cNvPr id="1807" name="Google Shape;1807;p26"/>
          <p:cNvGrpSpPr/>
          <p:nvPr/>
        </p:nvGrpSpPr>
        <p:grpSpPr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1808" name="Google Shape;1808;p26"/>
            <p:cNvSpPr txBox="1"/>
            <p:nvPr/>
          </p:nvSpPr>
          <p:spPr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26"/>
            <p:cNvSpPr txBox="1"/>
            <p:nvPr/>
          </p:nvSpPr>
          <p:spPr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,w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26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/>
            </a:p>
          </p:txBody>
        </p:sp>
        <p:sp>
          <p:nvSpPr>
            <p:cNvPr id="1811" name="Google Shape;1811;p26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26"/>
            <p:cNvSpPr txBox="1"/>
            <p:nvPr/>
          </p:nvSpPr>
          <p:spPr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</p:grpSp>
      <p:grpSp>
        <p:nvGrpSpPr>
          <p:cNvPr id="1813" name="Google Shape;1813;p26"/>
          <p:cNvGrpSpPr/>
          <p:nvPr/>
        </p:nvGrpSpPr>
        <p:grpSpPr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1814" name="Google Shape;1814;p26"/>
            <p:cNvSpPr txBox="1"/>
            <p:nvPr/>
          </p:nvSpPr>
          <p:spPr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/>
            </a:p>
          </p:txBody>
        </p:sp>
        <p:sp>
          <p:nvSpPr>
            <p:cNvPr id="1815" name="Google Shape;1815;p26"/>
            <p:cNvSpPr txBox="1"/>
            <p:nvPr/>
          </p:nvSpPr>
          <p:spPr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26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/>
            </a:p>
          </p:txBody>
        </p:sp>
        <p:sp>
          <p:nvSpPr>
            <p:cNvPr id="1817" name="Google Shape;1817;p26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26"/>
            <p:cNvSpPr txBox="1"/>
            <p:nvPr/>
          </p:nvSpPr>
          <p:spPr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9" name="Google Shape;1819;p26"/>
          <p:cNvSpPr/>
          <p:nvPr/>
        </p:nvSpPr>
        <p:spPr>
          <a:xfrm>
            <a:off x="3192476" y="2263739"/>
            <a:ext cx="661410" cy="40637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0" name="Google Shape;1820;p26"/>
          <p:cNvSpPr/>
          <p:nvPr/>
        </p:nvSpPr>
        <p:spPr>
          <a:xfrm>
            <a:off x="4050170" y="2719263"/>
            <a:ext cx="679816" cy="40693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1" name="Google Shape;1821;p26"/>
          <p:cNvSpPr txBox="1"/>
          <p:nvPr/>
        </p:nvSpPr>
        <p:spPr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</a:t>
            </a:r>
            <a:endParaRPr/>
          </a:p>
        </p:txBody>
      </p:sp>
      <p:sp>
        <p:nvSpPr>
          <p:cNvPr id="1822" name="Google Shape;1822;p26"/>
          <p:cNvSpPr/>
          <p:nvPr/>
        </p:nvSpPr>
        <p:spPr>
          <a:xfrm>
            <a:off x="2374191" y="3175054"/>
            <a:ext cx="665830" cy="42509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3" name="Google Shape;1823;p26"/>
          <p:cNvSpPr txBox="1"/>
          <p:nvPr/>
        </p:nvSpPr>
        <p:spPr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</a:t>
            </a:r>
            <a:endParaRPr/>
          </a:p>
        </p:txBody>
      </p:sp>
      <p:grpSp>
        <p:nvGrpSpPr>
          <p:cNvPr id="1824" name="Google Shape;1824;p26"/>
          <p:cNvGrpSpPr/>
          <p:nvPr/>
        </p:nvGrpSpPr>
        <p:grpSpPr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1825" name="Google Shape;1825;p26"/>
            <p:cNvSpPr txBox="1"/>
            <p:nvPr/>
          </p:nvSpPr>
          <p:spPr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/>
            </a:p>
          </p:txBody>
        </p:sp>
        <p:sp>
          <p:nvSpPr>
            <p:cNvPr id="1826" name="Google Shape;1826;p26"/>
            <p:cNvSpPr txBox="1"/>
            <p:nvPr/>
          </p:nvSpPr>
          <p:spPr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7" name="Google Shape;1827;p26"/>
          <p:cNvSpPr/>
          <p:nvPr/>
        </p:nvSpPr>
        <p:spPr>
          <a:xfrm>
            <a:off x="4848116" y="3652013"/>
            <a:ext cx="676583" cy="39336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8" name="Google Shape;1828;p26"/>
          <p:cNvSpPr txBox="1"/>
          <p:nvPr/>
        </p:nvSpPr>
        <p:spPr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</a:t>
            </a:r>
            <a:endParaRPr/>
          </a:p>
        </p:txBody>
      </p:sp>
      <p:sp>
        <p:nvSpPr>
          <p:cNvPr id="1829" name="Google Shape;1829;p26"/>
          <p:cNvSpPr txBox="1"/>
          <p:nvPr/>
        </p:nvSpPr>
        <p:spPr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,y </a:t>
            </a:r>
            <a:endParaRPr/>
          </a:p>
        </p:txBody>
      </p:sp>
      <p:sp>
        <p:nvSpPr>
          <p:cNvPr id="1830" name="Google Shape;1830;p26"/>
          <p:cNvSpPr/>
          <p:nvPr/>
        </p:nvSpPr>
        <p:spPr>
          <a:xfrm>
            <a:off x="5669111" y="4130222"/>
            <a:ext cx="707756" cy="389115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31" name="Google Shape;1831;p26"/>
          <p:cNvSpPr/>
          <p:nvPr/>
        </p:nvSpPr>
        <p:spPr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notes: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construct least-cost-path tree by tracing predecessor nodes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ties can exist (can be broken arbitrarily)</a:t>
            </a:r>
            <a:endParaRPr/>
          </a:p>
        </p:txBody>
      </p:sp>
      <p:cxnSp>
        <p:nvCxnSpPr>
          <p:cNvPr id="1832" name="Google Shape;1832;p26"/>
          <p:cNvCxnSpPr/>
          <p:nvPr/>
        </p:nvCxnSpPr>
        <p:spPr>
          <a:xfrm>
            <a:off x="10477917" y="3471860"/>
            <a:ext cx="59055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3" name="Google Shape;1833;p26"/>
          <p:cNvCxnSpPr/>
          <p:nvPr/>
        </p:nvCxnSpPr>
        <p:spPr>
          <a:xfrm flipH="1" rot="10800000">
            <a:off x="8821087" y="3483435"/>
            <a:ext cx="1463675" cy="120491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4" name="Google Shape;1834;p26"/>
          <p:cNvCxnSpPr/>
          <p:nvPr/>
        </p:nvCxnSpPr>
        <p:spPr>
          <a:xfrm>
            <a:off x="8718966" y="3539863"/>
            <a:ext cx="9525" cy="104775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5" name="Google Shape;1835;p26"/>
          <p:cNvCxnSpPr/>
          <p:nvPr/>
        </p:nvCxnSpPr>
        <p:spPr>
          <a:xfrm flipH="1" rot="10800000">
            <a:off x="7577755" y="1754709"/>
            <a:ext cx="1012825" cy="16287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6" name="Google Shape;1836;p26"/>
          <p:cNvCxnSpPr/>
          <p:nvPr/>
        </p:nvCxnSpPr>
        <p:spPr>
          <a:xfrm>
            <a:off x="7693502" y="3475036"/>
            <a:ext cx="94456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7" name="Google Shape;1837;p26"/>
          <p:cNvSpPr txBox="1"/>
          <p:nvPr/>
        </p:nvSpPr>
        <p:spPr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uwxvyz</a:t>
            </a:r>
            <a:endParaRPr/>
          </a:p>
        </p:txBody>
      </p:sp>
      <p:cxnSp>
        <p:nvCxnSpPr>
          <p:cNvPr id="1838" name="Google Shape;1838;p26"/>
          <p:cNvCxnSpPr/>
          <p:nvPr/>
        </p:nvCxnSpPr>
        <p:spPr>
          <a:xfrm>
            <a:off x="668005" y="2233984"/>
            <a:ext cx="5645188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9" name="Google Shape;1839;p26"/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840" name="Google Shape;1840;p26"/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841" name="Google Shape;1841;p26"/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842" name="Google Shape;1842;p26"/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843" name="Google Shape;1843;p26"/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844" name="Google Shape;1844;p26"/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1845" name="Google Shape;1845;p26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46" name="Google Shape;1846;p26"/>
            <p:cNvCxnSpPr/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47" name="Google Shape;1847;p26"/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8" name="Google Shape;1848;p26"/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1849" name="Google Shape;1849;p26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0" name="Google Shape;1850;p26"/>
            <p:cNvCxnSpPr>
              <a:endCxn id="1851" idx="7"/>
            </p:cNvCxnSpPr>
            <p:nvPr/>
          </p:nvCxnSpPr>
          <p:spPr>
            <a:xfrm flipH="1">
              <a:off x="1224541" y="1686770"/>
              <a:ext cx="2198400" cy="16362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51" name="Google Shape;1851;p2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2" name="Google Shape;1852;p26"/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1853" name="Google Shape;1853;p26"/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4" name="Google Shape;1854;p26"/>
            <p:cNvCxnSpPr>
              <a:stCxn id="1853" idx="4"/>
              <a:endCxn id="1855" idx="0"/>
            </p:cNvCxnSpPr>
            <p:nvPr/>
          </p:nvCxnSpPr>
          <p:spPr>
            <a:xfrm flipH="1">
              <a:off x="1113041" y="1272747"/>
              <a:ext cx="675600" cy="2007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55" name="Google Shape;1855;p2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6" name="Google Shape;1856;p26"/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1857" name="Google Shape;1857;p26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8" name="Google Shape;1858;p26"/>
            <p:cNvCxnSpPr>
              <a:stCxn id="1857" idx="3"/>
              <a:endCxn id="1859" idx="7"/>
            </p:cNvCxnSpPr>
            <p:nvPr/>
          </p:nvCxnSpPr>
          <p:spPr>
            <a:xfrm flipH="1">
              <a:off x="1224425" y="778444"/>
              <a:ext cx="2942700" cy="25446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59" name="Google Shape;1859;p2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0" name="Google Shape;1860;p26"/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1861" name="Google Shape;1861;p26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2" name="Google Shape;1862;p26"/>
            <p:cNvCxnSpPr>
              <a:stCxn id="1861" idx="3"/>
              <a:endCxn id="1863" idx="7"/>
            </p:cNvCxnSpPr>
            <p:nvPr/>
          </p:nvCxnSpPr>
          <p:spPr>
            <a:xfrm flipH="1">
              <a:off x="285425" y="778444"/>
              <a:ext cx="3881700" cy="30327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63" name="Google Shape;1863;p26"/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27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discussion</a:t>
            </a:r>
            <a:endParaRPr/>
          </a:p>
        </p:txBody>
      </p:sp>
      <p:sp>
        <p:nvSpPr>
          <p:cNvPr id="1870" name="Google Shape;1870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27"/>
          <p:cNvSpPr txBox="1"/>
          <p:nvPr/>
        </p:nvSpPr>
        <p:spPr>
          <a:xfrm>
            <a:off x="739458" y="1447801"/>
            <a:ext cx="8709342" cy="191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algorithm complexity: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iteration: need to check all nodes,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+1)/2 comparisons: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complexity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efficient implementations possible: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872" name="Google Shape;1872;p27"/>
          <p:cNvSpPr txBox="1"/>
          <p:nvPr/>
        </p:nvSpPr>
        <p:spPr>
          <a:xfrm>
            <a:off x="729298" y="3378200"/>
            <a:ext cx="11310302" cy="2331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message complexity: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must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link state information to other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routers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(and interesting!) broadcast algorithms: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link crossings to disseminate a broadcast message from one source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router’s message crosses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links: overall message complexity: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28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oscillations possible</a:t>
            </a:r>
            <a:endParaRPr/>
          </a:p>
        </p:txBody>
      </p:sp>
      <p:sp>
        <p:nvSpPr>
          <p:cNvPr id="1879" name="Google Shape;1879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28"/>
          <p:cNvSpPr txBox="1"/>
          <p:nvPr/>
        </p:nvSpPr>
        <p:spPr>
          <a:xfrm>
            <a:off x="637858" y="1315720"/>
            <a:ext cx="10792142" cy="55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1463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 link costs depend on traffic volume,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route oscillations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28"/>
          <p:cNvSpPr/>
          <p:nvPr/>
        </p:nvSpPr>
        <p:spPr>
          <a:xfrm>
            <a:off x="435928" y="3502025"/>
            <a:ext cx="1971675" cy="1355725"/>
          </a:xfrm>
          <a:custGeom>
            <a:rect b="b" l="l" r="r" t="t"/>
            <a:pathLst>
              <a:path extrusionOk="0" h="854" w="1242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28"/>
          <p:cNvSpPr/>
          <p:nvPr/>
        </p:nvSpPr>
        <p:spPr>
          <a:xfrm>
            <a:off x="837565" y="3840162"/>
            <a:ext cx="390525" cy="20955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3" name="Google Shape;1883;p28"/>
          <p:cNvGrpSpPr/>
          <p:nvPr/>
        </p:nvGrpSpPr>
        <p:grpSpPr>
          <a:xfrm>
            <a:off x="1143953" y="3522662"/>
            <a:ext cx="501650" cy="400050"/>
            <a:chOff x="1747" y="3190"/>
            <a:chExt cx="316" cy="252"/>
          </a:xfrm>
        </p:grpSpPr>
        <p:sp>
          <p:nvSpPr>
            <p:cNvPr id="1884" name="Google Shape;1884;p28"/>
            <p:cNvSpPr/>
            <p:nvPr/>
          </p:nvSpPr>
          <p:spPr>
            <a:xfrm>
              <a:off x="1750" y="3308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85" name="Google Shape;1885;p28"/>
            <p:cNvCxnSpPr/>
            <p:nvPr/>
          </p:nvCxnSpPr>
          <p:spPr>
            <a:xfrm>
              <a:off x="1750" y="3301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6" name="Google Shape;1886;p28"/>
            <p:cNvCxnSpPr/>
            <p:nvPr/>
          </p:nvCxnSpPr>
          <p:spPr>
            <a:xfrm>
              <a:off x="2063" y="3301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87" name="Google Shape;1887;p28"/>
            <p:cNvSpPr/>
            <p:nvPr/>
          </p:nvSpPr>
          <p:spPr>
            <a:xfrm>
              <a:off x="1750" y="3301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28"/>
            <p:cNvSpPr/>
            <p:nvPr/>
          </p:nvSpPr>
          <p:spPr>
            <a:xfrm>
              <a:off x="1747" y="3242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89" name="Google Shape;1889;p28"/>
            <p:cNvGrpSpPr/>
            <p:nvPr/>
          </p:nvGrpSpPr>
          <p:grpSpPr>
            <a:xfrm>
              <a:off x="1799" y="3190"/>
              <a:ext cx="194" cy="252"/>
              <a:chOff x="2960" y="2425"/>
              <a:chExt cx="197" cy="252"/>
            </a:xfrm>
          </p:grpSpPr>
          <p:sp>
            <p:nvSpPr>
              <p:cNvPr id="1890" name="Google Shape;1890;p2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28"/>
              <p:cNvSpPr txBox="1"/>
              <p:nvPr/>
            </p:nvSpPr>
            <p:spPr>
              <a:xfrm>
                <a:off x="2960" y="2425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92" name="Google Shape;1892;p28"/>
          <p:cNvGrpSpPr/>
          <p:nvPr/>
        </p:nvGrpSpPr>
        <p:grpSpPr>
          <a:xfrm>
            <a:off x="496253" y="3927475"/>
            <a:ext cx="501650" cy="400050"/>
            <a:chOff x="2221" y="3571"/>
            <a:chExt cx="316" cy="252"/>
          </a:xfrm>
        </p:grpSpPr>
        <p:sp>
          <p:nvSpPr>
            <p:cNvPr id="1893" name="Google Shape;1893;p28"/>
            <p:cNvSpPr/>
            <p:nvPr/>
          </p:nvSpPr>
          <p:spPr>
            <a:xfrm>
              <a:off x="2224" y="369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94" name="Google Shape;1894;p28"/>
            <p:cNvCxnSpPr/>
            <p:nvPr/>
          </p:nvCxnSpPr>
          <p:spPr>
            <a:xfrm>
              <a:off x="2224" y="368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5" name="Google Shape;1895;p28"/>
            <p:cNvCxnSpPr/>
            <p:nvPr/>
          </p:nvCxnSpPr>
          <p:spPr>
            <a:xfrm>
              <a:off x="2537" y="368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6" name="Google Shape;1896;p28"/>
            <p:cNvSpPr/>
            <p:nvPr/>
          </p:nvSpPr>
          <p:spPr>
            <a:xfrm>
              <a:off x="2224" y="368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28"/>
            <p:cNvSpPr/>
            <p:nvPr/>
          </p:nvSpPr>
          <p:spPr>
            <a:xfrm>
              <a:off x="2221" y="362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8" name="Google Shape;1898;p28"/>
            <p:cNvGrpSpPr/>
            <p:nvPr/>
          </p:nvGrpSpPr>
          <p:grpSpPr>
            <a:xfrm>
              <a:off x="2283" y="3571"/>
              <a:ext cx="206" cy="252"/>
              <a:chOff x="2954" y="2425"/>
              <a:chExt cx="209" cy="252"/>
            </a:xfrm>
          </p:grpSpPr>
          <p:sp>
            <p:nvSpPr>
              <p:cNvPr id="1899" name="Google Shape;1899;p2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28"/>
              <p:cNvSpPr txBox="1"/>
              <p:nvPr/>
            </p:nvSpPr>
            <p:spPr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01" name="Google Shape;1901;p28"/>
          <p:cNvGrpSpPr/>
          <p:nvPr/>
        </p:nvGrpSpPr>
        <p:grpSpPr>
          <a:xfrm>
            <a:off x="1131253" y="4389437"/>
            <a:ext cx="500062" cy="400050"/>
            <a:chOff x="2903" y="2884"/>
            <a:chExt cx="315" cy="252"/>
          </a:xfrm>
        </p:grpSpPr>
        <p:grpSp>
          <p:nvGrpSpPr>
            <p:cNvPr id="1902" name="Google Shape;1902;p28"/>
            <p:cNvGrpSpPr/>
            <p:nvPr/>
          </p:nvGrpSpPr>
          <p:grpSpPr>
            <a:xfrm>
              <a:off x="2903" y="2938"/>
              <a:ext cx="315" cy="144"/>
              <a:chOff x="2903" y="2938"/>
              <a:chExt cx="315" cy="144"/>
            </a:xfrm>
          </p:grpSpPr>
          <p:sp>
            <p:nvSpPr>
              <p:cNvPr id="1903" name="Google Shape;1903;p28"/>
              <p:cNvSpPr/>
              <p:nvPr/>
            </p:nvSpPr>
            <p:spPr>
              <a:xfrm>
                <a:off x="2903" y="3001"/>
                <a:ext cx="312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04" name="Google Shape;1904;p28"/>
              <p:cNvCxnSpPr/>
              <p:nvPr/>
            </p:nvCxnSpPr>
            <p:spPr>
              <a:xfrm>
                <a:off x="2903" y="2994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5" name="Google Shape;1905;p28"/>
              <p:cNvCxnSpPr/>
              <p:nvPr/>
            </p:nvCxnSpPr>
            <p:spPr>
              <a:xfrm>
                <a:off x="3215" y="2994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06" name="Google Shape;1906;p28"/>
              <p:cNvSpPr/>
              <p:nvPr/>
            </p:nvSpPr>
            <p:spPr>
              <a:xfrm>
                <a:off x="2903" y="2994"/>
                <a:ext cx="309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28"/>
              <p:cNvSpPr/>
              <p:nvPr/>
            </p:nvSpPr>
            <p:spPr>
              <a:xfrm>
                <a:off x="2906" y="2938"/>
                <a:ext cx="312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8" name="Google Shape;1908;p28"/>
            <p:cNvGrpSpPr/>
            <p:nvPr/>
          </p:nvGrpSpPr>
          <p:grpSpPr>
            <a:xfrm>
              <a:off x="2963" y="2884"/>
              <a:ext cx="185" cy="252"/>
              <a:chOff x="2964" y="2425"/>
              <a:chExt cx="188" cy="252"/>
            </a:xfrm>
          </p:grpSpPr>
          <p:sp>
            <p:nvSpPr>
              <p:cNvPr id="1909" name="Google Shape;1909;p2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28"/>
              <p:cNvSpPr txBox="1"/>
              <p:nvPr/>
            </p:nvSpPr>
            <p:spPr>
              <a:xfrm>
                <a:off x="2964" y="2425"/>
                <a:ext cx="188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1" name="Google Shape;1911;p28"/>
          <p:cNvGrpSpPr/>
          <p:nvPr/>
        </p:nvGrpSpPr>
        <p:grpSpPr>
          <a:xfrm>
            <a:off x="1785303" y="3941762"/>
            <a:ext cx="501650" cy="400050"/>
            <a:chOff x="2217" y="2884"/>
            <a:chExt cx="316" cy="252"/>
          </a:xfrm>
        </p:grpSpPr>
        <p:sp>
          <p:nvSpPr>
            <p:cNvPr id="1912" name="Google Shape;1912;p28"/>
            <p:cNvSpPr/>
            <p:nvPr/>
          </p:nvSpPr>
          <p:spPr>
            <a:xfrm>
              <a:off x="2220" y="30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13" name="Google Shape;1913;p28"/>
            <p:cNvCxnSpPr/>
            <p:nvPr/>
          </p:nvCxnSpPr>
          <p:spPr>
            <a:xfrm>
              <a:off x="2220" y="29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4" name="Google Shape;1914;p28"/>
            <p:cNvCxnSpPr/>
            <p:nvPr/>
          </p:nvCxnSpPr>
          <p:spPr>
            <a:xfrm>
              <a:off x="2533" y="29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5" name="Google Shape;1915;p28"/>
            <p:cNvSpPr/>
            <p:nvPr/>
          </p:nvSpPr>
          <p:spPr>
            <a:xfrm>
              <a:off x="2220" y="29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28"/>
            <p:cNvSpPr/>
            <p:nvPr/>
          </p:nvSpPr>
          <p:spPr>
            <a:xfrm>
              <a:off x="2217" y="29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28"/>
            <p:cNvGrpSpPr/>
            <p:nvPr/>
          </p:nvGrpSpPr>
          <p:grpSpPr>
            <a:xfrm>
              <a:off x="2276" y="2884"/>
              <a:ext cx="206" cy="252"/>
              <a:chOff x="2954" y="2425"/>
              <a:chExt cx="209" cy="252"/>
            </a:xfrm>
          </p:grpSpPr>
          <p:sp>
            <p:nvSpPr>
              <p:cNvPr id="1918" name="Google Shape;1918;p2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28"/>
              <p:cNvSpPr txBox="1"/>
              <p:nvPr/>
            </p:nvSpPr>
            <p:spPr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0" name="Google Shape;1920;p28"/>
          <p:cNvSpPr txBox="1"/>
          <p:nvPr/>
        </p:nvSpPr>
        <p:spPr>
          <a:xfrm>
            <a:off x="839153" y="3694112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21" name="Google Shape;1921;p28"/>
          <p:cNvSpPr/>
          <p:nvPr/>
        </p:nvSpPr>
        <p:spPr>
          <a:xfrm flipH="1">
            <a:off x="1523365" y="3840162"/>
            <a:ext cx="338138" cy="204788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28"/>
          <p:cNvSpPr/>
          <p:nvPr/>
        </p:nvSpPr>
        <p:spPr>
          <a:xfrm rot="10800000">
            <a:off x="1537653" y="4254500"/>
            <a:ext cx="314325" cy="22860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28"/>
          <p:cNvSpPr/>
          <p:nvPr/>
        </p:nvSpPr>
        <p:spPr>
          <a:xfrm flipH="1" rot="10800000">
            <a:off x="899478" y="4244975"/>
            <a:ext cx="323850" cy="24765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28"/>
          <p:cNvSpPr txBox="1"/>
          <p:nvPr/>
        </p:nvSpPr>
        <p:spPr>
          <a:xfrm>
            <a:off x="1682134" y="3703637"/>
            <a:ext cx="4555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1+e</a:t>
            </a:r>
            <a:endParaRPr/>
          </a:p>
        </p:txBody>
      </p:sp>
      <p:sp>
        <p:nvSpPr>
          <p:cNvPr id="1925" name="Google Shape;1925;p28"/>
          <p:cNvSpPr txBox="1"/>
          <p:nvPr/>
        </p:nvSpPr>
        <p:spPr>
          <a:xfrm>
            <a:off x="1674178" y="4294187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926" name="Google Shape;1926;p28"/>
          <p:cNvSpPr txBox="1"/>
          <p:nvPr/>
        </p:nvSpPr>
        <p:spPr>
          <a:xfrm>
            <a:off x="802640" y="431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927" name="Google Shape;1927;p28"/>
          <p:cNvCxnSpPr/>
          <p:nvPr/>
        </p:nvCxnSpPr>
        <p:spPr>
          <a:xfrm rot="10800000">
            <a:off x="1370965" y="4711700"/>
            <a:ext cx="0" cy="4000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8" name="Google Shape;1928;p28"/>
          <p:cNvCxnSpPr/>
          <p:nvPr/>
        </p:nvCxnSpPr>
        <p:spPr>
          <a:xfrm rot="10800000">
            <a:off x="551815" y="4244975"/>
            <a:ext cx="4763" cy="33813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9" name="Google Shape;1929;p28"/>
          <p:cNvCxnSpPr/>
          <p:nvPr/>
        </p:nvCxnSpPr>
        <p:spPr>
          <a:xfrm rot="10800000">
            <a:off x="2071053" y="4278312"/>
            <a:ext cx="0" cy="4286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930" name="Google Shape;1930;p28"/>
          <p:cNvGrpSpPr/>
          <p:nvPr/>
        </p:nvGrpSpPr>
        <p:grpSpPr>
          <a:xfrm>
            <a:off x="297498" y="4320540"/>
            <a:ext cx="2047875" cy="894715"/>
            <a:chOff x="297498" y="4320540"/>
            <a:chExt cx="2047875" cy="894715"/>
          </a:xfrm>
        </p:grpSpPr>
        <p:sp>
          <p:nvSpPr>
            <p:cNvPr id="1931" name="Google Shape;1931;p28"/>
            <p:cNvSpPr txBox="1"/>
            <p:nvPr/>
          </p:nvSpPr>
          <p:spPr>
            <a:xfrm>
              <a:off x="1116330" y="484854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28"/>
            <p:cNvSpPr txBox="1"/>
            <p:nvPr/>
          </p:nvSpPr>
          <p:spPr>
            <a:xfrm>
              <a:off x="297498" y="43205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4" name="Google Shape;1934;p28"/>
          <p:cNvSpPr/>
          <p:nvPr/>
        </p:nvSpPr>
        <p:spPr>
          <a:xfrm rot="10800000">
            <a:off x="1442403" y="4211637"/>
            <a:ext cx="314325" cy="22860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28"/>
          <p:cNvSpPr/>
          <p:nvPr/>
        </p:nvSpPr>
        <p:spPr>
          <a:xfrm flipH="1">
            <a:off x="989965" y="4221162"/>
            <a:ext cx="304800" cy="219075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28"/>
          <p:cNvSpPr txBox="1"/>
          <p:nvPr/>
        </p:nvSpPr>
        <p:spPr>
          <a:xfrm>
            <a:off x="1088390" y="4098925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37" name="Google Shape;1937;p28"/>
          <p:cNvSpPr txBox="1"/>
          <p:nvPr/>
        </p:nvSpPr>
        <p:spPr>
          <a:xfrm>
            <a:off x="1431290" y="4090987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38" name="Google Shape;1938;p28"/>
          <p:cNvSpPr txBox="1"/>
          <p:nvPr/>
        </p:nvSpPr>
        <p:spPr>
          <a:xfrm>
            <a:off x="1009650" y="5560695"/>
            <a:ext cx="9493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initially</a:t>
            </a:r>
            <a:endParaRPr b="0" i="0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9" name="Google Shape;1939;p28"/>
          <p:cNvGrpSpPr/>
          <p:nvPr/>
        </p:nvGrpSpPr>
        <p:grpSpPr>
          <a:xfrm>
            <a:off x="3028316" y="3458208"/>
            <a:ext cx="2651124" cy="2716211"/>
            <a:chOff x="1560" y="2639"/>
            <a:chExt cx="1670" cy="1711"/>
          </a:xfrm>
        </p:grpSpPr>
        <p:sp>
          <p:nvSpPr>
            <p:cNvPr id="1940" name="Google Shape;1940;p28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28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2" name="Google Shape;1942;p28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1943" name="Google Shape;1943;p28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44" name="Google Shape;1944;p28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5" name="Google Shape;1945;p28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46" name="Google Shape;1946;p28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947;p28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48" name="Google Shape;1948;p28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1949" name="Google Shape;1949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0" name="Google Shape;1950;p28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51" name="Google Shape;1951;p28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1952" name="Google Shape;1952;p28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53" name="Google Shape;1953;p28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4" name="Google Shape;1954;p28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55" name="Google Shape;1955;p28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28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57" name="Google Shape;1957;p28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1958" name="Google Shape;1958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9" name="Google Shape;1959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60" name="Google Shape;1960;p28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1961" name="Google Shape;1961;p28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1962" name="Google Shape;1962;p28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63" name="Google Shape;1963;p28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64" name="Google Shape;1964;p28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65" name="Google Shape;1965;p28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6" name="Google Shape;1966;p28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67" name="Google Shape;1967;p28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1968" name="Google Shape;1968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9" name="Google Shape;1969;p28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70" name="Google Shape;1970;p28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1971" name="Google Shape;1971;p28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72" name="Google Shape;1972;p28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3" name="Google Shape;1973;p28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74" name="Google Shape;1974;p28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975;p28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76" name="Google Shape;1976;p28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1977" name="Google Shape;1977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8" name="Google Shape;1978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979" name="Google Shape;1979;p28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28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28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28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28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28"/>
            <p:cNvSpPr txBox="1"/>
            <p:nvPr/>
          </p:nvSpPr>
          <p:spPr>
            <a:xfrm>
              <a:off x="1560" y="3823"/>
              <a:ext cx="1670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1985" name="Google Shape;1985;p28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86" name="Google Shape;1986;p28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87" name="Google Shape;1987;p28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88" name="Google Shape;1988;p28"/>
          <p:cNvSpPr/>
          <p:nvPr/>
        </p:nvSpPr>
        <p:spPr>
          <a:xfrm>
            <a:off x="1399540" y="3698875"/>
            <a:ext cx="609600" cy="828675"/>
          </a:xfrm>
          <a:custGeom>
            <a:rect b="b" l="l" r="r" t="t"/>
            <a:pathLst>
              <a:path extrusionOk="0" h="522" w="384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9" name="Google Shape;1989;p28"/>
          <p:cNvCxnSpPr/>
          <p:nvPr/>
        </p:nvCxnSpPr>
        <p:spPr>
          <a:xfrm flipH="1" rot="10800000">
            <a:off x="761365" y="3779837"/>
            <a:ext cx="447675" cy="242888"/>
          </a:xfrm>
          <a:prstGeom prst="straightConnector1">
            <a:avLst/>
          </a:prstGeom>
          <a:noFill/>
          <a:ln cap="flat" cmpd="sng" w="571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0" name="Google Shape;1990;p28"/>
          <p:cNvSpPr/>
          <p:nvPr/>
        </p:nvSpPr>
        <p:spPr>
          <a:xfrm>
            <a:off x="3695065" y="3659822"/>
            <a:ext cx="1193800" cy="866775"/>
          </a:xfrm>
          <a:custGeom>
            <a:rect b="b" l="l" r="r" t="t"/>
            <a:pathLst>
              <a:path extrusionOk="0" h="546" w="752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1" name="Google Shape;1991;p28"/>
          <p:cNvGrpSpPr/>
          <p:nvPr/>
        </p:nvGrpSpPr>
        <p:grpSpPr>
          <a:xfrm>
            <a:off x="3520440" y="3645535"/>
            <a:ext cx="1430338" cy="966787"/>
            <a:chOff x="1870" y="2772"/>
            <a:chExt cx="901" cy="609"/>
          </a:xfrm>
        </p:grpSpPr>
        <p:sp>
          <p:nvSpPr>
            <p:cNvPr id="1992" name="Google Shape;1992;p28"/>
            <p:cNvSpPr txBox="1"/>
            <p:nvPr/>
          </p:nvSpPr>
          <p:spPr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1993" name="Google Shape;1993;p28"/>
            <p:cNvSpPr txBox="1"/>
            <p:nvPr/>
          </p:nvSpPr>
          <p:spPr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94" name="Google Shape;1994;p28"/>
            <p:cNvSpPr txBox="1"/>
            <p:nvPr/>
          </p:nvSpPr>
          <p:spPr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95" name="Google Shape;1995;p28"/>
            <p:cNvSpPr txBox="1"/>
            <p:nvPr/>
          </p:nvSpPr>
          <p:spPr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96" name="Google Shape;1996;p28"/>
            <p:cNvSpPr txBox="1"/>
            <p:nvPr/>
          </p:nvSpPr>
          <p:spPr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1997" name="Google Shape;1997;p28"/>
            <p:cNvSpPr txBox="1"/>
            <p:nvPr/>
          </p:nvSpPr>
          <p:spPr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998" name="Google Shape;1998;p28"/>
          <p:cNvGrpSpPr/>
          <p:nvPr/>
        </p:nvGrpSpPr>
        <p:grpSpPr>
          <a:xfrm>
            <a:off x="6509069" y="3455988"/>
            <a:ext cx="2443162" cy="2752726"/>
            <a:chOff x="1721" y="2639"/>
            <a:chExt cx="1539" cy="1734"/>
          </a:xfrm>
        </p:grpSpPr>
        <p:sp>
          <p:nvSpPr>
            <p:cNvPr id="1999" name="Google Shape;1999;p28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28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01" name="Google Shape;2001;p28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002" name="Google Shape;2002;p28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03" name="Google Shape;2003;p28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4" name="Google Shape;2004;p28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05" name="Google Shape;2005;p28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6" name="Google Shape;2006;p28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07" name="Google Shape;2007;p28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008" name="Google Shape;2008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9" name="Google Shape;2009;p28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10" name="Google Shape;2010;p28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011" name="Google Shape;2011;p28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12" name="Google Shape;2012;p28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3" name="Google Shape;2013;p28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14" name="Google Shape;2014;p28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28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16" name="Google Shape;2016;p28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017" name="Google Shape;2017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8" name="Google Shape;2018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19" name="Google Shape;2019;p28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020" name="Google Shape;2020;p28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021" name="Google Shape;2021;p28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22" name="Google Shape;2022;p28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23" name="Google Shape;2023;p28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24" name="Google Shape;2024;p28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5" name="Google Shape;2025;p28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26" name="Google Shape;2026;p28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027" name="Google Shape;2027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8" name="Google Shape;2028;p28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29" name="Google Shape;2029;p28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030" name="Google Shape;2030;p28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31" name="Google Shape;2031;p28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2" name="Google Shape;2032;p28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33" name="Google Shape;2033;p28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4" name="Google Shape;2034;p28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35" name="Google Shape;2035;p28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036" name="Google Shape;2036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7" name="Google Shape;2037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038" name="Google Shape;2038;p28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28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28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28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28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28"/>
            <p:cNvSpPr txBox="1"/>
            <p:nvPr/>
          </p:nvSpPr>
          <p:spPr>
            <a:xfrm>
              <a:off x="1721" y="3846"/>
              <a:ext cx="1539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2044" name="Google Shape;2044;p28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45" name="Google Shape;2045;p28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46" name="Google Shape;2046;p28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47" name="Google Shape;2047;p28"/>
          <p:cNvSpPr/>
          <p:nvPr/>
        </p:nvSpPr>
        <p:spPr>
          <a:xfrm>
            <a:off x="6926580" y="3590925"/>
            <a:ext cx="1181100" cy="952500"/>
          </a:xfrm>
          <a:custGeom>
            <a:rect b="b" l="l" r="r" t="t"/>
            <a:pathLst>
              <a:path extrusionOk="0" h="600" w="744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8" name="Google Shape;2048;p28"/>
          <p:cNvGrpSpPr/>
          <p:nvPr/>
        </p:nvGrpSpPr>
        <p:grpSpPr>
          <a:xfrm>
            <a:off x="6844030" y="3668712"/>
            <a:ext cx="1493838" cy="990600"/>
            <a:chOff x="-186" y="1184"/>
            <a:chExt cx="941" cy="624"/>
          </a:xfrm>
        </p:grpSpPr>
        <p:sp>
          <p:nvSpPr>
            <p:cNvPr id="2049" name="Google Shape;2049;p28"/>
            <p:cNvSpPr txBox="1"/>
            <p:nvPr/>
          </p:nvSpPr>
          <p:spPr>
            <a:xfrm>
              <a:off x="-186" y="119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050" name="Google Shape;2050;p28"/>
            <p:cNvSpPr txBox="1"/>
            <p:nvPr/>
          </p:nvSpPr>
          <p:spPr>
            <a:xfrm>
              <a:off x="450" y="1184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2051" name="Google Shape;2051;p28"/>
            <p:cNvSpPr txBox="1"/>
            <p:nvPr/>
          </p:nvSpPr>
          <p:spPr>
            <a:xfrm>
              <a:off x="340" y="1616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2052" name="Google Shape;2052;p28"/>
            <p:cNvSpPr txBox="1"/>
            <p:nvPr/>
          </p:nvSpPr>
          <p:spPr>
            <a:xfrm>
              <a:off x="-132" y="158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053" name="Google Shape;2053;p28"/>
            <p:cNvSpPr txBox="1"/>
            <p:nvPr/>
          </p:nvSpPr>
          <p:spPr>
            <a:xfrm>
              <a:off x="79" y="1436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054" name="Google Shape;2054;p28"/>
            <p:cNvSpPr txBox="1"/>
            <p:nvPr/>
          </p:nvSpPr>
          <p:spPr>
            <a:xfrm>
              <a:off x="261" y="143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2055" name="Google Shape;2055;p28"/>
          <p:cNvGrpSpPr/>
          <p:nvPr/>
        </p:nvGrpSpPr>
        <p:grpSpPr>
          <a:xfrm>
            <a:off x="9495792" y="3505198"/>
            <a:ext cx="2443162" cy="2703511"/>
            <a:chOff x="1632" y="2639"/>
            <a:chExt cx="1539" cy="1703"/>
          </a:xfrm>
        </p:grpSpPr>
        <p:sp>
          <p:nvSpPr>
            <p:cNvPr id="2056" name="Google Shape;2056;p28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28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58" name="Google Shape;2058;p28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059" name="Google Shape;2059;p28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60" name="Google Shape;2060;p28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1" name="Google Shape;2061;p28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62" name="Google Shape;2062;p28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3" name="Google Shape;2063;p28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64" name="Google Shape;2064;p28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065" name="Google Shape;2065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6" name="Google Shape;2066;p28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67" name="Google Shape;2067;p28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068" name="Google Shape;2068;p28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69" name="Google Shape;2069;p28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0" name="Google Shape;2070;p28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71" name="Google Shape;2071;p28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2" name="Google Shape;2072;p28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73" name="Google Shape;2073;p28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074" name="Google Shape;2074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5" name="Google Shape;2075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76" name="Google Shape;2076;p28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077" name="Google Shape;2077;p28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078" name="Google Shape;2078;p28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79" name="Google Shape;2079;p28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80" name="Google Shape;2080;p28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81" name="Google Shape;2081;p28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2" name="Google Shape;2082;p28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83" name="Google Shape;2083;p28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084" name="Google Shape;2084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5" name="Google Shape;2085;p28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86" name="Google Shape;2086;p28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087" name="Google Shape;2087;p28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88" name="Google Shape;2088;p28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9" name="Google Shape;2089;p28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90" name="Google Shape;2090;p28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1" name="Google Shape;2091;p28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92" name="Google Shape;2092;p28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093" name="Google Shape;2093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4" name="Google Shape;2094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095" name="Google Shape;2095;p28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28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28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28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28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28"/>
            <p:cNvSpPr txBox="1"/>
            <p:nvPr/>
          </p:nvSpPr>
          <p:spPr>
            <a:xfrm>
              <a:off x="1632" y="3815"/>
              <a:ext cx="1539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2101" name="Google Shape;2101;p28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02" name="Google Shape;2102;p28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03" name="Google Shape;2103;p28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104" name="Google Shape;2104;p28"/>
          <p:cNvSpPr/>
          <p:nvPr/>
        </p:nvSpPr>
        <p:spPr>
          <a:xfrm>
            <a:off x="10048240" y="3706812"/>
            <a:ext cx="1193800" cy="866775"/>
          </a:xfrm>
          <a:custGeom>
            <a:rect b="b" l="l" r="r" t="t"/>
            <a:pathLst>
              <a:path extrusionOk="0" h="546" w="752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5" name="Google Shape;2105;p28"/>
          <p:cNvGrpSpPr/>
          <p:nvPr/>
        </p:nvGrpSpPr>
        <p:grpSpPr>
          <a:xfrm>
            <a:off x="9873615" y="3692525"/>
            <a:ext cx="1430338" cy="966787"/>
            <a:chOff x="1870" y="2772"/>
            <a:chExt cx="901" cy="609"/>
          </a:xfrm>
        </p:grpSpPr>
        <p:sp>
          <p:nvSpPr>
            <p:cNvPr id="2106" name="Google Shape;2106;p28"/>
            <p:cNvSpPr txBox="1"/>
            <p:nvPr/>
          </p:nvSpPr>
          <p:spPr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2107" name="Google Shape;2107;p28"/>
            <p:cNvSpPr txBox="1"/>
            <p:nvPr/>
          </p:nvSpPr>
          <p:spPr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08" name="Google Shape;2108;p28"/>
            <p:cNvSpPr txBox="1"/>
            <p:nvPr/>
          </p:nvSpPr>
          <p:spPr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09" name="Google Shape;2109;p28"/>
            <p:cNvSpPr txBox="1"/>
            <p:nvPr/>
          </p:nvSpPr>
          <p:spPr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10" name="Google Shape;2110;p28"/>
            <p:cNvSpPr txBox="1"/>
            <p:nvPr/>
          </p:nvSpPr>
          <p:spPr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2111" name="Google Shape;2111;p28"/>
            <p:cNvSpPr txBox="1"/>
            <p:nvPr/>
          </p:nvSpPr>
          <p:spPr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2112" name="Google Shape;2112;p28"/>
          <p:cNvSpPr txBox="1"/>
          <p:nvPr/>
        </p:nvSpPr>
        <p:spPr>
          <a:xfrm>
            <a:off x="627698" y="1762759"/>
            <a:ext cx="10792142" cy="1201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1463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scenario:</a:t>
            </a:r>
            <a:endParaRPr/>
          </a:p>
          <a:p>
            <a:pPr indent="-271463" lvl="1" marL="7445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to destination a, traffic entering at d, c, e with rates 1, e (&lt;1), 1</a:t>
            </a:r>
            <a:endParaRPr/>
          </a:p>
          <a:p>
            <a:pPr indent="-271463" lvl="1" marL="7445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costs are directional, and volume-dependent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3" name="Google Shape;2113;p28"/>
          <p:cNvGrpSpPr/>
          <p:nvPr/>
        </p:nvGrpSpPr>
        <p:grpSpPr>
          <a:xfrm>
            <a:off x="3365818" y="4272915"/>
            <a:ext cx="1854835" cy="769620"/>
            <a:chOff x="490538" y="4465955"/>
            <a:chExt cx="1854835" cy="769620"/>
          </a:xfrm>
        </p:grpSpPr>
        <p:sp>
          <p:nvSpPr>
            <p:cNvPr id="2114" name="Google Shape;2114;p28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28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7" name="Google Shape;2117;p28"/>
          <p:cNvGrpSpPr/>
          <p:nvPr/>
        </p:nvGrpSpPr>
        <p:grpSpPr>
          <a:xfrm>
            <a:off x="6576378" y="4293235"/>
            <a:ext cx="1854835" cy="769620"/>
            <a:chOff x="490538" y="4465955"/>
            <a:chExt cx="1854835" cy="769620"/>
          </a:xfrm>
        </p:grpSpPr>
        <p:sp>
          <p:nvSpPr>
            <p:cNvPr id="2118" name="Google Shape;2118;p28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28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1" name="Google Shape;2121;p28"/>
          <p:cNvGrpSpPr/>
          <p:nvPr/>
        </p:nvGrpSpPr>
        <p:grpSpPr>
          <a:xfrm>
            <a:off x="9705658" y="4313555"/>
            <a:ext cx="1854835" cy="769620"/>
            <a:chOff x="490538" y="4465955"/>
            <a:chExt cx="1854835" cy="769620"/>
          </a:xfrm>
        </p:grpSpPr>
        <p:sp>
          <p:nvSpPr>
            <p:cNvPr id="2122" name="Google Shape;2122;p28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28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2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2131" name="Google Shape;21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2132" name="Google Shape;2132;p29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29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0"/>
          <p:cNvSpPr txBox="1"/>
          <p:nvPr>
            <p:ph idx="1" type="body"/>
          </p:nvPr>
        </p:nvSpPr>
        <p:spPr>
          <a:xfrm>
            <a:off x="838200" y="1724027"/>
            <a:ext cx="10813026" cy="517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Based on </a:t>
            </a:r>
            <a:r>
              <a:rPr i="1" lang="en-US" sz="3200">
                <a:solidFill>
                  <a:srgbClr val="0000A8"/>
                </a:solidFill>
              </a:rPr>
              <a:t>Bellman-Ford</a:t>
            </a:r>
            <a:r>
              <a:rPr lang="en-US" sz="3200"/>
              <a:t> (BF) equation (dynamic programming):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140" name="Google Shape;2140;p3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 </a:t>
            </a:r>
            <a:endParaRPr/>
          </a:p>
        </p:txBody>
      </p:sp>
      <p:sp>
        <p:nvSpPr>
          <p:cNvPr id="2141" name="Google Shape;2141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42" name="Google Shape;2142;p30"/>
          <p:cNvGrpSpPr/>
          <p:nvPr/>
        </p:nvGrpSpPr>
        <p:grpSpPr>
          <a:xfrm>
            <a:off x="1902542" y="2507226"/>
            <a:ext cx="8854256" cy="2757948"/>
            <a:chOff x="1902542" y="2507226"/>
            <a:chExt cx="8854256" cy="2757948"/>
          </a:xfrm>
        </p:grpSpPr>
        <p:sp>
          <p:nvSpPr>
            <p:cNvPr id="2143" name="Google Shape;2143;p30"/>
            <p:cNvSpPr txBox="1"/>
            <p:nvPr/>
          </p:nvSpPr>
          <p:spPr>
            <a:xfrm>
              <a:off x="2803423" y="3288890"/>
              <a:ext cx="7953375" cy="1976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 lnSpcReduction="10000"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Let 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(y): </a:t>
              </a: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of least-cost path from 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to 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Then: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2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(y) = </a:t>
              </a:r>
              <a:r>
                <a:rPr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{ c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x,v 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(y) }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44" name="Google Shape;2144;p30"/>
            <p:cNvSpPr/>
            <p:nvPr/>
          </p:nvSpPr>
          <p:spPr>
            <a:xfrm>
              <a:off x="1902542" y="2743199"/>
              <a:ext cx="8686800" cy="2182761"/>
            </a:xfrm>
            <a:prstGeom prst="rect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30"/>
            <p:cNvSpPr txBox="1"/>
            <p:nvPr/>
          </p:nvSpPr>
          <p:spPr>
            <a:xfrm>
              <a:off x="2418735" y="2507226"/>
              <a:ext cx="3047501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Bellman-Ford equation</a:t>
              </a:r>
              <a:endParaRPr/>
            </a:p>
          </p:txBody>
        </p:sp>
      </p:grpSp>
      <p:grpSp>
        <p:nvGrpSpPr>
          <p:cNvPr id="2146" name="Google Shape;2146;p30"/>
          <p:cNvGrpSpPr/>
          <p:nvPr/>
        </p:nvGrpSpPr>
        <p:grpSpPr>
          <a:xfrm>
            <a:off x="882140" y="4742711"/>
            <a:ext cx="4443412" cy="1557316"/>
            <a:chOff x="2040982" y="4374411"/>
            <a:chExt cx="4443412" cy="1557316"/>
          </a:xfrm>
        </p:grpSpPr>
        <p:sp>
          <p:nvSpPr>
            <p:cNvPr id="2147" name="Google Shape;2147;p30"/>
            <p:cNvSpPr txBox="1"/>
            <p:nvPr/>
          </p:nvSpPr>
          <p:spPr>
            <a:xfrm>
              <a:off x="2040982" y="5474527"/>
              <a:ext cx="444341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min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taken over all neighbors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of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cxnSp>
          <p:nvCxnSpPr>
            <p:cNvPr id="2148" name="Google Shape;2148;p30"/>
            <p:cNvCxnSpPr/>
            <p:nvPr/>
          </p:nvCxnSpPr>
          <p:spPr>
            <a:xfrm>
              <a:off x="6409694" y="4374411"/>
              <a:ext cx="0" cy="1357464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49" name="Google Shape;2149;p30"/>
          <p:cNvGrpSpPr/>
          <p:nvPr/>
        </p:nvGrpSpPr>
        <p:grpSpPr>
          <a:xfrm>
            <a:off x="6490417" y="4684735"/>
            <a:ext cx="4855304" cy="1072830"/>
            <a:chOff x="6490417" y="4684735"/>
            <a:chExt cx="4855304" cy="1072830"/>
          </a:xfrm>
        </p:grpSpPr>
        <p:sp>
          <p:nvSpPr>
            <p:cNvPr id="2150" name="Google Shape;2150;p30"/>
            <p:cNvSpPr txBox="1"/>
            <p:nvPr/>
          </p:nvSpPr>
          <p:spPr>
            <a:xfrm>
              <a:off x="6490417" y="5295900"/>
              <a:ext cx="485530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’s estimated least-cost-path cost 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/>
            </a:p>
          </p:txBody>
        </p:sp>
        <p:cxnSp>
          <p:nvCxnSpPr>
            <p:cNvPr id="2151" name="Google Shape;2151;p30"/>
            <p:cNvCxnSpPr/>
            <p:nvPr/>
          </p:nvCxnSpPr>
          <p:spPr>
            <a:xfrm rot="10800000">
              <a:off x="6789107" y="4684735"/>
              <a:ext cx="0" cy="713983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152" name="Google Shape;2152;p30"/>
          <p:cNvGrpSpPr/>
          <p:nvPr/>
        </p:nvGrpSpPr>
        <p:grpSpPr>
          <a:xfrm>
            <a:off x="5898825" y="4749453"/>
            <a:ext cx="3734933" cy="1589812"/>
            <a:chOff x="5898825" y="4749453"/>
            <a:chExt cx="3734933" cy="1589812"/>
          </a:xfrm>
        </p:grpSpPr>
        <p:sp>
          <p:nvSpPr>
            <p:cNvPr id="2153" name="Google Shape;2153;p30"/>
            <p:cNvSpPr txBox="1"/>
            <p:nvPr/>
          </p:nvSpPr>
          <p:spPr>
            <a:xfrm>
              <a:off x="5898825" y="5877600"/>
              <a:ext cx="37349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 cost of link from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x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</p:txBody>
        </p:sp>
        <p:cxnSp>
          <p:nvCxnSpPr>
            <p:cNvPr id="2154" name="Google Shape;2154;p30"/>
            <p:cNvCxnSpPr/>
            <p:nvPr/>
          </p:nvCxnSpPr>
          <p:spPr>
            <a:xfrm rot="10800000">
              <a:off x="5901847" y="4749453"/>
              <a:ext cx="0" cy="1338196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3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Bellman-Ford Example</a:t>
            </a:r>
            <a:endParaRPr/>
          </a:p>
        </p:txBody>
      </p:sp>
      <p:sp>
        <p:nvSpPr>
          <p:cNvPr id="2161" name="Google Shape;2161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2" name="Google Shape;2162;p31"/>
          <p:cNvSpPr/>
          <p:nvPr/>
        </p:nvSpPr>
        <p:spPr>
          <a:xfrm>
            <a:off x="1464895" y="2577601"/>
            <a:ext cx="3571875" cy="2236788"/>
          </a:xfrm>
          <a:custGeom>
            <a:rect b="b" l="l" r="r" t="t"/>
            <a:pathLst>
              <a:path extrusionOk="0" h="1409" w="2250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31"/>
          <p:cNvSpPr/>
          <p:nvPr/>
        </p:nvSpPr>
        <p:spPr>
          <a:xfrm>
            <a:off x="1974545" y="3431326"/>
            <a:ext cx="542925" cy="295275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31"/>
          <p:cNvSpPr/>
          <p:nvPr/>
        </p:nvSpPr>
        <p:spPr>
          <a:xfrm>
            <a:off x="1561795" y="3815501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5" name="Google Shape;2165;p31"/>
          <p:cNvCxnSpPr/>
          <p:nvPr/>
        </p:nvCxnSpPr>
        <p:spPr>
          <a:xfrm>
            <a:off x="1561795" y="38043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6" name="Google Shape;2166;p31"/>
          <p:cNvCxnSpPr/>
          <p:nvPr/>
        </p:nvCxnSpPr>
        <p:spPr>
          <a:xfrm>
            <a:off x="2058683" y="38043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7" name="Google Shape;2167;p31"/>
          <p:cNvSpPr/>
          <p:nvPr/>
        </p:nvSpPr>
        <p:spPr>
          <a:xfrm>
            <a:off x="1561795" y="38043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31"/>
          <p:cNvSpPr/>
          <p:nvPr/>
        </p:nvSpPr>
        <p:spPr>
          <a:xfrm>
            <a:off x="1557033" y="3710726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31"/>
          <p:cNvSpPr/>
          <p:nvPr/>
        </p:nvSpPr>
        <p:spPr>
          <a:xfrm>
            <a:off x="3408058" y="4425101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0" name="Google Shape;2170;p31"/>
          <p:cNvCxnSpPr/>
          <p:nvPr/>
        </p:nvCxnSpPr>
        <p:spPr>
          <a:xfrm>
            <a:off x="3408058" y="44139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31"/>
          <p:cNvCxnSpPr/>
          <p:nvPr/>
        </p:nvCxnSpPr>
        <p:spPr>
          <a:xfrm>
            <a:off x="3904945" y="44139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2" name="Google Shape;2172;p31"/>
          <p:cNvSpPr/>
          <p:nvPr/>
        </p:nvSpPr>
        <p:spPr>
          <a:xfrm>
            <a:off x="3408058" y="44139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31"/>
          <p:cNvSpPr/>
          <p:nvPr/>
        </p:nvSpPr>
        <p:spPr>
          <a:xfrm>
            <a:off x="3403295" y="4320326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31"/>
          <p:cNvSpPr/>
          <p:nvPr/>
        </p:nvSpPr>
        <p:spPr>
          <a:xfrm>
            <a:off x="4304995" y="3883763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5" name="Google Shape;2175;p31"/>
          <p:cNvCxnSpPr/>
          <p:nvPr/>
        </p:nvCxnSpPr>
        <p:spPr>
          <a:xfrm>
            <a:off x="4304995" y="3872651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6" name="Google Shape;2176;p31"/>
          <p:cNvCxnSpPr/>
          <p:nvPr/>
        </p:nvCxnSpPr>
        <p:spPr>
          <a:xfrm>
            <a:off x="4801883" y="3872651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7" name="Google Shape;2177;p31"/>
          <p:cNvSpPr/>
          <p:nvPr/>
        </p:nvSpPr>
        <p:spPr>
          <a:xfrm>
            <a:off x="4304995" y="3872651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31"/>
          <p:cNvSpPr/>
          <p:nvPr/>
        </p:nvSpPr>
        <p:spPr>
          <a:xfrm>
            <a:off x="4300233" y="3778988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31"/>
          <p:cNvSpPr/>
          <p:nvPr/>
        </p:nvSpPr>
        <p:spPr>
          <a:xfrm>
            <a:off x="3655708" y="3474188"/>
            <a:ext cx="1588" cy="828675"/>
          </a:xfrm>
          <a:custGeom>
            <a:rect b="b" l="l" r="r" t="t"/>
            <a:pathLst>
              <a:path extrusionOk="0" h="522" w="1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0" name="Google Shape;2180;p31"/>
          <p:cNvSpPr/>
          <p:nvPr/>
        </p:nvSpPr>
        <p:spPr>
          <a:xfrm>
            <a:off x="2555570" y="3483713"/>
            <a:ext cx="1588" cy="852488"/>
          </a:xfrm>
          <a:custGeom>
            <a:rect b="b" l="l" r="r" t="t"/>
            <a:pathLst>
              <a:path extrusionOk="0" h="537" w="1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31"/>
          <p:cNvSpPr/>
          <p:nvPr/>
        </p:nvSpPr>
        <p:spPr>
          <a:xfrm>
            <a:off x="2817508" y="3459901"/>
            <a:ext cx="800100" cy="952500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31"/>
          <p:cNvSpPr/>
          <p:nvPr/>
        </p:nvSpPr>
        <p:spPr>
          <a:xfrm>
            <a:off x="3908120" y="4012351"/>
            <a:ext cx="581025" cy="428625"/>
          </a:xfrm>
          <a:custGeom>
            <a:rect b="b" l="l" r="r" t="t"/>
            <a:pathLst>
              <a:path extrusionOk="0" h="270" w="366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31"/>
          <p:cNvSpPr/>
          <p:nvPr/>
        </p:nvSpPr>
        <p:spPr>
          <a:xfrm>
            <a:off x="2827033" y="4460026"/>
            <a:ext cx="581025" cy="1588"/>
          </a:xfrm>
          <a:custGeom>
            <a:rect b="b" l="l" r="r" t="t"/>
            <a:pathLst>
              <a:path extrusionOk="0" h="1" w="366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31"/>
          <p:cNvSpPr/>
          <p:nvPr/>
        </p:nvSpPr>
        <p:spPr>
          <a:xfrm>
            <a:off x="1888820" y="3945676"/>
            <a:ext cx="438150" cy="419100"/>
          </a:xfrm>
          <a:custGeom>
            <a:rect b="b" l="l" r="r" t="t"/>
            <a:pathLst>
              <a:path extrusionOk="0" h="264" w="276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31"/>
          <p:cNvSpPr/>
          <p:nvPr/>
        </p:nvSpPr>
        <p:spPr>
          <a:xfrm>
            <a:off x="2817508" y="3364651"/>
            <a:ext cx="581025" cy="1588"/>
          </a:xfrm>
          <a:custGeom>
            <a:rect b="b" l="l" r="r" t="t"/>
            <a:pathLst>
              <a:path extrusionOk="0" h="1" w="366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p31"/>
          <p:cNvSpPr/>
          <p:nvPr/>
        </p:nvSpPr>
        <p:spPr>
          <a:xfrm>
            <a:off x="3889070" y="3359888"/>
            <a:ext cx="628650" cy="423863"/>
          </a:xfrm>
          <a:custGeom>
            <a:rect b="b" l="l" r="r" t="t"/>
            <a:pathLst>
              <a:path extrusionOk="0" h="267" w="396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31"/>
          <p:cNvSpPr/>
          <p:nvPr/>
        </p:nvSpPr>
        <p:spPr>
          <a:xfrm>
            <a:off x="1798333" y="2678851"/>
            <a:ext cx="1762125" cy="1023938"/>
          </a:xfrm>
          <a:custGeom>
            <a:rect b="b" l="l" r="r" t="t"/>
            <a:pathLst>
              <a:path extrusionOk="0" h="645" w="1110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8" name="Google Shape;2188;p31"/>
          <p:cNvGrpSpPr/>
          <p:nvPr/>
        </p:nvGrpSpPr>
        <p:grpSpPr>
          <a:xfrm>
            <a:off x="1639583" y="3628176"/>
            <a:ext cx="325438" cy="396875"/>
            <a:chOff x="2954" y="2425"/>
            <a:chExt cx="208" cy="250"/>
          </a:xfrm>
        </p:grpSpPr>
        <p:sp>
          <p:nvSpPr>
            <p:cNvPr id="2189" name="Google Shape;2189;p31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31"/>
            <p:cNvSpPr txBox="1"/>
            <p:nvPr/>
          </p:nvSpPr>
          <p:spPr>
            <a:xfrm>
              <a:off x="2954" y="2425"/>
              <a:ext cx="2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1" name="Google Shape;2191;p31"/>
          <p:cNvGrpSpPr/>
          <p:nvPr/>
        </p:nvGrpSpPr>
        <p:grpSpPr>
          <a:xfrm>
            <a:off x="3503308" y="4237776"/>
            <a:ext cx="311150" cy="396875"/>
            <a:chOff x="2958" y="2425"/>
            <a:chExt cx="199" cy="250"/>
          </a:xfrm>
        </p:grpSpPr>
        <p:sp>
          <p:nvSpPr>
            <p:cNvPr id="2192" name="Google Shape;2192;p31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31"/>
            <p:cNvSpPr txBox="1"/>
            <p:nvPr/>
          </p:nvSpPr>
          <p:spPr>
            <a:xfrm>
              <a:off x="2958" y="2425"/>
              <a:ext cx="1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4" name="Google Shape;2194;p31"/>
          <p:cNvGrpSpPr/>
          <p:nvPr/>
        </p:nvGrpSpPr>
        <p:grpSpPr>
          <a:xfrm>
            <a:off x="4398658" y="3647226"/>
            <a:ext cx="336550" cy="457200"/>
            <a:chOff x="2949" y="2395"/>
            <a:chExt cx="214" cy="288"/>
          </a:xfrm>
        </p:grpSpPr>
        <p:sp>
          <p:nvSpPr>
            <p:cNvPr id="2195" name="Google Shape;2195;p31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31"/>
            <p:cNvSpPr txBox="1"/>
            <p:nvPr/>
          </p:nvSpPr>
          <p:spPr>
            <a:xfrm>
              <a:off x="2949" y="2395"/>
              <a:ext cx="21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</p:grpSp>
      <p:sp>
        <p:nvSpPr>
          <p:cNvPr id="2197" name="Google Shape;2197;p31"/>
          <p:cNvSpPr txBox="1"/>
          <p:nvPr/>
        </p:nvSpPr>
        <p:spPr>
          <a:xfrm>
            <a:off x="1966608" y="33487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31"/>
          <p:cNvSpPr txBox="1"/>
          <p:nvPr/>
        </p:nvSpPr>
        <p:spPr>
          <a:xfrm>
            <a:off x="2519058" y="3696438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31"/>
          <p:cNvSpPr txBox="1"/>
          <p:nvPr/>
        </p:nvSpPr>
        <p:spPr>
          <a:xfrm>
            <a:off x="1828495" y="40345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0" name="Google Shape;2200;p31"/>
          <p:cNvSpPr txBox="1"/>
          <p:nvPr/>
        </p:nvSpPr>
        <p:spPr>
          <a:xfrm>
            <a:off x="3128658" y="38440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p31"/>
          <p:cNvSpPr txBox="1"/>
          <p:nvPr/>
        </p:nvSpPr>
        <p:spPr>
          <a:xfrm>
            <a:off x="3028645" y="440605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31"/>
          <p:cNvSpPr txBox="1"/>
          <p:nvPr/>
        </p:nvSpPr>
        <p:spPr>
          <a:xfrm>
            <a:off x="3600145" y="3725013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31"/>
          <p:cNvSpPr txBox="1"/>
          <p:nvPr/>
        </p:nvSpPr>
        <p:spPr>
          <a:xfrm>
            <a:off x="4171645" y="4144113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31"/>
          <p:cNvSpPr txBox="1"/>
          <p:nvPr/>
        </p:nvSpPr>
        <p:spPr>
          <a:xfrm>
            <a:off x="4128783" y="329162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31"/>
          <p:cNvSpPr txBox="1"/>
          <p:nvPr/>
        </p:nvSpPr>
        <p:spPr>
          <a:xfrm>
            <a:off x="2961970" y="30535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31"/>
          <p:cNvSpPr txBox="1"/>
          <p:nvPr/>
        </p:nvSpPr>
        <p:spPr>
          <a:xfrm>
            <a:off x="2404758" y="2629638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31"/>
          <p:cNvSpPr txBox="1"/>
          <p:nvPr/>
        </p:nvSpPr>
        <p:spPr>
          <a:xfrm>
            <a:off x="826718" y="1453057"/>
            <a:ext cx="110604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that </a:t>
            </a:r>
            <a:r>
              <a:rPr b="0" i="1" lang="en-US" sz="28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’s neighboring node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s, x,v,w,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 that for destination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z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pSp>
        <p:nvGrpSpPr>
          <p:cNvPr id="2208" name="Google Shape;2208;p31"/>
          <p:cNvGrpSpPr/>
          <p:nvPr/>
        </p:nvGrpSpPr>
        <p:grpSpPr>
          <a:xfrm>
            <a:off x="5954236" y="2228981"/>
            <a:ext cx="4331635" cy="1775026"/>
            <a:chOff x="5954236" y="2228981"/>
            <a:chExt cx="4331635" cy="1775026"/>
          </a:xfrm>
        </p:grpSpPr>
        <p:sp>
          <p:nvSpPr>
            <p:cNvPr id="2209" name="Google Shape;2209;p31"/>
            <p:cNvSpPr txBox="1"/>
            <p:nvPr/>
          </p:nvSpPr>
          <p:spPr>
            <a:xfrm>
              <a:off x="6467193" y="2803678"/>
              <a:ext cx="3595856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min {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u,v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u,x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u,w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/>
            </a:p>
          </p:txBody>
        </p:sp>
        <p:sp>
          <p:nvSpPr>
            <p:cNvPr id="2210" name="Google Shape;2210;p31"/>
            <p:cNvSpPr txBox="1"/>
            <p:nvPr/>
          </p:nvSpPr>
          <p:spPr>
            <a:xfrm>
              <a:off x="5954236" y="2228981"/>
              <a:ext cx="433163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Bellman-Ford equation says:</a:t>
              </a:r>
              <a:endParaRPr/>
            </a:p>
          </p:txBody>
        </p:sp>
      </p:grpSp>
      <p:sp>
        <p:nvSpPr>
          <p:cNvPr id="2211" name="Google Shape;2211;p31"/>
          <p:cNvSpPr/>
          <p:nvPr/>
        </p:nvSpPr>
        <p:spPr>
          <a:xfrm>
            <a:off x="1490598" y="3507287"/>
            <a:ext cx="613776" cy="613776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2" name="Google Shape;2212;p31"/>
          <p:cNvGrpSpPr/>
          <p:nvPr/>
        </p:nvGrpSpPr>
        <p:grpSpPr>
          <a:xfrm>
            <a:off x="764088" y="2192055"/>
            <a:ext cx="1691013" cy="1127342"/>
            <a:chOff x="764088" y="2192055"/>
            <a:chExt cx="1691013" cy="1127342"/>
          </a:xfrm>
        </p:grpSpPr>
        <p:sp>
          <p:nvSpPr>
            <p:cNvPr id="2213" name="Google Shape;2213;p31"/>
            <p:cNvSpPr/>
            <p:nvPr/>
          </p:nvSpPr>
          <p:spPr>
            <a:xfrm>
              <a:off x="851770" y="2630466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4" name="Google Shape;2214;p31"/>
            <p:cNvGrpSpPr/>
            <p:nvPr/>
          </p:nvGrpSpPr>
          <p:grpSpPr>
            <a:xfrm>
              <a:off x="764088" y="2192055"/>
              <a:ext cx="1346844" cy="461665"/>
              <a:chOff x="764088" y="2192055"/>
              <a:chExt cx="1346844" cy="461665"/>
            </a:xfrm>
          </p:grpSpPr>
          <p:sp>
            <p:nvSpPr>
              <p:cNvPr id="2215" name="Google Shape;2215;p31"/>
              <p:cNvSpPr/>
              <p:nvPr/>
            </p:nvSpPr>
            <p:spPr>
              <a:xfrm>
                <a:off x="851770" y="2242159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31"/>
              <p:cNvSpPr txBox="1"/>
              <p:nvPr/>
            </p:nvSpPr>
            <p:spPr>
              <a:xfrm>
                <a:off x="764088" y="2192055"/>
                <a:ext cx="134684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 5</a:t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17" name="Google Shape;2217;p31"/>
          <p:cNvGrpSpPr/>
          <p:nvPr/>
        </p:nvGrpSpPr>
        <p:grpSpPr>
          <a:xfrm>
            <a:off x="2315033" y="3160213"/>
            <a:ext cx="501650" cy="396875"/>
            <a:chOff x="836555" y="3112712"/>
            <a:chExt cx="501650" cy="396875"/>
          </a:xfrm>
        </p:grpSpPr>
        <p:grpSp>
          <p:nvGrpSpPr>
            <p:cNvPr id="2218" name="Google Shape;2218;p31"/>
            <p:cNvGrpSpPr/>
            <p:nvPr/>
          </p:nvGrpSpPr>
          <p:grpSpPr>
            <a:xfrm>
              <a:off x="836555" y="3205962"/>
              <a:ext cx="501650" cy="233363"/>
              <a:chOff x="2303158" y="3229713"/>
              <a:chExt cx="501650" cy="233363"/>
            </a:xfrm>
          </p:grpSpPr>
          <p:sp>
            <p:nvSpPr>
              <p:cNvPr id="2219" name="Google Shape;2219;p31"/>
              <p:cNvSpPr/>
              <p:nvPr/>
            </p:nvSpPr>
            <p:spPr>
              <a:xfrm>
                <a:off x="2307920" y="3334488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20" name="Google Shape;2220;p31"/>
              <p:cNvCxnSpPr/>
              <p:nvPr/>
            </p:nvCxnSpPr>
            <p:spPr>
              <a:xfrm>
                <a:off x="2307920" y="3323376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1" name="Google Shape;2221;p31"/>
              <p:cNvCxnSpPr/>
              <p:nvPr/>
            </p:nvCxnSpPr>
            <p:spPr>
              <a:xfrm>
                <a:off x="2804808" y="3323376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22" name="Google Shape;2222;p31"/>
              <p:cNvSpPr/>
              <p:nvPr/>
            </p:nvSpPr>
            <p:spPr>
              <a:xfrm>
                <a:off x="2307920" y="3323376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3" name="Google Shape;2223;p31"/>
              <p:cNvSpPr/>
              <p:nvPr/>
            </p:nvSpPr>
            <p:spPr>
              <a:xfrm>
                <a:off x="2303158" y="3229713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4" name="Google Shape;2224;p31"/>
            <p:cNvGrpSpPr/>
            <p:nvPr/>
          </p:nvGrpSpPr>
          <p:grpSpPr>
            <a:xfrm>
              <a:off x="929455" y="3112712"/>
              <a:ext cx="311150" cy="396875"/>
              <a:chOff x="2958" y="2425"/>
              <a:chExt cx="199" cy="250"/>
            </a:xfrm>
          </p:grpSpPr>
          <p:sp>
            <p:nvSpPr>
              <p:cNvPr id="2225" name="Google Shape;2225;p3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6" name="Google Shape;2226;p31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27" name="Google Shape;2227;p31"/>
          <p:cNvGrpSpPr/>
          <p:nvPr/>
        </p:nvGrpSpPr>
        <p:grpSpPr>
          <a:xfrm>
            <a:off x="3717682" y="2156537"/>
            <a:ext cx="1617434" cy="1131193"/>
            <a:chOff x="3717682" y="2156537"/>
            <a:chExt cx="1617434" cy="1131193"/>
          </a:xfrm>
        </p:grpSpPr>
        <p:sp>
          <p:nvSpPr>
            <p:cNvPr id="2228" name="Google Shape;2228;p31"/>
            <p:cNvSpPr/>
            <p:nvPr/>
          </p:nvSpPr>
          <p:spPr>
            <a:xfrm flipH="1">
              <a:off x="3717682" y="2598799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29" name="Google Shape;2229;p31"/>
            <p:cNvGrpSpPr/>
            <p:nvPr/>
          </p:nvGrpSpPr>
          <p:grpSpPr>
            <a:xfrm>
              <a:off x="3933770" y="2156537"/>
              <a:ext cx="1401346" cy="461665"/>
              <a:chOff x="5257869" y="2364355"/>
              <a:chExt cx="1401346" cy="461665"/>
            </a:xfrm>
          </p:grpSpPr>
          <p:sp>
            <p:nvSpPr>
              <p:cNvPr id="2230" name="Google Shape;2230;p31"/>
              <p:cNvSpPr/>
              <p:nvPr/>
            </p:nvSpPr>
            <p:spPr>
              <a:xfrm>
                <a:off x="5402893" y="2421699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1" name="Google Shape;2231;p31"/>
              <p:cNvSpPr txBox="1"/>
              <p:nvPr/>
            </p:nvSpPr>
            <p:spPr>
              <a:xfrm>
                <a:off x="5257869" y="2364355"/>
                <a:ext cx="140134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2232" name="Google Shape;2232;p31"/>
          <p:cNvGrpSpPr/>
          <p:nvPr/>
        </p:nvGrpSpPr>
        <p:grpSpPr>
          <a:xfrm>
            <a:off x="3392183" y="3123351"/>
            <a:ext cx="500062" cy="396875"/>
            <a:chOff x="3392183" y="3123351"/>
            <a:chExt cx="500062" cy="396875"/>
          </a:xfrm>
        </p:grpSpPr>
        <p:sp>
          <p:nvSpPr>
            <p:cNvPr id="2233" name="Google Shape;2233;p31"/>
            <p:cNvSpPr/>
            <p:nvPr/>
          </p:nvSpPr>
          <p:spPr>
            <a:xfrm>
              <a:off x="3392183" y="3328138"/>
              <a:ext cx="495300" cy="128588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34" name="Google Shape;2234;p31"/>
            <p:cNvCxnSpPr/>
            <p:nvPr/>
          </p:nvCxnSpPr>
          <p:spPr>
            <a:xfrm>
              <a:off x="3392183" y="3317026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5" name="Google Shape;2235;p31"/>
            <p:cNvCxnSpPr/>
            <p:nvPr/>
          </p:nvCxnSpPr>
          <p:spPr>
            <a:xfrm>
              <a:off x="3887483" y="3317026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36" name="Google Shape;2236;p31"/>
            <p:cNvSpPr/>
            <p:nvPr/>
          </p:nvSpPr>
          <p:spPr>
            <a:xfrm>
              <a:off x="3392183" y="3317026"/>
              <a:ext cx="490538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31"/>
            <p:cNvSpPr/>
            <p:nvPr/>
          </p:nvSpPr>
          <p:spPr>
            <a:xfrm>
              <a:off x="3396945" y="3228126"/>
              <a:ext cx="495300" cy="1508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38" name="Google Shape;2238;p31"/>
            <p:cNvGrpSpPr/>
            <p:nvPr/>
          </p:nvGrpSpPr>
          <p:grpSpPr>
            <a:xfrm>
              <a:off x="3466795" y="3123351"/>
              <a:ext cx="368300" cy="396875"/>
              <a:chOff x="2941" y="2413"/>
              <a:chExt cx="235" cy="250"/>
            </a:xfrm>
          </p:grpSpPr>
          <p:sp>
            <p:nvSpPr>
              <p:cNvPr id="2239" name="Google Shape;2239;p31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0" name="Google Shape;2240;p31"/>
              <p:cNvSpPr txBox="1"/>
              <p:nvPr/>
            </p:nvSpPr>
            <p:spPr>
              <a:xfrm>
                <a:off x="2941" y="2413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41" name="Google Shape;2241;p31"/>
          <p:cNvGrpSpPr/>
          <p:nvPr/>
        </p:nvGrpSpPr>
        <p:grpSpPr>
          <a:xfrm>
            <a:off x="848468" y="4372180"/>
            <a:ext cx="1691740" cy="1106944"/>
            <a:chOff x="848468" y="4372180"/>
            <a:chExt cx="1691740" cy="1106944"/>
          </a:xfrm>
        </p:grpSpPr>
        <p:sp>
          <p:nvSpPr>
            <p:cNvPr id="2242" name="Google Shape;2242;p31"/>
            <p:cNvSpPr/>
            <p:nvPr/>
          </p:nvSpPr>
          <p:spPr>
            <a:xfrm flipH="1" rot="10800000">
              <a:off x="936877" y="4372180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43" name="Google Shape;2243;p31"/>
            <p:cNvGrpSpPr/>
            <p:nvPr/>
          </p:nvGrpSpPr>
          <p:grpSpPr>
            <a:xfrm>
              <a:off x="848468" y="5017459"/>
              <a:ext cx="1342034" cy="461665"/>
              <a:chOff x="296266" y="4536509"/>
              <a:chExt cx="1342034" cy="461665"/>
            </a:xfrm>
          </p:grpSpPr>
          <p:sp>
            <p:nvSpPr>
              <p:cNvPr id="2244" name="Google Shape;2244;p31"/>
              <p:cNvSpPr/>
              <p:nvPr/>
            </p:nvSpPr>
            <p:spPr>
              <a:xfrm>
                <a:off x="398223" y="4576176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31"/>
              <p:cNvSpPr txBox="1"/>
              <p:nvPr/>
            </p:nvSpPr>
            <p:spPr>
              <a:xfrm>
                <a:off x="296266" y="4536509"/>
                <a:ext cx="134203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= 3</a:t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46" name="Google Shape;2246;p31"/>
          <p:cNvGrpSpPr/>
          <p:nvPr/>
        </p:nvGrpSpPr>
        <p:grpSpPr>
          <a:xfrm>
            <a:off x="2309508" y="4185388"/>
            <a:ext cx="501650" cy="457200"/>
            <a:chOff x="2309508" y="4185388"/>
            <a:chExt cx="501650" cy="457200"/>
          </a:xfrm>
        </p:grpSpPr>
        <p:sp>
          <p:nvSpPr>
            <p:cNvPr id="2247" name="Google Shape;2247;p31"/>
            <p:cNvSpPr/>
            <p:nvPr/>
          </p:nvSpPr>
          <p:spPr>
            <a:xfrm>
              <a:off x="2314270" y="4429863"/>
              <a:ext cx="496888" cy="128588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8" name="Google Shape;2248;p31"/>
            <p:cNvCxnSpPr/>
            <p:nvPr/>
          </p:nvCxnSpPr>
          <p:spPr>
            <a:xfrm>
              <a:off x="2314270" y="4418751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9" name="Google Shape;2249;p31"/>
            <p:cNvCxnSpPr/>
            <p:nvPr/>
          </p:nvCxnSpPr>
          <p:spPr>
            <a:xfrm>
              <a:off x="2811158" y="4418751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50" name="Google Shape;2250;p31"/>
            <p:cNvSpPr/>
            <p:nvPr/>
          </p:nvSpPr>
          <p:spPr>
            <a:xfrm>
              <a:off x="2314270" y="4418751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31"/>
            <p:cNvSpPr/>
            <p:nvPr/>
          </p:nvSpPr>
          <p:spPr>
            <a:xfrm>
              <a:off x="2309508" y="4325088"/>
              <a:ext cx="496888" cy="1508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52" name="Google Shape;2252;p31"/>
            <p:cNvGrpSpPr/>
            <p:nvPr/>
          </p:nvGrpSpPr>
          <p:grpSpPr>
            <a:xfrm>
              <a:off x="2409520" y="4185388"/>
              <a:ext cx="336550" cy="457200"/>
              <a:chOff x="2951" y="2395"/>
              <a:chExt cx="213" cy="288"/>
            </a:xfrm>
          </p:grpSpPr>
          <p:sp>
            <p:nvSpPr>
              <p:cNvPr id="2253" name="Google Shape;2253;p31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4" name="Google Shape;2254;p31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</p:grpSp>
      <p:sp>
        <p:nvSpPr>
          <p:cNvPr id="2255" name="Google Shape;2255;p31"/>
          <p:cNvSpPr txBox="1"/>
          <p:nvPr/>
        </p:nvSpPr>
        <p:spPr>
          <a:xfrm>
            <a:off x="7446311" y="3940800"/>
            <a:ext cx="2605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min {2 + 5,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1 + 3,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5 + 3}  = 4</a:t>
            </a:r>
            <a:endParaRPr/>
          </a:p>
        </p:txBody>
      </p:sp>
      <p:grpSp>
        <p:nvGrpSpPr>
          <p:cNvPr id="2256" name="Google Shape;2256;p31"/>
          <p:cNvGrpSpPr/>
          <p:nvPr/>
        </p:nvGrpSpPr>
        <p:grpSpPr>
          <a:xfrm>
            <a:off x="6270932" y="2745287"/>
            <a:ext cx="4777024" cy="3733537"/>
            <a:chOff x="6270932" y="2745287"/>
            <a:chExt cx="4777024" cy="3733537"/>
          </a:xfrm>
        </p:grpSpPr>
        <p:sp>
          <p:nvSpPr>
            <p:cNvPr id="2257" name="Google Shape;2257;p31"/>
            <p:cNvSpPr txBox="1"/>
            <p:nvPr/>
          </p:nvSpPr>
          <p:spPr>
            <a:xfrm>
              <a:off x="6270932" y="5284523"/>
              <a:ext cx="4777024" cy="1194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node achieving minimum (x) is next hop on estimated least-cost path to destination (z)</a:t>
              </a:r>
              <a:endParaRPr/>
            </a:p>
          </p:txBody>
        </p:sp>
        <p:grpSp>
          <p:nvGrpSpPr>
            <p:cNvPr id="2258" name="Google Shape;2258;p31"/>
            <p:cNvGrpSpPr/>
            <p:nvPr/>
          </p:nvGrpSpPr>
          <p:grpSpPr>
            <a:xfrm>
              <a:off x="6465518" y="2745287"/>
              <a:ext cx="3645073" cy="2469715"/>
              <a:chOff x="6465518" y="2745287"/>
              <a:chExt cx="3645073" cy="2469715"/>
            </a:xfrm>
          </p:grpSpPr>
          <p:sp>
            <p:nvSpPr>
              <p:cNvPr id="2259" name="Google Shape;2259;p31"/>
              <p:cNvSpPr/>
              <p:nvPr/>
            </p:nvSpPr>
            <p:spPr>
              <a:xfrm>
                <a:off x="6465518" y="2745287"/>
                <a:ext cx="874734" cy="613776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0" name="Google Shape;2260;p31"/>
              <p:cNvSpPr/>
              <p:nvPr/>
            </p:nvSpPr>
            <p:spPr>
              <a:xfrm>
                <a:off x="9235857" y="4601226"/>
                <a:ext cx="874734" cy="613776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1" name="Google Shape;2261;p31"/>
              <p:cNvSpPr/>
              <p:nvPr/>
            </p:nvSpPr>
            <p:spPr>
              <a:xfrm>
                <a:off x="8098076" y="3187872"/>
                <a:ext cx="1722329" cy="482254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3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 </a:t>
            </a:r>
            <a:endParaRPr/>
          </a:p>
        </p:txBody>
      </p:sp>
      <p:sp>
        <p:nvSpPr>
          <p:cNvPr id="2267" name="Google Shape;2267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8" name="Google Shape;2268;p32"/>
          <p:cNvSpPr txBox="1"/>
          <p:nvPr/>
        </p:nvSpPr>
        <p:spPr>
          <a:xfrm>
            <a:off x="696238" y="1449887"/>
            <a:ext cx="10815181" cy="1380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key idea: 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time-to-time, each node sends its own distance vector estimate to neighbors</a:t>
            </a:r>
            <a:endParaRPr/>
          </a:p>
        </p:txBody>
      </p:sp>
      <p:sp>
        <p:nvSpPr>
          <p:cNvPr id="2269" name="Google Shape;2269;p32"/>
          <p:cNvSpPr/>
          <p:nvPr/>
        </p:nvSpPr>
        <p:spPr>
          <a:xfrm>
            <a:off x="824173" y="4778050"/>
            <a:ext cx="1067471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minor, natural conditions, the estimate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 converge to the actual least cost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2270" name="Google Shape;2270;p32"/>
          <p:cNvGrpSpPr/>
          <p:nvPr/>
        </p:nvGrpSpPr>
        <p:grpSpPr>
          <a:xfrm>
            <a:off x="648222" y="2792259"/>
            <a:ext cx="10815181" cy="1412234"/>
            <a:chOff x="648222" y="2792259"/>
            <a:chExt cx="10815181" cy="1412234"/>
          </a:xfrm>
        </p:grpSpPr>
        <p:sp>
          <p:nvSpPr>
            <p:cNvPr id="2271" name="Google Shape;2271;p32"/>
            <p:cNvSpPr/>
            <p:nvPr/>
          </p:nvSpPr>
          <p:spPr>
            <a:xfrm>
              <a:off x="2556528" y="3681273"/>
              <a:ext cx="67094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(y) ← min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{c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x,v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+ D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(y)} 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 each node 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∊ 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/>
            </a:p>
          </p:txBody>
        </p:sp>
        <p:sp>
          <p:nvSpPr>
            <p:cNvPr id="2272" name="Google Shape;2272;p32"/>
            <p:cNvSpPr txBox="1"/>
            <p:nvPr/>
          </p:nvSpPr>
          <p:spPr>
            <a:xfrm>
              <a:off x="648222" y="2792259"/>
              <a:ext cx="10815181" cy="10156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30200" lvl="0" marL="4603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when 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receives new DV estimate from any neighbor, it updates its own DV using B-F equation: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3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algorithm:  </a:t>
            </a:r>
            <a:endParaRPr/>
          </a:p>
        </p:txBody>
      </p:sp>
      <p:sp>
        <p:nvSpPr>
          <p:cNvPr id="2278" name="Google Shape;2278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9" name="Google Shape;2279;p33"/>
          <p:cNvSpPr txBox="1"/>
          <p:nvPr/>
        </p:nvSpPr>
        <p:spPr>
          <a:xfrm>
            <a:off x="6173635" y="1530372"/>
            <a:ext cx="5400414" cy="1976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iterative, asynchronous: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local iteration caused by: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link cost change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 update message from neighbor</a:t>
            </a:r>
            <a:endParaRPr/>
          </a:p>
        </p:txBody>
      </p:sp>
      <p:sp>
        <p:nvSpPr>
          <p:cNvPr id="2280" name="Google Shape;2280;p33"/>
          <p:cNvSpPr txBox="1"/>
          <p:nvPr/>
        </p:nvSpPr>
        <p:spPr>
          <a:xfrm>
            <a:off x="1077577" y="2097023"/>
            <a:ext cx="4622104" cy="2345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(change in local link cost or msg from neighbor)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1" name="Google Shape;2281;p33"/>
          <p:cNvSpPr txBox="1"/>
          <p:nvPr/>
        </p:nvSpPr>
        <p:spPr>
          <a:xfrm>
            <a:off x="977032" y="1397588"/>
            <a:ext cx="20313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each node:</a:t>
            </a:r>
            <a:endParaRPr/>
          </a:p>
        </p:txBody>
      </p:sp>
      <p:sp>
        <p:nvSpPr>
          <p:cNvPr id="2282" name="Google Shape;2282;p33"/>
          <p:cNvSpPr txBox="1"/>
          <p:nvPr/>
        </p:nvSpPr>
        <p:spPr>
          <a:xfrm>
            <a:off x="6138145" y="3549151"/>
            <a:ext cx="4936951" cy="2914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distributed, self-stopping: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node notifies neighbors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when its DV changes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neighbors then notify their neighbors –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if necessary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notification received, no actions taken!</a:t>
            </a:r>
            <a:endParaRPr/>
          </a:p>
        </p:txBody>
      </p:sp>
      <p:grpSp>
        <p:nvGrpSpPr>
          <p:cNvPr id="2283" name="Google Shape;2283;p33"/>
          <p:cNvGrpSpPr/>
          <p:nvPr/>
        </p:nvGrpSpPr>
        <p:grpSpPr>
          <a:xfrm>
            <a:off x="1092191" y="3294344"/>
            <a:ext cx="4622104" cy="1554474"/>
            <a:chOff x="1317659" y="3169084"/>
            <a:chExt cx="4622104" cy="1554474"/>
          </a:xfrm>
        </p:grpSpPr>
        <p:cxnSp>
          <p:nvCxnSpPr>
            <p:cNvPr id="2284" name="Google Shape;2284;p33"/>
            <p:cNvCxnSpPr/>
            <p:nvPr/>
          </p:nvCxnSpPr>
          <p:spPr>
            <a:xfrm>
              <a:off x="3601463" y="3169084"/>
              <a:ext cx="0" cy="422581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85" name="Google Shape;2285;p33"/>
            <p:cNvSpPr txBox="1"/>
            <p:nvPr/>
          </p:nvSpPr>
          <p:spPr>
            <a:xfrm>
              <a:off x="1317659" y="3301630"/>
              <a:ext cx="4622104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recompute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DV estimates using DV received from neighbor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6" name="Google Shape;2286;p33"/>
          <p:cNvGrpSpPr/>
          <p:nvPr/>
        </p:nvGrpSpPr>
        <p:grpSpPr>
          <a:xfrm>
            <a:off x="1054612" y="4521895"/>
            <a:ext cx="4622104" cy="1284197"/>
            <a:chOff x="1280080" y="4396635"/>
            <a:chExt cx="4622104" cy="1284197"/>
          </a:xfrm>
        </p:grpSpPr>
        <p:cxnSp>
          <p:nvCxnSpPr>
            <p:cNvPr id="2287" name="Google Shape;2287;p33"/>
            <p:cNvCxnSpPr/>
            <p:nvPr/>
          </p:nvCxnSpPr>
          <p:spPr>
            <a:xfrm>
              <a:off x="3578268" y="4396635"/>
              <a:ext cx="0" cy="439673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88" name="Google Shape;2288;p33"/>
            <p:cNvSpPr txBox="1"/>
            <p:nvPr/>
          </p:nvSpPr>
          <p:spPr>
            <a:xfrm>
              <a:off x="1280080" y="4535903"/>
              <a:ext cx="4622104" cy="1144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if DV to any destination has changed,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notify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neighbors </a:t>
              </a:r>
              <a:endParaRPr/>
            </a:p>
          </p:txBody>
        </p:sp>
      </p:grpSp>
      <p:cxnSp>
        <p:nvCxnSpPr>
          <p:cNvPr id="2289" name="Google Shape;2289;p33"/>
          <p:cNvCxnSpPr/>
          <p:nvPr/>
        </p:nvCxnSpPr>
        <p:spPr>
          <a:xfrm rot="10800000">
            <a:off x="3369501" y="5718132"/>
            <a:ext cx="0" cy="454068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0" name="Google Shape;2290;p33"/>
          <p:cNvCxnSpPr/>
          <p:nvPr/>
        </p:nvCxnSpPr>
        <p:spPr>
          <a:xfrm>
            <a:off x="3352800" y="2179529"/>
            <a:ext cx="0" cy="33820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91" name="Google Shape;2291;p33"/>
          <p:cNvCxnSpPr/>
          <p:nvPr/>
        </p:nvCxnSpPr>
        <p:spPr>
          <a:xfrm>
            <a:off x="1052186" y="6172200"/>
            <a:ext cx="23006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2" name="Google Shape;2292;p33"/>
          <p:cNvCxnSpPr/>
          <p:nvPr/>
        </p:nvCxnSpPr>
        <p:spPr>
          <a:xfrm>
            <a:off x="1052186" y="2178485"/>
            <a:ext cx="23006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3" name="Google Shape;2293;p33"/>
          <p:cNvCxnSpPr/>
          <p:nvPr/>
        </p:nvCxnSpPr>
        <p:spPr>
          <a:xfrm>
            <a:off x="1039660" y="2167003"/>
            <a:ext cx="0" cy="40051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9" name="Google Shape;2299;p34"/>
          <p:cNvGrpSpPr/>
          <p:nvPr/>
        </p:nvGrpSpPr>
        <p:grpSpPr>
          <a:xfrm>
            <a:off x="2822712" y="1130710"/>
            <a:ext cx="1552644" cy="2620631"/>
            <a:chOff x="3216002" y="1012723"/>
            <a:chExt cx="1552644" cy="2620631"/>
          </a:xfrm>
        </p:grpSpPr>
        <p:sp>
          <p:nvSpPr>
            <p:cNvPr id="2300" name="Google Shape;2300;p34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01" name="Google Shape;2301;p34"/>
            <p:cNvGrpSpPr/>
            <p:nvPr/>
          </p:nvGrpSpPr>
          <p:grpSpPr>
            <a:xfrm>
              <a:off x="3216002" y="1012723"/>
              <a:ext cx="1130292" cy="2620631"/>
              <a:chOff x="3216002" y="1012723"/>
              <a:chExt cx="1130292" cy="2620631"/>
            </a:xfrm>
          </p:grpSpPr>
          <p:sp>
            <p:nvSpPr>
              <p:cNvPr id="2302" name="Google Shape;2302;p34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03" name="Google Shape;2303;p34"/>
              <p:cNvGrpSpPr/>
              <p:nvPr/>
            </p:nvGrpSpPr>
            <p:grpSpPr>
              <a:xfrm>
                <a:off x="3216002" y="1017253"/>
                <a:ext cx="1130292" cy="2616101"/>
                <a:chOff x="9472118" y="702026"/>
                <a:chExt cx="1130292" cy="2616101"/>
              </a:xfrm>
            </p:grpSpPr>
            <p:sp>
              <p:nvSpPr>
                <p:cNvPr id="2304" name="Google Shape;2304;p34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5" name="Google Shape;2305;p34"/>
                <p:cNvSpPr txBox="1"/>
                <p:nvPr/>
              </p:nvSpPr>
              <p:spPr>
                <a:xfrm>
                  <a:off x="947211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306" name="Google Shape;2306;p34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307" name="Google Shape;2307;p34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308" name="Google Shape;2308;p34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example</a:t>
            </a:r>
            <a:endParaRPr/>
          </a:p>
        </p:txBody>
      </p:sp>
      <p:sp>
        <p:nvSpPr>
          <p:cNvPr id="2309" name="Google Shape;2309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10" name="Google Shape;2310;p34"/>
          <p:cNvCxnSpPr>
            <a:stCxn id="2311" idx="2"/>
            <a:endCxn id="2311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12" name="Google Shape;2312;p34"/>
          <p:cNvCxnSpPr>
            <a:stCxn id="2311" idx="1"/>
            <a:endCxn id="2311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1" name="Google Shape;2311;p34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34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4" name="Google Shape;2314;p34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315" name="Google Shape;2315;p3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316" name="Google Shape;2316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17" name="Google Shape;2317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18" name="Google Shape;2318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19" name="Google Shape;2319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20" name="Google Shape;2320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1" name="Google Shape;2321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22" name="Google Shape;2322;p3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323" name="Google Shape;2323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4" name="Google Shape;2324;p3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25" name="Google Shape;2325;p3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326" name="Google Shape;2326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27" name="Google Shape;2327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28" name="Google Shape;2328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29" name="Google Shape;2329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30" name="Google Shape;2330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1" name="Google Shape;2331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32" name="Google Shape;2332;p3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333" name="Google Shape;2333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4" name="Google Shape;2334;p3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35" name="Google Shape;2335;p3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336" name="Google Shape;2336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37" name="Google Shape;2337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38" name="Google Shape;2338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39" name="Google Shape;2339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40" name="Google Shape;2340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1" name="Google Shape;2341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42" name="Google Shape;2342;p34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343" name="Google Shape;2343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4" name="Google Shape;2344;p34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345" name="Google Shape;2345;p34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6" name="Google Shape;2346;p34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7" name="Google Shape;2347;p34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8" name="Google Shape;2348;p34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9" name="Google Shape;2349;p34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0" name="Google Shape;2350;p34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1" name="Google Shape;2351;p34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2" name="Google Shape;2352;p34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3" name="Google Shape;2353;p34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4" name="Google Shape;2354;p34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355" name="Google Shape;2355;p34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2356" name="Google Shape;2356;p34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357" name="Google Shape;2357;p34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t=0</a:t>
              </a:r>
              <a:endParaRPr/>
            </a:p>
          </p:txBody>
        </p:sp>
        <p:grpSp>
          <p:nvGrpSpPr>
            <p:cNvPr id="2358" name="Google Shape;2358;p34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359" name="Google Shape;2359;p34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60" name="Google Shape;2360;p34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1" name="Google Shape;2361;p34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2" name="Google Shape;2362;p34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3" name="Google Shape;2363;p34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4" name="Google Shape;2364;p34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5" name="Google Shape;2365;p34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6" name="Google Shape;2366;p34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7" name="Google Shape;2367;p34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8" name="Google Shape;2368;p34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9" name="Google Shape;2369;p34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0" name="Google Shape;2370;p34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1" name="Google Shape;2371;p34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372" name="Google Shape;2372;p34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73" name="Google Shape;2373;p34"/>
              <p:cNvCxnSpPr/>
              <p:nvPr/>
            </p:nvCxnSpPr>
            <p:spPr>
              <a:xfrm>
                <a:off x="10372725" y="3548510"/>
                <a:ext cx="0" cy="207515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374" name="Google Shape;2374;p34"/>
          <p:cNvSpPr txBox="1"/>
          <p:nvPr/>
        </p:nvSpPr>
        <p:spPr>
          <a:xfrm flipH="1">
            <a:off x="427284" y="3275636"/>
            <a:ext cx="219581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have distance estimates to nearest neighbors (only)</a:t>
            </a:r>
            <a:endParaRPr/>
          </a:p>
        </p:txBody>
      </p:sp>
      <p:grpSp>
        <p:nvGrpSpPr>
          <p:cNvPr id="2375" name="Google Shape;2375;p34"/>
          <p:cNvGrpSpPr/>
          <p:nvPr/>
        </p:nvGrpSpPr>
        <p:grpSpPr>
          <a:xfrm>
            <a:off x="5663694" y="2293717"/>
            <a:ext cx="5624685" cy="2298788"/>
            <a:chOff x="5663694" y="2293717"/>
            <a:chExt cx="5624685" cy="2298788"/>
          </a:xfrm>
        </p:grpSpPr>
        <p:sp>
          <p:nvSpPr>
            <p:cNvPr id="2376" name="Google Shape;2376;p34"/>
            <p:cNvSpPr txBox="1"/>
            <p:nvPr/>
          </p:nvSpPr>
          <p:spPr>
            <a:xfrm>
              <a:off x="9259747" y="3669175"/>
              <a:ext cx="2028632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few asymmetries: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missing link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larger cost</a:t>
              </a:r>
              <a:endParaRPr/>
            </a:p>
          </p:txBody>
        </p:sp>
        <p:cxnSp>
          <p:nvCxnSpPr>
            <p:cNvPr id="2377" name="Google Shape;2377;p34"/>
            <p:cNvCxnSpPr/>
            <p:nvPr/>
          </p:nvCxnSpPr>
          <p:spPr>
            <a:xfrm rot="10800000">
              <a:off x="8414795" y="3032568"/>
              <a:ext cx="995423" cy="1111169"/>
            </a:xfrm>
            <a:prstGeom prst="straightConnector1">
              <a:avLst/>
            </a:prstGeom>
            <a:noFill/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78" name="Google Shape;2378;p34"/>
            <p:cNvCxnSpPr/>
            <p:nvPr/>
          </p:nvCxnSpPr>
          <p:spPr>
            <a:xfrm rot="10800000">
              <a:off x="5663694" y="2293717"/>
              <a:ext cx="3726112" cy="2091470"/>
            </a:xfrm>
            <a:prstGeom prst="straightConnector1">
              <a:avLst/>
            </a:prstGeom>
            <a:noFill/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379" name="Google Shape;2379;p34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p34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1" name="Google Shape;2381;p34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34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34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34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34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34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34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34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p34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34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1" name="Google Shape;2391;p34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392" name="Google Shape;2392;p3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393" name="Google Shape;2393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94" name="Google Shape;2394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95" name="Google Shape;2395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96" name="Google Shape;2396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97" name="Google Shape;2397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8" name="Google Shape;2398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99" name="Google Shape;2399;p3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400" name="Google Shape;2400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1" name="Google Shape;2401;p3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02" name="Google Shape;2402;p3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403" name="Google Shape;2403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04" name="Google Shape;2404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05" name="Google Shape;2405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06" name="Google Shape;2406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07" name="Google Shape;2407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8" name="Google Shape;2408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09" name="Google Shape;2409;p3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410" name="Google Shape;2410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1" name="Google Shape;2411;p3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12" name="Google Shape;2412;p3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413" name="Google Shape;2413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14" name="Google Shape;2414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15" name="Google Shape;2415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16" name="Google Shape;2416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17" name="Google Shape;2417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8" name="Google Shape;2418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19" name="Google Shape;2419;p34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420" name="Google Shape;2420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1" name="Google Shape;2421;p34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422" name="Google Shape;2422;p34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423" name="Google Shape;2423;p3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424" name="Google Shape;2424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25" name="Google Shape;2425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26" name="Google Shape;2426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27" name="Google Shape;2427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28" name="Google Shape;2428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9" name="Google Shape;2429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30" name="Google Shape;2430;p3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431" name="Google Shape;2431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2" name="Google Shape;2432;p3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33" name="Google Shape;2433;p3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434" name="Google Shape;2434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35" name="Google Shape;2435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36" name="Google Shape;2436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7" name="Google Shape;2437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38" name="Google Shape;2438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9" name="Google Shape;2439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40" name="Google Shape;2440;p3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441" name="Google Shape;2441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2" name="Google Shape;2442;p3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43" name="Google Shape;2443;p3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444" name="Google Shape;2444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45" name="Google Shape;2445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46" name="Google Shape;2446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47" name="Google Shape;2447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48" name="Google Shape;2448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9" name="Google Shape;2449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50" name="Google Shape;2450;p34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451" name="Google Shape;2451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2" name="Google Shape;2452;p34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453" name="Google Shape;2453;p34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4" name="Google Shape;2454;p34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34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34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34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34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34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34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34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34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34"/>
          <p:cNvSpPr txBox="1"/>
          <p:nvPr/>
        </p:nvSpPr>
        <p:spPr>
          <a:xfrm flipH="1">
            <a:off x="435306" y="4375569"/>
            <a:ext cx="219581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send their local distance vector to their neighbors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8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p35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2470" name="Google Shape;2470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1" name="Google Shape;2471;p35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2472" name="Google Shape;2472;p35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473" name="Google Shape;2473;p35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2474" name="Google Shape;2474;p35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475" name="Google Shape;2475;p35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76" name="Google Shape;2476;p35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7" name="Google Shape;2477;p35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8" name="Google Shape;2478;p35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9" name="Google Shape;2479;p35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0" name="Google Shape;2480;p35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1" name="Google Shape;2481;p35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2" name="Google Shape;2482;p35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3" name="Google Shape;2483;p35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4" name="Google Shape;2484;p35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5" name="Google Shape;2485;p35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6" name="Google Shape;2486;p35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7" name="Google Shape;2487;p35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488" name="Google Shape;2488;p35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89" name="Google Shape;2489;p35"/>
              <p:cNvCxnSpPr/>
              <p:nvPr/>
            </p:nvCxnSpPr>
            <p:spPr>
              <a:xfrm flipH="1">
                <a:off x="10361752" y="3564494"/>
                <a:ext cx="137579" cy="23176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2490" name="Google Shape;2490;p35"/>
          <p:cNvCxnSpPr>
            <a:stCxn id="2491" idx="2"/>
            <a:endCxn id="2491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92" name="Google Shape;2492;p35"/>
          <p:cNvCxnSpPr>
            <a:stCxn id="2491" idx="1"/>
            <a:endCxn id="2491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1" name="Google Shape;2491;p35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35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4" name="Google Shape;2494;p35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495" name="Google Shape;2495;p3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496" name="Google Shape;2496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97" name="Google Shape;2497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98" name="Google Shape;2498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9" name="Google Shape;2499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00" name="Google Shape;2500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1" name="Google Shape;2501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02" name="Google Shape;2502;p3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503" name="Google Shape;2503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4" name="Google Shape;2504;p3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05" name="Google Shape;2505;p3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06" name="Google Shape;2506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07" name="Google Shape;2507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08" name="Google Shape;2508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9" name="Google Shape;2509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10" name="Google Shape;2510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1" name="Google Shape;2511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12" name="Google Shape;2512;p3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13" name="Google Shape;2513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4" name="Google Shape;2514;p3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15" name="Google Shape;2515;p3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516" name="Google Shape;2516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17" name="Google Shape;2517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18" name="Google Shape;2518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19" name="Google Shape;2519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20" name="Google Shape;2520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1" name="Google Shape;2521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22" name="Google Shape;2522;p35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523" name="Google Shape;2523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4" name="Google Shape;2524;p35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525" name="Google Shape;2525;p35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6" name="Google Shape;2526;p35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7" name="Google Shape;2527;p35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8" name="Google Shape;2528;p35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9" name="Google Shape;2529;p35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0" name="Google Shape;2530;p35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1" name="Google Shape;2531;p35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2" name="Google Shape;2532;p35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3" name="Google Shape;2533;p35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4" name="Google Shape;2534;p35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535" name="Google Shape;2535;p35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6" name="Google Shape;2536;p35"/>
          <p:cNvSpPr/>
          <p:nvPr/>
        </p:nvSpPr>
        <p:spPr>
          <a:xfrm flipH="1"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p35"/>
          <p:cNvSpPr/>
          <p:nvPr/>
        </p:nvSpPr>
        <p:spPr>
          <a:xfrm flipH="1"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35"/>
          <p:cNvSpPr/>
          <p:nvPr/>
        </p:nvSpPr>
        <p:spPr>
          <a:xfrm flipH="1"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35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35"/>
          <p:cNvSpPr/>
          <p:nvPr/>
        </p:nvSpPr>
        <p:spPr>
          <a:xfrm flipH="1"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35"/>
          <p:cNvSpPr/>
          <p:nvPr/>
        </p:nvSpPr>
        <p:spPr>
          <a:xfrm flipH="1"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35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3" name="Google Shape;2543;p35"/>
          <p:cNvSpPr/>
          <p:nvPr/>
        </p:nvSpPr>
        <p:spPr>
          <a:xfrm flipH="1"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35"/>
          <p:cNvSpPr/>
          <p:nvPr/>
        </p:nvSpPr>
        <p:spPr>
          <a:xfrm flipH="1"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5" name="Google Shape;2545;p35"/>
          <p:cNvSpPr/>
          <p:nvPr/>
        </p:nvSpPr>
        <p:spPr>
          <a:xfrm flipH="1"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35"/>
          <p:cNvSpPr/>
          <p:nvPr/>
        </p:nvSpPr>
        <p:spPr>
          <a:xfrm flipH="1"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7" name="Google Shape;2547;p35"/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8" name="Google Shape;2548;p35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549" name="Google Shape;2549;p3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550" name="Google Shape;2550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51" name="Google Shape;2551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52" name="Google Shape;2552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3" name="Google Shape;2553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54" name="Google Shape;2554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5" name="Google Shape;2555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56" name="Google Shape;2556;p3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557" name="Google Shape;2557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8" name="Google Shape;2558;p3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59" name="Google Shape;2559;p3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60" name="Google Shape;2560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61" name="Google Shape;2561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62" name="Google Shape;2562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63" name="Google Shape;2563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64" name="Google Shape;2564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5" name="Google Shape;2565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66" name="Google Shape;2566;p3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67" name="Google Shape;2567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8" name="Google Shape;2568;p3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69" name="Google Shape;2569;p3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570" name="Google Shape;2570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71" name="Google Shape;2571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72" name="Google Shape;2572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73" name="Google Shape;2573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74" name="Google Shape;2574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5" name="Google Shape;2575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76" name="Google Shape;2576;p35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577" name="Google Shape;2577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8" name="Google Shape;2578;p35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579" name="Google Shape;2579;p35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580" name="Google Shape;2580;p3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581" name="Google Shape;2581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82" name="Google Shape;2582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83" name="Google Shape;2583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84" name="Google Shape;2584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85" name="Google Shape;2585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6" name="Google Shape;2586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87" name="Google Shape;2587;p3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588" name="Google Shape;2588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9" name="Google Shape;2589;p3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90" name="Google Shape;2590;p3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91" name="Google Shape;2591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92" name="Google Shape;2592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93" name="Google Shape;2593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4" name="Google Shape;2594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95" name="Google Shape;2595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6" name="Google Shape;2596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97" name="Google Shape;2597;p3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98" name="Google Shape;2598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9" name="Google Shape;2599;p3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00" name="Google Shape;2600;p3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601" name="Google Shape;2601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02" name="Google Shape;2602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03" name="Google Shape;2603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4" name="Google Shape;2604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05" name="Google Shape;2605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6" name="Google Shape;2606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07" name="Google Shape;2607;p35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608" name="Google Shape;2608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9" name="Google Shape;2609;p35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610" name="Google Shape;2610;p35"/>
          <p:cNvSpPr/>
          <p:nvPr/>
        </p:nvSpPr>
        <p:spPr>
          <a:xfrm flipH="1"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1" name="Google Shape;2611;p35"/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2" name="Google Shape;2612;p35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35"/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4" name="Google Shape;2614;p35"/>
          <p:cNvSpPr/>
          <p:nvPr/>
        </p:nvSpPr>
        <p:spPr>
          <a:xfrm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5" name="Google Shape;2615;p35"/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6" name="Google Shape;2616;p35"/>
          <p:cNvSpPr/>
          <p:nvPr/>
        </p:nvSpPr>
        <p:spPr>
          <a:xfrm flipH="1"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p35"/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8" name="Google Shape;2618;p35"/>
          <p:cNvSpPr/>
          <p:nvPr/>
        </p:nvSpPr>
        <p:spPr>
          <a:xfrm flipH="1"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9" name="Google Shape;2619;p35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p36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2626" name="Google Shape;2626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27" name="Google Shape;2627;p36"/>
          <p:cNvCxnSpPr>
            <a:stCxn id="2628" idx="2"/>
            <a:endCxn id="2628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29" name="Google Shape;2629;p36"/>
          <p:cNvCxnSpPr>
            <a:stCxn id="2628" idx="1"/>
            <a:endCxn id="2628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28" name="Google Shape;2628;p36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p36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1" name="Google Shape;2631;p36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632" name="Google Shape;2632;p3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33" name="Google Shape;2633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34" name="Google Shape;2634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35" name="Google Shape;2635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36" name="Google Shape;2636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37" name="Google Shape;2637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8" name="Google Shape;2638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39" name="Google Shape;2639;p3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640" name="Google Shape;2640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1" name="Google Shape;2641;p3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42" name="Google Shape;2642;p3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643" name="Google Shape;2643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44" name="Google Shape;2644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45" name="Google Shape;2645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46" name="Google Shape;2646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47" name="Google Shape;2647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8" name="Google Shape;2648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49" name="Google Shape;2649;p3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650" name="Google Shape;2650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1" name="Google Shape;2651;p3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52" name="Google Shape;2652;p3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653" name="Google Shape;2653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54" name="Google Shape;2654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55" name="Google Shape;2655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56" name="Google Shape;2656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57" name="Google Shape;2657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8" name="Google Shape;2658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59" name="Google Shape;2659;p36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660" name="Google Shape;2660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1" name="Google Shape;2661;p36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662" name="Google Shape;2662;p36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3" name="Google Shape;2663;p36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4" name="Google Shape;2664;p36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5" name="Google Shape;2665;p36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6" name="Google Shape;2666;p36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7" name="Google Shape;2667;p36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8" name="Google Shape;2668;p36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9" name="Google Shape;2669;p36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70" name="Google Shape;2670;p36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71" name="Google Shape;2671;p36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672" name="Google Shape;2672;p36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2673" name="Google Shape;2673;p36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674" name="Google Shape;2674;p3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75" name="Google Shape;2675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76" name="Google Shape;2676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77" name="Google Shape;2677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78" name="Google Shape;2678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79" name="Google Shape;2679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0" name="Google Shape;2680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81" name="Google Shape;2681;p3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682" name="Google Shape;2682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3" name="Google Shape;2683;p3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84" name="Google Shape;2684;p3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685" name="Google Shape;2685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86" name="Google Shape;2686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87" name="Google Shape;2687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88" name="Google Shape;2688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89" name="Google Shape;2689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0" name="Google Shape;2690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91" name="Google Shape;2691;p3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692" name="Google Shape;2692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3" name="Google Shape;2693;p3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94" name="Google Shape;2694;p3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695" name="Google Shape;2695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96" name="Google Shape;2696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97" name="Google Shape;2697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98" name="Google Shape;2698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99" name="Google Shape;2699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0" name="Google Shape;2700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01" name="Google Shape;2701;p36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702" name="Google Shape;2702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3" name="Google Shape;2703;p36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704" name="Google Shape;2704;p36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705" name="Google Shape;2705;p3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706" name="Google Shape;2706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07" name="Google Shape;2707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08" name="Google Shape;2708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09" name="Google Shape;2709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10" name="Google Shape;2710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1" name="Google Shape;2711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12" name="Google Shape;2712;p3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713" name="Google Shape;2713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4" name="Google Shape;2714;p3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15" name="Google Shape;2715;p3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716" name="Google Shape;2716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17" name="Google Shape;2717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18" name="Google Shape;2718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19" name="Google Shape;2719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20" name="Google Shape;2720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1" name="Google Shape;2721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22" name="Google Shape;2722;p3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723" name="Google Shape;2723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4" name="Google Shape;2724;p3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25" name="Google Shape;2725;p3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726" name="Google Shape;2726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27" name="Google Shape;2727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28" name="Google Shape;2728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29" name="Google Shape;2729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30" name="Google Shape;2730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1" name="Google Shape;2731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32" name="Google Shape;2732;p36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733" name="Google Shape;2733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4" name="Google Shape;2734;p36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735" name="Google Shape;2735;p36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2736" name="Google Shape;2736;p36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737" name="Google Shape;2737;p36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2738" name="Google Shape;2738;p36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739" name="Google Shape;2739;p36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40" name="Google Shape;2740;p36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1" name="Google Shape;2741;p36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2" name="Google Shape;2742;p36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3" name="Google Shape;2743;p36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4" name="Google Shape;2744;p36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5" name="Google Shape;2745;p36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6" name="Google Shape;2746;p36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7" name="Google Shape;2747;p36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8" name="Google Shape;2748;p36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9" name="Google Shape;2749;p36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0" name="Google Shape;2750;p36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1" name="Google Shape;2751;p36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752" name="Google Shape;2752;p36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3" name="Google Shape;2753;p36"/>
          <p:cNvGrpSpPr/>
          <p:nvPr/>
        </p:nvGrpSpPr>
        <p:grpSpPr>
          <a:xfrm>
            <a:off x="3972233" y="1627242"/>
            <a:ext cx="5089626" cy="4955455"/>
            <a:chOff x="3982064" y="1612491"/>
            <a:chExt cx="5089626" cy="4955455"/>
          </a:xfrm>
        </p:grpSpPr>
        <p:grpSp>
          <p:nvGrpSpPr>
            <p:cNvPr id="2754" name="Google Shape;2754;p36"/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2755" name="Google Shape;2755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6" name="Google Shape;2756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57" name="Google Shape;2757;p36"/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2758" name="Google Shape;2758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0" name="Google Shape;2760;p36"/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2761" name="Google Shape;2761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2" name="Google Shape;2762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3" name="Google Shape;2763;p36"/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2764" name="Google Shape;2764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5" name="Google Shape;2765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6" name="Google Shape;2766;p36"/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767" name="Google Shape;2767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8" name="Google Shape;2768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9" name="Google Shape;2769;p36"/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770" name="Google Shape;2770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1" name="Google Shape;2771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72" name="Google Shape;2772;p36"/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773" name="Google Shape;2773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75" name="Google Shape;2775;p36"/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776" name="Google Shape;2776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7" name="Google Shape;2777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78" name="Google Shape;2778;p36"/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779" name="Google Shape;2779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0" name="Google Shape;2780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</p:grpSp>
      <p:cxnSp>
        <p:nvCxnSpPr>
          <p:cNvPr id="2781" name="Google Shape;2781;p36"/>
          <p:cNvCxnSpPr/>
          <p:nvPr/>
        </p:nvCxnSpPr>
        <p:spPr>
          <a:xfrm flipH="1">
            <a:off x="901961" y="1975104"/>
            <a:ext cx="151428" cy="257429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6" name="Shape 2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7" name="Google Shape;2787;p37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2788" name="Google Shape;2788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89" name="Google Shape;2789;p37"/>
          <p:cNvCxnSpPr>
            <a:stCxn id="2790" idx="2"/>
            <a:endCxn id="279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1" name="Google Shape;2791;p37"/>
          <p:cNvCxnSpPr>
            <a:stCxn id="2790" idx="1"/>
            <a:endCxn id="279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90" name="Google Shape;2790;p37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2" name="Google Shape;2792;p37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93" name="Google Shape;2793;p37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794" name="Google Shape;2794;p3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795" name="Google Shape;2795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96" name="Google Shape;2796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97" name="Google Shape;2797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98" name="Google Shape;2798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99" name="Google Shape;2799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0" name="Google Shape;2800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01" name="Google Shape;2801;p3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02" name="Google Shape;2802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3" name="Google Shape;2803;p3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04" name="Google Shape;2804;p3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05" name="Google Shape;2805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06" name="Google Shape;2806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07" name="Google Shape;2807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08" name="Google Shape;2808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09" name="Google Shape;2809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0" name="Google Shape;2810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11" name="Google Shape;2811;p3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812" name="Google Shape;2812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3" name="Google Shape;2813;p3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14" name="Google Shape;2814;p3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15" name="Google Shape;2815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16" name="Google Shape;2816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17" name="Google Shape;2817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18" name="Google Shape;2818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19" name="Google Shape;2819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0" name="Google Shape;2820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21" name="Google Shape;2821;p37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822" name="Google Shape;2822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3" name="Google Shape;2823;p37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824" name="Google Shape;2824;p37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5" name="Google Shape;2825;p37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6" name="Google Shape;2826;p37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7" name="Google Shape;2827;p37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8" name="Google Shape;2828;p37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9" name="Google Shape;2829;p37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0" name="Google Shape;2830;p37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1" name="Google Shape;2831;p37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2" name="Google Shape;2832;p37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3" name="Google Shape;2833;p37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834" name="Google Shape;2834;p37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5" name="Google Shape;2835;p37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37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37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37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9" name="Google Shape;2839;p37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37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1" name="Google Shape;2841;p37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2" name="Google Shape;2842;p37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3" name="Google Shape;2843;p37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4" name="Google Shape;2844;p37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5" name="Google Shape;2845;p37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37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7" name="Google Shape;2847;p37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8" name="Google Shape;2848;p3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849" name="Google Shape;2849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50" name="Google Shape;2850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51" name="Google Shape;2851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52" name="Google Shape;2852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53" name="Google Shape;2853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4" name="Google Shape;2854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55" name="Google Shape;2855;p3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56" name="Google Shape;2856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7" name="Google Shape;2857;p3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58" name="Google Shape;2858;p3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59" name="Google Shape;2859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60" name="Google Shape;2860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61" name="Google Shape;2861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62" name="Google Shape;2862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63" name="Google Shape;2863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4" name="Google Shape;2864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65" name="Google Shape;2865;p3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866" name="Google Shape;2866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7" name="Google Shape;2867;p3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68" name="Google Shape;2868;p3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69" name="Google Shape;2869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70" name="Google Shape;2870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71" name="Google Shape;2871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72" name="Google Shape;2872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73" name="Google Shape;2873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4" name="Google Shape;2874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75" name="Google Shape;2875;p37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76" name="Google Shape;2876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7" name="Google Shape;2877;p37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878" name="Google Shape;2878;p37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879" name="Google Shape;2879;p3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880" name="Google Shape;2880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81" name="Google Shape;2881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82" name="Google Shape;2882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83" name="Google Shape;2883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84" name="Google Shape;2884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5" name="Google Shape;2885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86" name="Google Shape;2886;p3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87" name="Google Shape;2887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8" name="Google Shape;2888;p3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89" name="Google Shape;2889;p3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90" name="Google Shape;2890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91" name="Google Shape;2891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92" name="Google Shape;2892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93" name="Google Shape;2893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94" name="Google Shape;2894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5" name="Google Shape;2895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96" name="Google Shape;2896;p3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897" name="Google Shape;2897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8" name="Google Shape;2898;p3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99" name="Google Shape;2899;p3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900" name="Google Shape;2900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01" name="Google Shape;2901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02" name="Google Shape;2902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03" name="Google Shape;2903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04" name="Google Shape;2904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5" name="Google Shape;2905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06" name="Google Shape;2906;p37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907" name="Google Shape;2907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8" name="Google Shape;2908;p37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909" name="Google Shape;2909;p37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37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37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37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37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37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p37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6" name="Google Shape;2916;p37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37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37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37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2920" name="Google Shape;2920;p37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921" name="Google Shape;2921;p37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2922" name="Google Shape;2922;p37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923" name="Google Shape;2923;p37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24" name="Google Shape;2924;p37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5" name="Google Shape;2925;p37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6" name="Google Shape;2926;p37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7" name="Google Shape;2927;p37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8" name="Google Shape;2928;p37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9" name="Google Shape;2929;p37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0" name="Google Shape;2930;p37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1" name="Google Shape;2931;p37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2" name="Google Shape;2932;p37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3" name="Google Shape;2933;p37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4" name="Google Shape;2934;p37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5" name="Google Shape;2935;p37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936" name="Google Shape;2936;p37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937" name="Google Shape;2937;p37"/>
          <p:cNvCxnSpPr/>
          <p:nvPr/>
        </p:nvCxnSpPr>
        <p:spPr>
          <a:xfrm flipH="1">
            <a:off x="908583" y="1975104"/>
            <a:ext cx="148463" cy="24613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2" name="Shape 2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3" name="Google Shape;2943;p38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2944" name="Google Shape;2944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45" name="Google Shape;2945;p38"/>
          <p:cNvCxnSpPr>
            <a:stCxn id="2946" idx="2"/>
            <a:endCxn id="2946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47" name="Google Shape;2947;p38"/>
          <p:cNvCxnSpPr>
            <a:stCxn id="2946" idx="1"/>
            <a:endCxn id="2946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46" name="Google Shape;2946;p38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38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9" name="Google Shape;2949;p38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950" name="Google Shape;2950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951" name="Google Shape;295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52" name="Google Shape;295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53" name="Google Shape;295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54" name="Google Shape;295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55" name="Google Shape;295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6" name="Google Shape;295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57" name="Google Shape;2957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958" name="Google Shape;295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9" name="Google Shape;2959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960" name="Google Shape;2960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1" name="Google Shape;296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62" name="Google Shape;296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63" name="Google Shape;296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64" name="Google Shape;296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65" name="Google Shape;296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6" name="Google Shape;296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67" name="Google Shape;2967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68" name="Google Shape;296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9" name="Google Shape;2969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970" name="Google Shape;2970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971" name="Google Shape;297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72" name="Google Shape;297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73" name="Google Shape;297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74" name="Google Shape;297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75" name="Google Shape;297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6" name="Google Shape;297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77" name="Google Shape;2977;p38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978" name="Google Shape;297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9" name="Google Shape;2979;p38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980" name="Google Shape;2980;p38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1" name="Google Shape;2981;p38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2" name="Google Shape;2982;p38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3" name="Google Shape;2983;p38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4" name="Google Shape;2984;p38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5" name="Google Shape;2985;p38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6" name="Google Shape;2986;p38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7" name="Google Shape;2987;p38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8" name="Google Shape;2988;p38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9" name="Google Shape;2989;p38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990" name="Google Shape;2990;p38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91" name="Google Shape;2991;p38"/>
          <p:cNvSpPr/>
          <p:nvPr/>
        </p:nvSpPr>
        <p:spPr>
          <a:xfrm flipH="1"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2" name="Google Shape;2992;p38"/>
          <p:cNvSpPr/>
          <p:nvPr/>
        </p:nvSpPr>
        <p:spPr>
          <a:xfrm flipH="1"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3" name="Google Shape;2993;p38"/>
          <p:cNvSpPr/>
          <p:nvPr/>
        </p:nvSpPr>
        <p:spPr>
          <a:xfrm flipH="1"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4" name="Google Shape;2994;p38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38"/>
          <p:cNvSpPr/>
          <p:nvPr/>
        </p:nvSpPr>
        <p:spPr>
          <a:xfrm flipH="1"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38"/>
          <p:cNvSpPr/>
          <p:nvPr/>
        </p:nvSpPr>
        <p:spPr>
          <a:xfrm flipH="1"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38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8" name="Google Shape;2998;p38"/>
          <p:cNvSpPr/>
          <p:nvPr/>
        </p:nvSpPr>
        <p:spPr>
          <a:xfrm flipH="1"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38"/>
          <p:cNvSpPr/>
          <p:nvPr/>
        </p:nvSpPr>
        <p:spPr>
          <a:xfrm flipH="1"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0" name="Google Shape;3000;p38"/>
          <p:cNvSpPr/>
          <p:nvPr/>
        </p:nvSpPr>
        <p:spPr>
          <a:xfrm flipH="1"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38"/>
          <p:cNvSpPr/>
          <p:nvPr/>
        </p:nvSpPr>
        <p:spPr>
          <a:xfrm flipH="1"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2" name="Google Shape;3002;p38"/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3" name="Google Shape;3003;p38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004" name="Google Shape;3004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05" name="Google Shape;3005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6" name="Google Shape;3006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07" name="Google Shape;3007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8" name="Google Shape;3008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09" name="Google Shape;3009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0" name="Google Shape;3010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11" name="Google Shape;3011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12" name="Google Shape;3012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3" name="Google Shape;3013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14" name="Google Shape;3014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015" name="Google Shape;3015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16" name="Google Shape;3016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17" name="Google Shape;3017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18" name="Google Shape;3018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19" name="Google Shape;3019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0" name="Google Shape;3020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21" name="Google Shape;3021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022" name="Google Shape;3022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3" name="Google Shape;3023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24" name="Google Shape;3024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025" name="Google Shape;3025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26" name="Google Shape;3026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27" name="Google Shape;3027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28" name="Google Shape;3028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29" name="Google Shape;3029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0" name="Google Shape;3030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31" name="Google Shape;3031;p38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032" name="Google Shape;3032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3" name="Google Shape;3033;p38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034" name="Google Shape;3034;p38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035" name="Google Shape;3035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36" name="Google Shape;3036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37" name="Google Shape;3037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38" name="Google Shape;3038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39" name="Google Shape;3039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40" name="Google Shape;3040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1" name="Google Shape;3041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42" name="Google Shape;3042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43" name="Google Shape;3043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4" name="Google Shape;3044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45" name="Google Shape;3045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046" name="Google Shape;3046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47" name="Google Shape;3047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48" name="Google Shape;3048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9" name="Google Shape;3049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50" name="Google Shape;3050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1" name="Google Shape;3051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52" name="Google Shape;3052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053" name="Google Shape;3053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4" name="Google Shape;3054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55" name="Google Shape;3055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056" name="Google Shape;3056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57" name="Google Shape;3057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58" name="Google Shape;3058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9" name="Google Shape;3059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60" name="Google Shape;3060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1" name="Google Shape;3061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62" name="Google Shape;3062;p38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063" name="Google Shape;3063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4" name="Google Shape;3064;p38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065" name="Google Shape;3065;p38"/>
          <p:cNvSpPr/>
          <p:nvPr/>
        </p:nvSpPr>
        <p:spPr>
          <a:xfrm flipH="1"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p38"/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7" name="Google Shape;3067;p38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38"/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38"/>
          <p:cNvSpPr/>
          <p:nvPr/>
        </p:nvSpPr>
        <p:spPr>
          <a:xfrm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p38"/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38"/>
          <p:cNvSpPr/>
          <p:nvPr/>
        </p:nvSpPr>
        <p:spPr>
          <a:xfrm flipH="1"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2" name="Google Shape;3072;p38"/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3" name="Google Shape;3073;p38"/>
          <p:cNvSpPr/>
          <p:nvPr/>
        </p:nvSpPr>
        <p:spPr>
          <a:xfrm flipH="1"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4" name="Google Shape;3074;p38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38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076" name="Google Shape;3076;p38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077" name="Google Shape;3077;p38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078" name="Google Shape;3078;p38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079" name="Google Shape;3079;p38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80" name="Google Shape;3080;p38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1" name="Google Shape;3081;p38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2" name="Google Shape;3082;p38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3" name="Google Shape;3083;p38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4" name="Google Shape;3084;p38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5" name="Google Shape;3085;p38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6" name="Google Shape;3086;p38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7" name="Google Shape;3087;p38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8" name="Google Shape;3088;p38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9" name="Google Shape;3089;p38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0" name="Google Shape;3090;p38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1" name="Google Shape;3091;p38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092" name="Google Shape;3092;p38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93" name="Google Shape;3093;p38"/>
              <p:cNvCxnSpPr/>
              <p:nvPr/>
            </p:nvCxnSpPr>
            <p:spPr>
              <a:xfrm flipH="1">
                <a:off x="10365498" y="3656685"/>
                <a:ext cx="240612" cy="12102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8" name="Shape 3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Google Shape;3099;p39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3100" name="Google Shape;3100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01" name="Google Shape;3101;p39"/>
          <p:cNvCxnSpPr>
            <a:stCxn id="3102" idx="2"/>
            <a:endCxn id="3102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03" name="Google Shape;3103;p39"/>
          <p:cNvCxnSpPr>
            <a:stCxn id="3102" idx="1"/>
            <a:endCxn id="3102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02" name="Google Shape;3102;p39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4" name="Google Shape;3104;p39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5" name="Google Shape;3105;p39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106" name="Google Shape;3106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07" name="Google Shape;310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08" name="Google Shape;310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09" name="Google Shape;310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10" name="Google Shape;311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11" name="Google Shape;311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2" name="Google Shape;311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13" name="Google Shape;3113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14" name="Google Shape;311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5" name="Google Shape;3115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16" name="Google Shape;3116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17" name="Google Shape;311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18" name="Google Shape;311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19" name="Google Shape;311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20" name="Google Shape;312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21" name="Google Shape;312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2" name="Google Shape;312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23" name="Google Shape;3123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24" name="Google Shape;312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5" name="Google Shape;3125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26" name="Google Shape;3126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27" name="Google Shape;312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28" name="Google Shape;312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29" name="Google Shape;312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30" name="Google Shape;313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31" name="Google Shape;313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2" name="Google Shape;313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33" name="Google Shape;3133;p39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134" name="Google Shape;313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5" name="Google Shape;3135;p39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136" name="Google Shape;3136;p39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7" name="Google Shape;3137;p39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8" name="Google Shape;3138;p39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9" name="Google Shape;3139;p39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0" name="Google Shape;3140;p39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1" name="Google Shape;3141;p39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2" name="Google Shape;3142;p39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3" name="Google Shape;3143;p39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44" name="Google Shape;3144;p39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5" name="Google Shape;3145;p39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46" name="Google Shape;3146;p39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147" name="Google Shape;3147;p39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148" name="Google Shape;3148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49" name="Google Shape;3149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50" name="Google Shape;3150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51" name="Google Shape;3151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2" name="Google Shape;3152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53" name="Google Shape;3153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4" name="Google Shape;3154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55" name="Google Shape;3155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56" name="Google Shape;3156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7" name="Google Shape;3157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58" name="Google Shape;3158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59" name="Google Shape;3159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60" name="Google Shape;3160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61" name="Google Shape;3161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2" name="Google Shape;3162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63" name="Google Shape;3163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4" name="Google Shape;3164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65" name="Google Shape;3165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66" name="Google Shape;3166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7" name="Google Shape;3167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68" name="Google Shape;3168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69" name="Google Shape;3169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70" name="Google Shape;3170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71" name="Google Shape;3171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72" name="Google Shape;3172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73" name="Google Shape;3173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4" name="Google Shape;3174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75" name="Google Shape;3175;p39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176" name="Google Shape;3176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7" name="Google Shape;3177;p39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178" name="Google Shape;3178;p39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79" name="Google Shape;3179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80" name="Google Shape;3180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81" name="Google Shape;3181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82" name="Google Shape;3182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83" name="Google Shape;3183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84" name="Google Shape;3184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5" name="Google Shape;3185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86" name="Google Shape;3186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87" name="Google Shape;3187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8" name="Google Shape;3188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89" name="Google Shape;3189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90" name="Google Shape;3190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91" name="Google Shape;3191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92" name="Google Shape;3192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93" name="Google Shape;3193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94" name="Google Shape;3194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5" name="Google Shape;3195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96" name="Google Shape;3196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97" name="Google Shape;3197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8" name="Google Shape;3198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99" name="Google Shape;3199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200" name="Google Shape;3200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01" name="Google Shape;3201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02" name="Google Shape;3202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3" name="Google Shape;3203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04" name="Google Shape;3204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5" name="Google Shape;3205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06" name="Google Shape;3206;p39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7" name="Google Shape;3207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8" name="Google Shape;3208;p39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09" name="Google Shape;3209;p39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210" name="Google Shape;3210;p39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211" name="Google Shape;3211;p39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212" name="Google Shape;3212;p39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213" name="Google Shape;3213;p39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214" name="Google Shape;3214;p39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5" name="Google Shape;3215;p39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6" name="Google Shape;3216;p39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7" name="Google Shape;3217;p39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8" name="Google Shape;3218;p39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9" name="Google Shape;3219;p39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0" name="Google Shape;3220;p39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1" name="Google Shape;3221;p39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2" name="Google Shape;3222;p39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3" name="Google Shape;3223;p39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4" name="Google Shape;3224;p39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5" name="Google Shape;3225;p39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226" name="Google Shape;3226;p39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27" name="Google Shape;3227;p39"/>
          <p:cNvGrpSpPr/>
          <p:nvPr/>
        </p:nvGrpSpPr>
        <p:grpSpPr>
          <a:xfrm>
            <a:off x="4041058" y="1582994"/>
            <a:ext cx="5089626" cy="4955455"/>
            <a:chOff x="3982064" y="1612491"/>
            <a:chExt cx="5089626" cy="4955455"/>
          </a:xfrm>
        </p:grpSpPr>
        <p:grpSp>
          <p:nvGrpSpPr>
            <p:cNvPr id="3228" name="Google Shape;3228;p39"/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3229" name="Google Shape;3229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0" name="Google Shape;3230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31" name="Google Shape;3231;p39"/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3232" name="Google Shape;3232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3" name="Google Shape;3233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34" name="Google Shape;3234;p39"/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3235" name="Google Shape;3235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37" name="Google Shape;3237;p39"/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3238" name="Google Shape;3238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9" name="Google Shape;3239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0" name="Google Shape;3240;p39"/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3241" name="Google Shape;3241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2" name="Google Shape;3242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3" name="Google Shape;3243;p39"/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3244" name="Google Shape;3244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6" name="Google Shape;3246;p39"/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3247" name="Google Shape;3247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8" name="Google Shape;3248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9" name="Google Shape;3249;p39"/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3250" name="Google Shape;3250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52" name="Google Shape;3252;p39"/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3253" name="Google Shape;3253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</p:grpSp>
      <p:cxnSp>
        <p:nvCxnSpPr>
          <p:cNvPr id="3255" name="Google Shape;3255;p39"/>
          <p:cNvCxnSpPr/>
          <p:nvPr/>
        </p:nvCxnSpPr>
        <p:spPr>
          <a:xfrm flipH="1">
            <a:off x="919556" y="2070953"/>
            <a:ext cx="240612" cy="12102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0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p40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3262" name="Google Shape;3262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63" name="Google Shape;3263;p40"/>
          <p:cNvCxnSpPr>
            <a:stCxn id="3264" idx="2"/>
            <a:endCxn id="3264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65" name="Google Shape;3265;p40"/>
          <p:cNvCxnSpPr>
            <a:stCxn id="3264" idx="1"/>
            <a:endCxn id="3264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64" name="Google Shape;3264;p40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6" name="Google Shape;3266;p40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67" name="Google Shape;3267;p40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268" name="Google Shape;3268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269" name="Google Shape;326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70" name="Google Shape;327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71" name="Google Shape;327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2" name="Google Shape;327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73" name="Google Shape;327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4" name="Google Shape;327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75" name="Google Shape;3275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276" name="Google Shape;327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7" name="Google Shape;3277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78" name="Google Shape;3278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9" name="Google Shape;327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80" name="Google Shape;328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81" name="Google Shape;328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2" name="Google Shape;328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83" name="Google Shape;328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4" name="Google Shape;328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85" name="Google Shape;3285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86" name="Google Shape;328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7" name="Google Shape;3287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88" name="Google Shape;3288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289" name="Google Shape;328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90" name="Google Shape;329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91" name="Google Shape;329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92" name="Google Shape;329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93" name="Google Shape;329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4" name="Google Shape;329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95" name="Google Shape;3295;p40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296" name="Google Shape;329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7" name="Google Shape;3297;p40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98" name="Google Shape;3298;p40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99" name="Google Shape;3299;p40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0" name="Google Shape;3300;p40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1" name="Google Shape;3301;p40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2" name="Google Shape;3302;p40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3" name="Google Shape;3303;p40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4" name="Google Shape;3304;p40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5" name="Google Shape;3305;p40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6" name="Google Shape;3306;p40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7" name="Google Shape;3307;p40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308" name="Google Shape;3308;p40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9" name="Google Shape;3309;p40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0" name="Google Shape;3310;p40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1" name="Google Shape;3311;p40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2" name="Google Shape;3312;p40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3" name="Google Shape;3313;p40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4" name="Google Shape;3314;p40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5" name="Google Shape;3315;p40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6" name="Google Shape;3316;p40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7" name="Google Shape;3317;p40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8" name="Google Shape;3318;p40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40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0" name="Google Shape;3320;p40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21" name="Google Shape;3321;p40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322" name="Google Shape;3322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23" name="Google Shape;3323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24" name="Google Shape;3324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25" name="Google Shape;3325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6" name="Google Shape;3326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27" name="Google Shape;3327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8" name="Google Shape;3328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29" name="Google Shape;3329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30" name="Google Shape;3330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1" name="Google Shape;3331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32" name="Google Shape;3332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333" name="Google Shape;3333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34" name="Google Shape;3334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35" name="Google Shape;3335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36" name="Google Shape;3336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37" name="Google Shape;3337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8" name="Google Shape;3338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39" name="Google Shape;3339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340" name="Google Shape;3340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1" name="Google Shape;3341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42" name="Google Shape;3342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343" name="Google Shape;3343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44" name="Google Shape;3344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45" name="Google Shape;3345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46" name="Google Shape;3346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47" name="Google Shape;3347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8" name="Google Shape;3348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49" name="Google Shape;3349;p40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350" name="Google Shape;3350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1" name="Google Shape;3351;p40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352" name="Google Shape;3352;p40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353" name="Google Shape;3353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54" name="Google Shape;3354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55" name="Google Shape;3355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56" name="Google Shape;3356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57" name="Google Shape;3357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58" name="Google Shape;3358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9" name="Google Shape;3359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60" name="Google Shape;3360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61" name="Google Shape;3361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2" name="Google Shape;3362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63" name="Google Shape;3363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364" name="Google Shape;3364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65" name="Google Shape;3365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66" name="Google Shape;3366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67" name="Google Shape;3367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68" name="Google Shape;3368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9" name="Google Shape;3369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70" name="Google Shape;3370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371" name="Google Shape;3371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2" name="Google Shape;3372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73" name="Google Shape;3373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374" name="Google Shape;3374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75" name="Google Shape;3375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76" name="Google Shape;3376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77" name="Google Shape;3377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78" name="Google Shape;3378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9" name="Google Shape;3379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80" name="Google Shape;3380;p40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381" name="Google Shape;3381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2" name="Google Shape;3382;p40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383" name="Google Shape;3383;p40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40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40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6" name="Google Shape;3386;p40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7" name="Google Shape;3387;p40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8" name="Google Shape;3388;p40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9" name="Google Shape;3389;p40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0" name="Google Shape;3390;p40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1" name="Google Shape;3391;p40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2" name="Google Shape;3392;p40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3" name="Google Shape;3393;p40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394" name="Google Shape;3394;p40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395" name="Google Shape;3395;p40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396" name="Google Shape;3396;p40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397" name="Google Shape;3397;p40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98" name="Google Shape;3398;p40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9" name="Google Shape;3399;p40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0" name="Google Shape;3400;p40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1" name="Google Shape;3401;p40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2" name="Google Shape;3402;p40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3" name="Google Shape;3403;p40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4" name="Google Shape;3404;p40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5" name="Google Shape;3405;p40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6" name="Google Shape;3406;p40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7" name="Google Shape;3407;p40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8" name="Google Shape;3408;p40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9" name="Google Shape;3409;p40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10" name="Google Shape;3410;p40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411" name="Google Shape;3411;p40"/>
          <p:cNvCxnSpPr/>
          <p:nvPr/>
        </p:nvCxnSpPr>
        <p:spPr>
          <a:xfrm flipH="1">
            <a:off x="919556" y="2070953"/>
            <a:ext cx="240612" cy="12102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6" name="Shape 3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7" name="Google Shape;3417;p41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3418" name="Google Shape;3418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9" name="Google Shape;3419;p41"/>
          <p:cNvSpPr txBox="1"/>
          <p:nvPr/>
        </p:nvSpPr>
        <p:spPr>
          <a:xfrm>
            <a:off x="1280160" y="1859280"/>
            <a:ext cx="886467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…. and so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next take a look at the iterative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nodes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4" name="Shape 3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5" name="Google Shape;3425;p42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426" name="Google Shape;3426;p42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27" name="Google Shape;3427;p42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428" name="Google Shape;3428;p42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29" name="Google Shape;3429;p42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430" name="Google Shape;3430;p42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1" name="Google Shape;3431;p42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432" name="Google Shape;3432;p42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433" name="Google Shape;3433;p42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434" name="Google Shape;3434;p42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435" name="Google Shape;3435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36" name="Google Shape;3436;p42"/>
          <p:cNvCxnSpPr>
            <a:stCxn id="3437" idx="2"/>
            <a:endCxn id="3437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38" name="Google Shape;3438;p42"/>
          <p:cNvCxnSpPr>
            <a:stCxn id="3437" idx="1"/>
            <a:endCxn id="3437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37" name="Google Shape;3437;p42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9" name="Google Shape;3439;p42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0" name="Google Shape;3440;p42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441" name="Google Shape;3441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442" name="Google Shape;3442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43" name="Google Shape;3443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44" name="Google Shape;3444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5" name="Google Shape;3445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46" name="Google Shape;3446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7" name="Google Shape;3447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48" name="Google Shape;3448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449" name="Google Shape;3449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0" name="Google Shape;3450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51" name="Google Shape;3451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452" name="Google Shape;3452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53" name="Google Shape;3453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54" name="Google Shape;3454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5" name="Google Shape;3455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56" name="Google Shape;3456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7" name="Google Shape;3457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58" name="Google Shape;3458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459" name="Google Shape;3459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0" name="Google Shape;3460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61" name="Google Shape;3461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462" name="Google Shape;3462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63" name="Google Shape;3463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64" name="Google Shape;3464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65" name="Google Shape;3465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66" name="Google Shape;3466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7" name="Google Shape;3467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68" name="Google Shape;3468;p42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469" name="Google Shape;3469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0" name="Google Shape;3470;p42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471" name="Google Shape;3471;p42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2" name="Google Shape;3472;p42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3" name="Google Shape;3473;p42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4" name="Google Shape;3474;p42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5" name="Google Shape;3475;p42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6" name="Google Shape;3476;p42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7" name="Google Shape;3477;p42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8" name="Google Shape;3478;p42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9" name="Google Shape;3479;p42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80" name="Google Shape;3480;p42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481" name="Google Shape;3481;p42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482" name="Google Shape;3482;p42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483" name="Google Shape;3483;p42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484" name="Google Shape;3484;p42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485" name="Google Shape;3485;p42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486" name="Google Shape;3486;p42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7" name="Google Shape;3487;p42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8" name="Google Shape;3488;p42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9" name="Google Shape;3489;p42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0" name="Google Shape;3490;p42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1" name="Google Shape;3491;p42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2" name="Google Shape;3492;p42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3" name="Google Shape;3493;p42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4" name="Google Shape;3494;p42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5" name="Google Shape;3495;p42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6" name="Google Shape;3496;p42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7" name="Google Shape;3497;p42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98" name="Google Shape;3498;p42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499" name="Google Shape;3499;p42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00" name="Google Shape;3500;p42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01" name="Google Shape;3501;p42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3502" name="Google Shape;3502;p42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03" name="Google Shape;3503;p42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3504" name="Google Shape;3504;p42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05" name="Google Shape;3505;p42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3506" name="Google Shape;3506;p42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7" name="Google Shape;3507;p42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3508" name="Google Shape;3508;p42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509" name="Google Shape;3509;p42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0" name="Google Shape;3510;p42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1" name="Google Shape;3511;p42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512" name="Google Shape;3512;p42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receives DVs from a, c, e</a:t>
            </a:r>
            <a:endParaRPr/>
          </a:p>
        </p:txBody>
      </p:sp>
      <p:sp>
        <p:nvSpPr>
          <p:cNvPr id="3513" name="Google Shape;3513;p42"/>
          <p:cNvSpPr/>
          <p:nvPr/>
        </p:nvSpPr>
        <p:spPr>
          <a:xfrm rot="-5400000">
            <a:off x="6346718" y="340688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4" name="Google Shape;3514;p42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5" name="Google Shape;3515;p42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16" name="Google Shape;3516;p42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517" name="Google Shape;3517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518" name="Google Shape;3518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19" name="Google Shape;3519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20" name="Google Shape;3520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1" name="Google Shape;3521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22" name="Google Shape;3522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3" name="Google Shape;3523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24" name="Google Shape;3524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525" name="Google Shape;3525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6" name="Google Shape;3526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27" name="Google Shape;3527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528" name="Google Shape;3528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29" name="Google Shape;3529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30" name="Google Shape;3530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1" name="Google Shape;3531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32" name="Google Shape;3532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3" name="Google Shape;3533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34" name="Google Shape;3534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535" name="Google Shape;3535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6" name="Google Shape;3536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37" name="Google Shape;3537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538" name="Google Shape;3538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39" name="Google Shape;3539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40" name="Google Shape;3540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41" name="Google Shape;3541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42" name="Google Shape;3542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3" name="Google Shape;3543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44" name="Google Shape;3544;p42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545" name="Google Shape;3545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6" name="Google Shape;3546;p42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47" name="Google Shape;3547;p42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548" name="Google Shape;3548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549" name="Google Shape;354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50" name="Google Shape;355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51" name="Google Shape;355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52" name="Google Shape;355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53" name="Google Shape;355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4" name="Google Shape;355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55" name="Google Shape;3555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556" name="Google Shape;355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7" name="Google Shape;3557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58" name="Google Shape;3558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559" name="Google Shape;355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60" name="Google Shape;356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61" name="Google Shape;356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62" name="Google Shape;356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63" name="Google Shape;356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4" name="Google Shape;356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65" name="Google Shape;3565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566" name="Google Shape;356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7" name="Google Shape;3567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68" name="Google Shape;3568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569" name="Google Shape;356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70" name="Google Shape;357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71" name="Google Shape;357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72" name="Google Shape;357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73" name="Google Shape;357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4" name="Google Shape;357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75" name="Google Shape;3575;p42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576" name="Google Shape;357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7" name="Google Shape;3577;p42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78" name="Google Shape;3578;p42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579" name="Google Shape;3579;p42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0" name="Google Shape;3580;p42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81" name="Google Shape;3581;p42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82" name="Google Shape;3582;p42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583" name="Google Shape;3583;p42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4" name="Google Shape;3584;p42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585" name="Google Shape;3585;p42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586" name="Google Shape;3586;p42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587" name="Google Shape;3587;p42"/>
          <p:cNvSpPr/>
          <p:nvPr/>
        </p:nvSpPr>
        <p:spPr>
          <a:xfrm>
            <a:off x="6794417" y="3016538"/>
            <a:ext cx="2889702" cy="2634390"/>
          </a:xfrm>
          <a:custGeom>
            <a:rect b="b" l="l" r="r" t="t"/>
            <a:pathLst>
              <a:path extrusionOk="0" h="2634390" w="2889702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8" name="Google Shape;3588;p42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589" name="Google Shape;3589;p42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0" name="Google Shape;3590;p42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591" name="Google Shape;3591;p42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2" name="Google Shape;3592;p42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593" name="Google Shape;3593;p42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594" name="Google Shape;3594;p42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9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p43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601" name="Google Shape;3601;p43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02" name="Google Shape;3602;p43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603" name="Google Shape;3603;p43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04" name="Google Shape;3604;p43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605" name="Google Shape;3605;p43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06" name="Google Shape;3606;p43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607" name="Google Shape;3607;p43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8" name="Google Shape;3608;p43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609" name="Google Shape;3609;p43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610" name="Google Shape;3610;p43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11" name="Google Shape;3611;p43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3612" name="Google Shape;3612;p43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3" name="Google Shape;3613;p43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3614" name="Google Shape;3614;p43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15" name="Google Shape;3615;p43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3616" name="Google Shape;3616;p43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7" name="Google Shape;3617;p43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3618" name="Google Shape;3618;p43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619" name="Google Shape;3619;p43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0" name="Google Shape;3620;p43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1" name="Google Shape;3621;p43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22" name="Google Shape;3622;p43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623" name="Google Shape;3623;p43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24" name="Google Shape;3624;p43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625" name="Google Shape;3625;p43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26" name="Google Shape;3626;p43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27" name="Google Shape;3627;p43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8" name="Google Shape;3628;p43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629" name="Google Shape;3629;p43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630" name="Google Shape;3630;p43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31" name="Google Shape;3631;p43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32" name="Google Shape;3632;p43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33" name="Google Shape;3633;p43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34" name="Google Shape;3634;p43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5" name="Google Shape;3635;p43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36" name="Google Shape;3636;p43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637" name="Google Shape;3637;p43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38" name="Google Shape;3638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639" name="Google Shape;3639;p43"/>
          <p:cNvCxnSpPr>
            <a:stCxn id="3640" idx="2"/>
            <a:endCxn id="364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1" name="Google Shape;3641;p43"/>
          <p:cNvCxnSpPr>
            <a:stCxn id="3640" idx="1"/>
            <a:endCxn id="364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40" name="Google Shape;3640;p43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2" name="Google Shape;3642;p43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43" name="Google Shape;3643;p43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644" name="Google Shape;3644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645" name="Google Shape;3645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46" name="Google Shape;3646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47" name="Google Shape;3647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48" name="Google Shape;3648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49" name="Google Shape;3649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0" name="Google Shape;3650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51" name="Google Shape;3651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652" name="Google Shape;3652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3" name="Google Shape;3653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54" name="Google Shape;3654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655" name="Google Shape;3655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56" name="Google Shape;3656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57" name="Google Shape;3657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58" name="Google Shape;3658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59" name="Google Shape;3659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0" name="Google Shape;3660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61" name="Google Shape;3661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662" name="Google Shape;3662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3" name="Google Shape;3663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64" name="Google Shape;3664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665" name="Google Shape;3665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66" name="Google Shape;3666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67" name="Google Shape;3667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68" name="Google Shape;3668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69" name="Google Shape;3669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0" name="Google Shape;3670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71" name="Google Shape;3671;p43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672" name="Google Shape;3672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3" name="Google Shape;3673;p43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674" name="Google Shape;3674;p43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5" name="Google Shape;3675;p43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6" name="Google Shape;3676;p43"/>
          <p:cNvSpPr txBox="1"/>
          <p:nvPr/>
        </p:nvSpPr>
        <p:spPr>
          <a:xfrm>
            <a:off x="3920218" y="485596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7" name="Google Shape;3677;p43"/>
          <p:cNvSpPr txBox="1"/>
          <p:nvPr/>
        </p:nvSpPr>
        <p:spPr>
          <a:xfrm>
            <a:off x="5855120" y="485789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8" name="Google Shape;3678;p43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9" name="Google Shape;3679;p43"/>
          <p:cNvSpPr txBox="1"/>
          <p:nvPr/>
        </p:nvSpPr>
        <p:spPr>
          <a:xfrm>
            <a:off x="5066110" y="399944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0" name="Google Shape;3680;p43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1" name="Google Shape;3681;p43"/>
          <p:cNvSpPr txBox="1"/>
          <p:nvPr/>
        </p:nvSpPr>
        <p:spPr>
          <a:xfrm>
            <a:off x="5068038" y="592276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2" name="Google Shape;3682;p43"/>
          <p:cNvSpPr txBox="1"/>
          <p:nvPr/>
        </p:nvSpPr>
        <p:spPr>
          <a:xfrm>
            <a:off x="7081390" y="590296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3" name="Google Shape;3683;p43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684" name="Google Shape;3684;p43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685" name="Google Shape;3685;p43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686" name="Google Shape;3686;p43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687" name="Google Shape;3687;p43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688" name="Google Shape;3688;p43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89" name="Google Shape;3689;p43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0" name="Google Shape;3690;p43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1" name="Google Shape;3691;p43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2" name="Google Shape;3692;p43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3" name="Google Shape;3693;p43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4" name="Google Shape;3694;p43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5" name="Google Shape;3695;p43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6" name="Google Shape;3696;p43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7" name="Google Shape;3697;p43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8" name="Google Shape;3698;p43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9" name="Google Shape;3699;p43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0" name="Google Shape;3700;p43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701" name="Google Shape;3701;p43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702" name="Google Shape;3702;p43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03" name="Google Shape;3703;p43"/>
          <p:cNvSpPr txBox="1"/>
          <p:nvPr/>
        </p:nvSpPr>
        <p:spPr>
          <a:xfrm flipH="1">
            <a:off x="348626" y="3078991"/>
            <a:ext cx="2195814" cy="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receives DVs from a, c, e, computes:</a:t>
            </a:r>
            <a:endParaRPr/>
          </a:p>
        </p:txBody>
      </p:sp>
      <p:sp>
        <p:nvSpPr>
          <p:cNvPr id="3704" name="Google Shape;3704;p43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5" name="Google Shape;3705;p43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06" name="Google Shape;3706;p43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707" name="Google Shape;3707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708" name="Google Shape;3708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09" name="Google Shape;3709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10" name="Google Shape;3710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11" name="Google Shape;3711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12" name="Google Shape;3712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3" name="Google Shape;3713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14" name="Google Shape;3714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715" name="Google Shape;3715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6" name="Google Shape;3716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17" name="Google Shape;3717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718" name="Google Shape;3718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19" name="Google Shape;3719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20" name="Google Shape;3720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21" name="Google Shape;3721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22" name="Google Shape;3722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3" name="Google Shape;3723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24" name="Google Shape;3724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725" name="Google Shape;3725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6" name="Google Shape;3726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27" name="Google Shape;3727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728" name="Google Shape;3728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29" name="Google Shape;3729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30" name="Google Shape;3730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31" name="Google Shape;3731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32" name="Google Shape;3732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3" name="Google Shape;3733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4" name="Google Shape;3734;p43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735" name="Google Shape;3735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6" name="Google Shape;3736;p43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737" name="Google Shape;3737;p43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738" name="Google Shape;3738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739" name="Google Shape;3739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40" name="Google Shape;3740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41" name="Google Shape;3741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42" name="Google Shape;3742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43" name="Google Shape;3743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4" name="Google Shape;3744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45" name="Google Shape;3745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746" name="Google Shape;3746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7" name="Google Shape;3747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48" name="Google Shape;3748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749" name="Google Shape;3749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50" name="Google Shape;3750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51" name="Google Shape;3751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2" name="Google Shape;3752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53" name="Google Shape;3753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4" name="Google Shape;3754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55" name="Google Shape;3755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756" name="Google Shape;3756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7" name="Google Shape;3757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58" name="Google Shape;3758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759" name="Google Shape;3759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60" name="Google Shape;3760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61" name="Google Shape;3761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62" name="Google Shape;3762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63" name="Google Shape;3763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4" name="Google Shape;3764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65" name="Google Shape;3765;p43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766" name="Google Shape;3766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7" name="Google Shape;3767;p43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768" name="Google Shape;3768;p43"/>
          <p:cNvSpPr/>
          <p:nvPr/>
        </p:nvSpPr>
        <p:spPr>
          <a:xfrm>
            <a:off x="3078478" y="2885440"/>
            <a:ext cx="5923281" cy="3820160"/>
          </a:xfrm>
          <a:custGeom>
            <a:rect b="b" l="l" r="r" t="t"/>
            <a:pathLst>
              <a:path extrusionOk="0" h="3820160" w="5760999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69" name="Google Shape;3769;p43"/>
          <p:cNvGrpSpPr/>
          <p:nvPr/>
        </p:nvGrpSpPr>
        <p:grpSpPr>
          <a:xfrm>
            <a:off x="7010562" y="5133094"/>
            <a:ext cx="2128849" cy="1445342"/>
            <a:chOff x="7344204" y="108155"/>
            <a:chExt cx="2128849" cy="1445342"/>
          </a:xfrm>
        </p:grpSpPr>
        <p:sp>
          <p:nvSpPr>
            <p:cNvPr id="3770" name="Google Shape;3770;p43"/>
            <p:cNvSpPr/>
            <p:nvPr/>
          </p:nvSpPr>
          <p:spPr>
            <a:xfrm>
              <a:off x="7413523" y="108155"/>
              <a:ext cx="1936954" cy="14355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71" name="Google Shape;3771;p43"/>
            <p:cNvGrpSpPr/>
            <p:nvPr/>
          </p:nvGrpSpPr>
          <p:grpSpPr>
            <a:xfrm>
              <a:off x="7344204" y="120836"/>
              <a:ext cx="2128849" cy="1432661"/>
              <a:chOff x="7344204" y="120836"/>
              <a:chExt cx="2128849" cy="1432661"/>
            </a:xfrm>
          </p:grpSpPr>
          <p:sp>
            <p:nvSpPr>
              <p:cNvPr id="3772" name="Google Shape;3772;p43"/>
              <p:cNvSpPr/>
              <p:nvPr/>
            </p:nvSpPr>
            <p:spPr>
              <a:xfrm>
                <a:off x="7409951" y="124866"/>
                <a:ext cx="1940525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3" name="Google Shape;3773;p43"/>
              <p:cNvSpPr txBox="1"/>
              <p:nvPr/>
            </p:nvSpPr>
            <p:spPr>
              <a:xfrm>
                <a:off x="7799764" y="120836"/>
                <a:ext cx="111719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b:</a:t>
                </a:r>
                <a:endParaRPr/>
              </a:p>
            </p:txBody>
          </p:sp>
          <p:cxnSp>
            <p:nvCxnSpPr>
              <p:cNvPr id="3774" name="Google Shape;3774;p43"/>
              <p:cNvCxnSpPr/>
              <p:nvPr/>
            </p:nvCxnSpPr>
            <p:spPr>
              <a:xfrm>
                <a:off x="7401895" y="49525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775" name="Google Shape;3775;p43"/>
              <p:cNvSpPr/>
              <p:nvPr/>
            </p:nvSpPr>
            <p:spPr>
              <a:xfrm>
                <a:off x="7404189" y="124866"/>
                <a:ext cx="1936455" cy="1428631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6" name="Google Shape;3776;p43"/>
              <p:cNvSpPr txBox="1"/>
              <p:nvPr/>
            </p:nvSpPr>
            <p:spPr>
              <a:xfrm>
                <a:off x="8362008" y="560500"/>
                <a:ext cx="1111045" cy="97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=2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2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7" name="Google Shape;3777;p43"/>
              <p:cNvSpPr txBox="1"/>
              <p:nvPr/>
            </p:nvSpPr>
            <p:spPr>
              <a:xfrm>
                <a:off x="7344204" y="557387"/>
                <a:ext cx="1117197" cy="97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8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2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78" name="Google Shape;3778;p43"/>
          <p:cNvGrpSpPr/>
          <p:nvPr/>
        </p:nvGrpSpPr>
        <p:grpSpPr>
          <a:xfrm>
            <a:off x="6256790" y="3442384"/>
            <a:ext cx="531821" cy="369069"/>
            <a:chOff x="1348328" y="2507397"/>
            <a:chExt cx="603916" cy="419100"/>
          </a:xfrm>
        </p:grpSpPr>
        <p:grpSp>
          <p:nvGrpSpPr>
            <p:cNvPr id="3779" name="Google Shape;3779;p43"/>
            <p:cNvGrpSpPr/>
            <p:nvPr/>
          </p:nvGrpSpPr>
          <p:grpSpPr>
            <a:xfrm>
              <a:off x="1348328" y="2555748"/>
              <a:ext cx="603916" cy="308999"/>
              <a:chOff x="5278570" y="2983486"/>
              <a:chExt cx="501650" cy="233363"/>
            </a:xfrm>
          </p:grpSpPr>
          <p:sp>
            <p:nvSpPr>
              <p:cNvPr id="3780" name="Google Shape;3780;p43"/>
              <p:cNvSpPr/>
              <p:nvPr/>
            </p:nvSpPr>
            <p:spPr>
              <a:xfrm>
                <a:off x="5283332" y="3088261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81" name="Google Shape;3781;p43"/>
              <p:cNvCxnSpPr/>
              <p:nvPr/>
            </p:nvCxnSpPr>
            <p:spPr>
              <a:xfrm>
                <a:off x="5283332" y="3077148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2" name="Google Shape;3782;p43"/>
              <p:cNvCxnSpPr/>
              <p:nvPr/>
            </p:nvCxnSpPr>
            <p:spPr>
              <a:xfrm>
                <a:off x="5780220" y="3077148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83" name="Google Shape;3783;p43"/>
              <p:cNvSpPr/>
              <p:nvPr/>
            </p:nvSpPr>
            <p:spPr>
              <a:xfrm>
                <a:off x="5283332" y="3077148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4" name="Google Shape;3784;p43"/>
              <p:cNvSpPr/>
              <p:nvPr/>
            </p:nvSpPr>
            <p:spPr>
              <a:xfrm>
                <a:off x="5278570" y="2983486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85" name="Google Shape;3785;p43"/>
            <p:cNvGrpSpPr/>
            <p:nvPr/>
          </p:nvGrpSpPr>
          <p:grpSpPr>
            <a:xfrm>
              <a:off x="1456374" y="2507397"/>
              <a:ext cx="355165" cy="419100"/>
              <a:chOff x="2944" y="2425"/>
              <a:chExt cx="227" cy="264"/>
            </a:xfrm>
          </p:grpSpPr>
          <p:sp>
            <p:nvSpPr>
              <p:cNvPr id="3786" name="Google Shape;3786;p4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7" name="Google Shape;3787;p43"/>
              <p:cNvSpPr txBox="1"/>
              <p:nvPr/>
            </p:nvSpPr>
            <p:spPr>
              <a:xfrm>
                <a:off x="2944" y="2425"/>
                <a:ext cx="227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88" name="Google Shape;3788;p43"/>
          <p:cNvSpPr/>
          <p:nvPr/>
        </p:nvSpPr>
        <p:spPr>
          <a:xfrm rot="-5400000">
            <a:off x="6307392" y="303096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9" name="Google Shape;3789;p43"/>
          <p:cNvSpPr/>
          <p:nvPr/>
        </p:nvSpPr>
        <p:spPr>
          <a:xfrm>
            <a:off x="6784256" y="3016538"/>
            <a:ext cx="2899862" cy="2634390"/>
          </a:xfrm>
          <a:custGeom>
            <a:rect b="b" l="l" r="r" t="t"/>
            <a:pathLst>
              <a:path extrusionOk="0" h="2634390" w="2899862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0" name="Google Shape;3790;p43"/>
          <p:cNvSpPr/>
          <p:nvPr/>
        </p:nvSpPr>
        <p:spPr>
          <a:xfrm rot="-5400000">
            <a:off x="6612907" y="5410623"/>
            <a:ext cx="339615" cy="56062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BBD6E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91" name="Google Shape;3791;p43"/>
          <p:cNvGrpSpPr/>
          <p:nvPr/>
        </p:nvGrpSpPr>
        <p:grpSpPr>
          <a:xfrm>
            <a:off x="751840" y="2113280"/>
            <a:ext cx="6014720" cy="4541520"/>
            <a:chOff x="751840" y="2113280"/>
            <a:chExt cx="6014720" cy="4541520"/>
          </a:xfrm>
        </p:grpSpPr>
        <p:sp>
          <p:nvSpPr>
            <p:cNvPr id="3792" name="Google Shape;3792;p43"/>
            <p:cNvSpPr/>
            <p:nvPr/>
          </p:nvSpPr>
          <p:spPr>
            <a:xfrm>
              <a:off x="782320" y="3942080"/>
              <a:ext cx="5659120" cy="2712720"/>
            </a:xfrm>
            <a:prstGeom prst="rect">
              <a:avLst/>
            </a:prstGeom>
            <a:solidFill>
              <a:srgbClr val="DDEA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3" name="Google Shape;3793;p43"/>
            <p:cNvSpPr/>
            <p:nvPr/>
          </p:nvSpPr>
          <p:spPr>
            <a:xfrm>
              <a:off x="751840" y="2113280"/>
              <a:ext cx="6014720" cy="1838960"/>
            </a:xfrm>
            <a:custGeom>
              <a:rect b="b" l="l" r="r" t="t"/>
              <a:pathLst>
                <a:path extrusionOk="0" h="1838960" w="601472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DDEAF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4" name="Google Shape;3794;p43"/>
          <p:cNvGrpSpPr/>
          <p:nvPr/>
        </p:nvGrpSpPr>
        <p:grpSpPr>
          <a:xfrm>
            <a:off x="5852446" y="1758989"/>
            <a:ext cx="1196054" cy="1022555"/>
            <a:chOff x="9655277" y="2349909"/>
            <a:chExt cx="1196054" cy="1022555"/>
          </a:xfrm>
        </p:grpSpPr>
        <p:sp>
          <p:nvSpPr>
            <p:cNvPr id="3795" name="Google Shape;3795;p43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6" name="Google Shape;3796;p43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  <p:sp>
        <p:nvSpPr>
          <p:cNvPr id="3797" name="Google Shape;3797;p43"/>
          <p:cNvSpPr txBox="1"/>
          <p:nvPr/>
        </p:nvSpPr>
        <p:spPr>
          <a:xfrm>
            <a:off x="6355429" y="1927737"/>
            <a:ext cx="3193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798" name="Google Shape;3798;p43"/>
          <p:cNvSpPr txBox="1"/>
          <p:nvPr/>
        </p:nvSpPr>
        <p:spPr>
          <a:xfrm>
            <a:off x="894080" y="4021574"/>
            <a:ext cx="55676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(a)}  = min{8,∞,∞} = 8 </a:t>
            </a:r>
            <a:endParaRPr/>
          </a:p>
        </p:txBody>
      </p:sp>
      <p:sp>
        <p:nvSpPr>
          <p:cNvPr id="3799" name="Google Shape;3799;p43"/>
          <p:cNvSpPr txBox="1"/>
          <p:nvPr/>
        </p:nvSpPr>
        <p:spPr>
          <a:xfrm>
            <a:off x="894080" y="4346694"/>
            <a:ext cx="5537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(c)}  = min{∞,1,∞} = 1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43"/>
          <p:cNvSpPr txBox="1"/>
          <p:nvPr/>
        </p:nvSpPr>
        <p:spPr>
          <a:xfrm>
            <a:off x="883920" y="4671814"/>
            <a:ext cx="55270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(d)}  = min{9,2,∞} = 2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1" name="Google Shape;3801;p43"/>
          <p:cNvSpPr txBox="1"/>
          <p:nvPr/>
        </p:nvSpPr>
        <p:spPr>
          <a:xfrm>
            <a:off x="883920" y="5301734"/>
            <a:ext cx="54965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(f)}  = min{∞,∞,2} = 2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p43"/>
          <p:cNvSpPr txBox="1"/>
          <p:nvPr/>
        </p:nvSpPr>
        <p:spPr>
          <a:xfrm>
            <a:off x="894080" y="6244828"/>
            <a:ext cx="54660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(i)}  = min{∞,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∞, ∞}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3" name="Google Shape;3803;p43"/>
          <p:cNvSpPr txBox="1"/>
          <p:nvPr/>
        </p:nvSpPr>
        <p:spPr>
          <a:xfrm>
            <a:off x="883920" y="5940028"/>
            <a:ext cx="55473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(h)}  = min{∞,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∞, 2} = 2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43"/>
          <p:cNvSpPr txBox="1"/>
          <p:nvPr/>
        </p:nvSpPr>
        <p:spPr>
          <a:xfrm>
            <a:off x="894080" y="4976614"/>
            <a:ext cx="5445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(e)}  = min{∞,∞,1} = 1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5" name="Google Shape;3805;p43"/>
          <p:cNvSpPr txBox="1"/>
          <p:nvPr/>
        </p:nvSpPr>
        <p:spPr>
          <a:xfrm>
            <a:off x="894080" y="5616694"/>
            <a:ext cx="55473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(g)}  = min{∞,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∞, ∞}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0" name="Shape 3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1" name="Google Shape;3811;p44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812" name="Google Shape;3812;p44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13" name="Google Shape;3813;p44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814" name="Google Shape;3814;p44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15" name="Google Shape;3815;p44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816" name="Google Shape;3816;p44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7" name="Google Shape;3817;p44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818" name="Google Shape;3818;p44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819" name="Google Shape;3819;p44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820" name="Google Shape;3820;p44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821" name="Google Shape;3821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22" name="Google Shape;3822;p44"/>
          <p:cNvCxnSpPr>
            <a:stCxn id="3823" idx="2"/>
            <a:endCxn id="3823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4" name="Google Shape;3824;p44"/>
          <p:cNvCxnSpPr>
            <a:stCxn id="3823" idx="1"/>
            <a:endCxn id="3823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23" name="Google Shape;3823;p44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5" name="Google Shape;3825;p44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6" name="Google Shape;3826;p44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827" name="Google Shape;3827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828" name="Google Shape;3828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29" name="Google Shape;3829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30" name="Google Shape;3830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31" name="Google Shape;3831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32" name="Google Shape;3832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3" name="Google Shape;3833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34" name="Google Shape;3834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835" name="Google Shape;3835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6" name="Google Shape;3836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37" name="Google Shape;3837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838" name="Google Shape;3838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39" name="Google Shape;3839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40" name="Google Shape;3840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41" name="Google Shape;3841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42" name="Google Shape;3842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3" name="Google Shape;3843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44" name="Google Shape;3844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845" name="Google Shape;3845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6" name="Google Shape;3846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47" name="Google Shape;3847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848" name="Google Shape;3848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49" name="Google Shape;3849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50" name="Google Shape;3850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51" name="Google Shape;3851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52" name="Google Shape;3852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3" name="Google Shape;3853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54" name="Google Shape;3854;p44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855" name="Google Shape;3855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6" name="Google Shape;3856;p44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857" name="Google Shape;3857;p44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58" name="Google Shape;3858;p44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59" name="Google Shape;3859;p44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0" name="Google Shape;3860;p44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1" name="Google Shape;3861;p44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2" name="Google Shape;3862;p44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3" name="Google Shape;3863;p44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4" name="Google Shape;3864;p44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5" name="Google Shape;3865;p44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6" name="Google Shape;3866;p44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867" name="Google Shape;3867;p44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868" name="Google Shape;3868;p44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869" name="Google Shape;3869;p44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870" name="Google Shape;3870;p44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871" name="Google Shape;3871;p44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72" name="Google Shape;3872;p44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3" name="Google Shape;3873;p44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4" name="Google Shape;3874;p44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5" name="Google Shape;3875;p44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6" name="Google Shape;3876;p44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7" name="Google Shape;3877;p44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8" name="Google Shape;3878;p44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9" name="Google Shape;3879;p44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0" name="Google Shape;3880;p44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1" name="Google Shape;3881;p44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2" name="Google Shape;3882;p44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3" name="Google Shape;3883;p44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884" name="Google Shape;3884;p44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885" name="Google Shape;3885;p44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86" name="Google Shape;3886;p44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7" name="Google Shape;3887;p44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3888" name="Google Shape;3888;p44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89" name="Google Shape;3889;p44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3890" name="Google Shape;3890;p44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91" name="Google Shape;3891;p44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3892" name="Google Shape;3892;p44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3" name="Google Shape;3893;p44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3894" name="Google Shape;3894;p44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895" name="Google Shape;3895;p44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6" name="Google Shape;3896;p44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7" name="Google Shape;3897;p44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898" name="Google Shape;3898;p44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receives DVs from b</a:t>
            </a:r>
            <a:endParaRPr/>
          </a:p>
        </p:txBody>
      </p:sp>
      <p:sp>
        <p:nvSpPr>
          <p:cNvPr id="3899" name="Google Shape;3899;p44"/>
          <p:cNvSpPr/>
          <p:nvPr/>
        </p:nvSpPr>
        <p:spPr>
          <a:xfrm rot="-5400000">
            <a:off x="6346718" y="340688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0" name="Google Shape;3900;p44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1" name="Google Shape;3901;p44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2" name="Google Shape;3902;p44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903" name="Google Shape;3903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04" name="Google Shape;3904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05" name="Google Shape;3905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06" name="Google Shape;3906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07" name="Google Shape;3907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08" name="Google Shape;3908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9" name="Google Shape;3909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10" name="Google Shape;3910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911" name="Google Shape;3911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2" name="Google Shape;3912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13" name="Google Shape;3913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14" name="Google Shape;3914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15" name="Google Shape;3915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16" name="Google Shape;3916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7" name="Google Shape;3917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18" name="Google Shape;3918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9" name="Google Shape;3919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20" name="Google Shape;3920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21" name="Google Shape;3921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2" name="Google Shape;3922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23" name="Google Shape;3923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924" name="Google Shape;3924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25" name="Google Shape;3925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26" name="Google Shape;3926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27" name="Google Shape;3927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28" name="Google Shape;3928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9" name="Google Shape;3929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30" name="Google Shape;3930;p44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931" name="Google Shape;3931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2" name="Google Shape;3932;p44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933" name="Google Shape;3933;p44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934" name="Google Shape;3934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35" name="Google Shape;393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36" name="Google Shape;393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37" name="Google Shape;393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38" name="Google Shape;393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39" name="Google Shape;393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0" name="Google Shape;394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41" name="Google Shape;3941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942" name="Google Shape;394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3" name="Google Shape;3943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44" name="Google Shape;3944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45" name="Google Shape;394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46" name="Google Shape;394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47" name="Google Shape;394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48" name="Google Shape;394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49" name="Google Shape;394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0" name="Google Shape;395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51" name="Google Shape;3951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52" name="Google Shape;395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3" name="Google Shape;3953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54" name="Google Shape;3954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955" name="Google Shape;395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56" name="Google Shape;395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57" name="Google Shape;395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58" name="Google Shape;395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59" name="Google Shape;395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0" name="Google Shape;396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61" name="Google Shape;3961;p44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962" name="Google Shape;396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3" name="Google Shape;3963;p44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964" name="Google Shape;3964;p44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965" name="Google Shape;3965;p44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66" name="Google Shape;3966;p44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967" name="Google Shape;3967;p44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68" name="Google Shape;3968;p44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969" name="Google Shape;3969;p44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0" name="Google Shape;3970;p44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971" name="Google Shape;3971;p44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972" name="Google Shape;3972;p44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973" name="Google Shape;3973;p44"/>
          <p:cNvSpPr/>
          <p:nvPr/>
        </p:nvSpPr>
        <p:spPr>
          <a:xfrm>
            <a:off x="6794417" y="3016538"/>
            <a:ext cx="2889702" cy="2634390"/>
          </a:xfrm>
          <a:custGeom>
            <a:rect b="b" l="l" r="r" t="t"/>
            <a:pathLst>
              <a:path extrusionOk="0" h="2634390" w="2889702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4" name="Google Shape;3974;p44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975" name="Google Shape;3975;p44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76" name="Google Shape;3976;p44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977" name="Google Shape;3977;p44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8" name="Google Shape;3978;p44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979" name="Google Shape;3979;p44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980" name="Google Shape;3980;p44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81" name="Google Shape;3981;p44"/>
          <p:cNvSpPr/>
          <p:nvPr/>
        </p:nvSpPr>
        <p:spPr>
          <a:xfrm>
            <a:off x="6977380" y="192782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6" name="Shape 3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7" name="Google Shape;3987;p45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988" name="Google Shape;3988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89" name="Google Shape;3989;p45"/>
          <p:cNvCxnSpPr>
            <a:stCxn id="3990" idx="2"/>
            <a:endCxn id="399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91" name="Google Shape;3991;p45"/>
          <p:cNvCxnSpPr>
            <a:stCxn id="3990" idx="1"/>
            <a:endCxn id="399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0" name="Google Shape;3990;p45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2" name="Google Shape;3992;p45"/>
          <p:cNvSpPr/>
          <p:nvPr/>
        </p:nvSpPr>
        <p:spPr>
          <a:xfrm>
            <a:off x="8380337" y="222079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93" name="Google Shape;3993;p45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994" name="Google Shape;3994;p4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95" name="Google Shape;3995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96" name="Google Shape;3996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97" name="Google Shape;3997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98" name="Google Shape;3998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99" name="Google Shape;3999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0" name="Google Shape;4000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01" name="Google Shape;4001;p4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02" name="Google Shape;4002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3" name="Google Shape;4003;p4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04" name="Google Shape;4004;p4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005" name="Google Shape;4005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06" name="Google Shape;4006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07" name="Google Shape;4007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08" name="Google Shape;4008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09" name="Google Shape;4009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0" name="Google Shape;4010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11" name="Google Shape;4011;p4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012" name="Google Shape;4012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3" name="Google Shape;4013;p4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14" name="Google Shape;4014;p4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015" name="Google Shape;4015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16" name="Google Shape;4016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17" name="Google Shape;4017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8" name="Google Shape;4018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19" name="Google Shape;4019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0" name="Google Shape;4020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21" name="Google Shape;4021;p45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022" name="Google Shape;4022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3" name="Google Shape;4023;p45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024" name="Google Shape;4024;p45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25" name="Google Shape;4025;p45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26" name="Google Shape;4026;p45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027" name="Google Shape;4027;p45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4028" name="Google Shape;4028;p45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4029" name="Google Shape;4029;p45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4030" name="Google Shape;4030;p45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031" name="Google Shape;4031;p45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32" name="Google Shape;4032;p45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3" name="Google Shape;4033;p45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4" name="Google Shape;4034;p45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5" name="Google Shape;4035;p45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6" name="Google Shape;4036;p45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7" name="Google Shape;4037;p45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8" name="Google Shape;4038;p45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9" name="Google Shape;4039;p45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0" name="Google Shape;4040;p45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1" name="Google Shape;4041;p45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2" name="Google Shape;4042;p45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3" name="Google Shape;4043;p45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044" name="Google Shape;4044;p45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045" name="Google Shape;4045;p45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46" name="Google Shape;4046;p45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7" name="Google Shape;4047;p45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048" name="Google Shape;4048;p45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49" name="Google Shape;4049;p45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050" name="Google Shape;4050;p45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1" name="Google Shape;4051;p45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052" name="Google Shape;4052;p45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3" name="Google Shape;4053;p45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054" name="Google Shape;4054;p45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055" name="Google Shape;4055;p45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6" name="Google Shape;4056;p45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7" name="Google Shape;4057;p45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058" name="Google Shape;4058;p45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receives DVs from b computes:</a:t>
            </a:r>
            <a:endParaRPr/>
          </a:p>
        </p:txBody>
      </p:sp>
      <p:grpSp>
        <p:nvGrpSpPr>
          <p:cNvPr id="4059" name="Google Shape;4059;p45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060" name="Google Shape;4060;p4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61" name="Google Shape;4061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62" name="Google Shape;4062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63" name="Google Shape;4063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64" name="Google Shape;4064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65" name="Google Shape;4065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6" name="Google Shape;4066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67" name="Google Shape;4067;p4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68" name="Google Shape;4068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9" name="Google Shape;4069;p4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70" name="Google Shape;4070;p4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071" name="Google Shape;4071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72" name="Google Shape;4072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73" name="Google Shape;4073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74" name="Google Shape;4074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75" name="Google Shape;4075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6" name="Google Shape;4076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7" name="Google Shape;4077;p4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078" name="Google Shape;4078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9" name="Google Shape;4079;p4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80" name="Google Shape;4080;p4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081" name="Google Shape;4081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82" name="Google Shape;4082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83" name="Google Shape;4083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84" name="Google Shape;4084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85" name="Google Shape;4085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6" name="Google Shape;4086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87" name="Google Shape;4087;p45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088" name="Google Shape;4088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9" name="Google Shape;4089;p45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090" name="Google Shape;4090;p45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091" name="Google Shape;4091;p4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92" name="Google Shape;4092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93" name="Google Shape;4093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94" name="Google Shape;4094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95" name="Google Shape;4095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96" name="Google Shape;4096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7" name="Google Shape;4097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98" name="Google Shape;4098;p4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99" name="Google Shape;4099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0" name="Google Shape;4100;p4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01" name="Google Shape;4101;p4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102" name="Google Shape;4102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103" name="Google Shape;4103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04" name="Google Shape;4104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05" name="Google Shape;4105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06" name="Google Shape;4106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7" name="Google Shape;4107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08" name="Google Shape;4108;p4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109" name="Google Shape;4109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0" name="Google Shape;4110;p4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11" name="Google Shape;4111;p4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112" name="Google Shape;4112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113" name="Google Shape;4113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14" name="Google Shape;4114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15" name="Google Shape;4115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16" name="Google Shape;4116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7" name="Google Shape;4117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18" name="Google Shape;4118;p45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119" name="Google Shape;4119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0" name="Google Shape;4120;p45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121" name="Google Shape;4121;p45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4122" name="Google Shape;4122;p45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23" name="Google Shape;4123;p45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4124" name="Google Shape;4124;p45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25" name="Google Shape;4125;p45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4126" name="Google Shape;4126;p45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7" name="Google Shape;4127;p45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128" name="Google Shape;4128;p45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129" name="Google Shape;4129;p45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130" name="Google Shape;4130;p45"/>
          <p:cNvSpPr/>
          <p:nvPr/>
        </p:nvSpPr>
        <p:spPr>
          <a:xfrm>
            <a:off x="6977380" y="192782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1" name="Google Shape;4131;p45"/>
          <p:cNvSpPr/>
          <p:nvPr/>
        </p:nvSpPr>
        <p:spPr>
          <a:xfrm>
            <a:off x="3281678" y="1747520"/>
            <a:ext cx="5923281" cy="4988560"/>
          </a:xfrm>
          <a:custGeom>
            <a:rect b="b" l="l" r="r" t="t"/>
            <a:pathLst>
              <a:path extrusionOk="0" h="4988560" w="5760999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2" name="Google Shape;4132;p45"/>
          <p:cNvSpPr/>
          <p:nvPr/>
        </p:nvSpPr>
        <p:spPr>
          <a:xfrm>
            <a:off x="3068320" y="3810000"/>
            <a:ext cx="3535680" cy="271272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3" name="Google Shape;4133;p45"/>
          <p:cNvSpPr txBox="1"/>
          <p:nvPr/>
        </p:nvSpPr>
        <p:spPr>
          <a:xfrm>
            <a:off x="3180080" y="3889494"/>
            <a:ext cx="3352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(a}} = 1 + 8 = 9 </a:t>
            </a:r>
            <a:endParaRPr/>
          </a:p>
        </p:txBody>
      </p:sp>
      <p:sp>
        <p:nvSpPr>
          <p:cNvPr id="4134" name="Google Shape;4134;p45"/>
          <p:cNvSpPr txBox="1"/>
          <p:nvPr/>
        </p:nvSpPr>
        <p:spPr>
          <a:xfrm>
            <a:off x="3180080" y="4214614"/>
            <a:ext cx="3352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(b)} = 1 + 0 = 1</a:t>
            </a:r>
            <a:endParaRPr/>
          </a:p>
        </p:txBody>
      </p:sp>
      <p:sp>
        <p:nvSpPr>
          <p:cNvPr id="4135" name="Google Shape;4135;p45"/>
          <p:cNvSpPr txBox="1"/>
          <p:nvPr/>
        </p:nvSpPr>
        <p:spPr>
          <a:xfrm>
            <a:off x="3169920" y="4539734"/>
            <a:ext cx="34442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6" name="Google Shape;4136;p45"/>
          <p:cNvSpPr txBox="1"/>
          <p:nvPr/>
        </p:nvSpPr>
        <p:spPr>
          <a:xfrm>
            <a:off x="3180080" y="4844534"/>
            <a:ext cx="32715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(e)} = 1 + 1 = 2</a:t>
            </a:r>
            <a:endParaRPr/>
          </a:p>
        </p:txBody>
      </p:sp>
      <p:sp>
        <p:nvSpPr>
          <p:cNvPr id="4137" name="Google Shape;4137;p45"/>
          <p:cNvSpPr txBox="1"/>
          <p:nvPr/>
        </p:nvSpPr>
        <p:spPr>
          <a:xfrm>
            <a:off x="3169920" y="5169654"/>
            <a:ext cx="33629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8" name="Google Shape;4138;p45"/>
          <p:cNvSpPr txBox="1"/>
          <p:nvPr/>
        </p:nvSpPr>
        <p:spPr>
          <a:xfrm>
            <a:off x="3180080" y="5484614"/>
            <a:ext cx="32207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9" name="Google Shape;4139;p45"/>
          <p:cNvSpPr txBox="1"/>
          <p:nvPr/>
        </p:nvSpPr>
        <p:spPr>
          <a:xfrm>
            <a:off x="3180080" y="6112748"/>
            <a:ext cx="337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0" name="Google Shape;4140;p45"/>
          <p:cNvSpPr txBox="1"/>
          <p:nvPr/>
        </p:nvSpPr>
        <p:spPr>
          <a:xfrm>
            <a:off x="3169920" y="5807948"/>
            <a:ext cx="33832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1" name="Google Shape;4141;p45"/>
          <p:cNvSpPr/>
          <p:nvPr/>
        </p:nvSpPr>
        <p:spPr>
          <a:xfrm rot="-5400000">
            <a:off x="6704347" y="5410623"/>
            <a:ext cx="339615" cy="56062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BBD6E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42" name="Google Shape;4142;p45"/>
          <p:cNvGrpSpPr/>
          <p:nvPr/>
        </p:nvGrpSpPr>
        <p:grpSpPr>
          <a:xfrm>
            <a:off x="7147328" y="3969037"/>
            <a:ext cx="1149458" cy="2667397"/>
            <a:chOff x="9764348" y="1447800"/>
            <a:chExt cx="1149458" cy="2667397"/>
          </a:xfrm>
        </p:grpSpPr>
        <p:sp>
          <p:nvSpPr>
            <p:cNvPr id="4143" name="Google Shape;4143;p45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44" name="Google Shape;4144;p45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145" name="Google Shape;4145;p45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6" name="Google Shape;4146;p45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c: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9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2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47" name="Google Shape;4147;p45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48" name="Google Shape;4148;p45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49" name="Google Shape;4149;p45"/>
          <p:cNvSpPr/>
          <p:nvPr/>
        </p:nvSpPr>
        <p:spPr>
          <a:xfrm>
            <a:off x="3068320" y="2194560"/>
            <a:ext cx="5598160" cy="1625600"/>
          </a:xfrm>
          <a:custGeom>
            <a:rect b="b" l="l" r="r" t="t"/>
            <a:pathLst>
              <a:path extrusionOk="0" h="1625600" w="559816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DEAF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0" name="Google Shape;4150;p45"/>
          <p:cNvGrpSpPr/>
          <p:nvPr/>
        </p:nvGrpSpPr>
        <p:grpSpPr>
          <a:xfrm>
            <a:off x="7868428" y="1698029"/>
            <a:ext cx="1196054" cy="1022555"/>
            <a:chOff x="9655277" y="2349909"/>
            <a:chExt cx="1196054" cy="1022555"/>
          </a:xfrm>
        </p:grpSpPr>
        <p:sp>
          <p:nvSpPr>
            <p:cNvPr id="4151" name="Google Shape;4151;p45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2" name="Google Shape;4152;p45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  <p:sp>
        <p:nvSpPr>
          <p:cNvPr id="4153" name="Google Shape;4153;p45"/>
          <p:cNvSpPr txBox="1"/>
          <p:nvPr/>
        </p:nvSpPr>
        <p:spPr>
          <a:xfrm>
            <a:off x="8542751" y="5433536"/>
            <a:ext cx="354428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8" name="Shape 4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9" name="Google Shape;4159;p46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4160" name="Google Shape;4160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61" name="Google Shape;4161;p46"/>
          <p:cNvCxnSpPr>
            <a:stCxn id="4162" idx="2"/>
            <a:endCxn id="4162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63" name="Google Shape;4163;p46"/>
          <p:cNvCxnSpPr>
            <a:stCxn id="4162" idx="1"/>
            <a:endCxn id="4162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2" name="Google Shape;4162;p46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4" name="Google Shape;4164;p46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5" name="Google Shape;4165;p46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6" name="Google Shape;4166;p46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7" name="Google Shape;4167;p46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8" name="Google Shape;4168;p46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9" name="Google Shape;4169;p46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0" name="Google Shape;4170;p46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1" name="Google Shape;4171;p46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2" name="Google Shape;4172;p46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3" name="Google Shape;4173;p46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4" name="Google Shape;4174;p46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75" name="Google Shape;4175;p46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4176" name="Google Shape;4176;p46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4177" name="Google Shape;4177;p46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4178" name="Google Shape;4178;p46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179" name="Google Shape;4179;p46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80" name="Google Shape;4180;p46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1" name="Google Shape;4181;p46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2" name="Google Shape;4182;p46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3" name="Google Shape;4183;p46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4" name="Google Shape;4184;p46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5" name="Google Shape;4185;p46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6" name="Google Shape;4186;p46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7" name="Google Shape;4187;p46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8" name="Google Shape;4188;p46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9" name="Google Shape;4189;p46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90" name="Google Shape;4190;p46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91" name="Google Shape;4191;p46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92" name="Google Shape;4192;p46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193" name="Google Shape;4193;p46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94" name="Google Shape;4194;p46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95" name="Google Shape;4195;p46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196" name="Google Shape;4196;p46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97" name="Google Shape;4197;p46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198" name="Google Shape;4198;p46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99" name="Google Shape;4199;p46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200" name="Google Shape;4200;p46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1" name="Google Shape;4201;p46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202" name="Google Shape;4202;p46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203" name="Google Shape;4203;p46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4" name="Google Shape;4204;p46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5" name="Google Shape;4205;p46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206" name="Google Shape;4206;p46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receives DVs from b, d, f, h</a:t>
            </a:r>
            <a:endParaRPr/>
          </a:p>
        </p:txBody>
      </p:sp>
      <p:grpSp>
        <p:nvGrpSpPr>
          <p:cNvPr id="4207" name="Google Shape;4207;p46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208" name="Google Shape;4208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209" name="Google Shape;420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10" name="Google Shape;421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11" name="Google Shape;421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2" name="Google Shape;421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13" name="Google Shape;421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4" name="Google Shape;421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15" name="Google Shape;4215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216" name="Google Shape;421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7" name="Google Shape;4217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18" name="Google Shape;4218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19" name="Google Shape;421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20" name="Google Shape;422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21" name="Google Shape;422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22" name="Google Shape;422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23" name="Google Shape;422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4" name="Google Shape;422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25" name="Google Shape;4225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26" name="Google Shape;422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7" name="Google Shape;4227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28" name="Google Shape;4228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229" name="Google Shape;422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30" name="Google Shape;423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31" name="Google Shape;423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32" name="Google Shape;423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33" name="Google Shape;423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4" name="Google Shape;423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35" name="Google Shape;4235;p46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236" name="Google Shape;423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7" name="Google Shape;4237;p46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238" name="Google Shape;4238;p46"/>
          <p:cNvSpPr/>
          <p:nvPr/>
        </p:nvSpPr>
        <p:spPr>
          <a:xfrm>
            <a:off x="6774755" y="1106458"/>
            <a:ext cx="2967758" cy="3014570"/>
          </a:xfrm>
          <a:custGeom>
            <a:rect b="b" l="l" r="r" t="t"/>
            <a:pathLst>
              <a:path extrusionOk="0" h="3014570" w="2967758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9" name="Google Shape;4239;p46"/>
          <p:cNvSpPr/>
          <p:nvPr/>
        </p:nvSpPr>
        <p:spPr>
          <a:xfrm>
            <a:off x="8446236" y="3874156"/>
            <a:ext cx="1239192" cy="2428567"/>
          </a:xfrm>
          <a:custGeom>
            <a:rect b="b" l="l" r="r" t="t"/>
            <a:pathLst>
              <a:path extrusionOk="0" h="2428567" w="1568765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0" name="Google Shape;4240;p46"/>
          <p:cNvGrpSpPr/>
          <p:nvPr/>
        </p:nvGrpSpPr>
        <p:grpSpPr>
          <a:xfrm>
            <a:off x="9656848" y="3847117"/>
            <a:ext cx="1149458" cy="2667397"/>
            <a:chOff x="9764348" y="1447800"/>
            <a:chExt cx="1149458" cy="2667397"/>
          </a:xfrm>
        </p:grpSpPr>
        <p:sp>
          <p:nvSpPr>
            <p:cNvPr id="4241" name="Google Shape;4241;p46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42" name="Google Shape;4242;p46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243" name="Google Shape;4243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4" name="Google Shape;4244;p46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f: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1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45" name="Google Shape;4245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46" name="Google Shape;4246;p46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47" name="Google Shape;4247;p46"/>
          <p:cNvGrpSpPr/>
          <p:nvPr/>
        </p:nvGrpSpPr>
        <p:grpSpPr>
          <a:xfrm>
            <a:off x="9685117" y="1067456"/>
            <a:ext cx="1155603" cy="2672477"/>
            <a:chOff x="10325197" y="813456"/>
            <a:chExt cx="1155603" cy="2672477"/>
          </a:xfrm>
        </p:grpSpPr>
        <p:sp>
          <p:nvSpPr>
            <p:cNvPr id="4248" name="Google Shape;4248;p46"/>
            <p:cNvSpPr/>
            <p:nvPr/>
          </p:nvSpPr>
          <p:spPr>
            <a:xfrm>
              <a:off x="10355334" y="813456"/>
              <a:ext cx="1125466" cy="263078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9" name="Google Shape;4249;p46"/>
            <p:cNvSpPr/>
            <p:nvPr/>
          </p:nvSpPr>
          <p:spPr>
            <a:xfrm>
              <a:off x="10338507" y="825123"/>
              <a:ext cx="1141582" cy="40783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0" name="Google Shape;4250;p46"/>
            <p:cNvSpPr txBox="1"/>
            <p:nvPr/>
          </p:nvSpPr>
          <p:spPr>
            <a:xfrm>
              <a:off x="10325197" y="821098"/>
              <a:ext cx="1117197" cy="2664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DV in e:</a:t>
              </a:r>
              <a:endParaRPr/>
            </a:p>
            <a:p>
              <a:pPr indent="0" lvl="1" marL="1143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(a) = ∞</a:t>
              </a:r>
              <a:endParaRPr/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(b) = 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(c) = ∞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(d) = 1</a:t>
              </a:r>
              <a:endParaRPr/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(e) = 0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(f) = 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(g) = ∞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(h) = 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(i) = ∞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51" name="Google Shape;4251;p46"/>
            <p:cNvCxnSpPr/>
            <p:nvPr/>
          </p:nvCxnSpPr>
          <p:spPr>
            <a:xfrm>
              <a:off x="10330450" y="1225636"/>
              <a:ext cx="114861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52" name="Google Shape;4252;p46"/>
            <p:cNvSpPr/>
            <p:nvPr/>
          </p:nvSpPr>
          <p:spPr>
            <a:xfrm>
              <a:off x="10332745" y="825123"/>
              <a:ext cx="1122744" cy="2616597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3" name="Google Shape;4253;p46"/>
          <p:cNvGrpSpPr/>
          <p:nvPr/>
        </p:nvGrpSpPr>
        <p:grpSpPr>
          <a:xfrm>
            <a:off x="1942201" y="4070637"/>
            <a:ext cx="1802905" cy="3159839"/>
            <a:chOff x="9764348" y="1447800"/>
            <a:chExt cx="1149458" cy="3159839"/>
          </a:xfrm>
        </p:grpSpPr>
        <p:sp>
          <p:nvSpPr>
            <p:cNvPr id="4254" name="Google Shape;4254;p46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55" name="Google Shape;4255;p46"/>
            <p:cNvGrpSpPr/>
            <p:nvPr/>
          </p:nvGrpSpPr>
          <p:grpSpPr>
            <a:xfrm>
              <a:off x="9764348" y="1447800"/>
              <a:ext cx="1130291" cy="3159839"/>
              <a:chOff x="9472119" y="702026"/>
              <a:chExt cx="1130291" cy="3159839"/>
            </a:xfrm>
          </p:grpSpPr>
          <p:sp>
            <p:nvSpPr>
              <p:cNvPr id="4256" name="Google Shape;4256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7" name="Google Shape;4257;p46"/>
              <p:cNvSpPr txBox="1"/>
              <p:nvPr/>
            </p:nvSpPr>
            <p:spPr>
              <a:xfrm>
                <a:off x="9472119" y="702026"/>
                <a:ext cx="1088020" cy="31598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h: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1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58" name="Google Shape;4258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59" name="Google Shape;4259;p46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60" name="Google Shape;4260;p46"/>
          <p:cNvGrpSpPr/>
          <p:nvPr/>
        </p:nvGrpSpPr>
        <p:grpSpPr>
          <a:xfrm>
            <a:off x="2063365" y="1246157"/>
            <a:ext cx="1630941" cy="2667397"/>
            <a:chOff x="9764348" y="1447800"/>
            <a:chExt cx="1149458" cy="2667397"/>
          </a:xfrm>
        </p:grpSpPr>
        <p:sp>
          <p:nvSpPr>
            <p:cNvPr id="4261" name="Google Shape;4261;p46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2" name="Google Shape;4262;p46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263" name="Google Shape;4263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4" name="Google Shape;4264;p46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d: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 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65" name="Google Shape;4265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66" name="Google Shape;4266;p46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67" name="Google Shape;4267;p46"/>
          <p:cNvSpPr/>
          <p:nvPr/>
        </p:nvSpPr>
        <p:spPr>
          <a:xfrm>
            <a:off x="3677920" y="1280160"/>
            <a:ext cx="853440" cy="2824480"/>
          </a:xfrm>
          <a:custGeom>
            <a:rect b="b" l="l" r="r" t="t"/>
            <a:pathLst>
              <a:path extrusionOk="0" h="2824480" w="85344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68" name="Google Shape;4268;p46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269" name="Google Shape;4269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270" name="Google Shape;427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71" name="Google Shape;427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72" name="Google Shape;427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73" name="Google Shape;427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74" name="Google Shape;427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5" name="Google Shape;427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76" name="Google Shape;4276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277" name="Google Shape;427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8" name="Google Shape;4278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79" name="Google Shape;4279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80" name="Google Shape;428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81" name="Google Shape;428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82" name="Google Shape;428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83" name="Google Shape;428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84" name="Google Shape;428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5" name="Google Shape;428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86" name="Google Shape;4286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87" name="Google Shape;428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8" name="Google Shape;4288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89" name="Google Shape;4289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290" name="Google Shape;429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91" name="Google Shape;429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92" name="Google Shape;429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93" name="Google Shape;429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94" name="Google Shape;429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5" name="Google Shape;429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96" name="Google Shape;4296;p46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297" name="Google Shape;429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8" name="Google Shape;4298;p46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299" name="Google Shape;4299;p46"/>
          <p:cNvSpPr/>
          <p:nvPr/>
        </p:nvSpPr>
        <p:spPr>
          <a:xfrm>
            <a:off x="3728720" y="4114800"/>
            <a:ext cx="2722880" cy="2560320"/>
          </a:xfrm>
          <a:custGeom>
            <a:rect b="b" l="l" r="r" t="t"/>
            <a:pathLst>
              <a:path extrusionOk="0" h="2560320" w="272288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00" name="Google Shape;4300;p46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4301" name="Google Shape;4301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302" name="Google Shape;430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03" name="Google Shape;430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04" name="Google Shape;430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05" name="Google Shape;430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06" name="Google Shape;430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7" name="Google Shape;430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08" name="Google Shape;4308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309" name="Google Shape;430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0" name="Google Shape;4310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11" name="Google Shape;4311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312" name="Google Shape;431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13" name="Google Shape;431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14" name="Google Shape;431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15" name="Google Shape;431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16" name="Google Shape;431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7" name="Google Shape;431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18" name="Google Shape;4318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319" name="Google Shape;431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0" name="Google Shape;4320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21" name="Google Shape;4321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322" name="Google Shape;432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23" name="Google Shape;432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24" name="Google Shape;432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25" name="Google Shape;432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26" name="Google Shape;432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7" name="Google Shape;432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28" name="Google Shape;4328;p46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329" name="Google Shape;432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0" name="Google Shape;4330;p46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331" name="Google Shape;4331;p46"/>
          <p:cNvSpPr/>
          <p:nvPr/>
        </p:nvSpPr>
        <p:spPr>
          <a:xfrm>
            <a:off x="4765040" y="2611120"/>
            <a:ext cx="3535680" cy="64008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what is new DV computed in e at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332" name="Google Shape;4332;p46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3" name="Google Shape;4333;p46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4" name="Google Shape;4334;p46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5" name="Google Shape;4335;p46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36" name="Google Shape;4336;p46"/>
          <p:cNvGrpSpPr/>
          <p:nvPr/>
        </p:nvGrpSpPr>
        <p:grpSpPr>
          <a:xfrm>
            <a:off x="6039628" y="3567469"/>
            <a:ext cx="1196054" cy="1022555"/>
            <a:chOff x="9655277" y="2349909"/>
            <a:chExt cx="1196054" cy="1022555"/>
          </a:xfrm>
        </p:grpSpPr>
        <p:sp>
          <p:nvSpPr>
            <p:cNvPr id="4337" name="Google Shape;4337;p46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46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3" name="Shape 4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4" name="Google Shape;4344;p47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state information diffusion</a:t>
            </a:r>
            <a:endParaRPr/>
          </a:p>
        </p:txBody>
      </p:sp>
      <p:grpSp>
        <p:nvGrpSpPr>
          <p:cNvPr id="4345" name="Google Shape;4345;p47"/>
          <p:cNvGrpSpPr/>
          <p:nvPr/>
        </p:nvGrpSpPr>
        <p:grpSpPr>
          <a:xfrm>
            <a:off x="661263" y="1850804"/>
            <a:ext cx="4436326" cy="371277"/>
            <a:chOff x="661263" y="1925960"/>
            <a:chExt cx="4436326" cy="371277"/>
          </a:xfrm>
        </p:grpSpPr>
        <p:grpSp>
          <p:nvGrpSpPr>
            <p:cNvPr id="4346" name="Google Shape;4346;p47"/>
            <p:cNvGrpSpPr/>
            <p:nvPr/>
          </p:nvGrpSpPr>
          <p:grpSpPr>
            <a:xfrm>
              <a:off x="661263" y="1927187"/>
              <a:ext cx="918242" cy="370050"/>
              <a:chOff x="1097284" y="2174236"/>
              <a:chExt cx="918242" cy="370050"/>
            </a:xfrm>
          </p:grpSpPr>
          <p:sp>
            <p:nvSpPr>
              <p:cNvPr id="4347" name="Google Shape;4347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t=0</a:t>
                </a:r>
                <a:endParaRPr/>
              </a:p>
            </p:txBody>
          </p:sp>
          <p:grpSp>
            <p:nvGrpSpPr>
              <p:cNvPr id="4348" name="Google Shape;4348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349" name="Google Shape;4349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50" name="Google Shape;4350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1" name="Google Shape;4351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2" name="Google Shape;4352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3" name="Google Shape;4353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4" name="Google Shape;4354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5" name="Google Shape;4355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6" name="Google Shape;4356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7" name="Google Shape;4357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8" name="Google Shape;4358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9" name="Google Shape;4359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60" name="Google Shape;4360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61" name="Google Shape;4361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362" name="Google Shape;4362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63" name="Google Shape;4363;p47"/>
                <p:cNvCxnSpPr/>
                <p:nvPr/>
              </p:nvCxnSpPr>
              <p:spPr>
                <a:xfrm>
                  <a:off x="1314533" y="2230033"/>
                  <a:ext cx="0" cy="111727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4364" name="Google Shape;4364;p47"/>
            <p:cNvSpPr txBox="1"/>
            <p:nvPr/>
          </p:nvSpPr>
          <p:spPr>
            <a:xfrm flipH="1">
              <a:off x="1653913" y="1925960"/>
              <a:ext cx="34436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is at c only</a:t>
              </a:r>
              <a:endParaRPr/>
            </a:p>
          </p:txBody>
        </p:sp>
      </p:grpSp>
      <p:grpSp>
        <p:nvGrpSpPr>
          <p:cNvPr id="4365" name="Google Shape;4365;p47"/>
          <p:cNvGrpSpPr/>
          <p:nvPr/>
        </p:nvGrpSpPr>
        <p:grpSpPr>
          <a:xfrm>
            <a:off x="7171418" y="2007663"/>
            <a:ext cx="4435671" cy="4385738"/>
            <a:chOff x="6907258" y="1814623"/>
            <a:chExt cx="4435671" cy="4385738"/>
          </a:xfrm>
        </p:grpSpPr>
        <p:cxnSp>
          <p:nvCxnSpPr>
            <p:cNvPr id="4366" name="Google Shape;4366;p47"/>
            <p:cNvCxnSpPr>
              <a:stCxn id="4367" idx="2"/>
              <a:endCxn id="4367" idx="0"/>
            </p:cNvCxnSpPr>
            <p:nvPr/>
          </p:nvCxnSpPr>
          <p:spPr>
            <a:xfrm rot="10800000">
              <a:off x="9141446" y="2037691"/>
              <a:ext cx="0" cy="3863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8" name="Google Shape;4368;p47"/>
            <p:cNvCxnSpPr>
              <a:stCxn id="4367" idx="1"/>
              <a:endCxn id="4367" idx="3"/>
            </p:cNvCxnSpPr>
            <p:nvPr/>
          </p:nvCxnSpPr>
          <p:spPr>
            <a:xfrm>
              <a:off x="7209890" y="3969236"/>
              <a:ext cx="3863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67" name="Google Shape;4367;p47"/>
            <p:cNvSpPr/>
            <p:nvPr/>
          </p:nvSpPr>
          <p:spPr>
            <a:xfrm>
              <a:off x="7209890" y="2037680"/>
              <a:ext cx="3863111" cy="386311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9" name="Google Shape;4369;p47"/>
            <p:cNvSpPr/>
            <p:nvPr/>
          </p:nvSpPr>
          <p:spPr>
            <a:xfrm>
              <a:off x="10991457" y="2109030"/>
              <a:ext cx="132508" cy="185510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70" name="Google Shape;4370;p47"/>
            <p:cNvGrpSpPr/>
            <p:nvPr/>
          </p:nvGrpSpPr>
          <p:grpSpPr>
            <a:xfrm>
              <a:off x="6944905" y="5680773"/>
              <a:ext cx="4395351" cy="404576"/>
              <a:chOff x="4333785" y="5772213"/>
              <a:chExt cx="4395351" cy="404576"/>
            </a:xfrm>
          </p:grpSpPr>
          <p:grpSp>
            <p:nvGrpSpPr>
              <p:cNvPr id="4371" name="Google Shape;4371;p47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372" name="Google Shape;4372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373" name="Google Shape;4373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74" name="Google Shape;4374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75" name="Google Shape;4375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376" name="Google Shape;4376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77" name="Google Shape;4377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78" name="Google Shape;4378;p47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379" name="Google Shape;4379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80" name="Google Shape;4380;p47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g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81" name="Google Shape;4381;p47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382" name="Google Shape;4382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383" name="Google Shape;4383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84" name="Google Shape;4384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85" name="Google Shape;4385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386" name="Google Shape;4386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87" name="Google Shape;4387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88" name="Google Shape;4388;p47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389" name="Google Shape;4389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90" name="Google Shape;4390;p47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91" name="Google Shape;4391;p47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392" name="Google Shape;4392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393" name="Google Shape;4393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94" name="Google Shape;4394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95" name="Google Shape;4395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396" name="Google Shape;4396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97" name="Google Shape;4397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98" name="Google Shape;4398;p47"/>
                <p:cNvGrpSpPr/>
                <p:nvPr/>
              </p:nvGrpSpPr>
              <p:grpSpPr>
                <a:xfrm>
                  <a:off x="1500196" y="2507397"/>
                  <a:ext cx="267548" cy="419100"/>
                  <a:chOff x="2972" y="2425"/>
                  <a:chExt cx="171" cy="264"/>
                </a:xfrm>
              </p:grpSpPr>
              <p:sp>
                <p:nvSpPr>
                  <p:cNvPr id="4399" name="Google Shape;4399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00" name="Google Shape;4400;p47"/>
                  <p:cNvSpPr txBox="1"/>
                  <p:nvPr/>
                </p:nvSpPr>
                <p:spPr>
                  <a:xfrm>
                    <a:off x="2972" y="2425"/>
                    <a:ext cx="171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i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4401" name="Google Shape;4401;p47"/>
            <p:cNvSpPr txBox="1"/>
            <p:nvPr/>
          </p:nvSpPr>
          <p:spPr>
            <a:xfrm>
              <a:off x="6916902" y="2779082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2" name="Google Shape;4402;p47"/>
            <p:cNvSpPr txBox="1"/>
            <p:nvPr/>
          </p:nvSpPr>
          <p:spPr>
            <a:xfrm>
              <a:off x="8828654" y="2769437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3" name="Google Shape;4403;p47"/>
            <p:cNvSpPr txBox="1"/>
            <p:nvPr/>
          </p:nvSpPr>
          <p:spPr>
            <a:xfrm>
              <a:off x="6907258" y="4795006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4" name="Google Shape;4404;p47"/>
            <p:cNvSpPr txBox="1"/>
            <p:nvPr/>
          </p:nvSpPr>
          <p:spPr>
            <a:xfrm>
              <a:off x="8842160" y="4796936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5" name="Google Shape;4405;p47"/>
            <p:cNvSpPr txBox="1"/>
            <p:nvPr/>
          </p:nvSpPr>
          <p:spPr>
            <a:xfrm>
              <a:off x="10765485" y="4798866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6" name="Google Shape;4406;p47"/>
            <p:cNvSpPr txBox="1"/>
            <p:nvPr/>
          </p:nvSpPr>
          <p:spPr>
            <a:xfrm>
              <a:off x="8053150" y="3938480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7" name="Google Shape;4407;p47"/>
            <p:cNvSpPr txBox="1"/>
            <p:nvPr/>
          </p:nvSpPr>
          <p:spPr>
            <a:xfrm>
              <a:off x="9964902" y="3928835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8" name="Google Shape;4408;p47"/>
            <p:cNvSpPr txBox="1"/>
            <p:nvPr/>
          </p:nvSpPr>
          <p:spPr>
            <a:xfrm>
              <a:off x="8055078" y="5861807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9" name="Google Shape;4409;p47"/>
            <p:cNvSpPr txBox="1"/>
            <p:nvPr/>
          </p:nvSpPr>
          <p:spPr>
            <a:xfrm>
              <a:off x="9966830" y="5852162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10" name="Google Shape;4410;p47"/>
            <p:cNvSpPr txBox="1"/>
            <p:nvPr/>
          </p:nvSpPr>
          <p:spPr>
            <a:xfrm>
              <a:off x="8057006" y="2032516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4411" name="Google Shape;4411;p47"/>
            <p:cNvSpPr txBox="1"/>
            <p:nvPr/>
          </p:nvSpPr>
          <p:spPr>
            <a:xfrm>
              <a:off x="9968758" y="2022871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12" name="Google Shape;4412;p47"/>
            <p:cNvSpPr/>
            <p:nvPr/>
          </p:nvSpPr>
          <p:spPr>
            <a:xfrm rot="5400000">
              <a:off x="7011053" y="246986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3" name="Google Shape;4413;p47"/>
            <p:cNvSpPr/>
            <p:nvPr/>
          </p:nvSpPr>
          <p:spPr>
            <a:xfrm rot="-5400000">
              <a:off x="7006137" y="3379348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4" name="Google Shape;4414;p47"/>
            <p:cNvSpPr/>
            <p:nvPr/>
          </p:nvSpPr>
          <p:spPr>
            <a:xfrm rot="5400000">
              <a:off x="8913594" y="2455117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5" name="Google Shape;4415;p47"/>
            <p:cNvSpPr/>
            <p:nvPr/>
          </p:nvSpPr>
          <p:spPr>
            <a:xfrm rot="-5400000">
              <a:off x="8908678" y="3364601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6" name="Google Shape;4416;p47"/>
            <p:cNvSpPr/>
            <p:nvPr/>
          </p:nvSpPr>
          <p:spPr>
            <a:xfrm rot="5400000">
              <a:off x="6981555" y="436749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7" name="Google Shape;4417;p47"/>
            <p:cNvSpPr/>
            <p:nvPr/>
          </p:nvSpPr>
          <p:spPr>
            <a:xfrm rot="-5400000">
              <a:off x="6976639" y="5276978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8" name="Google Shape;4418;p47"/>
            <p:cNvSpPr/>
            <p:nvPr/>
          </p:nvSpPr>
          <p:spPr>
            <a:xfrm rot="5400000">
              <a:off x="8923428" y="4362582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9" name="Google Shape;4419;p47"/>
            <p:cNvSpPr/>
            <p:nvPr/>
          </p:nvSpPr>
          <p:spPr>
            <a:xfrm rot="-5400000">
              <a:off x="8918512" y="5272066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0" name="Google Shape;4420;p47"/>
            <p:cNvSpPr/>
            <p:nvPr/>
          </p:nvSpPr>
          <p:spPr>
            <a:xfrm rot="5400000">
              <a:off x="10865301" y="4357670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1" name="Google Shape;4421;p47"/>
            <p:cNvSpPr/>
            <p:nvPr/>
          </p:nvSpPr>
          <p:spPr>
            <a:xfrm rot="-5400000">
              <a:off x="10860385" y="526715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2" name="Google Shape;4422;p47"/>
            <p:cNvSpPr/>
            <p:nvPr/>
          </p:nvSpPr>
          <p:spPr>
            <a:xfrm rot="10800000">
              <a:off x="10193515" y="5738225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3" name="Google Shape;4423;p47"/>
            <p:cNvSpPr/>
            <p:nvPr/>
          </p:nvSpPr>
          <p:spPr>
            <a:xfrm>
              <a:off x="9430824" y="5743142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24" name="Google Shape;4424;p47"/>
            <p:cNvGrpSpPr/>
            <p:nvPr/>
          </p:nvGrpSpPr>
          <p:grpSpPr>
            <a:xfrm>
              <a:off x="6947578" y="3742350"/>
              <a:ext cx="4395351" cy="404576"/>
              <a:chOff x="4333785" y="5772213"/>
              <a:chExt cx="4395351" cy="404576"/>
            </a:xfrm>
          </p:grpSpPr>
          <p:grpSp>
            <p:nvGrpSpPr>
              <p:cNvPr id="4425" name="Google Shape;4425;p47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426" name="Google Shape;4426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27" name="Google Shape;4427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28" name="Google Shape;4428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29" name="Google Shape;4429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30" name="Google Shape;4430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1" name="Google Shape;4431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32" name="Google Shape;4432;p47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433" name="Google Shape;4433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4" name="Google Shape;4434;p47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35" name="Google Shape;4435;p47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36" name="Google Shape;4436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37" name="Google Shape;4437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38" name="Google Shape;4438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39" name="Google Shape;4439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40" name="Google Shape;4440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41" name="Google Shape;4441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42" name="Google Shape;4442;p47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443" name="Google Shape;4443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44" name="Google Shape;4444;p47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e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45" name="Google Shape;4445;p47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46" name="Google Shape;4446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47" name="Google Shape;4447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48" name="Google Shape;4448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49" name="Google Shape;4449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50" name="Google Shape;4450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1" name="Google Shape;4451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52" name="Google Shape;4452;p47"/>
                <p:cNvGrpSpPr/>
                <p:nvPr/>
              </p:nvGrpSpPr>
              <p:grpSpPr>
                <a:xfrm>
                  <a:off x="1492372" y="2507397"/>
                  <a:ext cx="283194" cy="419100"/>
                  <a:chOff x="2967" y="2425"/>
                  <a:chExt cx="181" cy="264"/>
                </a:xfrm>
              </p:grpSpPr>
              <p:sp>
                <p:nvSpPr>
                  <p:cNvPr id="4453" name="Google Shape;4453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4" name="Google Shape;4454;p47"/>
                  <p:cNvSpPr txBox="1"/>
                  <p:nvPr/>
                </p:nvSpPr>
                <p:spPr>
                  <a:xfrm>
                    <a:off x="2967" y="2425"/>
                    <a:ext cx="181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455" name="Google Shape;4455;p47"/>
            <p:cNvGrpSpPr/>
            <p:nvPr/>
          </p:nvGrpSpPr>
          <p:grpSpPr>
            <a:xfrm>
              <a:off x="6944905" y="1814623"/>
              <a:ext cx="4395351" cy="404576"/>
              <a:chOff x="4333785" y="5772213"/>
              <a:chExt cx="4395351" cy="404576"/>
            </a:xfrm>
          </p:grpSpPr>
          <p:grpSp>
            <p:nvGrpSpPr>
              <p:cNvPr id="4456" name="Google Shape;4456;p47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457" name="Google Shape;4457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58" name="Google Shape;4458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59" name="Google Shape;4459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60" name="Google Shape;4460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61" name="Google Shape;4461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2" name="Google Shape;4462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63" name="Google Shape;4463;p47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464" name="Google Shape;4464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5" name="Google Shape;4465;p47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66" name="Google Shape;4466;p47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67" name="Google Shape;4467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68" name="Google Shape;4468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69" name="Google Shape;4469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70" name="Google Shape;4470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71" name="Google Shape;4471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72" name="Google Shape;4472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73" name="Google Shape;4473;p47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474" name="Google Shape;4474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75" name="Google Shape;4475;p47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b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76" name="Google Shape;4476;p47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77" name="Google Shape;4477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78" name="Google Shape;4478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79" name="Google Shape;4479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80" name="Google Shape;4480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81" name="Google Shape;4481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2" name="Google Shape;4482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83" name="Google Shape;4483;p47"/>
                <p:cNvGrpSpPr/>
                <p:nvPr/>
              </p:nvGrpSpPr>
              <p:grpSpPr>
                <a:xfrm>
                  <a:off x="1464202" y="2507397"/>
                  <a:ext cx="341084" cy="419100"/>
                  <a:chOff x="2949" y="2425"/>
                  <a:chExt cx="218" cy="264"/>
                </a:xfrm>
              </p:grpSpPr>
              <p:sp>
                <p:nvSpPr>
                  <p:cNvPr id="4484" name="Google Shape;4484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5" name="Google Shape;4485;p47"/>
                  <p:cNvSpPr txBox="1"/>
                  <p:nvPr/>
                </p:nvSpPr>
                <p:spPr>
                  <a:xfrm>
                    <a:off x="2949" y="2425"/>
                    <a:ext cx="218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4486" name="Google Shape;4486;p47"/>
            <p:cNvSpPr/>
            <p:nvPr/>
          </p:nvSpPr>
          <p:spPr>
            <a:xfrm rot="10800000">
              <a:off x="8271137" y="5751593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7" name="Google Shape;4487;p47"/>
            <p:cNvSpPr/>
            <p:nvPr/>
          </p:nvSpPr>
          <p:spPr>
            <a:xfrm>
              <a:off x="7508446" y="5756510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8" name="Google Shape;4488;p47"/>
            <p:cNvSpPr/>
            <p:nvPr/>
          </p:nvSpPr>
          <p:spPr>
            <a:xfrm rot="10800000">
              <a:off x="8263118" y="3813171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9" name="Google Shape;4489;p47"/>
            <p:cNvSpPr/>
            <p:nvPr/>
          </p:nvSpPr>
          <p:spPr>
            <a:xfrm>
              <a:off x="7516468" y="3818088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0" name="Google Shape;4490;p47"/>
            <p:cNvSpPr/>
            <p:nvPr/>
          </p:nvSpPr>
          <p:spPr>
            <a:xfrm rot="10800000">
              <a:off x="8271140" y="1874749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1" name="Google Shape;4491;p47"/>
            <p:cNvSpPr/>
            <p:nvPr/>
          </p:nvSpPr>
          <p:spPr>
            <a:xfrm>
              <a:off x="7535184" y="1895707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2" name="Google Shape;4492;p47"/>
            <p:cNvSpPr/>
            <p:nvPr/>
          </p:nvSpPr>
          <p:spPr>
            <a:xfrm rot="10800000">
              <a:off x="10193519" y="1877422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3" name="Google Shape;4493;p47"/>
            <p:cNvSpPr/>
            <p:nvPr/>
          </p:nvSpPr>
          <p:spPr>
            <a:xfrm>
              <a:off x="9430828" y="1882339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4" name="Google Shape;4494;p47"/>
            <p:cNvSpPr/>
            <p:nvPr/>
          </p:nvSpPr>
          <p:spPr>
            <a:xfrm rot="10800000">
              <a:off x="10206889" y="3815843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5" name="Google Shape;4495;p47"/>
            <p:cNvSpPr/>
            <p:nvPr/>
          </p:nvSpPr>
          <p:spPr>
            <a:xfrm>
              <a:off x="9444198" y="3820760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6" name="Google Shape;4496;p47"/>
          <p:cNvGrpSpPr/>
          <p:nvPr/>
        </p:nvGrpSpPr>
        <p:grpSpPr>
          <a:xfrm>
            <a:off x="657860" y="2400132"/>
            <a:ext cx="5733486" cy="978729"/>
            <a:chOff x="657860" y="2475288"/>
            <a:chExt cx="5733486" cy="978729"/>
          </a:xfrm>
        </p:grpSpPr>
        <p:sp>
          <p:nvSpPr>
            <p:cNvPr id="4497" name="Google Shape;4497;p47"/>
            <p:cNvSpPr txBox="1"/>
            <p:nvPr/>
          </p:nvSpPr>
          <p:spPr>
            <a:xfrm flipH="1">
              <a:off x="1644363" y="2475288"/>
              <a:ext cx="4746983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has propagated to b, and may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hop away, i.e., at b</a:t>
              </a:r>
              <a:endParaRPr/>
            </a:p>
          </p:txBody>
        </p:sp>
        <p:grpSp>
          <p:nvGrpSpPr>
            <p:cNvPr id="4498" name="Google Shape;4498;p47"/>
            <p:cNvGrpSpPr/>
            <p:nvPr/>
          </p:nvGrpSpPr>
          <p:grpSpPr>
            <a:xfrm>
              <a:off x="657860" y="2750299"/>
              <a:ext cx="918242" cy="370050"/>
              <a:chOff x="1097284" y="2174236"/>
              <a:chExt cx="918242" cy="370050"/>
            </a:xfrm>
          </p:grpSpPr>
          <p:sp>
            <p:nvSpPr>
              <p:cNvPr id="4499" name="Google Shape;449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t=1</a:t>
                </a:r>
                <a:endParaRPr/>
              </a:p>
            </p:txBody>
          </p:sp>
          <p:grpSp>
            <p:nvGrpSpPr>
              <p:cNvPr id="4500" name="Google Shape;450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01" name="Google Shape;450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02" name="Google Shape;450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3" name="Google Shape;450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4" name="Google Shape;450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5" name="Google Shape;450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6" name="Google Shape;450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7" name="Google Shape;450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8" name="Google Shape;450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9" name="Google Shape;450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0" name="Google Shape;451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1" name="Google Shape;451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2" name="Google Shape;451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3" name="Google Shape;451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14" name="Google Shape;451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15" name="Google Shape;4515;p47"/>
                <p:cNvCxnSpPr/>
                <p:nvPr/>
              </p:nvCxnSpPr>
              <p:spPr>
                <a:xfrm flipH="1">
                  <a:off x="1318079" y="2243337"/>
                  <a:ext cx="79786" cy="111123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16" name="Google Shape;4516;p47"/>
          <p:cNvGrpSpPr/>
          <p:nvPr/>
        </p:nvGrpSpPr>
        <p:grpSpPr>
          <a:xfrm>
            <a:off x="644525" y="3464640"/>
            <a:ext cx="5840095" cy="978729"/>
            <a:chOff x="644525" y="3539796"/>
            <a:chExt cx="5840095" cy="978729"/>
          </a:xfrm>
        </p:grpSpPr>
        <p:sp>
          <p:nvSpPr>
            <p:cNvPr id="4517" name="Google Shape;4517;p47"/>
            <p:cNvSpPr txBox="1"/>
            <p:nvPr/>
          </p:nvSpPr>
          <p:spPr>
            <a:xfrm flipH="1">
              <a:off x="1638864" y="3539796"/>
              <a:ext cx="4845756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now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hops away, i.e., at b and now at a, e as well</a:t>
              </a:r>
              <a:endParaRPr/>
            </a:p>
          </p:txBody>
        </p:sp>
        <p:grpSp>
          <p:nvGrpSpPr>
            <p:cNvPr id="4518" name="Google Shape;4518;p47"/>
            <p:cNvGrpSpPr/>
            <p:nvPr/>
          </p:nvGrpSpPr>
          <p:grpSpPr>
            <a:xfrm>
              <a:off x="644525" y="3789159"/>
              <a:ext cx="918242" cy="370050"/>
              <a:chOff x="1097284" y="2174236"/>
              <a:chExt cx="918242" cy="370050"/>
            </a:xfrm>
          </p:grpSpPr>
          <p:sp>
            <p:nvSpPr>
              <p:cNvPr id="4519" name="Google Shape;451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t=2</a:t>
                </a:r>
                <a:endParaRPr/>
              </a:p>
            </p:txBody>
          </p:sp>
          <p:grpSp>
            <p:nvGrpSpPr>
              <p:cNvPr id="4520" name="Google Shape;452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21" name="Google Shape;452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22" name="Google Shape;452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3" name="Google Shape;452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4" name="Google Shape;452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5" name="Google Shape;452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6" name="Google Shape;452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7" name="Google Shape;452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8" name="Google Shape;452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9" name="Google Shape;452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0" name="Google Shape;453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1" name="Google Shape;453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2" name="Google Shape;453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3" name="Google Shape;453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34" name="Google Shape;453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35" name="Google Shape;4535;p47"/>
                <p:cNvCxnSpPr/>
                <p:nvPr/>
              </p:nvCxnSpPr>
              <p:spPr>
                <a:xfrm flipH="1">
                  <a:off x="1310990" y="2293502"/>
                  <a:ext cx="151387" cy="67308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36" name="Google Shape;4536;p47"/>
          <p:cNvGrpSpPr/>
          <p:nvPr/>
        </p:nvGrpSpPr>
        <p:grpSpPr>
          <a:xfrm>
            <a:off x="657860" y="4484676"/>
            <a:ext cx="5999480" cy="978729"/>
            <a:chOff x="657860" y="4484676"/>
            <a:chExt cx="5999480" cy="978729"/>
          </a:xfrm>
        </p:grpSpPr>
        <p:sp>
          <p:nvSpPr>
            <p:cNvPr id="4537" name="Google Shape;4537;p47"/>
            <p:cNvSpPr txBox="1"/>
            <p:nvPr/>
          </p:nvSpPr>
          <p:spPr>
            <a:xfrm flipH="1">
              <a:off x="1659184" y="4484676"/>
              <a:ext cx="4998156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hops away, i.e., at b,a,e and now at c,f,h as well</a:t>
              </a:r>
              <a:endParaRPr/>
            </a:p>
          </p:txBody>
        </p:sp>
        <p:grpSp>
          <p:nvGrpSpPr>
            <p:cNvPr id="4538" name="Google Shape;4538;p47"/>
            <p:cNvGrpSpPr/>
            <p:nvPr/>
          </p:nvGrpSpPr>
          <p:grpSpPr>
            <a:xfrm>
              <a:off x="657860" y="4761979"/>
              <a:ext cx="918242" cy="370050"/>
              <a:chOff x="1097284" y="2174236"/>
              <a:chExt cx="918242" cy="370050"/>
            </a:xfrm>
          </p:grpSpPr>
          <p:sp>
            <p:nvSpPr>
              <p:cNvPr id="4539" name="Google Shape;453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t=3</a:t>
                </a:r>
                <a:endParaRPr/>
              </a:p>
            </p:txBody>
          </p:sp>
          <p:grpSp>
            <p:nvGrpSpPr>
              <p:cNvPr id="4540" name="Google Shape;454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41" name="Google Shape;454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42" name="Google Shape;454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3" name="Google Shape;454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4" name="Google Shape;454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5" name="Google Shape;454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6" name="Google Shape;454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7" name="Google Shape;454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8" name="Google Shape;454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9" name="Google Shape;454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0" name="Google Shape;455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1" name="Google Shape;455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2" name="Google Shape;455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3" name="Google Shape;455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54" name="Google Shape;455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55" name="Google Shape;4555;p47"/>
                <p:cNvCxnSpPr/>
                <p:nvPr/>
              </p:nvCxnSpPr>
              <p:spPr>
                <a:xfrm rot="10800000">
                  <a:off x="1314533" y="2354460"/>
                  <a:ext cx="154224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56" name="Google Shape;4556;p47"/>
          <p:cNvGrpSpPr/>
          <p:nvPr/>
        </p:nvGrpSpPr>
        <p:grpSpPr>
          <a:xfrm>
            <a:off x="657860" y="5524662"/>
            <a:ext cx="5918200" cy="978729"/>
            <a:chOff x="657860" y="5499610"/>
            <a:chExt cx="5918200" cy="978729"/>
          </a:xfrm>
        </p:grpSpPr>
        <p:sp>
          <p:nvSpPr>
            <p:cNvPr id="4557" name="Google Shape;4557;p47"/>
            <p:cNvSpPr/>
            <p:nvPr/>
          </p:nvSpPr>
          <p:spPr>
            <a:xfrm>
              <a:off x="1638300" y="5499610"/>
              <a:ext cx="4937760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hops away, i.e., at b,a,e, c, f, h and now at g,i as well</a:t>
              </a:r>
              <a:endParaRPr/>
            </a:p>
          </p:txBody>
        </p:sp>
        <p:grpSp>
          <p:nvGrpSpPr>
            <p:cNvPr id="4558" name="Google Shape;4558;p47"/>
            <p:cNvGrpSpPr/>
            <p:nvPr/>
          </p:nvGrpSpPr>
          <p:grpSpPr>
            <a:xfrm>
              <a:off x="657860" y="5777979"/>
              <a:ext cx="918242" cy="370050"/>
              <a:chOff x="1097284" y="2174236"/>
              <a:chExt cx="918242" cy="370050"/>
            </a:xfrm>
          </p:grpSpPr>
          <p:sp>
            <p:nvSpPr>
              <p:cNvPr id="4559" name="Google Shape;455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t=4</a:t>
                </a:r>
                <a:endParaRPr/>
              </a:p>
            </p:txBody>
          </p:sp>
          <p:grpSp>
            <p:nvGrpSpPr>
              <p:cNvPr id="4560" name="Google Shape;456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61" name="Google Shape;456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62" name="Google Shape;456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3" name="Google Shape;456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4" name="Google Shape;456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5" name="Google Shape;456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6" name="Google Shape;456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7" name="Google Shape;456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8" name="Google Shape;456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9" name="Google Shape;456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0" name="Google Shape;457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1" name="Google Shape;457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2" name="Google Shape;457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3" name="Google Shape;457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74" name="Google Shape;457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75" name="Google Shape;4575;p47"/>
                <p:cNvCxnSpPr/>
                <p:nvPr/>
              </p:nvCxnSpPr>
              <p:spPr>
                <a:xfrm rot="10800000">
                  <a:off x="1310989" y="2351285"/>
                  <a:ext cx="140045" cy="7112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4576" name="Google Shape;4576;p47"/>
          <p:cNvSpPr txBox="1"/>
          <p:nvPr/>
        </p:nvSpPr>
        <p:spPr>
          <a:xfrm>
            <a:off x="802640" y="1188720"/>
            <a:ext cx="106197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Iterative communication, computation steps diffuses information through network: </a:t>
            </a:r>
            <a:endParaRPr/>
          </a:p>
        </p:txBody>
      </p:sp>
      <p:grpSp>
        <p:nvGrpSpPr>
          <p:cNvPr id="4577" name="Google Shape;4577;p47"/>
          <p:cNvGrpSpPr/>
          <p:nvPr/>
        </p:nvGrpSpPr>
        <p:grpSpPr>
          <a:xfrm>
            <a:off x="8879399" y="1803748"/>
            <a:ext cx="2857489" cy="1596883"/>
            <a:chOff x="8879399" y="1803748"/>
            <a:chExt cx="2857489" cy="1596883"/>
          </a:xfrm>
        </p:grpSpPr>
        <p:sp>
          <p:nvSpPr>
            <p:cNvPr id="4578" name="Google Shape;4578;p47"/>
            <p:cNvSpPr/>
            <p:nvPr/>
          </p:nvSpPr>
          <p:spPr>
            <a:xfrm>
              <a:off x="8879399" y="1803748"/>
              <a:ext cx="2857489" cy="1536065"/>
            </a:xfrm>
            <a:custGeom>
              <a:rect b="b" l="l" r="r" t="t"/>
              <a:pathLst>
                <a:path extrusionOk="0" h="1536065" w="2857489">
                  <a:moveTo>
                    <a:pt x="1555" y="0"/>
                  </a:moveTo>
                  <a:cubicBezTo>
                    <a:pt x="-6794" y="271398"/>
                    <a:pt x="1555" y="1075152"/>
                    <a:pt x="477544" y="1327760"/>
                  </a:cubicBezTo>
                  <a:cubicBezTo>
                    <a:pt x="953533" y="1580368"/>
                    <a:pt x="1968141" y="1544876"/>
                    <a:pt x="2857489" y="1515649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79" name="Google Shape;4579;p47"/>
            <p:cNvSpPr txBox="1"/>
            <p:nvPr/>
          </p:nvSpPr>
          <p:spPr>
            <a:xfrm>
              <a:off x="11185743" y="3031299"/>
              <a:ext cx="5469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t=1 </a:t>
              </a:r>
              <a:endParaRPr/>
            </a:p>
          </p:txBody>
        </p:sp>
      </p:grpSp>
      <p:grpSp>
        <p:nvGrpSpPr>
          <p:cNvPr id="4580" name="Google Shape;4580;p47"/>
          <p:cNvGrpSpPr/>
          <p:nvPr/>
        </p:nvGrpSpPr>
        <p:grpSpPr>
          <a:xfrm>
            <a:off x="7149715" y="1929521"/>
            <a:ext cx="4586651" cy="2599426"/>
            <a:chOff x="8907795" y="1814699"/>
            <a:chExt cx="2775713" cy="2599426"/>
          </a:xfrm>
        </p:grpSpPr>
        <p:sp>
          <p:nvSpPr>
            <p:cNvPr id="4581" name="Google Shape;4581;p47"/>
            <p:cNvSpPr/>
            <p:nvPr/>
          </p:nvSpPr>
          <p:spPr>
            <a:xfrm>
              <a:off x="8907795" y="1814699"/>
              <a:ext cx="2745708" cy="2599426"/>
            </a:xfrm>
            <a:custGeom>
              <a:rect b="b" l="l" r="r" t="t"/>
              <a:pathLst>
                <a:path extrusionOk="0" h="2364158" w="2785999">
                  <a:moveTo>
                    <a:pt x="0" y="0"/>
                  </a:moveTo>
                  <a:cubicBezTo>
                    <a:pt x="943" y="1381432"/>
                    <a:pt x="550939" y="1118129"/>
                    <a:pt x="780300" y="1512155"/>
                  </a:cubicBezTo>
                  <a:cubicBezTo>
                    <a:pt x="1009661" y="1906181"/>
                    <a:pt x="979509" y="2332843"/>
                    <a:pt x="1376166" y="2364158"/>
                  </a:cubicBezTo>
                  <a:cubicBezTo>
                    <a:pt x="1818305" y="2338511"/>
                    <a:pt x="1761382" y="1586941"/>
                    <a:pt x="2785999" y="1539867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82" name="Google Shape;4582;p47"/>
            <p:cNvSpPr txBox="1"/>
            <p:nvPr/>
          </p:nvSpPr>
          <p:spPr>
            <a:xfrm>
              <a:off x="11352512" y="3203511"/>
              <a:ext cx="3309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t=2 </a:t>
              </a:r>
              <a:endParaRPr/>
            </a:p>
          </p:txBody>
        </p:sp>
      </p:grpSp>
      <p:grpSp>
        <p:nvGrpSpPr>
          <p:cNvPr id="4583" name="Google Shape;4583;p47"/>
          <p:cNvGrpSpPr/>
          <p:nvPr/>
        </p:nvGrpSpPr>
        <p:grpSpPr>
          <a:xfrm>
            <a:off x="7026541" y="1994238"/>
            <a:ext cx="4824649" cy="4365597"/>
            <a:chOff x="8907795" y="1814698"/>
            <a:chExt cx="2919743" cy="4365597"/>
          </a:xfrm>
        </p:grpSpPr>
        <p:sp>
          <p:nvSpPr>
            <p:cNvPr id="4584" name="Google Shape;4584;p47"/>
            <p:cNvSpPr/>
            <p:nvPr/>
          </p:nvSpPr>
          <p:spPr>
            <a:xfrm>
              <a:off x="8907795" y="1814698"/>
              <a:ext cx="2806352" cy="4365597"/>
            </a:xfrm>
            <a:custGeom>
              <a:rect b="b" l="l" r="r" t="t"/>
              <a:pathLst>
                <a:path extrusionOk="0" h="3970477" w="2847532">
                  <a:moveTo>
                    <a:pt x="0" y="0"/>
                  </a:moveTo>
                  <a:cubicBezTo>
                    <a:pt x="943" y="1381432"/>
                    <a:pt x="7986" y="1928780"/>
                    <a:pt x="6598" y="2237364"/>
                  </a:cubicBezTo>
                  <a:cubicBezTo>
                    <a:pt x="5210" y="2545948"/>
                    <a:pt x="941136" y="3970903"/>
                    <a:pt x="1422317" y="3970477"/>
                  </a:cubicBezTo>
                  <a:cubicBezTo>
                    <a:pt x="1903498" y="3970051"/>
                    <a:pt x="2053664" y="2919844"/>
                    <a:pt x="2847532" y="2918339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85" name="Google Shape;4585;p47"/>
            <p:cNvSpPr txBox="1"/>
            <p:nvPr/>
          </p:nvSpPr>
          <p:spPr>
            <a:xfrm>
              <a:off x="11496542" y="4706635"/>
              <a:ext cx="3309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t=3 </a:t>
              </a:r>
              <a:endParaRPr/>
            </a:p>
          </p:txBody>
        </p:sp>
      </p:grpSp>
      <p:grpSp>
        <p:nvGrpSpPr>
          <p:cNvPr id="4586" name="Google Shape;4586;p47"/>
          <p:cNvGrpSpPr/>
          <p:nvPr/>
        </p:nvGrpSpPr>
        <p:grpSpPr>
          <a:xfrm>
            <a:off x="6828212" y="2004167"/>
            <a:ext cx="5205658" cy="4487257"/>
            <a:chOff x="8907795" y="1823741"/>
            <a:chExt cx="2917701" cy="3238676"/>
          </a:xfrm>
        </p:grpSpPr>
        <p:sp>
          <p:nvSpPr>
            <p:cNvPr id="4587" name="Google Shape;4587;p47"/>
            <p:cNvSpPr/>
            <p:nvPr/>
          </p:nvSpPr>
          <p:spPr>
            <a:xfrm>
              <a:off x="8907795" y="1823741"/>
              <a:ext cx="2806351" cy="3234534"/>
            </a:xfrm>
            <a:custGeom>
              <a:rect b="b" l="l" r="r" t="t"/>
              <a:pathLst>
                <a:path extrusionOk="0" h="2941785" w="2847532">
                  <a:moveTo>
                    <a:pt x="0" y="0"/>
                  </a:moveTo>
                  <a:cubicBezTo>
                    <a:pt x="15191" y="1611659"/>
                    <a:pt x="-19201" y="2632144"/>
                    <a:pt x="92081" y="2812934"/>
                  </a:cubicBezTo>
                  <a:cubicBezTo>
                    <a:pt x="203363" y="2993724"/>
                    <a:pt x="2234300" y="2940917"/>
                    <a:pt x="2847532" y="2910117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88" name="Google Shape;4588;p47"/>
            <p:cNvSpPr txBox="1"/>
            <p:nvPr/>
          </p:nvSpPr>
          <p:spPr>
            <a:xfrm>
              <a:off x="11518941" y="4795852"/>
              <a:ext cx="306555" cy="266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t=4 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2" name="Shape 4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3" name="Google Shape;4593;p4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4594" name="Google Shape;4594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5" name="Google Shape;4595;p48"/>
          <p:cNvSpPr txBox="1"/>
          <p:nvPr/>
        </p:nvSpPr>
        <p:spPr>
          <a:xfrm>
            <a:off x="488515" y="4245258"/>
            <a:ext cx="1841326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“good news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travels fast”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6" name="Google Shape;4596;p48"/>
          <p:cNvSpPr/>
          <p:nvPr/>
        </p:nvSpPr>
        <p:spPr>
          <a:xfrm>
            <a:off x="2337453" y="3722449"/>
            <a:ext cx="9111337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detects link-cost change, updates its DV, informs its neighbors.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7" name="Google Shape;4597;p48"/>
          <p:cNvSpPr/>
          <p:nvPr/>
        </p:nvSpPr>
        <p:spPr>
          <a:xfrm>
            <a:off x="2350153" y="4231521"/>
            <a:ext cx="871033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receives update from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updates its table, computes new least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sends its neighbors its DV.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8" name="Google Shape;4598;p48"/>
          <p:cNvSpPr/>
          <p:nvPr/>
        </p:nvSpPr>
        <p:spPr>
          <a:xfrm>
            <a:off x="2322274" y="5064204"/>
            <a:ext cx="845011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update, updates its distance table.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y’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least costs do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change,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does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send a message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9" name="Google Shape;4599;p48"/>
          <p:cNvSpPr/>
          <p:nvPr/>
        </p:nvSpPr>
        <p:spPr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link cost changes: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detects local link cost change 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updates routing info, recalculates local DV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DV changes, notify neighbors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4600" name="Google Shape;4600;p48"/>
          <p:cNvGrpSpPr/>
          <p:nvPr/>
        </p:nvGrpSpPr>
        <p:grpSpPr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601" name="Google Shape;4601;p48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48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3" name="Google Shape;4603;p48"/>
            <p:cNvSpPr/>
            <p:nvPr/>
          </p:nvSpPr>
          <p:spPr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04" name="Google Shape;4604;p48"/>
            <p:cNvCxnSpPr/>
            <p:nvPr/>
          </p:nvCxnSpPr>
          <p:spPr>
            <a:xfrm>
              <a:off x="3724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5" name="Google Shape;4605;p48"/>
            <p:cNvCxnSpPr/>
            <p:nvPr/>
          </p:nvCxnSpPr>
          <p:spPr>
            <a:xfrm>
              <a:off x="4037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06" name="Google Shape;4606;p48"/>
            <p:cNvSpPr/>
            <p:nvPr/>
          </p:nvSpPr>
          <p:spPr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07" name="Google Shape;4607;p48"/>
            <p:cNvSpPr/>
            <p:nvPr/>
          </p:nvSpPr>
          <p:spPr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8" name="Google Shape;4608;p48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9" name="Google Shape;4609;p48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0" name="Google Shape;4610;p48"/>
            <p:cNvGrpSpPr/>
            <p:nvPr/>
          </p:nvGrpSpPr>
          <p:grpSpPr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4611" name="Google Shape;4611;p4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2" name="Google Shape;4612;p48"/>
              <p:cNvSpPr txBox="1"/>
              <p:nvPr/>
            </p:nvSpPr>
            <p:spPr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13" name="Google Shape;4613;p48"/>
            <p:cNvGrpSpPr/>
            <p:nvPr/>
          </p:nvGrpSpPr>
          <p:grpSpPr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4614" name="Google Shape;4614;p48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15" name="Google Shape;4615;p48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6" name="Google Shape;4616;p48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17" name="Google Shape;4617;p48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18" name="Google Shape;4618;p48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19" name="Google Shape;4619;p48"/>
              <p:cNvGrpSpPr/>
              <p:nvPr/>
            </p:nvGrpSpPr>
            <p:grpSpPr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4620" name="Google Shape;4620;p48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1" name="Google Shape;4621;p48"/>
                <p:cNvSpPr txBox="1"/>
                <p:nvPr/>
              </p:nvSpPr>
              <p:spPr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22" name="Google Shape;4622;p48"/>
            <p:cNvSpPr txBox="1"/>
            <p:nvPr/>
          </p:nvSpPr>
          <p:spPr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3" name="Google Shape;4623;p48"/>
            <p:cNvSpPr txBox="1"/>
            <p:nvPr/>
          </p:nvSpPr>
          <p:spPr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4" name="Google Shape;4624;p48"/>
            <p:cNvSpPr txBox="1"/>
            <p:nvPr/>
          </p:nvSpPr>
          <p:spPr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25" name="Google Shape;4625;p48"/>
            <p:cNvGrpSpPr/>
            <p:nvPr/>
          </p:nvGrpSpPr>
          <p:grpSpPr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4626" name="Google Shape;4626;p48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27" name="Google Shape;4627;p48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8" name="Google Shape;4628;p48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29" name="Google Shape;4629;p48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30" name="Google Shape;4630;p48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31" name="Google Shape;4631;p48"/>
              <p:cNvGrpSpPr/>
              <p:nvPr/>
            </p:nvGrpSpPr>
            <p:grpSpPr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4632" name="Google Shape;4632;p48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3" name="Google Shape;4633;p48"/>
                <p:cNvSpPr txBox="1"/>
                <p:nvPr/>
              </p:nvSpPr>
              <p:spPr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34" name="Google Shape;4634;p48"/>
            <p:cNvSpPr txBox="1"/>
            <p:nvPr/>
          </p:nvSpPr>
          <p:spPr>
            <a:xfrm>
              <a:off x="3837" y="1076"/>
              <a:ext cx="18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35" name="Google Shape;4635;p48"/>
            <p:cNvCxnSpPr/>
            <p:nvPr/>
          </p:nvCxnSpPr>
          <p:spPr>
            <a:xfrm rot="10800000">
              <a:off x="3948" y="1272"/>
              <a:ext cx="132" cy="228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9" name="Shape 4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0" name="Google Shape;4640;p4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4641" name="Google Shape;4641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42" name="Google Shape;4642;p49"/>
          <p:cNvSpPr/>
          <p:nvPr/>
        </p:nvSpPr>
        <p:spPr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link cost changes: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detects local link cost change 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“bad news travels slow”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count-to-infinity problem:</a:t>
            </a:r>
            <a:endParaRPr/>
          </a:p>
        </p:txBody>
      </p:sp>
      <p:grpSp>
        <p:nvGrpSpPr>
          <p:cNvPr id="4643" name="Google Shape;4643;p49"/>
          <p:cNvGrpSpPr/>
          <p:nvPr/>
        </p:nvGrpSpPr>
        <p:grpSpPr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644" name="Google Shape;4644;p49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5" name="Google Shape;4645;p49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6" name="Google Shape;4646;p49"/>
            <p:cNvSpPr/>
            <p:nvPr/>
          </p:nvSpPr>
          <p:spPr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47" name="Google Shape;4647;p49"/>
            <p:cNvCxnSpPr/>
            <p:nvPr/>
          </p:nvCxnSpPr>
          <p:spPr>
            <a:xfrm>
              <a:off x="3724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8" name="Google Shape;4648;p49"/>
            <p:cNvCxnSpPr/>
            <p:nvPr/>
          </p:nvCxnSpPr>
          <p:spPr>
            <a:xfrm>
              <a:off x="4037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49" name="Google Shape;4649;p49"/>
            <p:cNvSpPr/>
            <p:nvPr/>
          </p:nvSpPr>
          <p:spPr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50" name="Google Shape;4650;p49"/>
            <p:cNvSpPr/>
            <p:nvPr/>
          </p:nvSpPr>
          <p:spPr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1" name="Google Shape;4651;p49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49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53" name="Google Shape;4653;p49"/>
            <p:cNvGrpSpPr/>
            <p:nvPr/>
          </p:nvGrpSpPr>
          <p:grpSpPr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4654" name="Google Shape;4654;p4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5" name="Google Shape;4655;p49"/>
              <p:cNvSpPr txBox="1"/>
              <p:nvPr/>
            </p:nvSpPr>
            <p:spPr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56" name="Google Shape;4656;p49"/>
            <p:cNvGrpSpPr/>
            <p:nvPr/>
          </p:nvGrpSpPr>
          <p:grpSpPr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4657" name="Google Shape;4657;p49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58" name="Google Shape;4658;p49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9" name="Google Shape;4659;p49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60" name="Google Shape;4660;p49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61" name="Google Shape;4661;p49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62" name="Google Shape;4662;p49"/>
              <p:cNvGrpSpPr/>
              <p:nvPr/>
            </p:nvGrpSpPr>
            <p:grpSpPr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4663" name="Google Shape;4663;p49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4" name="Google Shape;4664;p49"/>
                <p:cNvSpPr txBox="1"/>
                <p:nvPr/>
              </p:nvSpPr>
              <p:spPr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65" name="Google Shape;4665;p49"/>
            <p:cNvSpPr txBox="1"/>
            <p:nvPr/>
          </p:nvSpPr>
          <p:spPr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6" name="Google Shape;4666;p49"/>
            <p:cNvSpPr txBox="1"/>
            <p:nvPr/>
          </p:nvSpPr>
          <p:spPr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7" name="Google Shape;4667;p49"/>
            <p:cNvSpPr txBox="1"/>
            <p:nvPr/>
          </p:nvSpPr>
          <p:spPr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68" name="Google Shape;4668;p49"/>
            <p:cNvGrpSpPr/>
            <p:nvPr/>
          </p:nvGrpSpPr>
          <p:grpSpPr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4669" name="Google Shape;4669;p49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70" name="Google Shape;4670;p49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1" name="Google Shape;4671;p49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72" name="Google Shape;4672;p49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73" name="Google Shape;4673;p49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74" name="Google Shape;4674;p49"/>
              <p:cNvGrpSpPr/>
              <p:nvPr/>
            </p:nvGrpSpPr>
            <p:grpSpPr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4675" name="Google Shape;4675;p49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6" name="Google Shape;4676;p49"/>
                <p:cNvSpPr txBox="1"/>
                <p:nvPr/>
              </p:nvSpPr>
              <p:spPr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77" name="Google Shape;4677;p49"/>
            <p:cNvSpPr txBox="1"/>
            <p:nvPr/>
          </p:nvSpPr>
          <p:spPr>
            <a:xfrm>
              <a:off x="3781" y="1076"/>
              <a:ext cx="294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6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78" name="Google Shape;4678;p49"/>
            <p:cNvCxnSpPr/>
            <p:nvPr/>
          </p:nvCxnSpPr>
          <p:spPr>
            <a:xfrm rot="10800000">
              <a:off x="3948" y="1272"/>
              <a:ext cx="132" cy="228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679" name="Google Shape;4679;p49"/>
          <p:cNvSpPr/>
          <p:nvPr/>
        </p:nvSpPr>
        <p:spPr>
          <a:xfrm>
            <a:off x="1041747" y="2917913"/>
            <a:ext cx="10519776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sees direct link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has new cost 60, but z has said it has a path at cost of 5.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computes “my new cost to x will be 6, via z);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6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0" name="Google Shape;4680;p49"/>
          <p:cNvSpPr/>
          <p:nvPr/>
        </p:nvSpPr>
        <p:spPr>
          <a:xfrm>
            <a:off x="1043836" y="3596406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new cost 6,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be 7 via y),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7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1" name="Google Shape;4681;p49"/>
          <p:cNvSpPr/>
          <p:nvPr/>
        </p:nvSpPr>
        <p:spPr>
          <a:xfrm>
            <a:off x="1045923" y="4274900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new cost 7,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be 8 via y),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8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2" name="Google Shape;4682;p49"/>
          <p:cNvSpPr/>
          <p:nvPr/>
        </p:nvSpPr>
        <p:spPr>
          <a:xfrm>
            <a:off x="1020871" y="4963831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new cost 8,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be 9 via y),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9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3" name="Google Shape;4683;p49"/>
          <p:cNvSpPr txBox="1"/>
          <p:nvPr/>
        </p:nvSpPr>
        <p:spPr>
          <a:xfrm>
            <a:off x="1365337" y="5473616"/>
            <a:ext cx="4331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4684" name="Google Shape;4684;p49"/>
          <p:cNvSpPr/>
          <p:nvPr/>
        </p:nvSpPr>
        <p:spPr>
          <a:xfrm>
            <a:off x="847596" y="6018756"/>
            <a:ext cx="9931052" cy="445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text for solutions. 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 algorithms are tricky!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8" name="Shape 4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" name="Google Shape;4689;p50"/>
          <p:cNvSpPr txBox="1"/>
          <p:nvPr>
            <p:ph type="title"/>
          </p:nvPr>
        </p:nvSpPr>
        <p:spPr>
          <a:xfrm>
            <a:off x="822274" y="10311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Count to Infinity</a:t>
            </a:r>
            <a:endParaRPr/>
          </a:p>
        </p:txBody>
      </p:sp>
      <p:sp>
        <p:nvSpPr>
          <p:cNvPr id="4690" name="Google Shape;4690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691" name="Google Shape;4691;p50"/>
          <p:cNvGrpSpPr/>
          <p:nvPr/>
        </p:nvGrpSpPr>
        <p:grpSpPr>
          <a:xfrm>
            <a:off x="707034" y="1054473"/>
            <a:ext cx="4207007" cy="2680206"/>
            <a:chOff x="1592980" y="1758589"/>
            <a:chExt cx="4207007" cy="2680206"/>
          </a:xfrm>
        </p:grpSpPr>
        <p:grpSp>
          <p:nvGrpSpPr>
            <p:cNvPr id="4692" name="Google Shape;4692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693" name="Google Shape;4693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4" name="Google Shape;4694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5" name="Google Shape;4695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96" name="Google Shape;4696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7" name="Google Shape;4697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98" name="Google Shape;4698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99" name="Google Shape;4699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0" name="Google Shape;4700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1" name="Google Shape;4701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02" name="Google Shape;4702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703" name="Google Shape;4703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4" name="Google Shape;4704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05" name="Google Shape;4705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706" name="Google Shape;4706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07" name="Google Shape;4707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08" name="Google Shape;4708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09" name="Google Shape;4709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10" name="Google Shape;4710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11" name="Google Shape;4711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712" name="Google Shape;4712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13" name="Google Shape;4713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714" name="Google Shape;4714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5" name="Google Shape;4715;p50"/>
              <p:cNvSpPr txBox="1"/>
              <p:nvPr/>
            </p:nvSpPr>
            <p:spPr>
              <a:xfrm>
                <a:off x="3930" y="1325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4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6" name="Google Shape;4716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717" name="Google Shape;4717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718" name="Google Shape;4718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19" name="Google Shape;4719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20" name="Google Shape;4720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21" name="Google Shape;4721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22" name="Google Shape;4722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23" name="Google Shape;4723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724" name="Google Shape;4724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25" name="Google Shape;4725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726" name="Google Shape;4726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727" name="Google Shape;4727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728" name="Google Shape;4728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9" name="Google Shape;4729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730" name="Google Shape;4730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731" name="Google Shape;4731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32" name="Google Shape;4732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733" name="Google Shape;4733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734" name="Google Shape;4734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35" name="Google Shape;4735;p50"/>
          <p:cNvGrpSpPr/>
          <p:nvPr/>
        </p:nvGrpSpPr>
        <p:grpSpPr>
          <a:xfrm>
            <a:off x="425719" y="4032670"/>
            <a:ext cx="4207007" cy="2680206"/>
            <a:chOff x="1592980" y="1758589"/>
            <a:chExt cx="4207007" cy="2680206"/>
          </a:xfrm>
        </p:grpSpPr>
        <p:grpSp>
          <p:nvGrpSpPr>
            <p:cNvPr id="4736" name="Google Shape;4736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737" name="Google Shape;4737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8" name="Google Shape;4738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9" name="Google Shape;4739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40" name="Google Shape;4740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1" name="Google Shape;4741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42" name="Google Shape;4742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43" name="Google Shape;4743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4" name="Google Shape;4744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5" name="Google Shape;4745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46" name="Google Shape;4746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747" name="Google Shape;4747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8" name="Google Shape;4748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49" name="Google Shape;4749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750" name="Google Shape;4750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51" name="Google Shape;4751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52" name="Google Shape;4752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53" name="Google Shape;4753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54" name="Google Shape;4754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55" name="Google Shape;4755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756" name="Google Shape;4756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7" name="Google Shape;4757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758" name="Google Shape;4758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59" name="Google Shape;4759;p50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60" name="Google Shape;4760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761" name="Google Shape;4761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762" name="Google Shape;4762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63" name="Google Shape;4763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64" name="Google Shape;4764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65" name="Google Shape;4765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66" name="Google Shape;4766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67" name="Google Shape;4767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768" name="Google Shape;4768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9" name="Google Shape;4769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770" name="Google Shape;4770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771" name="Google Shape;4771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772" name="Google Shape;4772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3" name="Google Shape;4773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774" name="Google Shape;4774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775" name="Google Shape;4775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6" name="Google Shape;4776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777" name="Google Shape;4777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778" name="Google Shape;4778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60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79" name="Google Shape;4779;p50"/>
          <p:cNvGrpSpPr/>
          <p:nvPr/>
        </p:nvGrpSpPr>
        <p:grpSpPr>
          <a:xfrm>
            <a:off x="6384209" y="929060"/>
            <a:ext cx="4207007" cy="2680206"/>
            <a:chOff x="1592980" y="1758589"/>
            <a:chExt cx="4207007" cy="2680206"/>
          </a:xfrm>
        </p:grpSpPr>
        <p:grpSp>
          <p:nvGrpSpPr>
            <p:cNvPr id="4780" name="Google Shape;4780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781" name="Google Shape;4781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2" name="Google Shape;4782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3" name="Google Shape;4783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84" name="Google Shape;4784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5" name="Google Shape;4785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86" name="Google Shape;4786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87" name="Google Shape;4787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8" name="Google Shape;4788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9" name="Google Shape;4789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90" name="Google Shape;4790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791" name="Google Shape;4791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2" name="Google Shape;4792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93" name="Google Shape;4793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794" name="Google Shape;4794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95" name="Google Shape;4795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96" name="Google Shape;4796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97" name="Google Shape;4797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98" name="Google Shape;4798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99" name="Google Shape;4799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800" name="Google Shape;4800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01" name="Google Shape;4801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802" name="Google Shape;4802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03" name="Google Shape;4803;p50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04" name="Google Shape;4804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805" name="Google Shape;4805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806" name="Google Shape;4806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07" name="Google Shape;4807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8" name="Google Shape;4808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09" name="Google Shape;4809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10" name="Google Shape;4810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11" name="Google Shape;4811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812" name="Google Shape;4812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13" name="Google Shape;4813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814" name="Google Shape;4814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815" name="Google Shape;4815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816" name="Google Shape;4816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7" name="Google Shape;4817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818" name="Google Shape;4818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819" name="Google Shape;4819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0" name="Google Shape;4820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821" name="Google Shape;4821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822" name="Google Shape;4822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=??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23" name="Google Shape;4823;p50"/>
          <p:cNvSpPr txBox="1"/>
          <p:nvPr/>
        </p:nvSpPr>
        <p:spPr>
          <a:xfrm>
            <a:off x="8913263" y="822279"/>
            <a:ext cx="30495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(x)=min{C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+Dx(X),C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yz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(Z)}</a:t>
            </a:r>
            <a:endParaRPr/>
          </a:p>
        </p:txBody>
      </p:sp>
      <p:sp>
        <p:nvSpPr>
          <p:cNvPr id="4824" name="Google Shape;4824;p50"/>
          <p:cNvSpPr txBox="1"/>
          <p:nvPr/>
        </p:nvSpPr>
        <p:spPr>
          <a:xfrm>
            <a:off x="8954111" y="1193393"/>
            <a:ext cx="23615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(x)=min{60+0,1+5}=6</a:t>
            </a:r>
            <a:endParaRPr/>
          </a:p>
        </p:txBody>
      </p:sp>
      <p:grpSp>
        <p:nvGrpSpPr>
          <p:cNvPr id="4825" name="Google Shape;4825;p50"/>
          <p:cNvGrpSpPr/>
          <p:nvPr/>
        </p:nvGrpSpPr>
        <p:grpSpPr>
          <a:xfrm>
            <a:off x="6169569" y="4078623"/>
            <a:ext cx="4207007" cy="2680206"/>
            <a:chOff x="1592980" y="1758589"/>
            <a:chExt cx="4207007" cy="2680206"/>
          </a:xfrm>
        </p:grpSpPr>
        <p:grpSp>
          <p:nvGrpSpPr>
            <p:cNvPr id="4826" name="Google Shape;4826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827" name="Google Shape;4827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8" name="Google Shape;4828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9" name="Google Shape;4829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30" name="Google Shape;4830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1" name="Google Shape;4831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32" name="Google Shape;4832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33" name="Google Shape;4833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4" name="Google Shape;4834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5" name="Google Shape;4835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836" name="Google Shape;4836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837" name="Google Shape;4837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8" name="Google Shape;4838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839" name="Google Shape;4839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840" name="Google Shape;4840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41" name="Google Shape;4841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42" name="Google Shape;4842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43" name="Google Shape;4843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44" name="Google Shape;4844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45" name="Google Shape;4845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846" name="Google Shape;4846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47" name="Google Shape;4847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848" name="Google Shape;4848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49" name="Google Shape;4849;p50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50" name="Google Shape;4850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851" name="Google Shape;4851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852" name="Google Shape;4852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53" name="Google Shape;4853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54" name="Google Shape;4854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55" name="Google Shape;4855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56" name="Google Shape;4856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57" name="Google Shape;4857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858" name="Google Shape;4858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9" name="Google Shape;4859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860" name="Google Shape;4860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861" name="Google Shape;4861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862" name="Google Shape;4862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3" name="Google Shape;4863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864" name="Google Shape;4864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865" name="Google Shape;4865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6" name="Google Shape;4866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867" name="Google Shape;4867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868" name="Google Shape;4868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6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2" name="Shape 4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3" name="Google Shape;4873;p51"/>
          <p:cNvSpPr txBox="1"/>
          <p:nvPr>
            <p:ph type="title"/>
          </p:nvPr>
        </p:nvSpPr>
        <p:spPr>
          <a:xfrm>
            <a:off x="822274" y="10311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Count to Infinity (2)</a:t>
            </a:r>
            <a:endParaRPr/>
          </a:p>
        </p:txBody>
      </p:sp>
      <p:sp>
        <p:nvSpPr>
          <p:cNvPr id="4874" name="Google Shape;4874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875" name="Google Shape;4875;p51"/>
          <p:cNvGrpSpPr/>
          <p:nvPr/>
        </p:nvGrpSpPr>
        <p:grpSpPr>
          <a:xfrm>
            <a:off x="707034" y="1054473"/>
            <a:ext cx="4207007" cy="2680206"/>
            <a:chOff x="1592980" y="1758589"/>
            <a:chExt cx="4207007" cy="2680206"/>
          </a:xfrm>
        </p:grpSpPr>
        <p:grpSp>
          <p:nvGrpSpPr>
            <p:cNvPr id="4876" name="Google Shape;4876;p51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877" name="Google Shape;4877;p51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8" name="Google Shape;4878;p51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9" name="Google Shape;4879;p51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80" name="Google Shape;4880;p51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1" name="Google Shape;4881;p51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82" name="Google Shape;4882;p51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83" name="Google Shape;4883;p51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4" name="Google Shape;4884;p51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5" name="Google Shape;4885;p51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886" name="Google Shape;4886;p51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887" name="Google Shape;4887;p5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8" name="Google Shape;4888;p51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889" name="Google Shape;4889;p51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890" name="Google Shape;4890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91" name="Google Shape;4891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92" name="Google Shape;4892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93" name="Google Shape;4893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94" name="Google Shape;4894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95" name="Google Shape;4895;p51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896" name="Google Shape;4896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97" name="Google Shape;4897;p51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898" name="Google Shape;4898;p51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99" name="Google Shape;4899;p51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00" name="Google Shape;4900;p51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901" name="Google Shape;4901;p51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902" name="Google Shape;4902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03" name="Google Shape;4903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04" name="Google Shape;4904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05" name="Google Shape;4905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06" name="Google Shape;4906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07" name="Google Shape;4907;p51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908" name="Google Shape;4908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09" name="Google Shape;4909;p51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910" name="Google Shape;4910;p51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911" name="Google Shape;4911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912" name="Google Shape;4912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13" name="Google Shape;4913;p51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914" name="Google Shape;4914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915" name="Google Shape;4915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16" name="Google Shape;4916;p51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917" name="Google Shape;4917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918" name="Google Shape;4918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6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19" name="Google Shape;4919;p51"/>
          <p:cNvGrpSpPr/>
          <p:nvPr/>
        </p:nvGrpSpPr>
        <p:grpSpPr>
          <a:xfrm>
            <a:off x="425719" y="4032670"/>
            <a:ext cx="4207007" cy="2680206"/>
            <a:chOff x="1592980" y="1758589"/>
            <a:chExt cx="4207007" cy="2680206"/>
          </a:xfrm>
        </p:grpSpPr>
        <p:grpSp>
          <p:nvGrpSpPr>
            <p:cNvPr id="4920" name="Google Shape;4920;p51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921" name="Google Shape;4921;p51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2" name="Google Shape;4922;p51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3" name="Google Shape;4923;p51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24" name="Google Shape;4924;p51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5" name="Google Shape;4925;p51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26" name="Google Shape;4926;p51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27" name="Google Shape;4927;p51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8" name="Google Shape;4928;p51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9" name="Google Shape;4929;p51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930" name="Google Shape;4930;p51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931" name="Google Shape;4931;p5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32" name="Google Shape;4932;p51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933" name="Google Shape;4933;p51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934" name="Google Shape;4934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35" name="Google Shape;4935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36" name="Google Shape;4936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37" name="Google Shape;4937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38" name="Google Shape;4938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39" name="Google Shape;4939;p51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940" name="Google Shape;4940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41" name="Google Shape;4941;p51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942" name="Google Shape;4942;p51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43" name="Google Shape;4943;p51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44" name="Google Shape;4944;p51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945" name="Google Shape;4945;p51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946" name="Google Shape;4946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47" name="Google Shape;4947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48" name="Google Shape;4948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49" name="Google Shape;4949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50" name="Google Shape;4950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51" name="Google Shape;4951;p51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952" name="Google Shape;4952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53" name="Google Shape;4953;p51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954" name="Google Shape;4954;p51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955" name="Google Shape;4955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956" name="Google Shape;4956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7" name="Google Shape;4957;p51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958" name="Google Shape;4958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959" name="Google Shape;4959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60" name="Google Shape;4960;p51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961" name="Google Shape;4961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962" name="Google Shape;4962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6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63" name="Google Shape;4963;p51"/>
          <p:cNvGrpSpPr/>
          <p:nvPr/>
        </p:nvGrpSpPr>
        <p:grpSpPr>
          <a:xfrm>
            <a:off x="6169569" y="4078623"/>
            <a:ext cx="4207007" cy="2680206"/>
            <a:chOff x="1592980" y="1758589"/>
            <a:chExt cx="4207007" cy="2680206"/>
          </a:xfrm>
        </p:grpSpPr>
        <p:grpSp>
          <p:nvGrpSpPr>
            <p:cNvPr id="4964" name="Google Shape;4964;p51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965" name="Google Shape;4965;p51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6" name="Google Shape;4966;p51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7" name="Google Shape;4967;p51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68" name="Google Shape;4968;p51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9" name="Google Shape;4969;p51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70" name="Google Shape;4970;p51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71" name="Google Shape;4971;p51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2" name="Google Shape;4972;p51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3" name="Google Shape;4973;p51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974" name="Google Shape;4974;p51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975" name="Google Shape;4975;p5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76" name="Google Shape;4976;p51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977" name="Google Shape;4977;p51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978" name="Google Shape;4978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79" name="Google Shape;4979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80" name="Google Shape;4980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81" name="Google Shape;4981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82" name="Google Shape;4982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83" name="Google Shape;4983;p51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984" name="Google Shape;4984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85" name="Google Shape;4985;p51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986" name="Google Shape;4986;p51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87" name="Google Shape;4987;p51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88" name="Google Shape;4988;p51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989" name="Google Shape;4989;p51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990" name="Google Shape;4990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91" name="Google Shape;4991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92" name="Google Shape;4992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93" name="Google Shape;4993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94" name="Google Shape;4994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95" name="Google Shape;4995;p51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996" name="Google Shape;4996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97" name="Google Shape;4997;p51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998" name="Google Shape;4998;p51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999" name="Google Shape;4999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5000" name="Google Shape;5000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7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1" name="Google Shape;5001;p51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5002" name="Google Shape;5002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5003" name="Google Shape;5003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7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4" name="Google Shape;5004;p51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5005" name="Google Shape;5005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5006" name="Google Shape;5006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endParaRPr/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07" name="Google Shape;5007;p51"/>
          <p:cNvSpPr/>
          <p:nvPr/>
        </p:nvSpPr>
        <p:spPr>
          <a:xfrm>
            <a:off x="4124514" y="4938256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D(y)</a:t>
            </a:r>
            <a:endParaRPr/>
          </a:p>
        </p:txBody>
      </p:sp>
      <p:sp>
        <p:nvSpPr>
          <p:cNvPr id="5008" name="Google Shape;5008;p51"/>
          <p:cNvSpPr txBox="1"/>
          <p:nvPr/>
        </p:nvSpPr>
        <p:spPr>
          <a:xfrm>
            <a:off x="4147534" y="5336428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=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9" name="Google Shape;5009;p51"/>
          <p:cNvSpPr/>
          <p:nvPr/>
        </p:nvSpPr>
        <p:spPr>
          <a:xfrm>
            <a:off x="1626547" y="5954882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D(y)</a:t>
            </a:r>
            <a:endParaRPr/>
          </a:p>
        </p:txBody>
      </p:sp>
      <p:sp>
        <p:nvSpPr>
          <p:cNvPr id="5010" name="Google Shape;5010;p51"/>
          <p:cNvSpPr txBox="1"/>
          <p:nvPr/>
        </p:nvSpPr>
        <p:spPr>
          <a:xfrm>
            <a:off x="1649567" y="6353054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=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1" name="Google Shape;5011;p51"/>
          <p:cNvSpPr/>
          <p:nvPr/>
        </p:nvSpPr>
        <p:spPr>
          <a:xfrm>
            <a:off x="5594227" y="3823449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D(X)</a:t>
            </a:r>
            <a:endParaRPr/>
          </a:p>
        </p:txBody>
      </p:sp>
      <p:sp>
        <p:nvSpPr>
          <p:cNvPr id="5012" name="Google Shape;5012;p51"/>
          <p:cNvSpPr txBox="1"/>
          <p:nvPr/>
        </p:nvSpPr>
        <p:spPr>
          <a:xfrm>
            <a:off x="5617247" y="4221621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 = 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 =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3" name="Google Shape;5013;p51"/>
          <p:cNvSpPr/>
          <p:nvPr/>
        </p:nvSpPr>
        <p:spPr>
          <a:xfrm>
            <a:off x="8661017" y="4058400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D(z)</a:t>
            </a:r>
            <a:endParaRPr/>
          </a:p>
        </p:txBody>
      </p:sp>
      <p:sp>
        <p:nvSpPr>
          <p:cNvPr id="5014" name="Google Shape;5014;p51"/>
          <p:cNvSpPr txBox="1"/>
          <p:nvPr/>
        </p:nvSpPr>
        <p:spPr>
          <a:xfrm>
            <a:off x="8684037" y="4456572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= 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8" name="Shape 5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9" name="Google Shape;5019;p5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Comparison of LS and DV algorithms</a:t>
            </a:r>
            <a:endParaRPr/>
          </a:p>
        </p:txBody>
      </p:sp>
      <p:sp>
        <p:nvSpPr>
          <p:cNvPr id="5020" name="Google Shape;5020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21" name="Google Shape;5021;p52"/>
          <p:cNvSpPr txBox="1"/>
          <p:nvPr/>
        </p:nvSpPr>
        <p:spPr>
          <a:xfrm>
            <a:off x="749342" y="1478070"/>
            <a:ext cx="5162943" cy="16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message complexity</a:t>
            </a:r>
            <a:endParaRPr/>
          </a:p>
          <a:p>
            <a:pPr indent="-349249" lvl="1" marL="696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routers, O(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messages sent  </a:t>
            </a:r>
            <a:endParaRPr/>
          </a:p>
          <a:p>
            <a:pPr indent="-349249" lvl="1" marL="696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 between neighbors; convergence time varies</a:t>
            </a:r>
            <a:endParaRPr/>
          </a:p>
        </p:txBody>
      </p:sp>
      <p:sp>
        <p:nvSpPr>
          <p:cNvPr id="5022" name="Google Shape;5022;p52"/>
          <p:cNvSpPr txBox="1"/>
          <p:nvPr/>
        </p:nvSpPr>
        <p:spPr>
          <a:xfrm>
            <a:off x="738904" y="3382027"/>
            <a:ext cx="5060647" cy="2367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speed of convergence</a:t>
            </a:r>
            <a:endParaRPr/>
          </a:p>
          <a:p>
            <a:pPr indent="-349249" lvl="0" marL="69691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algorithm,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messages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have oscillations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49" lvl="0" marL="69691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convergence time varies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have routing loops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count-to-infinity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3" name="Google Shape;5023;p52"/>
          <p:cNvSpPr txBox="1"/>
          <p:nvPr/>
        </p:nvSpPr>
        <p:spPr>
          <a:xfrm>
            <a:off x="6087648" y="1498948"/>
            <a:ext cx="5574083" cy="49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robustness: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if router malfunctions, or is compromised?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computes only its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</a:t>
            </a:r>
            <a:endParaRPr/>
          </a:p>
          <a:p>
            <a:pPr indent="-2238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 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path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 (“I have a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really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low cost path to everywhere”): black-holing</a:t>
            </a:r>
            <a:endParaRPr/>
          </a:p>
          <a:p>
            <a:pPr indent="-2238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router’s table used by others: error propagate thru network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8" name="Shape 5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9" name="Google Shape;5029;p5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030" name="Google Shape;503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5031" name="Google Shape;5031;p53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2" name="Google Shape;5032;p53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3" name="Google Shape;5033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7" name="Shape 5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" name="Google Shape;5038;p54"/>
          <p:cNvSpPr txBox="1"/>
          <p:nvPr>
            <p:ph idx="1" type="body"/>
          </p:nvPr>
        </p:nvSpPr>
        <p:spPr>
          <a:xfrm>
            <a:off x="788096" y="15611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our routing study thus far - idealized </a:t>
            </a:r>
            <a:endParaRPr/>
          </a:p>
          <a:p>
            <a:pPr indent="-285750" lvl="0" marL="5222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all routers identical</a:t>
            </a:r>
            <a:endParaRPr/>
          </a:p>
          <a:p>
            <a:pPr indent="-285750" lvl="0" marL="5222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network “flat”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… not true in practice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039" name="Google Shape;5039;p5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Making routing scalable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0" name="Google Shape;5040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41" name="Google Shape;5041;p54"/>
          <p:cNvSpPr txBox="1"/>
          <p:nvPr/>
        </p:nvSpPr>
        <p:spPr>
          <a:xfrm>
            <a:off x="990600" y="3666994"/>
            <a:ext cx="4984315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scale: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billions of destinations: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store all destinations in routing tables!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table exchange would swamp links!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42" name="Google Shape;5042;p54"/>
          <p:cNvSpPr txBox="1"/>
          <p:nvPr/>
        </p:nvSpPr>
        <p:spPr>
          <a:xfrm>
            <a:off x="6413326" y="3654991"/>
            <a:ext cx="536127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administrative autonomy: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Internet: a network of networks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network admin may want to control routing in its own network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6" name="Shape 5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7" name="Google Shape;5047;p55"/>
          <p:cNvSpPr txBox="1"/>
          <p:nvPr>
            <p:ph idx="1" type="body"/>
          </p:nvPr>
        </p:nvSpPr>
        <p:spPr>
          <a:xfrm>
            <a:off x="788096" y="15611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aggregate routers into regions known as </a:t>
            </a:r>
            <a:r>
              <a:rPr lang="en-US" sz="3200">
                <a:solidFill>
                  <a:srgbClr val="0000A8"/>
                </a:solidFill>
              </a:rPr>
              <a:t>“autonomous systems”</a:t>
            </a:r>
            <a:r>
              <a:rPr lang="en-US" sz="3200"/>
              <a:t> (AS) (a.k.a. “</a:t>
            </a:r>
            <a:r>
              <a:rPr lang="en-US" sz="3200">
                <a:solidFill>
                  <a:srgbClr val="0000A8"/>
                </a:solidFill>
              </a:rPr>
              <a:t>domains</a:t>
            </a:r>
            <a:r>
              <a:rPr lang="en-US" sz="3200"/>
              <a:t>”)</a:t>
            </a:r>
            <a:endParaRPr/>
          </a:p>
        </p:txBody>
      </p:sp>
      <p:sp>
        <p:nvSpPr>
          <p:cNvPr id="5048" name="Google Shape;5048;p5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approach to scalable routing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9" name="Google Shape;5049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0" name="Google Shape;5050;p55"/>
          <p:cNvSpPr txBox="1"/>
          <p:nvPr/>
        </p:nvSpPr>
        <p:spPr>
          <a:xfrm>
            <a:off x="952500" y="2904546"/>
            <a:ext cx="5635668" cy="3659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intra-AS (aka “intra-domain”):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within same AS (“network”)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routers in AS must run same intra-domain protocol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routers in different AS can run different intra-domain routing protocols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gateway router: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“edge” of its own AS, has link(s) to router(s) in other AS’es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51" name="Google Shape;5051;p55"/>
          <p:cNvSpPr txBox="1"/>
          <p:nvPr/>
        </p:nvSpPr>
        <p:spPr>
          <a:xfrm>
            <a:off x="6864096" y="2928482"/>
            <a:ext cx="516089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inter-AS (aka “inter-domain”):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</a:t>
            </a: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among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AS’es</a:t>
            </a:r>
            <a:endParaRPr/>
          </a:p>
          <a:p>
            <a:pPr indent="-285750" lvl="0" marL="409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gateways perform inter-domain routing (as well as intra-domain routing)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5" name="Shape 5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6" name="Google Shape;5056;p5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Interconnected ASes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7" name="Google Shape;5057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8" name="Google Shape;5058;p56"/>
          <p:cNvSpPr/>
          <p:nvPr/>
        </p:nvSpPr>
        <p:spPr>
          <a:xfrm>
            <a:off x="5446783" y="4100650"/>
            <a:ext cx="2351995" cy="1511508"/>
          </a:xfrm>
          <a:custGeom>
            <a:rect b="b" l="l" r="r" t="t"/>
            <a:pathLst>
              <a:path extrusionOk="0" h="543" w="1162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9" name="Google Shape;5059;p56"/>
          <p:cNvSpPr/>
          <p:nvPr/>
        </p:nvSpPr>
        <p:spPr>
          <a:xfrm>
            <a:off x="1620228" y="3847012"/>
            <a:ext cx="1832250" cy="1498236"/>
          </a:xfrm>
          <a:custGeom>
            <a:rect b="b" l="l" r="r" t="t"/>
            <a:pathLst>
              <a:path extrusionOk="0" h="451" w="1198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0" name="Google Shape;5060;p56"/>
          <p:cNvSpPr/>
          <p:nvPr/>
        </p:nvSpPr>
        <p:spPr>
          <a:xfrm>
            <a:off x="2802795" y="4927925"/>
            <a:ext cx="2930139" cy="1167917"/>
          </a:xfrm>
          <a:custGeom>
            <a:rect b="b" l="l" r="r" t="t"/>
            <a:pathLst>
              <a:path extrusionOk="0" h="682" w="1583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1" name="Google Shape;5061;p56"/>
          <p:cNvSpPr/>
          <p:nvPr/>
        </p:nvSpPr>
        <p:spPr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2" name="Google Shape;5062;p56"/>
          <p:cNvCxnSpPr/>
          <p:nvPr/>
        </p:nvCxnSpPr>
        <p:spPr>
          <a:xfrm>
            <a:off x="2001278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3" name="Google Shape;5063;p56"/>
          <p:cNvCxnSpPr/>
          <p:nvPr/>
        </p:nvCxnSpPr>
        <p:spPr>
          <a:xfrm>
            <a:off x="2458245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4" name="Google Shape;5064;p56"/>
          <p:cNvSpPr/>
          <p:nvPr/>
        </p:nvSpPr>
        <p:spPr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5" name="Google Shape;5065;p56"/>
          <p:cNvSpPr/>
          <p:nvPr/>
        </p:nvSpPr>
        <p:spPr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6" name="Google Shape;5066;p56"/>
          <p:cNvSpPr/>
          <p:nvPr/>
        </p:nvSpPr>
        <p:spPr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7" name="Google Shape;5067;p56"/>
          <p:cNvSpPr txBox="1"/>
          <p:nvPr/>
        </p:nvSpPr>
        <p:spPr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8" name="Google Shape;5068;p56"/>
          <p:cNvSpPr/>
          <p:nvPr/>
        </p:nvSpPr>
        <p:spPr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9" name="Google Shape;5069;p56"/>
          <p:cNvCxnSpPr/>
          <p:nvPr/>
        </p:nvCxnSpPr>
        <p:spPr>
          <a:xfrm>
            <a:off x="3779509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0" name="Google Shape;5070;p56"/>
          <p:cNvCxnSpPr/>
          <p:nvPr/>
        </p:nvCxnSpPr>
        <p:spPr>
          <a:xfrm>
            <a:off x="4236476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1" name="Google Shape;5071;p56"/>
          <p:cNvSpPr/>
          <p:nvPr/>
        </p:nvSpPr>
        <p:spPr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2" name="Google Shape;5072;p56"/>
          <p:cNvSpPr/>
          <p:nvPr/>
        </p:nvSpPr>
        <p:spPr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3" name="Google Shape;5073;p56"/>
          <p:cNvGrpSpPr/>
          <p:nvPr/>
        </p:nvGrpSpPr>
        <p:grpSpPr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5074" name="Google Shape;5074;p56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5" name="Google Shape;5075;p56"/>
            <p:cNvSpPr txBox="1"/>
            <p:nvPr/>
          </p:nvSpPr>
          <p:spPr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1d</a:t>
              </a:r>
              <a:endParaRPr/>
            </a:p>
          </p:txBody>
        </p:sp>
      </p:grpSp>
      <p:sp>
        <p:nvSpPr>
          <p:cNvPr id="5076" name="Google Shape;5076;p56"/>
          <p:cNvSpPr/>
          <p:nvPr/>
        </p:nvSpPr>
        <p:spPr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7" name="Google Shape;5077;p56"/>
          <p:cNvCxnSpPr/>
          <p:nvPr/>
        </p:nvCxnSpPr>
        <p:spPr>
          <a:xfrm>
            <a:off x="2820315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8" name="Google Shape;5078;p56"/>
          <p:cNvCxnSpPr/>
          <p:nvPr/>
        </p:nvCxnSpPr>
        <p:spPr>
          <a:xfrm>
            <a:off x="3277282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9" name="Google Shape;5079;p56"/>
          <p:cNvSpPr/>
          <p:nvPr/>
        </p:nvSpPr>
        <p:spPr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0" name="Google Shape;5080;p56"/>
          <p:cNvSpPr/>
          <p:nvPr/>
        </p:nvSpPr>
        <p:spPr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1" name="Google Shape;5081;p56"/>
          <p:cNvSpPr/>
          <p:nvPr/>
        </p:nvSpPr>
        <p:spPr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2" name="Google Shape;5082;p56"/>
          <p:cNvSpPr txBox="1"/>
          <p:nvPr/>
        </p:nvSpPr>
        <p:spPr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3" name="Google Shape;5083;p56"/>
          <p:cNvSpPr/>
          <p:nvPr/>
        </p:nvSpPr>
        <p:spPr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84" name="Google Shape;5084;p56"/>
          <p:cNvCxnSpPr/>
          <p:nvPr/>
        </p:nvCxnSpPr>
        <p:spPr>
          <a:xfrm>
            <a:off x="3726950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5" name="Google Shape;5085;p56"/>
          <p:cNvCxnSpPr/>
          <p:nvPr/>
        </p:nvCxnSpPr>
        <p:spPr>
          <a:xfrm>
            <a:off x="4183917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6" name="Google Shape;5086;p56"/>
          <p:cNvSpPr/>
          <p:nvPr/>
        </p:nvSpPr>
        <p:spPr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7" name="Google Shape;5087;p56"/>
          <p:cNvSpPr/>
          <p:nvPr/>
        </p:nvSpPr>
        <p:spPr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8" name="Google Shape;5088;p56"/>
          <p:cNvGrpSpPr/>
          <p:nvPr/>
        </p:nvGrpSpPr>
        <p:grpSpPr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5089" name="Google Shape;5089;p56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0" name="Google Shape;5090;p56"/>
            <p:cNvSpPr txBox="1"/>
            <p:nvPr/>
          </p:nvSpPr>
          <p:spPr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1c</a:t>
              </a:r>
              <a:endParaRPr/>
            </a:p>
          </p:txBody>
        </p:sp>
      </p:grpSp>
      <p:cxnSp>
        <p:nvCxnSpPr>
          <p:cNvPr id="5091" name="Google Shape;5091;p56"/>
          <p:cNvCxnSpPr/>
          <p:nvPr/>
        </p:nvCxnSpPr>
        <p:spPr>
          <a:xfrm>
            <a:off x="6347578" y="4971418"/>
            <a:ext cx="449668" cy="14451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2" name="Google Shape;5092;p56"/>
          <p:cNvCxnSpPr/>
          <p:nvPr/>
        </p:nvCxnSpPr>
        <p:spPr>
          <a:xfrm>
            <a:off x="6820605" y="4846819"/>
            <a:ext cx="132856" cy="17105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3" name="Google Shape;5093;p56"/>
          <p:cNvCxnSpPr/>
          <p:nvPr/>
        </p:nvCxnSpPr>
        <p:spPr>
          <a:xfrm flipH="1" rot="10800000">
            <a:off x="6248301" y="4781935"/>
            <a:ext cx="166435" cy="112073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4" name="Google Shape;5094;p56"/>
          <p:cNvSpPr/>
          <p:nvPr/>
        </p:nvSpPr>
        <p:spPr>
          <a:xfrm>
            <a:off x="4233556" y="5716858"/>
            <a:ext cx="385429" cy="120921"/>
          </a:xfrm>
          <a:custGeom>
            <a:rect b="b" l="l" r="r" t="t"/>
            <a:pathLst>
              <a:path extrusionOk="0" h="82" w="264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5" name="Google Shape;5095;p56"/>
          <p:cNvSpPr/>
          <p:nvPr/>
        </p:nvSpPr>
        <p:spPr>
          <a:xfrm>
            <a:off x="3561975" y="5663771"/>
            <a:ext cx="221914" cy="174008"/>
          </a:xfrm>
          <a:custGeom>
            <a:rect b="b" l="l" r="r" t="t"/>
            <a:pathLst>
              <a:path extrusionOk="0" h="118" w="152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6" name="Google Shape;5096;p56"/>
          <p:cNvSpPr/>
          <p:nvPr/>
        </p:nvSpPr>
        <p:spPr>
          <a:xfrm>
            <a:off x="3743010" y="5560546"/>
            <a:ext cx="823417" cy="120921"/>
          </a:xfrm>
          <a:custGeom>
            <a:rect b="b" l="l" r="r" t="t"/>
            <a:pathLst>
              <a:path extrusionOk="0" h="82" w="564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7" name="Google Shape;5097;p56"/>
          <p:cNvSpPr/>
          <p:nvPr/>
        </p:nvSpPr>
        <p:spPr>
          <a:xfrm>
            <a:off x="3652492" y="5321654"/>
            <a:ext cx="110957" cy="138616"/>
          </a:xfrm>
          <a:custGeom>
            <a:rect b="b" l="l" r="r" t="t"/>
            <a:pathLst>
              <a:path extrusionOk="0" h="94" w="76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8" name="Google Shape;5098;p56"/>
          <p:cNvSpPr/>
          <p:nvPr/>
        </p:nvSpPr>
        <p:spPr>
          <a:xfrm>
            <a:off x="2446565" y="4767189"/>
            <a:ext cx="367910" cy="168109"/>
          </a:xfrm>
          <a:custGeom>
            <a:rect b="b" l="l" r="r" t="t"/>
            <a:pathLst>
              <a:path extrusionOk="0" h="114" w="252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9" name="Google Shape;5099;p56"/>
          <p:cNvSpPr/>
          <p:nvPr/>
        </p:nvSpPr>
        <p:spPr>
          <a:xfrm>
            <a:off x="3083108" y="4855667"/>
            <a:ext cx="648222" cy="380458"/>
          </a:xfrm>
          <a:custGeom>
            <a:rect b="b" l="l" r="r" t="t"/>
            <a:pathLst>
              <a:path extrusionOk="0" h="258" w="444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0" name="Google Shape;5100;p56"/>
          <p:cNvSpPr/>
          <p:nvPr/>
        </p:nvSpPr>
        <p:spPr>
          <a:xfrm>
            <a:off x="5016095" y="5029675"/>
            <a:ext cx="954814" cy="619350"/>
          </a:xfrm>
          <a:custGeom>
            <a:rect b="b" l="l" r="r" t="t"/>
            <a:pathLst>
              <a:path extrusionOk="0" h="420" w="654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1" name="Google Shape;5101;p56"/>
          <p:cNvSpPr/>
          <p:nvPr/>
        </p:nvSpPr>
        <p:spPr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02" name="Google Shape;5102;p56"/>
          <p:cNvCxnSpPr/>
          <p:nvPr/>
        </p:nvCxnSpPr>
        <p:spPr>
          <a:xfrm>
            <a:off x="5890611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3" name="Google Shape;5103;p56"/>
          <p:cNvCxnSpPr/>
          <p:nvPr/>
        </p:nvCxnSpPr>
        <p:spPr>
          <a:xfrm>
            <a:off x="6347578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4" name="Google Shape;5104;p56"/>
          <p:cNvSpPr/>
          <p:nvPr/>
        </p:nvSpPr>
        <p:spPr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5" name="Google Shape;5105;p56"/>
          <p:cNvSpPr/>
          <p:nvPr/>
        </p:nvSpPr>
        <p:spPr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6" name="Google Shape;5106;p56"/>
          <p:cNvSpPr/>
          <p:nvPr/>
        </p:nvSpPr>
        <p:spPr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7" name="Google Shape;5107;p56"/>
          <p:cNvSpPr txBox="1"/>
          <p:nvPr/>
        </p:nvSpPr>
        <p:spPr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8" name="Google Shape;5108;p56"/>
          <p:cNvSpPr txBox="1"/>
          <p:nvPr/>
        </p:nvSpPr>
        <p:spPr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9" name="Google Shape;5109;p56"/>
          <p:cNvSpPr txBox="1"/>
          <p:nvPr/>
        </p:nvSpPr>
        <p:spPr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0" name="Google Shape;5110;p56"/>
          <p:cNvSpPr txBox="1"/>
          <p:nvPr/>
        </p:nvSpPr>
        <p:spPr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AS2</a:t>
            </a:r>
            <a:endParaRPr/>
          </a:p>
        </p:txBody>
      </p:sp>
      <p:sp>
        <p:nvSpPr>
          <p:cNvPr id="5111" name="Google Shape;5111;p56"/>
          <p:cNvSpPr/>
          <p:nvPr/>
        </p:nvSpPr>
        <p:spPr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2" name="Google Shape;5112;p56"/>
          <p:cNvCxnSpPr/>
          <p:nvPr/>
        </p:nvCxnSpPr>
        <p:spPr>
          <a:xfrm>
            <a:off x="3280202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3" name="Google Shape;5113;p56"/>
          <p:cNvCxnSpPr/>
          <p:nvPr/>
        </p:nvCxnSpPr>
        <p:spPr>
          <a:xfrm>
            <a:off x="3738630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4" name="Google Shape;5114;p56"/>
          <p:cNvSpPr/>
          <p:nvPr/>
        </p:nvSpPr>
        <p:spPr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5" name="Google Shape;5115;p56"/>
          <p:cNvSpPr/>
          <p:nvPr/>
        </p:nvSpPr>
        <p:spPr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6" name="Google Shape;5116;p56"/>
          <p:cNvSpPr/>
          <p:nvPr/>
        </p:nvSpPr>
        <p:spPr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7" name="Google Shape;5117;p56"/>
          <p:cNvSpPr txBox="1"/>
          <p:nvPr/>
        </p:nvSpPr>
        <p:spPr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18" name="Google Shape;5118;p56"/>
          <p:cNvGrpSpPr/>
          <p:nvPr/>
        </p:nvGrpSpPr>
        <p:grpSpPr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5119" name="Google Shape;5119;p56"/>
            <p:cNvSpPr/>
            <p:nvPr/>
          </p:nvSpPr>
          <p:spPr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0" name="Google Shape;5120;p56"/>
            <p:cNvCxnSpPr/>
            <p:nvPr/>
          </p:nvCxnSpPr>
          <p:spPr>
            <a:xfrm>
              <a:off x="4323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1" name="Google Shape;5121;p56"/>
            <p:cNvCxnSpPr/>
            <p:nvPr/>
          </p:nvCxnSpPr>
          <p:spPr>
            <a:xfrm>
              <a:off x="4636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22" name="Google Shape;5122;p56"/>
            <p:cNvSpPr/>
            <p:nvPr/>
          </p:nvSpPr>
          <p:spPr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3" name="Google Shape;5123;p56"/>
            <p:cNvSpPr/>
            <p:nvPr/>
          </p:nvSpPr>
          <p:spPr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4" name="Google Shape;5124;p56"/>
            <p:cNvSpPr/>
            <p:nvPr/>
          </p:nvSpPr>
          <p:spPr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5" name="Google Shape;5125;p56"/>
            <p:cNvSpPr txBox="1"/>
            <p:nvPr/>
          </p:nvSpPr>
          <p:spPr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2c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6" name="Google Shape;5126;p56"/>
          <p:cNvGrpSpPr/>
          <p:nvPr/>
        </p:nvGrpSpPr>
        <p:grpSpPr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5127" name="Google Shape;5127;p56"/>
            <p:cNvSpPr/>
            <p:nvPr/>
          </p:nvSpPr>
          <p:spPr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8" name="Google Shape;5128;p56"/>
            <p:cNvCxnSpPr/>
            <p:nvPr/>
          </p:nvCxnSpPr>
          <p:spPr>
            <a:xfrm>
              <a:off x="4599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9" name="Google Shape;5129;p56"/>
            <p:cNvCxnSpPr/>
            <p:nvPr/>
          </p:nvCxnSpPr>
          <p:spPr>
            <a:xfrm>
              <a:off x="4910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30" name="Google Shape;5130;p56"/>
            <p:cNvSpPr/>
            <p:nvPr/>
          </p:nvSpPr>
          <p:spPr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1" name="Google Shape;5131;p56"/>
            <p:cNvSpPr/>
            <p:nvPr/>
          </p:nvSpPr>
          <p:spPr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2" name="Google Shape;5132;p56"/>
            <p:cNvSpPr/>
            <p:nvPr/>
          </p:nvSpPr>
          <p:spPr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3" name="Google Shape;5133;p56"/>
            <p:cNvSpPr txBox="1"/>
            <p:nvPr/>
          </p:nvSpPr>
          <p:spPr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2b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4" name="Google Shape;5134;p56"/>
          <p:cNvGrpSpPr/>
          <p:nvPr/>
        </p:nvGrpSpPr>
        <p:grpSpPr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5135" name="Google Shape;5135;p56"/>
            <p:cNvSpPr/>
            <p:nvPr/>
          </p:nvSpPr>
          <p:spPr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36" name="Google Shape;5136;p56"/>
            <p:cNvCxnSpPr/>
            <p:nvPr/>
          </p:nvCxnSpPr>
          <p:spPr>
            <a:xfrm>
              <a:off x="2019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7" name="Google Shape;5137;p56"/>
            <p:cNvCxnSpPr/>
            <p:nvPr/>
          </p:nvCxnSpPr>
          <p:spPr>
            <a:xfrm>
              <a:off x="2330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38" name="Google Shape;5138;p56"/>
            <p:cNvSpPr/>
            <p:nvPr/>
          </p:nvSpPr>
          <p:spPr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9" name="Google Shape;5139;p56"/>
            <p:cNvSpPr/>
            <p:nvPr/>
          </p:nvSpPr>
          <p:spPr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40" name="Google Shape;5140;p56"/>
            <p:cNvGrpSpPr/>
            <p:nvPr/>
          </p:nvGrpSpPr>
          <p:grpSpPr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5141" name="Google Shape;5141;p56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2" name="Google Shape;5142;p56"/>
              <p:cNvSpPr txBox="1"/>
              <p:nvPr/>
            </p:nvSpPr>
            <p:spPr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43" name="Google Shape;5143;p56"/>
          <p:cNvGrpSpPr/>
          <p:nvPr/>
        </p:nvGrpSpPr>
        <p:grpSpPr>
          <a:xfrm>
            <a:off x="2231951" y="4354289"/>
            <a:ext cx="461347" cy="393730"/>
            <a:chOff x="2016" y="1976"/>
            <a:chExt cx="316" cy="267"/>
          </a:xfrm>
        </p:grpSpPr>
        <p:sp>
          <p:nvSpPr>
            <p:cNvPr id="5144" name="Google Shape;5144;p56"/>
            <p:cNvSpPr/>
            <p:nvPr/>
          </p:nvSpPr>
          <p:spPr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45" name="Google Shape;5145;p56"/>
            <p:cNvCxnSpPr/>
            <p:nvPr/>
          </p:nvCxnSpPr>
          <p:spPr>
            <a:xfrm>
              <a:off x="2019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6" name="Google Shape;5146;p56"/>
            <p:cNvCxnSpPr/>
            <p:nvPr/>
          </p:nvCxnSpPr>
          <p:spPr>
            <a:xfrm>
              <a:off x="2332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47" name="Google Shape;5147;p56"/>
            <p:cNvSpPr/>
            <p:nvPr/>
          </p:nvSpPr>
          <p:spPr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8" name="Google Shape;5148;p56"/>
            <p:cNvSpPr/>
            <p:nvPr/>
          </p:nvSpPr>
          <p:spPr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49" name="Google Shape;5149;p56"/>
            <p:cNvGrpSpPr/>
            <p:nvPr/>
          </p:nvGrpSpPr>
          <p:grpSpPr>
            <a:xfrm>
              <a:off x="2020" y="1976"/>
              <a:ext cx="308" cy="267"/>
              <a:chOff x="2899" y="2425"/>
              <a:chExt cx="315" cy="267"/>
            </a:xfrm>
          </p:grpSpPr>
          <p:sp>
            <p:nvSpPr>
              <p:cNvPr id="5150" name="Google Shape;5150;p56"/>
              <p:cNvSpPr/>
              <p:nvPr/>
            </p:nvSpPr>
            <p:spPr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1" name="Google Shape;5151;p56"/>
              <p:cNvSpPr txBox="1"/>
              <p:nvPr/>
            </p:nvSpPr>
            <p:spPr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3c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152" name="Google Shape;5152;p56"/>
          <p:cNvCxnSpPr/>
          <p:nvPr/>
        </p:nvCxnSpPr>
        <p:spPr>
          <a:xfrm flipH="1">
            <a:off x="2266990" y="4669862"/>
            <a:ext cx="90518" cy="159261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3" name="Google Shape;5153;p56"/>
          <p:cNvCxnSpPr/>
          <p:nvPr/>
        </p:nvCxnSpPr>
        <p:spPr>
          <a:xfrm>
            <a:off x="1818783" y="4737696"/>
            <a:ext cx="211694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4" name="Google Shape;5154;p56"/>
          <p:cNvCxnSpPr/>
          <p:nvPr/>
        </p:nvCxnSpPr>
        <p:spPr>
          <a:xfrm flipH="1">
            <a:off x="2547302" y="4214198"/>
            <a:ext cx="198555" cy="2241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5" name="Google Shape;5155;p56"/>
          <p:cNvCxnSpPr/>
          <p:nvPr/>
        </p:nvCxnSpPr>
        <p:spPr>
          <a:xfrm>
            <a:off x="2139974" y="4200926"/>
            <a:ext cx="175195" cy="26248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6" name="Google Shape;5156;p56"/>
          <p:cNvCxnSpPr/>
          <p:nvPr/>
        </p:nvCxnSpPr>
        <p:spPr>
          <a:xfrm flipH="1">
            <a:off x="3103547" y="4338068"/>
            <a:ext cx="102197" cy="30377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7" name="Google Shape;5157;p56"/>
          <p:cNvCxnSpPr/>
          <p:nvPr/>
        </p:nvCxnSpPr>
        <p:spPr>
          <a:xfrm>
            <a:off x="7246913" y="5100458"/>
            <a:ext cx="32411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8" name="Google Shape;5158;p56"/>
          <p:cNvCxnSpPr/>
          <p:nvPr/>
        </p:nvCxnSpPr>
        <p:spPr>
          <a:xfrm flipH="1" rot="10800000">
            <a:off x="7160776" y="4638895"/>
            <a:ext cx="382509" cy="37455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9" name="Google Shape;5159;p56"/>
          <p:cNvCxnSpPr/>
          <p:nvPr/>
        </p:nvCxnSpPr>
        <p:spPr>
          <a:xfrm rot="10800000">
            <a:off x="6356338" y="4388206"/>
            <a:ext cx="185415" cy="29787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0" name="Google Shape;5160;p56"/>
          <p:cNvCxnSpPr/>
          <p:nvPr/>
        </p:nvCxnSpPr>
        <p:spPr>
          <a:xfrm rot="10800000">
            <a:off x="5900830" y="4538619"/>
            <a:ext cx="198555" cy="27280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1" name="Google Shape;5161;p56"/>
          <p:cNvCxnSpPr/>
          <p:nvPr/>
        </p:nvCxnSpPr>
        <p:spPr>
          <a:xfrm flipH="1">
            <a:off x="3141506" y="5637228"/>
            <a:ext cx="197095" cy="17253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2" name="Google Shape;5162;p56"/>
          <p:cNvCxnSpPr/>
          <p:nvPr/>
        </p:nvCxnSpPr>
        <p:spPr>
          <a:xfrm rot="10800000">
            <a:off x="3091868" y="5488289"/>
            <a:ext cx="185415" cy="1179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3" name="Google Shape;5163;p56"/>
          <p:cNvCxnSpPr/>
          <p:nvPr/>
        </p:nvCxnSpPr>
        <p:spPr>
          <a:xfrm flipH="1">
            <a:off x="3487517" y="5887917"/>
            <a:ext cx="309511" cy="2212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4" name="Google Shape;5164;p56"/>
          <p:cNvCxnSpPr/>
          <p:nvPr/>
        </p:nvCxnSpPr>
        <p:spPr>
          <a:xfrm flipH="1" rot="10800000">
            <a:off x="4192677" y="5212531"/>
            <a:ext cx="334331" cy="147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5" name="Google Shape;5165;p56"/>
          <p:cNvCxnSpPr/>
          <p:nvPr/>
        </p:nvCxnSpPr>
        <p:spPr>
          <a:xfrm>
            <a:off x="4859879" y="5762572"/>
            <a:ext cx="173735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6" name="Google Shape;5166;p56"/>
          <p:cNvCxnSpPr/>
          <p:nvPr/>
        </p:nvCxnSpPr>
        <p:spPr>
          <a:xfrm>
            <a:off x="4156178" y="5324603"/>
            <a:ext cx="211694" cy="11059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67" name="Google Shape;5167;p56"/>
          <p:cNvGrpSpPr/>
          <p:nvPr/>
        </p:nvGrpSpPr>
        <p:grpSpPr>
          <a:xfrm>
            <a:off x="1778696" y="3924256"/>
            <a:ext cx="5968456" cy="2124592"/>
            <a:chOff x="3175544" y="3748892"/>
            <a:chExt cx="5968456" cy="2124592"/>
          </a:xfrm>
        </p:grpSpPr>
        <p:grpSp>
          <p:nvGrpSpPr>
            <p:cNvPr id="5168" name="Google Shape;5168;p56"/>
            <p:cNvGrpSpPr/>
            <p:nvPr/>
          </p:nvGrpSpPr>
          <p:grpSpPr>
            <a:xfrm>
              <a:off x="3175544" y="3748892"/>
              <a:ext cx="1609399" cy="1316010"/>
              <a:chOff x="3188070" y="3748892"/>
              <a:chExt cx="1609399" cy="1316010"/>
            </a:xfrm>
          </p:grpSpPr>
          <p:sp>
            <p:nvSpPr>
              <p:cNvPr id="5169" name="Google Shape;5169;p56"/>
              <p:cNvSpPr/>
              <p:nvPr/>
            </p:nvSpPr>
            <p:spPr>
              <a:xfrm>
                <a:off x="3188070" y="3748892"/>
                <a:ext cx="1609399" cy="1316010"/>
              </a:xfrm>
              <a:custGeom>
                <a:rect b="b" l="l" r="r" t="t"/>
                <a:pathLst>
                  <a:path extrusionOk="0" h="451" w="1198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70" name="Google Shape;5170;p56"/>
              <p:cNvGrpSpPr/>
              <p:nvPr/>
            </p:nvGrpSpPr>
            <p:grpSpPr>
              <a:xfrm>
                <a:off x="3323010" y="3984960"/>
                <a:ext cx="1290181" cy="895439"/>
                <a:chOff x="2145563" y="2093530"/>
                <a:chExt cx="1290181" cy="895439"/>
              </a:xfrm>
            </p:grpSpPr>
            <p:sp>
              <p:nvSpPr>
                <p:cNvPr id="5171" name="Google Shape;5171;p56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5172" name="Google Shape;5172;p56"/>
                <p:cNvSpPr/>
                <p:nvPr/>
              </p:nvSpPr>
              <p:spPr>
                <a:xfrm>
                  <a:off x="2145563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3" name="Google Shape;5173;p56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74" name="Google Shape;5174;p56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5175" name="Google Shape;5175;p56"/>
            <p:cNvGrpSpPr/>
            <p:nvPr/>
          </p:nvGrpSpPr>
          <p:grpSpPr>
            <a:xfrm>
              <a:off x="4345585" y="4779701"/>
              <a:ext cx="2744147" cy="1093783"/>
              <a:chOff x="4345585" y="4779701"/>
              <a:chExt cx="2744147" cy="1093783"/>
            </a:xfrm>
          </p:grpSpPr>
          <p:sp>
            <p:nvSpPr>
              <p:cNvPr id="5176" name="Google Shape;5176;p56"/>
              <p:cNvSpPr/>
              <p:nvPr/>
            </p:nvSpPr>
            <p:spPr>
              <a:xfrm>
                <a:off x="4345585" y="4779701"/>
                <a:ext cx="2744147" cy="1093783"/>
              </a:xfrm>
              <a:custGeom>
                <a:rect b="b" l="l" r="r" t="t"/>
                <a:pathLst>
                  <a:path extrusionOk="0" h="682" w="1583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0000">
                    <a:schemeClr val="lt1"/>
                  </a:gs>
                  <a:gs pos="99000">
                    <a:srgbClr val="FFFFFF">
                      <a:alpha val="72941"/>
                    </a:srgbClr>
                  </a:gs>
                  <a:gs pos="100000">
                    <a:srgbClr val="FFFFFF">
                      <a:alpha val="72941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77" name="Google Shape;5177;p56"/>
              <p:cNvGrpSpPr/>
              <p:nvPr/>
            </p:nvGrpSpPr>
            <p:grpSpPr>
              <a:xfrm>
                <a:off x="4915903" y="4888922"/>
                <a:ext cx="1290181" cy="895439"/>
                <a:chOff x="2158089" y="2093530"/>
                <a:chExt cx="1290181" cy="895439"/>
              </a:xfrm>
            </p:grpSpPr>
            <p:sp>
              <p:nvSpPr>
                <p:cNvPr id="5178" name="Google Shape;5178;p56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5179" name="Google Shape;5179;p56"/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0" name="Google Shape;5180;p56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81" name="Google Shape;5181;p56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5182" name="Google Shape;5182;p56"/>
            <p:cNvGrpSpPr/>
            <p:nvPr/>
          </p:nvGrpSpPr>
          <p:grpSpPr>
            <a:xfrm>
              <a:off x="6989573" y="3977477"/>
              <a:ext cx="2154427" cy="1384541"/>
              <a:chOff x="6989573" y="3977477"/>
              <a:chExt cx="2154427" cy="1384541"/>
            </a:xfrm>
          </p:grpSpPr>
          <p:sp>
            <p:nvSpPr>
              <p:cNvPr id="5183" name="Google Shape;5183;p56"/>
              <p:cNvSpPr/>
              <p:nvPr/>
            </p:nvSpPr>
            <p:spPr>
              <a:xfrm>
                <a:off x="6989573" y="3977477"/>
                <a:ext cx="2154427" cy="1384541"/>
              </a:xfrm>
              <a:custGeom>
                <a:rect b="b" l="l" r="r" t="t"/>
                <a:pathLst>
                  <a:path extrusionOk="0" h="543" w="1162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84" name="Google Shape;5184;p56"/>
              <p:cNvGrpSpPr/>
              <p:nvPr/>
            </p:nvGrpSpPr>
            <p:grpSpPr>
              <a:xfrm>
                <a:off x="7396057" y="4300199"/>
                <a:ext cx="1290181" cy="895439"/>
                <a:chOff x="2158089" y="2093530"/>
                <a:chExt cx="1290181" cy="895439"/>
              </a:xfrm>
            </p:grpSpPr>
            <p:sp>
              <p:nvSpPr>
                <p:cNvPr id="5185" name="Google Shape;5185;p56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5186" name="Google Shape;5186;p56"/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7" name="Google Shape;5187;p56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88" name="Google Shape;5188;p56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</p:grpSp>
      <p:grpSp>
        <p:nvGrpSpPr>
          <p:cNvPr id="5189" name="Google Shape;5189;p56"/>
          <p:cNvGrpSpPr/>
          <p:nvPr/>
        </p:nvGrpSpPr>
        <p:grpSpPr>
          <a:xfrm>
            <a:off x="1812296" y="3939436"/>
            <a:ext cx="5968456" cy="2124592"/>
            <a:chOff x="3202684" y="3763506"/>
            <a:chExt cx="5968456" cy="2124592"/>
          </a:xfrm>
        </p:grpSpPr>
        <p:grpSp>
          <p:nvGrpSpPr>
            <p:cNvPr id="5190" name="Google Shape;5190;p56"/>
            <p:cNvGrpSpPr/>
            <p:nvPr/>
          </p:nvGrpSpPr>
          <p:grpSpPr>
            <a:xfrm>
              <a:off x="3202684" y="3763506"/>
              <a:ext cx="5968456" cy="2124592"/>
              <a:chOff x="2563856" y="-1509951"/>
              <a:chExt cx="5968456" cy="2124592"/>
            </a:xfrm>
          </p:grpSpPr>
          <p:sp>
            <p:nvSpPr>
              <p:cNvPr id="5191" name="Google Shape;5191;p56"/>
              <p:cNvSpPr/>
              <p:nvPr/>
            </p:nvSpPr>
            <p:spPr>
              <a:xfrm>
                <a:off x="2563856" y="-1509951"/>
                <a:ext cx="1609399" cy="1316010"/>
              </a:xfrm>
              <a:custGeom>
                <a:rect b="b" l="l" r="r" t="t"/>
                <a:pathLst>
                  <a:path extrusionOk="0" h="451" w="1198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2" name="Google Shape;5192;p56"/>
              <p:cNvSpPr/>
              <p:nvPr/>
            </p:nvSpPr>
            <p:spPr>
              <a:xfrm>
                <a:off x="3733897" y="-479142"/>
                <a:ext cx="2744147" cy="1093783"/>
              </a:xfrm>
              <a:custGeom>
                <a:rect b="b" l="l" r="r" t="t"/>
                <a:pathLst>
                  <a:path extrusionOk="0" h="682" w="1583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0000">
                    <a:schemeClr val="lt1"/>
                  </a:gs>
                  <a:gs pos="99000">
                    <a:srgbClr val="FFFFFF">
                      <a:alpha val="72941"/>
                    </a:srgbClr>
                  </a:gs>
                  <a:gs pos="100000">
                    <a:srgbClr val="FFFFFF">
                      <a:alpha val="72941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3" name="Google Shape;5193;p56"/>
              <p:cNvSpPr/>
              <p:nvPr/>
            </p:nvSpPr>
            <p:spPr>
              <a:xfrm>
                <a:off x="6377885" y="-1281366"/>
                <a:ext cx="2154427" cy="1384541"/>
              </a:xfrm>
              <a:custGeom>
                <a:rect b="b" l="l" r="r" t="t"/>
                <a:pathLst>
                  <a:path extrusionOk="0" h="543" w="1162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94" name="Google Shape;5194;p56"/>
              <p:cNvCxnSpPr/>
              <p:nvPr/>
            </p:nvCxnSpPr>
            <p:spPr>
              <a:xfrm flipH="1" rot="10800000">
                <a:off x="5824603" y="-501042"/>
                <a:ext cx="814192" cy="50104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5195" name="Google Shape;5195;p56"/>
              <p:cNvCxnSpPr/>
              <p:nvPr/>
            </p:nvCxnSpPr>
            <p:spPr>
              <a:xfrm>
                <a:off x="4010416" y="-711896"/>
                <a:ext cx="724423" cy="43632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5196" name="Google Shape;5196;p56"/>
            <p:cNvSpPr txBox="1"/>
            <p:nvPr/>
          </p:nvSpPr>
          <p:spPr>
            <a:xfrm>
              <a:off x="4935255" y="4346532"/>
              <a:ext cx="22171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inter-AS routing</a:t>
              </a:r>
              <a:endParaRPr/>
            </a:p>
          </p:txBody>
        </p:sp>
      </p:grpSp>
      <p:grpSp>
        <p:nvGrpSpPr>
          <p:cNvPr id="5197" name="Google Shape;5197;p56"/>
          <p:cNvGrpSpPr/>
          <p:nvPr/>
        </p:nvGrpSpPr>
        <p:grpSpPr>
          <a:xfrm>
            <a:off x="3723768" y="1866380"/>
            <a:ext cx="2334629" cy="3331019"/>
            <a:chOff x="5176788" y="1691016"/>
            <a:chExt cx="2334629" cy="3331019"/>
          </a:xfrm>
        </p:grpSpPr>
        <p:sp>
          <p:nvSpPr>
            <p:cNvPr id="5198" name="Google Shape;5198;p56"/>
            <p:cNvSpPr/>
            <p:nvPr/>
          </p:nvSpPr>
          <p:spPr>
            <a:xfrm flipH="1">
              <a:off x="5219204" y="3674178"/>
              <a:ext cx="2255450" cy="1347857"/>
            </a:xfrm>
            <a:custGeom>
              <a:rect b="b" l="l" r="r" t="t"/>
              <a:pathLst>
                <a:path extrusionOk="0" h="1349639" w="2254368">
                  <a:moveTo>
                    <a:pt x="1855043" y="1349639"/>
                  </a:moveTo>
                  <a:cubicBezTo>
                    <a:pt x="1304110" y="746280"/>
                    <a:pt x="628999" y="499249"/>
                    <a:pt x="0" y="310"/>
                  </a:cubicBezTo>
                  <a:cubicBezTo>
                    <a:pt x="333077" y="4877"/>
                    <a:pt x="1918156" y="-3099"/>
                    <a:pt x="2251233" y="1468"/>
                  </a:cubicBezTo>
                  <a:cubicBezTo>
                    <a:pt x="2089546" y="493074"/>
                    <a:pt x="2029736" y="828030"/>
                    <a:pt x="2254368" y="1315058"/>
                  </a:cubicBezTo>
                  <a:cubicBezTo>
                    <a:pt x="2028914" y="1268083"/>
                    <a:pt x="1915520" y="1271535"/>
                    <a:pt x="1855043" y="134963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5199" name="Google Shape;5199;p56"/>
            <p:cNvGrpSpPr/>
            <p:nvPr/>
          </p:nvGrpSpPr>
          <p:grpSpPr>
            <a:xfrm>
              <a:off x="5176788" y="1691016"/>
              <a:ext cx="2334629" cy="2102478"/>
              <a:chOff x="5176788" y="1691016"/>
              <a:chExt cx="2334629" cy="2102478"/>
            </a:xfrm>
          </p:grpSpPr>
          <p:grpSp>
            <p:nvGrpSpPr>
              <p:cNvPr id="5200" name="Google Shape;5200;p56"/>
              <p:cNvGrpSpPr/>
              <p:nvPr/>
            </p:nvGrpSpPr>
            <p:grpSpPr>
              <a:xfrm>
                <a:off x="5176788" y="1691016"/>
                <a:ext cx="2334629" cy="2102478"/>
                <a:chOff x="1858002" y="3709936"/>
                <a:chExt cx="1045872" cy="1739638"/>
              </a:xfrm>
            </p:grpSpPr>
            <p:sp>
              <p:nvSpPr>
                <p:cNvPr id="5201" name="Google Shape;5201;p56"/>
                <p:cNvSpPr/>
                <p:nvPr/>
              </p:nvSpPr>
              <p:spPr>
                <a:xfrm rot="10800000">
                  <a:off x="1867527" y="3957547"/>
                  <a:ext cx="1033544" cy="611095"/>
                </a:xfrm>
                <a:prstGeom prst="rect">
                  <a:avLst/>
                </a:prstGeom>
                <a:gradFill>
                  <a:gsLst>
                    <a:gs pos="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grpSp>
              <p:nvGrpSpPr>
                <p:cNvPr id="5202" name="Google Shape;5202;p56"/>
                <p:cNvGrpSpPr/>
                <p:nvPr/>
              </p:nvGrpSpPr>
              <p:grpSpPr>
                <a:xfrm>
                  <a:off x="1859590" y="5089265"/>
                  <a:ext cx="1035050" cy="360309"/>
                  <a:chOff x="4129067" y="3606966"/>
                  <a:chExt cx="567968" cy="338045"/>
                </a:xfrm>
              </p:grpSpPr>
              <p:sp>
                <p:nvSpPr>
                  <p:cNvPr id="5203" name="Google Shape;5203;p56"/>
                  <p:cNvSpPr/>
                  <p:nvPr/>
                </p:nvSpPr>
                <p:spPr>
                  <a:xfrm>
                    <a:off x="4129067" y="3720144"/>
                    <a:ext cx="567968" cy="224867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04" name="Google Shape;5204;p56"/>
                  <p:cNvSpPr/>
                  <p:nvPr/>
                </p:nvSpPr>
                <p:spPr>
                  <a:xfrm>
                    <a:off x="4129067" y="3720144"/>
                    <a:ext cx="567968" cy="111689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05" name="Google Shape;5205;p56"/>
                  <p:cNvSpPr/>
                  <p:nvPr/>
                </p:nvSpPr>
                <p:spPr>
                  <a:xfrm>
                    <a:off x="4129067" y="3606966"/>
                    <a:ext cx="567968" cy="224867"/>
                  </a:xfrm>
                  <a:prstGeom prst="ellipse">
                    <a:avLst/>
                  </a:prstGeom>
                  <a:solidFill>
                    <a:srgbClr val="8383E0">
                      <a:alpha val="6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206" name="Google Shape;5206;p56"/>
                  <p:cNvCxnSpPr/>
                  <p:nvPr/>
                </p:nvCxnSpPr>
                <p:spPr>
                  <a:xfrm>
                    <a:off x="4697035" y="3720144"/>
                    <a:ext cx="0" cy="11168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07" name="Google Shape;5207;p56"/>
                  <p:cNvCxnSpPr/>
                  <p:nvPr/>
                </p:nvCxnSpPr>
                <p:spPr>
                  <a:xfrm>
                    <a:off x="4129067" y="3720144"/>
                    <a:ext cx="0" cy="11168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208" name="Google Shape;5208;p56"/>
                <p:cNvSpPr/>
                <p:nvPr/>
              </p:nvSpPr>
              <p:spPr>
                <a:xfrm>
                  <a:off x="1859676" y="4691826"/>
                  <a:ext cx="1037420" cy="522210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209" name="Google Shape;5209;p56"/>
                <p:cNvCxnSpPr>
                  <a:stCxn id="5210" idx="1"/>
                </p:cNvCxnSpPr>
                <p:nvPr/>
              </p:nvCxnSpPr>
              <p:spPr>
                <a:xfrm flipH="1">
                  <a:off x="1861285" y="3924839"/>
                  <a:ext cx="900" cy="1295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11" name="Google Shape;5211;p56"/>
                <p:cNvCxnSpPr/>
                <p:nvPr/>
              </p:nvCxnSpPr>
              <p:spPr>
                <a:xfrm flipH="1">
                  <a:off x="2894641" y="3971833"/>
                  <a:ext cx="6350" cy="126981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5212" name="Google Shape;5212;p56"/>
                <p:cNvGrpSpPr/>
                <p:nvPr/>
              </p:nvGrpSpPr>
              <p:grpSpPr>
                <a:xfrm>
                  <a:off x="1858002" y="3709936"/>
                  <a:ext cx="1045872" cy="398402"/>
                  <a:chOff x="2185125" y="1574638"/>
                  <a:chExt cx="1201487" cy="429505"/>
                </a:xfrm>
              </p:grpSpPr>
              <p:sp>
                <p:nvSpPr>
                  <p:cNvPr id="5213" name="Google Shape;5213;p56"/>
                  <p:cNvSpPr/>
                  <p:nvPr/>
                </p:nvSpPr>
                <p:spPr>
                  <a:xfrm flipH="1" rot="10800000">
                    <a:off x="2185125" y="1689286"/>
                    <a:ext cx="1196349" cy="31485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D5D5F4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0" name="Google Shape;5210;p56"/>
                  <p:cNvSpPr/>
                  <p:nvPr/>
                </p:nvSpPr>
                <p:spPr>
                  <a:xfrm>
                    <a:off x="2189930" y="1749849"/>
                    <a:ext cx="1195120" cy="112938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4" name="Google Shape;5214;p56"/>
                  <p:cNvSpPr/>
                  <p:nvPr/>
                </p:nvSpPr>
                <p:spPr>
                  <a:xfrm flipH="1" rot="10800000">
                    <a:off x="2189930" y="1574638"/>
                    <a:ext cx="1196349" cy="3148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80808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5" name="Google Shape;5215;p56"/>
                  <p:cNvSpPr/>
                  <p:nvPr/>
                </p:nvSpPr>
                <p:spPr>
                  <a:xfrm>
                    <a:off x="2489684" y="1670464"/>
                    <a:ext cx="581761" cy="157429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6" name="Google Shape;5216;p56"/>
                  <p:cNvSpPr/>
                  <p:nvPr/>
                </p:nvSpPr>
                <p:spPr>
                  <a:xfrm>
                    <a:off x="2429501" y="1629396"/>
                    <a:ext cx="703949" cy="11122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17" name="Google Shape;5217;p56"/>
                  <p:cNvSpPr/>
                  <p:nvPr/>
                </p:nvSpPr>
                <p:spPr>
                  <a:xfrm>
                    <a:off x="2892722" y="1723510"/>
                    <a:ext cx="257143" cy="95826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18" name="Google Shape;5218;p56"/>
                  <p:cNvSpPr/>
                  <p:nvPr/>
                </p:nvSpPr>
                <p:spPr>
                  <a:xfrm>
                    <a:off x="2416736" y="1725222"/>
                    <a:ext cx="255318" cy="9411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219" name="Google Shape;5219;p56"/>
                  <p:cNvCxnSpPr>
                    <a:endCxn id="5214" idx="2"/>
                  </p:cNvCxnSpPr>
                  <p:nvPr/>
                </p:nvCxnSpPr>
                <p:spPr>
                  <a:xfrm rot="10800000">
                    <a:off x="2189930" y="1732067"/>
                    <a:ext cx="1800" cy="121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  <a:effectLst>
                    <a:outerShdw blurRad="40005" rotWithShape="0" algn="tl" dir="5400000" dist="19939">
                      <a:srgbClr val="80808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220" name="Google Shape;5220;p56"/>
                  <p:cNvCxnSpPr/>
                  <p:nvPr/>
                </p:nvCxnSpPr>
                <p:spPr>
                  <a:xfrm rot="10800000">
                    <a:off x="3384788" y="1728644"/>
                    <a:ext cx="1824" cy="12149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  <a:effectLst>
                    <a:outerShdw blurRad="40005" rotWithShape="0" algn="tl" dir="5400000" dist="19939">
                      <a:srgbClr val="80808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5221" name="Google Shape;5221;p56"/>
              <p:cNvGrpSpPr/>
              <p:nvPr/>
            </p:nvGrpSpPr>
            <p:grpSpPr>
              <a:xfrm>
                <a:off x="5741299" y="2747246"/>
                <a:ext cx="1221860" cy="1008038"/>
                <a:chOff x="1992768" y="2310128"/>
                <a:chExt cx="1136650" cy="928372"/>
              </a:xfrm>
            </p:grpSpPr>
            <p:sp>
              <p:nvSpPr>
                <p:cNvPr id="5222" name="Google Shape;5222;p56"/>
                <p:cNvSpPr/>
                <p:nvPr/>
              </p:nvSpPr>
              <p:spPr>
                <a:xfrm>
                  <a:off x="1992768" y="2337583"/>
                  <a:ext cx="1136650" cy="9009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223" name="Google Shape;5223;p56"/>
                <p:cNvCxnSpPr/>
                <p:nvPr/>
              </p:nvCxnSpPr>
              <p:spPr>
                <a:xfrm>
                  <a:off x="1992768" y="2735763"/>
                  <a:ext cx="113665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224" name="Google Shape;5224;p56"/>
                <p:cNvCxnSpPr/>
                <p:nvPr/>
              </p:nvCxnSpPr>
              <p:spPr>
                <a:xfrm rot="10800000">
                  <a:off x="2543809" y="2758130"/>
                  <a:ext cx="0" cy="45210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5225" name="Google Shape;5225;p56"/>
                <p:cNvSpPr txBox="1"/>
                <p:nvPr/>
              </p:nvSpPr>
              <p:spPr>
                <a:xfrm>
                  <a:off x="2011312" y="2310128"/>
                  <a:ext cx="1094850" cy="3915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forwarding</a:t>
                  </a:r>
                  <a:endParaRPr/>
                </a:p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table</a:t>
                  </a:r>
                  <a:endParaRPr/>
                </a:p>
              </p:txBody>
            </p:sp>
          </p:grpSp>
        </p:grpSp>
      </p:grpSp>
      <p:sp>
        <p:nvSpPr>
          <p:cNvPr id="5226" name="Google Shape;5226;p56"/>
          <p:cNvSpPr txBox="1"/>
          <p:nvPr/>
        </p:nvSpPr>
        <p:spPr>
          <a:xfrm>
            <a:off x="6300592" y="1641655"/>
            <a:ext cx="5711869" cy="84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forwarding table  configured by intra- and inter-AS routing algorithms</a:t>
            </a:r>
            <a:endParaRPr/>
          </a:p>
        </p:txBody>
      </p:sp>
      <p:grpSp>
        <p:nvGrpSpPr>
          <p:cNvPr id="5227" name="Google Shape;5227;p56"/>
          <p:cNvGrpSpPr/>
          <p:nvPr/>
        </p:nvGrpSpPr>
        <p:grpSpPr>
          <a:xfrm>
            <a:off x="3770936" y="2327478"/>
            <a:ext cx="989852" cy="1051967"/>
            <a:chOff x="-167080" y="2120214"/>
            <a:chExt cx="989852" cy="1051967"/>
          </a:xfrm>
        </p:grpSpPr>
        <p:grpSp>
          <p:nvGrpSpPr>
            <p:cNvPr id="5228" name="Google Shape;5228;p56"/>
            <p:cNvGrpSpPr/>
            <p:nvPr/>
          </p:nvGrpSpPr>
          <p:grpSpPr>
            <a:xfrm>
              <a:off x="-167080" y="2120214"/>
              <a:ext cx="989852" cy="697506"/>
              <a:chOff x="1653" y="2898"/>
              <a:chExt cx="678" cy="473"/>
            </a:xfrm>
          </p:grpSpPr>
          <p:sp>
            <p:nvSpPr>
              <p:cNvPr id="5229" name="Google Shape;5229;p56"/>
              <p:cNvSpPr/>
              <p:nvPr/>
            </p:nvSpPr>
            <p:spPr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3333CC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0" name="Google Shape;5230;p56"/>
              <p:cNvSpPr txBox="1"/>
              <p:nvPr/>
            </p:nvSpPr>
            <p:spPr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Intra-AS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31" name="Google Shape;5231;p56"/>
            <p:cNvSpPr/>
            <p:nvPr/>
          </p:nvSpPr>
          <p:spPr>
            <a:xfrm rot="5400000">
              <a:off x="-37103" y="2815767"/>
              <a:ext cx="524728" cy="188100"/>
            </a:xfrm>
            <a:prstGeom prst="bentUpArrow">
              <a:avLst>
                <a:gd fmla="val 16723" name="adj1"/>
                <a:gd fmla="val 25000" name="adj2"/>
                <a:gd fmla="val 25000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2" name="Google Shape;5232;p56"/>
          <p:cNvGrpSpPr/>
          <p:nvPr/>
        </p:nvGrpSpPr>
        <p:grpSpPr>
          <a:xfrm>
            <a:off x="5032107" y="2338321"/>
            <a:ext cx="989852" cy="1047923"/>
            <a:chOff x="1057515" y="2118865"/>
            <a:chExt cx="989852" cy="1047923"/>
          </a:xfrm>
        </p:grpSpPr>
        <p:grpSp>
          <p:nvGrpSpPr>
            <p:cNvPr id="5233" name="Google Shape;5233;p56"/>
            <p:cNvGrpSpPr/>
            <p:nvPr/>
          </p:nvGrpSpPr>
          <p:grpSpPr>
            <a:xfrm>
              <a:off x="1057515" y="2118865"/>
              <a:ext cx="989852" cy="697506"/>
              <a:chOff x="1653" y="2898"/>
              <a:chExt cx="678" cy="473"/>
            </a:xfrm>
          </p:grpSpPr>
          <p:sp>
            <p:nvSpPr>
              <p:cNvPr id="5234" name="Google Shape;5234;p56"/>
              <p:cNvSpPr/>
              <p:nvPr/>
            </p:nvSpPr>
            <p:spPr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5" name="Google Shape;5235;p56"/>
              <p:cNvSpPr txBox="1"/>
              <p:nvPr/>
            </p:nvSpPr>
            <p:spPr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Inter-AS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36" name="Google Shape;5236;p56"/>
            <p:cNvSpPr/>
            <p:nvPr/>
          </p:nvSpPr>
          <p:spPr>
            <a:xfrm flipH="1" rot="-5400000">
              <a:off x="1454529" y="2810374"/>
              <a:ext cx="524728" cy="188100"/>
            </a:xfrm>
            <a:prstGeom prst="bentUpArrow">
              <a:avLst>
                <a:gd fmla="val 16723" name="adj1"/>
                <a:gd fmla="val 25000" name="adj2"/>
                <a:gd fmla="val 25000" name="adj3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37" name="Google Shape;5237;p56"/>
          <p:cNvSpPr txBox="1"/>
          <p:nvPr/>
        </p:nvSpPr>
        <p:spPr>
          <a:xfrm>
            <a:off x="6392032" y="2464615"/>
            <a:ext cx="5711869" cy="680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7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intra-AS routing determine entries for destinations within AS</a:t>
            </a:r>
            <a:endParaRPr/>
          </a:p>
        </p:txBody>
      </p:sp>
      <p:sp>
        <p:nvSpPr>
          <p:cNvPr id="5238" name="Google Shape;5238;p56"/>
          <p:cNvSpPr txBox="1"/>
          <p:nvPr/>
        </p:nvSpPr>
        <p:spPr>
          <a:xfrm>
            <a:off x="6385936" y="3165655"/>
            <a:ext cx="5711869" cy="760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7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inter-AS &amp; intra-AS determine entries for external destinations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2" name="Shape 5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3" name="Google Shape;5243;p57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Calibri"/>
              <a:buNone/>
            </a:pPr>
            <a:r>
              <a:rPr b="0" lang="en-US" sz="4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Inter-AS routing:  a role in intradomain forwarding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4" name="Google Shape;5244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45" name="Google Shape;5245;p57"/>
          <p:cNvSpPr/>
          <p:nvPr/>
        </p:nvSpPr>
        <p:spPr>
          <a:xfrm>
            <a:off x="5446783" y="4100650"/>
            <a:ext cx="2351995" cy="1511508"/>
          </a:xfrm>
          <a:custGeom>
            <a:rect b="b" l="l" r="r" t="t"/>
            <a:pathLst>
              <a:path extrusionOk="0" h="543" w="1162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6" name="Google Shape;5246;p57"/>
          <p:cNvSpPr/>
          <p:nvPr/>
        </p:nvSpPr>
        <p:spPr>
          <a:xfrm>
            <a:off x="1620228" y="3847012"/>
            <a:ext cx="1832250" cy="1498236"/>
          </a:xfrm>
          <a:custGeom>
            <a:rect b="b" l="l" r="r" t="t"/>
            <a:pathLst>
              <a:path extrusionOk="0" h="451" w="1198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7" name="Google Shape;5247;p57"/>
          <p:cNvSpPr/>
          <p:nvPr/>
        </p:nvSpPr>
        <p:spPr>
          <a:xfrm>
            <a:off x="2802795" y="4927925"/>
            <a:ext cx="2930139" cy="1167917"/>
          </a:xfrm>
          <a:custGeom>
            <a:rect b="b" l="l" r="r" t="t"/>
            <a:pathLst>
              <a:path extrusionOk="0" h="682" w="1583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8" name="Google Shape;5248;p57"/>
          <p:cNvSpPr/>
          <p:nvPr/>
        </p:nvSpPr>
        <p:spPr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9" name="Google Shape;5249;p57"/>
          <p:cNvCxnSpPr/>
          <p:nvPr/>
        </p:nvCxnSpPr>
        <p:spPr>
          <a:xfrm>
            <a:off x="2001278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0" name="Google Shape;5250;p57"/>
          <p:cNvCxnSpPr/>
          <p:nvPr/>
        </p:nvCxnSpPr>
        <p:spPr>
          <a:xfrm>
            <a:off x="2458245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1" name="Google Shape;5251;p57"/>
          <p:cNvSpPr/>
          <p:nvPr/>
        </p:nvSpPr>
        <p:spPr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2" name="Google Shape;5252;p57"/>
          <p:cNvSpPr/>
          <p:nvPr/>
        </p:nvSpPr>
        <p:spPr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3" name="Google Shape;5253;p57"/>
          <p:cNvSpPr/>
          <p:nvPr/>
        </p:nvSpPr>
        <p:spPr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4" name="Google Shape;5254;p57"/>
          <p:cNvSpPr txBox="1"/>
          <p:nvPr/>
        </p:nvSpPr>
        <p:spPr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5" name="Google Shape;5255;p57"/>
          <p:cNvSpPr/>
          <p:nvPr/>
        </p:nvSpPr>
        <p:spPr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56" name="Google Shape;5256;p57"/>
          <p:cNvCxnSpPr/>
          <p:nvPr/>
        </p:nvCxnSpPr>
        <p:spPr>
          <a:xfrm>
            <a:off x="3779509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7" name="Google Shape;5257;p57"/>
          <p:cNvCxnSpPr/>
          <p:nvPr/>
        </p:nvCxnSpPr>
        <p:spPr>
          <a:xfrm>
            <a:off x="4236476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8" name="Google Shape;5258;p57"/>
          <p:cNvSpPr/>
          <p:nvPr/>
        </p:nvSpPr>
        <p:spPr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9" name="Google Shape;5259;p57"/>
          <p:cNvSpPr/>
          <p:nvPr/>
        </p:nvSpPr>
        <p:spPr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60" name="Google Shape;5260;p57"/>
          <p:cNvGrpSpPr/>
          <p:nvPr/>
        </p:nvGrpSpPr>
        <p:grpSpPr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5261" name="Google Shape;5261;p57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2" name="Google Shape;5262;p57"/>
            <p:cNvSpPr txBox="1"/>
            <p:nvPr/>
          </p:nvSpPr>
          <p:spPr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1d</a:t>
              </a:r>
              <a:endParaRPr/>
            </a:p>
          </p:txBody>
        </p:sp>
      </p:grpSp>
      <p:sp>
        <p:nvSpPr>
          <p:cNvPr id="5263" name="Google Shape;5263;p57"/>
          <p:cNvSpPr/>
          <p:nvPr/>
        </p:nvSpPr>
        <p:spPr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4" name="Google Shape;5264;p57"/>
          <p:cNvCxnSpPr/>
          <p:nvPr/>
        </p:nvCxnSpPr>
        <p:spPr>
          <a:xfrm>
            <a:off x="2820315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5" name="Google Shape;5265;p57"/>
          <p:cNvCxnSpPr/>
          <p:nvPr/>
        </p:nvCxnSpPr>
        <p:spPr>
          <a:xfrm>
            <a:off x="3277282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6" name="Google Shape;5266;p57"/>
          <p:cNvSpPr/>
          <p:nvPr/>
        </p:nvSpPr>
        <p:spPr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7" name="Google Shape;5267;p57"/>
          <p:cNvSpPr/>
          <p:nvPr/>
        </p:nvSpPr>
        <p:spPr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8" name="Google Shape;5268;p57"/>
          <p:cNvSpPr/>
          <p:nvPr/>
        </p:nvSpPr>
        <p:spPr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9" name="Google Shape;5269;p57"/>
          <p:cNvSpPr txBox="1"/>
          <p:nvPr/>
        </p:nvSpPr>
        <p:spPr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0" name="Google Shape;5270;p57"/>
          <p:cNvSpPr/>
          <p:nvPr/>
        </p:nvSpPr>
        <p:spPr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1" name="Google Shape;5271;p57"/>
          <p:cNvCxnSpPr/>
          <p:nvPr/>
        </p:nvCxnSpPr>
        <p:spPr>
          <a:xfrm>
            <a:off x="3726950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2" name="Google Shape;5272;p57"/>
          <p:cNvCxnSpPr/>
          <p:nvPr/>
        </p:nvCxnSpPr>
        <p:spPr>
          <a:xfrm>
            <a:off x="4183917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3" name="Google Shape;5273;p57"/>
          <p:cNvSpPr/>
          <p:nvPr/>
        </p:nvSpPr>
        <p:spPr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4" name="Google Shape;5274;p57"/>
          <p:cNvSpPr/>
          <p:nvPr/>
        </p:nvSpPr>
        <p:spPr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5" name="Google Shape;5275;p57"/>
          <p:cNvGrpSpPr/>
          <p:nvPr/>
        </p:nvGrpSpPr>
        <p:grpSpPr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5276" name="Google Shape;5276;p57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7" name="Google Shape;5277;p57"/>
            <p:cNvSpPr txBox="1"/>
            <p:nvPr/>
          </p:nvSpPr>
          <p:spPr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1c</a:t>
              </a:r>
              <a:endParaRPr/>
            </a:p>
          </p:txBody>
        </p:sp>
      </p:grpSp>
      <p:cxnSp>
        <p:nvCxnSpPr>
          <p:cNvPr id="5278" name="Google Shape;5278;p57"/>
          <p:cNvCxnSpPr/>
          <p:nvPr/>
        </p:nvCxnSpPr>
        <p:spPr>
          <a:xfrm>
            <a:off x="6347578" y="4971418"/>
            <a:ext cx="449668" cy="14451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9" name="Google Shape;5279;p57"/>
          <p:cNvCxnSpPr/>
          <p:nvPr/>
        </p:nvCxnSpPr>
        <p:spPr>
          <a:xfrm>
            <a:off x="6820605" y="4846819"/>
            <a:ext cx="132856" cy="17105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0" name="Google Shape;5280;p57"/>
          <p:cNvCxnSpPr/>
          <p:nvPr/>
        </p:nvCxnSpPr>
        <p:spPr>
          <a:xfrm flipH="1" rot="10800000">
            <a:off x="6248301" y="4781935"/>
            <a:ext cx="166435" cy="112073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1" name="Google Shape;5281;p57"/>
          <p:cNvSpPr/>
          <p:nvPr/>
        </p:nvSpPr>
        <p:spPr>
          <a:xfrm>
            <a:off x="4233556" y="5716858"/>
            <a:ext cx="385429" cy="120921"/>
          </a:xfrm>
          <a:custGeom>
            <a:rect b="b" l="l" r="r" t="t"/>
            <a:pathLst>
              <a:path extrusionOk="0" h="82" w="264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2" name="Google Shape;5282;p57"/>
          <p:cNvSpPr/>
          <p:nvPr/>
        </p:nvSpPr>
        <p:spPr>
          <a:xfrm>
            <a:off x="3561975" y="5663771"/>
            <a:ext cx="221914" cy="174008"/>
          </a:xfrm>
          <a:custGeom>
            <a:rect b="b" l="l" r="r" t="t"/>
            <a:pathLst>
              <a:path extrusionOk="0" h="118" w="152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3" name="Google Shape;5283;p57"/>
          <p:cNvSpPr/>
          <p:nvPr/>
        </p:nvSpPr>
        <p:spPr>
          <a:xfrm>
            <a:off x="3743010" y="5560546"/>
            <a:ext cx="823417" cy="120921"/>
          </a:xfrm>
          <a:custGeom>
            <a:rect b="b" l="l" r="r" t="t"/>
            <a:pathLst>
              <a:path extrusionOk="0" h="82" w="564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4" name="Google Shape;5284;p57"/>
          <p:cNvSpPr/>
          <p:nvPr/>
        </p:nvSpPr>
        <p:spPr>
          <a:xfrm>
            <a:off x="3652492" y="5321654"/>
            <a:ext cx="110957" cy="138616"/>
          </a:xfrm>
          <a:custGeom>
            <a:rect b="b" l="l" r="r" t="t"/>
            <a:pathLst>
              <a:path extrusionOk="0" h="94" w="76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5" name="Google Shape;5285;p57"/>
          <p:cNvSpPr/>
          <p:nvPr/>
        </p:nvSpPr>
        <p:spPr>
          <a:xfrm>
            <a:off x="2446565" y="4767189"/>
            <a:ext cx="367910" cy="168109"/>
          </a:xfrm>
          <a:custGeom>
            <a:rect b="b" l="l" r="r" t="t"/>
            <a:pathLst>
              <a:path extrusionOk="0" h="114" w="252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6" name="Google Shape;5286;p57"/>
          <p:cNvSpPr/>
          <p:nvPr/>
        </p:nvSpPr>
        <p:spPr>
          <a:xfrm>
            <a:off x="3083108" y="4855667"/>
            <a:ext cx="648222" cy="380458"/>
          </a:xfrm>
          <a:custGeom>
            <a:rect b="b" l="l" r="r" t="t"/>
            <a:pathLst>
              <a:path extrusionOk="0" h="258" w="444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7" name="Google Shape;5287;p57"/>
          <p:cNvSpPr/>
          <p:nvPr/>
        </p:nvSpPr>
        <p:spPr>
          <a:xfrm>
            <a:off x="5016095" y="5029675"/>
            <a:ext cx="954814" cy="619350"/>
          </a:xfrm>
          <a:custGeom>
            <a:rect b="b" l="l" r="r" t="t"/>
            <a:pathLst>
              <a:path extrusionOk="0" h="420" w="654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8" name="Google Shape;5288;p57"/>
          <p:cNvSpPr/>
          <p:nvPr/>
        </p:nvSpPr>
        <p:spPr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89" name="Google Shape;5289;p57"/>
          <p:cNvCxnSpPr/>
          <p:nvPr/>
        </p:nvCxnSpPr>
        <p:spPr>
          <a:xfrm>
            <a:off x="5890611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0" name="Google Shape;5290;p57"/>
          <p:cNvCxnSpPr/>
          <p:nvPr/>
        </p:nvCxnSpPr>
        <p:spPr>
          <a:xfrm>
            <a:off x="6347578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1" name="Google Shape;5291;p57"/>
          <p:cNvSpPr/>
          <p:nvPr/>
        </p:nvSpPr>
        <p:spPr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2" name="Google Shape;5292;p57"/>
          <p:cNvSpPr/>
          <p:nvPr/>
        </p:nvSpPr>
        <p:spPr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3" name="Google Shape;5293;p57"/>
          <p:cNvSpPr/>
          <p:nvPr/>
        </p:nvSpPr>
        <p:spPr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4" name="Google Shape;5294;p57"/>
          <p:cNvSpPr txBox="1"/>
          <p:nvPr/>
        </p:nvSpPr>
        <p:spPr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5" name="Google Shape;5295;p57"/>
          <p:cNvSpPr txBox="1"/>
          <p:nvPr/>
        </p:nvSpPr>
        <p:spPr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6" name="Google Shape;5296;p57"/>
          <p:cNvSpPr txBox="1"/>
          <p:nvPr/>
        </p:nvSpPr>
        <p:spPr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7" name="Google Shape;5297;p57"/>
          <p:cNvSpPr txBox="1"/>
          <p:nvPr/>
        </p:nvSpPr>
        <p:spPr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AS2</a:t>
            </a:r>
            <a:endParaRPr/>
          </a:p>
        </p:txBody>
      </p:sp>
      <p:sp>
        <p:nvSpPr>
          <p:cNvPr id="5298" name="Google Shape;5298;p57"/>
          <p:cNvSpPr/>
          <p:nvPr/>
        </p:nvSpPr>
        <p:spPr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9" name="Google Shape;5299;p57"/>
          <p:cNvCxnSpPr/>
          <p:nvPr/>
        </p:nvCxnSpPr>
        <p:spPr>
          <a:xfrm>
            <a:off x="3280202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0" name="Google Shape;5300;p57"/>
          <p:cNvCxnSpPr/>
          <p:nvPr/>
        </p:nvCxnSpPr>
        <p:spPr>
          <a:xfrm>
            <a:off x="3738630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1" name="Google Shape;5301;p57"/>
          <p:cNvSpPr/>
          <p:nvPr/>
        </p:nvSpPr>
        <p:spPr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2" name="Google Shape;5302;p57"/>
          <p:cNvSpPr/>
          <p:nvPr/>
        </p:nvSpPr>
        <p:spPr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3" name="Google Shape;5303;p57"/>
          <p:cNvSpPr/>
          <p:nvPr/>
        </p:nvSpPr>
        <p:spPr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4" name="Google Shape;5304;p57"/>
          <p:cNvSpPr txBox="1"/>
          <p:nvPr/>
        </p:nvSpPr>
        <p:spPr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5" name="Google Shape;5305;p57"/>
          <p:cNvGrpSpPr/>
          <p:nvPr/>
        </p:nvGrpSpPr>
        <p:grpSpPr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5306" name="Google Shape;5306;p57"/>
            <p:cNvSpPr/>
            <p:nvPr/>
          </p:nvSpPr>
          <p:spPr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07" name="Google Shape;5307;p57"/>
            <p:cNvCxnSpPr/>
            <p:nvPr/>
          </p:nvCxnSpPr>
          <p:spPr>
            <a:xfrm>
              <a:off x="4323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08" name="Google Shape;5308;p57"/>
            <p:cNvCxnSpPr/>
            <p:nvPr/>
          </p:nvCxnSpPr>
          <p:spPr>
            <a:xfrm>
              <a:off x="4636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09" name="Google Shape;5309;p57"/>
            <p:cNvSpPr/>
            <p:nvPr/>
          </p:nvSpPr>
          <p:spPr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0" name="Google Shape;5310;p57"/>
            <p:cNvSpPr/>
            <p:nvPr/>
          </p:nvSpPr>
          <p:spPr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1" name="Google Shape;5311;p57"/>
            <p:cNvSpPr/>
            <p:nvPr/>
          </p:nvSpPr>
          <p:spPr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2" name="Google Shape;5312;p57"/>
            <p:cNvSpPr txBox="1"/>
            <p:nvPr/>
          </p:nvSpPr>
          <p:spPr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2c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13" name="Google Shape;5313;p57"/>
          <p:cNvGrpSpPr/>
          <p:nvPr/>
        </p:nvGrpSpPr>
        <p:grpSpPr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5314" name="Google Shape;5314;p57"/>
            <p:cNvSpPr/>
            <p:nvPr/>
          </p:nvSpPr>
          <p:spPr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15" name="Google Shape;5315;p57"/>
            <p:cNvCxnSpPr/>
            <p:nvPr/>
          </p:nvCxnSpPr>
          <p:spPr>
            <a:xfrm>
              <a:off x="4599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6" name="Google Shape;5316;p57"/>
            <p:cNvCxnSpPr/>
            <p:nvPr/>
          </p:nvCxnSpPr>
          <p:spPr>
            <a:xfrm>
              <a:off x="4910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17" name="Google Shape;5317;p57"/>
            <p:cNvSpPr/>
            <p:nvPr/>
          </p:nvSpPr>
          <p:spPr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8" name="Google Shape;5318;p57"/>
            <p:cNvSpPr/>
            <p:nvPr/>
          </p:nvSpPr>
          <p:spPr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9" name="Google Shape;5319;p57"/>
            <p:cNvSpPr/>
            <p:nvPr/>
          </p:nvSpPr>
          <p:spPr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0" name="Google Shape;5320;p57"/>
            <p:cNvSpPr txBox="1"/>
            <p:nvPr/>
          </p:nvSpPr>
          <p:spPr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2b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1" name="Google Shape;5321;p57"/>
          <p:cNvGrpSpPr/>
          <p:nvPr/>
        </p:nvGrpSpPr>
        <p:grpSpPr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5322" name="Google Shape;5322;p57"/>
            <p:cNvSpPr/>
            <p:nvPr/>
          </p:nvSpPr>
          <p:spPr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23" name="Google Shape;5323;p57"/>
            <p:cNvCxnSpPr/>
            <p:nvPr/>
          </p:nvCxnSpPr>
          <p:spPr>
            <a:xfrm>
              <a:off x="2019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4" name="Google Shape;5324;p57"/>
            <p:cNvCxnSpPr/>
            <p:nvPr/>
          </p:nvCxnSpPr>
          <p:spPr>
            <a:xfrm>
              <a:off x="2330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25" name="Google Shape;5325;p57"/>
            <p:cNvSpPr/>
            <p:nvPr/>
          </p:nvSpPr>
          <p:spPr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6" name="Google Shape;5326;p57"/>
            <p:cNvSpPr/>
            <p:nvPr/>
          </p:nvSpPr>
          <p:spPr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27" name="Google Shape;5327;p57"/>
            <p:cNvGrpSpPr/>
            <p:nvPr/>
          </p:nvGrpSpPr>
          <p:grpSpPr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5328" name="Google Shape;5328;p57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9" name="Google Shape;5329;p57"/>
              <p:cNvSpPr txBox="1"/>
              <p:nvPr/>
            </p:nvSpPr>
            <p:spPr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30" name="Google Shape;5330;p57"/>
          <p:cNvGrpSpPr/>
          <p:nvPr/>
        </p:nvGrpSpPr>
        <p:grpSpPr>
          <a:xfrm>
            <a:off x="2231951" y="4354289"/>
            <a:ext cx="461347" cy="393730"/>
            <a:chOff x="2016" y="1976"/>
            <a:chExt cx="316" cy="267"/>
          </a:xfrm>
        </p:grpSpPr>
        <p:sp>
          <p:nvSpPr>
            <p:cNvPr id="5331" name="Google Shape;5331;p57"/>
            <p:cNvSpPr/>
            <p:nvPr/>
          </p:nvSpPr>
          <p:spPr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32" name="Google Shape;5332;p57"/>
            <p:cNvCxnSpPr/>
            <p:nvPr/>
          </p:nvCxnSpPr>
          <p:spPr>
            <a:xfrm>
              <a:off x="2019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3" name="Google Shape;5333;p57"/>
            <p:cNvCxnSpPr/>
            <p:nvPr/>
          </p:nvCxnSpPr>
          <p:spPr>
            <a:xfrm>
              <a:off x="2332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34" name="Google Shape;5334;p57"/>
            <p:cNvSpPr/>
            <p:nvPr/>
          </p:nvSpPr>
          <p:spPr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5" name="Google Shape;5335;p57"/>
            <p:cNvSpPr/>
            <p:nvPr/>
          </p:nvSpPr>
          <p:spPr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36" name="Google Shape;5336;p57"/>
            <p:cNvGrpSpPr/>
            <p:nvPr/>
          </p:nvGrpSpPr>
          <p:grpSpPr>
            <a:xfrm>
              <a:off x="2020" y="1976"/>
              <a:ext cx="308" cy="267"/>
              <a:chOff x="2899" y="2425"/>
              <a:chExt cx="315" cy="267"/>
            </a:xfrm>
          </p:grpSpPr>
          <p:sp>
            <p:nvSpPr>
              <p:cNvPr id="5337" name="Google Shape;5337;p57"/>
              <p:cNvSpPr/>
              <p:nvPr/>
            </p:nvSpPr>
            <p:spPr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8" name="Google Shape;5338;p57"/>
              <p:cNvSpPr txBox="1"/>
              <p:nvPr/>
            </p:nvSpPr>
            <p:spPr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3c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339" name="Google Shape;5339;p57"/>
          <p:cNvCxnSpPr/>
          <p:nvPr/>
        </p:nvCxnSpPr>
        <p:spPr>
          <a:xfrm flipH="1">
            <a:off x="2266990" y="4669862"/>
            <a:ext cx="90518" cy="159261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0" name="Google Shape;5340;p57"/>
          <p:cNvCxnSpPr/>
          <p:nvPr/>
        </p:nvCxnSpPr>
        <p:spPr>
          <a:xfrm>
            <a:off x="1818783" y="4737696"/>
            <a:ext cx="211694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1" name="Google Shape;5341;p57"/>
          <p:cNvCxnSpPr/>
          <p:nvPr/>
        </p:nvCxnSpPr>
        <p:spPr>
          <a:xfrm flipH="1">
            <a:off x="2547302" y="4214198"/>
            <a:ext cx="198555" cy="2241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2" name="Google Shape;5342;p57"/>
          <p:cNvCxnSpPr/>
          <p:nvPr/>
        </p:nvCxnSpPr>
        <p:spPr>
          <a:xfrm>
            <a:off x="2139974" y="4200926"/>
            <a:ext cx="175195" cy="26248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3" name="Google Shape;5343;p57"/>
          <p:cNvCxnSpPr/>
          <p:nvPr/>
        </p:nvCxnSpPr>
        <p:spPr>
          <a:xfrm flipH="1">
            <a:off x="3103547" y="4338068"/>
            <a:ext cx="102197" cy="30377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4" name="Google Shape;5344;p57"/>
          <p:cNvCxnSpPr/>
          <p:nvPr/>
        </p:nvCxnSpPr>
        <p:spPr>
          <a:xfrm rot="10800000">
            <a:off x="6356338" y="4388206"/>
            <a:ext cx="185415" cy="29787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5" name="Google Shape;5345;p57"/>
          <p:cNvCxnSpPr/>
          <p:nvPr/>
        </p:nvCxnSpPr>
        <p:spPr>
          <a:xfrm rot="10800000">
            <a:off x="5900830" y="4538619"/>
            <a:ext cx="198555" cy="27280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6" name="Google Shape;5346;p57"/>
          <p:cNvCxnSpPr/>
          <p:nvPr/>
        </p:nvCxnSpPr>
        <p:spPr>
          <a:xfrm flipH="1">
            <a:off x="3141506" y="5637228"/>
            <a:ext cx="197095" cy="17253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7" name="Google Shape;5347;p57"/>
          <p:cNvCxnSpPr/>
          <p:nvPr/>
        </p:nvCxnSpPr>
        <p:spPr>
          <a:xfrm rot="10800000">
            <a:off x="3091868" y="5488289"/>
            <a:ext cx="185415" cy="1179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8" name="Google Shape;5348;p57"/>
          <p:cNvCxnSpPr/>
          <p:nvPr/>
        </p:nvCxnSpPr>
        <p:spPr>
          <a:xfrm flipH="1">
            <a:off x="3487517" y="5887917"/>
            <a:ext cx="309511" cy="2212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9" name="Google Shape;5349;p57"/>
          <p:cNvCxnSpPr/>
          <p:nvPr/>
        </p:nvCxnSpPr>
        <p:spPr>
          <a:xfrm flipH="1" rot="10800000">
            <a:off x="4192677" y="5212531"/>
            <a:ext cx="334331" cy="147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0" name="Google Shape;5350;p57"/>
          <p:cNvCxnSpPr/>
          <p:nvPr/>
        </p:nvCxnSpPr>
        <p:spPr>
          <a:xfrm>
            <a:off x="4859879" y="5762572"/>
            <a:ext cx="173735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1" name="Google Shape;5351;p57"/>
          <p:cNvCxnSpPr/>
          <p:nvPr/>
        </p:nvCxnSpPr>
        <p:spPr>
          <a:xfrm>
            <a:off x="4156178" y="5324603"/>
            <a:ext cx="211694" cy="11059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2" name="Google Shape;5352;p57"/>
          <p:cNvSpPr/>
          <p:nvPr/>
        </p:nvSpPr>
        <p:spPr>
          <a:xfrm flipH="1">
            <a:off x="642829" y="4609186"/>
            <a:ext cx="1171575" cy="1758950"/>
          </a:xfrm>
          <a:custGeom>
            <a:rect b="b" l="l" r="r" t="t"/>
            <a:pathLst>
              <a:path extrusionOk="0" h="1108" w="73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3" name="Google Shape;5353;p57"/>
          <p:cNvSpPr txBox="1"/>
          <p:nvPr/>
        </p:nvSpPr>
        <p:spPr>
          <a:xfrm>
            <a:off x="699979" y="5393411"/>
            <a:ext cx="893763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endParaRPr/>
          </a:p>
        </p:txBody>
      </p:sp>
      <p:cxnSp>
        <p:nvCxnSpPr>
          <p:cNvPr id="5354" name="Google Shape;5354;p57"/>
          <p:cNvCxnSpPr/>
          <p:nvPr/>
        </p:nvCxnSpPr>
        <p:spPr>
          <a:xfrm flipH="1">
            <a:off x="1500079" y="4955261"/>
            <a:ext cx="468313" cy="2682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5" name="Google Shape;5355;p57"/>
          <p:cNvSpPr/>
          <p:nvPr/>
        </p:nvSpPr>
        <p:spPr>
          <a:xfrm>
            <a:off x="8053714" y="3961226"/>
            <a:ext cx="1171575" cy="1758950"/>
          </a:xfrm>
          <a:custGeom>
            <a:rect b="b" l="l" r="r" t="t"/>
            <a:pathLst>
              <a:path extrusionOk="0" h="1108" w="73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6" name="Google Shape;5356;p57"/>
          <p:cNvCxnSpPr/>
          <p:nvPr/>
        </p:nvCxnSpPr>
        <p:spPr>
          <a:xfrm>
            <a:off x="6848694" y="4790989"/>
            <a:ext cx="131827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7" name="Google Shape;5357;p57"/>
          <p:cNvCxnSpPr/>
          <p:nvPr/>
        </p:nvCxnSpPr>
        <p:spPr>
          <a:xfrm>
            <a:off x="7290584" y="5105814"/>
            <a:ext cx="13398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8" name="Google Shape;5358;p57"/>
          <p:cNvSpPr txBox="1"/>
          <p:nvPr/>
        </p:nvSpPr>
        <p:spPr>
          <a:xfrm>
            <a:off x="8433127" y="4558126"/>
            <a:ext cx="893762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endParaRPr/>
          </a:p>
        </p:txBody>
      </p:sp>
      <p:sp>
        <p:nvSpPr>
          <p:cNvPr id="5359" name="Google Shape;5359;p57"/>
          <p:cNvSpPr txBox="1"/>
          <p:nvPr/>
        </p:nvSpPr>
        <p:spPr>
          <a:xfrm>
            <a:off x="657073" y="1558642"/>
            <a:ext cx="5004692" cy="72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router in AS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receives datagram destined outside of AS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0" name="Google Shape;5360;p57"/>
          <p:cNvSpPr/>
          <p:nvPr/>
        </p:nvSpPr>
        <p:spPr>
          <a:xfrm>
            <a:off x="6108525" y="1488552"/>
            <a:ext cx="5490576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AS1 inter-domain routing must:</a:t>
            </a:r>
            <a:endParaRPr/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which destinations reachable through AS2, which through AS3</a:t>
            </a:r>
            <a:endParaRPr/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propagate this reachability info to all routers in AS1</a:t>
            </a:r>
            <a:endParaRPr/>
          </a:p>
        </p:txBody>
      </p:sp>
      <p:grpSp>
        <p:nvGrpSpPr>
          <p:cNvPr id="5361" name="Google Shape;5361;p57"/>
          <p:cNvGrpSpPr/>
          <p:nvPr/>
        </p:nvGrpSpPr>
        <p:grpSpPr>
          <a:xfrm>
            <a:off x="2670048" y="5636768"/>
            <a:ext cx="765291" cy="508222"/>
            <a:chOff x="2670048" y="5636768"/>
            <a:chExt cx="765291" cy="508222"/>
          </a:xfrm>
        </p:grpSpPr>
        <p:sp>
          <p:nvSpPr>
            <p:cNvPr id="5362" name="Google Shape;5362;p57"/>
            <p:cNvSpPr/>
            <p:nvPr/>
          </p:nvSpPr>
          <p:spPr>
            <a:xfrm rot="-2425119">
              <a:off x="2896614" y="5786744"/>
              <a:ext cx="537176" cy="20252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5F7FC"/>
                </a:gs>
                <a:gs pos="35000">
                  <a:srgbClr val="D8E2F3"/>
                </a:gs>
                <a:gs pos="68000">
                  <a:srgbClr val="A9BEE4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63" name="Google Shape;5363;p57"/>
            <p:cNvGrpSpPr/>
            <p:nvPr/>
          </p:nvGrpSpPr>
          <p:grpSpPr>
            <a:xfrm>
              <a:off x="2670048" y="5701792"/>
              <a:ext cx="245122" cy="443198"/>
              <a:chOff x="375561" y="297711"/>
              <a:chExt cx="1252683" cy="2138362"/>
            </a:xfrm>
          </p:grpSpPr>
          <p:sp>
            <p:nvSpPr>
              <p:cNvPr id="5364" name="Google Shape;5364;p57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5" name="Google Shape;5365;p57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6" name="Google Shape;5366;p57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67" name="Google Shape;5367;p57"/>
          <p:cNvSpPr txBox="1"/>
          <p:nvPr/>
        </p:nvSpPr>
        <p:spPr>
          <a:xfrm>
            <a:off x="602209" y="2259682"/>
            <a:ext cx="5004692" cy="199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should forward packet to gateway router in AS1, but which one?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68" name="Google Shape;5368;p57"/>
          <p:cNvGrpSpPr/>
          <p:nvPr/>
        </p:nvGrpSpPr>
        <p:grpSpPr>
          <a:xfrm>
            <a:off x="528828" y="2261616"/>
            <a:ext cx="3400044" cy="3791712"/>
            <a:chOff x="528828" y="2261616"/>
            <a:chExt cx="3400044" cy="3791712"/>
          </a:xfrm>
        </p:grpSpPr>
        <p:pic>
          <p:nvPicPr>
            <p:cNvPr descr="A close up of a sign&#10;&#10;Description automatically generated" id="5369" name="Google Shape;5369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81528" y="5205984"/>
              <a:ext cx="847344" cy="847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close up of a sign&#10;&#10;Description automatically generated" id="5370" name="Google Shape;5370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8828" y="2261616"/>
              <a:ext cx="847344" cy="8473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4" name="Shape 5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5" name="Google Shape;5375;p58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Calibri"/>
              <a:buNone/>
            </a:pPr>
            <a:r>
              <a:rPr b="0" lang="en-US" sz="4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Inter-AS routing:  routing within an AS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6" name="Google Shape;5376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77" name="Google Shape;5377;p58"/>
          <p:cNvSpPr txBox="1"/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common intra-AS routing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RIP: Routing Information Protocol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[RFC 1723]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 DV: DVs exchanged every 30 secs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longer widely used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EIGRP: Enhanced Interior Gateway Routing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 based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formerly Cisco-proprietary for decades (became open in 2013 [RFC 7868])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OSPF: Open Shortest Path First  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[RFC 2328]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link-state routing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IS-IS protocol (ISO standard, not RFC standard) essentially same as OSPF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1" name="Shape 5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2" name="Google Shape;5382;p59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</a:pPr>
            <a:r>
              <a:rPr lang="en-US" sz="4000"/>
              <a:t>OSPF (Open Shortest Path First) routing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3" name="Google Shape;5383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84" name="Google Shape;5384;p59"/>
          <p:cNvSpPr txBox="1"/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“open”: publicly available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 link-state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floods OSPF link-state advertisements (directly over IP rather than using TCP/UDP) to all other routers in entire AS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link costs metrics possible: bandwidth, delay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has full topology, uses Dijkstra’s algorithm to compute forwarding table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security: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OSPF messages authenticated (to prevent malicious intrusion) 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8" name="Shape 5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9" name="Google Shape;5389;p60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Hierarchical OSPF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0" name="Google Shape;5390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1" name="Google Shape;5391;p60"/>
          <p:cNvSpPr txBox="1"/>
          <p:nvPr/>
        </p:nvSpPr>
        <p:spPr>
          <a:xfrm>
            <a:off x="858903" y="1430860"/>
            <a:ext cx="11470883" cy="1738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8" lvl="0" marL="2365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two-level hierarchy: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area, backbone.</a:t>
            </a:r>
            <a:endParaRPr/>
          </a:p>
          <a:p>
            <a:pPr indent="-225425" lvl="1" marL="6350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link-state advertisements flooded only in area, or backbone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350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node has detailed area topology; only knows direction to reach other destinations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392" name="Google Shape;5392;p60"/>
          <p:cNvGrpSpPr/>
          <p:nvPr/>
        </p:nvGrpSpPr>
        <p:grpSpPr>
          <a:xfrm>
            <a:off x="413359" y="3406459"/>
            <a:ext cx="4096011" cy="1200329"/>
            <a:chOff x="450937" y="3406459"/>
            <a:chExt cx="4096011" cy="1200329"/>
          </a:xfrm>
        </p:grpSpPr>
        <p:sp>
          <p:nvSpPr>
            <p:cNvPr id="5393" name="Google Shape;5393;p60"/>
            <p:cNvSpPr/>
            <p:nvPr/>
          </p:nvSpPr>
          <p:spPr>
            <a:xfrm>
              <a:off x="450937" y="3406459"/>
              <a:ext cx="2968668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area border routers: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“summarize” distances  to destinations in own area, advertise in backbone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94" name="Google Shape;5394;p60"/>
            <p:cNvCxnSpPr/>
            <p:nvPr/>
          </p:nvCxnSpPr>
          <p:spPr>
            <a:xfrm>
              <a:off x="3294345" y="4158641"/>
              <a:ext cx="1252603" cy="23799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395" name="Google Shape;5395;p60"/>
          <p:cNvSpPr/>
          <p:nvPr/>
        </p:nvSpPr>
        <p:spPr>
          <a:xfrm>
            <a:off x="4334572" y="3279558"/>
            <a:ext cx="5195932" cy="1635654"/>
          </a:xfrm>
          <a:custGeom>
            <a:rect b="b" l="l" r="r" t="t"/>
            <a:pathLst>
              <a:path extrusionOk="0" h="1390" w="3786">
                <a:moveTo>
                  <a:pt x="408" y="575"/>
                </a:moveTo>
                <a:cubicBezTo>
                  <a:pt x="689" y="273"/>
                  <a:pt x="1286" y="110"/>
                  <a:pt x="1693" y="55"/>
                </a:cubicBezTo>
                <a:cubicBezTo>
                  <a:pt x="2100" y="0"/>
                  <a:pt x="2585" y="164"/>
                  <a:pt x="2852" y="245"/>
                </a:cubicBezTo>
                <a:cubicBezTo>
                  <a:pt x="3119" y="326"/>
                  <a:pt x="3163" y="420"/>
                  <a:pt x="3295" y="540"/>
                </a:cubicBezTo>
                <a:cubicBezTo>
                  <a:pt x="3427" y="660"/>
                  <a:pt x="3786" y="870"/>
                  <a:pt x="3702" y="1130"/>
                </a:cubicBezTo>
                <a:cubicBezTo>
                  <a:pt x="3618" y="1390"/>
                  <a:pt x="3209" y="1190"/>
                  <a:pt x="3035" y="1214"/>
                </a:cubicBezTo>
                <a:cubicBezTo>
                  <a:pt x="2870" y="1266"/>
                  <a:pt x="2655" y="1277"/>
                  <a:pt x="2655" y="1277"/>
                </a:cubicBezTo>
                <a:cubicBezTo>
                  <a:pt x="2655" y="1277"/>
                  <a:pt x="2160" y="1316"/>
                  <a:pt x="1918" y="1326"/>
                </a:cubicBezTo>
                <a:cubicBezTo>
                  <a:pt x="1676" y="1336"/>
                  <a:pt x="1387" y="1353"/>
                  <a:pt x="1201" y="1340"/>
                </a:cubicBezTo>
                <a:cubicBezTo>
                  <a:pt x="1015" y="1327"/>
                  <a:pt x="913" y="1278"/>
                  <a:pt x="801" y="1249"/>
                </a:cubicBezTo>
                <a:lnTo>
                  <a:pt x="527" y="1165"/>
                </a:lnTo>
                <a:cubicBezTo>
                  <a:pt x="404" y="1140"/>
                  <a:pt x="126" y="1159"/>
                  <a:pt x="63" y="1102"/>
                </a:cubicBezTo>
                <a:cubicBezTo>
                  <a:pt x="0" y="1045"/>
                  <a:pt x="85" y="919"/>
                  <a:pt x="148" y="821"/>
                </a:cubicBezTo>
                <a:cubicBezTo>
                  <a:pt x="205" y="733"/>
                  <a:pt x="127" y="877"/>
                  <a:pt x="408" y="575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6" name="Google Shape;5396;p60"/>
          <p:cNvCxnSpPr/>
          <p:nvPr/>
        </p:nvCxnSpPr>
        <p:spPr>
          <a:xfrm flipH="1" rot="10800000">
            <a:off x="5763247" y="3566679"/>
            <a:ext cx="915396" cy="25652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7" name="Google Shape;5397;p60"/>
          <p:cNvCxnSpPr/>
          <p:nvPr/>
        </p:nvCxnSpPr>
        <p:spPr>
          <a:xfrm>
            <a:off x="6868035" y="3564326"/>
            <a:ext cx="1011463" cy="2553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8" name="Google Shape;5398;p60"/>
          <p:cNvCxnSpPr/>
          <p:nvPr/>
        </p:nvCxnSpPr>
        <p:spPr>
          <a:xfrm>
            <a:off x="8088104" y="3859685"/>
            <a:ext cx="694438" cy="59424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9" name="Google Shape;5399;p60"/>
          <p:cNvCxnSpPr/>
          <p:nvPr/>
        </p:nvCxnSpPr>
        <p:spPr>
          <a:xfrm flipH="1" rot="10800000">
            <a:off x="6859800" y="3782021"/>
            <a:ext cx="1099297" cy="8766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0" name="Google Shape;5400;p60"/>
          <p:cNvCxnSpPr/>
          <p:nvPr/>
        </p:nvCxnSpPr>
        <p:spPr>
          <a:xfrm>
            <a:off x="5765992" y="3886750"/>
            <a:ext cx="984016" cy="73545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1" name="Google Shape;5401;p60"/>
          <p:cNvCxnSpPr/>
          <p:nvPr/>
        </p:nvCxnSpPr>
        <p:spPr>
          <a:xfrm flipH="1">
            <a:off x="8443558" y="4453933"/>
            <a:ext cx="345846" cy="65308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2" name="Google Shape;5402;p60"/>
          <p:cNvCxnSpPr/>
          <p:nvPr/>
        </p:nvCxnSpPr>
        <p:spPr>
          <a:xfrm>
            <a:off x="8468261" y="5087014"/>
            <a:ext cx="772665" cy="62013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3" name="Google Shape;5403;p60"/>
          <p:cNvCxnSpPr/>
          <p:nvPr/>
        </p:nvCxnSpPr>
        <p:spPr>
          <a:xfrm>
            <a:off x="6767849" y="4578667"/>
            <a:ext cx="473481" cy="99198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4" name="Google Shape;5404;p60"/>
          <p:cNvCxnSpPr/>
          <p:nvPr/>
        </p:nvCxnSpPr>
        <p:spPr>
          <a:xfrm>
            <a:off x="6389064" y="5218807"/>
            <a:ext cx="212723" cy="7201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5" name="Google Shape;5405;p60"/>
          <p:cNvCxnSpPr/>
          <p:nvPr/>
        </p:nvCxnSpPr>
        <p:spPr>
          <a:xfrm flipH="1">
            <a:off x="6599043" y="5594184"/>
            <a:ext cx="625817" cy="33889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6" name="Google Shape;5406;p60"/>
          <p:cNvCxnSpPr/>
          <p:nvPr/>
        </p:nvCxnSpPr>
        <p:spPr>
          <a:xfrm flipH="1">
            <a:off x="6432981" y="4663391"/>
            <a:ext cx="336240" cy="57777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7" name="Google Shape;5407;p60"/>
          <p:cNvCxnSpPr/>
          <p:nvPr/>
        </p:nvCxnSpPr>
        <p:spPr>
          <a:xfrm flipH="1">
            <a:off x="4906865" y="3773784"/>
            <a:ext cx="741100" cy="6271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8" name="Google Shape;5408;p60"/>
          <p:cNvCxnSpPr/>
          <p:nvPr/>
        </p:nvCxnSpPr>
        <p:spPr>
          <a:xfrm flipH="1">
            <a:off x="4383979" y="4405687"/>
            <a:ext cx="499556" cy="58601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9" name="Google Shape;5409;p60"/>
          <p:cNvCxnSpPr/>
          <p:nvPr/>
        </p:nvCxnSpPr>
        <p:spPr>
          <a:xfrm flipH="1">
            <a:off x="3822664" y="5037591"/>
            <a:ext cx="537983" cy="44480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0" name="Google Shape;5410;p60"/>
          <p:cNvCxnSpPr/>
          <p:nvPr/>
        </p:nvCxnSpPr>
        <p:spPr>
          <a:xfrm flipH="1">
            <a:off x="4562391" y="5429442"/>
            <a:ext cx="374667" cy="5024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1" name="Google Shape;5411;p60"/>
          <p:cNvCxnSpPr/>
          <p:nvPr/>
        </p:nvCxnSpPr>
        <p:spPr>
          <a:xfrm>
            <a:off x="4452599" y="5005819"/>
            <a:ext cx="550335" cy="38596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2" name="Google Shape;5412;p60"/>
          <p:cNvSpPr/>
          <p:nvPr/>
        </p:nvSpPr>
        <p:spPr>
          <a:xfrm>
            <a:off x="3522107" y="4155044"/>
            <a:ext cx="1889804" cy="2091048"/>
          </a:xfrm>
          <a:custGeom>
            <a:rect b="b" l="l" r="r" t="t"/>
            <a:pathLst>
              <a:path extrusionOk="0" h="1777" w="1377">
                <a:moveTo>
                  <a:pt x="671" y="245"/>
                </a:moveTo>
                <a:cubicBezTo>
                  <a:pt x="604" y="317"/>
                  <a:pt x="533" y="382"/>
                  <a:pt x="474" y="463"/>
                </a:cubicBezTo>
                <a:cubicBezTo>
                  <a:pt x="415" y="544"/>
                  <a:pt x="366" y="663"/>
                  <a:pt x="319" y="730"/>
                </a:cubicBezTo>
                <a:cubicBezTo>
                  <a:pt x="272" y="797"/>
                  <a:pt x="242" y="800"/>
                  <a:pt x="193" y="863"/>
                </a:cubicBezTo>
                <a:cubicBezTo>
                  <a:pt x="144" y="926"/>
                  <a:pt x="48" y="1027"/>
                  <a:pt x="24" y="1109"/>
                </a:cubicBezTo>
                <a:cubicBezTo>
                  <a:pt x="0" y="1191"/>
                  <a:pt x="10" y="1295"/>
                  <a:pt x="46" y="1355"/>
                </a:cubicBezTo>
                <a:cubicBezTo>
                  <a:pt x="82" y="1415"/>
                  <a:pt x="172" y="1437"/>
                  <a:pt x="242" y="1467"/>
                </a:cubicBezTo>
                <a:cubicBezTo>
                  <a:pt x="312" y="1497"/>
                  <a:pt x="404" y="1499"/>
                  <a:pt x="467" y="1538"/>
                </a:cubicBezTo>
                <a:cubicBezTo>
                  <a:pt x="530" y="1577"/>
                  <a:pt x="518" y="1669"/>
                  <a:pt x="622" y="1699"/>
                </a:cubicBezTo>
                <a:cubicBezTo>
                  <a:pt x="726" y="1729"/>
                  <a:pt x="986" y="1777"/>
                  <a:pt x="1092" y="1720"/>
                </a:cubicBezTo>
                <a:cubicBezTo>
                  <a:pt x="1198" y="1663"/>
                  <a:pt x="1219" y="1471"/>
                  <a:pt x="1261" y="1355"/>
                </a:cubicBezTo>
                <a:cubicBezTo>
                  <a:pt x="1303" y="1239"/>
                  <a:pt x="1377" y="1150"/>
                  <a:pt x="1345" y="1025"/>
                </a:cubicBezTo>
                <a:cubicBezTo>
                  <a:pt x="1313" y="900"/>
                  <a:pt x="1084" y="727"/>
                  <a:pt x="1071" y="603"/>
                </a:cubicBezTo>
                <a:cubicBezTo>
                  <a:pt x="1058" y="479"/>
                  <a:pt x="1237" y="374"/>
                  <a:pt x="1268" y="280"/>
                </a:cubicBezTo>
                <a:cubicBezTo>
                  <a:pt x="1299" y="186"/>
                  <a:pt x="1320" y="82"/>
                  <a:pt x="1254" y="41"/>
                </a:cubicBezTo>
                <a:cubicBezTo>
                  <a:pt x="1188" y="0"/>
                  <a:pt x="970" y="2"/>
                  <a:pt x="874" y="34"/>
                </a:cubicBezTo>
                <a:cubicBezTo>
                  <a:pt x="778" y="66"/>
                  <a:pt x="738" y="173"/>
                  <a:pt x="671" y="245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3" name="Google Shape;5413;p60"/>
          <p:cNvSpPr/>
          <p:nvPr/>
        </p:nvSpPr>
        <p:spPr>
          <a:xfrm>
            <a:off x="5997929" y="4329200"/>
            <a:ext cx="1645515" cy="2023974"/>
          </a:xfrm>
          <a:custGeom>
            <a:rect b="b" l="l" r="r" t="t"/>
            <a:pathLst>
              <a:path extrusionOk="0" h="1720" w="1199">
                <a:moveTo>
                  <a:pt x="651" y="20"/>
                </a:moveTo>
                <a:cubicBezTo>
                  <a:pt x="595" y="0"/>
                  <a:pt x="643" y="10"/>
                  <a:pt x="609" y="20"/>
                </a:cubicBezTo>
                <a:cubicBezTo>
                  <a:pt x="575" y="30"/>
                  <a:pt x="499" y="45"/>
                  <a:pt x="447" y="83"/>
                </a:cubicBezTo>
                <a:cubicBezTo>
                  <a:pt x="395" y="121"/>
                  <a:pt x="354" y="178"/>
                  <a:pt x="300" y="245"/>
                </a:cubicBezTo>
                <a:cubicBezTo>
                  <a:pt x="246" y="312"/>
                  <a:pt x="173" y="379"/>
                  <a:pt x="124" y="483"/>
                </a:cubicBezTo>
                <a:cubicBezTo>
                  <a:pt x="75" y="587"/>
                  <a:pt x="10" y="742"/>
                  <a:pt x="5" y="870"/>
                </a:cubicBezTo>
                <a:cubicBezTo>
                  <a:pt x="0" y="998"/>
                  <a:pt x="50" y="1122"/>
                  <a:pt x="96" y="1249"/>
                </a:cubicBezTo>
                <a:cubicBezTo>
                  <a:pt x="142" y="1376"/>
                  <a:pt x="153" y="1564"/>
                  <a:pt x="279" y="1635"/>
                </a:cubicBezTo>
                <a:cubicBezTo>
                  <a:pt x="405" y="1706"/>
                  <a:pt x="711" y="1720"/>
                  <a:pt x="855" y="1678"/>
                </a:cubicBezTo>
                <a:cubicBezTo>
                  <a:pt x="999" y="1636"/>
                  <a:pt x="1089" y="1492"/>
                  <a:pt x="1143" y="1383"/>
                </a:cubicBezTo>
                <a:cubicBezTo>
                  <a:pt x="1197" y="1274"/>
                  <a:pt x="1199" y="1129"/>
                  <a:pt x="1178" y="1024"/>
                </a:cubicBezTo>
                <a:cubicBezTo>
                  <a:pt x="1157" y="919"/>
                  <a:pt x="1057" y="854"/>
                  <a:pt x="1016" y="750"/>
                </a:cubicBezTo>
                <a:cubicBezTo>
                  <a:pt x="975" y="646"/>
                  <a:pt x="944" y="501"/>
                  <a:pt x="932" y="399"/>
                </a:cubicBezTo>
                <a:cubicBezTo>
                  <a:pt x="920" y="297"/>
                  <a:pt x="994" y="203"/>
                  <a:pt x="946" y="139"/>
                </a:cubicBezTo>
                <a:cubicBezTo>
                  <a:pt x="898" y="75"/>
                  <a:pt x="707" y="40"/>
                  <a:pt x="651" y="2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4" name="Google Shape;5414;p60"/>
          <p:cNvSpPr/>
          <p:nvPr/>
        </p:nvSpPr>
        <p:spPr>
          <a:xfrm>
            <a:off x="8097711" y="4111505"/>
            <a:ext cx="1797853" cy="2016914"/>
          </a:xfrm>
          <a:custGeom>
            <a:rect b="b" l="l" r="r" t="t"/>
            <a:pathLst>
              <a:path extrusionOk="0" h="1714" w="1310">
                <a:moveTo>
                  <a:pt x="470" y="29"/>
                </a:moveTo>
                <a:cubicBezTo>
                  <a:pt x="373" y="0"/>
                  <a:pt x="308" y="123"/>
                  <a:pt x="245" y="198"/>
                </a:cubicBezTo>
                <a:cubicBezTo>
                  <a:pt x="182" y="273"/>
                  <a:pt x="130" y="385"/>
                  <a:pt x="90" y="479"/>
                </a:cubicBezTo>
                <a:cubicBezTo>
                  <a:pt x="50" y="573"/>
                  <a:pt x="12" y="651"/>
                  <a:pt x="6" y="760"/>
                </a:cubicBezTo>
                <a:cubicBezTo>
                  <a:pt x="0" y="869"/>
                  <a:pt x="7" y="1042"/>
                  <a:pt x="55" y="1132"/>
                </a:cubicBezTo>
                <a:cubicBezTo>
                  <a:pt x="103" y="1222"/>
                  <a:pt x="191" y="1232"/>
                  <a:pt x="294" y="1301"/>
                </a:cubicBezTo>
                <a:cubicBezTo>
                  <a:pt x="397" y="1370"/>
                  <a:pt x="536" y="1479"/>
                  <a:pt x="673" y="1546"/>
                </a:cubicBezTo>
                <a:cubicBezTo>
                  <a:pt x="810" y="1613"/>
                  <a:pt x="1018" y="1714"/>
                  <a:pt x="1116" y="1701"/>
                </a:cubicBezTo>
                <a:cubicBezTo>
                  <a:pt x="1214" y="1688"/>
                  <a:pt x="1310" y="1559"/>
                  <a:pt x="1263" y="1469"/>
                </a:cubicBezTo>
                <a:cubicBezTo>
                  <a:pt x="1216" y="1379"/>
                  <a:pt x="925" y="1270"/>
                  <a:pt x="835" y="1160"/>
                </a:cubicBezTo>
                <a:cubicBezTo>
                  <a:pt x="745" y="1050"/>
                  <a:pt x="723" y="940"/>
                  <a:pt x="722" y="809"/>
                </a:cubicBezTo>
                <a:cubicBezTo>
                  <a:pt x="721" y="678"/>
                  <a:pt x="871" y="504"/>
                  <a:pt x="828" y="373"/>
                </a:cubicBezTo>
                <a:cubicBezTo>
                  <a:pt x="785" y="242"/>
                  <a:pt x="567" y="58"/>
                  <a:pt x="470" y="29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5" name="Google Shape;5415;p60"/>
          <p:cNvSpPr txBox="1"/>
          <p:nvPr/>
        </p:nvSpPr>
        <p:spPr>
          <a:xfrm>
            <a:off x="3391728" y="6026044"/>
            <a:ext cx="719141" cy="271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1</a:t>
            </a:r>
            <a:endParaRPr/>
          </a:p>
        </p:txBody>
      </p:sp>
      <p:sp>
        <p:nvSpPr>
          <p:cNvPr id="5416" name="Google Shape;5416;p60"/>
          <p:cNvSpPr txBox="1"/>
          <p:nvPr/>
        </p:nvSpPr>
        <p:spPr>
          <a:xfrm>
            <a:off x="6474154" y="6304928"/>
            <a:ext cx="719141" cy="27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2</a:t>
            </a:r>
            <a:endParaRPr/>
          </a:p>
        </p:txBody>
      </p:sp>
      <p:sp>
        <p:nvSpPr>
          <p:cNvPr id="5417" name="Google Shape;5417;p60"/>
          <p:cNvSpPr txBox="1"/>
          <p:nvPr/>
        </p:nvSpPr>
        <p:spPr>
          <a:xfrm>
            <a:off x="9140740" y="5103488"/>
            <a:ext cx="719141" cy="271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3</a:t>
            </a:r>
            <a:endParaRPr/>
          </a:p>
        </p:txBody>
      </p:sp>
      <p:sp>
        <p:nvSpPr>
          <p:cNvPr id="5418" name="Google Shape;5418;p60"/>
          <p:cNvSpPr txBox="1"/>
          <p:nvPr/>
        </p:nvSpPr>
        <p:spPr>
          <a:xfrm>
            <a:off x="6209380" y="3772638"/>
            <a:ext cx="120097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/>
          </a:p>
        </p:txBody>
      </p:sp>
      <p:sp>
        <p:nvSpPr>
          <p:cNvPr id="5419" name="Google Shape;5419;p60"/>
          <p:cNvSpPr txBox="1"/>
          <p:nvPr/>
        </p:nvSpPr>
        <p:spPr>
          <a:xfrm>
            <a:off x="7742257" y="5796581"/>
            <a:ext cx="806975" cy="41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routers</a:t>
            </a:r>
            <a:endParaRPr/>
          </a:p>
        </p:txBody>
      </p:sp>
      <p:cxnSp>
        <p:nvCxnSpPr>
          <p:cNvPr id="5420" name="Google Shape;5420;p60"/>
          <p:cNvCxnSpPr/>
          <p:nvPr/>
        </p:nvCxnSpPr>
        <p:spPr>
          <a:xfrm flipH="1" rot="10800000">
            <a:off x="8587660" y="5774224"/>
            <a:ext cx="424074" cy="148268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1" name="Google Shape;5421;p60"/>
          <p:cNvCxnSpPr/>
          <p:nvPr/>
        </p:nvCxnSpPr>
        <p:spPr>
          <a:xfrm rot="10800000">
            <a:off x="7388176" y="5681262"/>
            <a:ext cx="415840" cy="222402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2" name="Google Shape;5422;p60"/>
          <p:cNvCxnSpPr/>
          <p:nvPr/>
        </p:nvCxnSpPr>
        <p:spPr>
          <a:xfrm rot="10800000">
            <a:off x="6785690" y="3169085"/>
            <a:ext cx="0" cy="27403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23" name="Google Shape;5423;p60"/>
          <p:cNvGrpSpPr/>
          <p:nvPr/>
        </p:nvGrpSpPr>
        <p:grpSpPr>
          <a:xfrm>
            <a:off x="6340202" y="5745395"/>
            <a:ext cx="597931" cy="300817"/>
            <a:chOff x="7493876" y="2774731"/>
            <a:chExt cx="1481958" cy="894622"/>
          </a:xfrm>
        </p:grpSpPr>
        <p:sp>
          <p:nvSpPr>
            <p:cNvPr id="5424" name="Google Shape;5424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25" name="Google Shape;5425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26" name="Google Shape;5426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7" name="Google Shape;5427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8" name="Google Shape;5428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9" name="Google Shape;5429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0" name="Google Shape;5430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1" name="Google Shape;5431;p60"/>
          <p:cNvGrpSpPr/>
          <p:nvPr/>
        </p:nvGrpSpPr>
        <p:grpSpPr>
          <a:xfrm>
            <a:off x="6864077" y="5403856"/>
            <a:ext cx="597931" cy="300817"/>
            <a:chOff x="7493876" y="2774731"/>
            <a:chExt cx="1481958" cy="894622"/>
          </a:xfrm>
        </p:grpSpPr>
        <p:sp>
          <p:nvSpPr>
            <p:cNvPr id="5432" name="Google Shape;5432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33" name="Google Shape;5433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34" name="Google Shape;5434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35" name="Google Shape;5435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6" name="Google Shape;5436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7" name="Google Shape;5437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8" name="Google Shape;5438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9" name="Google Shape;5439;p60"/>
          <p:cNvGrpSpPr/>
          <p:nvPr/>
        </p:nvGrpSpPr>
        <p:grpSpPr>
          <a:xfrm>
            <a:off x="6559277" y="4511228"/>
            <a:ext cx="597931" cy="300817"/>
            <a:chOff x="7493876" y="2774731"/>
            <a:chExt cx="1481958" cy="894622"/>
          </a:xfrm>
        </p:grpSpPr>
        <p:sp>
          <p:nvSpPr>
            <p:cNvPr id="5440" name="Google Shape;5440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1" name="Google Shape;5441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42" name="Google Shape;5442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43" name="Google Shape;5443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4" name="Google Shape;5444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5" name="Google Shape;5445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6" name="Google Shape;5446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47" name="Google Shape;5447;p60"/>
          <p:cNvGrpSpPr/>
          <p:nvPr/>
        </p:nvGrpSpPr>
        <p:grpSpPr>
          <a:xfrm>
            <a:off x="6140177" y="5141239"/>
            <a:ext cx="597931" cy="300817"/>
            <a:chOff x="7493876" y="2774731"/>
            <a:chExt cx="1481958" cy="894622"/>
          </a:xfrm>
        </p:grpSpPr>
        <p:sp>
          <p:nvSpPr>
            <p:cNvPr id="5448" name="Google Shape;5448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9" name="Google Shape;5449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50" name="Google Shape;5450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1" name="Google Shape;5451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2" name="Google Shape;5452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3" name="Google Shape;5453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4" name="Google Shape;5454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55" name="Google Shape;5455;p60"/>
          <p:cNvGrpSpPr/>
          <p:nvPr/>
        </p:nvGrpSpPr>
        <p:grpSpPr>
          <a:xfrm>
            <a:off x="4569913" y="4277185"/>
            <a:ext cx="597931" cy="300817"/>
            <a:chOff x="7493876" y="2774731"/>
            <a:chExt cx="1481958" cy="894622"/>
          </a:xfrm>
        </p:grpSpPr>
        <p:sp>
          <p:nvSpPr>
            <p:cNvPr id="5456" name="Google Shape;5456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57" name="Google Shape;5457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58" name="Google Shape;5458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9" name="Google Shape;5459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0" name="Google Shape;5460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1" name="Google Shape;5461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2" name="Google Shape;5462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63" name="Google Shape;5463;p60"/>
          <p:cNvGrpSpPr/>
          <p:nvPr/>
        </p:nvGrpSpPr>
        <p:grpSpPr>
          <a:xfrm>
            <a:off x="4158978" y="4866374"/>
            <a:ext cx="597931" cy="300817"/>
            <a:chOff x="7493876" y="2774731"/>
            <a:chExt cx="1481958" cy="894622"/>
          </a:xfrm>
        </p:grpSpPr>
        <p:sp>
          <p:nvSpPr>
            <p:cNvPr id="5464" name="Google Shape;5464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65" name="Google Shape;5465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66" name="Google Shape;5466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67" name="Google Shape;5467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8" name="Google Shape;5468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9" name="Google Shape;5469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0" name="Google Shape;5470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1" name="Google Shape;5471;p60"/>
          <p:cNvGrpSpPr/>
          <p:nvPr/>
        </p:nvGrpSpPr>
        <p:grpSpPr>
          <a:xfrm>
            <a:off x="3617415" y="5394331"/>
            <a:ext cx="597931" cy="300817"/>
            <a:chOff x="7493876" y="2774731"/>
            <a:chExt cx="1481958" cy="894622"/>
          </a:xfrm>
        </p:grpSpPr>
        <p:sp>
          <p:nvSpPr>
            <p:cNvPr id="5472" name="Google Shape;5472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73" name="Google Shape;5473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74" name="Google Shape;5474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75" name="Google Shape;5475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6" name="Google Shape;5476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7" name="Google Shape;5477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8" name="Google Shape;5478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9" name="Google Shape;5479;p60"/>
          <p:cNvGrpSpPr/>
          <p:nvPr/>
        </p:nvGrpSpPr>
        <p:grpSpPr>
          <a:xfrm>
            <a:off x="4312742" y="5705934"/>
            <a:ext cx="597931" cy="300817"/>
            <a:chOff x="7493876" y="2774731"/>
            <a:chExt cx="1481958" cy="894622"/>
          </a:xfrm>
        </p:grpSpPr>
        <p:sp>
          <p:nvSpPr>
            <p:cNvPr id="5480" name="Google Shape;5480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1" name="Google Shape;5481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82" name="Google Shape;5482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83" name="Google Shape;5483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4" name="Google Shape;5484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5" name="Google Shape;5485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6" name="Google Shape;5486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87" name="Google Shape;5487;p60"/>
          <p:cNvGrpSpPr/>
          <p:nvPr/>
        </p:nvGrpSpPr>
        <p:grpSpPr>
          <a:xfrm>
            <a:off x="4587608" y="5246012"/>
            <a:ext cx="597931" cy="300817"/>
            <a:chOff x="7493876" y="2774731"/>
            <a:chExt cx="1481958" cy="894622"/>
          </a:xfrm>
        </p:grpSpPr>
        <p:sp>
          <p:nvSpPr>
            <p:cNvPr id="5488" name="Google Shape;5488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9" name="Google Shape;5489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0" name="Google Shape;5490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1" name="Google Shape;5491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2" name="Google Shape;5492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3" name="Google Shape;5493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4" name="Google Shape;5494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95" name="Google Shape;5495;p60"/>
          <p:cNvGrpSpPr/>
          <p:nvPr/>
        </p:nvGrpSpPr>
        <p:grpSpPr>
          <a:xfrm>
            <a:off x="8462916" y="4337057"/>
            <a:ext cx="597931" cy="300817"/>
            <a:chOff x="7493876" y="2774731"/>
            <a:chExt cx="1481958" cy="894622"/>
          </a:xfrm>
        </p:grpSpPr>
        <p:sp>
          <p:nvSpPr>
            <p:cNvPr id="5496" name="Google Shape;5496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97" name="Google Shape;5497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8" name="Google Shape;5498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9" name="Google Shape;5499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0" name="Google Shape;5500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2" name="Google Shape;5502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03" name="Google Shape;5503;p60"/>
          <p:cNvGrpSpPr/>
          <p:nvPr/>
        </p:nvGrpSpPr>
        <p:grpSpPr>
          <a:xfrm>
            <a:off x="8243841" y="4926247"/>
            <a:ext cx="597931" cy="300817"/>
            <a:chOff x="7493876" y="2774731"/>
            <a:chExt cx="1481958" cy="894622"/>
          </a:xfrm>
        </p:grpSpPr>
        <p:sp>
          <p:nvSpPr>
            <p:cNvPr id="5504" name="Google Shape;5504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05" name="Google Shape;5505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06" name="Google Shape;5506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7" name="Google Shape;5507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8" name="Google Shape;5508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9" name="Google Shape;5509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0" name="Google Shape;5510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1" name="Google Shape;5511;p60"/>
          <p:cNvGrpSpPr/>
          <p:nvPr/>
        </p:nvGrpSpPr>
        <p:grpSpPr>
          <a:xfrm>
            <a:off x="8963659" y="5613409"/>
            <a:ext cx="597931" cy="300817"/>
            <a:chOff x="7493876" y="2774731"/>
            <a:chExt cx="1481958" cy="894622"/>
          </a:xfrm>
        </p:grpSpPr>
        <p:sp>
          <p:nvSpPr>
            <p:cNvPr id="5512" name="Google Shape;5512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3" name="Google Shape;5513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4" name="Google Shape;5514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5" name="Google Shape;5515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6" name="Google Shape;5516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7" name="Google Shape;5517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8" name="Google Shape;5518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9" name="Google Shape;5519;p60"/>
          <p:cNvGrpSpPr/>
          <p:nvPr/>
        </p:nvGrpSpPr>
        <p:grpSpPr>
          <a:xfrm>
            <a:off x="6526620" y="3425378"/>
            <a:ext cx="597931" cy="300817"/>
            <a:chOff x="7493876" y="2774731"/>
            <a:chExt cx="1481958" cy="894622"/>
          </a:xfrm>
        </p:grpSpPr>
        <p:sp>
          <p:nvSpPr>
            <p:cNvPr id="5520" name="Google Shape;5520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1" name="Google Shape;5521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2" name="Google Shape;5522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3" name="Google Shape;5523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4" name="Google Shape;5524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5" name="Google Shape;5525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6" name="Google Shape;5526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7" name="Google Shape;5527;p60"/>
          <p:cNvGrpSpPr/>
          <p:nvPr/>
        </p:nvGrpSpPr>
        <p:grpSpPr>
          <a:xfrm>
            <a:off x="7683227" y="3687996"/>
            <a:ext cx="597931" cy="300817"/>
            <a:chOff x="7493876" y="2774731"/>
            <a:chExt cx="1481958" cy="894622"/>
          </a:xfrm>
        </p:grpSpPr>
        <p:sp>
          <p:nvSpPr>
            <p:cNvPr id="5528" name="Google Shape;5528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9" name="Google Shape;5529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0" name="Google Shape;5530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1" name="Google Shape;5531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2" name="Google Shape;5532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3" name="Google Shape;5533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4" name="Google Shape;5534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5" name="Google Shape;5535;p60"/>
          <p:cNvGrpSpPr/>
          <p:nvPr/>
        </p:nvGrpSpPr>
        <p:grpSpPr>
          <a:xfrm>
            <a:off x="5374095" y="3693439"/>
            <a:ext cx="597931" cy="300817"/>
            <a:chOff x="7493876" y="2774731"/>
            <a:chExt cx="1481958" cy="894622"/>
          </a:xfrm>
        </p:grpSpPr>
        <p:sp>
          <p:nvSpPr>
            <p:cNvPr id="5536" name="Google Shape;5536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37" name="Google Shape;5537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8" name="Google Shape;5538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9" name="Google Shape;5539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0" name="Google Shape;5540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1" name="Google Shape;5541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2" name="Google Shape;5542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3" name="Google Shape;5543;p60"/>
          <p:cNvGrpSpPr/>
          <p:nvPr/>
        </p:nvGrpSpPr>
        <p:grpSpPr>
          <a:xfrm>
            <a:off x="8317285" y="3820439"/>
            <a:ext cx="3684736" cy="1112688"/>
            <a:chOff x="8317285" y="3820439"/>
            <a:chExt cx="3684736" cy="1112688"/>
          </a:xfrm>
        </p:grpSpPr>
        <p:sp>
          <p:nvSpPr>
            <p:cNvPr id="5544" name="Google Shape;5544;p60"/>
            <p:cNvSpPr/>
            <p:nvPr/>
          </p:nvSpPr>
          <p:spPr>
            <a:xfrm>
              <a:off x="9857982" y="4009797"/>
              <a:ext cx="21440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backbone router: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runs OSPF limited to backbone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45" name="Google Shape;5545;p60"/>
            <p:cNvCxnSpPr/>
            <p:nvPr/>
          </p:nvCxnSpPr>
          <p:spPr>
            <a:xfrm rot="10800000">
              <a:off x="8317285" y="3820439"/>
              <a:ext cx="1503120" cy="36325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546" name="Google Shape;5546;p60"/>
          <p:cNvGrpSpPr/>
          <p:nvPr/>
        </p:nvGrpSpPr>
        <p:grpSpPr>
          <a:xfrm>
            <a:off x="7166977" y="3322953"/>
            <a:ext cx="4306864" cy="646331"/>
            <a:chOff x="7166977" y="3322953"/>
            <a:chExt cx="4306864" cy="646331"/>
          </a:xfrm>
        </p:grpSpPr>
        <p:sp>
          <p:nvSpPr>
            <p:cNvPr id="5547" name="Google Shape;5547;p60"/>
            <p:cNvSpPr/>
            <p:nvPr/>
          </p:nvSpPr>
          <p:spPr>
            <a:xfrm>
              <a:off x="8897655" y="3322953"/>
              <a:ext cx="25761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boundary router: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connects to other ASes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48" name="Google Shape;5548;p60"/>
            <p:cNvCxnSpPr/>
            <p:nvPr/>
          </p:nvCxnSpPr>
          <p:spPr>
            <a:xfrm rot="10800000">
              <a:off x="7166977" y="3521901"/>
              <a:ext cx="165134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549" name="Google Shape;5549;p60"/>
          <p:cNvGrpSpPr/>
          <p:nvPr/>
        </p:nvGrpSpPr>
        <p:grpSpPr>
          <a:xfrm>
            <a:off x="400831" y="4789096"/>
            <a:ext cx="3682654" cy="1754326"/>
            <a:chOff x="400831" y="4789096"/>
            <a:chExt cx="3682654" cy="1754326"/>
          </a:xfrm>
        </p:grpSpPr>
        <p:sp>
          <p:nvSpPr>
            <p:cNvPr id="5550" name="Google Shape;5550;p60"/>
            <p:cNvSpPr/>
            <p:nvPr/>
          </p:nvSpPr>
          <p:spPr>
            <a:xfrm>
              <a:off x="400831" y="4789096"/>
              <a:ext cx="3244241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local routers: 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flood LS in area only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compute routing within area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forward packets to outside via area border router</a:t>
              </a:r>
              <a:endParaRPr/>
            </a:p>
          </p:txBody>
        </p:sp>
        <p:cxnSp>
          <p:nvCxnSpPr>
            <p:cNvPr id="5551" name="Google Shape;5551;p60"/>
            <p:cNvCxnSpPr/>
            <p:nvPr/>
          </p:nvCxnSpPr>
          <p:spPr>
            <a:xfrm>
              <a:off x="2091847" y="5035463"/>
              <a:ext cx="1991638" cy="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6" name="Shape 5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7" name="Google Shape;5557;p6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558" name="Google Shape;55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5559" name="Google Shape;5559;p61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0" name="Google Shape;5560;p61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1" name="Google Shape;5561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5" name="Shape 5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6" name="Google Shape;5566;p62"/>
          <p:cNvSpPr txBox="1"/>
          <p:nvPr>
            <p:ph idx="1" type="body"/>
          </p:nvPr>
        </p:nvSpPr>
        <p:spPr>
          <a:xfrm>
            <a:off x="838199" y="1724027"/>
            <a:ext cx="1078595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CC0000"/>
                </a:solidFill>
              </a:rPr>
              <a:t>BGP (Border Gateway Protocol):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i="1" lang="en-US">
                <a:solidFill>
                  <a:srgbClr val="000000"/>
                </a:solidFill>
              </a:rPr>
              <a:t>the</a:t>
            </a:r>
            <a:r>
              <a:rPr lang="en-US">
                <a:solidFill>
                  <a:srgbClr val="000000"/>
                </a:solidFill>
              </a:rPr>
              <a:t> de facto inter-domain routing protocol</a:t>
            </a:r>
            <a:endParaRPr/>
          </a:p>
          <a:p>
            <a:pPr indent="-277813" lvl="1" marL="8001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“glue that holds the Internet together”</a:t>
            </a:r>
            <a:endParaRPr/>
          </a:p>
          <a:p>
            <a:pPr indent="-285750" lvl="0" marL="28575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000000"/>
                </a:solidFill>
              </a:rPr>
              <a:t>allows subnet to advertise its existence, and the destinations it can reach, to rest of Internet: </a:t>
            </a:r>
            <a:r>
              <a:rPr i="1" lang="en-US">
                <a:solidFill>
                  <a:srgbClr val="000099"/>
                </a:solidFill>
              </a:rPr>
              <a:t>“I am here, here is who I can reach, and how”</a:t>
            </a:r>
            <a:endParaRPr i="1">
              <a:solidFill>
                <a:srgbClr val="000099"/>
              </a:solidFill>
            </a:endParaRPr>
          </a:p>
          <a:p>
            <a:pPr indent="-285750" lvl="0" marL="28575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000000"/>
                </a:solidFill>
              </a:rPr>
              <a:t>BGP provides each AS a means to: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CC0000"/>
                </a:solidFill>
              </a:rPr>
              <a:t>eBGP:</a:t>
            </a:r>
            <a:r>
              <a:rPr lang="en-US">
                <a:solidFill>
                  <a:srgbClr val="000000"/>
                </a:solidFill>
              </a:rPr>
              <a:t> obtain subnet reachability information from neighboring ASes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CC0000"/>
                </a:solidFill>
              </a:rPr>
              <a:t>iBGP:</a:t>
            </a:r>
            <a:r>
              <a:rPr lang="en-US">
                <a:solidFill>
                  <a:srgbClr val="000000"/>
                </a:solidFill>
              </a:rPr>
              <a:t> propagate reachability information to all AS-internal routers.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determine “good” routes to other networks based on reachability information and </a:t>
            </a:r>
            <a:r>
              <a:rPr i="1" lang="en-US">
                <a:solidFill>
                  <a:srgbClr val="000090"/>
                </a:solidFill>
              </a:rPr>
              <a:t>policy</a:t>
            </a:r>
            <a:endParaRPr>
              <a:solidFill>
                <a:srgbClr val="00009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567" name="Google Shape;5567;p62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inter-AS routing: BGP</a:t>
            </a:r>
            <a:endParaRPr/>
          </a:p>
        </p:txBody>
      </p:sp>
      <p:sp>
        <p:nvSpPr>
          <p:cNvPr id="5568" name="Google Shape;5568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2" name="Shape 5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3" name="Google Shape;5573;p63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eBGP, iBGP connections</a:t>
            </a:r>
            <a:endParaRPr/>
          </a:p>
        </p:txBody>
      </p:sp>
      <p:sp>
        <p:nvSpPr>
          <p:cNvPr id="5574" name="Google Shape;5574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75" name="Google Shape;5575;p63"/>
          <p:cNvGrpSpPr/>
          <p:nvPr/>
        </p:nvGrpSpPr>
        <p:grpSpPr>
          <a:xfrm>
            <a:off x="4773228" y="4365522"/>
            <a:ext cx="3666682" cy="635979"/>
            <a:chOff x="7493868" y="5383138"/>
            <a:chExt cx="3666682" cy="635979"/>
          </a:xfrm>
        </p:grpSpPr>
        <p:cxnSp>
          <p:nvCxnSpPr>
            <p:cNvPr id="5576" name="Google Shape;5576;p63"/>
            <p:cNvCxnSpPr/>
            <p:nvPr/>
          </p:nvCxnSpPr>
          <p:spPr>
            <a:xfrm rot="10800000">
              <a:off x="7493868" y="5589319"/>
              <a:ext cx="749784" cy="11598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rgbClr val="CC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5577" name="Google Shape;5577;p63"/>
            <p:cNvCxnSpPr/>
            <p:nvPr/>
          </p:nvCxnSpPr>
          <p:spPr>
            <a:xfrm flipH="1" rot="10800000">
              <a:off x="7523346" y="5869497"/>
              <a:ext cx="699488" cy="690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00009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5578" name="Google Shape;5578;p63"/>
            <p:cNvSpPr txBox="1"/>
            <p:nvPr/>
          </p:nvSpPr>
          <p:spPr>
            <a:xfrm>
              <a:off x="8347651" y="5383138"/>
              <a:ext cx="20697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eBGP connectivity</a:t>
              </a:r>
              <a:endParaRPr/>
            </a:p>
          </p:txBody>
        </p:sp>
        <p:sp>
          <p:nvSpPr>
            <p:cNvPr id="5579" name="Google Shape;5579;p63"/>
            <p:cNvSpPr txBox="1"/>
            <p:nvPr/>
          </p:nvSpPr>
          <p:spPr>
            <a:xfrm>
              <a:off x="8372607" y="5649785"/>
              <a:ext cx="2787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logical iBGP connectivity</a:t>
              </a:r>
              <a:endParaRPr/>
            </a:p>
          </p:txBody>
        </p:sp>
      </p:grpSp>
      <p:sp>
        <p:nvSpPr>
          <p:cNvPr id="5580" name="Google Shape;5580;p63"/>
          <p:cNvSpPr/>
          <p:nvPr/>
        </p:nvSpPr>
        <p:spPr>
          <a:xfrm>
            <a:off x="2249944" y="2430156"/>
            <a:ext cx="2712783" cy="1853712"/>
          </a:xfrm>
          <a:custGeom>
            <a:rect b="b" l="l" r="r" t="t"/>
            <a:pathLst>
              <a:path extrusionOk="0" h="10795" w="10000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1" name="Google Shape;5581;p63"/>
          <p:cNvGrpSpPr/>
          <p:nvPr/>
        </p:nvGrpSpPr>
        <p:grpSpPr>
          <a:xfrm>
            <a:off x="3388105" y="2581018"/>
            <a:ext cx="565150" cy="369332"/>
            <a:chOff x="1736090" y="2873352"/>
            <a:chExt cx="565150" cy="369332"/>
          </a:xfrm>
        </p:grpSpPr>
        <p:grpSp>
          <p:nvGrpSpPr>
            <p:cNvPr id="5582" name="Google Shape;5582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583" name="Google Shape;5583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4" name="Google Shape;5584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5" name="Google Shape;5585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6" name="Google Shape;5586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7" name="Google Shape;5587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8" name="Google Shape;5588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9" name="Google Shape;5589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590" name="Google Shape;5590;p63"/>
              <p:cNvCxnSpPr>
                <a:endCxn id="5585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591" name="Google Shape;5591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592" name="Google Shape;5592;p6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593" name="Google Shape;5593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94" name="Google Shape;5594;p6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/>
              </a:p>
            </p:txBody>
          </p:sp>
        </p:grpSp>
      </p:grpSp>
      <p:grpSp>
        <p:nvGrpSpPr>
          <p:cNvPr id="5595" name="Google Shape;5595;p63"/>
          <p:cNvGrpSpPr/>
          <p:nvPr/>
        </p:nvGrpSpPr>
        <p:grpSpPr>
          <a:xfrm>
            <a:off x="3392335" y="3802335"/>
            <a:ext cx="565150" cy="369332"/>
            <a:chOff x="1736090" y="2873352"/>
            <a:chExt cx="565150" cy="369332"/>
          </a:xfrm>
        </p:grpSpPr>
        <p:grpSp>
          <p:nvGrpSpPr>
            <p:cNvPr id="5596" name="Google Shape;5596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597" name="Google Shape;5597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98" name="Google Shape;5598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99" name="Google Shape;5599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0" name="Google Shape;5600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1" name="Google Shape;5601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2" name="Google Shape;5602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3" name="Google Shape;5603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04" name="Google Shape;5604;p63"/>
              <p:cNvCxnSpPr>
                <a:endCxn id="5599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605" name="Google Shape;5605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606" name="Google Shape;5606;p6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607" name="Google Shape;5607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8" name="Google Shape;5608;p6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1d</a:t>
                </a:r>
                <a:endParaRPr/>
              </a:p>
            </p:txBody>
          </p:sp>
        </p:grpSp>
      </p:grpSp>
      <p:grpSp>
        <p:nvGrpSpPr>
          <p:cNvPr id="5609" name="Google Shape;5609;p63"/>
          <p:cNvGrpSpPr/>
          <p:nvPr/>
        </p:nvGrpSpPr>
        <p:grpSpPr>
          <a:xfrm>
            <a:off x="4253821" y="3192738"/>
            <a:ext cx="565150" cy="369332"/>
            <a:chOff x="1736090" y="2873352"/>
            <a:chExt cx="565150" cy="369332"/>
          </a:xfrm>
        </p:grpSpPr>
        <p:grpSp>
          <p:nvGrpSpPr>
            <p:cNvPr id="5610" name="Google Shape;5610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611" name="Google Shape;5611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2" name="Google Shape;5612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3" name="Google Shape;5613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4" name="Google Shape;5614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5" name="Google Shape;5615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6" name="Google Shape;5616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7" name="Google Shape;5617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18" name="Google Shape;5618;p63"/>
              <p:cNvCxnSpPr>
                <a:endCxn id="5613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619" name="Google Shape;5619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620" name="Google Shape;5620;p63"/>
            <p:cNvGrpSpPr/>
            <p:nvPr/>
          </p:nvGrpSpPr>
          <p:grpSpPr>
            <a:xfrm>
              <a:off x="1770362" y="2873352"/>
              <a:ext cx="428460" cy="369332"/>
              <a:chOff x="667045" y="1708643"/>
              <a:chExt cx="428460" cy="369332"/>
            </a:xfrm>
          </p:grpSpPr>
          <p:sp>
            <p:nvSpPr>
              <p:cNvPr id="5621" name="Google Shape;5621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2" name="Google Shape;5622;p63"/>
              <p:cNvSpPr txBox="1"/>
              <p:nvPr/>
            </p:nvSpPr>
            <p:spPr>
              <a:xfrm>
                <a:off x="667045" y="1708643"/>
                <a:ext cx="42846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1c</a:t>
                </a:r>
                <a:endParaRPr/>
              </a:p>
            </p:txBody>
          </p:sp>
        </p:grpSp>
      </p:grpSp>
      <p:grpSp>
        <p:nvGrpSpPr>
          <p:cNvPr id="5623" name="Google Shape;5623;p63"/>
          <p:cNvGrpSpPr/>
          <p:nvPr/>
        </p:nvGrpSpPr>
        <p:grpSpPr>
          <a:xfrm>
            <a:off x="2485346" y="3186385"/>
            <a:ext cx="565150" cy="369332"/>
            <a:chOff x="1736090" y="2873352"/>
            <a:chExt cx="565150" cy="369332"/>
          </a:xfrm>
        </p:grpSpPr>
        <p:grpSp>
          <p:nvGrpSpPr>
            <p:cNvPr id="5624" name="Google Shape;5624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625" name="Google Shape;5625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6" name="Google Shape;5626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7" name="Google Shape;5627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8" name="Google Shape;5628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9" name="Google Shape;5629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30" name="Google Shape;5630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31" name="Google Shape;5631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32" name="Google Shape;5632;p63"/>
              <p:cNvCxnSpPr>
                <a:endCxn id="5627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633" name="Google Shape;5633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634" name="Google Shape;5634;p6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635" name="Google Shape;5635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36" name="Google Shape;5636;p6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1a</a:t>
                </a:r>
                <a:endParaRPr/>
              </a:p>
            </p:txBody>
          </p:sp>
        </p:grpSp>
      </p:grpSp>
      <p:cxnSp>
        <p:nvCxnSpPr>
          <p:cNvPr id="5637" name="Google Shape;5637;p63"/>
          <p:cNvCxnSpPr>
            <a:stCxn id="5594" idx="2"/>
            <a:endCxn id="5608" idx="0"/>
          </p:cNvCxnSpPr>
          <p:nvPr/>
        </p:nvCxnSpPr>
        <p:spPr>
          <a:xfrm>
            <a:off x="3643088" y="2950350"/>
            <a:ext cx="4200" cy="85200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38" name="Google Shape;5638;p63"/>
          <p:cNvCxnSpPr/>
          <p:nvPr/>
        </p:nvCxnSpPr>
        <p:spPr>
          <a:xfrm>
            <a:off x="3059492" y="3356287"/>
            <a:ext cx="1204913" cy="6353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39" name="Google Shape;5639;p63"/>
          <p:cNvCxnSpPr>
            <a:stCxn id="5583" idx="7"/>
          </p:cNvCxnSpPr>
          <p:nvPr/>
        </p:nvCxnSpPr>
        <p:spPr>
          <a:xfrm>
            <a:off x="3870723" y="2862143"/>
            <a:ext cx="480000" cy="36990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0" name="Google Shape;5640;p63"/>
          <p:cNvCxnSpPr/>
          <p:nvPr/>
        </p:nvCxnSpPr>
        <p:spPr>
          <a:xfrm>
            <a:off x="2952088" y="3493970"/>
            <a:ext cx="477927" cy="35707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1" name="Google Shape;5641;p63"/>
          <p:cNvCxnSpPr/>
          <p:nvPr/>
        </p:nvCxnSpPr>
        <p:spPr>
          <a:xfrm flipH="1">
            <a:off x="3848057" y="3491208"/>
            <a:ext cx="508002" cy="34925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2" name="Google Shape;5642;p63"/>
          <p:cNvCxnSpPr/>
          <p:nvPr/>
        </p:nvCxnSpPr>
        <p:spPr>
          <a:xfrm flipH="1">
            <a:off x="2939568" y="2874612"/>
            <a:ext cx="508002" cy="34925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5643" name="Google Shape;5643;p63"/>
          <p:cNvGrpSpPr/>
          <p:nvPr/>
        </p:nvGrpSpPr>
        <p:grpSpPr>
          <a:xfrm>
            <a:off x="4858786" y="1645599"/>
            <a:ext cx="2712783" cy="1853712"/>
            <a:chOff x="-2170772" y="2784954"/>
            <a:chExt cx="2712783" cy="1853712"/>
          </a:xfrm>
        </p:grpSpPr>
        <p:sp>
          <p:nvSpPr>
            <p:cNvPr id="5644" name="Google Shape;5644;p63"/>
            <p:cNvSpPr/>
            <p:nvPr/>
          </p:nvSpPr>
          <p:spPr>
            <a:xfrm>
              <a:off x="-2170772" y="2784954"/>
              <a:ext cx="2712783" cy="1853712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45" name="Google Shape;5645;p63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5646" name="Google Shape;5646;p63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47" name="Google Shape;5647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48" name="Google Shape;5648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49" name="Google Shape;5649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0" name="Google Shape;5650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1" name="Google Shape;5651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2" name="Google Shape;5652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3" name="Google Shape;5653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4" name="Google Shape;5654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55" name="Google Shape;5655;p63"/>
                  <p:cNvCxnSpPr>
                    <a:endCxn id="5650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56" name="Google Shape;5656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57" name="Google Shape;5657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658" name="Google Shape;5658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9" name="Google Shape;5659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2b</a:t>
                    </a:r>
                    <a:endParaRPr/>
                  </a:p>
                </p:txBody>
              </p:sp>
            </p:grpSp>
          </p:grpSp>
          <p:grpSp>
            <p:nvGrpSpPr>
              <p:cNvPr id="5660" name="Google Shape;5660;p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61" name="Google Shape;5661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62" name="Google Shape;5662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3" name="Google Shape;5663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4" name="Google Shape;5664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5" name="Google Shape;5665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6" name="Google Shape;5666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7" name="Google Shape;5667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8" name="Google Shape;5668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69" name="Google Shape;5669;p63"/>
                  <p:cNvCxnSpPr>
                    <a:endCxn id="5664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70" name="Google Shape;5670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71" name="Google Shape;5671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672" name="Google Shape;5672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3" name="Google Shape;5673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2d</a:t>
                    </a:r>
                    <a:endParaRPr/>
                  </a:p>
                </p:txBody>
              </p:sp>
            </p:grpSp>
          </p:grpSp>
          <p:grpSp>
            <p:nvGrpSpPr>
              <p:cNvPr id="5674" name="Google Shape;5674;p63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75" name="Google Shape;5675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76" name="Google Shape;5676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7" name="Google Shape;5677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8" name="Google Shape;5678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9" name="Google Shape;5679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0" name="Google Shape;5680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1" name="Google Shape;5681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2" name="Google Shape;5682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83" name="Google Shape;5683;p63"/>
                  <p:cNvCxnSpPr>
                    <a:endCxn id="5678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84" name="Google Shape;5684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85" name="Google Shape;5685;p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5686" name="Google Shape;5686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7" name="Google Shape;5687;p6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2c</a:t>
                    </a:r>
                    <a:endParaRPr/>
                  </a:p>
                </p:txBody>
              </p:sp>
            </p:grpSp>
          </p:grpSp>
          <p:grpSp>
            <p:nvGrpSpPr>
              <p:cNvPr id="5688" name="Google Shape;5688;p63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89" name="Google Shape;5689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90" name="Google Shape;5690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1" name="Google Shape;5691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2" name="Google Shape;5692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3" name="Google Shape;5693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4" name="Google Shape;5694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5" name="Google Shape;5695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6" name="Google Shape;5696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97" name="Google Shape;5697;p63"/>
                  <p:cNvCxnSpPr>
                    <a:endCxn id="5692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98" name="Google Shape;5698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99" name="Google Shape;5699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00" name="Google Shape;5700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01" name="Google Shape;5701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2a</a:t>
                    </a:r>
                    <a:endParaRPr/>
                  </a:p>
                </p:txBody>
              </p:sp>
            </p:grpSp>
          </p:grpSp>
          <p:cxnSp>
            <p:nvCxnSpPr>
              <p:cNvPr id="5702" name="Google Shape;5702;p63"/>
              <p:cNvCxnSpPr>
                <a:stCxn id="5659" idx="2"/>
                <a:endCxn id="5673" idx="0"/>
              </p:cNvCxnSpPr>
              <p:nvPr/>
            </p:nvCxnSpPr>
            <p:spPr>
              <a:xfrm>
                <a:off x="1991073" y="3242684"/>
                <a:ext cx="4200" cy="8520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3" name="Google Shape;5703;p63"/>
              <p:cNvCxnSpPr/>
              <p:nvPr/>
            </p:nvCxnSpPr>
            <p:spPr>
              <a:xfrm>
                <a:off x="1407477" y="3648621"/>
                <a:ext cx="1204913" cy="6353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4" name="Google Shape;5704;p63"/>
              <p:cNvCxnSpPr>
                <a:stCxn id="5648" idx="7"/>
              </p:cNvCxnSpPr>
              <p:nvPr/>
            </p:nvCxnSpPr>
            <p:spPr>
              <a:xfrm>
                <a:off x="2218708" y="3154477"/>
                <a:ext cx="480000" cy="369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5" name="Google Shape;5705;p63"/>
              <p:cNvCxnSpPr/>
              <p:nvPr/>
            </p:nvCxnSpPr>
            <p:spPr>
              <a:xfrm>
                <a:off x="1300073" y="3786304"/>
                <a:ext cx="477927" cy="357071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6" name="Google Shape;5706;p63"/>
              <p:cNvCxnSpPr/>
              <p:nvPr/>
            </p:nvCxnSpPr>
            <p:spPr>
              <a:xfrm flipH="1">
                <a:off x="2196042" y="3783542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7" name="Google Shape;5707;p63"/>
              <p:cNvCxnSpPr/>
              <p:nvPr/>
            </p:nvCxnSpPr>
            <p:spPr>
              <a:xfrm flipH="1">
                <a:off x="1287553" y="3166946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708" name="Google Shape;5708;p63"/>
          <p:cNvGrpSpPr/>
          <p:nvPr/>
        </p:nvGrpSpPr>
        <p:grpSpPr>
          <a:xfrm>
            <a:off x="7530080" y="2464278"/>
            <a:ext cx="2712783" cy="1853712"/>
            <a:chOff x="-2170772" y="2784954"/>
            <a:chExt cx="2712783" cy="1853712"/>
          </a:xfrm>
        </p:grpSpPr>
        <p:sp>
          <p:nvSpPr>
            <p:cNvPr id="5709" name="Google Shape;5709;p63"/>
            <p:cNvSpPr/>
            <p:nvPr/>
          </p:nvSpPr>
          <p:spPr>
            <a:xfrm>
              <a:off x="-2170772" y="2784954"/>
              <a:ext cx="2712783" cy="1853712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0" name="Google Shape;5710;p63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5711" name="Google Shape;5711;p63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12" name="Google Shape;5712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13" name="Google Shape;5713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4" name="Google Shape;5714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5" name="Google Shape;5715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6" name="Google Shape;5716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7" name="Google Shape;5717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8" name="Google Shape;5718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9" name="Google Shape;5719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20" name="Google Shape;5720;p63"/>
                  <p:cNvCxnSpPr>
                    <a:endCxn id="5715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21" name="Google Shape;5721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22" name="Google Shape;5722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23" name="Google Shape;5723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24" name="Google Shape;5724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3b</a:t>
                    </a:r>
                    <a:endParaRPr/>
                  </a:p>
                </p:txBody>
              </p:sp>
            </p:grpSp>
          </p:grpSp>
          <p:grpSp>
            <p:nvGrpSpPr>
              <p:cNvPr id="5725" name="Google Shape;5725;p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26" name="Google Shape;5726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27" name="Google Shape;5727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28" name="Google Shape;5728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29" name="Google Shape;5729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0" name="Google Shape;5730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1" name="Google Shape;5731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2" name="Google Shape;5732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3" name="Google Shape;5733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34" name="Google Shape;5734;p63"/>
                  <p:cNvCxnSpPr>
                    <a:endCxn id="5729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35" name="Google Shape;5735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36" name="Google Shape;5736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37" name="Google Shape;5737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8" name="Google Shape;5738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3d</a:t>
                    </a:r>
                    <a:endParaRPr/>
                  </a:p>
                </p:txBody>
              </p:sp>
            </p:grpSp>
          </p:grpSp>
          <p:grpSp>
            <p:nvGrpSpPr>
              <p:cNvPr id="5739" name="Google Shape;5739;p63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40" name="Google Shape;5740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41" name="Google Shape;5741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2" name="Google Shape;5742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3" name="Google Shape;5743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4" name="Google Shape;5744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5" name="Google Shape;5745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6" name="Google Shape;5746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7" name="Google Shape;5747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48" name="Google Shape;5748;p63"/>
                  <p:cNvCxnSpPr>
                    <a:endCxn id="5743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49" name="Google Shape;5749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50" name="Google Shape;5750;p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5751" name="Google Shape;5751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2" name="Google Shape;5752;p6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3c</a:t>
                    </a:r>
                    <a:endParaRPr/>
                  </a:p>
                </p:txBody>
              </p:sp>
            </p:grpSp>
          </p:grpSp>
          <p:grpSp>
            <p:nvGrpSpPr>
              <p:cNvPr id="5753" name="Google Shape;5753;p63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54" name="Google Shape;5754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55" name="Google Shape;5755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6" name="Google Shape;5756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7" name="Google Shape;5757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8" name="Google Shape;5758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9" name="Google Shape;5759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60" name="Google Shape;5760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61" name="Google Shape;5761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62" name="Google Shape;5762;p63"/>
                  <p:cNvCxnSpPr>
                    <a:endCxn id="5757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63" name="Google Shape;5763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64" name="Google Shape;5764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65" name="Google Shape;5765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66" name="Google Shape;5766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3a</a:t>
                    </a:r>
                    <a:endParaRPr/>
                  </a:p>
                </p:txBody>
              </p:sp>
            </p:grpSp>
          </p:grpSp>
          <p:cxnSp>
            <p:nvCxnSpPr>
              <p:cNvPr id="5767" name="Google Shape;5767;p63"/>
              <p:cNvCxnSpPr>
                <a:stCxn id="5724" idx="2"/>
                <a:endCxn id="5738" idx="0"/>
              </p:cNvCxnSpPr>
              <p:nvPr/>
            </p:nvCxnSpPr>
            <p:spPr>
              <a:xfrm>
                <a:off x="1991073" y="3242684"/>
                <a:ext cx="4200" cy="8520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8" name="Google Shape;5768;p63"/>
              <p:cNvCxnSpPr/>
              <p:nvPr/>
            </p:nvCxnSpPr>
            <p:spPr>
              <a:xfrm>
                <a:off x="1407477" y="3648621"/>
                <a:ext cx="1204913" cy="6353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9" name="Google Shape;5769;p63"/>
              <p:cNvCxnSpPr>
                <a:stCxn id="5713" idx="7"/>
              </p:cNvCxnSpPr>
              <p:nvPr/>
            </p:nvCxnSpPr>
            <p:spPr>
              <a:xfrm>
                <a:off x="2218708" y="3154477"/>
                <a:ext cx="480000" cy="369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0" name="Google Shape;5770;p63"/>
              <p:cNvCxnSpPr/>
              <p:nvPr/>
            </p:nvCxnSpPr>
            <p:spPr>
              <a:xfrm>
                <a:off x="1300073" y="3786304"/>
                <a:ext cx="477927" cy="357071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1" name="Google Shape;5771;p63"/>
              <p:cNvCxnSpPr/>
              <p:nvPr/>
            </p:nvCxnSpPr>
            <p:spPr>
              <a:xfrm flipH="1">
                <a:off x="2196042" y="3783542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2" name="Google Shape;5772;p63"/>
              <p:cNvCxnSpPr/>
              <p:nvPr/>
            </p:nvCxnSpPr>
            <p:spPr>
              <a:xfrm flipH="1">
                <a:off x="1287553" y="3166946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5773" name="Google Shape;5773;p63"/>
          <p:cNvCxnSpPr/>
          <p:nvPr/>
        </p:nvCxnSpPr>
        <p:spPr>
          <a:xfrm flipH="1">
            <a:off x="4711988" y="2705105"/>
            <a:ext cx="495463" cy="495451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774" name="Google Shape;5774;p63"/>
          <p:cNvCxnSpPr>
            <a:endCxn id="5676" idx="7"/>
          </p:cNvCxnSpPr>
          <p:nvPr/>
        </p:nvCxnSpPr>
        <p:spPr>
          <a:xfrm rot="10800000">
            <a:off x="7345281" y="2689306"/>
            <a:ext cx="498900" cy="573900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775" name="Google Shape;5775;p63"/>
          <p:cNvSpPr txBox="1"/>
          <p:nvPr/>
        </p:nvSpPr>
        <p:spPr>
          <a:xfrm>
            <a:off x="5926240" y="3607892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2</a:t>
            </a:r>
            <a:endParaRPr/>
          </a:p>
        </p:txBody>
      </p:sp>
      <p:sp>
        <p:nvSpPr>
          <p:cNvPr id="5776" name="Google Shape;5776;p63"/>
          <p:cNvSpPr txBox="1"/>
          <p:nvPr/>
        </p:nvSpPr>
        <p:spPr>
          <a:xfrm>
            <a:off x="8597533" y="4364108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3</a:t>
            </a:r>
            <a:endParaRPr/>
          </a:p>
        </p:txBody>
      </p:sp>
      <p:sp>
        <p:nvSpPr>
          <p:cNvPr id="5777" name="Google Shape;5777;p63"/>
          <p:cNvSpPr txBox="1"/>
          <p:nvPr/>
        </p:nvSpPr>
        <p:spPr>
          <a:xfrm>
            <a:off x="3316617" y="4308296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1</a:t>
            </a:r>
            <a:endParaRPr/>
          </a:p>
        </p:txBody>
      </p:sp>
      <p:grpSp>
        <p:nvGrpSpPr>
          <p:cNvPr id="5778" name="Google Shape;5778;p63"/>
          <p:cNvGrpSpPr/>
          <p:nvPr/>
        </p:nvGrpSpPr>
        <p:grpSpPr>
          <a:xfrm>
            <a:off x="2711421" y="2143251"/>
            <a:ext cx="6465899" cy="3959125"/>
            <a:chOff x="1020408" y="2368720"/>
            <a:chExt cx="6465899" cy="3959125"/>
          </a:xfrm>
        </p:grpSpPr>
        <p:grpSp>
          <p:nvGrpSpPr>
            <p:cNvPr id="5779" name="Google Shape;5779;p63"/>
            <p:cNvGrpSpPr/>
            <p:nvPr/>
          </p:nvGrpSpPr>
          <p:grpSpPr>
            <a:xfrm>
              <a:off x="1020408" y="2368720"/>
              <a:ext cx="5734325" cy="3959125"/>
              <a:chOff x="1020408" y="2368720"/>
              <a:chExt cx="5734325" cy="3959125"/>
            </a:xfrm>
          </p:grpSpPr>
          <p:grpSp>
            <p:nvGrpSpPr>
              <p:cNvPr id="5780" name="Google Shape;5780;p63"/>
              <p:cNvGrpSpPr/>
              <p:nvPr/>
            </p:nvGrpSpPr>
            <p:grpSpPr>
              <a:xfrm>
                <a:off x="1146544" y="5725901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81" name="Google Shape;5781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82" name="Google Shape;5782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3" name="Google Shape;5783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4" name="Google Shape;5784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5" name="Google Shape;5785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6" name="Google Shape;5786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7" name="Google Shape;5787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8" name="Google Shape;5788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89" name="Google Shape;5789;p63"/>
                  <p:cNvCxnSpPr>
                    <a:endCxn id="5784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90" name="Google Shape;5790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91" name="Google Shape;5791;p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5792" name="Google Shape;5792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93" name="Google Shape;5793;p6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1c</a:t>
                    </a:r>
                    <a:endParaRPr/>
                  </a:p>
                </p:txBody>
              </p:sp>
            </p:grpSp>
          </p:grpSp>
          <p:sp>
            <p:nvSpPr>
              <p:cNvPr id="5794" name="Google Shape;5794;p63"/>
              <p:cNvSpPr/>
              <p:nvPr/>
            </p:nvSpPr>
            <p:spPr>
              <a:xfrm>
                <a:off x="1020408" y="5511349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795" name="Google Shape;5795;p63"/>
              <p:cNvSpPr/>
              <p:nvPr/>
            </p:nvSpPr>
            <p:spPr>
              <a:xfrm>
                <a:off x="2442651" y="3191580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796" name="Google Shape;5796;p63"/>
              <p:cNvSpPr/>
              <p:nvPr/>
            </p:nvSpPr>
            <p:spPr>
              <a:xfrm>
                <a:off x="3252649" y="2368720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797" name="Google Shape;5797;p63"/>
              <p:cNvSpPr/>
              <p:nvPr/>
            </p:nvSpPr>
            <p:spPr>
              <a:xfrm>
                <a:off x="5037704" y="2453079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Gill Sans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∂</a:t>
                </a:r>
                <a:endParaRPr/>
              </a:p>
            </p:txBody>
          </p:sp>
          <p:sp>
            <p:nvSpPr>
              <p:cNvPr id="5798" name="Google Shape;5798;p63"/>
              <p:cNvSpPr/>
              <p:nvPr/>
            </p:nvSpPr>
            <p:spPr>
              <a:xfrm>
                <a:off x="5915729" y="3217852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Gill Sans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∂</a:t>
                </a:r>
                <a:endParaRPr/>
              </a:p>
            </p:txBody>
          </p:sp>
        </p:grpSp>
        <p:sp>
          <p:nvSpPr>
            <p:cNvPr id="5799" name="Google Shape;5799;p63"/>
            <p:cNvSpPr txBox="1"/>
            <p:nvPr/>
          </p:nvSpPr>
          <p:spPr>
            <a:xfrm>
              <a:off x="2018143" y="5692792"/>
              <a:ext cx="54681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gateway routers run both eBGP and iBGP protocols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3" name="Shape 5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4" name="Google Shape;5804;p64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basics</a:t>
            </a:r>
            <a:endParaRPr/>
          </a:p>
        </p:txBody>
      </p:sp>
      <p:sp>
        <p:nvSpPr>
          <p:cNvPr id="5805" name="Google Shape;5805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06" name="Google Shape;5806;p64"/>
          <p:cNvSpPr txBox="1"/>
          <p:nvPr/>
        </p:nvSpPr>
        <p:spPr>
          <a:xfrm>
            <a:off x="952500" y="2841538"/>
            <a:ext cx="10972278" cy="1234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AS3 gateway 3a advertises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path 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AS2 gateway 2c: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AS3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promises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AS2 it will forward datagrams towards X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07" name="Google Shape;5807;p64"/>
          <p:cNvSpPr/>
          <p:nvPr/>
        </p:nvSpPr>
        <p:spPr>
          <a:xfrm>
            <a:off x="952500" y="1307971"/>
            <a:ext cx="10784388" cy="123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BGP session: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BGP routers (“peers”) exchange BGP messages over semi-permanent TCP connection: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advertising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paths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different destination network prefixes (BGP  is a “path vector” protocol)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08" name="Google Shape;5808;p64"/>
          <p:cNvGrpSpPr/>
          <p:nvPr/>
        </p:nvGrpSpPr>
        <p:grpSpPr>
          <a:xfrm>
            <a:off x="4625977" y="4850481"/>
            <a:ext cx="2545688" cy="1720535"/>
            <a:chOff x="4625977" y="4850481"/>
            <a:chExt cx="2545688" cy="1720535"/>
          </a:xfrm>
        </p:grpSpPr>
        <p:grpSp>
          <p:nvGrpSpPr>
            <p:cNvPr id="5809" name="Google Shape;5809;p64"/>
            <p:cNvGrpSpPr/>
            <p:nvPr/>
          </p:nvGrpSpPr>
          <p:grpSpPr>
            <a:xfrm>
              <a:off x="4625977" y="4850481"/>
              <a:ext cx="2545688" cy="1720535"/>
              <a:chOff x="-2170772" y="2784954"/>
              <a:chExt cx="2712783" cy="1853712"/>
            </a:xfrm>
          </p:grpSpPr>
          <p:sp>
            <p:nvSpPr>
              <p:cNvPr id="5810" name="Google Shape;5810;p64"/>
              <p:cNvSpPr/>
              <p:nvPr/>
            </p:nvSpPr>
            <p:spPr>
              <a:xfrm>
                <a:off x="-2170772" y="2784954"/>
                <a:ext cx="2712783" cy="1853712"/>
              </a:xfrm>
              <a:custGeom>
                <a:rect b="b" l="l" r="r" t="t"/>
                <a:pathLst>
                  <a:path extrusionOk="0" h="10795" w="10000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811" name="Google Shape;5811;p64"/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5812" name="Google Shape;5812;p6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13" name="Google Shape;5813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14" name="Google Shape;5814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5" name="Google Shape;5815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6" name="Google Shape;5816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7" name="Google Shape;5817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8" name="Google Shape;5818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9" name="Google Shape;5819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20" name="Google Shape;5820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21" name="Google Shape;5821;p64"/>
                    <p:cNvCxnSpPr>
                      <a:endCxn id="581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22" name="Google Shape;5822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23" name="Google Shape;5823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24" name="Google Shape;5824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25" name="Google Shape;5825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26" name="Google Shape;5826;p6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27" name="Google Shape;5827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28" name="Google Shape;5828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29" name="Google Shape;5829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0" name="Google Shape;5830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1" name="Google Shape;5831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2" name="Google Shape;5832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3" name="Google Shape;5833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4" name="Google Shape;5834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35" name="Google Shape;5835;p64"/>
                    <p:cNvCxnSpPr>
                      <a:endCxn id="583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36" name="Google Shape;5836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37" name="Google Shape;5837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38" name="Google Shape;5838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9" name="Google Shape;5839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40" name="Google Shape;5840;p6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41" name="Google Shape;5841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42" name="Google Shape;5842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3" name="Google Shape;5843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4" name="Google Shape;5844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5" name="Google Shape;5845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6" name="Google Shape;5846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7" name="Google Shape;5847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8" name="Google Shape;5848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49" name="Google Shape;5849;p64"/>
                    <p:cNvCxnSpPr>
                      <a:endCxn id="584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50" name="Google Shape;5850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51" name="Google Shape;5851;p6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5852" name="Google Shape;5852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3" name="Google Shape;5853;p6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54" name="Google Shape;5854;p6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55" name="Google Shape;5855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56" name="Google Shape;5856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7" name="Google Shape;5857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8" name="Google Shape;5858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9" name="Google Shape;5859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0" name="Google Shape;5860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1" name="Google Shape;5861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2" name="Google Shape;5862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63" name="Google Shape;5863;p64"/>
                    <p:cNvCxnSpPr>
                      <a:endCxn id="585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64" name="Google Shape;5864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65" name="Google Shape;5865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66" name="Google Shape;5866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7" name="Google Shape;5867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5868" name="Google Shape;5868;p64"/>
                <p:cNvCxnSpPr>
                  <a:stCxn id="5814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69" name="Google Shape;5869;p6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70" name="Google Shape;5870;p64"/>
                <p:cNvCxnSpPr/>
                <p:nvPr/>
              </p:nvCxnSpPr>
              <p:spPr>
                <a:xfrm flipH="1">
                  <a:off x="2196042" y="3783542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5871" name="Google Shape;5871;p64"/>
            <p:cNvSpPr txBox="1"/>
            <p:nvPr/>
          </p:nvSpPr>
          <p:spPr>
            <a:xfrm>
              <a:off x="4833576" y="4910165"/>
              <a:ext cx="753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AS 2</a:t>
              </a:r>
              <a:endParaRPr/>
            </a:p>
          </p:txBody>
        </p:sp>
      </p:grpSp>
      <p:grpSp>
        <p:nvGrpSpPr>
          <p:cNvPr id="5872" name="Google Shape;5872;p64"/>
          <p:cNvGrpSpPr/>
          <p:nvPr/>
        </p:nvGrpSpPr>
        <p:grpSpPr>
          <a:xfrm>
            <a:off x="8100574" y="3694542"/>
            <a:ext cx="2575521" cy="1672516"/>
            <a:chOff x="8100574" y="3694542"/>
            <a:chExt cx="2575521" cy="1672516"/>
          </a:xfrm>
        </p:grpSpPr>
        <p:sp>
          <p:nvSpPr>
            <p:cNvPr id="5873" name="Google Shape;5873;p64"/>
            <p:cNvSpPr/>
            <p:nvPr/>
          </p:nvSpPr>
          <p:spPr>
            <a:xfrm>
              <a:off x="8100574" y="3694542"/>
              <a:ext cx="2575521" cy="1672516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74" name="Google Shape;5874;p64"/>
            <p:cNvGrpSpPr/>
            <p:nvPr/>
          </p:nvGrpSpPr>
          <p:grpSpPr>
            <a:xfrm>
              <a:off x="8136838" y="3735782"/>
              <a:ext cx="2402775" cy="1530043"/>
              <a:chOff x="8136838" y="3735782"/>
              <a:chExt cx="2402775" cy="1530043"/>
            </a:xfrm>
          </p:grpSpPr>
          <p:grpSp>
            <p:nvGrpSpPr>
              <p:cNvPr id="5875" name="Google Shape;5875;p64"/>
              <p:cNvGrpSpPr/>
              <p:nvPr/>
            </p:nvGrpSpPr>
            <p:grpSpPr>
              <a:xfrm>
                <a:off x="8324065" y="3830658"/>
                <a:ext cx="2215548" cy="1435167"/>
                <a:chOff x="833331" y="2873352"/>
                <a:chExt cx="2333625" cy="1590649"/>
              </a:xfrm>
            </p:grpSpPr>
            <p:grpSp>
              <p:nvGrpSpPr>
                <p:cNvPr id="5876" name="Google Shape;5876;p6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77" name="Google Shape;5877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78" name="Google Shape;5878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79" name="Google Shape;5879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0" name="Google Shape;5880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1" name="Google Shape;5881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2" name="Google Shape;5882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3" name="Google Shape;5883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4" name="Google Shape;5884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85" name="Google Shape;5885;p64"/>
                    <p:cNvCxnSpPr>
                      <a:endCxn id="588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86" name="Google Shape;5886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87" name="Google Shape;5887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88" name="Google Shape;5888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9" name="Google Shape;5889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90" name="Google Shape;5890;p6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91" name="Google Shape;5891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92" name="Google Shape;5892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3" name="Google Shape;5893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4" name="Google Shape;5894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5" name="Google Shape;5895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6" name="Google Shape;5896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7" name="Google Shape;5897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8" name="Google Shape;5898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99" name="Google Shape;5899;p64"/>
                    <p:cNvCxnSpPr>
                      <a:endCxn id="589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00" name="Google Shape;5900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01" name="Google Shape;5901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02" name="Google Shape;5902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3" name="Google Shape;5903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04" name="Google Shape;5904;p6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05" name="Google Shape;5905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06" name="Google Shape;5906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7" name="Google Shape;5907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8" name="Google Shape;5908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9" name="Google Shape;5909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0" name="Google Shape;5910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1" name="Google Shape;5911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2" name="Google Shape;5912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13" name="Google Shape;5913;p64"/>
                    <p:cNvCxnSpPr>
                      <a:endCxn id="590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14" name="Google Shape;5914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15" name="Google Shape;5915;p6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5916" name="Google Shape;5916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7" name="Google Shape;5917;p6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18" name="Google Shape;5918;p6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19" name="Google Shape;5919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20" name="Google Shape;5920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1" name="Google Shape;5921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2" name="Google Shape;5922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3" name="Google Shape;5923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4" name="Google Shape;5924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5" name="Google Shape;5925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6" name="Google Shape;5926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27" name="Google Shape;5927;p64"/>
                    <p:cNvCxnSpPr>
                      <a:endCxn id="5922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28" name="Google Shape;5928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29" name="Google Shape;5929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30" name="Google Shape;5930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31" name="Google Shape;5931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5932" name="Google Shape;5932;p64"/>
                <p:cNvCxnSpPr>
                  <a:stCxn id="5889" idx="2"/>
                  <a:endCxn id="5903" idx="0"/>
                </p:cNvCxnSpPr>
                <p:nvPr/>
              </p:nvCxnSpPr>
              <p:spPr>
                <a:xfrm>
                  <a:off x="1991073" y="3242684"/>
                  <a:ext cx="4200" cy="8520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rgbClr val="00009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3" name="Google Shape;5933;p64"/>
                <p:cNvCxnSpPr/>
                <p:nvPr/>
              </p:nvCxnSpPr>
              <p:spPr>
                <a:xfrm>
                  <a:off x="1407477" y="3648621"/>
                  <a:ext cx="1204913" cy="6353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4" name="Google Shape;5934;p64"/>
                <p:cNvCxnSpPr>
                  <a:stCxn id="5878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5" name="Google Shape;5935;p6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6" name="Google Shape;5936;p64"/>
                <p:cNvCxnSpPr/>
                <p:nvPr/>
              </p:nvCxnSpPr>
              <p:spPr>
                <a:xfrm flipH="1">
                  <a:off x="1287553" y="3166946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937" name="Google Shape;5937;p64"/>
              <p:cNvSpPr txBox="1"/>
              <p:nvPr/>
            </p:nvSpPr>
            <p:spPr>
              <a:xfrm>
                <a:off x="8136838" y="3735782"/>
                <a:ext cx="75353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00090"/>
                    </a:solidFill>
                    <a:latin typeface="Arial"/>
                    <a:ea typeface="Arial"/>
                    <a:cs typeface="Arial"/>
                    <a:sym typeface="Arial"/>
                  </a:rPr>
                  <a:t>AS 3</a:t>
                </a:r>
                <a:endParaRPr/>
              </a:p>
            </p:txBody>
          </p:sp>
        </p:grpSp>
      </p:grpSp>
      <p:grpSp>
        <p:nvGrpSpPr>
          <p:cNvPr id="5938" name="Google Shape;5938;p64"/>
          <p:cNvGrpSpPr/>
          <p:nvPr/>
        </p:nvGrpSpPr>
        <p:grpSpPr>
          <a:xfrm>
            <a:off x="1426553" y="4136253"/>
            <a:ext cx="3452487" cy="1719017"/>
            <a:chOff x="1426553" y="4136253"/>
            <a:chExt cx="3452487" cy="1719017"/>
          </a:xfrm>
        </p:grpSpPr>
        <p:grpSp>
          <p:nvGrpSpPr>
            <p:cNvPr id="5939" name="Google Shape;5939;p64"/>
            <p:cNvGrpSpPr/>
            <p:nvPr/>
          </p:nvGrpSpPr>
          <p:grpSpPr>
            <a:xfrm>
              <a:off x="1426553" y="4136253"/>
              <a:ext cx="2557336" cy="1719017"/>
              <a:chOff x="-2170772" y="2784954"/>
              <a:chExt cx="2712783" cy="1853712"/>
            </a:xfrm>
          </p:grpSpPr>
          <p:sp>
            <p:nvSpPr>
              <p:cNvPr id="5940" name="Google Shape;5940;p64"/>
              <p:cNvSpPr/>
              <p:nvPr/>
            </p:nvSpPr>
            <p:spPr>
              <a:xfrm>
                <a:off x="-2170772" y="2784954"/>
                <a:ext cx="2712783" cy="1853712"/>
              </a:xfrm>
              <a:custGeom>
                <a:rect b="b" l="l" r="r" t="t"/>
                <a:pathLst>
                  <a:path extrusionOk="0" h="10795" w="10000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941" name="Google Shape;5941;p64"/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5942" name="Google Shape;5942;p6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43" name="Google Shape;5943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44" name="Google Shape;5944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5" name="Google Shape;5945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6" name="Google Shape;5946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7" name="Google Shape;5947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8" name="Google Shape;5948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9" name="Google Shape;5949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50" name="Google Shape;5950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51" name="Google Shape;5951;p64"/>
                    <p:cNvCxnSpPr>
                      <a:endCxn id="594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52" name="Google Shape;5952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53" name="Google Shape;5953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54" name="Google Shape;5954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55" name="Google Shape;5955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56" name="Google Shape;5956;p6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57" name="Google Shape;5957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58" name="Google Shape;5958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59" name="Google Shape;5959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0" name="Google Shape;5960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1" name="Google Shape;5961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2" name="Google Shape;5962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3" name="Google Shape;5963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4" name="Google Shape;5964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65" name="Google Shape;5965;p64"/>
                    <p:cNvCxnSpPr>
                      <a:endCxn id="596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66" name="Google Shape;5966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67" name="Google Shape;5967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68" name="Google Shape;5968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9" name="Google Shape;5969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70" name="Google Shape;5970;p6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71" name="Google Shape;5971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72" name="Google Shape;5972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3" name="Google Shape;5973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4" name="Google Shape;5974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5" name="Google Shape;5975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6" name="Google Shape;5976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7" name="Google Shape;5977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8" name="Google Shape;5978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79" name="Google Shape;5979;p64"/>
                    <p:cNvCxnSpPr>
                      <a:endCxn id="597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80" name="Google Shape;5980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81" name="Google Shape;5981;p6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5982" name="Google Shape;5982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3" name="Google Shape;5983;p6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84" name="Google Shape;5984;p6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85" name="Google Shape;5985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86" name="Google Shape;5986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7" name="Google Shape;5987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8" name="Google Shape;5988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9" name="Google Shape;5989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0" name="Google Shape;5990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1" name="Google Shape;5991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2" name="Google Shape;5992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93" name="Google Shape;5993;p64"/>
                    <p:cNvCxnSpPr>
                      <a:endCxn id="598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94" name="Google Shape;5994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95" name="Google Shape;5995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96" name="Google Shape;5996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7" name="Google Shape;5997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5998" name="Google Shape;5998;p64"/>
                <p:cNvCxnSpPr>
                  <a:stCxn id="5944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99" name="Google Shape;5999;p6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00" name="Google Shape;6000;p64"/>
                <p:cNvCxnSpPr/>
                <p:nvPr/>
              </p:nvCxnSpPr>
              <p:spPr>
                <a:xfrm flipH="1">
                  <a:off x="2196042" y="3783542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01" name="Google Shape;6001;p64"/>
                <p:cNvCxnSpPr/>
                <p:nvPr/>
              </p:nvCxnSpPr>
              <p:spPr>
                <a:xfrm flipH="1">
                  <a:off x="1287553" y="3166946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6002" name="Google Shape;6002;p64"/>
            <p:cNvSpPr txBox="1"/>
            <p:nvPr/>
          </p:nvSpPr>
          <p:spPr>
            <a:xfrm>
              <a:off x="1430686" y="4247082"/>
              <a:ext cx="753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AS 1</a:t>
              </a:r>
              <a:endParaRPr/>
            </a:p>
          </p:txBody>
        </p:sp>
        <p:cxnSp>
          <p:nvCxnSpPr>
            <p:cNvPr id="6003" name="Google Shape;6003;p64"/>
            <p:cNvCxnSpPr>
              <a:stCxn id="5867" idx="1"/>
            </p:cNvCxnSpPr>
            <p:nvPr/>
          </p:nvCxnSpPr>
          <p:spPr>
            <a:xfrm rot="10800000">
              <a:off x="3848240" y="5024779"/>
              <a:ext cx="1030800" cy="699000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04" name="Google Shape;6004;p64"/>
          <p:cNvGrpSpPr/>
          <p:nvPr/>
        </p:nvGrpSpPr>
        <p:grpSpPr>
          <a:xfrm>
            <a:off x="10343349" y="5542542"/>
            <a:ext cx="1701734" cy="616172"/>
            <a:chOff x="6935906" y="5482318"/>
            <a:chExt cx="1701734" cy="616172"/>
          </a:xfrm>
        </p:grpSpPr>
        <p:grpSp>
          <p:nvGrpSpPr>
            <p:cNvPr id="6005" name="Google Shape;6005;p64"/>
            <p:cNvGrpSpPr/>
            <p:nvPr/>
          </p:nvGrpSpPr>
          <p:grpSpPr>
            <a:xfrm>
              <a:off x="6935906" y="5482318"/>
              <a:ext cx="1701734" cy="616172"/>
              <a:chOff x="6808463" y="5108795"/>
              <a:chExt cx="1701734" cy="616172"/>
            </a:xfrm>
          </p:grpSpPr>
          <p:sp>
            <p:nvSpPr>
              <p:cNvPr id="6006" name="Google Shape;6006;p64"/>
              <p:cNvSpPr/>
              <p:nvPr/>
            </p:nvSpPr>
            <p:spPr>
              <a:xfrm>
                <a:off x="6808463" y="5108795"/>
                <a:ext cx="1701734" cy="616172"/>
              </a:xfrm>
              <a:custGeom>
                <a:rect b="b" l="l" r="r" t="t"/>
                <a:pathLst>
                  <a:path extrusionOk="0" h="11127" w="11293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007" name="Google Shape;6007;p64"/>
              <p:cNvGrpSpPr/>
              <p:nvPr/>
            </p:nvGrpSpPr>
            <p:grpSpPr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6008" name="Google Shape;6008;p6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09" name="Google Shape;6009;p6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0" name="Google Shape;6010;p6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1" name="Google Shape;6011;p6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2" name="Google Shape;6012;p6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3" name="Google Shape;6013;p6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4" name="Google Shape;6014;p6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6015" name="Google Shape;6015;p64"/>
                <p:cNvCxnSpPr>
                  <a:endCxn id="6010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6016" name="Google Shape;6016;p6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6017" name="Google Shape;6017;p64"/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6018" name="Google Shape;6018;p64"/>
                <p:cNvSpPr/>
                <p:nvPr/>
              </p:nvSpPr>
              <p:spPr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9" name="Google Shape;6019;p64"/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X</a:t>
                  </a:r>
                  <a:endParaRPr/>
                </a:p>
              </p:txBody>
            </p:sp>
          </p:grpSp>
        </p:grpSp>
        <p:cxnSp>
          <p:nvCxnSpPr>
            <p:cNvPr id="6020" name="Google Shape;6020;p64"/>
            <p:cNvCxnSpPr/>
            <p:nvPr/>
          </p:nvCxnSpPr>
          <p:spPr>
            <a:xfrm flipH="1">
              <a:off x="7158742" y="5764030"/>
              <a:ext cx="870024" cy="9999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21" name="Google Shape;6021;p64"/>
          <p:cNvGrpSpPr/>
          <p:nvPr/>
        </p:nvGrpSpPr>
        <p:grpSpPr>
          <a:xfrm>
            <a:off x="7225656" y="5005474"/>
            <a:ext cx="2482393" cy="1088259"/>
            <a:chOff x="2281" y="2317"/>
            <a:chExt cx="1564" cy="686"/>
          </a:xfrm>
        </p:grpSpPr>
        <p:sp>
          <p:nvSpPr>
            <p:cNvPr id="6022" name="Google Shape;6022;p64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3" name="Google Shape;6023;p64"/>
            <p:cNvSpPr txBox="1"/>
            <p:nvPr/>
          </p:nvSpPr>
          <p:spPr>
            <a:xfrm>
              <a:off x="2294" y="2677"/>
              <a:ext cx="1551" cy="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BGP advertisement: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600"/>
                <a:buFont typeface="Arial"/>
                <a:buNone/>
              </a:pPr>
              <a:r>
                <a:rPr b="0" lang="en-US" sz="1600" u="none" cap="none" strike="noStrike">
                  <a:solidFill>
                    <a:srgbClr val="0000A8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cxnSp>
        <p:nvCxnSpPr>
          <p:cNvPr id="6024" name="Google Shape;6024;p64"/>
          <p:cNvCxnSpPr>
            <a:stCxn id="5844" idx="5"/>
            <a:endCxn id="5931" idx="1"/>
          </p:cNvCxnSpPr>
          <p:nvPr/>
        </p:nvCxnSpPr>
        <p:spPr>
          <a:xfrm flipH="1" rot="10800000">
            <a:off x="6957825" y="4543451"/>
            <a:ext cx="1398900" cy="1062900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8" name="Shape 6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9" name="Google Shape;6029;p65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Path attributes and BGP routes</a:t>
            </a:r>
            <a:endParaRPr/>
          </a:p>
        </p:txBody>
      </p:sp>
      <p:sp>
        <p:nvSpPr>
          <p:cNvPr id="6030" name="Google Shape;6030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31" name="Google Shape;6031;p65"/>
          <p:cNvSpPr txBox="1"/>
          <p:nvPr/>
        </p:nvSpPr>
        <p:spPr>
          <a:xfrm>
            <a:off x="767350" y="1547660"/>
            <a:ext cx="10957012" cy="504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advertised route:  prefix + attributes 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prefix: destination being advertised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important attributes:</a:t>
            </a:r>
            <a:endParaRPr/>
          </a:p>
          <a:p>
            <a:pPr indent="-211137" lvl="1" marL="9207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AS-PATH: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ASes through which prefix advertisement has passed</a:t>
            </a:r>
            <a:endParaRPr/>
          </a:p>
          <a:p>
            <a:pPr indent="-211137" lvl="1" marL="9207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NEXT-HO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specific internal-AS router to next-hop AS</a:t>
            </a:r>
            <a:endParaRPr/>
          </a:p>
          <a:p>
            <a:pPr indent="-285750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policy-based routing: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 receiving route advertisement uses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import policy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accept/decline path (e.g., never route through AS Y).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policy also determines whether to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advertise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to other other neighboring ASes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5" name="Shape 6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6" name="Google Shape;6036;p66"/>
          <p:cNvGrpSpPr/>
          <p:nvPr/>
        </p:nvGrpSpPr>
        <p:grpSpPr>
          <a:xfrm>
            <a:off x="1113403" y="1064076"/>
            <a:ext cx="9801110" cy="2876474"/>
            <a:chOff x="1426553" y="3694542"/>
            <a:chExt cx="9801110" cy="2876474"/>
          </a:xfrm>
        </p:grpSpPr>
        <p:grpSp>
          <p:nvGrpSpPr>
            <p:cNvPr id="6037" name="Google Shape;6037;p66"/>
            <p:cNvGrpSpPr/>
            <p:nvPr/>
          </p:nvGrpSpPr>
          <p:grpSpPr>
            <a:xfrm>
              <a:off x="1426553" y="3694542"/>
              <a:ext cx="9249542" cy="2876474"/>
              <a:chOff x="1426553" y="3694542"/>
              <a:chExt cx="9249542" cy="2876474"/>
            </a:xfrm>
          </p:grpSpPr>
          <p:grpSp>
            <p:nvGrpSpPr>
              <p:cNvPr id="6038" name="Google Shape;6038;p66"/>
              <p:cNvGrpSpPr/>
              <p:nvPr/>
            </p:nvGrpSpPr>
            <p:grpSpPr>
              <a:xfrm>
                <a:off x="4625977" y="4850481"/>
                <a:ext cx="2545688" cy="1720535"/>
                <a:chOff x="4625977" y="4850481"/>
                <a:chExt cx="2545688" cy="1720535"/>
              </a:xfrm>
            </p:grpSpPr>
            <p:grpSp>
              <p:nvGrpSpPr>
                <p:cNvPr id="6039" name="Google Shape;6039;p66"/>
                <p:cNvGrpSpPr/>
                <p:nvPr/>
              </p:nvGrpSpPr>
              <p:grpSpPr>
                <a:xfrm>
                  <a:off x="4625977" y="4850481"/>
                  <a:ext cx="2545688" cy="1720535"/>
                  <a:chOff x="-2170772" y="2784954"/>
                  <a:chExt cx="2712783" cy="1853712"/>
                </a:xfrm>
              </p:grpSpPr>
              <p:sp>
                <p:nvSpPr>
                  <p:cNvPr id="6040" name="Google Shape;6040;p66"/>
                  <p:cNvSpPr/>
                  <p:nvPr/>
                </p:nvSpPr>
                <p:spPr>
                  <a:xfrm>
                    <a:off x="-2170772" y="2784954"/>
                    <a:ext cx="2712783" cy="1853712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041" name="Google Shape;6041;p66"/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6042" name="Google Shape;6042;p66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43" name="Google Shape;6043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44" name="Google Shape;6044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5" name="Google Shape;6045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6" name="Google Shape;6046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7" name="Google Shape;6047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8" name="Google Shape;6048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9" name="Google Shape;6049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0" name="Google Shape;6050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51" name="Google Shape;6051;p66"/>
                        <p:cNvCxnSpPr>
                          <a:endCxn id="6046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52" name="Google Shape;6052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53" name="Google Shape;6053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54" name="Google Shape;6054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5" name="Google Shape;6055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056" name="Google Shape;6056;p66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57" name="Google Shape;6057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58" name="Google Shape;6058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9" name="Google Shape;6059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0" name="Google Shape;6060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1" name="Google Shape;6061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2" name="Google Shape;6062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3" name="Google Shape;6063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4" name="Google Shape;6064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65" name="Google Shape;6065;p66"/>
                        <p:cNvCxnSpPr>
                          <a:endCxn id="606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66" name="Google Shape;6066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67" name="Google Shape;6067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68" name="Google Shape;6068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9" name="Google Shape;6069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070" name="Google Shape;6070;p66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71" name="Google Shape;6071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72" name="Google Shape;6072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3" name="Google Shape;6073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4" name="Google Shape;6074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5" name="Google Shape;6075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6" name="Google Shape;6076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7" name="Google Shape;6077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8" name="Google Shape;6078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79" name="Google Shape;6079;p66"/>
                        <p:cNvCxnSpPr>
                          <a:endCxn id="607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80" name="Google Shape;6080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81" name="Google Shape;6081;p66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082" name="Google Shape;6082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3" name="Google Shape;6083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084" name="Google Shape;6084;p66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85" name="Google Shape;6085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86" name="Google Shape;6086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7" name="Google Shape;6087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8" name="Google Shape;6088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9" name="Google Shape;6089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0" name="Google Shape;6090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1" name="Google Shape;6091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2" name="Google Shape;6092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93" name="Google Shape;6093;p66"/>
                        <p:cNvCxnSpPr>
                          <a:endCxn id="608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94" name="Google Shape;6094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95" name="Google Shape;6095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96" name="Google Shape;6096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7" name="Google Shape;6097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098" name="Google Shape;6098;p66"/>
                    <p:cNvCxnSpPr>
                      <a:stCxn id="6044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099" name="Google Shape;6099;p66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00" name="Google Shape;6100;p66"/>
                    <p:cNvCxnSpPr/>
                    <p:nvPr/>
                  </p:nvCxnSpPr>
                  <p:spPr>
                    <a:xfrm flipH="1">
                      <a:off x="2196042" y="3783542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  <p:sp>
              <p:nvSpPr>
                <p:cNvPr id="6101" name="Google Shape;6101;p66"/>
                <p:cNvSpPr txBox="1"/>
                <p:nvPr/>
              </p:nvSpPr>
              <p:spPr>
                <a:xfrm>
                  <a:off x="4833576" y="4910165"/>
                  <a:ext cx="75353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9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AS 2</a:t>
                  </a:r>
                  <a:endParaRPr/>
                </a:p>
              </p:txBody>
            </p:sp>
          </p:grpSp>
          <p:grpSp>
            <p:nvGrpSpPr>
              <p:cNvPr id="6102" name="Google Shape;6102;p66"/>
              <p:cNvGrpSpPr/>
              <p:nvPr/>
            </p:nvGrpSpPr>
            <p:grpSpPr>
              <a:xfrm>
                <a:off x="8100574" y="3694542"/>
                <a:ext cx="2575521" cy="1672516"/>
                <a:chOff x="8100574" y="3694542"/>
                <a:chExt cx="2575521" cy="1672516"/>
              </a:xfrm>
            </p:grpSpPr>
            <p:sp>
              <p:nvSpPr>
                <p:cNvPr id="6103" name="Google Shape;6103;p66"/>
                <p:cNvSpPr/>
                <p:nvPr/>
              </p:nvSpPr>
              <p:spPr>
                <a:xfrm>
                  <a:off x="8100574" y="3694542"/>
                  <a:ext cx="2575521" cy="1672516"/>
                </a:xfrm>
                <a:custGeom>
                  <a:rect b="b" l="l" r="r" t="t"/>
                  <a:pathLst>
                    <a:path extrusionOk="0" h="10795" w="10000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04" name="Google Shape;6104;p66"/>
                <p:cNvGrpSpPr/>
                <p:nvPr/>
              </p:nvGrpSpPr>
              <p:grpSpPr>
                <a:xfrm>
                  <a:off x="8136838" y="3735782"/>
                  <a:ext cx="2402775" cy="1530043"/>
                  <a:chOff x="8136838" y="3735782"/>
                  <a:chExt cx="2402775" cy="1530043"/>
                </a:xfrm>
              </p:grpSpPr>
              <p:grpSp>
                <p:nvGrpSpPr>
                  <p:cNvPr id="6105" name="Google Shape;6105;p66"/>
                  <p:cNvGrpSpPr/>
                  <p:nvPr/>
                </p:nvGrpSpPr>
                <p:grpSpPr>
                  <a:xfrm>
                    <a:off x="8324065" y="3830658"/>
                    <a:ext cx="2215548" cy="1435167"/>
                    <a:chOff x="833331" y="2873352"/>
                    <a:chExt cx="2333625" cy="1590649"/>
                  </a:xfrm>
                </p:grpSpPr>
                <p:grpSp>
                  <p:nvGrpSpPr>
                    <p:cNvPr id="6106" name="Google Shape;6106;p66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07" name="Google Shape;6107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08" name="Google Shape;6108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09" name="Google Shape;6109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0" name="Google Shape;6110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1" name="Google Shape;6111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2" name="Google Shape;6112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3" name="Google Shape;6113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4" name="Google Shape;6114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15" name="Google Shape;6115;p66"/>
                        <p:cNvCxnSpPr>
                          <a:endCxn id="611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16" name="Google Shape;6116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17" name="Google Shape;6117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18" name="Google Shape;6118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9" name="Google Shape;6119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20" name="Google Shape;6120;p66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21" name="Google Shape;6121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22" name="Google Shape;6122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3" name="Google Shape;6123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4" name="Google Shape;6124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5" name="Google Shape;6125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6" name="Google Shape;6126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7" name="Google Shape;6127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8" name="Google Shape;6128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29" name="Google Shape;6129;p66"/>
                        <p:cNvCxnSpPr>
                          <a:endCxn id="612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30" name="Google Shape;6130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31" name="Google Shape;6131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32" name="Google Shape;6132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3" name="Google Shape;6133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34" name="Google Shape;6134;p66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35" name="Google Shape;6135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36" name="Google Shape;6136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7" name="Google Shape;6137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8" name="Google Shape;6138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9" name="Google Shape;6139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0" name="Google Shape;6140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1" name="Google Shape;6141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2" name="Google Shape;6142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43" name="Google Shape;6143;p66"/>
                        <p:cNvCxnSpPr>
                          <a:endCxn id="613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44" name="Google Shape;6144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45" name="Google Shape;6145;p66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146" name="Google Shape;6146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7" name="Google Shape;6147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48" name="Google Shape;6148;p66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49" name="Google Shape;6149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50" name="Google Shape;6150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1" name="Google Shape;6151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2" name="Google Shape;6152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3" name="Google Shape;6153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4" name="Google Shape;6154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5" name="Google Shape;6155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6" name="Google Shape;6156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57" name="Google Shape;6157;p66"/>
                        <p:cNvCxnSpPr>
                          <a:endCxn id="6152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58" name="Google Shape;6158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59" name="Google Shape;6159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60" name="Google Shape;6160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61" name="Google Shape;6161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162" name="Google Shape;6162;p66"/>
                    <p:cNvCxnSpPr>
                      <a:stCxn id="6119" idx="2"/>
                      <a:endCxn id="6133" idx="0"/>
                    </p:cNvCxnSpPr>
                    <p:nvPr/>
                  </p:nvCxnSpPr>
                  <p:spPr>
                    <a:xfrm>
                      <a:off x="1991073" y="3242684"/>
                      <a:ext cx="4200" cy="8520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rgbClr val="000090"/>
                      </a:solidFill>
                      <a:prstDash val="dash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3" name="Google Shape;6163;p66"/>
                    <p:cNvCxnSpPr/>
                    <p:nvPr/>
                  </p:nvCxnSpPr>
                  <p:spPr>
                    <a:xfrm>
                      <a:off x="1407477" y="3648621"/>
                      <a:ext cx="1204913" cy="6353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4" name="Google Shape;6164;p66"/>
                    <p:cNvCxnSpPr>
                      <a:stCxn id="6108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5" name="Google Shape;6165;p66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6" name="Google Shape;6166;p66"/>
                    <p:cNvCxnSpPr/>
                    <p:nvPr/>
                  </p:nvCxnSpPr>
                  <p:spPr>
                    <a:xfrm flipH="1">
                      <a:off x="1287553" y="3166946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  <p:sp>
                <p:nvSpPr>
                  <p:cNvPr id="6167" name="Google Shape;6167;p66"/>
                  <p:cNvSpPr txBox="1"/>
                  <p:nvPr/>
                </p:nvSpPr>
                <p:spPr>
                  <a:xfrm>
                    <a:off x="8136838" y="37357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3</a:t>
                    </a:r>
                    <a:endParaRPr/>
                  </a:p>
                </p:txBody>
              </p:sp>
            </p:grpSp>
          </p:grpSp>
          <p:grpSp>
            <p:nvGrpSpPr>
              <p:cNvPr id="6168" name="Google Shape;6168;p66"/>
              <p:cNvGrpSpPr/>
              <p:nvPr/>
            </p:nvGrpSpPr>
            <p:grpSpPr>
              <a:xfrm>
                <a:off x="1426553" y="4136253"/>
                <a:ext cx="3452487" cy="1719017"/>
                <a:chOff x="1426553" y="4136253"/>
                <a:chExt cx="3452487" cy="1719017"/>
              </a:xfrm>
            </p:grpSpPr>
            <p:grpSp>
              <p:nvGrpSpPr>
                <p:cNvPr id="6169" name="Google Shape;6169;p66"/>
                <p:cNvGrpSpPr/>
                <p:nvPr/>
              </p:nvGrpSpPr>
              <p:grpSpPr>
                <a:xfrm>
                  <a:off x="1426553" y="4136253"/>
                  <a:ext cx="2557336" cy="1719017"/>
                  <a:chOff x="-2170772" y="2784954"/>
                  <a:chExt cx="2712783" cy="1853712"/>
                </a:xfrm>
              </p:grpSpPr>
              <p:sp>
                <p:nvSpPr>
                  <p:cNvPr id="6170" name="Google Shape;6170;p66"/>
                  <p:cNvSpPr/>
                  <p:nvPr/>
                </p:nvSpPr>
                <p:spPr>
                  <a:xfrm>
                    <a:off x="-2170772" y="2784954"/>
                    <a:ext cx="2712783" cy="1853712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171" name="Google Shape;6171;p66"/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6172" name="Google Shape;6172;p66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73" name="Google Shape;6173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74" name="Google Shape;6174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5" name="Google Shape;6175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6" name="Google Shape;6176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7" name="Google Shape;6177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8" name="Google Shape;6178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9" name="Google Shape;6179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0" name="Google Shape;6180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81" name="Google Shape;6181;p66"/>
                        <p:cNvCxnSpPr>
                          <a:endCxn id="6176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82" name="Google Shape;6182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83" name="Google Shape;6183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84" name="Google Shape;6184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5" name="Google Shape;6185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86" name="Google Shape;6186;p66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87" name="Google Shape;6187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88" name="Google Shape;6188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9" name="Google Shape;6189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0" name="Google Shape;6190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1" name="Google Shape;6191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2" name="Google Shape;6192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3" name="Google Shape;6193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4" name="Google Shape;6194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95" name="Google Shape;6195;p66"/>
                        <p:cNvCxnSpPr>
                          <a:endCxn id="619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96" name="Google Shape;6196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97" name="Google Shape;6197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98" name="Google Shape;6198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9" name="Google Shape;6199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200" name="Google Shape;6200;p66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201" name="Google Shape;6201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202" name="Google Shape;6202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3" name="Google Shape;6203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4" name="Google Shape;6204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5" name="Google Shape;6205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6" name="Google Shape;6206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7" name="Google Shape;6207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8" name="Google Shape;6208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209" name="Google Shape;6209;p66"/>
                        <p:cNvCxnSpPr>
                          <a:endCxn id="620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210" name="Google Shape;6210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211" name="Google Shape;6211;p66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212" name="Google Shape;6212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3" name="Google Shape;6213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214" name="Google Shape;6214;p66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215" name="Google Shape;6215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216" name="Google Shape;6216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7" name="Google Shape;6217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8" name="Google Shape;6218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9" name="Google Shape;6219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0" name="Google Shape;6220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1" name="Google Shape;6221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2" name="Google Shape;6222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223" name="Google Shape;6223;p66"/>
                        <p:cNvCxnSpPr>
                          <a:endCxn id="621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224" name="Google Shape;6224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225" name="Google Shape;6225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226" name="Google Shape;6226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7" name="Google Shape;6227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228" name="Google Shape;6228;p66"/>
                    <p:cNvCxnSpPr>
                      <a:stCxn id="6174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29" name="Google Shape;6229;p66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0" name="Google Shape;6230;p66"/>
                    <p:cNvCxnSpPr/>
                    <p:nvPr/>
                  </p:nvCxnSpPr>
                  <p:spPr>
                    <a:xfrm flipH="1">
                      <a:off x="2196042" y="3783542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1" name="Google Shape;6231;p66"/>
                    <p:cNvCxnSpPr/>
                    <p:nvPr/>
                  </p:nvCxnSpPr>
                  <p:spPr>
                    <a:xfrm flipH="1">
                      <a:off x="1287553" y="3166946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  <p:sp>
              <p:nvSpPr>
                <p:cNvPr id="6232" name="Google Shape;6232;p66"/>
                <p:cNvSpPr txBox="1"/>
                <p:nvPr/>
              </p:nvSpPr>
              <p:spPr>
                <a:xfrm>
                  <a:off x="1430686" y="4247082"/>
                  <a:ext cx="75353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9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AS 1</a:t>
                  </a:r>
                  <a:endParaRPr/>
                </a:p>
              </p:txBody>
            </p:sp>
            <p:cxnSp>
              <p:nvCxnSpPr>
                <p:cNvPr id="6233" name="Google Shape;6233;p66"/>
                <p:cNvCxnSpPr>
                  <a:stCxn id="6097" idx="1"/>
                </p:cNvCxnSpPr>
                <p:nvPr/>
              </p:nvCxnSpPr>
              <p:spPr>
                <a:xfrm rot="10800000">
                  <a:off x="3848240" y="5024779"/>
                  <a:ext cx="1030800" cy="6990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6234" name="Google Shape;6234;p66"/>
              <p:cNvCxnSpPr>
                <a:stCxn id="6074" idx="5"/>
                <a:endCxn id="6161" idx="1"/>
              </p:cNvCxnSpPr>
              <p:nvPr/>
            </p:nvCxnSpPr>
            <p:spPr>
              <a:xfrm flipH="1" rot="10800000">
                <a:off x="6957825" y="4543451"/>
                <a:ext cx="1398900" cy="1062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235" name="Google Shape;6235;p66"/>
            <p:cNvGrpSpPr/>
            <p:nvPr/>
          </p:nvGrpSpPr>
          <p:grpSpPr>
            <a:xfrm>
              <a:off x="9525929" y="4809915"/>
              <a:ext cx="1701734" cy="616172"/>
              <a:chOff x="6935906" y="5482318"/>
              <a:chExt cx="1701734" cy="616172"/>
            </a:xfrm>
          </p:grpSpPr>
          <p:grpSp>
            <p:nvGrpSpPr>
              <p:cNvPr id="6236" name="Google Shape;6236;p66"/>
              <p:cNvGrpSpPr/>
              <p:nvPr/>
            </p:nvGrpSpPr>
            <p:grpSpPr>
              <a:xfrm>
                <a:off x="6935906" y="5482318"/>
                <a:ext cx="1701734" cy="616172"/>
                <a:chOff x="6808463" y="5108795"/>
                <a:chExt cx="1701734" cy="616172"/>
              </a:xfrm>
            </p:grpSpPr>
            <p:sp>
              <p:nvSpPr>
                <p:cNvPr id="6237" name="Google Shape;6237;p66"/>
                <p:cNvSpPr/>
                <p:nvPr/>
              </p:nvSpPr>
              <p:spPr>
                <a:xfrm>
                  <a:off x="6808463" y="5108795"/>
                  <a:ext cx="1701734" cy="616172"/>
                </a:xfrm>
                <a:custGeom>
                  <a:rect b="b" l="l" r="r" t="t"/>
                  <a:pathLst>
                    <a:path extrusionOk="0" h="11127" w="11293">
                      <a:moveTo>
                        <a:pt x="40" y="9082"/>
                      </a:moveTo>
                      <a:cubicBezTo>
                        <a:pt x="352" y="7566"/>
                        <a:pt x="3280" y="1761"/>
                        <a:pt x="4577" y="470"/>
                      </a:cubicBezTo>
                      <a:cubicBezTo>
                        <a:pt x="5874" y="-821"/>
                        <a:pt x="6795" y="914"/>
                        <a:pt x="7822" y="1336"/>
                      </a:cubicBezTo>
                      <a:cubicBezTo>
                        <a:pt x="8849" y="1758"/>
                        <a:pt x="10193" y="1947"/>
                        <a:pt x="10740" y="3004"/>
                      </a:cubicBezTo>
                      <a:cubicBezTo>
                        <a:pt x="11287" y="4061"/>
                        <a:pt x="11468" y="6337"/>
                        <a:pt x="11102" y="7683"/>
                      </a:cubicBezTo>
                      <a:cubicBezTo>
                        <a:pt x="10736" y="9030"/>
                        <a:pt x="9940" y="10771"/>
                        <a:pt x="8541" y="11085"/>
                      </a:cubicBezTo>
                      <a:cubicBezTo>
                        <a:pt x="7141" y="11398"/>
                        <a:pt x="4122" y="9898"/>
                        <a:pt x="2705" y="9564"/>
                      </a:cubicBezTo>
                      <a:cubicBezTo>
                        <a:pt x="1288" y="9230"/>
                        <a:pt x="-272" y="10598"/>
                        <a:pt x="40" y="9082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238" name="Google Shape;6238;p66"/>
                <p:cNvGrpSpPr/>
                <p:nvPr/>
              </p:nvGrpSpPr>
              <p:grpSpPr>
                <a:xfrm>
                  <a:off x="7908175" y="5241780"/>
                  <a:ext cx="536554" cy="263548"/>
                  <a:chOff x="1871277" y="1576300"/>
                  <a:chExt cx="1128371" cy="437861"/>
                </a:xfrm>
              </p:grpSpPr>
              <p:sp>
                <p:nvSpPr>
                  <p:cNvPr id="6239" name="Google Shape;6239;p66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0" name="Google Shape;6240;p66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1" name="Google Shape;6241;p66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2" name="Google Shape;6242;p66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3" name="Google Shape;6243;p66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4" name="Google Shape;6244;p66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5" name="Google Shape;6245;p66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6246" name="Google Shape;6246;p66"/>
                  <p:cNvCxnSpPr>
                    <a:endCxn id="6241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6247" name="Google Shape;6247;p66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6248" name="Google Shape;6248;p66"/>
                <p:cNvGrpSpPr/>
                <p:nvPr/>
              </p:nvGrpSpPr>
              <p:grpSpPr>
                <a:xfrm>
                  <a:off x="7876581" y="5223365"/>
                  <a:ext cx="466894" cy="369332"/>
                  <a:chOff x="599495" y="1708643"/>
                  <a:chExt cx="491778" cy="409344"/>
                </a:xfrm>
              </p:grpSpPr>
              <p:sp>
                <p:nvSpPr>
                  <p:cNvPr id="6249" name="Google Shape;6249;p66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50" name="Google Shape;6250;p66"/>
                  <p:cNvSpPr txBox="1"/>
                  <p:nvPr/>
                </p:nvSpPr>
                <p:spPr>
                  <a:xfrm>
                    <a:off x="599495" y="1708643"/>
                    <a:ext cx="491778" cy="4093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  X</a:t>
                    </a:r>
                    <a:endParaRPr/>
                  </a:p>
                </p:txBody>
              </p:sp>
            </p:grpSp>
          </p:grpSp>
          <p:cxnSp>
            <p:nvCxnSpPr>
              <p:cNvPr id="6251" name="Google Shape;6251;p66"/>
              <p:cNvCxnSpPr/>
              <p:nvPr/>
            </p:nvCxnSpPr>
            <p:spPr>
              <a:xfrm flipH="1">
                <a:off x="7158742" y="5764030"/>
                <a:ext cx="870024" cy="9999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6252" name="Google Shape;6252;p66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6253" name="Google Shape;6253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54" name="Google Shape;6254;p66"/>
          <p:cNvSpPr txBox="1"/>
          <p:nvPr/>
        </p:nvSpPr>
        <p:spPr>
          <a:xfrm>
            <a:off x="825754" y="4751961"/>
            <a:ext cx="10673139" cy="84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AS2 policy, AS2 router 2c accepts path AS3,X, propagates (via iBGP) to all AS2 routers</a:t>
            </a:r>
            <a:endParaRPr/>
          </a:p>
          <a:p>
            <a:pPr indent="-69850" lvl="0" marL="352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55" name="Google Shape;6255;p66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6256" name="Google Shape;6256;p66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6257" name="Google Shape;6257;p66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58" name="Google Shape;6258;p66"/>
          <p:cNvSpPr txBox="1"/>
          <p:nvPr/>
        </p:nvSpPr>
        <p:spPr>
          <a:xfrm>
            <a:off x="853911" y="4164411"/>
            <a:ext cx="11146023" cy="848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AS2 router 2c receives path advertisement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(via eBGP) from AS3 router 3a</a:t>
            </a:r>
            <a:endParaRPr/>
          </a:p>
        </p:txBody>
      </p:sp>
      <p:sp>
        <p:nvSpPr>
          <p:cNvPr id="6259" name="Google Shape;6259;p66"/>
          <p:cNvSpPr txBox="1"/>
          <p:nvPr/>
        </p:nvSpPr>
        <p:spPr>
          <a:xfrm>
            <a:off x="837479" y="5525933"/>
            <a:ext cx="10511102" cy="510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AS2 policy,  AS2 router 2a advertises (via eBGP)  path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AS2, AS3, X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AS1 router 1c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60" name="Google Shape;6260;p66"/>
          <p:cNvGrpSpPr/>
          <p:nvPr/>
        </p:nvGrpSpPr>
        <p:grpSpPr>
          <a:xfrm>
            <a:off x="5079134" y="2657901"/>
            <a:ext cx="1118837" cy="826267"/>
            <a:chOff x="4052000" y="2820739"/>
            <a:chExt cx="1118837" cy="826267"/>
          </a:xfrm>
        </p:grpSpPr>
        <p:cxnSp>
          <p:nvCxnSpPr>
            <p:cNvPr id="6261" name="Google Shape;6261;p66"/>
            <p:cNvCxnSpPr/>
            <p:nvPr/>
          </p:nvCxnSpPr>
          <p:spPr>
            <a:xfrm rot="10800000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62" name="Google Shape;6262;p66"/>
            <p:cNvCxnSpPr/>
            <p:nvPr/>
          </p:nvCxnSpPr>
          <p:spPr>
            <a:xfrm rot="10800000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63" name="Google Shape;6263;p66"/>
            <p:cNvCxnSpPr/>
            <p:nvPr/>
          </p:nvCxnSpPr>
          <p:spPr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264" name="Google Shape;6264;p66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6265" name="Google Shape;6265;p66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6" name="Google Shape;6266;p66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0" name="Shape 6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1" name="Google Shape;6271;p67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 </a:t>
            </a:r>
            <a:r>
              <a:rPr lang="en-US" sz="3600"/>
              <a:t>(more</a:t>
            </a:r>
            <a:r>
              <a:rPr lang="en-US"/>
              <a:t>)</a:t>
            </a:r>
            <a:endParaRPr/>
          </a:p>
        </p:txBody>
      </p:sp>
      <p:sp>
        <p:nvSpPr>
          <p:cNvPr id="6272" name="Google Shape;6272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273" name="Google Shape;6273;p67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6274" name="Google Shape;6274;p67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6275" name="Google Shape;6275;p67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76" name="Google Shape;6276;p67"/>
          <p:cNvSpPr txBox="1"/>
          <p:nvPr/>
        </p:nvSpPr>
        <p:spPr>
          <a:xfrm>
            <a:off x="1364685" y="4805597"/>
            <a:ext cx="8505825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293688" marR="0" rtl="0" algn="l">
              <a:lnSpc>
                <a:spcPct val="89166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AS1 gateway router 1c learns path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AS2,AS3,X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2a</a:t>
            </a:r>
            <a:endParaRPr/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7" name="Google Shape;6277;p67"/>
          <p:cNvSpPr txBox="1"/>
          <p:nvPr/>
        </p:nvSpPr>
        <p:spPr>
          <a:xfrm>
            <a:off x="1142010" y="4352301"/>
            <a:ext cx="9918472" cy="575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6428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 router may learn about </a:t>
            </a:r>
            <a:r>
              <a:rPr lang="en-US" sz="28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paths to destination:</a:t>
            </a:r>
            <a:endParaRPr/>
          </a:p>
        </p:txBody>
      </p:sp>
      <p:grpSp>
        <p:nvGrpSpPr>
          <p:cNvPr id="6278" name="Google Shape;6278;p67"/>
          <p:cNvGrpSpPr/>
          <p:nvPr/>
        </p:nvGrpSpPr>
        <p:grpSpPr>
          <a:xfrm>
            <a:off x="1970966" y="1952535"/>
            <a:ext cx="1118837" cy="826267"/>
            <a:chOff x="4052000" y="2820739"/>
            <a:chExt cx="1118837" cy="826267"/>
          </a:xfrm>
        </p:grpSpPr>
        <p:cxnSp>
          <p:nvCxnSpPr>
            <p:cNvPr id="6279" name="Google Shape;6279;p67"/>
            <p:cNvCxnSpPr/>
            <p:nvPr/>
          </p:nvCxnSpPr>
          <p:spPr>
            <a:xfrm rot="10800000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80" name="Google Shape;6280;p67"/>
            <p:cNvCxnSpPr/>
            <p:nvPr/>
          </p:nvCxnSpPr>
          <p:spPr>
            <a:xfrm rot="10800000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81" name="Google Shape;6281;p67"/>
            <p:cNvCxnSpPr/>
            <p:nvPr/>
          </p:nvCxnSpPr>
          <p:spPr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282" name="Google Shape;6282;p67"/>
          <p:cNvGrpSpPr/>
          <p:nvPr/>
        </p:nvGrpSpPr>
        <p:grpSpPr>
          <a:xfrm>
            <a:off x="3743662" y="1671430"/>
            <a:ext cx="941805" cy="615516"/>
            <a:chOff x="4482698" y="1658905"/>
            <a:chExt cx="941805" cy="615516"/>
          </a:xfrm>
        </p:grpSpPr>
        <p:sp>
          <p:nvSpPr>
            <p:cNvPr id="6283" name="Google Shape;6283;p67"/>
            <p:cNvSpPr/>
            <p:nvPr/>
          </p:nvSpPr>
          <p:spPr>
            <a:xfrm rot="-389120">
              <a:off x="4643012" y="1955688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4" name="Google Shape;6284;p67"/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AS3,X</a:t>
              </a:r>
              <a:endParaRPr/>
            </a:p>
          </p:txBody>
        </p:sp>
      </p:grpSp>
      <p:sp>
        <p:nvSpPr>
          <p:cNvPr id="6285" name="Google Shape;6285;p67"/>
          <p:cNvSpPr txBox="1"/>
          <p:nvPr/>
        </p:nvSpPr>
        <p:spPr>
          <a:xfrm>
            <a:off x="1399857" y="5223019"/>
            <a:ext cx="8505825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89166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AS1 gateway router 1c learns path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3a</a:t>
            </a:r>
            <a:endParaRPr/>
          </a:p>
          <a:p>
            <a:pPr indent="-215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6" name="Google Shape;6286;p67"/>
          <p:cNvSpPr txBox="1"/>
          <p:nvPr/>
        </p:nvSpPr>
        <p:spPr>
          <a:xfrm>
            <a:off x="1415491" y="5540232"/>
            <a:ext cx="10521813" cy="1028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policy,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AS1 gateway router 1c chooses path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advertises path within AS1 via iBGP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87" name="Google Shape;6287;p67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6288" name="Google Shape;6288;p67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9" name="Google Shape;6289;p67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grpSp>
        <p:nvGrpSpPr>
          <p:cNvPr id="6290" name="Google Shape;6290;p67"/>
          <p:cNvGrpSpPr/>
          <p:nvPr/>
        </p:nvGrpSpPr>
        <p:grpSpPr>
          <a:xfrm>
            <a:off x="1113403" y="1064076"/>
            <a:ext cx="9801110" cy="2876474"/>
            <a:chOff x="1113403" y="1064076"/>
            <a:chExt cx="9801110" cy="2876474"/>
          </a:xfrm>
        </p:grpSpPr>
        <p:grpSp>
          <p:nvGrpSpPr>
            <p:cNvPr id="6291" name="Google Shape;6291;p67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6292" name="Google Shape;6292;p67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6293" name="Google Shape;6293;p67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6294" name="Google Shape;6294;p67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6295" name="Google Shape;6295;p67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296" name="Google Shape;6296;p67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297" name="Google Shape;6297;p67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298" name="Google Shape;6298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299" name="Google Shape;6299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0" name="Google Shape;6300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1" name="Google Shape;6301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2" name="Google Shape;6302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3" name="Google Shape;6303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4" name="Google Shape;6304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5" name="Google Shape;6305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06" name="Google Shape;6306;p67"/>
                          <p:cNvCxnSpPr>
                            <a:endCxn id="6301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07" name="Google Shape;6307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08" name="Google Shape;6308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09" name="Google Shape;6309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0" name="Google Shape;6310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11" name="Google Shape;6311;p67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12" name="Google Shape;6312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13" name="Google Shape;6313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4" name="Google Shape;6314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5" name="Google Shape;6315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6" name="Google Shape;6316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7" name="Google Shape;6317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8" name="Google Shape;6318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9" name="Google Shape;6319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20" name="Google Shape;6320;p67"/>
                          <p:cNvCxnSpPr>
                            <a:endCxn id="631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21" name="Google Shape;6321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22" name="Google Shape;6322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23" name="Google Shape;6323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24" name="Google Shape;6324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25" name="Google Shape;6325;p67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26" name="Google Shape;6326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27" name="Google Shape;6327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28" name="Google Shape;6328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29" name="Google Shape;6329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0" name="Google Shape;6330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1" name="Google Shape;6331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2" name="Google Shape;6332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3" name="Google Shape;6333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34" name="Google Shape;6334;p67"/>
                          <p:cNvCxnSpPr>
                            <a:endCxn id="632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35" name="Google Shape;6335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36" name="Google Shape;6336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337" name="Google Shape;6337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8" name="Google Shape;6338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39" name="Google Shape;6339;p67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40" name="Google Shape;6340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41" name="Google Shape;6341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2" name="Google Shape;6342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3" name="Google Shape;6343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4" name="Google Shape;6344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5" name="Google Shape;6345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6" name="Google Shape;6346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7" name="Google Shape;6347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48" name="Google Shape;6348;p67"/>
                          <p:cNvCxnSpPr>
                            <a:endCxn id="634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49" name="Google Shape;6349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50" name="Google Shape;6350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51" name="Google Shape;6351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52" name="Google Shape;6352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353" name="Google Shape;6353;p67"/>
                      <p:cNvCxnSpPr>
                        <a:stCxn id="6299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354" name="Google Shape;6354;p67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355" name="Google Shape;6355;p67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356" name="Google Shape;6356;p67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6357" name="Google Shape;6357;p67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6358" name="Google Shape;6358;p67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359" name="Google Shape;6359;p67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6360" name="Google Shape;6360;p67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6361" name="Google Shape;6361;p67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62" name="Google Shape;6362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63" name="Google Shape;6363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4" name="Google Shape;6364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5" name="Google Shape;6365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6" name="Google Shape;6366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7" name="Google Shape;6367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8" name="Google Shape;6368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9" name="Google Shape;6369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70" name="Google Shape;6370;p67"/>
                          <p:cNvCxnSpPr>
                            <a:endCxn id="636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71" name="Google Shape;6371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72" name="Google Shape;6372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73" name="Google Shape;6373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74" name="Google Shape;6374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75" name="Google Shape;6375;p67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76" name="Google Shape;6376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77" name="Google Shape;6377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78" name="Google Shape;6378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79" name="Google Shape;6379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0" name="Google Shape;6380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1" name="Google Shape;6381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2" name="Google Shape;6382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3" name="Google Shape;6383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84" name="Google Shape;6384;p67"/>
                          <p:cNvCxnSpPr>
                            <a:endCxn id="637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85" name="Google Shape;6385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86" name="Google Shape;6386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87" name="Google Shape;6387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8" name="Google Shape;6388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89" name="Google Shape;6389;p67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90" name="Google Shape;6390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91" name="Google Shape;6391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2" name="Google Shape;6392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3" name="Google Shape;6393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4" name="Google Shape;6394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5" name="Google Shape;6395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6" name="Google Shape;6396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7" name="Google Shape;6397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98" name="Google Shape;6398;p67"/>
                          <p:cNvCxnSpPr>
                            <a:endCxn id="639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99" name="Google Shape;6399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00" name="Google Shape;6400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401" name="Google Shape;6401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2" name="Google Shape;6402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03" name="Google Shape;6403;p67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04" name="Google Shape;6404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05" name="Google Shape;6405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6" name="Google Shape;6406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7" name="Google Shape;6407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8" name="Google Shape;6408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9" name="Google Shape;6409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10" name="Google Shape;6410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11" name="Google Shape;6411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12" name="Google Shape;6412;p67"/>
                          <p:cNvCxnSpPr>
                            <a:endCxn id="6407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13" name="Google Shape;6413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14" name="Google Shape;6414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15" name="Google Shape;6415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16" name="Google Shape;6416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417" name="Google Shape;6417;p67"/>
                      <p:cNvCxnSpPr>
                        <a:stCxn id="6374" idx="2"/>
                        <a:endCxn id="6388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18" name="Google Shape;6418;p67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19" name="Google Shape;6419;p67"/>
                      <p:cNvCxnSpPr>
                        <a:stCxn id="6363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20" name="Google Shape;6420;p67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21" name="Google Shape;6421;p67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6422" name="Google Shape;6422;p67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423" name="Google Shape;6423;p67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6424" name="Google Shape;6424;p67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6425" name="Google Shape;6425;p67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426" name="Google Shape;6426;p67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427" name="Google Shape;6427;p67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28" name="Google Shape;6428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29" name="Google Shape;6429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0" name="Google Shape;6430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1" name="Google Shape;6431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2" name="Google Shape;6432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3" name="Google Shape;6433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4" name="Google Shape;6434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5" name="Google Shape;6435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36" name="Google Shape;6436;p67"/>
                          <p:cNvCxnSpPr>
                            <a:endCxn id="6431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37" name="Google Shape;6437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38" name="Google Shape;6438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39" name="Google Shape;6439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0" name="Google Shape;6440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41" name="Google Shape;6441;p67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42" name="Google Shape;6442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43" name="Google Shape;6443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4" name="Google Shape;6444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5" name="Google Shape;6445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6" name="Google Shape;6446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7" name="Google Shape;6447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8" name="Google Shape;6448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9" name="Google Shape;6449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50" name="Google Shape;6450;p67"/>
                          <p:cNvCxnSpPr>
                            <a:endCxn id="644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51" name="Google Shape;6451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52" name="Google Shape;6452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53" name="Google Shape;6453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54" name="Google Shape;6454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55" name="Google Shape;6455;p67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56" name="Google Shape;6456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57" name="Google Shape;6457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58" name="Google Shape;6458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59" name="Google Shape;6459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0" name="Google Shape;6460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1" name="Google Shape;6461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2" name="Google Shape;6462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3" name="Google Shape;6463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64" name="Google Shape;6464;p67"/>
                          <p:cNvCxnSpPr>
                            <a:endCxn id="645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65" name="Google Shape;6465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66" name="Google Shape;6466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467" name="Google Shape;6467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8" name="Google Shape;6468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69" name="Google Shape;6469;p67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70" name="Google Shape;6470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71" name="Google Shape;6471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2" name="Google Shape;6472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3" name="Google Shape;6473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4" name="Google Shape;6474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5" name="Google Shape;6475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6" name="Google Shape;6476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7" name="Google Shape;6477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78" name="Google Shape;6478;p67"/>
                          <p:cNvCxnSpPr>
                            <a:endCxn id="647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79" name="Google Shape;6479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80" name="Google Shape;6480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81" name="Google Shape;6481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82" name="Google Shape;6482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483" name="Google Shape;6483;p67"/>
                      <p:cNvCxnSpPr>
                        <a:stCxn id="6429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84" name="Google Shape;6484;p67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85" name="Google Shape;6485;p67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86" name="Google Shape;6486;p67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487" name="Google Shape;6487;p67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6488" name="Google Shape;6488;p67"/>
                  <p:cNvCxnSpPr>
                    <a:stCxn id="6352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6489" name="Google Shape;6489;p67"/>
                <p:cNvCxnSpPr>
                  <a:stCxn id="6329" idx="5"/>
                  <a:endCxn id="6416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490" name="Google Shape;6490;p67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6491" name="Google Shape;6491;p67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6492" name="Google Shape;6492;p67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493" name="Google Shape;6493;p67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6494" name="Google Shape;6494;p67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5" name="Google Shape;6495;p67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6" name="Google Shape;6496;p67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7" name="Google Shape;6497;p67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8" name="Google Shape;6498;p67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9" name="Google Shape;6499;p67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500" name="Google Shape;6500;p67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6501" name="Google Shape;6501;p67"/>
                    <p:cNvCxnSpPr>
                      <a:endCxn id="649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6502" name="Google Shape;6502;p67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6503" name="Google Shape;6503;p67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6504" name="Google Shape;6504;p67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505" name="Google Shape;6505;p67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6506" name="Google Shape;6506;p67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6507" name="Google Shape;6507;p67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508" name="Google Shape;6508;p67"/>
          <p:cNvGrpSpPr/>
          <p:nvPr/>
        </p:nvGrpSpPr>
        <p:grpSpPr>
          <a:xfrm>
            <a:off x="1833953" y="1828797"/>
            <a:ext cx="1544009" cy="1075913"/>
            <a:chOff x="393081" y="3061853"/>
            <a:chExt cx="1544009" cy="1075913"/>
          </a:xfrm>
        </p:grpSpPr>
        <p:grpSp>
          <p:nvGrpSpPr>
            <p:cNvPr id="6509" name="Google Shape;6509;p67"/>
            <p:cNvGrpSpPr/>
            <p:nvPr/>
          </p:nvGrpSpPr>
          <p:grpSpPr>
            <a:xfrm>
              <a:off x="393081" y="3198229"/>
              <a:ext cx="1118837" cy="826267"/>
              <a:chOff x="4052000" y="2820739"/>
              <a:chExt cx="1118837" cy="826267"/>
            </a:xfrm>
          </p:grpSpPr>
          <p:cxnSp>
            <p:nvCxnSpPr>
              <p:cNvPr id="6510" name="Google Shape;6510;p67"/>
              <p:cNvCxnSpPr/>
              <p:nvPr/>
            </p:nvCxnSpPr>
            <p:spPr>
              <a:xfrm rot="10800000">
                <a:off x="4769093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511" name="Google Shape;6511;p67"/>
              <p:cNvCxnSpPr/>
              <p:nvPr/>
            </p:nvCxnSpPr>
            <p:spPr>
              <a:xfrm rot="10800000">
                <a:off x="4052000" y="3192229"/>
                <a:ext cx="1059565" cy="14171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512" name="Google Shape;6512;p67"/>
              <p:cNvCxnSpPr/>
              <p:nvPr/>
            </p:nvCxnSpPr>
            <p:spPr>
              <a:xfrm flipH="1">
                <a:off x="4748700" y="3344630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6513" name="Google Shape;6513;p67"/>
            <p:cNvSpPr txBox="1"/>
            <p:nvPr/>
          </p:nvSpPr>
          <p:spPr>
            <a:xfrm>
              <a:off x="536696" y="3269672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514" name="Google Shape;6514;p67"/>
            <p:cNvSpPr txBox="1"/>
            <p:nvPr/>
          </p:nvSpPr>
          <p:spPr>
            <a:xfrm>
              <a:off x="1219201" y="3061853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515" name="Google Shape;6515;p67"/>
            <p:cNvSpPr txBox="1"/>
            <p:nvPr/>
          </p:nvSpPr>
          <p:spPr>
            <a:xfrm>
              <a:off x="1177638" y="3768434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9" name="Shape 6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0" name="Google Shape;6520;p68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messages</a:t>
            </a:r>
            <a:endParaRPr/>
          </a:p>
        </p:txBody>
      </p:sp>
      <p:sp>
        <p:nvSpPr>
          <p:cNvPr id="6521" name="Google Shape;6521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22" name="Google Shape;6522;p68"/>
          <p:cNvSpPr txBox="1"/>
          <p:nvPr/>
        </p:nvSpPr>
        <p:spPr>
          <a:xfrm>
            <a:off x="829980" y="1409874"/>
            <a:ext cx="10957012" cy="504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messages exchanged between peers over TCP connection</a:t>
            </a:r>
            <a:endParaRPr/>
          </a:p>
          <a:p>
            <a:pPr indent="-29051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messages: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OPEN: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opens TCP connection to remote BGP peer and authenticates sending BGP peer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UPDATE: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advertises new path (or withdraws old)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KEEPALIVE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keeps connection alive in absence of UPDATES; also ACKs OPEN request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reports errors in previous msg; also used to close connection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6" name="Shape 6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7" name="Google Shape;6527;p69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6528" name="Google Shape;6528;p69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6529" name="Google Shape;6529;p69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6530" name="Google Shape;6530;p69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6531" name="Google Shape;6531;p69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6532" name="Google Shape;6532;p69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533" name="Google Shape;6533;p69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534" name="Google Shape;6534;p69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35" name="Google Shape;6535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36" name="Google Shape;6536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37" name="Google Shape;6537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38" name="Google Shape;6538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39" name="Google Shape;6539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0" name="Google Shape;6540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1" name="Google Shape;6541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2" name="Google Shape;6542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43" name="Google Shape;6543;p69"/>
                          <p:cNvCxnSpPr>
                            <a:endCxn id="653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44" name="Google Shape;6544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45" name="Google Shape;6545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546" name="Google Shape;6546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7" name="Google Shape;6547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548" name="Google Shape;6548;p69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49" name="Google Shape;6549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50" name="Google Shape;6550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1" name="Google Shape;6551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2" name="Google Shape;6552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3" name="Google Shape;6553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4" name="Google Shape;6554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5" name="Google Shape;6555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6" name="Google Shape;6556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57" name="Google Shape;6557;p69"/>
                          <p:cNvCxnSpPr>
                            <a:endCxn id="655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58" name="Google Shape;6558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59" name="Google Shape;6559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560" name="Google Shape;6560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1" name="Google Shape;6561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562" name="Google Shape;6562;p69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63" name="Google Shape;6563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64" name="Google Shape;6564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5" name="Google Shape;6565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6" name="Google Shape;6566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7" name="Google Shape;6567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8" name="Google Shape;6568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9" name="Google Shape;6569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70" name="Google Shape;6570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71" name="Google Shape;6571;p69"/>
                          <p:cNvCxnSpPr>
                            <a:endCxn id="656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72" name="Google Shape;6572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73" name="Google Shape;6573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574" name="Google Shape;6574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75" name="Google Shape;6575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576" name="Google Shape;6576;p69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77" name="Google Shape;6577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78" name="Google Shape;6578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79" name="Google Shape;6579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0" name="Google Shape;6580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1" name="Google Shape;6581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2" name="Google Shape;6582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3" name="Google Shape;6583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4" name="Google Shape;6584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85" name="Google Shape;6585;p69"/>
                          <p:cNvCxnSpPr>
                            <a:endCxn id="658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86" name="Google Shape;6586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87" name="Google Shape;6587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588" name="Google Shape;6588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9" name="Google Shape;6589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590" name="Google Shape;6590;p69"/>
                      <p:cNvCxnSpPr>
                        <a:stCxn id="6536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591" name="Google Shape;6591;p69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592" name="Google Shape;6592;p69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593" name="Google Shape;6593;p69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6594" name="Google Shape;6594;p69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6595" name="Google Shape;6595;p69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596" name="Google Shape;6596;p69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6597" name="Google Shape;6597;p69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6598" name="Google Shape;6598;p69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99" name="Google Shape;6599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00" name="Google Shape;6600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1" name="Google Shape;6601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2" name="Google Shape;6602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3" name="Google Shape;6603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4" name="Google Shape;6604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5" name="Google Shape;6605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6" name="Google Shape;6606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07" name="Google Shape;6607;p69"/>
                          <p:cNvCxnSpPr>
                            <a:endCxn id="660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08" name="Google Shape;6608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09" name="Google Shape;6609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10" name="Google Shape;6610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1" name="Google Shape;6611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12" name="Google Shape;6612;p69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13" name="Google Shape;6613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14" name="Google Shape;6614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5" name="Google Shape;6615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6" name="Google Shape;6616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7" name="Google Shape;6617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8" name="Google Shape;6618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9" name="Google Shape;6619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20" name="Google Shape;6620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21" name="Google Shape;6621;p69"/>
                          <p:cNvCxnSpPr>
                            <a:endCxn id="661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22" name="Google Shape;6622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23" name="Google Shape;6623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24" name="Google Shape;6624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25" name="Google Shape;6625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26" name="Google Shape;6626;p69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27" name="Google Shape;6627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28" name="Google Shape;6628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29" name="Google Shape;6629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0" name="Google Shape;6630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1" name="Google Shape;6631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2" name="Google Shape;6632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3" name="Google Shape;6633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4" name="Google Shape;6634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35" name="Google Shape;6635;p69"/>
                          <p:cNvCxnSpPr>
                            <a:endCxn id="663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36" name="Google Shape;6636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37" name="Google Shape;6637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638" name="Google Shape;6638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9" name="Google Shape;6639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40" name="Google Shape;6640;p69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41" name="Google Shape;6641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42" name="Google Shape;6642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3" name="Google Shape;6643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4" name="Google Shape;6644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5" name="Google Shape;6645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6" name="Google Shape;6646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7" name="Google Shape;6647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8" name="Google Shape;6648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49" name="Google Shape;6649;p69"/>
                          <p:cNvCxnSpPr>
                            <a:endCxn id="664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50" name="Google Shape;6650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51" name="Google Shape;6651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52" name="Google Shape;6652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53" name="Google Shape;6653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654" name="Google Shape;6654;p69"/>
                      <p:cNvCxnSpPr>
                        <a:stCxn id="6611" idx="2"/>
                        <a:endCxn id="6625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5" name="Google Shape;6655;p69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6" name="Google Shape;6656;p69"/>
                      <p:cNvCxnSpPr>
                        <a:stCxn id="660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7" name="Google Shape;6657;p69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8" name="Google Shape;6658;p69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6659" name="Google Shape;6659;p69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660" name="Google Shape;6660;p69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6661" name="Google Shape;6661;p69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6662" name="Google Shape;6662;p69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663" name="Google Shape;6663;p69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664" name="Google Shape;6664;p69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65" name="Google Shape;6665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66" name="Google Shape;6666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67" name="Google Shape;6667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68" name="Google Shape;6668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69" name="Google Shape;6669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0" name="Google Shape;6670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1" name="Google Shape;6671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2" name="Google Shape;6672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73" name="Google Shape;6673;p69"/>
                          <p:cNvCxnSpPr>
                            <a:endCxn id="666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74" name="Google Shape;6674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75" name="Google Shape;6675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76" name="Google Shape;6676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7" name="Google Shape;6677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78" name="Google Shape;6678;p69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79" name="Google Shape;6679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80" name="Google Shape;6680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1" name="Google Shape;6681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2" name="Google Shape;6682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3" name="Google Shape;6683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4" name="Google Shape;6684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5" name="Google Shape;6685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6" name="Google Shape;6686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87" name="Google Shape;6687;p69"/>
                          <p:cNvCxnSpPr>
                            <a:endCxn id="668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88" name="Google Shape;6688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89" name="Google Shape;6689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90" name="Google Shape;6690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1" name="Google Shape;6691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92" name="Google Shape;6692;p69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93" name="Google Shape;6693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94" name="Google Shape;6694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5" name="Google Shape;6695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6" name="Google Shape;6696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7" name="Google Shape;6697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8" name="Google Shape;6698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9" name="Google Shape;6699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00" name="Google Shape;6700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701" name="Google Shape;6701;p69"/>
                          <p:cNvCxnSpPr>
                            <a:endCxn id="669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702" name="Google Shape;6702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703" name="Google Shape;6703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704" name="Google Shape;6704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05" name="Google Shape;6705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706" name="Google Shape;6706;p69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707" name="Google Shape;6707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708" name="Google Shape;6708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09" name="Google Shape;6709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0" name="Google Shape;6710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1" name="Google Shape;6711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2" name="Google Shape;6712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3" name="Google Shape;6713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4" name="Google Shape;6714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715" name="Google Shape;6715;p69"/>
                          <p:cNvCxnSpPr>
                            <a:endCxn id="671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716" name="Google Shape;6716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717" name="Google Shape;6717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718" name="Google Shape;6718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9" name="Google Shape;6719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720" name="Google Shape;6720;p69"/>
                      <p:cNvCxnSpPr>
                        <a:stCxn id="6666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721" name="Google Shape;6721;p69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722" name="Google Shape;6722;p69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723" name="Google Shape;6723;p69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724" name="Google Shape;6724;p69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6725" name="Google Shape;6725;p69"/>
                  <p:cNvCxnSpPr>
                    <a:stCxn id="6589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6726" name="Google Shape;6726;p69"/>
                <p:cNvCxnSpPr>
                  <a:stCxn id="6566" idx="5"/>
                  <a:endCxn id="6653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727" name="Google Shape;6727;p69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6728" name="Google Shape;6728;p69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6729" name="Google Shape;6729;p69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730" name="Google Shape;6730;p69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6731" name="Google Shape;6731;p69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2" name="Google Shape;6732;p69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3" name="Google Shape;6733;p69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4" name="Google Shape;6734;p69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5" name="Google Shape;6735;p69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6" name="Google Shape;6736;p69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7" name="Google Shape;6737;p69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6738" name="Google Shape;6738;p69"/>
                    <p:cNvCxnSpPr>
                      <a:endCxn id="6733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6739" name="Google Shape;6739;p69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6740" name="Google Shape;6740;p69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6741" name="Google Shape;6741;p69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42" name="Google Shape;6742;p69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6743" name="Google Shape;6743;p69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6744" name="Google Shape;6744;p69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45" name="Google Shape;6745;p69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6746" name="Google Shape;6746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47" name="Google Shape;6747;p69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6748" name="Google Shape;6748;p69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6749" name="Google Shape;6749;p69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50" name="Google Shape;6750;p69"/>
          <p:cNvGrpSpPr/>
          <p:nvPr/>
        </p:nvGrpSpPr>
        <p:grpSpPr>
          <a:xfrm>
            <a:off x="3743662" y="1671430"/>
            <a:ext cx="941805" cy="615516"/>
            <a:chOff x="4482698" y="1658905"/>
            <a:chExt cx="941805" cy="615516"/>
          </a:xfrm>
        </p:grpSpPr>
        <p:sp>
          <p:nvSpPr>
            <p:cNvPr id="6751" name="Google Shape;6751;p69"/>
            <p:cNvSpPr/>
            <p:nvPr/>
          </p:nvSpPr>
          <p:spPr>
            <a:xfrm rot="-389120">
              <a:off x="4643012" y="1955688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2" name="Google Shape;6752;p69"/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AS3,X</a:t>
              </a:r>
              <a:endParaRPr/>
            </a:p>
          </p:txBody>
        </p:sp>
      </p:grpSp>
      <p:grpSp>
        <p:nvGrpSpPr>
          <p:cNvPr id="6753" name="Google Shape;6753;p69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6754" name="Google Shape;6754;p69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5" name="Google Shape;6755;p69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sp>
        <p:nvSpPr>
          <p:cNvPr id="6756" name="Google Shape;6756;p69"/>
          <p:cNvSpPr txBox="1"/>
          <p:nvPr/>
        </p:nvSpPr>
        <p:spPr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1a, 1b, 1d learn via iBGP from 1c: “path to X goes through 1c”</a:t>
            </a:r>
            <a:endParaRPr/>
          </a:p>
        </p:txBody>
      </p:sp>
      <p:sp>
        <p:nvSpPr>
          <p:cNvPr id="6757" name="Google Shape;6757;p69"/>
          <p:cNvSpPr txBox="1"/>
          <p:nvPr/>
        </p:nvSpPr>
        <p:spPr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OSPF intra-domain routing: to get to 1c, use  interface 1</a:t>
            </a:r>
            <a:endParaRPr/>
          </a:p>
        </p:txBody>
      </p:sp>
      <p:grpSp>
        <p:nvGrpSpPr>
          <p:cNvPr id="6758" name="Google Shape;6758;p69"/>
          <p:cNvGrpSpPr/>
          <p:nvPr/>
        </p:nvGrpSpPr>
        <p:grpSpPr>
          <a:xfrm>
            <a:off x="1643507" y="1934647"/>
            <a:ext cx="1360744" cy="1068501"/>
            <a:chOff x="1089218" y="2245331"/>
            <a:chExt cx="1360744" cy="1068501"/>
          </a:xfrm>
        </p:grpSpPr>
        <p:sp>
          <p:nvSpPr>
            <p:cNvPr id="6759" name="Google Shape;6759;p69"/>
            <p:cNvSpPr txBox="1"/>
            <p:nvPr/>
          </p:nvSpPr>
          <p:spPr>
            <a:xfrm>
              <a:off x="2165447" y="2998844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760" name="Google Shape;6760;p69"/>
            <p:cNvSpPr txBox="1"/>
            <p:nvPr/>
          </p:nvSpPr>
          <p:spPr>
            <a:xfrm>
              <a:off x="1458923" y="300605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6761" name="Google Shape;6761;p69"/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762" name="Google Shape;6762;p69"/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6763" name="Google Shape;6763;p69"/>
          <p:cNvGrpSpPr/>
          <p:nvPr/>
        </p:nvGrpSpPr>
        <p:grpSpPr>
          <a:xfrm>
            <a:off x="1126378" y="2990899"/>
            <a:ext cx="1694528" cy="3454211"/>
            <a:chOff x="537654" y="3292242"/>
            <a:chExt cx="1694528" cy="2998176"/>
          </a:xfrm>
        </p:grpSpPr>
        <p:sp>
          <p:nvSpPr>
            <p:cNvPr id="6764" name="Google Shape;6764;p69"/>
            <p:cNvSpPr/>
            <p:nvPr/>
          </p:nvSpPr>
          <p:spPr>
            <a:xfrm flipH="1" rot="10326036">
              <a:off x="771808" y="3379309"/>
              <a:ext cx="1333280" cy="959366"/>
            </a:xfrm>
            <a:custGeom>
              <a:rect b="b" l="l" r="r" t="t"/>
              <a:pathLst>
                <a:path extrusionOk="0" h="1143414" w="1332977">
                  <a:moveTo>
                    <a:pt x="1029955" y="1143414"/>
                  </a:moveTo>
                  <a:cubicBezTo>
                    <a:pt x="771645" y="868623"/>
                    <a:pt x="908943" y="903822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1125143" y="751678"/>
                    <a:pt x="1116033" y="592331"/>
                    <a:pt x="1332977" y="1045574"/>
                  </a:cubicBezTo>
                  <a:cubicBezTo>
                    <a:pt x="1183663" y="1029001"/>
                    <a:pt x="1194267" y="1059672"/>
                    <a:pt x="1029955" y="1143414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6765" name="Google Shape;6765;p69"/>
            <p:cNvGrpSpPr/>
            <p:nvPr/>
          </p:nvGrpSpPr>
          <p:grpSpPr>
            <a:xfrm>
              <a:off x="537654" y="4169528"/>
              <a:ext cx="1694528" cy="2120890"/>
              <a:chOff x="537654" y="4169528"/>
              <a:chExt cx="1694528" cy="2120890"/>
            </a:xfrm>
          </p:grpSpPr>
          <p:sp>
            <p:nvSpPr>
              <p:cNvPr id="6766" name="Google Shape;6766;p69"/>
              <p:cNvSpPr/>
              <p:nvPr/>
            </p:nvSpPr>
            <p:spPr>
              <a:xfrm rot="10800000">
                <a:off x="809301" y="4261100"/>
                <a:ext cx="1027112" cy="994484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6767" name="Google Shape;6767;p69"/>
              <p:cNvGrpSpPr/>
              <p:nvPr/>
            </p:nvGrpSpPr>
            <p:grpSpPr>
              <a:xfrm>
                <a:off x="812795" y="5933293"/>
                <a:ext cx="1035051" cy="357125"/>
                <a:chOff x="4128649" y="3606801"/>
                <a:chExt cx="568332" cy="338455"/>
              </a:xfrm>
            </p:grpSpPr>
            <p:sp>
              <p:nvSpPr>
                <p:cNvPr id="6768" name="Google Shape;6768;p69"/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69" name="Google Shape;6769;p69"/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70" name="Google Shape;6770;p69"/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6771" name="Google Shape;6771;p69"/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72" name="Google Shape;6772;p69"/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773" name="Google Shape;6773;p69"/>
              <p:cNvSpPr/>
              <p:nvPr/>
            </p:nvSpPr>
            <p:spPr>
              <a:xfrm>
                <a:off x="817079" y="5203658"/>
                <a:ext cx="1027112" cy="860514"/>
              </a:xfrm>
              <a:prstGeom prst="rect">
                <a:avLst/>
              </a:prstGeom>
              <a:gradFill>
                <a:gsLst>
                  <a:gs pos="0">
                    <a:srgbClr val="8383E0">
                      <a:alpha val="61960"/>
                    </a:srgbClr>
                  </a:gs>
                  <a:gs pos="5400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6774" name="Google Shape;6774;p69"/>
              <p:cNvCxnSpPr>
                <a:endCxn id="6769" idx="1"/>
              </p:cNvCxnSpPr>
              <p:nvPr/>
            </p:nvCxnSpPr>
            <p:spPr>
              <a:xfrm>
                <a:off x="801395" y="4466956"/>
                <a:ext cx="11400" cy="1644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75" name="Google Shape;6775;p69"/>
              <p:cNvCxnSpPr>
                <a:endCxn id="6769" idx="3"/>
              </p:cNvCxnSpPr>
              <p:nvPr/>
            </p:nvCxnSpPr>
            <p:spPr>
              <a:xfrm>
                <a:off x="1842745" y="4466956"/>
                <a:ext cx="5100" cy="1644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6776" name="Google Shape;6776;p69"/>
              <p:cNvGrpSpPr/>
              <p:nvPr/>
            </p:nvGrpSpPr>
            <p:grpSpPr>
              <a:xfrm>
                <a:off x="777993" y="4169528"/>
                <a:ext cx="1079500" cy="395024"/>
                <a:chOff x="2183302" y="1574638"/>
                <a:chExt cx="1200154" cy="430181"/>
              </a:xfrm>
            </p:grpSpPr>
            <p:sp>
              <p:nvSpPr>
                <p:cNvPr id="6777" name="Google Shape;6777;p69"/>
                <p:cNvSpPr/>
                <p:nvPr/>
              </p:nvSpPr>
              <p:spPr>
                <a:xfrm flipH="1" rot="10800000">
                  <a:off x="2186832" y="1690517"/>
                  <a:ext cx="1194859" cy="31430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78" name="Google Shape;6778;p69"/>
                <p:cNvSpPr/>
                <p:nvPr/>
              </p:nvSpPr>
              <p:spPr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79" name="Google Shape;6779;p69"/>
                <p:cNvSpPr/>
                <p:nvPr/>
              </p:nvSpPr>
              <p:spPr>
                <a:xfrm flipH="1" rot="10800000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0" name="Google Shape;6780;p69"/>
                <p:cNvSpPr/>
                <p:nvPr/>
              </p:nvSpPr>
              <p:spPr>
                <a:xfrm>
                  <a:off x="2490400" y="1671469"/>
                  <a:ext cx="582428" cy="15715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1" name="Google Shape;6781;p69"/>
                <p:cNvSpPr/>
                <p:nvPr/>
              </p:nvSpPr>
              <p:spPr>
                <a:xfrm>
                  <a:off x="2430393" y="1630197"/>
                  <a:ext cx="702443" cy="109529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2" name="Google Shape;6782;p69"/>
                <p:cNvSpPr/>
                <p:nvPr/>
              </p:nvSpPr>
              <p:spPr>
                <a:xfrm>
                  <a:off x="2892805" y="1723852"/>
                  <a:ext cx="257680" cy="95243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3" name="Google Shape;6783;p69"/>
                <p:cNvSpPr/>
                <p:nvPr/>
              </p:nvSpPr>
              <p:spPr>
                <a:xfrm>
                  <a:off x="2418037" y="1725440"/>
                  <a:ext cx="254150" cy="95243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6784" name="Google Shape;6784;p69"/>
                <p:cNvCxnSpPr>
                  <a:endCxn id="6779" idx="2"/>
                </p:cNvCxnSpPr>
                <p:nvPr/>
              </p:nvCxnSpPr>
              <p:spPr>
                <a:xfrm rot="10800000">
                  <a:off x="2183302" y="1731789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6785" name="Google Shape;6785;p69"/>
                <p:cNvCxnSpPr/>
                <p:nvPr/>
              </p:nvCxnSpPr>
              <p:spPr>
                <a:xfrm rot="10800000">
                  <a:off x="3379926" y="1728615"/>
                  <a:ext cx="3530" cy="12222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sp>
            <p:nvSpPr>
              <p:cNvPr id="6786" name="Google Shape;6786;p69"/>
              <p:cNvSpPr/>
              <p:nvPr/>
            </p:nvSpPr>
            <p:spPr>
              <a:xfrm>
                <a:off x="546153" y="4588083"/>
                <a:ext cx="1670709" cy="130380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87" name="Google Shape;6787;p69"/>
              <p:cNvSpPr txBox="1"/>
              <p:nvPr/>
            </p:nvSpPr>
            <p:spPr>
              <a:xfrm>
                <a:off x="540390" y="4583226"/>
                <a:ext cx="620971" cy="31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dest</a:t>
                </a:r>
                <a:endParaRPr/>
              </a:p>
            </p:txBody>
          </p:sp>
          <p:sp>
            <p:nvSpPr>
              <p:cNvPr id="6788" name="Google Shape;6788;p69"/>
              <p:cNvSpPr txBox="1"/>
              <p:nvPr/>
            </p:nvSpPr>
            <p:spPr>
              <a:xfrm>
                <a:off x="1162170" y="4587898"/>
                <a:ext cx="1070012" cy="31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interface</a:t>
                </a:r>
                <a:endParaRPr/>
              </a:p>
            </p:txBody>
          </p:sp>
          <p:cxnSp>
            <p:nvCxnSpPr>
              <p:cNvPr id="6789" name="Google Shape;6789;p69"/>
              <p:cNvCxnSpPr/>
              <p:nvPr/>
            </p:nvCxnSpPr>
            <p:spPr>
              <a:xfrm>
                <a:off x="1154183" y="4593421"/>
                <a:ext cx="1345" cy="1293547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90" name="Google Shape;6790;p69"/>
              <p:cNvCxnSpPr/>
              <p:nvPr/>
            </p:nvCxnSpPr>
            <p:spPr>
              <a:xfrm rot="10800000">
                <a:off x="537654" y="4911108"/>
                <a:ext cx="1679208" cy="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791" name="Google Shape;6791;p69"/>
              <p:cNvSpPr txBox="1"/>
              <p:nvPr/>
            </p:nvSpPr>
            <p:spPr>
              <a:xfrm>
                <a:off x="1222724" y="4844159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6792" name="Google Shape;6792;p69"/>
              <p:cNvSpPr txBox="1"/>
              <p:nvPr/>
            </p:nvSpPr>
            <p:spPr>
              <a:xfrm>
                <a:off x="1218025" y="5574320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6793" name="Google Shape;6793;p69"/>
              <p:cNvSpPr txBox="1"/>
              <p:nvPr/>
            </p:nvSpPr>
            <p:spPr>
              <a:xfrm>
                <a:off x="646020" y="4843576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6794" name="Google Shape;6794;p69"/>
              <p:cNvSpPr txBox="1"/>
              <p:nvPr/>
            </p:nvSpPr>
            <p:spPr>
              <a:xfrm>
                <a:off x="669517" y="5573736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</p:grpSp>
      </p:grpSp>
      <p:sp>
        <p:nvSpPr>
          <p:cNvPr id="6795" name="Google Shape;6795;p69"/>
          <p:cNvSpPr txBox="1"/>
          <p:nvPr/>
        </p:nvSpPr>
        <p:spPr>
          <a:xfrm>
            <a:off x="491927" y="2538311"/>
            <a:ext cx="1117981" cy="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link interfaces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1a, 1d</a:t>
            </a:r>
            <a:endParaRPr/>
          </a:p>
        </p:txBody>
      </p:sp>
      <p:sp>
        <p:nvSpPr>
          <p:cNvPr id="6796" name="Google Shape;6796;p69"/>
          <p:cNvSpPr txBox="1"/>
          <p:nvPr/>
        </p:nvSpPr>
        <p:spPr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to get to X, use  interface 1</a:t>
            </a:r>
            <a:endParaRPr/>
          </a:p>
        </p:txBody>
      </p:sp>
      <p:grpSp>
        <p:nvGrpSpPr>
          <p:cNvPr id="6797" name="Google Shape;6797;p69"/>
          <p:cNvGrpSpPr/>
          <p:nvPr/>
        </p:nvGrpSpPr>
        <p:grpSpPr>
          <a:xfrm>
            <a:off x="1260825" y="5090966"/>
            <a:ext cx="917328" cy="370003"/>
            <a:chOff x="1260825" y="5090966"/>
            <a:chExt cx="917328" cy="370003"/>
          </a:xfrm>
        </p:grpSpPr>
        <p:sp>
          <p:nvSpPr>
            <p:cNvPr id="6798" name="Google Shape;6798;p69"/>
            <p:cNvSpPr txBox="1"/>
            <p:nvPr/>
          </p:nvSpPr>
          <p:spPr>
            <a:xfrm>
              <a:off x="1260825" y="5091637"/>
              <a:ext cx="3994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1c</a:t>
              </a:r>
              <a:endParaRPr/>
            </a:p>
          </p:txBody>
        </p:sp>
        <p:sp>
          <p:nvSpPr>
            <p:cNvPr id="6799" name="Google Shape;6799;p69"/>
            <p:cNvSpPr txBox="1"/>
            <p:nvPr/>
          </p:nvSpPr>
          <p:spPr>
            <a:xfrm>
              <a:off x="1876467" y="509096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6800" name="Google Shape;6800;p69"/>
          <p:cNvGrpSpPr/>
          <p:nvPr/>
        </p:nvGrpSpPr>
        <p:grpSpPr>
          <a:xfrm>
            <a:off x="1312521" y="5421278"/>
            <a:ext cx="864960" cy="372689"/>
            <a:chOff x="1312521" y="5421278"/>
            <a:chExt cx="864960" cy="372689"/>
          </a:xfrm>
        </p:grpSpPr>
        <p:sp>
          <p:nvSpPr>
            <p:cNvPr id="6801" name="Google Shape;6801;p69"/>
            <p:cNvSpPr txBox="1"/>
            <p:nvPr/>
          </p:nvSpPr>
          <p:spPr>
            <a:xfrm>
              <a:off x="1312521" y="5421278"/>
              <a:ext cx="304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6802" name="Google Shape;6802;p69"/>
            <p:cNvSpPr txBox="1"/>
            <p:nvPr/>
          </p:nvSpPr>
          <p:spPr>
            <a:xfrm>
              <a:off x="1875795" y="542463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6803" name="Google Shape;6803;p69"/>
          <p:cNvGrpSpPr/>
          <p:nvPr/>
        </p:nvGrpSpPr>
        <p:grpSpPr>
          <a:xfrm>
            <a:off x="2293495" y="1828802"/>
            <a:ext cx="1139242" cy="1021848"/>
            <a:chOff x="852623" y="3061858"/>
            <a:chExt cx="1139242" cy="1021848"/>
          </a:xfrm>
        </p:grpSpPr>
        <p:grpSp>
          <p:nvGrpSpPr>
            <p:cNvPr id="6804" name="Google Shape;6804;p69"/>
            <p:cNvGrpSpPr/>
            <p:nvPr/>
          </p:nvGrpSpPr>
          <p:grpSpPr>
            <a:xfrm>
              <a:off x="852623" y="3198229"/>
              <a:ext cx="760478" cy="811277"/>
              <a:chOff x="4511542" y="2820739"/>
              <a:chExt cx="760478" cy="811277"/>
            </a:xfrm>
          </p:grpSpPr>
          <p:cxnSp>
            <p:nvCxnSpPr>
              <p:cNvPr id="6805" name="Google Shape;6805;p69"/>
              <p:cNvCxnSpPr/>
              <p:nvPr/>
            </p:nvCxnSpPr>
            <p:spPr>
              <a:xfrm rot="10800000">
                <a:off x="4870276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806" name="Google Shape;6806;p69"/>
              <p:cNvCxnSpPr/>
              <p:nvPr/>
            </p:nvCxnSpPr>
            <p:spPr>
              <a:xfrm rot="10800000">
                <a:off x="4511542" y="3225138"/>
                <a:ext cx="641247" cy="1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807" name="Google Shape;6807;p69"/>
              <p:cNvCxnSpPr/>
              <p:nvPr/>
            </p:nvCxnSpPr>
            <p:spPr>
              <a:xfrm flipH="1">
                <a:off x="4834894" y="3343933"/>
                <a:ext cx="422409" cy="288083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6808" name="Google Shape;6808;p69"/>
            <p:cNvSpPr txBox="1"/>
            <p:nvPr/>
          </p:nvSpPr>
          <p:spPr>
            <a:xfrm>
              <a:off x="915200" y="3355868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809" name="Google Shape;6809;p69"/>
            <p:cNvSpPr txBox="1"/>
            <p:nvPr/>
          </p:nvSpPr>
          <p:spPr>
            <a:xfrm>
              <a:off x="1365356" y="3061858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810" name="Google Shape;6810;p69"/>
            <p:cNvSpPr txBox="1"/>
            <p:nvPr/>
          </p:nvSpPr>
          <p:spPr>
            <a:xfrm>
              <a:off x="1391251" y="3775929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4" name="Shape 6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5" name="Google Shape;6815;p70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6816" name="Google Shape;6816;p70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6817" name="Google Shape;6817;p70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6818" name="Google Shape;6818;p70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6819" name="Google Shape;6819;p70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6820" name="Google Shape;6820;p70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821" name="Google Shape;6821;p70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822" name="Google Shape;6822;p70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23" name="Google Shape;6823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24" name="Google Shape;6824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5" name="Google Shape;6825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6" name="Google Shape;6826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7" name="Google Shape;6827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8" name="Google Shape;6828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9" name="Google Shape;6829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30" name="Google Shape;6830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31" name="Google Shape;6831;p70"/>
                          <p:cNvCxnSpPr>
                            <a:endCxn id="682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32" name="Google Shape;6832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33" name="Google Shape;6833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34" name="Google Shape;6834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35" name="Google Shape;6835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836" name="Google Shape;6836;p70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37" name="Google Shape;6837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38" name="Google Shape;6838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39" name="Google Shape;6839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0" name="Google Shape;6840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1" name="Google Shape;6841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2" name="Google Shape;6842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3" name="Google Shape;6843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4" name="Google Shape;6844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45" name="Google Shape;6845;p70"/>
                          <p:cNvCxnSpPr>
                            <a:endCxn id="684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46" name="Google Shape;6846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47" name="Google Shape;6847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48" name="Google Shape;6848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9" name="Google Shape;6849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850" name="Google Shape;6850;p70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51" name="Google Shape;6851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52" name="Google Shape;6852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3" name="Google Shape;6853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4" name="Google Shape;6854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5" name="Google Shape;6855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6" name="Google Shape;6856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7" name="Google Shape;6857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8" name="Google Shape;6858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59" name="Google Shape;6859;p70"/>
                          <p:cNvCxnSpPr>
                            <a:endCxn id="685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60" name="Google Shape;6860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61" name="Google Shape;6861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862" name="Google Shape;6862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3" name="Google Shape;6863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864" name="Google Shape;6864;p70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65" name="Google Shape;6865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66" name="Google Shape;6866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7" name="Google Shape;6867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8" name="Google Shape;6868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9" name="Google Shape;6869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0" name="Google Shape;6870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1" name="Google Shape;6871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2" name="Google Shape;6872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73" name="Google Shape;6873;p70"/>
                          <p:cNvCxnSpPr>
                            <a:endCxn id="686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74" name="Google Shape;6874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75" name="Google Shape;6875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76" name="Google Shape;6876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7" name="Google Shape;6877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878" name="Google Shape;6878;p70"/>
                      <p:cNvCxnSpPr>
                        <a:stCxn id="682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879" name="Google Shape;6879;p70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880" name="Google Shape;6880;p70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881" name="Google Shape;6881;p70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6882" name="Google Shape;6882;p70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6883" name="Google Shape;6883;p70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884" name="Google Shape;6884;p70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6885" name="Google Shape;6885;p70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6886" name="Google Shape;6886;p70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87" name="Google Shape;6887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88" name="Google Shape;6888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89" name="Google Shape;6889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0" name="Google Shape;6890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1" name="Google Shape;6891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2" name="Google Shape;6892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3" name="Google Shape;6893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4" name="Google Shape;6894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95" name="Google Shape;6895;p70"/>
                          <p:cNvCxnSpPr>
                            <a:endCxn id="689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96" name="Google Shape;6896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97" name="Google Shape;6897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98" name="Google Shape;6898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9" name="Google Shape;6899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00" name="Google Shape;6900;p70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01" name="Google Shape;6901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02" name="Google Shape;6902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3" name="Google Shape;6903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4" name="Google Shape;6904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5" name="Google Shape;6905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6" name="Google Shape;6906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7" name="Google Shape;6907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8" name="Google Shape;6908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09" name="Google Shape;6909;p70"/>
                          <p:cNvCxnSpPr>
                            <a:endCxn id="690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10" name="Google Shape;6910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11" name="Google Shape;6911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12" name="Google Shape;6912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3" name="Google Shape;6913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14" name="Google Shape;6914;p70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15" name="Google Shape;6915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16" name="Google Shape;6916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7" name="Google Shape;6917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8" name="Google Shape;6918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9" name="Google Shape;6919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0" name="Google Shape;6920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1" name="Google Shape;6921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2" name="Google Shape;6922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23" name="Google Shape;6923;p70"/>
                          <p:cNvCxnSpPr>
                            <a:endCxn id="691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24" name="Google Shape;6924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25" name="Google Shape;6925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926" name="Google Shape;6926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7" name="Google Shape;6927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28" name="Google Shape;6928;p70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29" name="Google Shape;6929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30" name="Google Shape;6930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1" name="Google Shape;6931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2" name="Google Shape;6932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3" name="Google Shape;6933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4" name="Google Shape;6934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5" name="Google Shape;6935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6" name="Google Shape;6936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37" name="Google Shape;6937;p70"/>
                          <p:cNvCxnSpPr>
                            <a:endCxn id="693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38" name="Google Shape;6938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39" name="Google Shape;6939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40" name="Google Shape;6940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41" name="Google Shape;6941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942" name="Google Shape;6942;p70"/>
                      <p:cNvCxnSpPr>
                        <a:stCxn id="6899" idx="2"/>
                        <a:endCxn id="6913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3" name="Google Shape;6943;p70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4" name="Google Shape;6944;p70"/>
                      <p:cNvCxnSpPr>
                        <a:stCxn id="6888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5" name="Google Shape;6945;p70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6" name="Google Shape;6946;p70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6947" name="Google Shape;6947;p70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948" name="Google Shape;6948;p70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6949" name="Google Shape;6949;p70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6950" name="Google Shape;6950;p70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951" name="Google Shape;6951;p70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952" name="Google Shape;6952;p70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53" name="Google Shape;6953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54" name="Google Shape;6954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5" name="Google Shape;6955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6" name="Google Shape;6956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7" name="Google Shape;6957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8" name="Google Shape;6958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9" name="Google Shape;6959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60" name="Google Shape;6960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61" name="Google Shape;6961;p70"/>
                          <p:cNvCxnSpPr>
                            <a:endCxn id="695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62" name="Google Shape;6962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63" name="Google Shape;6963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64" name="Google Shape;6964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65" name="Google Shape;6965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66" name="Google Shape;6966;p70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67" name="Google Shape;6967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68" name="Google Shape;6968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69" name="Google Shape;6969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0" name="Google Shape;6970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1" name="Google Shape;6971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2" name="Google Shape;6972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3" name="Google Shape;6973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4" name="Google Shape;6974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75" name="Google Shape;6975;p70"/>
                          <p:cNvCxnSpPr>
                            <a:endCxn id="697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76" name="Google Shape;6976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77" name="Google Shape;6977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78" name="Google Shape;6978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9" name="Google Shape;6979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80" name="Google Shape;6980;p70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81" name="Google Shape;6981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82" name="Google Shape;6982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3" name="Google Shape;6983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4" name="Google Shape;6984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5" name="Google Shape;6985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6" name="Google Shape;6986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7" name="Google Shape;6987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8" name="Google Shape;6988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89" name="Google Shape;6989;p70"/>
                          <p:cNvCxnSpPr>
                            <a:endCxn id="698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90" name="Google Shape;6990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91" name="Google Shape;6991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992" name="Google Shape;6992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3" name="Google Shape;6993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94" name="Google Shape;6994;p70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95" name="Google Shape;6995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96" name="Google Shape;6996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7" name="Google Shape;6997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8" name="Google Shape;6998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9" name="Google Shape;6999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0" name="Google Shape;7000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1" name="Google Shape;7001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2" name="Google Shape;7002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003" name="Google Shape;7003;p70"/>
                          <p:cNvCxnSpPr>
                            <a:endCxn id="699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004" name="Google Shape;7004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005" name="Google Shape;7005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006" name="Google Shape;7006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7" name="Google Shape;7007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008" name="Google Shape;7008;p70"/>
                      <p:cNvCxnSpPr>
                        <a:stCxn id="695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009" name="Google Shape;7009;p70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010" name="Google Shape;7010;p70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011" name="Google Shape;7011;p70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7012" name="Google Shape;7012;p70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7013" name="Google Shape;7013;p70"/>
                  <p:cNvCxnSpPr>
                    <a:stCxn id="6877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7014" name="Google Shape;7014;p70"/>
                <p:cNvCxnSpPr>
                  <a:stCxn id="6854" idx="5"/>
                  <a:endCxn id="6941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015" name="Google Shape;7015;p70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016" name="Google Shape;7016;p70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017" name="Google Shape;7017;p70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018" name="Google Shape;7018;p70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019" name="Google Shape;7019;p70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0" name="Google Shape;7020;p70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1" name="Google Shape;7021;p70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2" name="Google Shape;7022;p70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3" name="Google Shape;7023;p70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4" name="Google Shape;7024;p70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5" name="Google Shape;7025;p70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7026" name="Google Shape;7026;p70"/>
                    <p:cNvCxnSpPr>
                      <a:endCxn id="7021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7027" name="Google Shape;7027;p70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7028" name="Google Shape;7028;p70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029" name="Google Shape;7029;p70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30" name="Google Shape;7030;p70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7031" name="Google Shape;7031;p70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7032" name="Google Shape;7032;p70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033" name="Google Shape;7033;p70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7034" name="Google Shape;7034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5" name="Google Shape;7035;p70"/>
          <p:cNvSpPr txBox="1"/>
          <p:nvPr/>
        </p:nvSpPr>
        <p:spPr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1a, 1b, 1d learn via iBGP from 1c: “path to X goes through 1c”</a:t>
            </a:r>
            <a:endParaRPr/>
          </a:p>
        </p:txBody>
      </p:sp>
      <p:sp>
        <p:nvSpPr>
          <p:cNvPr id="7036" name="Google Shape;7036;p70"/>
          <p:cNvSpPr txBox="1"/>
          <p:nvPr/>
        </p:nvSpPr>
        <p:spPr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OSPF intra-domain routing: to get to 1c, use  interface 1</a:t>
            </a:r>
            <a:endParaRPr/>
          </a:p>
        </p:txBody>
      </p:sp>
      <p:grpSp>
        <p:nvGrpSpPr>
          <p:cNvPr id="7037" name="Google Shape;7037;p70"/>
          <p:cNvGrpSpPr/>
          <p:nvPr/>
        </p:nvGrpSpPr>
        <p:grpSpPr>
          <a:xfrm>
            <a:off x="1643507" y="1934647"/>
            <a:ext cx="344767" cy="806081"/>
            <a:chOff x="1089218" y="2245331"/>
            <a:chExt cx="344767" cy="806081"/>
          </a:xfrm>
        </p:grpSpPr>
        <p:sp>
          <p:nvSpPr>
            <p:cNvPr id="7038" name="Google Shape;7038;p70"/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039" name="Google Shape;7039;p70"/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7040" name="Google Shape;7040;p70"/>
          <p:cNvSpPr txBox="1"/>
          <p:nvPr/>
        </p:nvSpPr>
        <p:spPr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to get to X, use  interface 1</a:t>
            </a:r>
            <a:endParaRPr/>
          </a:p>
        </p:txBody>
      </p:sp>
      <p:grpSp>
        <p:nvGrpSpPr>
          <p:cNvPr id="7041" name="Google Shape;7041;p70"/>
          <p:cNvGrpSpPr/>
          <p:nvPr/>
        </p:nvGrpSpPr>
        <p:grpSpPr>
          <a:xfrm>
            <a:off x="399867" y="2407612"/>
            <a:ext cx="1694528" cy="3699295"/>
            <a:chOff x="399867" y="2407612"/>
            <a:chExt cx="1694528" cy="3699295"/>
          </a:xfrm>
        </p:grpSpPr>
        <p:sp>
          <p:nvSpPr>
            <p:cNvPr id="7042" name="Google Shape;7042;p70"/>
            <p:cNvSpPr/>
            <p:nvPr/>
          </p:nvSpPr>
          <p:spPr>
            <a:xfrm flipH="1" rot="10326036">
              <a:off x="668516" y="2483278"/>
              <a:ext cx="1196288" cy="1378282"/>
            </a:xfrm>
            <a:custGeom>
              <a:rect b="b" l="l" r="r" t="t"/>
              <a:pathLst>
                <a:path extrusionOk="0" h="1642695" w="1196017">
                  <a:moveTo>
                    <a:pt x="851586" y="1642695"/>
                  </a:moveTo>
                  <a:cubicBezTo>
                    <a:pt x="351624" y="596424"/>
                    <a:pt x="519034" y="861914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818067" y="853650"/>
                    <a:pt x="952595" y="541133"/>
                    <a:pt x="1196017" y="1546568"/>
                  </a:cubicBezTo>
                  <a:cubicBezTo>
                    <a:pt x="1046703" y="1529995"/>
                    <a:pt x="1015898" y="1558953"/>
                    <a:pt x="851586" y="164269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43" name="Google Shape;7043;p70"/>
            <p:cNvSpPr/>
            <p:nvPr/>
          </p:nvSpPr>
          <p:spPr>
            <a:xfrm rot="10800000">
              <a:off x="734144" y="3768921"/>
              <a:ext cx="1027112" cy="1145749"/>
            </a:xfrm>
            <a:prstGeom prst="rect">
              <a:avLst/>
            </a:prstGeom>
            <a:gradFill>
              <a:gsLst>
                <a:gs pos="0">
                  <a:srgbClr val="262699">
                    <a:alpha val="61960"/>
                  </a:srgbClr>
                </a:gs>
                <a:gs pos="54000">
                  <a:srgbClr val="8383E0"/>
                </a:gs>
                <a:gs pos="100000">
                  <a:srgbClr val="FFFFF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044" name="Google Shape;7044;p70"/>
            <p:cNvGrpSpPr/>
            <p:nvPr/>
          </p:nvGrpSpPr>
          <p:grpSpPr>
            <a:xfrm>
              <a:off x="737638" y="5695462"/>
              <a:ext cx="1035051" cy="411445"/>
              <a:chOff x="4128649" y="3606801"/>
              <a:chExt cx="568332" cy="338455"/>
            </a:xfrm>
          </p:grpSpPr>
          <p:sp>
            <p:nvSpPr>
              <p:cNvPr id="7045" name="Google Shape;7045;p70"/>
              <p:cNvSpPr/>
              <p:nvPr/>
            </p:nvSpPr>
            <p:spPr>
              <a:xfrm>
                <a:off x="4128649" y="3720080"/>
                <a:ext cx="568332" cy="225176"/>
              </a:xfrm>
              <a:prstGeom prst="ellipse">
                <a:avLst/>
              </a:prstGeom>
              <a:solidFill>
                <a:srgbClr val="2626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46" name="Google Shape;7046;p70"/>
              <p:cNvSpPr/>
              <p:nvPr/>
            </p:nvSpPr>
            <p:spPr>
              <a:xfrm>
                <a:off x="4128649" y="3720080"/>
                <a:ext cx="568332" cy="111898"/>
              </a:xfrm>
              <a:prstGeom prst="rect">
                <a:avLst/>
              </a:prstGeom>
              <a:solidFill>
                <a:srgbClr val="2626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47" name="Google Shape;7047;p70"/>
              <p:cNvSpPr/>
              <p:nvPr/>
            </p:nvSpPr>
            <p:spPr>
              <a:xfrm>
                <a:off x="4128649" y="3606801"/>
                <a:ext cx="568332" cy="225176"/>
              </a:xfrm>
              <a:prstGeom prst="ellipse">
                <a:avLst/>
              </a:prstGeom>
              <a:solidFill>
                <a:srgbClr val="8383E0">
                  <a:alpha val="6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048" name="Google Shape;7048;p70"/>
              <p:cNvCxnSpPr/>
              <p:nvPr/>
            </p:nvCxnSpPr>
            <p:spPr>
              <a:xfrm>
                <a:off x="4696981" y="3720080"/>
                <a:ext cx="0" cy="1118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49" name="Google Shape;7049;p70"/>
              <p:cNvCxnSpPr/>
              <p:nvPr/>
            </p:nvCxnSpPr>
            <p:spPr>
              <a:xfrm>
                <a:off x="4128649" y="3720080"/>
                <a:ext cx="0" cy="1118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050" name="Google Shape;7050;p70"/>
            <p:cNvSpPr/>
            <p:nvPr/>
          </p:nvSpPr>
          <p:spPr>
            <a:xfrm>
              <a:off x="741922" y="4854846"/>
              <a:ext cx="1027112" cy="991402"/>
            </a:xfrm>
            <a:prstGeom prst="rect">
              <a:avLst/>
            </a:prstGeom>
            <a:gradFill>
              <a:gsLst>
                <a:gs pos="0">
                  <a:srgbClr val="8383E0">
                    <a:alpha val="61960"/>
                  </a:srgbClr>
                </a:gs>
                <a:gs pos="54000">
                  <a:srgbClr val="ACACEA"/>
                </a:gs>
                <a:gs pos="100000">
                  <a:srgbClr val="FFFFF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7051" name="Google Shape;7051;p70"/>
            <p:cNvCxnSpPr>
              <a:endCxn id="7046" idx="1"/>
            </p:cNvCxnSpPr>
            <p:nvPr/>
          </p:nvCxnSpPr>
          <p:spPr>
            <a:xfrm>
              <a:off x="726238" y="4006085"/>
              <a:ext cx="11400" cy="1895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7052" name="Google Shape;7052;p70"/>
            <p:cNvCxnSpPr>
              <a:endCxn id="7046" idx="3"/>
            </p:cNvCxnSpPr>
            <p:nvPr/>
          </p:nvCxnSpPr>
          <p:spPr>
            <a:xfrm>
              <a:off x="1767588" y="4006085"/>
              <a:ext cx="5100" cy="1895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7053" name="Google Shape;7053;p70"/>
            <p:cNvGrpSpPr/>
            <p:nvPr/>
          </p:nvGrpSpPr>
          <p:grpSpPr>
            <a:xfrm>
              <a:off x="702836" y="3663421"/>
              <a:ext cx="1079500" cy="455109"/>
              <a:chOff x="2183302" y="1574638"/>
              <a:chExt cx="1200154" cy="430181"/>
            </a:xfrm>
          </p:grpSpPr>
          <p:sp>
            <p:nvSpPr>
              <p:cNvPr id="7054" name="Google Shape;7054;p70"/>
              <p:cNvSpPr/>
              <p:nvPr/>
            </p:nvSpPr>
            <p:spPr>
              <a:xfrm flipH="1" rot="10800000">
                <a:off x="2186832" y="1690517"/>
                <a:ext cx="1194859" cy="314302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31000">
                    <a:srgbClr val="8383E0"/>
                  </a:gs>
                  <a:gs pos="100000">
                    <a:srgbClr val="D5D5F4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5" name="Google Shape;7055;p70"/>
              <p:cNvSpPr/>
              <p:nvPr/>
            </p:nvSpPr>
            <p:spPr>
              <a:xfrm>
                <a:off x="2183302" y="1734964"/>
                <a:ext cx="1198389" cy="112704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54000">
                    <a:srgbClr val="8383E0"/>
                  </a:gs>
                  <a:gs pos="100000">
                    <a:srgbClr val="262699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6" name="Google Shape;7056;p70"/>
              <p:cNvSpPr/>
              <p:nvPr/>
            </p:nvSpPr>
            <p:spPr>
              <a:xfrm flipH="1" rot="10800000">
                <a:off x="2183302" y="1574638"/>
                <a:ext cx="1196624" cy="314302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7" name="Google Shape;7057;p70"/>
              <p:cNvSpPr/>
              <p:nvPr/>
            </p:nvSpPr>
            <p:spPr>
              <a:xfrm>
                <a:off x="2490400" y="1671469"/>
                <a:ext cx="582428" cy="157150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8" name="Google Shape;7058;p70"/>
              <p:cNvSpPr/>
              <p:nvPr/>
            </p:nvSpPr>
            <p:spPr>
              <a:xfrm>
                <a:off x="2430393" y="1630197"/>
                <a:ext cx="702443" cy="109529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9" name="Google Shape;7059;p70"/>
              <p:cNvSpPr/>
              <p:nvPr/>
            </p:nvSpPr>
            <p:spPr>
              <a:xfrm>
                <a:off x="2892805" y="1723852"/>
                <a:ext cx="257680" cy="95243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60" name="Google Shape;7060;p70"/>
              <p:cNvSpPr/>
              <p:nvPr/>
            </p:nvSpPr>
            <p:spPr>
              <a:xfrm>
                <a:off x="2418037" y="1725440"/>
                <a:ext cx="254150" cy="95243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061" name="Google Shape;7061;p70"/>
              <p:cNvCxnSpPr>
                <a:endCxn id="7056" idx="2"/>
              </p:cNvCxnSpPr>
              <p:nvPr/>
            </p:nvCxnSpPr>
            <p:spPr>
              <a:xfrm rot="10800000">
                <a:off x="2183302" y="1731789"/>
                <a:ext cx="36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7062" name="Google Shape;7062;p70"/>
              <p:cNvCxnSpPr/>
              <p:nvPr/>
            </p:nvCxnSpPr>
            <p:spPr>
              <a:xfrm rot="10800000">
                <a:off x="3379926" y="1728615"/>
                <a:ext cx="3530" cy="12222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sp>
          <p:nvSpPr>
            <p:cNvPr id="7063" name="Google Shape;7063;p70"/>
            <p:cNvSpPr/>
            <p:nvPr/>
          </p:nvSpPr>
          <p:spPr>
            <a:xfrm>
              <a:off x="408366" y="4245849"/>
              <a:ext cx="1670709" cy="150212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64" name="Google Shape;7064;p70"/>
            <p:cNvSpPr txBox="1"/>
            <p:nvPr/>
          </p:nvSpPr>
          <p:spPr>
            <a:xfrm>
              <a:off x="402603" y="4240253"/>
              <a:ext cx="620971" cy="35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</a:t>
              </a:r>
              <a:endParaRPr/>
            </a:p>
          </p:txBody>
        </p:sp>
        <p:sp>
          <p:nvSpPr>
            <p:cNvPr id="7065" name="Google Shape;7065;p70"/>
            <p:cNvSpPr txBox="1"/>
            <p:nvPr/>
          </p:nvSpPr>
          <p:spPr>
            <a:xfrm>
              <a:off x="1024383" y="4245636"/>
              <a:ext cx="1070012" cy="35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interface</a:t>
              </a:r>
              <a:endParaRPr/>
            </a:p>
          </p:txBody>
        </p:sp>
        <p:cxnSp>
          <p:nvCxnSpPr>
            <p:cNvPr id="7066" name="Google Shape;7066;p70"/>
            <p:cNvCxnSpPr/>
            <p:nvPr/>
          </p:nvCxnSpPr>
          <p:spPr>
            <a:xfrm>
              <a:off x="1016396" y="4251999"/>
              <a:ext cx="1345" cy="1490301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67" name="Google Shape;7067;p70"/>
            <p:cNvCxnSpPr/>
            <p:nvPr/>
          </p:nvCxnSpPr>
          <p:spPr>
            <a:xfrm rot="10800000">
              <a:off x="399867" y="4618007"/>
              <a:ext cx="1679208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68" name="Google Shape;7068;p70"/>
            <p:cNvSpPr txBox="1"/>
            <p:nvPr/>
          </p:nvSpPr>
          <p:spPr>
            <a:xfrm>
              <a:off x="1084937" y="4540875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069" name="Google Shape;7069;p70"/>
            <p:cNvSpPr txBox="1"/>
            <p:nvPr/>
          </p:nvSpPr>
          <p:spPr>
            <a:xfrm>
              <a:off x="1080238" y="5382097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070" name="Google Shape;7070;p70"/>
            <p:cNvSpPr txBox="1"/>
            <p:nvPr/>
          </p:nvSpPr>
          <p:spPr>
            <a:xfrm>
              <a:off x="508233" y="4540203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071" name="Google Shape;7071;p70"/>
            <p:cNvSpPr txBox="1"/>
            <p:nvPr/>
          </p:nvSpPr>
          <p:spPr>
            <a:xfrm>
              <a:off x="531730" y="5381424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7072" name="Google Shape;7072;p70"/>
            <p:cNvGrpSpPr/>
            <p:nvPr/>
          </p:nvGrpSpPr>
          <p:grpSpPr>
            <a:xfrm>
              <a:off x="521789" y="4827919"/>
              <a:ext cx="917328" cy="370003"/>
              <a:chOff x="1260825" y="5090966"/>
              <a:chExt cx="917328" cy="370003"/>
            </a:xfrm>
          </p:grpSpPr>
          <p:sp>
            <p:nvSpPr>
              <p:cNvPr id="7073" name="Google Shape;7073;p70"/>
              <p:cNvSpPr txBox="1"/>
              <p:nvPr/>
            </p:nvSpPr>
            <p:spPr>
              <a:xfrm>
                <a:off x="1260825" y="5091637"/>
                <a:ext cx="39946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1c</a:t>
                </a:r>
                <a:endParaRPr/>
              </a:p>
            </p:txBody>
          </p:sp>
          <p:sp>
            <p:nvSpPr>
              <p:cNvPr id="7074" name="Google Shape;7074;p70"/>
              <p:cNvSpPr txBox="1"/>
              <p:nvPr/>
            </p:nvSpPr>
            <p:spPr>
              <a:xfrm>
                <a:off x="1876467" y="5090966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7075" name="Google Shape;7075;p70"/>
          <p:cNvGrpSpPr/>
          <p:nvPr/>
        </p:nvGrpSpPr>
        <p:grpSpPr>
          <a:xfrm>
            <a:off x="582650" y="5157552"/>
            <a:ext cx="864960" cy="372689"/>
            <a:chOff x="2013978" y="7112291"/>
            <a:chExt cx="864960" cy="372689"/>
          </a:xfrm>
        </p:grpSpPr>
        <p:sp>
          <p:nvSpPr>
            <p:cNvPr id="7076" name="Google Shape;7076;p70"/>
            <p:cNvSpPr txBox="1"/>
            <p:nvPr/>
          </p:nvSpPr>
          <p:spPr>
            <a:xfrm>
              <a:off x="2013978" y="7112291"/>
              <a:ext cx="304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7077" name="Google Shape;7077;p70"/>
            <p:cNvSpPr txBox="1"/>
            <p:nvPr/>
          </p:nvSpPr>
          <p:spPr>
            <a:xfrm>
              <a:off x="2577252" y="711564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7078" name="Google Shape;7078;p70"/>
          <p:cNvSpPr txBox="1"/>
          <p:nvPr/>
        </p:nvSpPr>
        <p:spPr>
          <a:xfrm>
            <a:off x="3129859" y="5754247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1a: OSPF intra-domain routing: to get to 1c, use  interface 2</a:t>
            </a:r>
            <a:endParaRPr/>
          </a:p>
        </p:txBody>
      </p:sp>
      <p:sp>
        <p:nvSpPr>
          <p:cNvPr id="7079" name="Google Shape;7079;p70"/>
          <p:cNvSpPr txBox="1"/>
          <p:nvPr/>
        </p:nvSpPr>
        <p:spPr>
          <a:xfrm>
            <a:off x="3131947" y="6157167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1a: to get to X, use  interface 2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3" name="Shape 7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4" name="Google Shape;7084;p71"/>
          <p:cNvSpPr txBox="1"/>
          <p:nvPr>
            <p:ph type="title"/>
          </p:nvPr>
        </p:nvSpPr>
        <p:spPr>
          <a:xfrm>
            <a:off x="838200" y="389191"/>
            <a:ext cx="1124941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Why different Intra-, Inter-AS routing ?</a:t>
            </a:r>
            <a:r>
              <a:rPr lang="en-US" sz="6000"/>
              <a:t> </a:t>
            </a:r>
            <a:endParaRPr/>
          </a:p>
        </p:txBody>
      </p:sp>
      <p:sp>
        <p:nvSpPr>
          <p:cNvPr id="7085" name="Google Shape;7085;p71"/>
          <p:cNvSpPr txBox="1"/>
          <p:nvPr>
            <p:ph idx="12" type="sldNum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6" name="Google Shape;7086;p71"/>
          <p:cNvSpPr txBox="1"/>
          <p:nvPr/>
        </p:nvSpPr>
        <p:spPr>
          <a:xfrm>
            <a:off x="952500" y="1421534"/>
            <a:ext cx="1031860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policy: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inter-AS: admin wants control over how its traffic routed, who routes through its network 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intra-AS: single admin, so policy less of an issue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scale: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hierarchical routing saves table size, reduced update traffic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performance: 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intra-AS: can focus on performance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inter-AS: policy dominates over performance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0" name="Shape 7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1" name="Google Shape;7091;p72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7092" name="Google Shape;7092;p72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7093" name="Google Shape;7093;p72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7094" name="Google Shape;7094;p72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7095" name="Google Shape;7095;p72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7096" name="Google Shape;7096;p72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7097" name="Google Shape;7097;p72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7098" name="Google Shape;7098;p7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099" name="Google Shape;7099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00" name="Google Shape;7100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1" name="Google Shape;7101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2" name="Google Shape;7102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3" name="Google Shape;7103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4" name="Google Shape;7104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5" name="Google Shape;7105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6" name="Google Shape;7106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07" name="Google Shape;7107;p72"/>
                          <p:cNvCxnSpPr>
                            <a:endCxn id="710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08" name="Google Shape;7108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09" name="Google Shape;7109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10" name="Google Shape;7110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1" name="Google Shape;7111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12" name="Google Shape;7112;p7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13" name="Google Shape;7113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14" name="Google Shape;7114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5" name="Google Shape;7115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6" name="Google Shape;7116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7" name="Google Shape;7117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8" name="Google Shape;7118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9" name="Google Shape;7119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20" name="Google Shape;7120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21" name="Google Shape;7121;p72"/>
                          <p:cNvCxnSpPr>
                            <a:endCxn id="711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22" name="Google Shape;7122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23" name="Google Shape;7123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24" name="Google Shape;7124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25" name="Google Shape;7125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26" name="Google Shape;7126;p7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27" name="Google Shape;7127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28" name="Google Shape;7128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29" name="Google Shape;7129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0" name="Google Shape;7130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1" name="Google Shape;7131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2" name="Google Shape;7132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3" name="Google Shape;7133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4" name="Google Shape;7134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35" name="Google Shape;7135;p72"/>
                          <p:cNvCxnSpPr>
                            <a:endCxn id="713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36" name="Google Shape;7136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37" name="Google Shape;7137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138" name="Google Shape;7138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9" name="Google Shape;7139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40" name="Google Shape;7140;p7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41" name="Google Shape;7141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42" name="Google Shape;7142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3" name="Google Shape;7143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4" name="Google Shape;7144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5" name="Google Shape;7145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6" name="Google Shape;7146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7" name="Google Shape;7147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8" name="Google Shape;7148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49" name="Google Shape;7149;p72"/>
                          <p:cNvCxnSpPr>
                            <a:endCxn id="714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50" name="Google Shape;7150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51" name="Google Shape;7151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52" name="Google Shape;7152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53" name="Google Shape;7153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154" name="Google Shape;7154;p72"/>
                      <p:cNvCxnSpPr>
                        <a:stCxn id="710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155" name="Google Shape;7155;p7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156" name="Google Shape;7156;p72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7157" name="Google Shape;7157;p72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7158" name="Google Shape;7158;p72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7159" name="Google Shape;7159;p72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160" name="Google Shape;7160;p72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7161" name="Google Shape;7161;p72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7162" name="Google Shape;7162;p7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63" name="Google Shape;7163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64" name="Google Shape;7164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5" name="Google Shape;7165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6" name="Google Shape;7166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7" name="Google Shape;7167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8" name="Google Shape;7168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9" name="Google Shape;7169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70" name="Google Shape;7170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71" name="Google Shape;7171;p72"/>
                          <p:cNvCxnSpPr>
                            <a:endCxn id="716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72" name="Google Shape;7172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73" name="Google Shape;7173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74" name="Google Shape;7174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75" name="Google Shape;7175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76" name="Google Shape;7176;p7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77" name="Google Shape;7177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78" name="Google Shape;7178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79" name="Google Shape;7179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0" name="Google Shape;7180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1" name="Google Shape;7181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2" name="Google Shape;7182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3" name="Google Shape;7183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4" name="Google Shape;7184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85" name="Google Shape;7185;p72"/>
                          <p:cNvCxnSpPr>
                            <a:endCxn id="718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86" name="Google Shape;7186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87" name="Google Shape;7187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88" name="Google Shape;7188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9" name="Google Shape;7189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90" name="Google Shape;7190;p7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91" name="Google Shape;7191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92" name="Google Shape;7192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3" name="Google Shape;7193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4" name="Google Shape;7194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5" name="Google Shape;7195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6" name="Google Shape;7196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7" name="Google Shape;7197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8" name="Google Shape;7198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99" name="Google Shape;7199;p72"/>
                          <p:cNvCxnSpPr>
                            <a:endCxn id="719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00" name="Google Shape;7200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01" name="Google Shape;7201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202" name="Google Shape;7202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3" name="Google Shape;7203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04" name="Google Shape;7204;p7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05" name="Google Shape;7205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06" name="Google Shape;7206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7" name="Google Shape;7207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8" name="Google Shape;7208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9" name="Google Shape;7209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0" name="Google Shape;7210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1" name="Google Shape;7211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2" name="Google Shape;7212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13" name="Google Shape;7213;p72"/>
                          <p:cNvCxnSpPr>
                            <a:endCxn id="720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14" name="Google Shape;7214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15" name="Google Shape;7215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16" name="Google Shape;7216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7" name="Google Shape;7217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218" name="Google Shape;7218;p72"/>
                      <p:cNvCxnSpPr>
                        <a:stCxn id="7175" idx="2"/>
                        <a:endCxn id="7189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19" name="Google Shape;7219;p72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20" name="Google Shape;7220;p72"/>
                      <p:cNvCxnSpPr>
                        <a:stCxn id="716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21" name="Google Shape;7221;p7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22" name="Google Shape;7222;p72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7223" name="Google Shape;7223;p72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7224" name="Google Shape;7224;p72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7225" name="Google Shape;7225;p72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7226" name="Google Shape;7226;p72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7227" name="Google Shape;7227;p72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7228" name="Google Shape;7228;p7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29" name="Google Shape;7229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30" name="Google Shape;7230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1" name="Google Shape;7231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2" name="Google Shape;7232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3" name="Google Shape;7233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4" name="Google Shape;7234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5" name="Google Shape;7235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6" name="Google Shape;7236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37" name="Google Shape;7237;p72"/>
                          <p:cNvCxnSpPr>
                            <a:endCxn id="723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38" name="Google Shape;7238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39" name="Google Shape;7239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40" name="Google Shape;7240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1" name="Google Shape;7241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42" name="Google Shape;7242;p7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43" name="Google Shape;7243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44" name="Google Shape;7244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5" name="Google Shape;7245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6" name="Google Shape;7246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7" name="Google Shape;7247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8" name="Google Shape;7248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9" name="Google Shape;7249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50" name="Google Shape;7250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51" name="Google Shape;7251;p72"/>
                          <p:cNvCxnSpPr>
                            <a:endCxn id="724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52" name="Google Shape;7252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53" name="Google Shape;7253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54" name="Google Shape;7254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55" name="Google Shape;7255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56" name="Google Shape;7256;p7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57" name="Google Shape;7257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58" name="Google Shape;7258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59" name="Google Shape;7259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0" name="Google Shape;7260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1" name="Google Shape;7261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2" name="Google Shape;7262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3" name="Google Shape;7263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4" name="Google Shape;7264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65" name="Google Shape;7265;p72"/>
                          <p:cNvCxnSpPr>
                            <a:endCxn id="726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66" name="Google Shape;7266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67" name="Google Shape;7267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268" name="Google Shape;7268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9" name="Google Shape;7269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70" name="Google Shape;7270;p7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71" name="Google Shape;7271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72" name="Google Shape;7272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3" name="Google Shape;7273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4" name="Google Shape;7274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5" name="Google Shape;7275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6" name="Google Shape;7276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7" name="Google Shape;7277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8" name="Google Shape;7278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79" name="Google Shape;7279;p72"/>
                          <p:cNvCxnSpPr>
                            <a:endCxn id="727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80" name="Google Shape;7280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81" name="Google Shape;7281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82" name="Google Shape;7282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83" name="Google Shape;7283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284" name="Google Shape;7284;p72"/>
                      <p:cNvCxnSpPr>
                        <a:stCxn id="723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85" name="Google Shape;7285;p7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86" name="Google Shape;7286;p72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87" name="Google Shape;7287;p72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7288" name="Google Shape;7288;p72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7289" name="Google Shape;7289;p72"/>
                  <p:cNvCxnSpPr>
                    <a:stCxn id="7153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7290" name="Google Shape;7290;p72"/>
                <p:cNvCxnSpPr>
                  <a:stCxn id="7130" idx="5"/>
                  <a:endCxn id="7217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291" name="Google Shape;7291;p72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292" name="Google Shape;7292;p72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293" name="Google Shape;7293;p72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294" name="Google Shape;7294;p72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295" name="Google Shape;7295;p72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6" name="Google Shape;7296;p72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7" name="Google Shape;7297;p72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8" name="Google Shape;7298;p72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9" name="Google Shape;7299;p72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300" name="Google Shape;7300;p72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301" name="Google Shape;7301;p72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7302" name="Google Shape;7302;p72"/>
                    <p:cNvCxnSpPr>
                      <a:endCxn id="7297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7303" name="Google Shape;7303;p72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7304" name="Google Shape;7304;p72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305" name="Google Shape;7305;p72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306" name="Google Shape;7306;p72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7307" name="Google Shape;7307;p72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7308" name="Google Shape;7308;p72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309" name="Google Shape;7309;p72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Hot potato routing</a:t>
            </a:r>
            <a:endParaRPr/>
          </a:p>
        </p:txBody>
      </p:sp>
      <p:sp>
        <p:nvSpPr>
          <p:cNvPr id="7310" name="Google Shape;7310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1" name="Google Shape;7311;p72"/>
          <p:cNvSpPr txBox="1"/>
          <p:nvPr/>
        </p:nvSpPr>
        <p:spPr>
          <a:xfrm>
            <a:off x="1102290" y="4634378"/>
            <a:ext cx="10809962" cy="1866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2d learns (via iBGP) it can route to X via 2a or 2c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hot potato routing: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choose local gateway that has least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intra-domain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 (e.g., 2d chooses 2a, even though more AS hops to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): don’t worry about inter-domain cost!</a:t>
            </a:r>
            <a:endParaRPr b="0" i="0" sz="2800" u="none" cap="none" strike="noStrike">
              <a:solidFill>
                <a:srgbClr val="2121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12" name="Google Shape;7312;p72"/>
          <p:cNvCxnSpPr/>
          <p:nvPr/>
        </p:nvCxnSpPr>
        <p:spPr>
          <a:xfrm rot="10800000">
            <a:off x="6000873" y="3328637"/>
            <a:ext cx="424979" cy="441697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A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313" name="Google Shape;7313;p72"/>
          <p:cNvGrpSpPr/>
          <p:nvPr/>
        </p:nvGrpSpPr>
        <p:grpSpPr>
          <a:xfrm>
            <a:off x="7095664" y="2270946"/>
            <a:ext cx="880328" cy="893287"/>
            <a:chOff x="5705275" y="2274698"/>
            <a:chExt cx="880328" cy="893287"/>
          </a:xfrm>
        </p:grpSpPr>
        <p:sp>
          <p:nvSpPr>
            <p:cNvPr id="7314" name="Google Shape;7314;p72"/>
            <p:cNvSpPr/>
            <p:nvPr/>
          </p:nvSpPr>
          <p:spPr>
            <a:xfrm rot="-2370343">
              <a:off x="5705376" y="2487543"/>
              <a:ext cx="768350" cy="276226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5" name="Google Shape;7315;p72"/>
            <p:cNvSpPr txBox="1"/>
            <p:nvPr/>
          </p:nvSpPr>
          <p:spPr>
            <a:xfrm>
              <a:off x="5848435" y="2887139"/>
              <a:ext cx="737168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AS3,X </a:t>
              </a:r>
              <a:endParaRPr/>
            </a:p>
          </p:txBody>
        </p:sp>
      </p:grpSp>
      <p:grpSp>
        <p:nvGrpSpPr>
          <p:cNvPr id="7316" name="Google Shape;7316;p72"/>
          <p:cNvGrpSpPr/>
          <p:nvPr/>
        </p:nvGrpSpPr>
        <p:grpSpPr>
          <a:xfrm>
            <a:off x="2970239" y="2493000"/>
            <a:ext cx="1366999" cy="725753"/>
            <a:chOff x="2143521" y="2484227"/>
            <a:chExt cx="1366999" cy="725753"/>
          </a:xfrm>
        </p:grpSpPr>
        <p:sp>
          <p:nvSpPr>
            <p:cNvPr id="7317" name="Google Shape;7317;p72"/>
            <p:cNvSpPr txBox="1"/>
            <p:nvPr/>
          </p:nvSpPr>
          <p:spPr>
            <a:xfrm>
              <a:off x="2143521" y="2929134"/>
              <a:ext cx="1126397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AS1,AS3,X </a:t>
              </a:r>
              <a:endParaRPr/>
            </a:p>
          </p:txBody>
        </p:sp>
        <p:sp>
          <p:nvSpPr>
            <p:cNvPr id="7318" name="Google Shape;7318;p72"/>
            <p:cNvSpPr/>
            <p:nvPr/>
          </p:nvSpPr>
          <p:spPr>
            <a:xfrm rot="-8624927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9" name="Google Shape;7319;p72"/>
          <p:cNvSpPr txBox="1"/>
          <p:nvPr/>
        </p:nvSpPr>
        <p:spPr>
          <a:xfrm>
            <a:off x="6375649" y="3642958"/>
            <a:ext cx="186090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OSPF link weights</a:t>
            </a:r>
            <a:endParaRPr/>
          </a:p>
        </p:txBody>
      </p:sp>
      <p:sp>
        <p:nvSpPr>
          <p:cNvPr id="7320" name="Google Shape;7320;p72"/>
          <p:cNvSpPr txBox="1"/>
          <p:nvPr/>
        </p:nvSpPr>
        <p:spPr>
          <a:xfrm>
            <a:off x="5162685" y="3108488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1" name="Google Shape;7321;p72"/>
          <p:cNvSpPr txBox="1"/>
          <p:nvPr/>
        </p:nvSpPr>
        <p:spPr>
          <a:xfrm>
            <a:off x="5952201" y="2502930"/>
            <a:ext cx="46948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2" name="Google Shape;7322;p72"/>
          <p:cNvSpPr txBox="1"/>
          <p:nvPr/>
        </p:nvSpPr>
        <p:spPr>
          <a:xfrm>
            <a:off x="5702048" y="3095306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263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3" name="Google Shape;7323;p72"/>
          <p:cNvSpPr/>
          <p:nvPr/>
        </p:nvSpPr>
        <p:spPr>
          <a:xfrm>
            <a:off x="5334000" y="3352800"/>
            <a:ext cx="720436" cy="678873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7" name="Shape 7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8" name="Google Shape;7328;p73"/>
          <p:cNvSpPr txBox="1"/>
          <p:nvPr>
            <p:ph type="title"/>
          </p:nvPr>
        </p:nvSpPr>
        <p:spPr>
          <a:xfrm>
            <a:off x="838200" y="389191"/>
            <a:ext cx="1089868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BGP: achieving policy via advertisements</a:t>
            </a:r>
            <a:endParaRPr/>
          </a:p>
        </p:txBody>
      </p:sp>
      <p:sp>
        <p:nvSpPr>
          <p:cNvPr id="7329" name="Google Shape;7329;p73"/>
          <p:cNvSpPr txBox="1"/>
          <p:nvPr>
            <p:ph idx="12" type="sldNum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0" name="Google Shape;7330;p73"/>
          <p:cNvSpPr/>
          <p:nvPr/>
        </p:nvSpPr>
        <p:spPr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1" name="Google Shape;7331;p73"/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7332" name="Google Shape;7332;p73"/>
            <p:cNvSpPr/>
            <p:nvPr/>
          </p:nvSpPr>
          <p:spPr>
            <a:xfrm>
              <a:off x="3983668" y="1440907"/>
              <a:ext cx="893763" cy="577850"/>
            </a:xfrm>
            <a:custGeom>
              <a:rect b="b" l="l" r="r" t="t"/>
              <a:pathLst>
                <a:path extrusionOk="0" h="364" w="563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3" name="Google Shape;7333;p73"/>
            <p:cNvSpPr/>
            <p:nvPr/>
          </p:nvSpPr>
          <p:spPr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cxnSp>
        <p:nvCxnSpPr>
          <p:cNvPr id="7334" name="Google Shape;7334;p73"/>
          <p:cNvCxnSpPr/>
          <p:nvPr/>
        </p:nvCxnSpPr>
        <p:spPr>
          <a:xfrm>
            <a:off x="4877431" y="1734594"/>
            <a:ext cx="665163" cy="276225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5" name="Google Shape;7335;p73"/>
          <p:cNvCxnSpPr/>
          <p:nvPr/>
        </p:nvCxnSpPr>
        <p:spPr>
          <a:xfrm flipH="1" rot="10800000">
            <a:off x="4920293" y="2117182"/>
            <a:ext cx="669925" cy="566738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6" name="Google Shape;7336;p73"/>
          <p:cNvCxnSpPr/>
          <p:nvPr/>
        </p:nvCxnSpPr>
        <p:spPr>
          <a:xfrm flipH="1" rot="10800000">
            <a:off x="3791581" y="1874294"/>
            <a:ext cx="290513" cy="23495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7" name="Google Shape;7337;p73"/>
          <p:cNvCxnSpPr/>
          <p:nvPr/>
        </p:nvCxnSpPr>
        <p:spPr>
          <a:xfrm rot="10800000">
            <a:off x="4664705" y="2002882"/>
            <a:ext cx="1423" cy="538612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8" name="Google Shape;7338;p73"/>
          <p:cNvCxnSpPr/>
          <p:nvPr/>
        </p:nvCxnSpPr>
        <p:spPr>
          <a:xfrm>
            <a:off x="3816981" y="2428332"/>
            <a:ext cx="265113" cy="16510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339" name="Google Shape;7339;p73"/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7340" name="Google Shape;7340;p73"/>
            <p:cNvSpPr/>
            <p:nvPr/>
          </p:nvSpPr>
          <p:spPr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1" name="Google Shape;7341;p73"/>
            <p:cNvSpPr/>
            <p:nvPr/>
          </p:nvSpPr>
          <p:spPr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legend</a:t>
              </a:r>
              <a:r>
                <a:rPr b="1"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2" name="Google Shape;7342;p73"/>
            <p:cNvSpPr/>
            <p:nvPr/>
          </p:nvSpPr>
          <p:spPr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3" name="Google Shape;7343;p73"/>
            <p:cNvSpPr/>
            <p:nvPr/>
          </p:nvSpPr>
          <p:spPr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4" name="Google Shape;7344;p73"/>
            <p:cNvSpPr/>
            <p:nvPr/>
          </p:nvSpPr>
          <p:spPr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customer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5" name="Google Shape;7345;p73"/>
            <p:cNvSpPr/>
            <p:nvPr/>
          </p:nvSpPr>
          <p:spPr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network: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6" name="Google Shape;7346;p73"/>
            <p:cNvSpPr/>
            <p:nvPr/>
          </p:nvSpPr>
          <p:spPr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7" name="Google Shape;7347;p73"/>
            <p:cNvSpPr/>
            <p:nvPr/>
          </p:nvSpPr>
          <p:spPr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8" name="Google Shape;7348;p73"/>
            <p:cNvSpPr/>
            <p:nvPr/>
          </p:nvSpPr>
          <p:spPr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9" name="Google Shape;7349;p73"/>
            <p:cNvSpPr/>
            <p:nvPr/>
          </p:nvSpPr>
          <p:spPr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0" name="Google Shape;7350;p73"/>
            <p:cNvSpPr/>
            <p:nvPr/>
          </p:nvSpPr>
          <p:spPr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1" name="Google Shape;7351;p73"/>
            <p:cNvSpPr/>
            <p:nvPr/>
          </p:nvSpPr>
          <p:spPr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2" name="Google Shape;7352;p73"/>
            <p:cNvSpPr/>
            <p:nvPr/>
          </p:nvSpPr>
          <p:spPr>
            <a:xfrm>
              <a:off x="7392031" y="1673839"/>
              <a:ext cx="893763" cy="574675"/>
            </a:xfrm>
            <a:custGeom>
              <a:rect b="b" l="l" r="r" t="t"/>
              <a:pathLst>
                <a:path extrusionOk="0" h="362" w="563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3" name="Google Shape;7353;p73"/>
            <p:cNvSpPr/>
            <p:nvPr/>
          </p:nvSpPr>
          <p:spPr>
            <a:xfrm>
              <a:off x="7892093" y="2631101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54" name="Google Shape;7354;p73"/>
          <p:cNvSpPr/>
          <p:nvPr/>
        </p:nvSpPr>
        <p:spPr>
          <a:xfrm>
            <a:off x="1181100" y="3581400"/>
            <a:ext cx="6401562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5" name="Google Shape;7355;p73"/>
          <p:cNvSpPr/>
          <p:nvPr/>
        </p:nvSpPr>
        <p:spPr>
          <a:xfrm>
            <a:off x="1107929" y="4358794"/>
            <a:ext cx="10802636" cy="205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advertises path Aw to B and to 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chooses not to advertise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BAw to C!  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gets no “revenue” for routing CBAw, since none of  C, A, w are B’s customers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does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learn about CBAw path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will route CAw (not using B) to get to w</a:t>
            </a:r>
            <a:endParaRPr/>
          </a:p>
        </p:txBody>
      </p:sp>
      <p:sp>
        <p:nvSpPr>
          <p:cNvPr id="7356" name="Google Shape;7356;p73"/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ISP only wants to route traffic to/from its customer networks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(does not want to carry transit traffic between other ISPs – a typical “real world” policy)</a:t>
            </a:r>
            <a:endParaRPr/>
          </a:p>
        </p:txBody>
      </p:sp>
      <p:cxnSp>
        <p:nvCxnSpPr>
          <p:cNvPr id="7357" name="Google Shape;7357;p73"/>
          <p:cNvCxnSpPr/>
          <p:nvPr/>
        </p:nvCxnSpPr>
        <p:spPr>
          <a:xfrm rot="10800000">
            <a:off x="2407023" y="22322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58" name="Google Shape;7358;p73"/>
          <p:cNvSpPr/>
          <p:nvPr/>
        </p:nvSpPr>
        <p:spPr>
          <a:xfrm>
            <a:off x="2143756" y="2044157"/>
            <a:ext cx="346075" cy="341313"/>
          </a:xfrm>
          <a:custGeom>
            <a:rect b="b" l="l" r="r" t="t"/>
            <a:pathLst>
              <a:path extrusionOk="0" h="215" w="218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9" name="Google Shape;7359;p73"/>
          <p:cNvSpPr/>
          <p:nvPr/>
        </p:nvSpPr>
        <p:spPr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0" name="Google Shape;7360;p73"/>
          <p:cNvSpPr/>
          <p:nvPr/>
        </p:nvSpPr>
        <p:spPr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61" name="Google Shape;7361;p73"/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7362" name="Google Shape;7362;p73"/>
            <p:cNvSpPr/>
            <p:nvPr/>
          </p:nvSpPr>
          <p:spPr>
            <a:xfrm>
              <a:off x="2950206" y="1990648"/>
              <a:ext cx="892175" cy="579438"/>
            </a:xfrm>
            <a:custGeom>
              <a:rect b="b" l="l" r="r" t="t"/>
              <a:pathLst>
                <a:path extrusionOk="0" h="365" w="562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3" name="Google Shape;7363;p73"/>
            <p:cNvSpPr/>
            <p:nvPr/>
          </p:nvSpPr>
          <p:spPr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cxnSp>
        <p:nvCxnSpPr>
          <p:cNvPr id="7364" name="Google Shape;7364;p73"/>
          <p:cNvCxnSpPr/>
          <p:nvPr/>
        </p:nvCxnSpPr>
        <p:spPr>
          <a:xfrm rot="10800000">
            <a:off x="4921623" y="28418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65" name="Google Shape;7365;p73"/>
          <p:cNvSpPr/>
          <p:nvPr/>
        </p:nvSpPr>
        <p:spPr>
          <a:xfrm>
            <a:off x="5503279" y="2665056"/>
            <a:ext cx="346075" cy="336550"/>
          </a:xfrm>
          <a:custGeom>
            <a:rect b="b" l="l" r="r" t="t"/>
            <a:pathLst>
              <a:path extrusionOk="0" h="212" w="218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6" name="Google Shape;7366;p73"/>
          <p:cNvSpPr/>
          <p:nvPr/>
        </p:nvSpPr>
        <p:spPr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67" name="Google Shape;7367;p73"/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7368" name="Google Shape;7368;p73"/>
            <p:cNvSpPr/>
            <p:nvPr/>
          </p:nvSpPr>
          <p:spPr>
            <a:xfrm>
              <a:off x="4043993" y="2436269"/>
              <a:ext cx="896938" cy="574675"/>
            </a:xfrm>
            <a:custGeom>
              <a:rect b="b" l="l" r="r" t="t"/>
              <a:pathLst>
                <a:path extrusionOk="0" h="362" w="565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9" name="Google Shape;7369;p73"/>
            <p:cNvSpPr/>
            <p:nvPr/>
          </p:nvSpPr>
          <p:spPr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7370" name="Google Shape;7370;p73"/>
            <p:cNvSpPr/>
            <p:nvPr/>
          </p:nvSpPr>
          <p:spPr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71" name="Google Shape;7371;p73"/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7372" name="Google Shape;7372;p73"/>
            <p:cNvSpPr/>
            <p:nvPr/>
          </p:nvSpPr>
          <p:spPr>
            <a:xfrm>
              <a:off x="5542593" y="1861594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3" name="Google Shape;7373;p73"/>
            <p:cNvSpPr/>
            <p:nvPr/>
          </p:nvSpPr>
          <p:spPr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grpSp>
        <p:nvGrpSpPr>
          <p:cNvPr id="7374" name="Google Shape;7374;p73"/>
          <p:cNvGrpSpPr/>
          <p:nvPr/>
        </p:nvGrpSpPr>
        <p:grpSpPr>
          <a:xfrm>
            <a:off x="3351904" y="2513644"/>
            <a:ext cx="742613" cy="487557"/>
            <a:chOff x="2552896" y="2671126"/>
            <a:chExt cx="742613" cy="487557"/>
          </a:xfrm>
        </p:grpSpPr>
        <p:sp>
          <p:nvSpPr>
            <p:cNvPr id="7375" name="Google Shape;7375;p73"/>
            <p:cNvSpPr txBox="1"/>
            <p:nvPr/>
          </p:nvSpPr>
          <p:spPr>
            <a:xfrm>
              <a:off x="2552896" y="2883223"/>
              <a:ext cx="484428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A,w</a:t>
              </a:r>
              <a:endParaRPr b="0" i="1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6" name="Google Shape;7376;p73"/>
            <p:cNvSpPr/>
            <p:nvPr/>
          </p:nvSpPr>
          <p:spPr>
            <a:xfrm rot="-8624927">
              <a:off x="2824952" y="2786969"/>
              <a:ext cx="456394" cy="197302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77" name="Google Shape;7377;p73"/>
          <p:cNvGrpSpPr/>
          <p:nvPr/>
        </p:nvGrpSpPr>
        <p:grpSpPr>
          <a:xfrm>
            <a:off x="3297703" y="1578748"/>
            <a:ext cx="735306" cy="453401"/>
            <a:chOff x="2656196" y="2854042"/>
            <a:chExt cx="735306" cy="453401"/>
          </a:xfrm>
        </p:grpSpPr>
        <p:sp>
          <p:nvSpPr>
            <p:cNvPr id="7378" name="Google Shape;7378;p73"/>
            <p:cNvSpPr txBox="1"/>
            <p:nvPr/>
          </p:nvSpPr>
          <p:spPr>
            <a:xfrm>
              <a:off x="2656196" y="2871746"/>
              <a:ext cx="484428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A,w</a:t>
              </a:r>
              <a:endParaRPr b="0" i="1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9" name="Google Shape;7379;p73"/>
            <p:cNvSpPr/>
            <p:nvPr/>
          </p:nvSpPr>
          <p:spPr>
            <a:xfrm rot="8256763">
              <a:off x="2928253" y="2982091"/>
              <a:ext cx="456394" cy="197302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3" name="Shape 7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4" name="Google Shape;7384;p74"/>
          <p:cNvSpPr txBox="1"/>
          <p:nvPr>
            <p:ph type="title"/>
          </p:nvPr>
        </p:nvSpPr>
        <p:spPr>
          <a:xfrm>
            <a:off x="838200" y="389191"/>
            <a:ext cx="1124941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BGP: achieving policy via advertisements </a:t>
            </a:r>
            <a:r>
              <a:rPr lang="en-US" sz="4000"/>
              <a:t>(more)</a:t>
            </a:r>
            <a:endParaRPr/>
          </a:p>
        </p:txBody>
      </p:sp>
      <p:sp>
        <p:nvSpPr>
          <p:cNvPr id="7385" name="Google Shape;7385;p74"/>
          <p:cNvSpPr txBox="1"/>
          <p:nvPr>
            <p:ph idx="12" type="sldNum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6" name="Google Shape;7386;p74"/>
          <p:cNvSpPr/>
          <p:nvPr/>
        </p:nvSpPr>
        <p:spPr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87" name="Google Shape;7387;p74"/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7388" name="Google Shape;7388;p74"/>
            <p:cNvSpPr/>
            <p:nvPr/>
          </p:nvSpPr>
          <p:spPr>
            <a:xfrm>
              <a:off x="3983668" y="1440907"/>
              <a:ext cx="893763" cy="577850"/>
            </a:xfrm>
            <a:custGeom>
              <a:rect b="b" l="l" r="r" t="t"/>
              <a:pathLst>
                <a:path extrusionOk="0" h="364" w="563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9" name="Google Shape;7389;p74"/>
            <p:cNvSpPr/>
            <p:nvPr/>
          </p:nvSpPr>
          <p:spPr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cxnSp>
        <p:nvCxnSpPr>
          <p:cNvPr id="7390" name="Google Shape;7390;p74"/>
          <p:cNvCxnSpPr/>
          <p:nvPr/>
        </p:nvCxnSpPr>
        <p:spPr>
          <a:xfrm>
            <a:off x="4877431" y="1734594"/>
            <a:ext cx="665163" cy="276225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1" name="Google Shape;7391;p74"/>
          <p:cNvCxnSpPr/>
          <p:nvPr/>
        </p:nvCxnSpPr>
        <p:spPr>
          <a:xfrm flipH="1" rot="10800000">
            <a:off x="4920293" y="2117182"/>
            <a:ext cx="669925" cy="566738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2" name="Google Shape;7392;p74"/>
          <p:cNvCxnSpPr/>
          <p:nvPr/>
        </p:nvCxnSpPr>
        <p:spPr>
          <a:xfrm flipH="1" rot="10800000">
            <a:off x="3791581" y="1874294"/>
            <a:ext cx="290513" cy="23495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3" name="Google Shape;7393;p74"/>
          <p:cNvCxnSpPr/>
          <p:nvPr/>
        </p:nvCxnSpPr>
        <p:spPr>
          <a:xfrm rot="10800000">
            <a:off x="4664705" y="2002882"/>
            <a:ext cx="1423" cy="538612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4" name="Google Shape;7394;p74"/>
          <p:cNvCxnSpPr/>
          <p:nvPr/>
        </p:nvCxnSpPr>
        <p:spPr>
          <a:xfrm>
            <a:off x="3816981" y="2428332"/>
            <a:ext cx="265113" cy="16510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5" name="Google Shape;7395;p74"/>
          <p:cNvSpPr/>
          <p:nvPr/>
        </p:nvSpPr>
        <p:spPr>
          <a:xfrm>
            <a:off x="1181100" y="3581400"/>
            <a:ext cx="6401562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6" name="Google Shape;7396;p74"/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ISP only wants to route traffic to/from its customer networks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(does not want to carry transit traffic between other ISPs – a typical “real world” policy)</a:t>
            </a:r>
            <a:endParaRPr/>
          </a:p>
        </p:txBody>
      </p:sp>
      <p:cxnSp>
        <p:nvCxnSpPr>
          <p:cNvPr id="7397" name="Google Shape;7397;p74"/>
          <p:cNvCxnSpPr/>
          <p:nvPr/>
        </p:nvCxnSpPr>
        <p:spPr>
          <a:xfrm rot="10800000">
            <a:off x="2407023" y="22322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98" name="Google Shape;7398;p74"/>
          <p:cNvSpPr/>
          <p:nvPr/>
        </p:nvSpPr>
        <p:spPr>
          <a:xfrm>
            <a:off x="2143756" y="2044157"/>
            <a:ext cx="346075" cy="341313"/>
          </a:xfrm>
          <a:custGeom>
            <a:rect b="b" l="l" r="r" t="t"/>
            <a:pathLst>
              <a:path extrusionOk="0" h="215" w="218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9" name="Google Shape;7399;p74"/>
          <p:cNvSpPr/>
          <p:nvPr/>
        </p:nvSpPr>
        <p:spPr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0" name="Google Shape;7400;p74"/>
          <p:cNvSpPr/>
          <p:nvPr/>
        </p:nvSpPr>
        <p:spPr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1" name="Google Shape;7401;p74"/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7402" name="Google Shape;7402;p74"/>
            <p:cNvSpPr/>
            <p:nvPr/>
          </p:nvSpPr>
          <p:spPr>
            <a:xfrm>
              <a:off x="2950206" y="1990648"/>
              <a:ext cx="892175" cy="579438"/>
            </a:xfrm>
            <a:custGeom>
              <a:rect b="b" l="l" r="r" t="t"/>
              <a:pathLst>
                <a:path extrusionOk="0" h="365" w="562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3" name="Google Shape;7403;p74"/>
            <p:cNvSpPr/>
            <p:nvPr/>
          </p:nvSpPr>
          <p:spPr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cxnSp>
        <p:nvCxnSpPr>
          <p:cNvPr id="7404" name="Google Shape;7404;p74"/>
          <p:cNvCxnSpPr/>
          <p:nvPr/>
        </p:nvCxnSpPr>
        <p:spPr>
          <a:xfrm rot="10800000">
            <a:off x="4921623" y="28418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05" name="Google Shape;7405;p74"/>
          <p:cNvSpPr/>
          <p:nvPr/>
        </p:nvSpPr>
        <p:spPr>
          <a:xfrm>
            <a:off x="5503279" y="2665056"/>
            <a:ext cx="346075" cy="336550"/>
          </a:xfrm>
          <a:custGeom>
            <a:rect b="b" l="l" r="r" t="t"/>
            <a:pathLst>
              <a:path extrusionOk="0" h="212" w="218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6" name="Google Shape;7406;p74"/>
          <p:cNvSpPr/>
          <p:nvPr/>
        </p:nvSpPr>
        <p:spPr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7" name="Google Shape;7407;p74"/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7408" name="Google Shape;7408;p74"/>
            <p:cNvSpPr/>
            <p:nvPr/>
          </p:nvSpPr>
          <p:spPr>
            <a:xfrm>
              <a:off x="4043993" y="2436269"/>
              <a:ext cx="896938" cy="574675"/>
            </a:xfrm>
            <a:custGeom>
              <a:rect b="b" l="l" r="r" t="t"/>
              <a:pathLst>
                <a:path extrusionOk="0" h="362" w="565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9" name="Google Shape;7409;p74"/>
            <p:cNvSpPr/>
            <p:nvPr/>
          </p:nvSpPr>
          <p:spPr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7410" name="Google Shape;7410;p74"/>
            <p:cNvSpPr/>
            <p:nvPr/>
          </p:nvSpPr>
          <p:spPr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11" name="Google Shape;7411;p74"/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7412" name="Google Shape;7412;p74"/>
            <p:cNvSpPr/>
            <p:nvPr/>
          </p:nvSpPr>
          <p:spPr>
            <a:xfrm>
              <a:off x="5542593" y="1861594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3" name="Google Shape;7413;p74"/>
            <p:cNvSpPr/>
            <p:nvPr/>
          </p:nvSpPr>
          <p:spPr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sp>
        <p:nvSpPr>
          <p:cNvPr id="7414" name="Google Shape;7414;p74"/>
          <p:cNvSpPr/>
          <p:nvPr/>
        </p:nvSpPr>
        <p:spPr>
          <a:xfrm>
            <a:off x="1734926" y="4425878"/>
            <a:ext cx="8229600" cy="205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A,B,C are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provider networks</a:t>
            </a:r>
            <a:endParaRPr/>
          </a:p>
          <a:p>
            <a:pPr indent="-282575" lvl="0" marL="282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x,w,y are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(of provider networks)</a:t>
            </a:r>
            <a:endParaRPr/>
          </a:p>
          <a:p>
            <a:pPr indent="-282575" lvl="0" marL="282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is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dual-homed: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attached to two networks</a:t>
            </a:r>
            <a:endParaRPr/>
          </a:p>
          <a:p>
            <a:pPr indent="-228600" lvl="0" marL="2286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policy to enforce: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does not want to route from B to C via x 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so x will not advertise to B a route to C</a:t>
            </a:r>
            <a:endParaRPr/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7415" name="Google Shape;7415;p74"/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7416" name="Google Shape;7416;p74"/>
            <p:cNvSpPr/>
            <p:nvPr/>
          </p:nvSpPr>
          <p:spPr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7" name="Google Shape;7417;p74"/>
            <p:cNvSpPr/>
            <p:nvPr/>
          </p:nvSpPr>
          <p:spPr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legend</a:t>
              </a:r>
              <a:r>
                <a:rPr b="1"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8" name="Google Shape;7418;p74"/>
            <p:cNvSpPr/>
            <p:nvPr/>
          </p:nvSpPr>
          <p:spPr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9" name="Google Shape;7419;p74"/>
            <p:cNvSpPr/>
            <p:nvPr/>
          </p:nvSpPr>
          <p:spPr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0" name="Google Shape;7420;p74"/>
            <p:cNvSpPr/>
            <p:nvPr/>
          </p:nvSpPr>
          <p:spPr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customer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1" name="Google Shape;7421;p74"/>
            <p:cNvSpPr/>
            <p:nvPr/>
          </p:nvSpPr>
          <p:spPr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network: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2" name="Google Shape;7422;p74"/>
            <p:cNvSpPr/>
            <p:nvPr/>
          </p:nvSpPr>
          <p:spPr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3" name="Google Shape;7423;p74"/>
            <p:cNvSpPr/>
            <p:nvPr/>
          </p:nvSpPr>
          <p:spPr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4" name="Google Shape;7424;p74"/>
            <p:cNvSpPr/>
            <p:nvPr/>
          </p:nvSpPr>
          <p:spPr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5" name="Google Shape;7425;p74"/>
            <p:cNvSpPr/>
            <p:nvPr/>
          </p:nvSpPr>
          <p:spPr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6" name="Google Shape;7426;p74"/>
            <p:cNvSpPr/>
            <p:nvPr/>
          </p:nvSpPr>
          <p:spPr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7" name="Google Shape;7427;p74"/>
            <p:cNvSpPr/>
            <p:nvPr/>
          </p:nvSpPr>
          <p:spPr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8" name="Google Shape;7428;p74"/>
            <p:cNvSpPr/>
            <p:nvPr/>
          </p:nvSpPr>
          <p:spPr>
            <a:xfrm>
              <a:off x="7392031" y="1673839"/>
              <a:ext cx="893763" cy="574675"/>
            </a:xfrm>
            <a:custGeom>
              <a:rect b="b" l="l" r="r" t="t"/>
              <a:pathLst>
                <a:path extrusionOk="0" h="362" w="563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9" name="Google Shape;7429;p74"/>
            <p:cNvSpPr/>
            <p:nvPr/>
          </p:nvSpPr>
          <p:spPr>
            <a:xfrm>
              <a:off x="7892093" y="2631101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30" name="Google Shape;7430;p74"/>
          <p:cNvSpPr/>
          <p:nvPr/>
        </p:nvSpPr>
        <p:spPr>
          <a:xfrm>
            <a:off x="5361709" y="1704109"/>
            <a:ext cx="720436" cy="678873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4" name="Shape 7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5" name="Google Shape;7435;p75"/>
          <p:cNvSpPr txBox="1"/>
          <p:nvPr>
            <p:ph idx="1" type="body"/>
          </p:nvPr>
        </p:nvSpPr>
        <p:spPr>
          <a:xfrm>
            <a:off x="813148" y="157371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6075" lvl="0" marL="3460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router may learn about more than one route to destination AS, selects route based on: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local preference value attribute: policy decision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shortest AS-PATH 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closest NEXT-HOP router: hot potato routing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additional criteria 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36" name="Google Shape;7436;p7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route selection</a:t>
            </a:r>
            <a:endParaRPr/>
          </a:p>
        </p:txBody>
      </p:sp>
      <p:sp>
        <p:nvSpPr>
          <p:cNvPr id="7437" name="Google Shape;7437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1" name="Shape 7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2" name="Google Shape;7442;p7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https://blog.cloudflare.com/october-2021-facebook-outage/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https://engineering.fb.com/2021/10/04/networking-traffic/outage/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https://engineering.fb.com/2021/10/05/networking-traffic/outage-details/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43" name="Google Shape;7443;p7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Facebook Outage on Oct/ 04/ 2021</a:t>
            </a:r>
            <a:endParaRPr/>
          </a:p>
        </p:txBody>
      </p:sp>
      <p:sp>
        <p:nvSpPr>
          <p:cNvPr id="7444" name="Google Shape;7444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9" name="Shape 7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0" name="Google Shape;7450;p7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7451" name="Google Shape;745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7452" name="Google Shape;7452;p77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3" name="Google Shape;7453;p77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4" name="Google Shape;7454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8" name="Shape 7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9" name="Google Shape;7459;p7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Internet network layer: historically implemented via distributed, per-router control approach</a:t>
            </a:r>
            <a:r>
              <a:rPr lang="en-US"/>
              <a:t>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i="1" lang="en-US" sz="2800">
                <a:solidFill>
                  <a:srgbClr val="000090"/>
                </a:solidFill>
              </a:rPr>
              <a:t>monolithic</a:t>
            </a:r>
            <a:r>
              <a:rPr lang="en-US" sz="2800"/>
              <a:t> router contains switching hardware, runs proprietary implementation of Internet standard protocols (IP, RIP, IS-IS, OSPF, BGP) in proprietary router OS (e.g., Cisco IOS)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different “middleboxes” for different network layer functions: firewalls, load balancers, NAT boxes, ..</a:t>
            </a:r>
            <a:endParaRPr/>
          </a:p>
          <a:p>
            <a:pPr indent="-29051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~2005: renewed interest in rethinking network control plane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60" name="Google Shape;7460;p7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7461" name="Google Shape;7461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6" name="Shape 7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7" name="Google Shape;7467;p79"/>
          <p:cNvSpPr txBox="1"/>
          <p:nvPr>
            <p:ph type="title"/>
          </p:nvPr>
        </p:nvSpPr>
        <p:spPr>
          <a:xfrm>
            <a:off x="838200" y="27954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Per-router control plane</a:t>
            </a:r>
            <a:endParaRPr/>
          </a:p>
        </p:txBody>
      </p:sp>
      <p:sp>
        <p:nvSpPr>
          <p:cNvPr id="7468" name="Google Shape;7468;p79"/>
          <p:cNvSpPr txBox="1"/>
          <p:nvPr/>
        </p:nvSpPr>
        <p:spPr>
          <a:xfrm>
            <a:off x="780773" y="1101105"/>
            <a:ext cx="1110642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 routing algorithm components </a:t>
            </a:r>
            <a:r>
              <a:rPr b="0" i="1" lang="en-US" sz="32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in each and every router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 in the control plane to computer forwarding tables</a:t>
            </a:r>
            <a:endParaRPr/>
          </a:p>
        </p:txBody>
      </p:sp>
      <p:sp>
        <p:nvSpPr>
          <p:cNvPr id="7469" name="Google Shape;7469;p79"/>
          <p:cNvSpPr/>
          <p:nvPr/>
        </p:nvSpPr>
        <p:spPr>
          <a:xfrm>
            <a:off x="4182648" y="5476945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70" name="Google Shape;7470;p79"/>
          <p:cNvCxnSpPr/>
          <p:nvPr/>
        </p:nvCxnSpPr>
        <p:spPr>
          <a:xfrm flipH="1" rot="10800000">
            <a:off x="4812885" y="5629345"/>
            <a:ext cx="1316038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1" name="Google Shape;7471;p79"/>
          <p:cNvCxnSpPr/>
          <p:nvPr/>
        </p:nvCxnSpPr>
        <p:spPr>
          <a:xfrm>
            <a:off x="4701760" y="5815082"/>
            <a:ext cx="2259013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2" name="Google Shape;7472;p79"/>
          <p:cNvCxnSpPr/>
          <p:nvPr/>
        </p:nvCxnSpPr>
        <p:spPr>
          <a:xfrm>
            <a:off x="4714460" y="5921445"/>
            <a:ext cx="714375" cy="274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3" name="Google Shape;7473;p79"/>
          <p:cNvCxnSpPr/>
          <p:nvPr/>
        </p:nvCxnSpPr>
        <p:spPr>
          <a:xfrm flipH="1" rot="10800000">
            <a:off x="5732048" y="6115120"/>
            <a:ext cx="1247775" cy="809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4" name="Google Shape;7474;p79"/>
          <p:cNvCxnSpPr/>
          <p:nvPr/>
        </p:nvCxnSpPr>
        <p:spPr>
          <a:xfrm>
            <a:off x="6392448" y="5661095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5" name="Google Shape;7475;p79"/>
          <p:cNvCxnSpPr/>
          <p:nvPr/>
        </p:nvCxnSpPr>
        <p:spPr>
          <a:xfrm flipH="1" rot="10800000">
            <a:off x="5676485" y="5815082"/>
            <a:ext cx="1790700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6" name="Google Shape;7476;p79"/>
          <p:cNvCxnSpPr/>
          <p:nvPr/>
        </p:nvCxnSpPr>
        <p:spPr>
          <a:xfrm flipH="1" rot="10800000">
            <a:off x="7003635" y="5843657"/>
            <a:ext cx="588963" cy="2714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7" name="Google Shape;7477;p79"/>
          <p:cNvCxnSpPr/>
          <p:nvPr/>
        </p:nvCxnSpPr>
        <p:spPr>
          <a:xfrm>
            <a:off x="6146385" y="5629345"/>
            <a:ext cx="814388" cy="4000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478" name="Google Shape;7478;p79"/>
          <p:cNvGrpSpPr/>
          <p:nvPr/>
        </p:nvGrpSpPr>
        <p:grpSpPr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7479" name="Google Shape;7479;p79"/>
            <p:cNvSpPr/>
            <p:nvPr/>
          </p:nvSpPr>
          <p:spPr>
            <a:xfrm flipH="1" rot="10800000">
              <a:off x="1874455" y="1694641"/>
              <a:ext cx="1125193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0" name="Google Shape;7480;p79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1" name="Google Shape;7481;p79"/>
            <p:cNvSpPr/>
            <p:nvPr/>
          </p:nvSpPr>
          <p:spPr>
            <a:xfrm flipH="1" rot="10800000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2" name="Google Shape;7482;p79"/>
            <p:cNvSpPr/>
            <p:nvPr/>
          </p:nvSpPr>
          <p:spPr>
            <a:xfrm>
              <a:off x="2160521" y="1673339"/>
              <a:ext cx="546704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3" name="Google Shape;7483;p79"/>
            <p:cNvSpPr/>
            <p:nvPr/>
          </p:nvSpPr>
          <p:spPr>
            <a:xfrm>
              <a:off x="2103307" y="1633104"/>
              <a:ext cx="661131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4" name="Google Shape;7484;p79"/>
            <p:cNvSpPr/>
            <p:nvPr/>
          </p:nvSpPr>
          <p:spPr>
            <a:xfrm>
              <a:off x="2538765" y="1727776"/>
              <a:ext cx="241567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5" name="Google Shape;7485;p79"/>
            <p:cNvSpPr/>
            <p:nvPr/>
          </p:nvSpPr>
          <p:spPr>
            <a:xfrm>
              <a:off x="2090593" y="1730143"/>
              <a:ext cx="238389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86" name="Google Shape;7486;p79"/>
            <p:cNvCxnSpPr>
              <a:endCxn id="748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487" name="Google Shape;7487;p79"/>
            <p:cNvCxnSpPr/>
            <p:nvPr/>
          </p:nvCxnSpPr>
          <p:spPr>
            <a:xfrm rot="10800000">
              <a:off x="2996470" y="1734876"/>
              <a:ext cx="3178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488" name="Google Shape;7488;p79"/>
          <p:cNvGrpSpPr/>
          <p:nvPr/>
        </p:nvGrpSpPr>
        <p:grpSpPr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7489" name="Google Shape;7489;p79"/>
            <p:cNvSpPr/>
            <p:nvPr/>
          </p:nvSpPr>
          <p:spPr>
            <a:xfrm flipH="1" rot="10800000">
              <a:off x="1874446" y="1692905"/>
              <a:ext cx="1125202" cy="32125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0" name="Google Shape;7490;p79"/>
            <p:cNvSpPr/>
            <p:nvPr/>
          </p:nvSpPr>
          <p:spPr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1" name="Google Shape;7491;p79"/>
            <p:cNvSpPr/>
            <p:nvPr/>
          </p:nvSpPr>
          <p:spPr>
            <a:xfrm flipH="1" rot="10800000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2" name="Google Shape;7492;p79"/>
            <p:cNvSpPr/>
            <p:nvPr/>
          </p:nvSpPr>
          <p:spPr>
            <a:xfrm>
              <a:off x="2159708" y="1673868"/>
              <a:ext cx="548339" cy="159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3" name="Google Shape;7493;p79"/>
            <p:cNvSpPr/>
            <p:nvPr/>
          </p:nvSpPr>
          <p:spPr>
            <a:xfrm>
              <a:off x="2102655" y="1633412"/>
              <a:ext cx="662444" cy="111846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4" name="Google Shape;7494;p79"/>
            <p:cNvSpPr/>
            <p:nvPr/>
          </p:nvSpPr>
          <p:spPr>
            <a:xfrm>
              <a:off x="2536889" y="1728599"/>
              <a:ext cx="244057" cy="97568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5" name="Google Shape;7495;p79"/>
            <p:cNvSpPr/>
            <p:nvPr/>
          </p:nvSpPr>
          <p:spPr>
            <a:xfrm>
              <a:off x="2089977" y="1730980"/>
              <a:ext cx="240888" cy="95187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96" name="Google Shape;7496;p79"/>
            <p:cNvCxnSpPr>
              <a:endCxn id="7491" idx="2"/>
            </p:cNvCxnSpPr>
            <p:nvPr/>
          </p:nvCxnSpPr>
          <p:spPr>
            <a:xfrm rot="10800000">
              <a:off x="1871277" y="1736929"/>
              <a:ext cx="3300" cy="123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497" name="Google Shape;7497;p79"/>
            <p:cNvCxnSpPr/>
            <p:nvPr/>
          </p:nvCxnSpPr>
          <p:spPr>
            <a:xfrm rot="10800000">
              <a:off x="2996477" y="1733359"/>
              <a:ext cx="3171" cy="1237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498" name="Google Shape;7498;p79"/>
          <p:cNvGrpSpPr/>
          <p:nvPr/>
        </p:nvGrpSpPr>
        <p:grpSpPr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7499" name="Google Shape;7499;p79"/>
            <p:cNvSpPr/>
            <p:nvPr/>
          </p:nvSpPr>
          <p:spPr>
            <a:xfrm flipH="1" rot="10800000">
              <a:off x="1874457" y="1694641"/>
              <a:ext cx="1125191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0" name="Google Shape;7500;p79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1" name="Google Shape;7501;p79"/>
            <p:cNvSpPr/>
            <p:nvPr/>
          </p:nvSpPr>
          <p:spPr>
            <a:xfrm flipH="1" rot="10800000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2" name="Google Shape;7502;p79"/>
            <p:cNvSpPr/>
            <p:nvPr/>
          </p:nvSpPr>
          <p:spPr>
            <a:xfrm>
              <a:off x="2160522" y="1673340"/>
              <a:ext cx="546703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3" name="Google Shape;7503;p79"/>
            <p:cNvSpPr/>
            <p:nvPr/>
          </p:nvSpPr>
          <p:spPr>
            <a:xfrm>
              <a:off x="2103309" y="1633103"/>
              <a:ext cx="661129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4" name="Google Shape;7504;p79"/>
            <p:cNvSpPr/>
            <p:nvPr/>
          </p:nvSpPr>
          <p:spPr>
            <a:xfrm>
              <a:off x="2538763" y="1727776"/>
              <a:ext cx="24156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5" name="Google Shape;7505;p79"/>
            <p:cNvSpPr/>
            <p:nvPr/>
          </p:nvSpPr>
          <p:spPr>
            <a:xfrm>
              <a:off x="2090595" y="1730144"/>
              <a:ext cx="238387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06" name="Google Shape;7506;p79"/>
            <p:cNvCxnSpPr>
              <a:endCxn id="750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507" name="Google Shape;7507;p79"/>
            <p:cNvCxnSpPr/>
            <p:nvPr/>
          </p:nvCxnSpPr>
          <p:spPr>
            <a:xfrm rot="10800000">
              <a:off x="2996468" y="1734877"/>
              <a:ext cx="3180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508" name="Google Shape;7508;p79"/>
          <p:cNvGrpSpPr/>
          <p:nvPr/>
        </p:nvGrpSpPr>
        <p:grpSpPr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7509" name="Google Shape;7509;p79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0" name="Google Shape;7510;p79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1" name="Google Shape;7511;p79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2" name="Google Shape;7512;p79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3" name="Google Shape;7513;p79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4" name="Google Shape;7514;p79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5" name="Google Shape;7515;p79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16" name="Google Shape;7516;p79"/>
            <p:cNvCxnSpPr>
              <a:endCxn id="751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517" name="Google Shape;7517;p79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518" name="Google Shape;7518;p79"/>
          <p:cNvGrpSpPr/>
          <p:nvPr/>
        </p:nvGrpSpPr>
        <p:grpSpPr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7519" name="Google Shape;7519;p79"/>
            <p:cNvSpPr/>
            <p:nvPr/>
          </p:nvSpPr>
          <p:spPr>
            <a:xfrm>
              <a:off x="1776853" y="4829382"/>
              <a:ext cx="1220685" cy="920604"/>
            </a:xfrm>
            <a:custGeom>
              <a:rect b="b" l="l" r="r" t="t"/>
              <a:pathLst>
                <a:path extrusionOk="0" h="921649" w="1220510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0" name="Google Shape;7520;p79"/>
            <p:cNvSpPr/>
            <p:nvPr/>
          </p:nvSpPr>
          <p:spPr>
            <a:xfrm>
              <a:off x="6102428" y="4916682"/>
              <a:ext cx="925435" cy="757117"/>
            </a:xfrm>
            <a:custGeom>
              <a:rect b="b" l="l" r="r" t="t"/>
              <a:pathLst>
                <a:path extrusionOk="0" h="758185" w="926304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1" name="Google Shape;7521;p79"/>
            <p:cNvSpPr/>
            <p:nvPr/>
          </p:nvSpPr>
          <p:spPr>
            <a:xfrm>
              <a:off x="5288109" y="4937315"/>
              <a:ext cx="725426" cy="1099963"/>
            </a:xfrm>
            <a:custGeom>
              <a:rect b="b" l="l" r="r" t="t"/>
              <a:pathLst>
                <a:path extrusionOk="0" h="1101479" w="72500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2" name="Google Shape;7522;p79"/>
            <p:cNvSpPr/>
            <p:nvPr/>
          </p:nvSpPr>
          <p:spPr>
            <a:xfrm>
              <a:off x="4300767" y="4956362"/>
              <a:ext cx="514307" cy="577758"/>
            </a:xfrm>
            <a:custGeom>
              <a:rect b="b" l="l" r="r" t="t"/>
              <a:pathLst>
                <a:path extrusionOk="0" h="578353" w="514180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3" name="Google Shape;7523;p79"/>
            <p:cNvSpPr/>
            <p:nvPr/>
          </p:nvSpPr>
          <p:spPr>
            <a:xfrm>
              <a:off x="3521369" y="4919856"/>
              <a:ext cx="593675" cy="1215832"/>
            </a:xfrm>
            <a:custGeom>
              <a:rect b="b" l="l" r="r" t="t"/>
              <a:pathLst>
                <a:path extrusionOk="0" h="1215612" w="594113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524" name="Google Shape;7524;p79"/>
            <p:cNvGrpSpPr/>
            <p:nvPr/>
          </p:nvGrpSpPr>
          <p:grpSpPr>
            <a:xfrm>
              <a:off x="1757805" y="2331054"/>
              <a:ext cx="1079409" cy="2674512"/>
              <a:chOff x="1757805" y="2331054"/>
              <a:chExt cx="1079409" cy="2674512"/>
            </a:xfrm>
          </p:grpSpPr>
          <p:sp>
            <p:nvSpPr>
              <p:cNvPr id="7525" name="Google Shape;7525;p79"/>
              <p:cNvSpPr/>
              <p:nvPr/>
            </p:nvSpPr>
            <p:spPr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7526" name="Google Shape;7526;p79"/>
              <p:cNvGrpSpPr/>
              <p:nvPr/>
            </p:nvGrpSpPr>
            <p:grpSpPr>
              <a:xfrm>
                <a:off x="1783203" y="4616691"/>
                <a:ext cx="1030201" cy="388875"/>
                <a:chOff x="4128891" y="3607011"/>
                <a:chExt cx="565669" cy="338400"/>
              </a:xfrm>
            </p:grpSpPr>
            <p:sp>
              <p:nvSpPr>
                <p:cNvPr id="7527" name="Google Shape;7527;p79"/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28" name="Google Shape;7528;p79"/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29" name="Google Shape;7529;p79"/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30" name="Google Shape;7530;p79"/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31" name="Google Shape;7531;p79"/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32" name="Google Shape;7532;p79"/>
              <p:cNvSpPr/>
              <p:nvPr/>
            </p:nvSpPr>
            <p:spPr>
              <a:xfrm>
                <a:off x="1802251" y="3602440"/>
                <a:ext cx="1027025" cy="1163452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33" name="Google Shape;7533;p79"/>
              <p:cNvCxnSpPr/>
              <p:nvPr/>
            </p:nvCxnSpPr>
            <p:spPr>
              <a:xfrm>
                <a:off x="1781615" y="2805642"/>
                <a:ext cx="20636" cy="20205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4" name="Google Shape;7534;p79"/>
              <p:cNvCxnSpPr/>
              <p:nvPr/>
            </p:nvCxnSpPr>
            <p:spPr>
              <a:xfrm flipH="1">
                <a:off x="2818166" y="2805642"/>
                <a:ext cx="4762" cy="19761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35" name="Google Shape;7535;p79"/>
              <p:cNvGrpSpPr/>
              <p:nvPr/>
            </p:nvGrpSpPr>
            <p:grpSpPr>
              <a:xfrm>
                <a:off x="1757805" y="2331054"/>
                <a:ext cx="1079409" cy="430145"/>
                <a:chOff x="2183302" y="1574638"/>
                <a:chExt cx="1200053" cy="430113"/>
              </a:xfrm>
            </p:grpSpPr>
            <p:sp>
              <p:nvSpPr>
                <p:cNvPr id="7536" name="Google Shape;7536;p79"/>
                <p:cNvSpPr/>
                <p:nvPr/>
              </p:nvSpPr>
              <p:spPr>
                <a:xfrm flipH="1" rot="10800000">
                  <a:off x="2186832" y="1690499"/>
                  <a:ext cx="1194758" cy="31425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37" name="Google Shape;7537;p79"/>
                <p:cNvSpPr/>
                <p:nvPr/>
              </p:nvSpPr>
              <p:spPr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38" name="Google Shape;7538;p79"/>
                <p:cNvSpPr/>
                <p:nvPr/>
              </p:nvSpPr>
              <p:spPr>
                <a:xfrm flipH="1" rot="10800000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39" name="Google Shape;7539;p79"/>
                <p:cNvSpPr/>
                <p:nvPr/>
              </p:nvSpPr>
              <p:spPr>
                <a:xfrm>
                  <a:off x="2490374" y="1671453"/>
                  <a:ext cx="582379" cy="157125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40" name="Google Shape;7540;p79"/>
                <p:cNvSpPr/>
                <p:nvPr/>
              </p:nvSpPr>
              <p:spPr>
                <a:xfrm>
                  <a:off x="2430372" y="1630188"/>
                  <a:ext cx="702384" cy="109512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41" name="Google Shape;7541;p79"/>
                <p:cNvSpPr/>
                <p:nvPr/>
              </p:nvSpPr>
              <p:spPr>
                <a:xfrm>
                  <a:off x="2892745" y="1723828"/>
                  <a:ext cx="257658" cy="9522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42" name="Google Shape;7542;p79"/>
                <p:cNvSpPr/>
                <p:nvPr/>
              </p:nvSpPr>
              <p:spPr>
                <a:xfrm>
                  <a:off x="2418018" y="1725416"/>
                  <a:ext cx="254129" cy="9522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43" name="Google Shape;7543;p79"/>
                <p:cNvCxnSpPr>
                  <a:endCxn id="7538" idx="2"/>
                </p:cNvCxnSpPr>
                <p:nvPr/>
              </p:nvCxnSpPr>
              <p:spPr>
                <a:xfrm rot="10800000">
                  <a:off x="2183302" y="1731764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44" name="Google Shape;7544;p79"/>
                <p:cNvCxnSpPr/>
                <p:nvPr/>
              </p:nvCxnSpPr>
              <p:spPr>
                <a:xfrm rot="10800000">
                  <a:off x="3379825" y="1728590"/>
                  <a:ext cx="3530" cy="1222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45" name="Google Shape;7545;p79"/>
            <p:cNvGrpSpPr/>
            <p:nvPr/>
          </p:nvGrpSpPr>
          <p:grpSpPr>
            <a:xfrm>
              <a:off x="3500438" y="3173883"/>
              <a:ext cx="522287" cy="1831685"/>
              <a:chOff x="3500438" y="3173883"/>
              <a:chExt cx="522287" cy="1831685"/>
            </a:xfrm>
          </p:grpSpPr>
          <p:sp>
            <p:nvSpPr>
              <p:cNvPr id="7546" name="Google Shape;7546;p79"/>
              <p:cNvSpPr/>
              <p:nvPr/>
            </p:nvSpPr>
            <p:spPr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47" name="Google Shape;7547;p79"/>
              <p:cNvCxnSpPr/>
              <p:nvPr/>
            </p:nvCxnSpPr>
            <p:spPr>
              <a:xfrm flipH="1">
                <a:off x="4019802" y="3321497"/>
                <a:ext cx="1588" cy="15364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7548" name="Google Shape;7548;p7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549" name="Google Shape;7549;p79"/>
              <p:cNvGrpSpPr/>
              <p:nvPr/>
            </p:nvGrpSpPr>
            <p:grpSpPr>
              <a:xfrm>
                <a:off x="3511845" y="4783352"/>
                <a:ext cx="507957" cy="222216"/>
                <a:chOff x="4129087" y="3606297"/>
                <a:chExt cx="568256" cy="339233"/>
              </a:xfrm>
            </p:grpSpPr>
            <p:sp>
              <p:nvSpPr>
                <p:cNvPr id="7550" name="Google Shape;7550;p79"/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51" name="Google Shape;7551;p79"/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52" name="Google Shape;7552;p79"/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53" name="Google Shape;7553;p79"/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54" name="Google Shape;7554;p79"/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55" name="Google Shape;7555;p79"/>
              <p:cNvSpPr/>
              <p:nvPr/>
            </p:nvSpPr>
            <p:spPr>
              <a:xfrm>
                <a:off x="3516608" y="3697675"/>
                <a:ext cx="498433" cy="1163452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56" name="Google Shape;7556;p79"/>
              <p:cNvCxnSpPr>
                <a:stCxn id="7557" idx="2"/>
              </p:cNvCxnSpPr>
              <p:nvPr/>
            </p:nvCxnSpPr>
            <p:spPr>
              <a:xfrm flipH="1">
                <a:off x="3507045" y="3262769"/>
                <a:ext cx="4800" cy="1688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58" name="Google Shape;7558;p79"/>
              <p:cNvGrpSpPr/>
              <p:nvPr/>
            </p:nvGrpSpPr>
            <p:grpSpPr>
              <a:xfrm>
                <a:off x="3511845" y="3173883"/>
                <a:ext cx="503196" cy="242848"/>
                <a:chOff x="2185178" y="1574269"/>
                <a:chExt cx="1198011" cy="430447"/>
              </a:xfrm>
            </p:grpSpPr>
            <p:sp>
              <p:nvSpPr>
                <p:cNvPr id="7559" name="Google Shape;7559;p79"/>
                <p:cNvSpPr/>
                <p:nvPr/>
              </p:nvSpPr>
              <p:spPr>
                <a:xfrm flipH="1" rot="10800000">
                  <a:off x="2188958" y="1689617"/>
                  <a:ext cx="1194231" cy="3150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60" name="Google Shape;7560;p79"/>
                <p:cNvSpPr/>
                <p:nvPr/>
              </p:nvSpPr>
              <p:spPr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57" name="Google Shape;7557;p79"/>
                <p:cNvSpPr/>
                <p:nvPr/>
              </p:nvSpPr>
              <p:spPr>
                <a:xfrm flipH="1" rot="10800000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61" name="Google Shape;7561;p79"/>
                <p:cNvSpPr/>
                <p:nvPr/>
              </p:nvSpPr>
              <p:spPr>
                <a:xfrm>
                  <a:off x="2491295" y="1669924"/>
                  <a:ext cx="581999" cy="15754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62" name="Google Shape;7562;p79"/>
                <p:cNvSpPr/>
                <p:nvPr/>
              </p:nvSpPr>
              <p:spPr>
                <a:xfrm>
                  <a:off x="2430828" y="1630537"/>
                  <a:ext cx="702933" cy="10972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3" name="Google Shape;7563;p79"/>
                <p:cNvSpPr/>
                <p:nvPr/>
              </p:nvSpPr>
              <p:spPr>
                <a:xfrm>
                  <a:off x="2891892" y="1723378"/>
                  <a:ext cx="260764" cy="95655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4" name="Google Shape;7564;p79"/>
                <p:cNvSpPr/>
                <p:nvPr/>
              </p:nvSpPr>
              <p:spPr>
                <a:xfrm>
                  <a:off x="2419489" y="1726192"/>
                  <a:ext cx="253208" cy="92841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65" name="Google Shape;7565;p79"/>
                <p:cNvCxnSpPr>
                  <a:endCxn id="7557" idx="2"/>
                </p:cNvCxnSpPr>
                <p:nvPr/>
              </p:nvCxnSpPr>
              <p:spPr>
                <a:xfrm rot="10800000">
                  <a:off x="2185178" y="1731819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66" name="Google Shape;7566;p79"/>
                <p:cNvCxnSpPr/>
                <p:nvPr/>
              </p:nvCxnSpPr>
              <p:spPr>
                <a:xfrm rot="10800000">
                  <a:off x="3379409" y="1729005"/>
                  <a:ext cx="3780" cy="1209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67" name="Google Shape;7567;p79"/>
            <p:cNvGrpSpPr/>
            <p:nvPr/>
          </p:nvGrpSpPr>
          <p:grpSpPr>
            <a:xfrm>
              <a:off x="4299179" y="2486604"/>
              <a:ext cx="528594" cy="2517375"/>
              <a:chOff x="4299179" y="2486604"/>
              <a:chExt cx="528594" cy="2517375"/>
            </a:xfrm>
          </p:grpSpPr>
          <p:sp>
            <p:nvSpPr>
              <p:cNvPr id="7568" name="Google Shape;7568;p79"/>
              <p:cNvSpPr/>
              <p:nvPr/>
            </p:nvSpPr>
            <p:spPr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69" name="Google Shape;7569;p79"/>
              <p:cNvCxnSpPr/>
              <p:nvPr/>
            </p:nvCxnSpPr>
            <p:spPr>
              <a:xfrm>
                <a:off x="4821424" y="2642154"/>
                <a:ext cx="6349" cy="221421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70" name="Google Shape;7570;p79"/>
              <p:cNvGrpSpPr/>
              <p:nvPr/>
            </p:nvGrpSpPr>
            <p:grpSpPr>
              <a:xfrm>
                <a:off x="4319815" y="4781764"/>
                <a:ext cx="507958" cy="222216"/>
                <a:chOff x="4129012" y="3606230"/>
                <a:chExt cx="568256" cy="339300"/>
              </a:xfrm>
            </p:grpSpPr>
            <p:sp>
              <p:nvSpPr>
                <p:cNvPr id="7571" name="Google Shape;7571;p79"/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72" name="Google Shape;7572;p79"/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73" name="Google Shape;7573;p79"/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74" name="Google Shape;7574;p79"/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75" name="Google Shape;7575;p79"/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76" name="Google Shape;7576;p79"/>
              <p:cNvSpPr/>
              <p:nvPr/>
            </p:nvSpPr>
            <p:spPr>
              <a:xfrm>
                <a:off x="4324577" y="3696087"/>
                <a:ext cx="498433" cy="11634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77" name="Google Shape;7577;p79"/>
              <p:cNvCxnSpPr>
                <a:stCxn id="7578" idx="2"/>
              </p:cNvCxnSpPr>
              <p:nvPr/>
            </p:nvCxnSpPr>
            <p:spPr>
              <a:xfrm>
                <a:off x="4300767" y="2640567"/>
                <a:ext cx="14400" cy="230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79" name="Google Shape;7579;p79"/>
              <p:cNvGrpSpPr/>
              <p:nvPr/>
            </p:nvGrpSpPr>
            <p:grpSpPr>
              <a:xfrm>
                <a:off x="4299179" y="2486604"/>
                <a:ext cx="504783" cy="242849"/>
                <a:chOff x="2183224" y="1574808"/>
                <a:chExt cx="1200054" cy="430149"/>
              </a:xfrm>
            </p:grpSpPr>
            <p:sp>
              <p:nvSpPr>
                <p:cNvPr id="7578" name="Google Shape;7578;p79"/>
                <p:cNvSpPr/>
                <p:nvPr/>
              </p:nvSpPr>
              <p:spPr>
                <a:xfrm flipH="1" rot="10800000">
                  <a:off x="2186998" y="1690077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0" name="Google Shape;7580;p79"/>
                <p:cNvSpPr/>
                <p:nvPr/>
              </p:nvSpPr>
              <p:spPr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1" name="Google Shape;7581;p79"/>
                <p:cNvSpPr/>
                <p:nvPr/>
              </p:nvSpPr>
              <p:spPr>
                <a:xfrm flipH="1" rot="10800000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2" name="Google Shape;7582;p79"/>
                <p:cNvSpPr/>
                <p:nvPr/>
              </p:nvSpPr>
              <p:spPr>
                <a:xfrm>
                  <a:off x="2488899" y="1670396"/>
                  <a:ext cx="584931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3" name="Google Shape;7583;p79"/>
                <p:cNvSpPr/>
                <p:nvPr/>
              </p:nvSpPr>
              <p:spPr>
                <a:xfrm>
                  <a:off x="2428519" y="1631037"/>
                  <a:ext cx="705691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84" name="Google Shape;7584;p79"/>
                <p:cNvSpPr/>
                <p:nvPr/>
              </p:nvSpPr>
              <p:spPr>
                <a:xfrm>
                  <a:off x="2892690" y="1723814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85" name="Google Shape;7585;p79"/>
                <p:cNvSpPr/>
                <p:nvPr/>
              </p:nvSpPr>
              <p:spPr>
                <a:xfrm>
                  <a:off x="2417196" y="1726625"/>
                  <a:ext cx="252843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86" name="Google Shape;7586;p79"/>
                <p:cNvCxnSpPr>
                  <a:endCxn id="7581" idx="2"/>
                </p:cNvCxnSpPr>
                <p:nvPr/>
              </p:nvCxnSpPr>
              <p:spPr>
                <a:xfrm rot="10800000">
                  <a:off x="2183224" y="1732248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87" name="Google Shape;7587;p79"/>
                <p:cNvCxnSpPr/>
                <p:nvPr/>
              </p:nvCxnSpPr>
              <p:spPr>
                <a:xfrm rot="10800000">
                  <a:off x="3379505" y="1729437"/>
                  <a:ext cx="3773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88" name="Google Shape;7588;p79"/>
            <p:cNvGrpSpPr/>
            <p:nvPr/>
          </p:nvGrpSpPr>
          <p:grpSpPr>
            <a:xfrm>
              <a:off x="5491163" y="3178644"/>
              <a:ext cx="522287" cy="1825335"/>
              <a:chOff x="5491163" y="3178644"/>
              <a:chExt cx="522287" cy="1825335"/>
            </a:xfrm>
          </p:grpSpPr>
          <p:sp>
            <p:nvSpPr>
              <p:cNvPr id="7589" name="Google Shape;7589;p79"/>
              <p:cNvSpPr/>
              <p:nvPr/>
            </p:nvSpPr>
            <p:spPr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100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90" name="Google Shape;7590;p79"/>
              <p:cNvCxnSpPr>
                <a:stCxn id="7591" idx="6"/>
              </p:cNvCxnSpPr>
              <p:nvPr/>
            </p:nvCxnSpPr>
            <p:spPr>
              <a:xfrm>
                <a:off x="6004010" y="3267530"/>
                <a:ext cx="6300" cy="1582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7592" name="Google Shape;7592;p7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593" name="Google Shape;7593;p79"/>
              <p:cNvGrpSpPr/>
              <p:nvPr/>
            </p:nvGrpSpPr>
            <p:grpSpPr>
              <a:xfrm>
                <a:off x="5502403" y="4781764"/>
                <a:ext cx="507957" cy="222216"/>
                <a:chOff x="4128900" y="3606230"/>
                <a:chExt cx="568256" cy="339300"/>
              </a:xfrm>
            </p:grpSpPr>
            <p:sp>
              <p:nvSpPr>
                <p:cNvPr id="7594" name="Google Shape;7594;p79"/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95" name="Google Shape;7595;p79"/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96" name="Google Shape;7596;p79"/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97" name="Google Shape;7597;p79"/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98" name="Google Shape;7598;p79"/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99" name="Google Shape;7599;p79"/>
              <p:cNvSpPr/>
              <p:nvPr/>
            </p:nvSpPr>
            <p:spPr>
              <a:xfrm>
                <a:off x="5507166" y="3694500"/>
                <a:ext cx="498433" cy="116504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00" name="Google Shape;7600;p79"/>
              <p:cNvCxnSpPr>
                <a:stCxn id="7592" idx="1"/>
              </p:cNvCxnSpPr>
              <p:nvPr/>
            </p:nvCxnSpPr>
            <p:spPr>
              <a:xfrm>
                <a:off x="5491163" y="3316941"/>
                <a:ext cx="6300" cy="1633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01" name="Google Shape;7601;p79"/>
              <p:cNvGrpSpPr/>
              <p:nvPr/>
            </p:nvGrpSpPr>
            <p:grpSpPr>
              <a:xfrm>
                <a:off x="5500816" y="3178644"/>
                <a:ext cx="504782" cy="242849"/>
                <a:chOff x="2183606" y="1573485"/>
                <a:chExt cx="1200052" cy="430149"/>
              </a:xfrm>
            </p:grpSpPr>
            <p:sp>
              <p:nvSpPr>
                <p:cNvPr id="7602" name="Google Shape;7602;p79"/>
                <p:cNvSpPr/>
                <p:nvPr/>
              </p:nvSpPr>
              <p:spPr>
                <a:xfrm flipH="1" rot="10800000">
                  <a:off x="2187379" y="1688754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03" name="Google Shape;7603;p79"/>
                <p:cNvSpPr/>
                <p:nvPr/>
              </p:nvSpPr>
              <p:spPr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91" name="Google Shape;7591;p79"/>
                <p:cNvSpPr/>
                <p:nvPr/>
              </p:nvSpPr>
              <p:spPr>
                <a:xfrm flipH="1" rot="10800000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04" name="Google Shape;7604;p79"/>
                <p:cNvSpPr/>
                <p:nvPr/>
              </p:nvSpPr>
              <p:spPr>
                <a:xfrm>
                  <a:off x="2489279" y="1669074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05" name="Google Shape;7605;p79"/>
                <p:cNvSpPr/>
                <p:nvPr/>
              </p:nvSpPr>
              <p:spPr>
                <a:xfrm>
                  <a:off x="2428899" y="1629714"/>
                  <a:ext cx="705692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6" name="Google Shape;7606;p79"/>
                <p:cNvSpPr/>
                <p:nvPr/>
              </p:nvSpPr>
              <p:spPr>
                <a:xfrm>
                  <a:off x="2893071" y="1722492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7" name="Google Shape;7607;p79"/>
                <p:cNvSpPr/>
                <p:nvPr/>
              </p:nvSpPr>
              <p:spPr>
                <a:xfrm>
                  <a:off x="2417579" y="1725302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08" name="Google Shape;7608;p79"/>
                <p:cNvCxnSpPr>
                  <a:endCxn id="7591" idx="2"/>
                </p:cNvCxnSpPr>
                <p:nvPr/>
              </p:nvCxnSpPr>
              <p:spPr>
                <a:xfrm rot="10800000">
                  <a:off x="2183606" y="173092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609" name="Google Shape;7609;p79"/>
                <p:cNvCxnSpPr/>
                <p:nvPr/>
              </p:nvCxnSpPr>
              <p:spPr>
                <a:xfrm rot="10800000">
                  <a:off x="3379883" y="1728114"/>
                  <a:ext cx="3775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610" name="Google Shape;7610;p79"/>
            <p:cNvGrpSpPr/>
            <p:nvPr/>
          </p:nvGrpSpPr>
          <p:grpSpPr>
            <a:xfrm>
              <a:off x="6472285" y="2648504"/>
              <a:ext cx="522243" cy="2353889"/>
              <a:chOff x="6472285" y="2648504"/>
              <a:chExt cx="522243" cy="2353889"/>
            </a:xfrm>
          </p:grpSpPr>
          <p:sp>
            <p:nvSpPr>
              <p:cNvPr id="7611" name="Google Shape;7611;p79"/>
              <p:cNvSpPr/>
              <p:nvPr/>
            </p:nvSpPr>
            <p:spPr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12" name="Google Shape;7612;p79"/>
              <p:cNvCxnSpPr/>
              <p:nvPr/>
            </p:nvCxnSpPr>
            <p:spPr>
              <a:xfrm>
                <a:off x="6994528" y="2846910"/>
                <a:ext cx="0" cy="19983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13" name="Google Shape;7613;p79"/>
              <p:cNvGrpSpPr/>
              <p:nvPr/>
            </p:nvGrpSpPr>
            <p:grpSpPr>
              <a:xfrm>
                <a:off x="6486571" y="4765893"/>
                <a:ext cx="507957" cy="236499"/>
                <a:chOff x="4128808" y="3606294"/>
                <a:chExt cx="568256" cy="339218"/>
              </a:xfrm>
            </p:grpSpPr>
            <p:sp>
              <p:nvSpPr>
                <p:cNvPr id="7614" name="Google Shape;7614;p79"/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15" name="Google Shape;7615;p79"/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16" name="Google Shape;7616;p79"/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17" name="Google Shape;7617;p79"/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18" name="Google Shape;7618;p79"/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619" name="Google Shape;7619;p79"/>
              <p:cNvSpPr/>
              <p:nvPr/>
            </p:nvSpPr>
            <p:spPr>
              <a:xfrm>
                <a:off x="6491333" y="3610376"/>
                <a:ext cx="498433" cy="12380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20" name="Google Shape;7620;p79"/>
              <p:cNvCxnSpPr/>
              <p:nvPr/>
            </p:nvCxnSpPr>
            <p:spPr>
              <a:xfrm>
                <a:off x="6472285" y="2818340"/>
                <a:ext cx="9524" cy="2126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21" name="Google Shape;7621;p79"/>
              <p:cNvGrpSpPr/>
              <p:nvPr/>
            </p:nvGrpSpPr>
            <p:grpSpPr>
              <a:xfrm>
                <a:off x="6478635" y="2648504"/>
                <a:ext cx="504782" cy="242849"/>
                <a:chOff x="2184464" y="1575651"/>
                <a:chExt cx="1200052" cy="430151"/>
              </a:xfrm>
            </p:grpSpPr>
            <p:sp>
              <p:nvSpPr>
                <p:cNvPr id="7622" name="Google Shape;7622;p79"/>
                <p:cNvSpPr/>
                <p:nvPr/>
              </p:nvSpPr>
              <p:spPr>
                <a:xfrm flipH="1" rot="10800000">
                  <a:off x="2188237" y="1690921"/>
                  <a:ext cx="1196279" cy="314881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3" name="Google Shape;7623;p79"/>
                <p:cNvSpPr/>
                <p:nvPr/>
              </p:nvSpPr>
              <p:spPr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4" name="Google Shape;7624;p79"/>
                <p:cNvSpPr/>
                <p:nvPr/>
              </p:nvSpPr>
              <p:spPr>
                <a:xfrm flipH="1" rot="10800000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5" name="Google Shape;7625;p79"/>
                <p:cNvSpPr/>
                <p:nvPr/>
              </p:nvSpPr>
              <p:spPr>
                <a:xfrm>
                  <a:off x="2490137" y="1671240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6" name="Google Shape;7626;p79"/>
                <p:cNvSpPr/>
                <p:nvPr/>
              </p:nvSpPr>
              <p:spPr>
                <a:xfrm>
                  <a:off x="2429757" y="1631880"/>
                  <a:ext cx="705692" cy="10964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7" name="Google Shape;7627;p79"/>
                <p:cNvSpPr/>
                <p:nvPr/>
              </p:nvSpPr>
              <p:spPr>
                <a:xfrm>
                  <a:off x="2893929" y="1724658"/>
                  <a:ext cx="256615" cy="9558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8" name="Google Shape;7628;p79"/>
                <p:cNvSpPr/>
                <p:nvPr/>
              </p:nvSpPr>
              <p:spPr>
                <a:xfrm>
                  <a:off x="2418437" y="1727469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29" name="Google Shape;7629;p79"/>
                <p:cNvCxnSpPr>
                  <a:endCxn id="7624" idx="2"/>
                </p:cNvCxnSpPr>
                <p:nvPr/>
              </p:nvCxnSpPr>
              <p:spPr>
                <a:xfrm rot="10800000">
                  <a:off x="2184464" y="1733092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630" name="Google Shape;7630;p79"/>
                <p:cNvCxnSpPr/>
                <p:nvPr/>
              </p:nvCxnSpPr>
              <p:spPr>
                <a:xfrm rot="10800000">
                  <a:off x="3380741" y="1730281"/>
                  <a:ext cx="3775" cy="12089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7631" name="Google Shape;7631;p79"/>
          <p:cNvGrpSpPr/>
          <p:nvPr/>
        </p:nvGrpSpPr>
        <p:grpSpPr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7632" name="Google Shape;7632;p79"/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33" name="Google Shape;7633;p79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Algorithm</a:t>
              </a:r>
              <a:endParaRPr/>
            </a:p>
          </p:txBody>
        </p:sp>
        <p:cxnSp>
          <p:nvCxnSpPr>
            <p:cNvPr id="7634" name="Google Shape;7634;p79"/>
            <p:cNvCxnSpPr/>
            <p:nvPr/>
          </p:nvCxnSpPr>
          <p:spPr>
            <a:xfrm flipH="1" rot="10800000">
              <a:off x="2833815" y="807352"/>
              <a:ext cx="1517968" cy="214291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35" name="Google Shape;7635;p79"/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36" name="Google Shape;7636;p79"/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37" name="Google Shape;7637;p79"/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638" name="Google Shape;7638;p79"/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39" name="Google Shape;7639;p79"/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40" name="Google Shape;7640;p79"/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41" name="Google Shape;7641;p79"/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7642" name="Google Shape;7642;p79"/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43" name="Google Shape;7643;p79"/>
            <p:cNvCxnSpPr>
              <a:endCxn id="7638" idx="2"/>
            </p:cNvCxnSpPr>
            <p:nvPr/>
          </p:nvCxnSpPr>
          <p:spPr>
            <a:xfrm flipH="1" rot="10800000">
              <a:off x="3997770" y="985135"/>
              <a:ext cx="2561100" cy="46980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44" name="Google Shape;7644;p79"/>
            <p:cNvCxnSpPr/>
            <p:nvPr/>
          </p:nvCxnSpPr>
          <p:spPr>
            <a:xfrm>
              <a:off x="3991345" y="1508959"/>
              <a:ext cx="1581481" cy="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45" name="Google Shape;7645;p79"/>
            <p:cNvCxnSpPr/>
            <p:nvPr/>
          </p:nvCxnSpPr>
          <p:spPr>
            <a:xfrm flipH="1" rot="10800000">
              <a:off x="5996777" y="1083550"/>
              <a:ext cx="751044" cy="396836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7646" name="Google Shape;7646;p79"/>
          <p:cNvGrpSpPr/>
          <p:nvPr/>
        </p:nvGrpSpPr>
        <p:grpSpPr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7647" name="Google Shape;7647;p79"/>
            <p:cNvSpPr txBox="1"/>
            <p:nvPr/>
          </p:nvSpPr>
          <p:spPr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7648" name="Google Shape;7648;p79"/>
            <p:cNvSpPr txBox="1"/>
            <p:nvPr/>
          </p:nvSpPr>
          <p:spPr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7649" name="Google Shape;7649;p79"/>
            <p:cNvCxnSpPr/>
            <p:nvPr/>
          </p:nvCxnSpPr>
          <p:spPr>
            <a:xfrm>
              <a:off x="1557338" y="3613150"/>
              <a:ext cx="6207125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7650" name="Google Shape;7650;p79"/>
          <p:cNvGrpSpPr/>
          <p:nvPr/>
        </p:nvGrpSpPr>
        <p:grpSpPr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descr="fig42_table.pdf" id="7651" name="Google Shape;7651;p7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46102" y="4471477"/>
              <a:ext cx="966463" cy="966962"/>
            </a:xfrm>
            <a:prstGeom prst="rect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grpSp>
          <p:nvGrpSpPr>
            <p:cNvPr id="7652" name="Google Shape;7652;p79"/>
            <p:cNvGrpSpPr/>
            <p:nvPr/>
          </p:nvGrpSpPr>
          <p:grpSpPr>
            <a:xfrm>
              <a:off x="-3025207" y="5228700"/>
              <a:ext cx="3405278" cy="363530"/>
              <a:chOff x="-3025207" y="5228700"/>
              <a:chExt cx="3405278" cy="363530"/>
            </a:xfrm>
          </p:grpSpPr>
          <p:grpSp>
            <p:nvGrpSpPr>
              <p:cNvPr id="7653" name="Google Shape;7653;p79"/>
              <p:cNvGrpSpPr/>
              <p:nvPr/>
            </p:nvGrpSpPr>
            <p:grpSpPr>
              <a:xfrm>
                <a:off x="-3025207" y="5258861"/>
                <a:ext cx="430224" cy="333369"/>
                <a:chOff x="2931721" y="3908607"/>
                <a:chExt cx="430314" cy="333310"/>
              </a:xfrm>
            </p:grpSpPr>
            <p:sp>
              <p:nvSpPr>
                <p:cNvPr id="7654" name="Google Shape;7654;p79"/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55" name="Google Shape;7655;p79"/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56" name="Google Shape;7656;p79"/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57" name="Google Shape;7657;p79"/>
                <p:cNvCxnSpPr>
                  <a:stCxn id="7654" idx="2"/>
                </p:cNvCxnSpPr>
                <p:nvPr/>
              </p:nvCxnSpPr>
              <p:spPr>
                <a:xfrm rot="10800000">
                  <a:off x="3147760" y="4003717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58" name="Google Shape;7658;p79"/>
              <p:cNvGrpSpPr/>
              <p:nvPr/>
            </p:nvGrpSpPr>
            <p:grpSpPr>
              <a:xfrm>
                <a:off x="-2217148" y="5257274"/>
                <a:ext cx="430223" cy="333369"/>
                <a:chOff x="2931743" y="3908513"/>
                <a:chExt cx="430312" cy="333376"/>
              </a:xfrm>
            </p:grpSpPr>
            <p:sp>
              <p:nvSpPr>
                <p:cNvPr id="7659" name="Google Shape;7659;p79"/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60" name="Google Shape;7660;p79"/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1" name="Google Shape;7661;p79"/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2" name="Google Shape;7662;p79"/>
                <p:cNvCxnSpPr>
                  <a:stCxn id="7659" idx="2"/>
                </p:cNvCxnSpPr>
                <p:nvPr/>
              </p:nvCxnSpPr>
              <p:spPr>
                <a:xfrm rot="10800000">
                  <a:off x="3147781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63" name="Google Shape;7663;p79"/>
              <p:cNvGrpSpPr/>
              <p:nvPr/>
            </p:nvGrpSpPr>
            <p:grpSpPr>
              <a:xfrm>
                <a:off x="-1034429" y="5257274"/>
                <a:ext cx="430224" cy="333369"/>
                <a:chOff x="2931774" y="3908513"/>
                <a:chExt cx="430314" cy="333376"/>
              </a:xfrm>
            </p:grpSpPr>
            <p:sp>
              <p:nvSpPr>
                <p:cNvPr id="7664" name="Google Shape;7664;p79"/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65" name="Google Shape;7665;p79"/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6" name="Google Shape;7666;p79"/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7" name="Google Shape;7667;p79"/>
                <p:cNvCxnSpPr>
                  <a:stCxn id="7664" idx="2"/>
                </p:cNvCxnSpPr>
                <p:nvPr/>
              </p:nvCxnSpPr>
              <p:spPr>
                <a:xfrm rot="10800000">
                  <a:off x="3147813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68" name="Google Shape;7668;p79"/>
              <p:cNvGrpSpPr/>
              <p:nvPr/>
            </p:nvGrpSpPr>
            <p:grpSpPr>
              <a:xfrm>
                <a:off x="-50153" y="5228700"/>
                <a:ext cx="430224" cy="350830"/>
                <a:chOff x="2931800" y="3912336"/>
                <a:chExt cx="430314" cy="329569"/>
              </a:xfrm>
            </p:grpSpPr>
            <p:sp>
              <p:nvSpPr>
                <p:cNvPr id="7669" name="Google Shape;7669;p79"/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70" name="Google Shape;7670;p79"/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71" name="Google Shape;7671;p79"/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72" name="Google Shape;7672;p79"/>
                <p:cNvCxnSpPr>
                  <a:stCxn id="7669" idx="2"/>
                </p:cNvCxnSpPr>
                <p:nvPr/>
              </p:nvCxnSpPr>
              <p:spPr>
                <a:xfrm rot="10800000">
                  <a:off x="3147839" y="4003405"/>
                  <a:ext cx="1500" cy="238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7673" name="Google Shape;7673;p79"/>
          <p:cNvGrpSpPr/>
          <p:nvPr/>
        </p:nvGrpSpPr>
        <p:grpSpPr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7674" name="Google Shape;7674;p79"/>
            <p:cNvCxnSpPr/>
            <p:nvPr/>
          </p:nvCxnSpPr>
          <p:spPr>
            <a:xfrm>
              <a:off x="-4267279" y="4047450"/>
              <a:ext cx="0" cy="422418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675" name="Google Shape;7675;p79"/>
            <p:cNvCxnSpPr/>
            <p:nvPr/>
          </p:nvCxnSpPr>
          <p:spPr>
            <a:xfrm>
              <a:off x="-2808366" y="4361882"/>
              <a:ext cx="0" cy="8718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676" name="Google Shape;7676;p79"/>
            <p:cNvCxnSpPr/>
            <p:nvPr/>
          </p:nvCxnSpPr>
          <p:spPr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677" name="Google Shape;7677;p79"/>
            <p:cNvCxnSpPr/>
            <p:nvPr/>
          </p:nvCxnSpPr>
          <p:spPr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678" name="Google Shape;7678;p79"/>
            <p:cNvCxnSpPr/>
            <p:nvPr/>
          </p:nvCxnSpPr>
          <p:spPr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cxnSp>
        <p:nvCxnSpPr>
          <p:cNvPr id="7679" name="Google Shape;7679;p79"/>
          <p:cNvCxnSpPr/>
          <p:nvPr/>
        </p:nvCxnSpPr>
        <p:spPr>
          <a:xfrm flipH="1">
            <a:off x="2872960" y="5842070"/>
            <a:ext cx="150812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80" name="Google Shape;7680;p79"/>
          <p:cNvSpPr txBox="1"/>
          <p:nvPr/>
        </p:nvSpPr>
        <p:spPr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681" name="Google Shape;7681;p79"/>
          <p:cNvSpPr txBox="1"/>
          <p:nvPr/>
        </p:nvSpPr>
        <p:spPr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7682" name="Google Shape;7682;p79"/>
          <p:cNvGrpSpPr/>
          <p:nvPr/>
        </p:nvGrpSpPr>
        <p:grpSpPr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7683" name="Google Shape;7683;p79"/>
            <p:cNvSpPr/>
            <p:nvPr/>
          </p:nvSpPr>
          <p:spPr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84" name="Google Shape;7684;p79"/>
            <p:cNvCxnSpPr/>
            <p:nvPr/>
          </p:nvCxnSpPr>
          <p:spPr>
            <a:xfrm>
              <a:off x="-2933828" y="3101502"/>
              <a:ext cx="471543" cy="0"/>
            </a:xfrm>
            <a:prstGeom prst="straightConnector1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85" name="Google Shape;7685;p79"/>
            <p:cNvSpPr/>
            <p:nvPr/>
          </p:nvSpPr>
          <p:spPr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6" name="Google Shape;7686;p79"/>
            <p:cNvSpPr txBox="1"/>
            <p:nvPr/>
          </p:nvSpPr>
          <p:spPr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</p:txBody>
        </p:sp>
        <p:cxnSp>
          <p:nvCxnSpPr>
            <p:cNvPr id="7687" name="Google Shape;7687;p79"/>
            <p:cNvCxnSpPr/>
            <p:nvPr/>
          </p:nvCxnSpPr>
          <p:spPr>
            <a:xfrm>
              <a:off x="-3621642" y="2717403"/>
              <a:ext cx="405953" cy="300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688" name="Google Shape;7688;p79"/>
          <p:cNvSpPr/>
          <p:nvPr/>
        </p:nvSpPr>
        <p:spPr>
          <a:xfrm>
            <a:off x="4084223" y="5708720"/>
            <a:ext cx="982662" cy="233362"/>
          </a:xfrm>
          <a:custGeom>
            <a:rect b="b" l="l" r="r" t="t"/>
            <a:pathLst>
              <a:path extrusionOk="0" h="167" w="554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89" name="Google Shape;7689;p79"/>
          <p:cNvGrpSpPr/>
          <p:nvPr/>
        </p:nvGrpSpPr>
        <p:grpSpPr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7690" name="Google Shape;7690;p79"/>
            <p:cNvSpPr/>
            <p:nvPr/>
          </p:nvSpPr>
          <p:spPr>
            <a:xfrm flipH="1" rot="10800000">
              <a:off x="1874448" y="1694641"/>
              <a:ext cx="1125200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1" name="Google Shape;7691;p79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2" name="Google Shape;7692;p79"/>
            <p:cNvSpPr/>
            <p:nvPr/>
          </p:nvSpPr>
          <p:spPr>
            <a:xfrm flipH="1" rot="10800000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3" name="Google Shape;7693;p79"/>
            <p:cNvSpPr/>
            <p:nvPr/>
          </p:nvSpPr>
          <p:spPr>
            <a:xfrm>
              <a:off x="2159710" y="1673339"/>
              <a:ext cx="548337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4" name="Google Shape;7694;p79"/>
            <p:cNvSpPr/>
            <p:nvPr/>
          </p:nvSpPr>
          <p:spPr>
            <a:xfrm>
              <a:off x="2102657" y="1633104"/>
              <a:ext cx="662442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5" name="Google Shape;7695;p79"/>
            <p:cNvSpPr/>
            <p:nvPr/>
          </p:nvSpPr>
          <p:spPr>
            <a:xfrm>
              <a:off x="2536889" y="1727776"/>
              <a:ext cx="244059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6" name="Google Shape;7696;p79"/>
            <p:cNvSpPr/>
            <p:nvPr/>
          </p:nvSpPr>
          <p:spPr>
            <a:xfrm>
              <a:off x="2089979" y="1730143"/>
              <a:ext cx="240888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97" name="Google Shape;7697;p79"/>
            <p:cNvCxnSpPr>
              <a:endCxn id="7692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698" name="Google Shape;7698;p79"/>
            <p:cNvCxnSpPr/>
            <p:nvPr/>
          </p:nvCxnSpPr>
          <p:spPr>
            <a:xfrm rot="10800000">
              <a:off x="2996479" y="1734876"/>
              <a:ext cx="3169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7699" name="Google Shape;7699;p79"/>
          <p:cNvSpPr txBox="1"/>
          <p:nvPr/>
        </p:nvSpPr>
        <p:spPr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0" name="Google Shape;7700;p79"/>
          <p:cNvSpPr txBox="1"/>
          <p:nvPr/>
        </p:nvSpPr>
        <p:spPr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701" name="Google Shape;7701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4-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6" name="Shape 7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7" name="Google Shape;7707;p80"/>
          <p:cNvSpPr txBox="1"/>
          <p:nvPr>
            <p:ph type="title"/>
          </p:nvPr>
        </p:nvSpPr>
        <p:spPr>
          <a:xfrm>
            <a:off x="417576" y="261255"/>
            <a:ext cx="1121359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800"/>
              <a:t>Software-Defined Networking (SDN) control plane</a:t>
            </a:r>
            <a:endParaRPr/>
          </a:p>
        </p:txBody>
      </p:sp>
      <p:sp>
        <p:nvSpPr>
          <p:cNvPr id="7708" name="Google Shape;7708;p80"/>
          <p:cNvSpPr txBox="1"/>
          <p:nvPr/>
        </p:nvSpPr>
        <p:spPr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controller computes, installs forwarding tables in routers</a:t>
            </a:r>
            <a:endParaRPr/>
          </a:p>
        </p:txBody>
      </p:sp>
      <p:grpSp>
        <p:nvGrpSpPr>
          <p:cNvPr id="7709" name="Google Shape;7709;p80"/>
          <p:cNvGrpSpPr/>
          <p:nvPr/>
        </p:nvGrpSpPr>
        <p:grpSpPr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7710" name="Google Shape;7710;p80"/>
            <p:cNvSpPr/>
            <p:nvPr/>
          </p:nvSpPr>
          <p:spPr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D0D0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711" name="Google Shape;7711;p80"/>
            <p:cNvSpPr/>
            <p:nvPr/>
          </p:nvSpPr>
          <p:spPr>
            <a:xfrm>
              <a:off x="1740529" y="2067687"/>
              <a:ext cx="198438" cy="1386150"/>
            </a:xfrm>
            <a:custGeom>
              <a:rect b="b" l="l" r="r" t="t"/>
              <a:pathLst>
                <a:path extrusionOk="0" h="1385496" w="199855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D0D0F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712" name="Google Shape;7712;p80"/>
            <p:cNvSpPr/>
            <p:nvPr/>
          </p:nvSpPr>
          <p:spPr>
            <a:xfrm flipH="1">
              <a:off x="6969753" y="2061336"/>
              <a:ext cx="219075" cy="1370272"/>
            </a:xfrm>
            <a:custGeom>
              <a:rect b="b" l="l" r="r" t="t"/>
              <a:pathLst>
                <a:path extrusionOk="0" h="1370199" w="22023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rgbClr val="D0D0F4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713" name="Google Shape;7713;p80"/>
            <p:cNvGrpSpPr/>
            <p:nvPr/>
          </p:nvGrpSpPr>
          <p:grpSpPr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7714" name="Google Shape;7714;p8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5" name="Google Shape;7715;p8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6" name="Google Shape;7716;p8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7" name="Google Shape;7717;p8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8" name="Google Shape;7718;p8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19" name="Google Shape;7719;p8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720" name="Google Shape;7720;p8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1" name="Google Shape;7721;p8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22" name="Google Shape;7722;p8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23" name="Google Shape;7723;p8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724" name="Google Shape;7724;p8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5" name="Google Shape;7725;p8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26" name="Google Shape;7726;p8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7" name="Google Shape;7727;p8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28" name="Google Shape;7728;p8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729" name="Google Shape;7729;p8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0" name="Google Shape;7730;p8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31" name="Google Shape;7731;p8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32" name="Google Shape;7732;p8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733" name="Google Shape;7733;p8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4" name="Google Shape;7734;p8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35" name="Google Shape;7735;p8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6" name="Google Shape;7736;p8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7" name="Google Shape;7737;p8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8" name="Google Shape;7738;p8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9" name="Google Shape;7739;p8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0" name="Google Shape;7740;p8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1" name="Google Shape;7741;p8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2" name="Google Shape;7742;p8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3" name="Google Shape;7743;p8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4" name="Google Shape;7744;p8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5" name="Google Shape;7745;p8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46" name="Google Shape;7746;p80"/>
            <p:cNvGrpSpPr/>
            <p:nvPr/>
          </p:nvGrpSpPr>
          <p:grpSpPr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7747" name="Google Shape;7747;p8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8" name="Google Shape;7748;p8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9" name="Google Shape;7749;p8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0" name="Google Shape;7750;p8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1" name="Google Shape;7751;p8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52" name="Google Shape;7752;p8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753" name="Google Shape;7753;p8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54" name="Google Shape;7754;p8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55" name="Google Shape;7755;p8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56" name="Google Shape;7756;p8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757" name="Google Shape;7757;p8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58" name="Google Shape;7758;p8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59" name="Google Shape;7759;p8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0" name="Google Shape;7760;p8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1" name="Google Shape;7761;p8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762" name="Google Shape;7762;p8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3" name="Google Shape;7763;p8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64" name="Google Shape;7764;p8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5" name="Google Shape;7765;p8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766" name="Google Shape;7766;p8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7" name="Google Shape;7767;p8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68" name="Google Shape;7768;p8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9" name="Google Shape;7769;p8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0" name="Google Shape;7770;p8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1" name="Google Shape;7771;p8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2" name="Google Shape;7772;p8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3" name="Google Shape;7773;p8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4" name="Google Shape;7774;p8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5" name="Google Shape;7775;p8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6" name="Google Shape;7776;p8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7" name="Google Shape;7777;p8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8" name="Google Shape;7778;p8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779" name="Google Shape;7779;p80"/>
          <p:cNvSpPr/>
          <p:nvPr/>
        </p:nvSpPr>
        <p:spPr>
          <a:xfrm>
            <a:off x="4341668" y="5696917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80" name="Google Shape;7780;p80"/>
          <p:cNvCxnSpPr/>
          <p:nvPr/>
        </p:nvCxnSpPr>
        <p:spPr>
          <a:xfrm flipH="1" rot="10800000">
            <a:off x="5011593" y="5847730"/>
            <a:ext cx="1316037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1" name="Google Shape;7781;p80"/>
          <p:cNvCxnSpPr/>
          <p:nvPr/>
        </p:nvCxnSpPr>
        <p:spPr>
          <a:xfrm>
            <a:off x="4900468" y="6035055"/>
            <a:ext cx="2259012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2" name="Google Shape;7782;p80"/>
          <p:cNvCxnSpPr/>
          <p:nvPr/>
        </p:nvCxnSpPr>
        <p:spPr>
          <a:xfrm>
            <a:off x="4913168" y="6139830"/>
            <a:ext cx="714375" cy="2762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3" name="Google Shape;7783;p80"/>
          <p:cNvCxnSpPr/>
          <p:nvPr/>
        </p:nvCxnSpPr>
        <p:spPr>
          <a:xfrm flipH="1" rot="10800000">
            <a:off x="5930755" y="6333505"/>
            <a:ext cx="1247775" cy="825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4" name="Google Shape;7784;p80"/>
          <p:cNvCxnSpPr/>
          <p:nvPr/>
        </p:nvCxnSpPr>
        <p:spPr>
          <a:xfrm>
            <a:off x="6591155" y="5881067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5" name="Google Shape;7785;p80"/>
          <p:cNvCxnSpPr/>
          <p:nvPr/>
        </p:nvCxnSpPr>
        <p:spPr>
          <a:xfrm flipH="1" rot="10800000">
            <a:off x="5875193" y="6035055"/>
            <a:ext cx="1790700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6" name="Google Shape;7786;p80"/>
          <p:cNvCxnSpPr/>
          <p:nvPr/>
        </p:nvCxnSpPr>
        <p:spPr>
          <a:xfrm flipH="1" rot="10800000">
            <a:off x="7202343" y="6063630"/>
            <a:ext cx="588962" cy="2698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7" name="Google Shape;7787;p80"/>
          <p:cNvCxnSpPr/>
          <p:nvPr/>
        </p:nvCxnSpPr>
        <p:spPr>
          <a:xfrm>
            <a:off x="6345093" y="5847730"/>
            <a:ext cx="814387" cy="401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788" name="Google Shape;7788;p80"/>
          <p:cNvGrpSpPr/>
          <p:nvPr/>
        </p:nvGrpSpPr>
        <p:grpSpPr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7789" name="Google Shape;7789;p80"/>
            <p:cNvSpPr txBox="1"/>
            <p:nvPr/>
          </p:nvSpPr>
          <p:spPr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7790" name="Google Shape;7790;p80"/>
            <p:cNvSpPr txBox="1"/>
            <p:nvPr/>
          </p:nvSpPr>
          <p:spPr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7791" name="Google Shape;7791;p80"/>
            <p:cNvCxnSpPr/>
            <p:nvPr/>
          </p:nvCxnSpPr>
          <p:spPr>
            <a:xfrm flipH="1" rot="10800000">
              <a:off x="1526216" y="3579760"/>
              <a:ext cx="6978041" cy="1111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7792" name="Google Shape;7792;p80"/>
          <p:cNvGrpSpPr/>
          <p:nvPr/>
        </p:nvGrpSpPr>
        <p:grpSpPr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7793" name="Google Shape;7793;p80"/>
            <p:cNvGrpSpPr/>
            <p:nvPr/>
          </p:nvGrpSpPr>
          <p:grpSpPr>
            <a:xfrm>
              <a:off x="2433511" y="2793697"/>
              <a:ext cx="349311" cy="317387"/>
              <a:chOff x="2931664" y="3912203"/>
              <a:chExt cx="430525" cy="329314"/>
            </a:xfrm>
          </p:grpSpPr>
          <p:sp>
            <p:nvSpPr>
              <p:cNvPr id="7794" name="Google Shape;7794;p80"/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795" name="Google Shape;7795;p80"/>
              <p:cNvCxnSpPr/>
              <p:nvPr/>
            </p:nvCxnSpPr>
            <p:spPr>
              <a:xfrm>
                <a:off x="2931664" y="40044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96" name="Google Shape;7796;p80"/>
              <p:cNvCxnSpPr/>
              <p:nvPr/>
            </p:nvCxnSpPr>
            <p:spPr>
              <a:xfrm>
                <a:off x="2931664" y="4066980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97" name="Google Shape;7797;p80"/>
              <p:cNvCxnSpPr>
                <a:stCxn id="7794" idx="2"/>
              </p:cNvCxnSpPr>
              <p:nvPr/>
            </p:nvCxnSpPr>
            <p:spPr>
              <a:xfrm rot="10800000">
                <a:off x="3149862" y="40045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98" name="Google Shape;7798;p80"/>
            <p:cNvGrpSpPr/>
            <p:nvPr/>
          </p:nvGrpSpPr>
          <p:grpSpPr>
            <a:xfrm>
              <a:off x="3348072" y="2792111"/>
              <a:ext cx="350899" cy="317387"/>
              <a:chOff x="2930935" y="3912603"/>
              <a:chExt cx="430525" cy="329314"/>
            </a:xfrm>
          </p:grpSpPr>
          <p:sp>
            <p:nvSpPr>
              <p:cNvPr id="7799" name="Google Shape;7799;p80"/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00" name="Google Shape;7800;p80"/>
              <p:cNvCxnSpPr/>
              <p:nvPr/>
            </p:nvCxnSpPr>
            <p:spPr>
              <a:xfrm>
                <a:off x="2930935" y="400481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1" name="Google Shape;7801;p80"/>
              <p:cNvCxnSpPr/>
              <p:nvPr/>
            </p:nvCxnSpPr>
            <p:spPr>
              <a:xfrm>
                <a:off x="2930935" y="406738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2" name="Google Shape;7802;p80"/>
              <p:cNvCxnSpPr>
                <a:stCxn id="7799" idx="2"/>
              </p:cNvCxnSpPr>
              <p:nvPr/>
            </p:nvCxnSpPr>
            <p:spPr>
              <a:xfrm rot="10800000">
                <a:off x="3147320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03" name="Google Shape;7803;p80"/>
            <p:cNvGrpSpPr/>
            <p:nvPr/>
          </p:nvGrpSpPr>
          <p:grpSpPr>
            <a:xfrm>
              <a:off x="4181655" y="2792111"/>
              <a:ext cx="350900" cy="317387"/>
              <a:chOff x="2931113" y="3912603"/>
              <a:chExt cx="430527" cy="329314"/>
            </a:xfrm>
          </p:grpSpPr>
          <p:sp>
            <p:nvSpPr>
              <p:cNvPr id="7804" name="Google Shape;7804;p80"/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05" name="Google Shape;7805;p80"/>
              <p:cNvCxnSpPr/>
              <p:nvPr/>
            </p:nvCxnSpPr>
            <p:spPr>
              <a:xfrm>
                <a:off x="2931113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6" name="Google Shape;7806;p80"/>
              <p:cNvCxnSpPr/>
              <p:nvPr/>
            </p:nvCxnSpPr>
            <p:spPr>
              <a:xfrm>
                <a:off x="2931113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7" name="Google Shape;7807;p80"/>
              <p:cNvCxnSpPr>
                <a:stCxn id="7804" idx="2"/>
              </p:cNvCxnSpPr>
              <p:nvPr/>
            </p:nvCxnSpPr>
            <p:spPr>
              <a:xfrm rot="10800000">
                <a:off x="3147499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08" name="Google Shape;7808;p80"/>
            <p:cNvGrpSpPr/>
            <p:nvPr/>
          </p:nvGrpSpPr>
          <p:grpSpPr>
            <a:xfrm>
              <a:off x="5374078" y="2795285"/>
              <a:ext cx="349311" cy="317387"/>
              <a:chOff x="2931371" y="3912603"/>
              <a:chExt cx="430525" cy="329314"/>
            </a:xfrm>
          </p:grpSpPr>
          <p:sp>
            <p:nvSpPr>
              <p:cNvPr id="7809" name="Google Shape;7809;p80"/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10" name="Google Shape;7810;p80"/>
              <p:cNvCxnSpPr/>
              <p:nvPr/>
            </p:nvCxnSpPr>
            <p:spPr>
              <a:xfrm>
                <a:off x="2931371" y="40048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1" name="Google Shape;7811;p80"/>
              <p:cNvCxnSpPr/>
              <p:nvPr/>
            </p:nvCxnSpPr>
            <p:spPr>
              <a:xfrm>
                <a:off x="2931371" y="406738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2" name="Google Shape;7812;p80"/>
              <p:cNvCxnSpPr>
                <a:stCxn id="7809" idx="2"/>
              </p:cNvCxnSpPr>
              <p:nvPr/>
            </p:nvCxnSpPr>
            <p:spPr>
              <a:xfrm rot="10800000">
                <a:off x="3149569" y="40049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13" name="Google Shape;7813;p80"/>
            <p:cNvGrpSpPr/>
            <p:nvPr/>
          </p:nvGrpSpPr>
          <p:grpSpPr>
            <a:xfrm>
              <a:off x="6379141" y="2792111"/>
              <a:ext cx="350900" cy="317387"/>
              <a:chOff x="2931587" y="3912603"/>
              <a:chExt cx="430527" cy="329314"/>
            </a:xfrm>
          </p:grpSpPr>
          <p:sp>
            <p:nvSpPr>
              <p:cNvPr id="7814" name="Google Shape;7814;p80"/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15" name="Google Shape;7815;p80"/>
              <p:cNvCxnSpPr/>
              <p:nvPr/>
            </p:nvCxnSpPr>
            <p:spPr>
              <a:xfrm>
                <a:off x="2931587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6" name="Google Shape;7816;p80"/>
              <p:cNvCxnSpPr/>
              <p:nvPr/>
            </p:nvCxnSpPr>
            <p:spPr>
              <a:xfrm>
                <a:off x="2931587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7" name="Google Shape;7817;p80"/>
              <p:cNvCxnSpPr>
                <a:stCxn id="7814" idx="2"/>
              </p:cNvCxnSpPr>
              <p:nvPr/>
            </p:nvCxnSpPr>
            <p:spPr>
              <a:xfrm rot="10800000">
                <a:off x="3147973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818" name="Google Shape;7818;p80"/>
          <p:cNvGrpSpPr/>
          <p:nvPr/>
        </p:nvGrpSpPr>
        <p:grpSpPr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7819" name="Google Shape;7819;p80"/>
            <p:cNvSpPr/>
            <p:nvPr/>
          </p:nvSpPr>
          <p:spPr>
            <a:xfrm>
              <a:off x="1877053" y="5330529"/>
              <a:ext cx="1281113" cy="758711"/>
            </a:xfrm>
            <a:custGeom>
              <a:rect b="b" l="l" r="r" t="t"/>
              <a:pathLst>
                <a:path extrusionOk="0" h="759828" w="1280499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0" name="Google Shape;7820;p80"/>
            <p:cNvSpPr/>
            <p:nvPr/>
          </p:nvSpPr>
          <p:spPr>
            <a:xfrm>
              <a:off x="6202992" y="5428939"/>
              <a:ext cx="865187" cy="553955"/>
            </a:xfrm>
            <a:custGeom>
              <a:rect b="b" l="l" r="r" t="t"/>
              <a:pathLst>
                <a:path extrusionOk="0" h="553361" w="86625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1" name="Google Shape;7821;p80"/>
            <p:cNvSpPr/>
            <p:nvPr/>
          </p:nvSpPr>
          <p:spPr>
            <a:xfrm>
              <a:off x="5377492" y="5449574"/>
              <a:ext cx="676275" cy="896802"/>
            </a:xfrm>
            <a:custGeom>
              <a:rect b="b" l="l" r="r" t="t"/>
              <a:pathLst>
                <a:path extrusionOk="0" h="896577" w="675040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2" name="Google Shape;7822;p80"/>
            <p:cNvSpPr/>
            <p:nvPr/>
          </p:nvSpPr>
          <p:spPr>
            <a:xfrm>
              <a:off x="4340853" y="5470208"/>
              <a:ext cx="514350" cy="401578"/>
            </a:xfrm>
            <a:custGeom>
              <a:rect b="b" l="l" r="r" t="t"/>
              <a:pathLst>
                <a:path extrusionOk="0" h="402193" w="514180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3" name="Google Shape;7823;p80"/>
            <p:cNvSpPr/>
            <p:nvPr/>
          </p:nvSpPr>
          <p:spPr>
            <a:xfrm>
              <a:off x="3561391" y="5433701"/>
              <a:ext cx="573087" cy="1015848"/>
            </a:xfrm>
            <a:custGeom>
              <a:rect b="b" l="l" r="r" t="t"/>
              <a:pathLst>
                <a:path extrusionOk="0" h="1015244" w="574100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824" name="Google Shape;7824;p80"/>
            <p:cNvGrpSpPr/>
            <p:nvPr/>
          </p:nvGrpSpPr>
          <p:grpSpPr>
            <a:xfrm>
              <a:off x="1856416" y="3709935"/>
              <a:ext cx="1049337" cy="1739639"/>
              <a:chOff x="1856416" y="3709935"/>
              <a:chExt cx="1049337" cy="1739639"/>
            </a:xfrm>
          </p:grpSpPr>
          <p:sp>
            <p:nvSpPr>
              <p:cNvPr id="7825" name="Google Shape;7825;p80"/>
              <p:cNvSpPr/>
              <p:nvPr/>
            </p:nvSpPr>
            <p:spPr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7826" name="Google Shape;7826;p80"/>
              <p:cNvGrpSpPr/>
              <p:nvPr/>
            </p:nvGrpSpPr>
            <p:grpSpPr>
              <a:xfrm>
                <a:off x="1859590" y="5089265"/>
                <a:ext cx="1035050" cy="360309"/>
                <a:chOff x="4129067" y="3606966"/>
                <a:chExt cx="567968" cy="338045"/>
              </a:xfrm>
            </p:grpSpPr>
            <p:sp>
              <p:nvSpPr>
                <p:cNvPr id="7827" name="Google Shape;7827;p80"/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28" name="Google Shape;7828;p80"/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29" name="Google Shape;7829;p80"/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30" name="Google Shape;7830;p80"/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31" name="Google Shape;7831;p80"/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32" name="Google Shape;7832;p80"/>
              <p:cNvSpPr/>
              <p:nvPr/>
            </p:nvSpPr>
            <p:spPr>
              <a:xfrm>
                <a:off x="1877053" y="4705148"/>
                <a:ext cx="1028700" cy="522210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33" name="Google Shape;7833;p80"/>
              <p:cNvCxnSpPr/>
              <p:nvPr/>
            </p:nvCxnSpPr>
            <p:spPr>
              <a:xfrm>
                <a:off x="1861178" y="3981356"/>
                <a:ext cx="17463" cy="13015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34" name="Google Shape;7834;p80"/>
              <p:cNvCxnSpPr/>
              <p:nvPr/>
            </p:nvCxnSpPr>
            <p:spPr>
              <a:xfrm flipH="1">
                <a:off x="2894641" y="3971833"/>
                <a:ext cx="6350" cy="1269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35" name="Google Shape;7835;p80"/>
              <p:cNvGrpSpPr/>
              <p:nvPr/>
            </p:nvGrpSpPr>
            <p:grpSpPr>
              <a:xfrm>
                <a:off x="1856416" y="3709935"/>
                <a:ext cx="1044574" cy="398402"/>
                <a:chOff x="2183302" y="1574638"/>
                <a:chExt cx="1199996" cy="429505"/>
              </a:xfrm>
            </p:grpSpPr>
            <p:sp>
              <p:nvSpPr>
                <p:cNvPr id="7836" name="Google Shape;7836;p80"/>
                <p:cNvSpPr/>
                <p:nvPr/>
              </p:nvSpPr>
              <p:spPr>
                <a:xfrm flipH="1" rot="10800000">
                  <a:off x="2185125" y="1689286"/>
                  <a:ext cx="1196349" cy="31485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37" name="Google Shape;7837;p80"/>
                <p:cNvSpPr/>
                <p:nvPr/>
              </p:nvSpPr>
              <p:spPr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38" name="Google Shape;7838;p80"/>
                <p:cNvSpPr/>
                <p:nvPr/>
              </p:nvSpPr>
              <p:spPr>
                <a:xfrm flipH="1" rot="10800000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39" name="Google Shape;7839;p80"/>
                <p:cNvSpPr/>
                <p:nvPr/>
              </p:nvSpPr>
              <p:spPr>
                <a:xfrm>
                  <a:off x="2489684" y="1670464"/>
                  <a:ext cx="581761" cy="15742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40" name="Google Shape;7840;p80"/>
                <p:cNvSpPr/>
                <p:nvPr/>
              </p:nvSpPr>
              <p:spPr>
                <a:xfrm>
                  <a:off x="2429501" y="1629396"/>
                  <a:ext cx="703949" cy="11122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1" name="Google Shape;7841;p80"/>
                <p:cNvSpPr/>
                <p:nvPr/>
              </p:nvSpPr>
              <p:spPr>
                <a:xfrm>
                  <a:off x="2892722" y="1723510"/>
                  <a:ext cx="257143" cy="95826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2" name="Google Shape;7842;p80"/>
                <p:cNvSpPr/>
                <p:nvPr/>
              </p:nvSpPr>
              <p:spPr>
                <a:xfrm>
                  <a:off x="2416736" y="1725222"/>
                  <a:ext cx="255318" cy="94114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43" name="Google Shape;7843;p80"/>
                <p:cNvCxnSpPr>
                  <a:endCxn id="7838" idx="2"/>
                </p:cNvCxnSpPr>
                <p:nvPr/>
              </p:nvCxnSpPr>
              <p:spPr>
                <a:xfrm rot="10800000">
                  <a:off x="2183302" y="1732067"/>
                  <a:ext cx="1800" cy="12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844" name="Google Shape;7844;p80"/>
                <p:cNvCxnSpPr/>
                <p:nvPr/>
              </p:nvCxnSpPr>
              <p:spPr>
                <a:xfrm rot="10800000">
                  <a:off x="3381474" y="1728644"/>
                  <a:ext cx="1824" cy="12149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845" name="Google Shape;7845;p80"/>
            <p:cNvGrpSpPr/>
            <p:nvPr/>
          </p:nvGrpSpPr>
          <p:grpSpPr>
            <a:xfrm>
              <a:off x="3566153" y="3862312"/>
              <a:ext cx="514350" cy="1669799"/>
              <a:chOff x="3566153" y="3862312"/>
              <a:chExt cx="514350" cy="1669799"/>
            </a:xfrm>
          </p:grpSpPr>
          <p:sp>
            <p:nvSpPr>
              <p:cNvPr id="7846" name="Google Shape;7846;p80"/>
              <p:cNvSpPr/>
              <p:nvPr/>
            </p:nvSpPr>
            <p:spPr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47" name="Google Shape;7847;p80"/>
              <p:cNvCxnSpPr/>
              <p:nvPr/>
            </p:nvCxnSpPr>
            <p:spPr>
              <a:xfrm flipH="1">
                <a:off x="4078916" y="4019450"/>
                <a:ext cx="1587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48" name="Google Shape;7848;p80"/>
              <p:cNvGrpSpPr/>
              <p:nvPr/>
            </p:nvGrpSpPr>
            <p:grpSpPr>
              <a:xfrm>
                <a:off x="3570916" y="5306720"/>
                <a:ext cx="508000" cy="225391"/>
                <a:chOff x="4128204" y="3600527"/>
                <a:chExt cx="568606" cy="344310"/>
              </a:xfrm>
            </p:grpSpPr>
            <p:sp>
              <p:nvSpPr>
                <p:cNvPr id="7849" name="Google Shape;7849;p80"/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0" name="Google Shape;7850;p80"/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1" name="Google Shape;7851;p80"/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52" name="Google Shape;7852;p80"/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53" name="Google Shape;7853;p80"/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54" name="Google Shape;7854;p80"/>
              <p:cNvSpPr/>
              <p:nvPr/>
            </p:nvSpPr>
            <p:spPr>
              <a:xfrm>
                <a:off x="3572503" y="4574992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55" name="Google Shape;7855;p80"/>
              <p:cNvCxnSpPr/>
              <p:nvPr/>
            </p:nvCxnSpPr>
            <p:spPr>
              <a:xfrm flipH="1">
                <a:off x="3566153" y="4027387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56" name="Google Shape;7856;p80"/>
              <p:cNvGrpSpPr/>
              <p:nvPr/>
            </p:nvGrpSpPr>
            <p:grpSpPr>
              <a:xfrm>
                <a:off x="3569328" y="3862312"/>
                <a:ext cx="503238" cy="247614"/>
                <a:chOff x="2184877" y="1564501"/>
                <a:chExt cx="1198749" cy="439187"/>
              </a:xfrm>
            </p:grpSpPr>
            <p:sp>
              <p:nvSpPr>
                <p:cNvPr id="7857" name="Google Shape;7857;p80"/>
                <p:cNvSpPr/>
                <p:nvPr/>
              </p:nvSpPr>
              <p:spPr>
                <a:xfrm flipH="1" rot="10800000">
                  <a:off x="2188659" y="1691189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8" name="Google Shape;7858;p80"/>
                <p:cNvSpPr/>
                <p:nvPr/>
              </p:nvSpPr>
              <p:spPr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9" name="Google Shape;7859;p80"/>
                <p:cNvSpPr/>
                <p:nvPr/>
              </p:nvSpPr>
              <p:spPr>
                <a:xfrm flipH="1" rot="10800000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60" name="Google Shape;7860;p80"/>
                <p:cNvSpPr/>
                <p:nvPr/>
              </p:nvSpPr>
              <p:spPr>
                <a:xfrm>
                  <a:off x="2491182" y="1671482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61" name="Google Shape;7861;p80"/>
                <p:cNvSpPr/>
                <p:nvPr/>
              </p:nvSpPr>
              <p:spPr>
                <a:xfrm>
                  <a:off x="2430678" y="1629252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62" name="Google Shape;7862;p80"/>
                <p:cNvSpPr/>
                <p:nvPr/>
              </p:nvSpPr>
              <p:spPr>
                <a:xfrm>
                  <a:off x="2892025" y="1722158"/>
                  <a:ext cx="260925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63" name="Google Shape;7863;p80"/>
                <p:cNvSpPr/>
                <p:nvPr/>
              </p:nvSpPr>
              <p:spPr>
                <a:xfrm>
                  <a:off x="2419332" y="1724972"/>
                  <a:ext cx="253364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64" name="Google Shape;7864;p80"/>
                <p:cNvCxnSpPr>
                  <a:endCxn id="7859" idx="2"/>
                </p:cNvCxnSpPr>
                <p:nvPr/>
              </p:nvCxnSpPr>
              <p:spPr>
                <a:xfrm rot="10800000">
                  <a:off x="2184877" y="1720750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865" name="Google Shape;7865;p80"/>
                <p:cNvCxnSpPr/>
                <p:nvPr/>
              </p:nvCxnSpPr>
              <p:spPr>
                <a:xfrm rot="10800000">
                  <a:off x="3379842" y="1727788"/>
                  <a:ext cx="3783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866" name="Google Shape;7866;p80"/>
            <p:cNvGrpSpPr/>
            <p:nvPr/>
          </p:nvGrpSpPr>
          <p:grpSpPr>
            <a:xfrm>
              <a:off x="4348791" y="3867073"/>
              <a:ext cx="514350" cy="1669799"/>
              <a:chOff x="4348791" y="3867073"/>
              <a:chExt cx="514350" cy="1669799"/>
            </a:xfrm>
          </p:grpSpPr>
          <p:sp>
            <p:nvSpPr>
              <p:cNvPr id="7867" name="Google Shape;7867;p80"/>
              <p:cNvSpPr/>
              <p:nvPr/>
            </p:nvSpPr>
            <p:spPr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68" name="Google Shape;7868;p80"/>
              <p:cNvCxnSpPr/>
              <p:nvPr/>
            </p:nvCxnSpPr>
            <p:spPr>
              <a:xfrm flipH="1">
                <a:off x="4861553" y="402421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69" name="Google Shape;7869;p80"/>
              <p:cNvGrpSpPr/>
              <p:nvPr/>
            </p:nvGrpSpPr>
            <p:grpSpPr>
              <a:xfrm>
                <a:off x="4353553" y="5311481"/>
                <a:ext cx="508000" cy="225391"/>
                <a:chOff x="4128204" y="3600524"/>
                <a:chExt cx="568606" cy="344310"/>
              </a:xfrm>
            </p:grpSpPr>
            <p:sp>
              <p:nvSpPr>
                <p:cNvPr id="7870" name="Google Shape;7870;p80"/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71" name="Google Shape;7871;p80"/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72" name="Google Shape;7872;p80"/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73" name="Google Shape;7873;p80"/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74" name="Google Shape;7874;p80"/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75" name="Google Shape;7875;p80"/>
              <p:cNvSpPr/>
              <p:nvPr/>
            </p:nvSpPr>
            <p:spPr>
              <a:xfrm>
                <a:off x="4355141" y="457975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76" name="Google Shape;7876;p80"/>
              <p:cNvCxnSpPr/>
              <p:nvPr/>
            </p:nvCxnSpPr>
            <p:spPr>
              <a:xfrm flipH="1">
                <a:off x="4348791" y="4032148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77" name="Google Shape;7877;p80"/>
              <p:cNvGrpSpPr/>
              <p:nvPr/>
            </p:nvGrpSpPr>
            <p:grpSpPr>
              <a:xfrm>
                <a:off x="4351966" y="3867073"/>
                <a:ext cx="503237" cy="247613"/>
                <a:chOff x="2184879" y="1564498"/>
                <a:chExt cx="1198746" cy="439186"/>
              </a:xfrm>
            </p:grpSpPr>
            <p:sp>
              <p:nvSpPr>
                <p:cNvPr id="7878" name="Google Shape;7878;p80"/>
                <p:cNvSpPr/>
                <p:nvPr/>
              </p:nvSpPr>
              <p:spPr>
                <a:xfrm flipH="1" rot="10800000">
                  <a:off x="2188659" y="1691187"/>
                  <a:ext cx="1194966" cy="31249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79" name="Google Shape;7879;p80"/>
                <p:cNvSpPr/>
                <p:nvPr/>
              </p:nvSpPr>
              <p:spPr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0" name="Google Shape;7880;p80"/>
                <p:cNvSpPr/>
                <p:nvPr/>
              </p:nvSpPr>
              <p:spPr>
                <a:xfrm flipH="1" rot="10800000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1" name="Google Shape;7881;p80"/>
                <p:cNvSpPr/>
                <p:nvPr/>
              </p:nvSpPr>
              <p:spPr>
                <a:xfrm>
                  <a:off x="2491182" y="1671479"/>
                  <a:ext cx="582357" cy="154842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2" name="Google Shape;7882;p80"/>
                <p:cNvSpPr/>
                <p:nvPr/>
              </p:nvSpPr>
              <p:spPr>
                <a:xfrm>
                  <a:off x="2430678" y="1629250"/>
                  <a:ext cx="703366" cy="10979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3" name="Google Shape;7883;p80"/>
                <p:cNvSpPr/>
                <p:nvPr/>
              </p:nvSpPr>
              <p:spPr>
                <a:xfrm>
                  <a:off x="2892025" y="1722154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4" name="Google Shape;7884;p80"/>
                <p:cNvSpPr/>
                <p:nvPr/>
              </p:nvSpPr>
              <p:spPr>
                <a:xfrm>
                  <a:off x="2419334" y="1724970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85" name="Google Shape;7885;p80"/>
                <p:cNvCxnSpPr>
                  <a:endCxn id="7880" idx="2"/>
                </p:cNvCxnSpPr>
                <p:nvPr/>
              </p:nvCxnSpPr>
              <p:spPr>
                <a:xfrm rot="10800000">
                  <a:off x="2184879" y="1720747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886" name="Google Shape;7886;p80"/>
                <p:cNvCxnSpPr/>
                <p:nvPr/>
              </p:nvCxnSpPr>
              <p:spPr>
                <a:xfrm rot="10800000">
                  <a:off x="3379845" y="1727785"/>
                  <a:ext cx="3780" cy="1210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887" name="Google Shape;7887;p80"/>
            <p:cNvGrpSpPr/>
            <p:nvPr/>
          </p:nvGrpSpPr>
          <p:grpSpPr>
            <a:xfrm>
              <a:off x="5552117" y="3849614"/>
              <a:ext cx="514350" cy="1669799"/>
              <a:chOff x="5552117" y="3849614"/>
              <a:chExt cx="514350" cy="1669799"/>
            </a:xfrm>
          </p:grpSpPr>
          <p:sp>
            <p:nvSpPr>
              <p:cNvPr id="7888" name="Google Shape;7888;p80"/>
              <p:cNvSpPr/>
              <p:nvPr/>
            </p:nvSpPr>
            <p:spPr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89" name="Google Shape;7889;p80"/>
              <p:cNvCxnSpPr/>
              <p:nvPr/>
            </p:nvCxnSpPr>
            <p:spPr>
              <a:xfrm flipH="1">
                <a:off x="6064879" y="400675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90" name="Google Shape;7890;p80"/>
              <p:cNvGrpSpPr/>
              <p:nvPr/>
            </p:nvGrpSpPr>
            <p:grpSpPr>
              <a:xfrm>
                <a:off x="5556879" y="5294022"/>
                <a:ext cx="508000" cy="225392"/>
                <a:chOff x="4128205" y="3600530"/>
                <a:chExt cx="568606" cy="344311"/>
              </a:xfrm>
            </p:grpSpPr>
            <p:sp>
              <p:nvSpPr>
                <p:cNvPr id="7891" name="Google Shape;7891;p80"/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92" name="Google Shape;7892;p80"/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93" name="Google Shape;7893;p80"/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94" name="Google Shape;7894;p80"/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95" name="Google Shape;7895;p80"/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96" name="Google Shape;7896;p80"/>
              <p:cNvSpPr/>
              <p:nvPr/>
            </p:nvSpPr>
            <p:spPr>
              <a:xfrm>
                <a:off x="5558467" y="456229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97" name="Google Shape;7897;p80"/>
              <p:cNvCxnSpPr/>
              <p:nvPr/>
            </p:nvCxnSpPr>
            <p:spPr>
              <a:xfrm flipH="1">
                <a:off x="5552117" y="4014689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98" name="Google Shape;7898;p80"/>
              <p:cNvGrpSpPr/>
              <p:nvPr/>
            </p:nvGrpSpPr>
            <p:grpSpPr>
              <a:xfrm>
                <a:off x="5555292" y="3849614"/>
                <a:ext cx="503237" cy="247613"/>
                <a:chOff x="2184881" y="1564505"/>
                <a:chExt cx="1198747" cy="439186"/>
              </a:xfrm>
            </p:grpSpPr>
            <p:sp>
              <p:nvSpPr>
                <p:cNvPr id="7899" name="Google Shape;7899;p80"/>
                <p:cNvSpPr/>
                <p:nvPr/>
              </p:nvSpPr>
              <p:spPr>
                <a:xfrm flipH="1" rot="10800000">
                  <a:off x="2188662" y="1691192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0" name="Google Shape;7900;p80"/>
                <p:cNvSpPr/>
                <p:nvPr/>
              </p:nvSpPr>
              <p:spPr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1" name="Google Shape;7901;p80"/>
                <p:cNvSpPr/>
                <p:nvPr/>
              </p:nvSpPr>
              <p:spPr>
                <a:xfrm flipH="1" rot="10800000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2" name="Google Shape;7902;p80"/>
                <p:cNvSpPr/>
                <p:nvPr/>
              </p:nvSpPr>
              <p:spPr>
                <a:xfrm>
                  <a:off x="2491185" y="1671486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3" name="Google Shape;7903;p80"/>
                <p:cNvSpPr/>
                <p:nvPr/>
              </p:nvSpPr>
              <p:spPr>
                <a:xfrm>
                  <a:off x="2430680" y="1629256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4" name="Google Shape;7904;p80"/>
                <p:cNvSpPr/>
                <p:nvPr/>
              </p:nvSpPr>
              <p:spPr>
                <a:xfrm>
                  <a:off x="2892028" y="1722161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5" name="Google Shape;7905;p80"/>
                <p:cNvSpPr/>
                <p:nvPr/>
              </p:nvSpPr>
              <p:spPr>
                <a:xfrm>
                  <a:off x="2419337" y="1724976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906" name="Google Shape;7906;p80"/>
                <p:cNvCxnSpPr>
                  <a:endCxn id="7901" idx="2"/>
                </p:cNvCxnSpPr>
                <p:nvPr/>
              </p:nvCxnSpPr>
              <p:spPr>
                <a:xfrm rot="10800000">
                  <a:off x="2184881" y="1720754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907" name="Google Shape;7907;p80"/>
                <p:cNvCxnSpPr/>
                <p:nvPr/>
              </p:nvCxnSpPr>
              <p:spPr>
                <a:xfrm rot="10800000">
                  <a:off x="3379847" y="1727792"/>
                  <a:ext cx="3780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908" name="Google Shape;7908;p80"/>
            <p:cNvGrpSpPr/>
            <p:nvPr/>
          </p:nvGrpSpPr>
          <p:grpSpPr>
            <a:xfrm>
              <a:off x="6547479" y="3836916"/>
              <a:ext cx="514350" cy="1671386"/>
              <a:chOff x="6547479" y="3836916"/>
              <a:chExt cx="514350" cy="1671386"/>
            </a:xfrm>
          </p:grpSpPr>
          <p:sp>
            <p:nvSpPr>
              <p:cNvPr id="7909" name="Google Shape;7909;p80"/>
              <p:cNvSpPr/>
              <p:nvPr/>
            </p:nvSpPr>
            <p:spPr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10" name="Google Shape;7910;p80"/>
              <p:cNvCxnSpPr/>
              <p:nvPr/>
            </p:nvCxnSpPr>
            <p:spPr>
              <a:xfrm flipH="1">
                <a:off x="7060242" y="3994054"/>
                <a:ext cx="1587" cy="136663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911" name="Google Shape;7911;p80"/>
              <p:cNvGrpSpPr/>
              <p:nvPr/>
            </p:nvGrpSpPr>
            <p:grpSpPr>
              <a:xfrm>
                <a:off x="6552242" y="5286085"/>
                <a:ext cx="508000" cy="222217"/>
                <a:chOff x="4128205" y="3605704"/>
                <a:chExt cx="568606" cy="339138"/>
              </a:xfrm>
            </p:grpSpPr>
            <p:sp>
              <p:nvSpPr>
                <p:cNvPr id="7912" name="Google Shape;7912;p80"/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13" name="Google Shape;7913;p80"/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14" name="Google Shape;7914;p80"/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915" name="Google Shape;7915;p80"/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916" name="Google Shape;7916;p80"/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917" name="Google Shape;7917;p80"/>
              <p:cNvSpPr/>
              <p:nvPr/>
            </p:nvSpPr>
            <p:spPr>
              <a:xfrm>
                <a:off x="6553829" y="4551184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18" name="Google Shape;7918;p80"/>
              <p:cNvCxnSpPr/>
              <p:nvPr/>
            </p:nvCxnSpPr>
            <p:spPr>
              <a:xfrm flipH="1">
                <a:off x="6547479" y="4001991"/>
                <a:ext cx="3175" cy="14523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919" name="Google Shape;7919;p80"/>
              <p:cNvGrpSpPr/>
              <p:nvPr/>
            </p:nvGrpSpPr>
            <p:grpSpPr>
              <a:xfrm>
                <a:off x="6550654" y="3836916"/>
                <a:ext cx="503238" cy="249200"/>
                <a:chOff x="2184879" y="1564508"/>
                <a:chExt cx="1198749" cy="441581"/>
              </a:xfrm>
            </p:grpSpPr>
            <p:sp>
              <p:nvSpPr>
                <p:cNvPr id="7920" name="Google Shape;7920;p80"/>
                <p:cNvSpPr/>
                <p:nvPr/>
              </p:nvSpPr>
              <p:spPr>
                <a:xfrm flipH="1" rot="10800000">
                  <a:off x="2188662" y="1691075"/>
                  <a:ext cx="1194966" cy="315014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1" name="Google Shape;7921;p80"/>
                <p:cNvSpPr/>
                <p:nvPr/>
              </p:nvSpPr>
              <p:spPr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2" name="Google Shape;7922;p80"/>
                <p:cNvSpPr/>
                <p:nvPr/>
              </p:nvSpPr>
              <p:spPr>
                <a:xfrm flipH="1" rot="10800000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3" name="Google Shape;7923;p80"/>
                <p:cNvSpPr/>
                <p:nvPr/>
              </p:nvSpPr>
              <p:spPr>
                <a:xfrm>
                  <a:off x="2491185" y="1671388"/>
                  <a:ext cx="582357" cy="157507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4" name="Google Shape;7924;p80"/>
                <p:cNvSpPr/>
                <p:nvPr/>
              </p:nvSpPr>
              <p:spPr>
                <a:xfrm>
                  <a:off x="2430680" y="1629198"/>
                  <a:ext cx="703366" cy="112505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5" name="Google Shape;7925;p80"/>
                <p:cNvSpPr/>
                <p:nvPr/>
              </p:nvSpPr>
              <p:spPr>
                <a:xfrm>
                  <a:off x="2892028" y="1724827"/>
                  <a:ext cx="260925" cy="9562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6" name="Google Shape;7926;p80"/>
                <p:cNvSpPr/>
                <p:nvPr/>
              </p:nvSpPr>
              <p:spPr>
                <a:xfrm>
                  <a:off x="2419334" y="1727640"/>
                  <a:ext cx="253364" cy="92816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927" name="Google Shape;7927;p80"/>
                <p:cNvCxnSpPr>
                  <a:endCxn id="7922" idx="2"/>
                </p:cNvCxnSpPr>
                <p:nvPr/>
              </p:nvCxnSpPr>
              <p:spPr>
                <a:xfrm rot="10800000">
                  <a:off x="2184879" y="172201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928" name="Google Shape;7928;p80"/>
                <p:cNvCxnSpPr/>
                <p:nvPr/>
              </p:nvCxnSpPr>
              <p:spPr>
                <a:xfrm rot="10800000">
                  <a:off x="3379845" y="1730452"/>
                  <a:ext cx="3783" cy="12094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7929" name="Google Shape;7929;p80"/>
          <p:cNvGrpSpPr/>
          <p:nvPr/>
        </p:nvGrpSpPr>
        <p:grpSpPr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7930" name="Google Shape;7930;p80"/>
            <p:cNvSpPr/>
            <p:nvPr/>
          </p:nvSpPr>
          <p:spPr>
            <a:xfrm>
              <a:off x="2381956" y="2439937"/>
              <a:ext cx="296789" cy="1743431"/>
            </a:xfrm>
            <a:custGeom>
              <a:rect b="b" l="l" r="r" t="t"/>
              <a:pathLst>
                <a:path extrusionOk="0" h="2022548" w="22853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31" name="Google Shape;7931;p80"/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rect b="b" l="l" r="r" t="t"/>
              <a:pathLst>
                <a:path extrusionOk="0" h="2117725" w="30727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7932" name="Google Shape;7932;p80"/>
            <p:cNvCxnSpPr/>
            <p:nvPr/>
          </p:nvCxnSpPr>
          <p:spPr>
            <a:xfrm flipH="1" rot="10800000">
              <a:off x="5791061" y="2687638"/>
              <a:ext cx="7936" cy="206258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33" name="Google Shape;7933;p80"/>
            <p:cNvCxnSpPr/>
            <p:nvPr/>
          </p:nvCxnSpPr>
          <p:spPr>
            <a:xfrm flipH="1" rot="10800000">
              <a:off x="4599144" y="2708279"/>
              <a:ext cx="17458" cy="2037179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34" name="Google Shape;7934;p80"/>
            <p:cNvCxnSpPr/>
            <p:nvPr/>
          </p:nvCxnSpPr>
          <p:spPr>
            <a:xfrm rot="10800000">
              <a:off x="3807178" y="2762265"/>
              <a:ext cx="9523" cy="198319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7935" name="Google Shape;7935;p80"/>
          <p:cNvGrpSpPr/>
          <p:nvPr/>
        </p:nvGrpSpPr>
        <p:grpSpPr>
          <a:xfrm>
            <a:off x="3806679" y="4636468"/>
            <a:ext cx="4956176" cy="692149"/>
            <a:chOff x="2056656" y="4691836"/>
            <a:chExt cx="4955291" cy="692750"/>
          </a:xfrm>
        </p:grpSpPr>
        <p:grpSp>
          <p:nvGrpSpPr>
            <p:cNvPr id="7936" name="Google Shape;7936;p80"/>
            <p:cNvGrpSpPr/>
            <p:nvPr/>
          </p:nvGrpSpPr>
          <p:grpSpPr>
            <a:xfrm>
              <a:off x="3605780" y="5055689"/>
              <a:ext cx="430136" cy="328897"/>
              <a:chOff x="2932124" y="3912858"/>
              <a:chExt cx="430455" cy="329059"/>
            </a:xfrm>
          </p:grpSpPr>
          <p:sp>
            <p:nvSpPr>
              <p:cNvPr id="7937" name="Google Shape;7937;p80"/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38" name="Google Shape;7938;p80"/>
              <p:cNvCxnSpPr/>
              <p:nvPr/>
            </p:nvCxnSpPr>
            <p:spPr>
              <a:xfrm>
                <a:off x="2932124" y="4005058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9" name="Google Shape;7939;p80"/>
              <p:cNvCxnSpPr/>
              <p:nvPr/>
            </p:nvCxnSpPr>
            <p:spPr>
              <a:xfrm>
                <a:off x="2932124" y="406864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0" name="Google Shape;7940;p80"/>
              <p:cNvCxnSpPr>
                <a:stCxn id="7937" idx="2"/>
              </p:cNvCxnSpPr>
              <p:nvPr/>
            </p:nvCxnSpPr>
            <p:spPr>
              <a:xfrm rot="10800000">
                <a:off x="3148235" y="4004917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41" name="Google Shape;7941;p80"/>
            <p:cNvGrpSpPr/>
            <p:nvPr/>
          </p:nvGrpSpPr>
          <p:grpSpPr>
            <a:xfrm>
              <a:off x="4388278" y="5055689"/>
              <a:ext cx="430135" cy="328897"/>
              <a:chOff x="2931985" y="3912924"/>
              <a:chExt cx="430454" cy="329059"/>
            </a:xfrm>
          </p:grpSpPr>
          <p:sp>
            <p:nvSpPr>
              <p:cNvPr id="7942" name="Google Shape;7942;p80"/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43" name="Google Shape;7943;p80"/>
              <p:cNvCxnSpPr/>
              <p:nvPr/>
            </p:nvCxnSpPr>
            <p:spPr>
              <a:xfrm>
                <a:off x="2931985" y="400512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4" name="Google Shape;7944;p80"/>
              <p:cNvCxnSpPr/>
              <p:nvPr/>
            </p:nvCxnSpPr>
            <p:spPr>
              <a:xfrm>
                <a:off x="2931985" y="4068711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5" name="Google Shape;7945;p80"/>
              <p:cNvCxnSpPr>
                <a:stCxn id="7942" idx="2"/>
              </p:cNvCxnSpPr>
              <p:nvPr/>
            </p:nvCxnSpPr>
            <p:spPr>
              <a:xfrm rot="10800000">
                <a:off x="3148095" y="4004983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46" name="Google Shape;7946;p80"/>
            <p:cNvGrpSpPr/>
            <p:nvPr/>
          </p:nvGrpSpPr>
          <p:grpSpPr>
            <a:xfrm>
              <a:off x="5591389" y="5052511"/>
              <a:ext cx="430134" cy="328897"/>
              <a:chOff x="2931771" y="3912722"/>
              <a:chExt cx="430453" cy="329058"/>
            </a:xfrm>
          </p:grpSpPr>
          <p:sp>
            <p:nvSpPr>
              <p:cNvPr id="7947" name="Google Shape;7947;p80"/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48" name="Google Shape;7948;p80"/>
              <p:cNvCxnSpPr/>
              <p:nvPr/>
            </p:nvCxnSpPr>
            <p:spPr>
              <a:xfrm>
                <a:off x="2931771" y="400492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9" name="Google Shape;7949;p80"/>
              <p:cNvCxnSpPr/>
              <p:nvPr/>
            </p:nvCxnSpPr>
            <p:spPr>
              <a:xfrm>
                <a:off x="2931771" y="4068509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0" name="Google Shape;7950;p80"/>
              <p:cNvCxnSpPr>
                <a:stCxn id="7947" idx="2"/>
              </p:cNvCxnSpPr>
              <p:nvPr/>
            </p:nvCxnSpPr>
            <p:spPr>
              <a:xfrm rot="10800000">
                <a:off x="3147880" y="4004780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51" name="Google Shape;7951;p80"/>
            <p:cNvGrpSpPr/>
            <p:nvPr/>
          </p:nvGrpSpPr>
          <p:grpSpPr>
            <a:xfrm>
              <a:off x="6581812" y="5046155"/>
              <a:ext cx="430135" cy="328898"/>
              <a:chOff x="2931660" y="3913102"/>
              <a:chExt cx="430454" cy="328747"/>
            </a:xfrm>
          </p:grpSpPr>
          <p:sp>
            <p:nvSpPr>
              <p:cNvPr id="7952" name="Google Shape;7952;p80"/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53" name="Google Shape;7953;p80"/>
              <p:cNvCxnSpPr/>
              <p:nvPr/>
            </p:nvCxnSpPr>
            <p:spPr>
              <a:xfrm>
                <a:off x="2931660" y="400521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4" name="Google Shape;7954;p80"/>
              <p:cNvCxnSpPr/>
              <p:nvPr/>
            </p:nvCxnSpPr>
            <p:spPr>
              <a:xfrm>
                <a:off x="2931660" y="406715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5" name="Google Shape;7955;p80"/>
              <p:cNvCxnSpPr>
                <a:stCxn id="7952" idx="2"/>
              </p:cNvCxnSpPr>
              <p:nvPr/>
            </p:nvCxnSpPr>
            <p:spPr>
              <a:xfrm rot="10800000">
                <a:off x="3147770" y="4005149"/>
                <a:ext cx="1500" cy="236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56" name="Google Shape;7956;p80"/>
            <p:cNvGrpSpPr/>
            <p:nvPr/>
          </p:nvGrpSpPr>
          <p:grpSpPr>
            <a:xfrm>
              <a:off x="2056656" y="4691836"/>
              <a:ext cx="674567" cy="519563"/>
              <a:chOff x="2932675" y="3913607"/>
              <a:chExt cx="429970" cy="328266"/>
            </a:xfrm>
          </p:grpSpPr>
          <p:sp>
            <p:nvSpPr>
              <p:cNvPr id="7957" name="Google Shape;7957;p80"/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58" name="Google Shape;7958;p80"/>
              <p:cNvCxnSpPr/>
              <p:nvPr/>
            </p:nvCxnSpPr>
            <p:spPr>
              <a:xfrm>
                <a:off x="2932675" y="4004959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9" name="Google Shape;7959;p80"/>
              <p:cNvCxnSpPr/>
              <p:nvPr/>
            </p:nvCxnSpPr>
            <p:spPr>
              <a:xfrm>
                <a:off x="2932675" y="4069207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60" name="Google Shape;7960;p80"/>
              <p:cNvCxnSpPr>
                <a:stCxn id="7957" idx="2"/>
              </p:cNvCxnSpPr>
              <p:nvPr/>
            </p:nvCxnSpPr>
            <p:spPr>
              <a:xfrm rot="10800000">
                <a:off x="3148784" y="4004873"/>
                <a:ext cx="9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961" name="Google Shape;7961;p80"/>
          <p:cNvGrpSpPr/>
          <p:nvPr/>
        </p:nvGrpSpPr>
        <p:grpSpPr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7962" name="Google Shape;7962;p80"/>
            <p:cNvSpPr/>
            <p:nvPr/>
          </p:nvSpPr>
          <p:spPr>
            <a:xfrm flipH="1" rot="10800000">
              <a:off x="1874317" y="1693636"/>
              <a:ext cx="1125331" cy="320525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3" name="Google Shape;7963;p80"/>
            <p:cNvSpPr/>
            <p:nvPr/>
          </p:nvSpPr>
          <p:spPr>
            <a:xfrm>
              <a:off x="1871277" y="1739425"/>
              <a:ext cx="1128371" cy="11733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4" name="Google Shape;7964;p80"/>
            <p:cNvSpPr/>
            <p:nvPr/>
          </p:nvSpPr>
          <p:spPr>
            <a:xfrm flipH="1" rot="10800000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5" name="Google Shape;7965;p80"/>
            <p:cNvSpPr/>
            <p:nvPr/>
          </p:nvSpPr>
          <p:spPr>
            <a:xfrm>
              <a:off x="2160212" y="1673602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6" name="Google Shape;7966;p80"/>
            <p:cNvSpPr/>
            <p:nvPr/>
          </p:nvSpPr>
          <p:spPr>
            <a:xfrm>
              <a:off x="2102426" y="1633537"/>
              <a:ext cx="663033" cy="111612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7" name="Google Shape;7967;p80"/>
            <p:cNvSpPr/>
            <p:nvPr/>
          </p:nvSpPr>
          <p:spPr>
            <a:xfrm>
              <a:off x="2537350" y="1727978"/>
              <a:ext cx="243315" cy="97302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8" name="Google Shape;7968;p80"/>
            <p:cNvSpPr/>
            <p:nvPr/>
          </p:nvSpPr>
          <p:spPr>
            <a:xfrm>
              <a:off x="2090260" y="1730839"/>
              <a:ext cx="240272" cy="97302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69" name="Google Shape;7969;p80"/>
            <p:cNvCxnSpPr>
              <a:endCxn id="796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970" name="Google Shape;7970;p80"/>
            <p:cNvCxnSpPr/>
            <p:nvPr/>
          </p:nvCxnSpPr>
          <p:spPr>
            <a:xfrm rot="10800000">
              <a:off x="2996608" y="1733702"/>
              <a:ext cx="3040" cy="1230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971" name="Google Shape;7971;p80"/>
          <p:cNvGrpSpPr/>
          <p:nvPr/>
        </p:nvGrpSpPr>
        <p:grpSpPr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7972" name="Google Shape;7972;p80"/>
            <p:cNvSpPr/>
            <p:nvPr/>
          </p:nvSpPr>
          <p:spPr>
            <a:xfrm flipH="1" rot="10800000">
              <a:off x="1874319" y="1693635"/>
              <a:ext cx="1125329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3" name="Google Shape;7973;p80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4" name="Google Shape;7974;p80"/>
            <p:cNvSpPr/>
            <p:nvPr/>
          </p:nvSpPr>
          <p:spPr>
            <a:xfrm flipH="1" rot="10800000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5" name="Google Shape;7975;p80"/>
            <p:cNvSpPr/>
            <p:nvPr/>
          </p:nvSpPr>
          <p:spPr>
            <a:xfrm>
              <a:off x="2160214" y="1673603"/>
              <a:ext cx="547457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6" name="Google Shape;7976;p80"/>
            <p:cNvSpPr/>
            <p:nvPr/>
          </p:nvSpPr>
          <p:spPr>
            <a:xfrm>
              <a:off x="2102426" y="1633537"/>
              <a:ext cx="663031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7" name="Google Shape;7977;p80"/>
            <p:cNvSpPr/>
            <p:nvPr/>
          </p:nvSpPr>
          <p:spPr>
            <a:xfrm>
              <a:off x="2537351" y="1727977"/>
              <a:ext cx="243314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8" name="Google Shape;7978;p80"/>
            <p:cNvSpPr/>
            <p:nvPr/>
          </p:nvSpPr>
          <p:spPr>
            <a:xfrm>
              <a:off x="2090260" y="1730839"/>
              <a:ext cx="240274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79" name="Google Shape;7979;p80"/>
            <p:cNvCxnSpPr>
              <a:endCxn id="797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980" name="Google Shape;7980;p80"/>
            <p:cNvCxnSpPr/>
            <p:nvPr/>
          </p:nvCxnSpPr>
          <p:spPr>
            <a:xfrm rot="10800000">
              <a:off x="2996606" y="1733700"/>
              <a:ext cx="3042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981" name="Google Shape;7981;p80"/>
          <p:cNvGrpSpPr/>
          <p:nvPr/>
        </p:nvGrpSpPr>
        <p:grpSpPr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7982" name="Google Shape;7982;p80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3" name="Google Shape;7983;p80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4" name="Google Shape;7984;p80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5" name="Google Shape;7985;p80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6" name="Google Shape;7986;p80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7" name="Google Shape;7987;p80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8" name="Google Shape;7988;p80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89" name="Google Shape;7989;p80"/>
            <p:cNvCxnSpPr>
              <a:endCxn id="798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990" name="Google Shape;7990;p80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991" name="Google Shape;7991;p80"/>
          <p:cNvGrpSpPr/>
          <p:nvPr/>
        </p:nvGrpSpPr>
        <p:grpSpPr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7992" name="Google Shape;7992;p80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3" name="Google Shape;7993;p80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4" name="Google Shape;7994;p80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5" name="Google Shape;7995;p80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6" name="Google Shape;7996;p80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7" name="Google Shape;7997;p80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8" name="Google Shape;7998;p80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99" name="Google Shape;7999;p80"/>
            <p:cNvCxnSpPr>
              <a:endCxn id="799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000" name="Google Shape;8000;p80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8001" name="Google Shape;8001;p80"/>
          <p:cNvGrpSpPr/>
          <p:nvPr/>
        </p:nvGrpSpPr>
        <p:grpSpPr>
          <a:xfrm>
            <a:off x="4494068" y="2167905"/>
            <a:ext cx="3598862" cy="493712"/>
            <a:chOff x="2704632" y="2011398"/>
            <a:chExt cx="3598520" cy="493919"/>
          </a:xfrm>
        </p:grpSpPr>
        <p:sp>
          <p:nvSpPr>
            <p:cNvPr id="8002" name="Google Shape;8002;p80"/>
            <p:cNvSpPr/>
            <p:nvPr/>
          </p:nvSpPr>
          <p:spPr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196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003" name="Google Shape;8003;p80"/>
            <p:cNvSpPr/>
            <p:nvPr/>
          </p:nvSpPr>
          <p:spPr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1960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004" name="Google Shape;8004;p80"/>
            <p:cNvSpPr txBox="1"/>
            <p:nvPr/>
          </p:nvSpPr>
          <p:spPr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1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Remote Controller</a:t>
              </a:r>
              <a:endParaRPr/>
            </a:p>
          </p:txBody>
        </p:sp>
      </p:grpSp>
      <p:grpSp>
        <p:nvGrpSpPr>
          <p:cNvPr id="8005" name="Google Shape;8005;p80"/>
          <p:cNvGrpSpPr/>
          <p:nvPr/>
        </p:nvGrpSpPr>
        <p:grpSpPr>
          <a:xfrm>
            <a:off x="3674918" y="4177680"/>
            <a:ext cx="5095875" cy="822325"/>
            <a:chOff x="3674918" y="4177680"/>
            <a:chExt cx="5095875" cy="822325"/>
          </a:xfrm>
        </p:grpSpPr>
        <p:grpSp>
          <p:nvGrpSpPr>
            <p:cNvPr id="8006" name="Google Shape;8006;p80"/>
            <p:cNvGrpSpPr/>
            <p:nvPr/>
          </p:nvGrpSpPr>
          <p:grpSpPr>
            <a:xfrm>
              <a:off x="3674918" y="4177680"/>
              <a:ext cx="923925" cy="406399"/>
              <a:chOff x="2705100" y="2011480"/>
              <a:chExt cx="3598690" cy="494427"/>
            </a:xfrm>
          </p:grpSpPr>
          <p:sp>
            <p:nvSpPr>
              <p:cNvPr id="8007" name="Google Shape;8007;p80"/>
              <p:cNvSpPr/>
              <p:nvPr/>
            </p:nvSpPr>
            <p:spPr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19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08" name="Google Shape;8008;p80"/>
              <p:cNvSpPr/>
              <p:nvPr/>
            </p:nvSpPr>
            <p:spPr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1960"/>
                </a:srgbClr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09" name="Google Shape;8009;p80"/>
              <p:cNvSpPr txBox="1"/>
              <p:nvPr/>
            </p:nvSpPr>
            <p:spPr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1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/>
              </a:p>
            </p:txBody>
          </p:sp>
        </p:grpSp>
        <p:grpSp>
          <p:nvGrpSpPr>
            <p:cNvPr id="8010" name="Google Shape;8010;p80"/>
            <p:cNvGrpSpPr/>
            <p:nvPr/>
          </p:nvGrpSpPr>
          <p:grpSpPr>
            <a:xfrm>
              <a:off x="5338618" y="4714256"/>
              <a:ext cx="463550" cy="285749"/>
              <a:chOff x="3558760" y="4573304"/>
              <a:chExt cx="463506" cy="285869"/>
            </a:xfrm>
          </p:grpSpPr>
          <p:grpSp>
            <p:nvGrpSpPr>
              <p:cNvPr id="8011" name="Google Shape;8011;p80"/>
              <p:cNvGrpSpPr/>
              <p:nvPr/>
            </p:nvGrpSpPr>
            <p:grpSpPr>
              <a:xfrm>
                <a:off x="3558760" y="4578067"/>
                <a:ext cx="463506" cy="262048"/>
                <a:chOff x="3558760" y="4578067"/>
                <a:chExt cx="463506" cy="262048"/>
              </a:xfrm>
            </p:grpSpPr>
            <p:sp>
              <p:nvSpPr>
                <p:cNvPr id="8012" name="Google Shape;8012;p80"/>
                <p:cNvSpPr/>
                <p:nvPr/>
              </p:nvSpPr>
              <p:spPr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13" name="Google Shape;8013;p80"/>
                <p:cNvSpPr/>
                <p:nvPr/>
              </p:nvSpPr>
              <p:spPr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14" name="Google Shape;8014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15" name="Google Shape;8015;p80"/>
            <p:cNvGrpSpPr/>
            <p:nvPr/>
          </p:nvGrpSpPr>
          <p:grpSpPr>
            <a:xfrm>
              <a:off x="6119668" y="4712138"/>
              <a:ext cx="463550" cy="285749"/>
              <a:chOff x="3559588" y="4573304"/>
              <a:chExt cx="463506" cy="285869"/>
            </a:xfrm>
          </p:grpSpPr>
          <p:grpSp>
            <p:nvGrpSpPr>
              <p:cNvPr id="8016" name="Google Shape;8016;p80"/>
              <p:cNvGrpSpPr/>
              <p:nvPr/>
            </p:nvGrpSpPr>
            <p:grpSpPr>
              <a:xfrm>
                <a:off x="3559588" y="4581775"/>
                <a:ext cx="463506" cy="258870"/>
                <a:chOff x="3559588" y="4581775"/>
                <a:chExt cx="463506" cy="258870"/>
              </a:xfrm>
            </p:grpSpPr>
            <p:sp>
              <p:nvSpPr>
                <p:cNvPr id="8017" name="Google Shape;8017;p80"/>
                <p:cNvSpPr/>
                <p:nvPr/>
              </p:nvSpPr>
              <p:spPr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18" name="Google Shape;8018;p80"/>
                <p:cNvSpPr/>
                <p:nvPr/>
              </p:nvSpPr>
              <p:spPr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19" name="Google Shape;8019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20" name="Google Shape;8020;p80"/>
            <p:cNvGrpSpPr/>
            <p:nvPr/>
          </p:nvGrpSpPr>
          <p:grpSpPr>
            <a:xfrm>
              <a:off x="7319818" y="4710021"/>
              <a:ext cx="463550" cy="285749"/>
              <a:chOff x="3559368" y="4573304"/>
              <a:chExt cx="463506" cy="285869"/>
            </a:xfrm>
          </p:grpSpPr>
          <p:grpSp>
            <p:nvGrpSpPr>
              <p:cNvPr id="8021" name="Google Shape;8021;p80"/>
              <p:cNvGrpSpPr/>
              <p:nvPr/>
            </p:nvGrpSpPr>
            <p:grpSpPr>
              <a:xfrm>
                <a:off x="3559368" y="4577540"/>
                <a:ext cx="463506" cy="262047"/>
                <a:chOff x="3559368" y="4577540"/>
                <a:chExt cx="463506" cy="262047"/>
              </a:xfrm>
            </p:grpSpPr>
            <p:sp>
              <p:nvSpPr>
                <p:cNvPr id="8022" name="Google Shape;8022;p80"/>
                <p:cNvSpPr/>
                <p:nvPr/>
              </p:nvSpPr>
              <p:spPr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23" name="Google Shape;8023;p80"/>
                <p:cNvSpPr/>
                <p:nvPr/>
              </p:nvSpPr>
              <p:spPr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24" name="Google Shape;8024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25" name="Google Shape;8025;p80"/>
            <p:cNvGrpSpPr/>
            <p:nvPr/>
          </p:nvGrpSpPr>
          <p:grpSpPr>
            <a:xfrm>
              <a:off x="8307243" y="4707904"/>
              <a:ext cx="463550" cy="285749"/>
              <a:chOff x="3558912" y="4573304"/>
              <a:chExt cx="463506" cy="285869"/>
            </a:xfrm>
          </p:grpSpPr>
          <p:grpSp>
            <p:nvGrpSpPr>
              <p:cNvPr id="8026" name="Google Shape;8026;p80"/>
              <p:cNvGrpSpPr/>
              <p:nvPr/>
            </p:nvGrpSpPr>
            <p:grpSpPr>
              <a:xfrm>
                <a:off x="3558912" y="4578069"/>
                <a:ext cx="463506" cy="262048"/>
                <a:chOff x="3558912" y="4578069"/>
                <a:chExt cx="463506" cy="262048"/>
              </a:xfrm>
            </p:grpSpPr>
            <p:sp>
              <p:nvSpPr>
                <p:cNvPr id="8027" name="Google Shape;8027;p80"/>
                <p:cNvSpPr/>
                <p:nvPr/>
              </p:nvSpPr>
              <p:spPr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28" name="Google Shape;8028;p80"/>
                <p:cNvSpPr/>
                <p:nvPr/>
              </p:nvSpPr>
              <p:spPr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29" name="Google Shape;8029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30" name="Google Shape;8030;p80"/>
          <p:cNvGrpSpPr/>
          <p:nvPr/>
        </p:nvGrpSpPr>
        <p:grpSpPr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8031" name="Google Shape;8031;p80"/>
            <p:cNvCxnSpPr/>
            <p:nvPr/>
          </p:nvCxnSpPr>
          <p:spPr>
            <a:xfrm flipH="1">
              <a:off x="1282700" y="5802312"/>
              <a:ext cx="1508125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32" name="Google Shape;8032;p80"/>
            <p:cNvSpPr txBox="1"/>
            <p:nvPr/>
          </p:nvSpPr>
          <p:spPr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8033" name="Google Shape;8033;p80"/>
            <p:cNvSpPr txBox="1"/>
            <p:nvPr/>
          </p:nvSpPr>
          <p:spPr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grpSp>
          <p:nvGrpSpPr>
            <p:cNvPr id="8034" name="Google Shape;8034;p80"/>
            <p:cNvGrpSpPr/>
            <p:nvPr/>
          </p:nvGrpSpPr>
          <p:grpSpPr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8035" name="Google Shape;8035;p80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36" name="Google Shape;8036;p80"/>
              <p:cNvCxnSpPr/>
              <p:nvPr/>
            </p:nvCxnSpPr>
            <p:spPr>
              <a:xfrm>
                <a:off x="-2933828" y="3101502"/>
                <a:ext cx="47154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037" name="Google Shape;8037;p80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8" name="Google Shape;8038;p80"/>
              <p:cNvSpPr txBox="1"/>
              <p:nvPr/>
            </p:nvSpPr>
            <p:spPr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  <p:cxnSp>
            <p:nvCxnSpPr>
              <p:cNvPr id="8039" name="Google Shape;8039;p80"/>
              <p:cNvCxnSpPr/>
              <p:nvPr/>
            </p:nvCxnSpPr>
            <p:spPr>
              <a:xfrm>
                <a:off x="-3621642" y="2717403"/>
                <a:ext cx="405953" cy="30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8040" name="Google Shape;8040;p80"/>
            <p:cNvSpPr/>
            <p:nvPr/>
          </p:nvSpPr>
          <p:spPr>
            <a:xfrm>
              <a:off x="2493963" y="5668963"/>
              <a:ext cx="982662" cy="233362"/>
            </a:xfrm>
            <a:custGeom>
              <a:rect b="b" l="l" r="r" t="t"/>
              <a:pathLst>
                <a:path extrusionOk="0" h="167" w="554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cap="flat" cmpd="sng" w="5715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41" name="Google Shape;8041;p80"/>
            <p:cNvGrpSpPr/>
            <p:nvPr/>
          </p:nvGrpSpPr>
          <p:grpSpPr>
            <a:xfrm>
              <a:off x="2714625" y="5659438"/>
              <a:ext cx="565150" cy="293688"/>
              <a:chOff x="1871277" y="1576300"/>
              <a:chExt cx="1128371" cy="437862"/>
            </a:xfrm>
          </p:grpSpPr>
          <p:sp>
            <p:nvSpPr>
              <p:cNvPr id="8042" name="Google Shape;8042;p80"/>
              <p:cNvSpPr/>
              <p:nvPr/>
            </p:nvSpPr>
            <p:spPr>
              <a:xfrm flipH="1" rot="10800000">
                <a:off x="1874448" y="1694641"/>
                <a:ext cx="1125200" cy="319521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3" name="Google Shape;8043;p8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4" name="Google Shape;8044;p80"/>
              <p:cNvSpPr/>
              <p:nvPr/>
            </p:nvSpPr>
            <p:spPr>
              <a:xfrm flipH="1" rot="10800000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5" name="Google Shape;8045;p80"/>
              <p:cNvSpPr/>
              <p:nvPr/>
            </p:nvSpPr>
            <p:spPr>
              <a:xfrm>
                <a:off x="2159710" y="1673340"/>
                <a:ext cx="548337" cy="160944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6" name="Google Shape;8046;p80"/>
              <p:cNvSpPr/>
              <p:nvPr/>
            </p:nvSpPr>
            <p:spPr>
              <a:xfrm>
                <a:off x="2102657" y="1633104"/>
                <a:ext cx="662442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7" name="Google Shape;8047;p80"/>
              <p:cNvSpPr/>
              <p:nvPr/>
            </p:nvSpPr>
            <p:spPr>
              <a:xfrm>
                <a:off x="2536889" y="1727776"/>
                <a:ext cx="244059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8" name="Google Shape;8048;p80"/>
              <p:cNvSpPr/>
              <p:nvPr/>
            </p:nvSpPr>
            <p:spPr>
              <a:xfrm>
                <a:off x="2089979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49" name="Google Shape;8049;p80"/>
              <p:cNvCxnSpPr>
                <a:endCxn id="8044" idx="2"/>
              </p:cNvCxnSpPr>
              <p:nvPr/>
            </p:nvCxnSpPr>
            <p:spPr>
              <a:xfrm rot="10800000">
                <a:off x="1871277" y="1736061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8050" name="Google Shape;8050;p80"/>
              <p:cNvCxnSpPr/>
              <p:nvPr/>
            </p:nvCxnSpPr>
            <p:spPr>
              <a:xfrm rot="10800000">
                <a:off x="2996479" y="1734878"/>
                <a:ext cx="3169" cy="1230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sp>
          <p:nvSpPr>
            <p:cNvPr id="8051" name="Google Shape;8051;p80"/>
            <p:cNvSpPr txBox="1"/>
            <p:nvPr/>
          </p:nvSpPr>
          <p:spPr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8052" name="Google Shape;8052;p80"/>
          <p:cNvSpPr txBox="1"/>
          <p:nvPr/>
        </p:nvSpPr>
        <p:spPr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53" name="Google Shape;8053;p80"/>
          <p:cNvGrpSpPr/>
          <p:nvPr/>
        </p:nvGrpSpPr>
        <p:grpSpPr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8054" name="Google Shape;8054;p80"/>
            <p:cNvCxnSpPr/>
            <p:nvPr/>
          </p:nvCxnSpPr>
          <p:spPr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055" name="Google Shape;8055;p80"/>
            <p:cNvCxnSpPr/>
            <p:nvPr/>
          </p:nvCxnSpPr>
          <p:spPr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056" name="Google Shape;8056;p80"/>
            <p:cNvCxnSpPr/>
            <p:nvPr/>
          </p:nvCxnSpPr>
          <p:spPr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057" name="Google Shape;8057;p80"/>
            <p:cNvCxnSpPr/>
            <p:nvPr/>
          </p:nvCxnSpPr>
          <p:spPr>
            <a:xfrm>
              <a:off x="-817641" y="3644638"/>
              <a:ext cx="0" cy="236462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058" name="Google Shape;8058;p80"/>
            <p:cNvCxnSpPr/>
            <p:nvPr/>
          </p:nvCxnSpPr>
          <p:spPr>
            <a:xfrm>
              <a:off x="195792" y="3690049"/>
              <a:ext cx="1" cy="231156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8059" name="Google Shape;8059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4-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3" name="Shape 8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4" name="Google Shape;8064;p81"/>
          <p:cNvSpPr txBox="1"/>
          <p:nvPr>
            <p:ph idx="1" type="body"/>
          </p:nvPr>
        </p:nvSpPr>
        <p:spPr>
          <a:xfrm>
            <a:off x="813148" y="158624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</a:rPr>
              <a:t>Why</a:t>
            </a:r>
            <a:r>
              <a:rPr lang="en-US" sz="3200">
                <a:solidFill>
                  <a:srgbClr val="CC0000"/>
                </a:solidFill>
              </a:rPr>
              <a:t> </a:t>
            </a:r>
            <a:r>
              <a:rPr lang="en-US" sz="3200"/>
              <a:t>a</a:t>
            </a:r>
            <a:r>
              <a:rPr lang="en-US" sz="3200">
                <a:solidFill>
                  <a:srgbClr val="CC0000"/>
                </a:solidFill>
              </a:rPr>
              <a:t> </a:t>
            </a:r>
            <a:r>
              <a:rPr i="1" lang="en-US" sz="3200">
                <a:solidFill>
                  <a:srgbClr val="CC0000"/>
                </a:solidFill>
              </a:rPr>
              <a:t>logically centralized </a:t>
            </a:r>
            <a:r>
              <a:rPr lang="en-US" sz="3200">
                <a:solidFill>
                  <a:srgbClr val="000000"/>
                </a:solidFill>
              </a:rPr>
              <a:t>control plane?</a:t>
            </a:r>
            <a:endParaRPr/>
          </a:p>
          <a:p>
            <a:pPr indent="-40005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easier network management: avoid router misconfigurations, greater flexibility of traffic flows</a:t>
            </a:r>
            <a:endParaRPr/>
          </a:p>
          <a:p>
            <a:pPr indent="-40005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table-based forwarding (recall OpenFlow API) allows “programming” routers</a:t>
            </a:r>
            <a:endParaRPr/>
          </a:p>
          <a:p>
            <a:pPr indent="-176212" lvl="1" marL="10350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centralized “programming” easier: compute tables centrally and distribute</a:t>
            </a:r>
            <a:endParaRPr/>
          </a:p>
          <a:p>
            <a:pPr indent="-176212" lvl="1" marL="10350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distributed “programming” more difficult: compute tables as result of distributed algorithm (protocol) implemented in each-and-every router </a:t>
            </a:r>
            <a:endParaRPr/>
          </a:p>
          <a:p>
            <a:pPr indent="-40005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open (non-proprietary) implementation of control plane</a:t>
            </a:r>
            <a:endParaRPr/>
          </a:p>
          <a:p>
            <a:pPr indent="-400050" lvl="1" marL="977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foster innovation: let 1000 flowers bloom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065" name="Google Shape;8065;p81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8066" name="Google Shape;8066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0" name="Shape 8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Journey Inside℠: Curriculum for Microprocessor" id="8071" name="Google Shape;807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0043" y="4454675"/>
            <a:ext cx="847596" cy="475791"/>
          </a:xfrm>
          <a:prstGeom prst="rect">
            <a:avLst/>
          </a:prstGeom>
          <a:noFill/>
          <a:ln>
            <a:noFill/>
          </a:ln>
        </p:spPr>
      </p:pic>
      <p:sp>
        <p:nvSpPr>
          <p:cNvPr id="8072" name="Google Shape;8072;p82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SDN analogy: mainframe to PC revolution</a:t>
            </a:r>
            <a:endParaRPr/>
          </a:p>
        </p:txBody>
      </p:sp>
      <p:sp>
        <p:nvSpPr>
          <p:cNvPr id="8073" name="Google Shape;8073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74" name="Google Shape;8074;p82"/>
          <p:cNvSpPr txBox="1"/>
          <p:nvPr/>
        </p:nvSpPr>
        <p:spPr>
          <a:xfrm>
            <a:off x="1555315" y="5097880"/>
            <a:ext cx="3276600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Vertically integrated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Closed, proprietary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Slow innovation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 industry</a:t>
            </a:r>
            <a:endParaRPr/>
          </a:p>
        </p:txBody>
      </p:sp>
      <p:pic>
        <p:nvPicPr>
          <p:cNvPr id="8075" name="Google Shape;8075;p82"/>
          <p:cNvPicPr preferRelativeResize="0"/>
          <p:nvPr/>
        </p:nvPicPr>
        <p:blipFill rotWithShape="1">
          <a:blip r:embed="rId4">
            <a:alphaModFix/>
          </a:blip>
          <a:srcRect b="5498" l="6148" r="3650" t="1500"/>
          <a:stretch/>
        </p:blipFill>
        <p:spPr>
          <a:xfrm>
            <a:off x="1971094" y="1538451"/>
            <a:ext cx="2496173" cy="3517336"/>
          </a:xfrm>
          <a:prstGeom prst="rect">
            <a:avLst/>
          </a:prstGeom>
          <a:noFill/>
          <a:ln>
            <a:noFill/>
          </a:ln>
        </p:spPr>
      </p:pic>
      <p:sp>
        <p:nvSpPr>
          <p:cNvPr id="8076" name="Google Shape;8076;p82"/>
          <p:cNvSpPr/>
          <p:nvPr/>
        </p:nvSpPr>
        <p:spPr>
          <a:xfrm>
            <a:off x="2212931" y="2734793"/>
            <a:ext cx="1905000" cy="965200"/>
          </a:xfrm>
          <a:prstGeom prst="roundRect">
            <a:avLst>
              <a:gd fmla="val 16667" name="adj"/>
            </a:avLst>
          </a:prstGeom>
          <a:solidFill>
            <a:srgbClr val="00009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8077" name="Google Shape;8077;p82"/>
          <p:cNvSpPr/>
          <p:nvPr/>
        </p:nvSpPr>
        <p:spPr>
          <a:xfrm>
            <a:off x="2212931" y="3776193"/>
            <a:ext cx="1905000" cy="838200"/>
          </a:xfrm>
          <a:prstGeom prst="roundRect">
            <a:avLst>
              <a:gd fmla="val 16667" name="adj"/>
            </a:avLst>
          </a:prstGeom>
          <a:solidFill>
            <a:srgbClr val="00009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/>
          </a:p>
        </p:txBody>
      </p:sp>
      <p:grpSp>
        <p:nvGrpSpPr>
          <p:cNvPr id="8078" name="Google Shape;8078;p82"/>
          <p:cNvGrpSpPr/>
          <p:nvPr/>
        </p:nvGrpSpPr>
        <p:grpSpPr>
          <a:xfrm>
            <a:off x="7244562" y="1743791"/>
            <a:ext cx="3048000" cy="417900"/>
            <a:chOff x="5334000" y="1371600"/>
            <a:chExt cx="3657600" cy="685800"/>
          </a:xfrm>
        </p:grpSpPr>
        <p:sp>
          <p:nvSpPr>
            <p:cNvPr id="8079" name="Google Shape;8079;p82"/>
            <p:cNvSpPr/>
            <p:nvPr/>
          </p:nvSpPr>
          <p:spPr>
            <a:xfrm>
              <a:off x="83820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0" name="Google Shape;8080;p82"/>
            <p:cNvSpPr/>
            <p:nvPr/>
          </p:nvSpPr>
          <p:spPr>
            <a:xfrm>
              <a:off x="80772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1" name="Google Shape;8081;p82"/>
            <p:cNvSpPr/>
            <p:nvPr/>
          </p:nvSpPr>
          <p:spPr>
            <a:xfrm>
              <a:off x="77724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2" name="Google Shape;8082;p82"/>
            <p:cNvSpPr/>
            <p:nvPr/>
          </p:nvSpPr>
          <p:spPr>
            <a:xfrm>
              <a:off x="74676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3" name="Google Shape;8083;p82"/>
            <p:cNvSpPr/>
            <p:nvPr/>
          </p:nvSpPr>
          <p:spPr>
            <a:xfrm>
              <a:off x="71628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4" name="Google Shape;8084;p82"/>
            <p:cNvSpPr/>
            <p:nvPr/>
          </p:nvSpPr>
          <p:spPr>
            <a:xfrm>
              <a:off x="68580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5" name="Google Shape;8085;p82"/>
            <p:cNvSpPr/>
            <p:nvPr/>
          </p:nvSpPr>
          <p:spPr>
            <a:xfrm>
              <a:off x="65532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6" name="Google Shape;8086;p82"/>
            <p:cNvSpPr/>
            <p:nvPr/>
          </p:nvSpPr>
          <p:spPr>
            <a:xfrm>
              <a:off x="62484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7" name="Google Shape;8087;p82"/>
            <p:cNvSpPr/>
            <p:nvPr/>
          </p:nvSpPr>
          <p:spPr>
            <a:xfrm>
              <a:off x="59436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8" name="Google Shape;8088;p82"/>
            <p:cNvSpPr/>
            <p:nvPr/>
          </p:nvSpPr>
          <p:spPr>
            <a:xfrm>
              <a:off x="56388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9" name="Google Shape;8089;p82"/>
            <p:cNvSpPr/>
            <p:nvPr/>
          </p:nvSpPr>
          <p:spPr>
            <a:xfrm>
              <a:off x="5334000" y="1371600"/>
              <a:ext cx="9144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</p:grpSp>
      <p:sp>
        <p:nvSpPr>
          <p:cNvPr id="8090" name="Google Shape;8090;p82"/>
          <p:cNvSpPr/>
          <p:nvPr/>
        </p:nvSpPr>
        <p:spPr>
          <a:xfrm>
            <a:off x="2212931" y="1896593"/>
            <a:ext cx="1905000" cy="736600"/>
          </a:xfrm>
          <a:prstGeom prst="roundRect">
            <a:avLst>
              <a:gd fmla="val 16667" name="adj"/>
            </a:avLst>
          </a:prstGeom>
          <a:solidFill>
            <a:srgbClr val="00009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</p:txBody>
      </p:sp>
      <p:sp>
        <p:nvSpPr>
          <p:cNvPr id="8091" name="Google Shape;8091;p82"/>
          <p:cNvSpPr txBox="1"/>
          <p:nvPr/>
        </p:nvSpPr>
        <p:spPr>
          <a:xfrm>
            <a:off x="6685766" y="5101088"/>
            <a:ext cx="4172211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Horizontal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interfaces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Rapid innovation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Huge industry</a:t>
            </a:r>
            <a:endParaRPr/>
          </a:p>
        </p:txBody>
      </p:sp>
      <p:grpSp>
        <p:nvGrpSpPr>
          <p:cNvPr id="8092" name="Google Shape;8092;p82"/>
          <p:cNvGrpSpPr/>
          <p:nvPr/>
        </p:nvGrpSpPr>
        <p:grpSpPr>
          <a:xfrm>
            <a:off x="7513486" y="3922880"/>
            <a:ext cx="2532996" cy="1044813"/>
            <a:chOff x="5308190" y="3212068"/>
            <a:chExt cx="3212311" cy="1359931"/>
          </a:xfrm>
        </p:grpSpPr>
        <p:sp>
          <p:nvSpPr>
            <p:cNvPr id="8093" name="Google Shape;8093;p82"/>
            <p:cNvSpPr/>
            <p:nvPr/>
          </p:nvSpPr>
          <p:spPr>
            <a:xfrm>
              <a:off x="6096000" y="3874196"/>
              <a:ext cx="2424501" cy="697803"/>
            </a:xfrm>
            <a:prstGeom prst="roundRect">
              <a:avLst>
                <a:gd fmla="val 16667" name="adj"/>
              </a:avLst>
            </a:prstGeom>
            <a:solidFill>
              <a:srgbClr val="000090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Microprocessor</a:t>
              </a:r>
              <a:endParaRPr/>
            </a:p>
          </p:txBody>
        </p:sp>
        <p:grpSp>
          <p:nvGrpSpPr>
            <p:cNvPr id="8094" name="Google Shape;8094;p82"/>
            <p:cNvGrpSpPr/>
            <p:nvPr/>
          </p:nvGrpSpPr>
          <p:grpSpPr>
            <a:xfrm>
              <a:off x="5308190" y="3212068"/>
              <a:ext cx="3121640" cy="440663"/>
              <a:chOff x="5384390" y="3200400"/>
              <a:chExt cx="3121640" cy="440663"/>
            </a:xfrm>
          </p:grpSpPr>
          <p:cxnSp>
            <p:nvCxnSpPr>
              <p:cNvPr id="8095" name="Google Shape;8095;p82"/>
              <p:cNvCxnSpPr/>
              <p:nvPr/>
            </p:nvCxnSpPr>
            <p:spPr>
              <a:xfrm>
                <a:off x="5384390" y="3424423"/>
                <a:ext cx="3121640" cy="450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096" name="Google Shape;8096;p82"/>
              <p:cNvSpPr txBox="1"/>
              <p:nvPr/>
            </p:nvSpPr>
            <p:spPr>
              <a:xfrm>
                <a:off x="5761913" y="3200400"/>
                <a:ext cx="2465881" cy="4406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Open Interface</a:t>
                </a:r>
                <a:endParaRPr/>
              </a:p>
            </p:txBody>
          </p:sp>
        </p:grpSp>
      </p:grpSp>
      <p:sp>
        <p:nvSpPr>
          <p:cNvPr id="8097" name="Google Shape;8097;p82"/>
          <p:cNvSpPr txBox="1"/>
          <p:nvPr/>
        </p:nvSpPr>
        <p:spPr>
          <a:xfrm>
            <a:off x="152871" y="6550399"/>
            <a:ext cx="22544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Slide  courtesy: N. McKeown</a:t>
            </a:r>
            <a:endParaRPr/>
          </a:p>
        </p:txBody>
      </p:sp>
      <p:grpSp>
        <p:nvGrpSpPr>
          <p:cNvPr id="8098" name="Google Shape;8098;p82"/>
          <p:cNvGrpSpPr/>
          <p:nvPr/>
        </p:nvGrpSpPr>
        <p:grpSpPr>
          <a:xfrm>
            <a:off x="7027102" y="2344247"/>
            <a:ext cx="3575135" cy="1597091"/>
            <a:chOff x="6751530" y="2043623"/>
            <a:chExt cx="3575135" cy="1597091"/>
          </a:xfrm>
        </p:grpSpPr>
        <p:sp>
          <p:nvSpPr>
            <p:cNvPr id="8099" name="Google Shape;8099;p82"/>
            <p:cNvSpPr txBox="1"/>
            <p:nvPr/>
          </p:nvSpPr>
          <p:spPr>
            <a:xfrm>
              <a:off x="7864926" y="2718201"/>
              <a:ext cx="4122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or</a:t>
              </a:r>
              <a:endParaRPr/>
            </a:p>
          </p:txBody>
        </p:sp>
        <p:sp>
          <p:nvSpPr>
            <p:cNvPr id="8100" name="Google Shape;8100;p82"/>
            <p:cNvSpPr txBox="1"/>
            <p:nvPr/>
          </p:nvSpPr>
          <p:spPr>
            <a:xfrm>
              <a:off x="9007926" y="2706533"/>
              <a:ext cx="4122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or</a:t>
              </a:r>
              <a:endParaRPr/>
            </a:p>
          </p:txBody>
        </p:sp>
        <p:grpSp>
          <p:nvGrpSpPr>
            <p:cNvPr id="8101" name="Google Shape;8101;p82"/>
            <p:cNvGrpSpPr/>
            <p:nvPr/>
          </p:nvGrpSpPr>
          <p:grpSpPr>
            <a:xfrm>
              <a:off x="7216411" y="2043623"/>
              <a:ext cx="2590800" cy="338554"/>
              <a:chOff x="5806858" y="3260868"/>
              <a:chExt cx="2590800" cy="338554"/>
            </a:xfrm>
          </p:grpSpPr>
          <p:cxnSp>
            <p:nvCxnSpPr>
              <p:cNvPr id="8102" name="Google Shape;8102;p82"/>
              <p:cNvCxnSpPr/>
              <p:nvPr/>
            </p:nvCxnSpPr>
            <p:spPr>
              <a:xfrm>
                <a:off x="5806858" y="3427413"/>
                <a:ext cx="2590800" cy="158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103" name="Google Shape;8103;p82"/>
              <p:cNvSpPr txBox="1"/>
              <p:nvPr/>
            </p:nvSpPr>
            <p:spPr>
              <a:xfrm>
                <a:off x="6287547" y="3260868"/>
                <a:ext cx="1621357" cy="33855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Open Interface</a:t>
                </a:r>
                <a:endParaRPr/>
              </a:p>
            </p:txBody>
          </p:sp>
        </p:grpSp>
        <p:grpSp>
          <p:nvGrpSpPr>
            <p:cNvPr id="8104" name="Google Shape;8104;p82"/>
            <p:cNvGrpSpPr/>
            <p:nvPr/>
          </p:nvGrpSpPr>
          <p:grpSpPr>
            <a:xfrm>
              <a:off x="6751530" y="2505206"/>
              <a:ext cx="1060162" cy="1108367"/>
              <a:chOff x="6914368" y="2467628"/>
              <a:chExt cx="1060162" cy="1108367"/>
            </a:xfrm>
          </p:grpSpPr>
          <p:pic>
            <p:nvPicPr>
              <p:cNvPr id="8105" name="Google Shape;8105;p8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930000" y="2467628"/>
                <a:ext cx="1026811" cy="7884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06" name="Google Shape;8106;p82"/>
              <p:cNvSpPr txBox="1"/>
              <p:nvPr/>
            </p:nvSpPr>
            <p:spPr>
              <a:xfrm>
                <a:off x="6914368" y="3206663"/>
                <a:ext cx="106016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Windows</a:t>
                </a:r>
                <a:endParaRPr/>
              </a:p>
            </p:txBody>
          </p:sp>
        </p:grpSp>
        <p:grpSp>
          <p:nvGrpSpPr>
            <p:cNvPr id="8107" name="Google Shape;8107;p82"/>
            <p:cNvGrpSpPr/>
            <p:nvPr/>
          </p:nvGrpSpPr>
          <p:grpSpPr>
            <a:xfrm>
              <a:off x="8166970" y="2450566"/>
              <a:ext cx="763916" cy="1190148"/>
              <a:chOff x="5173249" y="6258478"/>
              <a:chExt cx="763916" cy="1190148"/>
            </a:xfrm>
          </p:grpSpPr>
          <p:pic>
            <p:nvPicPr>
              <p:cNvPr descr="A picture containing table, toy, yellow&#10;&#10;Description automatically generated" id="8108" name="Google Shape;8108;p8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173249" y="6258478"/>
                <a:ext cx="763916" cy="9001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09" name="Google Shape;8109;p82"/>
              <p:cNvSpPr txBox="1"/>
              <p:nvPr/>
            </p:nvSpPr>
            <p:spPr>
              <a:xfrm>
                <a:off x="5187864" y="7079294"/>
                <a:ext cx="67839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Linux</a:t>
                </a:r>
                <a:endParaRPr/>
              </a:p>
            </p:txBody>
          </p:sp>
        </p:grpSp>
        <p:grpSp>
          <p:nvGrpSpPr>
            <p:cNvPr id="8110" name="Google Shape;8110;p82"/>
            <p:cNvGrpSpPr/>
            <p:nvPr/>
          </p:nvGrpSpPr>
          <p:grpSpPr>
            <a:xfrm>
              <a:off x="9331890" y="2343411"/>
              <a:ext cx="994775" cy="1274338"/>
              <a:chOff x="6125227" y="6163850"/>
              <a:chExt cx="994775" cy="1274338"/>
            </a:xfrm>
          </p:grpSpPr>
          <p:pic>
            <p:nvPicPr>
              <p:cNvPr descr="How to reset the Mac Os 9 password" id="8111" name="Google Shape;8111;p8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125227" y="6163850"/>
                <a:ext cx="994775" cy="9947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12" name="Google Shape;8112;p82"/>
              <p:cNvSpPr txBox="1"/>
              <p:nvPr/>
            </p:nvSpPr>
            <p:spPr>
              <a:xfrm>
                <a:off x="6129404" y="7068856"/>
                <a:ext cx="94763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OS</a:t>
                </a:r>
                <a:endParaRPr/>
              </a:p>
            </p:txBody>
          </p:sp>
        </p:grpSp>
      </p:grpSp>
      <p:sp>
        <p:nvSpPr>
          <p:cNvPr id="8113" name="Google Shape;8113;p82"/>
          <p:cNvSpPr/>
          <p:nvPr/>
        </p:nvSpPr>
        <p:spPr>
          <a:xfrm>
            <a:off x="5273457" y="5336087"/>
            <a:ext cx="1178825" cy="76408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4" name="Google Shape;8114;p82"/>
          <p:cNvSpPr/>
          <p:nvPr/>
        </p:nvSpPr>
        <p:spPr>
          <a:xfrm>
            <a:off x="5275544" y="2845494"/>
            <a:ext cx="1178825" cy="76408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8" name="Shape 8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19" name="Google Shape;8119;p83"/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8120" name="Google Shape;8120;p83"/>
            <p:cNvGrpSpPr/>
            <p:nvPr/>
          </p:nvGrpSpPr>
          <p:grpSpPr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descr="desktop_computer_stylized_medium" id="8121" name="Google Shape;8121;p8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22" name="Google Shape;8122;p8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23" name="Google Shape;8123;p83"/>
            <p:cNvSpPr/>
            <p:nvPr/>
          </p:nvSpPr>
          <p:spPr>
            <a:xfrm>
              <a:off x="2059747" y="1363093"/>
              <a:ext cx="5142041" cy="2404002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4" name="Google Shape;8124;p83"/>
            <p:cNvSpPr/>
            <p:nvPr/>
          </p:nvSpPr>
          <p:spPr>
            <a:xfrm>
              <a:off x="2834105" y="2267385"/>
              <a:ext cx="781590" cy="317349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5" name="Google Shape;8125;p83"/>
            <p:cNvSpPr/>
            <p:nvPr/>
          </p:nvSpPr>
          <p:spPr>
            <a:xfrm>
              <a:off x="5254292" y="2313451"/>
              <a:ext cx="2285" cy="890624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6" name="Google Shape;8126;p83"/>
            <p:cNvSpPr/>
            <p:nvPr/>
          </p:nvSpPr>
          <p:spPr>
            <a:xfrm>
              <a:off x="3670544" y="2323688"/>
              <a:ext cx="2285" cy="91621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7" name="Google Shape;8127;p83"/>
            <p:cNvSpPr/>
            <p:nvPr/>
          </p:nvSpPr>
          <p:spPr>
            <a:xfrm>
              <a:off x="3736497" y="2298095"/>
              <a:ext cx="1462948" cy="1050313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8" name="Google Shape;8128;p83"/>
            <p:cNvSpPr/>
            <p:nvPr/>
          </p:nvSpPr>
          <p:spPr>
            <a:xfrm>
              <a:off x="5292247" y="2891845"/>
              <a:ext cx="1161856" cy="455711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9" name="Google Shape;8129;p83"/>
            <p:cNvSpPr/>
            <p:nvPr/>
          </p:nvSpPr>
          <p:spPr>
            <a:xfrm flipH="1" rot="10800000">
              <a:off x="4022465" y="3327268"/>
              <a:ext cx="908330" cy="45719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0" name="Google Shape;8130;p83"/>
            <p:cNvSpPr/>
            <p:nvPr/>
          </p:nvSpPr>
          <p:spPr>
            <a:xfrm>
              <a:off x="2710696" y="2820186"/>
              <a:ext cx="630757" cy="450430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1" name="Google Shape;8131;p83"/>
            <p:cNvSpPr/>
            <p:nvPr/>
          </p:nvSpPr>
          <p:spPr>
            <a:xfrm>
              <a:off x="4047627" y="2195725"/>
              <a:ext cx="836439" cy="1706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2" name="Google Shape;8132;p83"/>
            <p:cNvSpPr/>
            <p:nvPr/>
          </p:nvSpPr>
          <p:spPr>
            <a:xfrm>
              <a:off x="5572253" y="2248471"/>
              <a:ext cx="922986" cy="397685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3" name="Google Shape;8133;p83"/>
            <p:cNvSpPr/>
            <p:nvPr/>
          </p:nvSpPr>
          <p:spPr>
            <a:xfrm>
              <a:off x="2580431" y="1458657"/>
              <a:ext cx="2536740" cy="1100484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4" name="Google Shape;8134;p83"/>
            <p:cNvSpPr txBox="1"/>
            <p:nvPr/>
          </p:nvSpPr>
          <p:spPr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5" name="Google Shape;8135;p83"/>
            <p:cNvSpPr txBox="1"/>
            <p:nvPr/>
          </p:nvSpPr>
          <p:spPr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6" name="Google Shape;8136;p83"/>
            <p:cNvSpPr txBox="1"/>
            <p:nvPr/>
          </p:nvSpPr>
          <p:spPr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7" name="Google Shape;8137;p83"/>
            <p:cNvSpPr txBox="1"/>
            <p:nvPr/>
          </p:nvSpPr>
          <p:spPr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8" name="Google Shape;8138;p83"/>
            <p:cNvSpPr txBox="1"/>
            <p:nvPr/>
          </p:nvSpPr>
          <p:spPr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9" name="Google Shape;8139;p83"/>
            <p:cNvSpPr txBox="1"/>
            <p:nvPr/>
          </p:nvSpPr>
          <p:spPr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0" name="Google Shape;8140;p83"/>
            <p:cNvSpPr txBox="1"/>
            <p:nvPr/>
          </p:nvSpPr>
          <p:spPr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1" name="Google Shape;8141;p83"/>
            <p:cNvSpPr txBox="1"/>
            <p:nvPr/>
          </p:nvSpPr>
          <p:spPr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2" name="Google Shape;8142;p83"/>
            <p:cNvSpPr txBox="1"/>
            <p:nvPr/>
          </p:nvSpPr>
          <p:spPr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3" name="Google Shape;8143;p83"/>
            <p:cNvSpPr txBox="1"/>
            <p:nvPr/>
          </p:nvSpPr>
          <p:spPr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44" name="Google Shape;8144;p83"/>
            <p:cNvGrpSpPr/>
            <p:nvPr/>
          </p:nvGrpSpPr>
          <p:grpSpPr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8145" name="Google Shape;8145;p8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6" name="Google Shape;8146;p8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7" name="Google Shape;8147;p8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8" name="Google Shape;8148;p8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9" name="Google Shape;8149;p8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50" name="Google Shape;8150;p8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151" name="Google Shape;8151;p8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2" name="Google Shape;8152;p8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53" name="Google Shape;8153;p8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54" name="Google Shape;8154;p8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155" name="Google Shape;8155;p8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6" name="Google Shape;8156;p8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57" name="Google Shape;8157;p8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8" name="Google Shape;8158;p8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59" name="Google Shape;8159;p83"/>
              <p:cNvGrpSpPr/>
              <p:nvPr/>
            </p:nvGrpSpPr>
            <p:grpSpPr>
              <a:xfrm>
                <a:off x="4738" y="1639"/>
                <a:ext cx="578" cy="142"/>
                <a:chOff x="618" y="2579"/>
                <a:chExt cx="720" cy="131"/>
              </a:xfrm>
            </p:grpSpPr>
            <p:sp>
              <p:nvSpPr>
                <p:cNvPr id="8160" name="Google Shape;8160;p83"/>
                <p:cNvSpPr/>
                <p:nvPr/>
              </p:nvSpPr>
              <p:spPr>
                <a:xfrm>
                  <a:off x="618" y="2579"/>
                  <a:ext cx="720" cy="13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1" name="Google Shape;8161;p8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62" name="Google Shape;8162;p8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63" name="Google Shape;8163;p8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164" name="Google Shape;8164;p8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5" name="Google Shape;8165;p8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66" name="Google Shape;8166;p8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7" name="Google Shape;8167;p8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8" name="Google Shape;8168;p8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9" name="Google Shape;8169;p8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0" name="Google Shape;8170;p8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1" name="Google Shape;8171;p8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2" name="Google Shape;8172;p8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3" name="Google Shape;8173;p8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4" name="Google Shape;8174;p8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5" name="Google Shape;8175;p8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6" name="Google Shape;8176;p8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177" name="Google Shape;8177;p83"/>
            <p:cNvCxnSpPr/>
            <p:nvPr/>
          </p:nvCxnSpPr>
          <p:spPr>
            <a:xfrm>
              <a:off x="1682405" y="2744686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78" name="Google Shape;8178;p83"/>
            <p:cNvCxnSpPr/>
            <p:nvPr/>
          </p:nvCxnSpPr>
          <p:spPr>
            <a:xfrm>
              <a:off x="6895267" y="2779855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179" name="Google Shape;8179;p83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8180" name="Google Shape;8180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181" name="Google Shape;8181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2" name="Google Shape;8182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3" name="Google Shape;8183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4" name="Google Shape;8184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5" name="Google Shape;8185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6" name="Google Shape;8186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7" name="Google Shape;8187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188" name="Google Shape;8188;p83"/>
                <p:cNvCxnSpPr>
                  <a:endCxn id="8183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189" name="Google Shape;8189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190" name="Google Shape;8190;p83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8191" name="Google Shape;8191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2" name="Google Shape;8192;p83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</a:t>
                  </a:r>
                  <a:endParaRPr/>
                </a:p>
              </p:txBody>
            </p:sp>
          </p:grpSp>
        </p:grpSp>
        <p:grpSp>
          <p:nvGrpSpPr>
            <p:cNvPr id="8193" name="Google Shape;8193;p83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8194" name="Google Shape;8194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195" name="Google Shape;8195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6" name="Google Shape;8196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7" name="Google Shape;8197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8" name="Google Shape;8198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9" name="Google Shape;8199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00" name="Google Shape;8200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01" name="Google Shape;8201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02" name="Google Shape;8202;p83"/>
                <p:cNvCxnSpPr>
                  <a:endCxn id="8197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03" name="Google Shape;8203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04" name="Google Shape;8204;p83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8205" name="Google Shape;8205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06" name="Google Shape;8206;p83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</a:t>
                  </a:r>
                  <a:endParaRPr/>
                </a:p>
              </p:txBody>
            </p:sp>
          </p:grpSp>
        </p:grpSp>
        <p:grpSp>
          <p:nvGrpSpPr>
            <p:cNvPr id="8207" name="Google Shape;8207;p83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8208" name="Google Shape;8208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09" name="Google Shape;8209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0" name="Google Shape;8210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1" name="Google Shape;8211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2" name="Google Shape;8212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3" name="Google Shape;8213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4" name="Google Shape;8214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5" name="Google Shape;8215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16" name="Google Shape;8216;p83"/>
                <p:cNvCxnSpPr>
                  <a:endCxn id="8211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17" name="Google Shape;8217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18" name="Google Shape;8218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19" name="Google Shape;8219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0" name="Google Shape;8220;p83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</a:t>
                  </a:r>
                  <a:endParaRPr/>
                </a:p>
              </p:txBody>
            </p:sp>
          </p:grpSp>
        </p:grpSp>
        <p:grpSp>
          <p:nvGrpSpPr>
            <p:cNvPr id="8221" name="Google Shape;8221;p83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8222" name="Google Shape;8222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23" name="Google Shape;8223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4" name="Google Shape;8224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5" name="Google Shape;8225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6" name="Google Shape;8226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7" name="Google Shape;8227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8" name="Google Shape;8228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9" name="Google Shape;8229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30" name="Google Shape;8230;p83"/>
                <p:cNvCxnSpPr>
                  <a:endCxn id="8225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31" name="Google Shape;8231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32" name="Google Shape;8232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33" name="Google Shape;8233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34" name="Google Shape;8234;p83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z</a:t>
                  </a:r>
                  <a:endParaRPr/>
                </a:p>
              </p:txBody>
            </p:sp>
          </p:grpSp>
        </p:grpSp>
        <p:grpSp>
          <p:nvGrpSpPr>
            <p:cNvPr id="8235" name="Google Shape;8235;p83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8236" name="Google Shape;8236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37" name="Google Shape;8237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38" name="Google Shape;8238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39" name="Google Shape;8239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0" name="Google Shape;8240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1" name="Google Shape;8241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2" name="Google Shape;8242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3" name="Google Shape;8243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44" name="Google Shape;8244;p83"/>
                <p:cNvCxnSpPr>
                  <a:endCxn id="8239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45" name="Google Shape;8245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46" name="Google Shape;8246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47" name="Google Shape;8247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8" name="Google Shape;8248;p83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</p:grpSp>
        <p:grpSp>
          <p:nvGrpSpPr>
            <p:cNvPr id="8249" name="Google Shape;8249;p83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8250" name="Google Shape;8250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51" name="Google Shape;8251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2" name="Google Shape;8252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3" name="Google Shape;8253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4" name="Google Shape;8254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5" name="Google Shape;8255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6" name="Google Shape;8256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7" name="Google Shape;8257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58" name="Google Shape;8258;p83"/>
                <p:cNvCxnSpPr>
                  <a:endCxn id="8253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59" name="Google Shape;8259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60" name="Google Shape;8260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61" name="Google Shape;8261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62" name="Google Shape;8262;p83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</p:grpSp>
        </p:grpSp>
      </p:grpSp>
      <p:sp>
        <p:nvSpPr>
          <p:cNvPr id="8263" name="Google Shape;8263;p83"/>
          <p:cNvSpPr txBox="1"/>
          <p:nvPr>
            <p:ph type="title"/>
          </p:nvPr>
        </p:nvSpPr>
        <p:spPr>
          <a:xfrm>
            <a:off x="838199" y="364139"/>
            <a:ext cx="1071079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Traffic engineering: difficult with traditional routing</a:t>
            </a:r>
            <a:endParaRPr/>
          </a:p>
        </p:txBody>
      </p:sp>
      <p:sp>
        <p:nvSpPr>
          <p:cNvPr id="8264" name="Google Shape;8264;p8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65" name="Google Shape;8265;p83"/>
          <p:cNvSpPr txBox="1"/>
          <p:nvPr/>
        </p:nvSpPr>
        <p:spPr>
          <a:xfrm>
            <a:off x="1728591" y="3928028"/>
            <a:ext cx="9727879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if network operator wants u-to-z traffic to flow along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uvw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z, rather than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uxyz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need to re-define link weights so traffic routing algorithm computes routes accordingly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(or need a new routing algorithm)!</a:t>
            </a:r>
            <a:endParaRPr/>
          </a:p>
        </p:txBody>
      </p:sp>
      <p:sp>
        <p:nvSpPr>
          <p:cNvPr id="8266" name="Google Shape;8266;p83"/>
          <p:cNvSpPr txBox="1"/>
          <p:nvPr/>
        </p:nvSpPr>
        <p:spPr>
          <a:xfrm>
            <a:off x="2003306" y="5938073"/>
            <a:ext cx="82760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 weights are only control “knobs”: not much control!</a:t>
            </a:r>
            <a:endParaRPr/>
          </a:p>
        </p:txBody>
      </p:sp>
      <p:sp>
        <p:nvSpPr>
          <p:cNvPr id="8267" name="Google Shape;8267;p83"/>
          <p:cNvSpPr/>
          <p:nvPr/>
        </p:nvSpPr>
        <p:spPr>
          <a:xfrm>
            <a:off x="3283003" y="2063149"/>
            <a:ext cx="5676290" cy="537233"/>
          </a:xfrm>
          <a:custGeom>
            <a:rect b="b" l="l" r="r" t="t"/>
            <a:pathLst>
              <a:path extrusionOk="0" h="537233" w="5676290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8" name="Google Shape;8268;p83"/>
          <p:cNvSpPr/>
          <p:nvPr/>
        </p:nvSpPr>
        <p:spPr>
          <a:xfrm flipH="1" rot="10800000">
            <a:off x="3247513" y="2729116"/>
            <a:ext cx="5676290" cy="537233"/>
          </a:xfrm>
          <a:custGeom>
            <a:rect b="b" l="l" r="r" t="t"/>
            <a:pathLst>
              <a:path extrusionOk="0" h="537233" w="5676290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2" name="Shape 8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73" name="Google Shape;8273;p84"/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8274" name="Google Shape;8274;p84"/>
            <p:cNvGrpSpPr/>
            <p:nvPr/>
          </p:nvGrpSpPr>
          <p:grpSpPr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descr="desktop_computer_stylized_medium" id="8275" name="Google Shape;8275;p8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76" name="Google Shape;8276;p84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77" name="Google Shape;8277;p84"/>
            <p:cNvSpPr/>
            <p:nvPr/>
          </p:nvSpPr>
          <p:spPr>
            <a:xfrm>
              <a:off x="2059747" y="1363093"/>
              <a:ext cx="5142041" cy="2404002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8" name="Google Shape;8278;p84"/>
            <p:cNvSpPr/>
            <p:nvPr/>
          </p:nvSpPr>
          <p:spPr>
            <a:xfrm>
              <a:off x="2834105" y="2267385"/>
              <a:ext cx="781590" cy="317349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9" name="Google Shape;8279;p84"/>
            <p:cNvSpPr/>
            <p:nvPr/>
          </p:nvSpPr>
          <p:spPr>
            <a:xfrm>
              <a:off x="5254292" y="2313451"/>
              <a:ext cx="2285" cy="890624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0" name="Google Shape;8280;p84"/>
            <p:cNvSpPr/>
            <p:nvPr/>
          </p:nvSpPr>
          <p:spPr>
            <a:xfrm>
              <a:off x="3670544" y="2323688"/>
              <a:ext cx="2285" cy="91621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1" name="Google Shape;8281;p84"/>
            <p:cNvSpPr/>
            <p:nvPr/>
          </p:nvSpPr>
          <p:spPr>
            <a:xfrm>
              <a:off x="3736497" y="2298095"/>
              <a:ext cx="1462948" cy="1050313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2" name="Google Shape;8282;p84"/>
            <p:cNvSpPr/>
            <p:nvPr/>
          </p:nvSpPr>
          <p:spPr>
            <a:xfrm>
              <a:off x="5292247" y="2891845"/>
              <a:ext cx="1161856" cy="455711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3" name="Google Shape;8283;p84"/>
            <p:cNvSpPr/>
            <p:nvPr/>
          </p:nvSpPr>
          <p:spPr>
            <a:xfrm flipH="1" rot="10800000">
              <a:off x="4022465" y="3327268"/>
              <a:ext cx="908330" cy="45719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4" name="Google Shape;8284;p84"/>
            <p:cNvSpPr/>
            <p:nvPr/>
          </p:nvSpPr>
          <p:spPr>
            <a:xfrm>
              <a:off x="2710696" y="2820186"/>
              <a:ext cx="630757" cy="450430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5" name="Google Shape;8285;p84"/>
            <p:cNvSpPr/>
            <p:nvPr/>
          </p:nvSpPr>
          <p:spPr>
            <a:xfrm>
              <a:off x="4047627" y="2195725"/>
              <a:ext cx="836439" cy="1706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6" name="Google Shape;8286;p84"/>
            <p:cNvSpPr/>
            <p:nvPr/>
          </p:nvSpPr>
          <p:spPr>
            <a:xfrm>
              <a:off x="5572253" y="2248471"/>
              <a:ext cx="922986" cy="397685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7" name="Google Shape;8287;p84"/>
            <p:cNvSpPr/>
            <p:nvPr/>
          </p:nvSpPr>
          <p:spPr>
            <a:xfrm>
              <a:off x="2580431" y="1458657"/>
              <a:ext cx="2536740" cy="1100484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8" name="Google Shape;8288;p84"/>
            <p:cNvSpPr txBox="1"/>
            <p:nvPr/>
          </p:nvSpPr>
          <p:spPr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9" name="Google Shape;8289;p84"/>
            <p:cNvSpPr txBox="1"/>
            <p:nvPr/>
          </p:nvSpPr>
          <p:spPr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0" name="Google Shape;8290;p84"/>
            <p:cNvSpPr txBox="1"/>
            <p:nvPr/>
          </p:nvSpPr>
          <p:spPr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1" name="Google Shape;8291;p84"/>
            <p:cNvSpPr txBox="1"/>
            <p:nvPr/>
          </p:nvSpPr>
          <p:spPr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2" name="Google Shape;8292;p84"/>
            <p:cNvSpPr txBox="1"/>
            <p:nvPr/>
          </p:nvSpPr>
          <p:spPr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3" name="Google Shape;8293;p84"/>
            <p:cNvSpPr txBox="1"/>
            <p:nvPr/>
          </p:nvSpPr>
          <p:spPr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4" name="Google Shape;8294;p84"/>
            <p:cNvSpPr txBox="1"/>
            <p:nvPr/>
          </p:nvSpPr>
          <p:spPr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5" name="Google Shape;8295;p84"/>
            <p:cNvSpPr txBox="1"/>
            <p:nvPr/>
          </p:nvSpPr>
          <p:spPr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6" name="Google Shape;8296;p84"/>
            <p:cNvSpPr txBox="1"/>
            <p:nvPr/>
          </p:nvSpPr>
          <p:spPr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7" name="Google Shape;8297;p84"/>
            <p:cNvSpPr txBox="1"/>
            <p:nvPr/>
          </p:nvSpPr>
          <p:spPr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98" name="Google Shape;8298;p84"/>
            <p:cNvGrpSpPr/>
            <p:nvPr/>
          </p:nvGrpSpPr>
          <p:grpSpPr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8299" name="Google Shape;8299;p8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0" name="Google Shape;8300;p84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1" name="Google Shape;8301;p8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2" name="Google Shape;8302;p8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3" name="Google Shape;8303;p84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04" name="Google Shape;8304;p84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305" name="Google Shape;8305;p84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06" name="Google Shape;8306;p84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07" name="Google Shape;8307;p84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08" name="Google Shape;8308;p84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309" name="Google Shape;8309;p84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0" name="Google Shape;8310;p84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11" name="Google Shape;8311;p84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2" name="Google Shape;8312;p84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13" name="Google Shape;8313;p84"/>
              <p:cNvGrpSpPr/>
              <p:nvPr/>
            </p:nvGrpSpPr>
            <p:grpSpPr>
              <a:xfrm>
                <a:off x="4738" y="1639"/>
                <a:ext cx="578" cy="142"/>
                <a:chOff x="618" y="2579"/>
                <a:chExt cx="720" cy="131"/>
              </a:xfrm>
            </p:grpSpPr>
            <p:sp>
              <p:nvSpPr>
                <p:cNvPr id="8314" name="Google Shape;8314;p84"/>
                <p:cNvSpPr/>
                <p:nvPr/>
              </p:nvSpPr>
              <p:spPr>
                <a:xfrm>
                  <a:off x="618" y="2579"/>
                  <a:ext cx="720" cy="13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5" name="Google Shape;8315;p84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16" name="Google Shape;8316;p8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17" name="Google Shape;8317;p84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318" name="Google Shape;8318;p84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9" name="Google Shape;8319;p84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20" name="Google Shape;8320;p84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1" name="Google Shape;8321;p8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2" name="Google Shape;8322;p8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3" name="Google Shape;8323;p84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4" name="Google Shape;8324;p8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5" name="Google Shape;8325;p84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6" name="Google Shape;8326;p84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7" name="Google Shape;8327;p84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8" name="Google Shape;8328;p84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9" name="Google Shape;8329;p84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0" name="Google Shape;8330;p84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331" name="Google Shape;8331;p84"/>
            <p:cNvCxnSpPr/>
            <p:nvPr/>
          </p:nvCxnSpPr>
          <p:spPr>
            <a:xfrm>
              <a:off x="1682405" y="2744686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32" name="Google Shape;8332;p84"/>
            <p:cNvCxnSpPr/>
            <p:nvPr/>
          </p:nvCxnSpPr>
          <p:spPr>
            <a:xfrm>
              <a:off x="6895267" y="2779855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333" name="Google Shape;8333;p84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8334" name="Google Shape;8334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35" name="Google Shape;8335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6" name="Google Shape;8336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7" name="Google Shape;8337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8" name="Google Shape;8338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9" name="Google Shape;8339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40" name="Google Shape;8340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41" name="Google Shape;8341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42" name="Google Shape;8342;p84"/>
                <p:cNvCxnSpPr>
                  <a:endCxn id="8337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43" name="Google Shape;8343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44" name="Google Shape;8344;p84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8345" name="Google Shape;8345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46" name="Google Shape;8346;p84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</a:t>
                  </a:r>
                  <a:endParaRPr/>
                </a:p>
              </p:txBody>
            </p:sp>
          </p:grpSp>
        </p:grpSp>
        <p:grpSp>
          <p:nvGrpSpPr>
            <p:cNvPr id="8347" name="Google Shape;8347;p84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8348" name="Google Shape;8348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49" name="Google Shape;8349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0" name="Google Shape;8350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1" name="Google Shape;8351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2" name="Google Shape;8352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3" name="Google Shape;8353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4" name="Google Shape;8354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5" name="Google Shape;8355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56" name="Google Shape;8356;p84"/>
                <p:cNvCxnSpPr>
                  <a:endCxn id="8351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57" name="Google Shape;8357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58" name="Google Shape;8358;p84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8359" name="Google Shape;8359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0" name="Google Shape;8360;p84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</a:t>
                  </a:r>
                  <a:endParaRPr/>
                </a:p>
              </p:txBody>
            </p:sp>
          </p:grpSp>
        </p:grpSp>
        <p:grpSp>
          <p:nvGrpSpPr>
            <p:cNvPr id="8361" name="Google Shape;8361;p84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8362" name="Google Shape;8362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63" name="Google Shape;8363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4" name="Google Shape;8364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5" name="Google Shape;8365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6" name="Google Shape;8366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7" name="Google Shape;8367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8" name="Google Shape;8368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9" name="Google Shape;8369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70" name="Google Shape;8370;p84"/>
                <p:cNvCxnSpPr>
                  <a:endCxn id="8365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71" name="Google Shape;8371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72" name="Google Shape;8372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373" name="Google Shape;8373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74" name="Google Shape;8374;p84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</a:t>
                  </a:r>
                  <a:endParaRPr/>
                </a:p>
              </p:txBody>
            </p:sp>
          </p:grpSp>
        </p:grpSp>
        <p:grpSp>
          <p:nvGrpSpPr>
            <p:cNvPr id="8375" name="Google Shape;8375;p84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8376" name="Google Shape;8376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77" name="Google Shape;8377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78" name="Google Shape;8378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79" name="Google Shape;8379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0" name="Google Shape;8380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1" name="Google Shape;8381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2" name="Google Shape;8382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3" name="Google Shape;8383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84" name="Google Shape;8384;p84"/>
                <p:cNvCxnSpPr>
                  <a:endCxn id="8379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85" name="Google Shape;8385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86" name="Google Shape;8386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387" name="Google Shape;8387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8" name="Google Shape;8388;p84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z</a:t>
                  </a:r>
                  <a:endParaRPr/>
                </a:p>
              </p:txBody>
            </p:sp>
          </p:grpSp>
        </p:grpSp>
        <p:grpSp>
          <p:nvGrpSpPr>
            <p:cNvPr id="8389" name="Google Shape;8389;p84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8390" name="Google Shape;8390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91" name="Google Shape;8391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2" name="Google Shape;8392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3" name="Google Shape;8393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4" name="Google Shape;8394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5" name="Google Shape;8395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6" name="Google Shape;8396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7" name="Google Shape;8397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98" name="Google Shape;8398;p84"/>
                <p:cNvCxnSpPr>
                  <a:endCxn id="8393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99" name="Google Shape;8399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400" name="Google Shape;8400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401" name="Google Shape;8401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2" name="Google Shape;8402;p84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</p:grpSp>
        <p:grpSp>
          <p:nvGrpSpPr>
            <p:cNvPr id="8403" name="Google Shape;8403;p84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8404" name="Google Shape;8404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405" name="Google Shape;8405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6" name="Google Shape;8406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7" name="Google Shape;8407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8" name="Google Shape;8408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9" name="Google Shape;8409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10" name="Google Shape;8410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11" name="Google Shape;8411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412" name="Google Shape;8412;p84"/>
                <p:cNvCxnSpPr>
                  <a:endCxn id="8407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413" name="Google Shape;8413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414" name="Google Shape;8414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415" name="Google Shape;8415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16" name="Google Shape;8416;p84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</p:grpSp>
        </p:grpSp>
      </p:grpSp>
      <p:sp>
        <p:nvSpPr>
          <p:cNvPr id="8417" name="Google Shape;8417;p84"/>
          <p:cNvSpPr txBox="1"/>
          <p:nvPr>
            <p:ph type="title"/>
          </p:nvPr>
        </p:nvSpPr>
        <p:spPr>
          <a:xfrm>
            <a:off x="838199" y="364139"/>
            <a:ext cx="1071079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Traffic engineering: difficult with traditional routing</a:t>
            </a:r>
            <a:endParaRPr/>
          </a:p>
        </p:txBody>
      </p:sp>
      <p:sp>
        <p:nvSpPr>
          <p:cNvPr id="8418" name="Google Shape;8418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19" name="Google Shape;8419;p84"/>
          <p:cNvSpPr txBox="1"/>
          <p:nvPr/>
        </p:nvSpPr>
        <p:spPr>
          <a:xfrm>
            <a:off x="2623386" y="4329157"/>
            <a:ext cx="741756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network operator wants to split  u-to-z traffic along uvwz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uxyz (load balancing)?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do it (or need a new routing algorithm)</a:t>
            </a:r>
            <a:endParaRPr/>
          </a:p>
        </p:txBody>
      </p:sp>
      <p:grpSp>
        <p:nvGrpSpPr>
          <p:cNvPr id="8420" name="Google Shape;8420;p84"/>
          <p:cNvGrpSpPr/>
          <p:nvPr/>
        </p:nvGrpSpPr>
        <p:grpSpPr>
          <a:xfrm>
            <a:off x="3389946" y="2087513"/>
            <a:ext cx="1838752" cy="1207922"/>
            <a:chOff x="1800839" y="2199110"/>
            <a:chExt cx="1838752" cy="1207922"/>
          </a:xfrm>
        </p:grpSpPr>
        <p:sp>
          <p:nvSpPr>
            <p:cNvPr id="8421" name="Google Shape;8421;p84"/>
            <p:cNvSpPr/>
            <p:nvPr/>
          </p:nvSpPr>
          <p:spPr>
            <a:xfrm>
              <a:off x="1800839" y="2199110"/>
              <a:ext cx="1838752" cy="549777"/>
            </a:xfrm>
            <a:custGeom>
              <a:rect b="b" l="l" r="r" t="t"/>
              <a:pathLst>
                <a:path extrusionOk="0" h="630627" w="1802341">
                  <a:moveTo>
                    <a:pt x="0" y="630627"/>
                  </a:moveTo>
                  <a:lnTo>
                    <a:pt x="818495" y="611670"/>
                  </a:lnTo>
                  <a:lnTo>
                    <a:pt x="1802341" y="0"/>
                  </a:lnTo>
                </a:path>
              </a:pathLst>
            </a:custGeom>
            <a:noFill/>
            <a:ln cap="flat" cmpd="sng" w="508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2" name="Google Shape;8422;p84"/>
            <p:cNvSpPr/>
            <p:nvPr/>
          </p:nvSpPr>
          <p:spPr>
            <a:xfrm flipH="1" rot="10800000">
              <a:off x="1801588" y="2749626"/>
              <a:ext cx="1741891" cy="657406"/>
            </a:xfrm>
            <a:custGeom>
              <a:rect b="b" l="l" r="r" t="t"/>
              <a:pathLst>
                <a:path extrusionOk="0" h="754084" w="1707398">
                  <a:moveTo>
                    <a:pt x="0" y="754084"/>
                  </a:moveTo>
                  <a:lnTo>
                    <a:pt x="818495" y="735127"/>
                  </a:lnTo>
                  <a:lnTo>
                    <a:pt x="1707398" y="0"/>
                  </a:lnTo>
                </a:path>
              </a:pathLst>
            </a:custGeom>
            <a:noFill/>
            <a:ln cap="flat" cmpd="sng" w="508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6" name="Shape 8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" name="Google Shape;8427;p85"/>
          <p:cNvSpPr txBox="1"/>
          <p:nvPr>
            <p:ph type="title"/>
          </p:nvPr>
        </p:nvSpPr>
        <p:spPr>
          <a:xfrm>
            <a:off x="838199" y="364139"/>
            <a:ext cx="1071079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Traffic engineering: difficult with traditional routing</a:t>
            </a:r>
            <a:endParaRPr/>
          </a:p>
        </p:txBody>
      </p:sp>
      <p:sp>
        <p:nvSpPr>
          <p:cNvPr id="8428" name="Google Shape;8428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29" name="Google Shape;8429;p85"/>
          <p:cNvSpPr txBox="1"/>
          <p:nvPr/>
        </p:nvSpPr>
        <p:spPr>
          <a:xfrm>
            <a:off x="1207432" y="4302204"/>
            <a:ext cx="1051351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w wants to route blue and red traffic differently from w to z?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do it (with destination-based forwarding, and LS, DV routing)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30" name="Google Shape;8430;p85"/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8431" name="Google Shape;8431;p85"/>
            <p:cNvGrpSpPr/>
            <p:nvPr/>
          </p:nvGrpSpPr>
          <p:grpSpPr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descr="desktop_computer_stylized_medium" id="8432" name="Google Shape;8432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33" name="Google Shape;8433;p8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34" name="Google Shape;8434;p85"/>
            <p:cNvSpPr/>
            <p:nvPr/>
          </p:nvSpPr>
          <p:spPr>
            <a:xfrm>
              <a:off x="2059747" y="1363093"/>
              <a:ext cx="5142041" cy="2404002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5" name="Google Shape;8435;p85"/>
            <p:cNvSpPr/>
            <p:nvPr/>
          </p:nvSpPr>
          <p:spPr>
            <a:xfrm>
              <a:off x="2834105" y="2267385"/>
              <a:ext cx="781590" cy="317349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6" name="Google Shape;8436;p85"/>
            <p:cNvSpPr/>
            <p:nvPr/>
          </p:nvSpPr>
          <p:spPr>
            <a:xfrm>
              <a:off x="5254292" y="2313451"/>
              <a:ext cx="2285" cy="890624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7" name="Google Shape;8437;p85"/>
            <p:cNvSpPr/>
            <p:nvPr/>
          </p:nvSpPr>
          <p:spPr>
            <a:xfrm>
              <a:off x="3670544" y="2323688"/>
              <a:ext cx="2285" cy="91621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8" name="Google Shape;8438;p85"/>
            <p:cNvSpPr/>
            <p:nvPr/>
          </p:nvSpPr>
          <p:spPr>
            <a:xfrm>
              <a:off x="3736497" y="2298095"/>
              <a:ext cx="1462948" cy="1050313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9" name="Google Shape;8439;p85"/>
            <p:cNvSpPr/>
            <p:nvPr/>
          </p:nvSpPr>
          <p:spPr>
            <a:xfrm>
              <a:off x="5292247" y="2891845"/>
              <a:ext cx="1161856" cy="455711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0" name="Google Shape;8440;p85"/>
            <p:cNvSpPr/>
            <p:nvPr/>
          </p:nvSpPr>
          <p:spPr>
            <a:xfrm flipH="1" rot="10800000">
              <a:off x="4022465" y="3327268"/>
              <a:ext cx="908330" cy="45719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1" name="Google Shape;8441;p85"/>
            <p:cNvSpPr/>
            <p:nvPr/>
          </p:nvSpPr>
          <p:spPr>
            <a:xfrm>
              <a:off x="2710696" y="2820186"/>
              <a:ext cx="630757" cy="450430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2" name="Google Shape;8442;p85"/>
            <p:cNvSpPr/>
            <p:nvPr/>
          </p:nvSpPr>
          <p:spPr>
            <a:xfrm>
              <a:off x="4047627" y="2195725"/>
              <a:ext cx="836439" cy="1706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3" name="Google Shape;8443;p85"/>
            <p:cNvSpPr/>
            <p:nvPr/>
          </p:nvSpPr>
          <p:spPr>
            <a:xfrm>
              <a:off x="5572253" y="2248471"/>
              <a:ext cx="922986" cy="397685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4" name="Google Shape;8444;p85"/>
            <p:cNvSpPr/>
            <p:nvPr/>
          </p:nvSpPr>
          <p:spPr>
            <a:xfrm>
              <a:off x="2580431" y="1458657"/>
              <a:ext cx="2536740" cy="1100484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5" name="Google Shape;8445;p85"/>
            <p:cNvSpPr txBox="1"/>
            <p:nvPr/>
          </p:nvSpPr>
          <p:spPr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6" name="Google Shape;8446;p85"/>
            <p:cNvSpPr txBox="1"/>
            <p:nvPr/>
          </p:nvSpPr>
          <p:spPr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7" name="Google Shape;8447;p85"/>
            <p:cNvSpPr txBox="1"/>
            <p:nvPr/>
          </p:nvSpPr>
          <p:spPr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8" name="Google Shape;8448;p85"/>
            <p:cNvSpPr txBox="1"/>
            <p:nvPr/>
          </p:nvSpPr>
          <p:spPr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9" name="Google Shape;8449;p85"/>
            <p:cNvSpPr txBox="1"/>
            <p:nvPr/>
          </p:nvSpPr>
          <p:spPr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0" name="Google Shape;8450;p85"/>
            <p:cNvSpPr txBox="1"/>
            <p:nvPr/>
          </p:nvSpPr>
          <p:spPr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1" name="Google Shape;8451;p85"/>
            <p:cNvSpPr txBox="1"/>
            <p:nvPr/>
          </p:nvSpPr>
          <p:spPr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2" name="Google Shape;8452;p85"/>
            <p:cNvSpPr txBox="1"/>
            <p:nvPr/>
          </p:nvSpPr>
          <p:spPr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3" name="Google Shape;8453;p85"/>
            <p:cNvSpPr txBox="1"/>
            <p:nvPr/>
          </p:nvSpPr>
          <p:spPr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4" name="Google Shape;8454;p85"/>
            <p:cNvSpPr txBox="1"/>
            <p:nvPr/>
          </p:nvSpPr>
          <p:spPr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55" name="Google Shape;8455;p85"/>
            <p:cNvGrpSpPr/>
            <p:nvPr/>
          </p:nvGrpSpPr>
          <p:grpSpPr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8456" name="Google Shape;8456;p8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7" name="Google Shape;8457;p85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8" name="Google Shape;8458;p8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9" name="Google Shape;8459;p8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0" name="Google Shape;8460;p85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61" name="Google Shape;8461;p85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462" name="Google Shape;8462;p85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63" name="Google Shape;8463;p85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64" name="Google Shape;8464;p85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65" name="Google Shape;8465;p85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466" name="Google Shape;8466;p85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67" name="Google Shape;8467;p85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68" name="Google Shape;8468;p85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9" name="Google Shape;8469;p85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70" name="Google Shape;8470;p85"/>
              <p:cNvGrpSpPr/>
              <p:nvPr/>
            </p:nvGrpSpPr>
            <p:grpSpPr>
              <a:xfrm>
                <a:off x="4738" y="1639"/>
                <a:ext cx="578" cy="142"/>
                <a:chOff x="618" y="2579"/>
                <a:chExt cx="720" cy="131"/>
              </a:xfrm>
            </p:grpSpPr>
            <p:sp>
              <p:nvSpPr>
                <p:cNvPr id="8471" name="Google Shape;8471;p85"/>
                <p:cNvSpPr/>
                <p:nvPr/>
              </p:nvSpPr>
              <p:spPr>
                <a:xfrm>
                  <a:off x="618" y="2579"/>
                  <a:ext cx="720" cy="13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72" name="Google Shape;8472;p85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73" name="Google Shape;8473;p8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74" name="Google Shape;8474;p85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475" name="Google Shape;8475;p85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76" name="Google Shape;8476;p85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77" name="Google Shape;8477;p85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8" name="Google Shape;8478;p8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9" name="Google Shape;8479;p8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0" name="Google Shape;8480;p85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1" name="Google Shape;8481;p8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2" name="Google Shape;8482;p85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3" name="Google Shape;8483;p85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4" name="Google Shape;8484;p85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5" name="Google Shape;8485;p85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6" name="Google Shape;8486;p85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7" name="Google Shape;8487;p85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488" name="Google Shape;8488;p85"/>
            <p:cNvCxnSpPr/>
            <p:nvPr/>
          </p:nvCxnSpPr>
          <p:spPr>
            <a:xfrm>
              <a:off x="1682405" y="2744686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9" name="Google Shape;8489;p85"/>
            <p:cNvCxnSpPr/>
            <p:nvPr/>
          </p:nvCxnSpPr>
          <p:spPr>
            <a:xfrm>
              <a:off x="6895267" y="2779855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490" name="Google Shape;8490;p85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8491" name="Google Shape;8491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492" name="Google Shape;8492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3" name="Google Shape;8493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4" name="Google Shape;8494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5" name="Google Shape;8495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6" name="Google Shape;8496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7" name="Google Shape;8497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8" name="Google Shape;8498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499" name="Google Shape;8499;p85"/>
                <p:cNvCxnSpPr>
                  <a:endCxn id="8494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00" name="Google Shape;8500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01" name="Google Shape;8501;p85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8502" name="Google Shape;8502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3" name="Google Shape;8503;p85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</a:t>
                  </a:r>
                  <a:endParaRPr/>
                </a:p>
              </p:txBody>
            </p:sp>
          </p:grpSp>
        </p:grpSp>
        <p:grpSp>
          <p:nvGrpSpPr>
            <p:cNvPr id="8504" name="Google Shape;8504;p85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8505" name="Google Shape;8505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06" name="Google Shape;8506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7" name="Google Shape;8507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8" name="Google Shape;8508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9" name="Google Shape;8509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0" name="Google Shape;8510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1" name="Google Shape;8511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2" name="Google Shape;8512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13" name="Google Shape;8513;p85"/>
                <p:cNvCxnSpPr>
                  <a:endCxn id="8508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14" name="Google Shape;8514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15" name="Google Shape;8515;p85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8516" name="Google Shape;8516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7" name="Google Shape;8517;p85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</a:t>
                  </a:r>
                  <a:endParaRPr/>
                </a:p>
              </p:txBody>
            </p:sp>
          </p:grpSp>
        </p:grpSp>
        <p:grpSp>
          <p:nvGrpSpPr>
            <p:cNvPr id="8518" name="Google Shape;8518;p85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8519" name="Google Shape;8519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20" name="Google Shape;8520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1" name="Google Shape;8521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2" name="Google Shape;8522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3" name="Google Shape;8523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4" name="Google Shape;8524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5" name="Google Shape;8525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6" name="Google Shape;8526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27" name="Google Shape;8527;p85"/>
                <p:cNvCxnSpPr>
                  <a:endCxn id="8522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28" name="Google Shape;8528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29" name="Google Shape;8529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30" name="Google Shape;8530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1" name="Google Shape;8531;p85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</a:t>
                  </a:r>
                  <a:endParaRPr/>
                </a:p>
              </p:txBody>
            </p:sp>
          </p:grpSp>
        </p:grpSp>
        <p:grpSp>
          <p:nvGrpSpPr>
            <p:cNvPr id="8532" name="Google Shape;8532;p85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8533" name="Google Shape;8533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34" name="Google Shape;8534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5" name="Google Shape;8535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6" name="Google Shape;8536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7" name="Google Shape;8537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8" name="Google Shape;8538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9" name="Google Shape;8539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40" name="Google Shape;8540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41" name="Google Shape;8541;p85"/>
                <p:cNvCxnSpPr>
                  <a:endCxn id="8536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42" name="Google Shape;8542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43" name="Google Shape;8543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44" name="Google Shape;8544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45" name="Google Shape;8545;p8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z</a:t>
                  </a:r>
                  <a:endParaRPr/>
                </a:p>
              </p:txBody>
            </p:sp>
          </p:grpSp>
        </p:grpSp>
        <p:grpSp>
          <p:nvGrpSpPr>
            <p:cNvPr id="8546" name="Google Shape;8546;p85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8547" name="Google Shape;8547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48" name="Google Shape;8548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49" name="Google Shape;8549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0" name="Google Shape;8550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1" name="Google Shape;8551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2" name="Google Shape;8552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3" name="Google Shape;8553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4" name="Google Shape;8554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55" name="Google Shape;8555;p85"/>
                <p:cNvCxnSpPr>
                  <a:endCxn id="8550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56" name="Google Shape;8556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57" name="Google Shape;8557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58" name="Google Shape;8558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9" name="Google Shape;8559;p8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</p:grpSp>
        <p:grpSp>
          <p:nvGrpSpPr>
            <p:cNvPr id="8560" name="Google Shape;8560;p85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8561" name="Google Shape;8561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62" name="Google Shape;8562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3" name="Google Shape;8563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4" name="Google Shape;8564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5" name="Google Shape;8565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6" name="Google Shape;8566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7" name="Google Shape;8567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8" name="Google Shape;8568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69" name="Google Shape;8569;p85"/>
                <p:cNvCxnSpPr>
                  <a:endCxn id="8564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70" name="Google Shape;8570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71" name="Google Shape;8571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72" name="Google Shape;8572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73" name="Google Shape;8573;p8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</p:grpSp>
        </p:grpSp>
      </p:grpSp>
      <p:sp>
        <p:nvSpPr>
          <p:cNvPr id="8574" name="Google Shape;8574;p85"/>
          <p:cNvSpPr/>
          <p:nvPr/>
        </p:nvSpPr>
        <p:spPr>
          <a:xfrm>
            <a:off x="3283003" y="2075675"/>
            <a:ext cx="5676290" cy="537233"/>
          </a:xfrm>
          <a:custGeom>
            <a:rect b="b" l="l" r="r" t="t"/>
            <a:pathLst>
              <a:path extrusionOk="0" h="537233" w="5676290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5" name="Google Shape;8575;p85"/>
          <p:cNvSpPr/>
          <p:nvPr/>
        </p:nvSpPr>
        <p:spPr>
          <a:xfrm>
            <a:off x="5246494" y="2202412"/>
            <a:ext cx="3684951" cy="1712667"/>
          </a:xfrm>
          <a:custGeom>
            <a:rect b="b" l="l" r="r" t="t"/>
            <a:pathLst>
              <a:path extrusionOk="0" h="1712667" w="3684951">
                <a:moveTo>
                  <a:pt x="0" y="1712667"/>
                </a:moveTo>
                <a:cubicBezTo>
                  <a:pt x="1652" y="1503016"/>
                  <a:pt x="130" y="1261615"/>
                  <a:pt x="1782" y="1051964"/>
                </a:cubicBezTo>
                <a:lnTo>
                  <a:pt x="1568460" y="0"/>
                </a:lnTo>
                <a:cubicBezTo>
                  <a:pt x="1567493" y="355040"/>
                  <a:pt x="1566525" y="710080"/>
                  <a:pt x="1565558" y="1065120"/>
                </a:cubicBezTo>
                <a:lnTo>
                  <a:pt x="2912870" y="564639"/>
                </a:lnTo>
                <a:lnTo>
                  <a:pt x="3684951" y="577165"/>
                </a:lnTo>
              </a:path>
            </a:pathLst>
          </a:custGeom>
          <a:noFill/>
          <a:ln cap="flat" cmpd="sng" w="47625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6" name="Google Shape;8576;p85"/>
          <p:cNvSpPr txBox="1"/>
          <p:nvPr/>
        </p:nvSpPr>
        <p:spPr>
          <a:xfrm>
            <a:off x="1351953" y="5524714"/>
            <a:ext cx="978368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We learned in Chapter 4 that generalized forwarding and SDN can be used to achieve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routing desired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0" name="Shape 8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" name="Google Shape;8581;p86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8582" name="Google Shape;8582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583" name="Google Shape;8583;p86"/>
          <p:cNvGrpSpPr/>
          <p:nvPr/>
        </p:nvGrpSpPr>
        <p:grpSpPr>
          <a:xfrm>
            <a:off x="3056815" y="1998116"/>
            <a:ext cx="7050773" cy="4668701"/>
            <a:chOff x="1453484" y="1555350"/>
            <a:chExt cx="7050773" cy="4668701"/>
          </a:xfrm>
        </p:grpSpPr>
        <p:grpSp>
          <p:nvGrpSpPr>
            <p:cNvPr id="8584" name="Google Shape;8584;p86"/>
            <p:cNvGrpSpPr/>
            <p:nvPr/>
          </p:nvGrpSpPr>
          <p:grpSpPr>
            <a:xfrm>
              <a:off x="1453484" y="1555350"/>
              <a:ext cx="6027737" cy="1440135"/>
              <a:chOff x="1492879" y="2061336"/>
              <a:chExt cx="6027737" cy="1440135"/>
            </a:xfrm>
          </p:grpSpPr>
          <p:sp>
            <p:nvSpPr>
              <p:cNvPr id="8585" name="Google Shape;8585;p86"/>
              <p:cNvSpPr/>
              <p:nvPr/>
            </p:nvSpPr>
            <p:spPr>
              <a:xfrm>
                <a:off x="1929251" y="2064703"/>
                <a:ext cx="504348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586" name="Google Shape;8586;p86"/>
              <p:cNvSpPr/>
              <p:nvPr/>
            </p:nvSpPr>
            <p:spPr>
              <a:xfrm>
                <a:off x="1739747" y="2067585"/>
                <a:ext cx="198437" cy="1385888"/>
              </a:xfrm>
              <a:custGeom>
                <a:rect b="b" l="l" r="r" t="t"/>
                <a:pathLst>
                  <a:path extrusionOk="0" h="1385496" w="199855">
                    <a:moveTo>
                      <a:pt x="0" y="745656"/>
                    </a:moveTo>
                    <a:lnTo>
                      <a:pt x="193920" y="0"/>
                    </a:lnTo>
                    <a:cubicBezTo>
                      <a:pt x="195898" y="342623"/>
                      <a:pt x="197877" y="685246"/>
                      <a:pt x="199855" y="1027869"/>
                    </a:cubicBezTo>
                    <a:lnTo>
                      <a:pt x="4471" y="1385496"/>
                    </a:lnTo>
                    <a:cubicBezTo>
                      <a:pt x="2981" y="1172216"/>
                      <a:pt x="1490" y="958936"/>
                      <a:pt x="0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587" name="Google Shape;8587;p86"/>
              <p:cNvSpPr/>
              <p:nvPr/>
            </p:nvSpPr>
            <p:spPr>
              <a:xfrm flipH="1">
                <a:off x="6969078" y="2061336"/>
                <a:ext cx="220427" cy="1370587"/>
              </a:xfrm>
              <a:custGeom>
                <a:rect b="b" l="l" r="r" t="t"/>
                <a:pathLst>
                  <a:path extrusionOk="0" h="1370199" w="220239">
                    <a:moveTo>
                      <a:pt x="0" y="730359"/>
                    </a:moveTo>
                    <a:cubicBezTo>
                      <a:pt x="64640" y="481807"/>
                      <a:pt x="154761" y="248552"/>
                      <a:pt x="219401" y="0"/>
                    </a:cubicBezTo>
                    <a:cubicBezTo>
                      <a:pt x="221379" y="342623"/>
                      <a:pt x="218261" y="664850"/>
                      <a:pt x="220239" y="1007473"/>
                    </a:cubicBezTo>
                    <a:lnTo>
                      <a:pt x="4471" y="1370199"/>
                    </a:lnTo>
                    <a:cubicBezTo>
                      <a:pt x="2981" y="1156919"/>
                      <a:pt x="1490" y="943639"/>
                      <a:pt x="0" y="73035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0D0F4"/>
                  </a:gs>
                  <a:gs pos="100000">
                    <a:srgbClr val="FFFF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8588" name="Google Shape;8588;p86"/>
              <p:cNvGrpSpPr/>
              <p:nvPr/>
            </p:nvGrpSpPr>
            <p:grpSpPr>
              <a:xfrm>
                <a:off x="1492879" y="2820676"/>
                <a:ext cx="338137" cy="653816"/>
                <a:chOff x="4140" y="429"/>
                <a:chExt cx="1425" cy="2396"/>
              </a:xfrm>
            </p:grpSpPr>
            <p:sp>
              <p:nvSpPr>
                <p:cNvPr id="8589" name="Google Shape;8589;p86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0" name="Google Shape;8590;p86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1" name="Google Shape;8591;p86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2" name="Google Shape;8592;p86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3" name="Google Shape;8593;p86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94" name="Google Shape;8594;p86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595" name="Google Shape;8595;p86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96" name="Google Shape;8596;p86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597" name="Google Shape;8597;p86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98" name="Google Shape;8598;p86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599" name="Google Shape;8599;p86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0" name="Google Shape;8600;p86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01" name="Google Shape;8601;p86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02" name="Google Shape;8602;p86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03" name="Google Shape;8603;p86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604" name="Google Shape;8604;p86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5" name="Google Shape;8605;p86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06" name="Google Shape;8606;p86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07" name="Google Shape;8607;p86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608" name="Google Shape;8608;p86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9" name="Google Shape;8609;p86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10" name="Google Shape;8610;p86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1" name="Google Shape;8611;p86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2" name="Google Shape;8612;p86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3" name="Google Shape;8613;p86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4" name="Google Shape;8614;p86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5" name="Google Shape;8615;p86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6" name="Google Shape;8616;p86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7" name="Google Shape;8617;p86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8" name="Google Shape;8618;p86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9" name="Google Shape;8619;p86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0" name="Google Shape;8620;p86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21" name="Google Shape;8621;p86"/>
              <p:cNvGrpSpPr/>
              <p:nvPr/>
            </p:nvGrpSpPr>
            <p:grpSpPr>
              <a:xfrm>
                <a:off x="7182479" y="2847655"/>
                <a:ext cx="338137" cy="653816"/>
                <a:chOff x="4140" y="429"/>
                <a:chExt cx="1425" cy="2396"/>
              </a:xfrm>
            </p:grpSpPr>
            <p:sp>
              <p:nvSpPr>
                <p:cNvPr id="8622" name="Google Shape;8622;p86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3" name="Google Shape;8623;p86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4" name="Google Shape;8624;p86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5" name="Google Shape;8625;p86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6" name="Google Shape;8626;p86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27" name="Google Shape;8627;p86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628" name="Google Shape;8628;p86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29" name="Google Shape;8629;p86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0" name="Google Shape;8630;p86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31" name="Google Shape;8631;p86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632" name="Google Shape;8632;p86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3" name="Google Shape;8633;p86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4" name="Google Shape;8634;p86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35" name="Google Shape;8635;p86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36" name="Google Shape;8636;p86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637" name="Google Shape;8637;p86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8" name="Google Shape;8638;p86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9" name="Google Shape;8639;p86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40" name="Google Shape;8640;p86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641" name="Google Shape;8641;p86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2" name="Google Shape;8642;p86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43" name="Google Shape;8643;p86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4" name="Google Shape;8644;p86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5" name="Google Shape;8645;p86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6" name="Google Shape;8646;p86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7" name="Google Shape;8647;p86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8" name="Google Shape;8648;p86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9" name="Google Shape;8649;p86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0" name="Google Shape;8650;p86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1" name="Google Shape;8651;p86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2" name="Google Shape;8652;p86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3" name="Google Shape;8653;p86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654" name="Google Shape;8654;p86"/>
            <p:cNvSpPr/>
            <p:nvPr/>
          </p:nvSpPr>
          <p:spPr>
            <a:xfrm>
              <a:off x="2592388" y="5284251"/>
              <a:ext cx="4027487" cy="939800"/>
            </a:xfrm>
            <a:custGeom>
              <a:rect b="b" l="l" r="r" t="t"/>
              <a:pathLst>
                <a:path extrusionOk="0" h="10125" w="10001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55" name="Google Shape;8655;p86"/>
            <p:cNvCxnSpPr/>
            <p:nvPr/>
          </p:nvCxnSpPr>
          <p:spPr>
            <a:xfrm flipH="1" rot="10800000">
              <a:off x="3262941" y="5435064"/>
              <a:ext cx="1316038" cy="1317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6" name="Google Shape;8656;p86"/>
            <p:cNvCxnSpPr/>
            <p:nvPr/>
          </p:nvCxnSpPr>
          <p:spPr>
            <a:xfrm>
              <a:off x="3151816" y="5622389"/>
              <a:ext cx="2259013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7" name="Google Shape;8657;p86"/>
            <p:cNvCxnSpPr/>
            <p:nvPr/>
          </p:nvCxnSpPr>
          <p:spPr>
            <a:xfrm>
              <a:off x="3164516" y="5727164"/>
              <a:ext cx="714375" cy="2762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8" name="Google Shape;8658;p86"/>
            <p:cNvCxnSpPr/>
            <p:nvPr/>
          </p:nvCxnSpPr>
          <p:spPr>
            <a:xfrm flipH="1" rot="10800000">
              <a:off x="4182104" y="5920839"/>
              <a:ext cx="1247775" cy="825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9" name="Google Shape;8659;p86"/>
            <p:cNvCxnSpPr/>
            <p:nvPr/>
          </p:nvCxnSpPr>
          <p:spPr>
            <a:xfrm>
              <a:off x="4842504" y="5468401"/>
              <a:ext cx="1057275" cy="1238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0" name="Google Shape;8660;p86"/>
            <p:cNvCxnSpPr/>
            <p:nvPr/>
          </p:nvCxnSpPr>
          <p:spPr>
            <a:xfrm flipH="1" rot="10800000">
              <a:off x="4126541" y="5622389"/>
              <a:ext cx="1790700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1" name="Google Shape;8661;p86"/>
            <p:cNvCxnSpPr/>
            <p:nvPr/>
          </p:nvCxnSpPr>
          <p:spPr>
            <a:xfrm flipH="1" rot="10800000">
              <a:off x="5453691" y="5650964"/>
              <a:ext cx="588963" cy="2698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2" name="Google Shape;8662;p86"/>
            <p:cNvCxnSpPr/>
            <p:nvPr/>
          </p:nvCxnSpPr>
          <p:spPr>
            <a:xfrm>
              <a:off x="4596441" y="5435064"/>
              <a:ext cx="814388" cy="40163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663" name="Google Shape;8663;p86"/>
            <p:cNvGrpSpPr/>
            <p:nvPr/>
          </p:nvGrpSpPr>
          <p:grpSpPr>
            <a:xfrm>
              <a:off x="1526216" y="2537824"/>
              <a:ext cx="6978041" cy="1096962"/>
              <a:chOff x="1526216" y="3003498"/>
              <a:chExt cx="6978041" cy="1096962"/>
            </a:xfrm>
          </p:grpSpPr>
          <p:sp>
            <p:nvSpPr>
              <p:cNvPr id="8664" name="Google Shape;8664;p86"/>
              <p:cNvSpPr txBox="1"/>
              <p:nvPr/>
            </p:nvSpPr>
            <p:spPr>
              <a:xfrm>
                <a:off x="7714291" y="3628973"/>
                <a:ext cx="595313" cy="471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plane</a:t>
                </a:r>
                <a:endParaRPr/>
              </a:p>
            </p:txBody>
          </p:sp>
          <p:sp>
            <p:nvSpPr>
              <p:cNvPr id="8665" name="Google Shape;8665;p86"/>
              <p:cNvSpPr txBox="1"/>
              <p:nvPr/>
            </p:nvSpPr>
            <p:spPr>
              <a:xfrm>
                <a:off x="7728579" y="3003498"/>
                <a:ext cx="709612" cy="471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plane</a:t>
                </a:r>
                <a:endParaRPr/>
              </a:p>
            </p:txBody>
          </p:sp>
          <p:cxnSp>
            <p:nvCxnSpPr>
              <p:cNvPr id="8666" name="Google Shape;8666;p86"/>
              <p:cNvCxnSpPr/>
              <p:nvPr/>
            </p:nvCxnSpPr>
            <p:spPr>
              <a:xfrm flipH="1" rot="10800000">
                <a:off x="1526216" y="3579342"/>
                <a:ext cx="6978041" cy="12155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667" name="Google Shape;8667;p86"/>
            <p:cNvGrpSpPr/>
            <p:nvPr/>
          </p:nvGrpSpPr>
          <p:grpSpPr>
            <a:xfrm>
              <a:off x="2436115" y="2269683"/>
              <a:ext cx="4296530" cy="320675"/>
              <a:chOff x="2433511" y="2792360"/>
              <a:chExt cx="4296530" cy="320675"/>
            </a:xfrm>
          </p:grpSpPr>
          <p:grpSp>
            <p:nvGrpSpPr>
              <p:cNvPr id="8668" name="Google Shape;8668;p86"/>
              <p:cNvGrpSpPr/>
              <p:nvPr/>
            </p:nvGrpSpPr>
            <p:grpSpPr>
              <a:xfrm>
                <a:off x="2433511" y="2794329"/>
                <a:ext cx="349250" cy="317500"/>
                <a:chOff x="2931664" y="3912858"/>
                <a:chExt cx="430450" cy="329431"/>
              </a:xfrm>
            </p:grpSpPr>
            <p:sp>
              <p:nvSpPr>
                <p:cNvPr id="8669" name="Google Shape;8669;p86"/>
                <p:cNvSpPr/>
                <p:nvPr/>
              </p:nvSpPr>
              <p:spPr>
                <a:xfrm>
                  <a:off x="2937534" y="3912858"/>
                  <a:ext cx="424580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70" name="Google Shape;8670;p86"/>
                <p:cNvCxnSpPr/>
                <p:nvPr/>
              </p:nvCxnSpPr>
              <p:spPr>
                <a:xfrm>
                  <a:off x="2931664" y="4005099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1" name="Google Shape;8671;p86"/>
                <p:cNvCxnSpPr/>
                <p:nvPr/>
              </p:nvCxnSpPr>
              <p:spPr>
                <a:xfrm>
                  <a:off x="2931664" y="4067691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2" name="Google Shape;8672;p86"/>
                <p:cNvCxnSpPr>
                  <a:stCxn id="8669" idx="2"/>
                </p:cNvCxnSpPr>
                <p:nvPr/>
              </p:nvCxnSpPr>
              <p:spPr>
                <a:xfrm rot="10800000">
                  <a:off x="3149824" y="4004989"/>
                  <a:ext cx="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73" name="Google Shape;8673;p86"/>
              <p:cNvGrpSpPr/>
              <p:nvPr/>
            </p:nvGrpSpPr>
            <p:grpSpPr>
              <a:xfrm>
                <a:off x="3348666" y="2792360"/>
                <a:ext cx="350838" cy="317500"/>
                <a:chOff x="2931664" y="3912861"/>
                <a:chExt cx="430450" cy="329431"/>
              </a:xfrm>
            </p:grpSpPr>
            <p:sp>
              <p:nvSpPr>
                <p:cNvPr id="8674" name="Google Shape;8674;p86"/>
                <p:cNvSpPr/>
                <p:nvPr/>
              </p:nvSpPr>
              <p:spPr>
                <a:xfrm>
                  <a:off x="2937508" y="3912861"/>
                  <a:ext cx="424606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75" name="Google Shape;8675;p86"/>
                <p:cNvCxnSpPr/>
                <p:nvPr/>
              </p:nvCxnSpPr>
              <p:spPr>
                <a:xfrm>
                  <a:off x="2931664" y="4005102"/>
                  <a:ext cx="42460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6" name="Google Shape;8676;p86"/>
                <p:cNvCxnSpPr/>
                <p:nvPr/>
              </p:nvCxnSpPr>
              <p:spPr>
                <a:xfrm>
                  <a:off x="2931664" y="4067694"/>
                  <a:ext cx="42460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7" name="Google Shape;8677;p86"/>
                <p:cNvCxnSpPr>
                  <a:stCxn id="8674" idx="2"/>
                </p:cNvCxnSpPr>
                <p:nvPr/>
              </p:nvCxnSpPr>
              <p:spPr>
                <a:xfrm rot="10800000">
                  <a:off x="3148011" y="4004992"/>
                  <a:ext cx="180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78" name="Google Shape;8678;p86"/>
              <p:cNvGrpSpPr/>
              <p:nvPr/>
            </p:nvGrpSpPr>
            <p:grpSpPr>
              <a:xfrm>
                <a:off x="4182104" y="2792360"/>
                <a:ext cx="350837" cy="317500"/>
                <a:chOff x="2931664" y="3912861"/>
                <a:chExt cx="430450" cy="329431"/>
              </a:xfrm>
            </p:grpSpPr>
            <p:sp>
              <p:nvSpPr>
                <p:cNvPr id="8679" name="Google Shape;8679;p86"/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80" name="Google Shape;8680;p86"/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1" name="Google Shape;8681;p86"/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2" name="Google Shape;8682;p86"/>
                <p:cNvCxnSpPr>
                  <a:stCxn id="8679" idx="2"/>
                </p:cNvCxnSpPr>
                <p:nvPr/>
              </p:nvCxnSpPr>
              <p:spPr>
                <a:xfrm rot="10800000">
                  <a:off x="3148011" y="4004992"/>
                  <a:ext cx="180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83" name="Google Shape;8683;p86"/>
              <p:cNvGrpSpPr/>
              <p:nvPr/>
            </p:nvGrpSpPr>
            <p:grpSpPr>
              <a:xfrm>
                <a:off x="5374316" y="2795535"/>
                <a:ext cx="349250" cy="317500"/>
                <a:chOff x="2931664" y="3912862"/>
                <a:chExt cx="430450" cy="329431"/>
              </a:xfrm>
            </p:grpSpPr>
            <p:sp>
              <p:nvSpPr>
                <p:cNvPr id="8684" name="Google Shape;8684;p86"/>
                <p:cNvSpPr/>
                <p:nvPr/>
              </p:nvSpPr>
              <p:spPr>
                <a:xfrm>
                  <a:off x="2937534" y="3912862"/>
                  <a:ext cx="424580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85" name="Google Shape;8685;p86"/>
                <p:cNvCxnSpPr/>
                <p:nvPr/>
              </p:nvCxnSpPr>
              <p:spPr>
                <a:xfrm>
                  <a:off x="2931664" y="4005103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6" name="Google Shape;8686;p86"/>
                <p:cNvCxnSpPr/>
                <p:nvPr/>
              </p:nvCxnSpPr>
              <p:spPr>
                <a:xfrm>
                  <a:off x="2931664" y="4067695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7" name="Google Shape;8687;p86"/>
                <p:cNvCxnSpPr>
                  <a:stCxn id="8684" idx="2"/>
                </p:cNvCxnSpPr>
                <p:nvPr/>
              </p:nvCxnSpPr>
              <p:spPr>
                <a:xfrm rot="10800000">
                  <a:off x="3149824" y="4004993"/>
                  <a:ext cx="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88" name="Google Shape;8688;p86"/>
              <p:cNvGrpSpPr/>
              <p:nvPr/>
            </p:nvGrpSpPr>
            <p:grpSpPr>
              <a:xfrm>
                <a:off x="6379204" y="2792360"/>
                <a:ext cx="350837" cy="317500"/>
                <a:chOff x="2931664" y="3912861"/>
                <a:chExt cx="430450" cy="329431"/>
              </a:xfrm>
            </p:grpSpPr>
            <p:sp>
              <p:nvSpPr>
                <p:cNvPr id="8689" name="Google Shape;8689;p86"/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90" name="Google Shape;8690;p86"/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91" name="Google Shape;8691;p86"/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92" name="Google Shape;8692;p86"/>
                <p:cNvCxnSpPr>
                  <a:stCxn id="8689" idx="2"/>
                </p:cNvCxnSpPr>
                <p:nvPr/>
              </p:nvCxnSpPr>
              <p:spPr>
                <a:xfrm rot="10800000">
                  <a:off x="3148011" y="4004992"/>
                  <a:ext cx="180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8693" name="Google Shape;8693;p86"/>
            <p:cNvGrpSpPr/>
            <p:nvPr/>
          </p:nvGrpSpPr>
          <p:grpSpPr>
            <a:xfrm>
              <a:off x="1856416" y="3244261"/>
              <a:ext cx="5211763" cy="2739614"/>
              <a:chOff x="1856416" y="3709935"/>
              <a:chExt cx="5211763" cy="2739614"/>
            </a:xfrm>
          </p:grpSpPr>
          <p:sp>
            <p:nvSpPr>
              <p:cNvPr id="8694" name="Google Shape;8694;p86"/>
              <p:cNvSpPr/>
              <p:nvPr/>
            </p:nvSpPr>
            <p:spPr>
              <a:xfrm>
                <a:off x="1876731" y="5330139"/>
                <a:ext cx="1280789" cy="759087"/>
              </a:xfrm>
              <a:custGeom>
                <a:rect b="b" l="l" r="r" t="t"/>
                <a:pathLst>
                  <a:path extrusionOk="0" h="759828" w="1280499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5" name="Google Shape;8695;p86"/>
              <p:cNvSpPr/>
              <p:nvPr/>
            </p:nvSpPr>
            <p:spPr>
              <a:xfrm>
                <a:off x="6202668" y="5429198"/>
                <a:ext cx="865511" cy="553828"/>
              </a:xfrm>
              <a:custGeom>
                <a:rect b="b" l="l" r="r" t="t"/>
                <a:pathLst>
                  <a:path extrusionOk="0" h="553361" w="86625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6" name="Google Shape;8696;p86"/>
              <p:cNvSpPr/>
              <p:nvPr/>
            </p:nvSpPr>
            <p:spPr>
              <a:xfrm>
                <a:off x="5378281" y="5449835"/>
                <a:ext cx="675485" cy="896777"/>
              </a:xfrm>
              <a:custGeom>
                <a:rect b="b" l="l" r="r" t="t"/>
                <a:pathLst>
                  <a:path extrusionOk="0" h="896577" w="675040">
                    <a:moveTo>
                      <a:pt x="0" y="894029"/>
                    </a:moveTo>
                    <a:cubicBezTo>
                      <a:pt x="95638" y="409857"/>
                      <a:pt x="76811" y="618448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276172" y="749497"/>
                      <a:pt x="462801" y="344746"/>
                      <a:pt x="179079" y="886531"/>
                    </a:cubicBezTo>
                    <a:cubicBezTo>
                      <a:pt x="44794" y="857895"/>
                      <a:pt x="92525" y="908114"/>
                      <a:pt x="0" y="8940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7" name="Google Shape;8697;p86"/>
              <p:cNvSpPr/>
              <p:nvPr/>
            </p:nvSpPr>
            <p:spPr>
              <a:xfrm>
                <a:off x="4340854" y="5470471"/>
                <a:ext cx="514350" cy="401843"/>
              </a:xfrm>
              <a:custGeom>
                <a:rect b="b" l="l" r="r" t="t"/>
                <a:pathLst>
                  <a:path extrusionOk="0" h="402193" w="514180">
                    <a:moveTo>
                      <a:pt x="100781" y="402193"/>
                    </a:moveTo>
                    <a:cubicBezTo>
                      <a:pt x="60584" y="194221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91637" y="89943"/>
                      <a:pt x="404259" y="386400"/>
                    </a:cubicBezTo>
                    <a:cubicBezTo>
                      <a:pt x="357814" y="390704"/>
                      <a:pt x="168880" y="400727"/>
                      <a:pt x="100781" y="40219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8" name="Google Shape;8698;p86"/>
              <p:cNvSpPr/>
              <p:nvPr/>
            </p:nvSpPr>
            <p:spPr>
              <a:xfrm>
                <a:off x="3561391" y="5433960"/>
                <a:ext cx="573725" cy="1015589"/>
              </a:xfrm>
              <a:custGeom>
                <a:rect b="b" l="l" r="r" t="t"/>
                <a:pathLst>
                  <a:path extrusionOk="0" h="1015244" w="574100">
                    <a:moveTo>
                      <a:pt x="333190" y="985695"/>
                    </a:moveTo>
                    <a:cubicBezTo>
                      <a:pt x="153901" y="433090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76415" y="1019182"/>
                      <a:pt x="529388" y="984229"/>
                      <a:pt x="333190" y="98569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8699" name="Google Shape;8699;p86"/>
              <p:cNvGrpSpPr/>
              <p:nvPr/>
            </p:nvGrpSpPr>
            <p:grpSpPr>
              <a:xfrm>
                <a:off x="1856416" y="3709935"/>
                <a:ext cx="1049338" cy="1739900"/>
                <a:chOff x="1856416" y="3709935"/>
                <a:chExt cx="1049338" cy="1739900"/>
              </a:xfrm>
            </p:grpSpPr>
            <p:sp>
              <p:nvSpPr>
                <p:cNvPr id="8700" name="Google Shape;8700;p86"/>
                <p:cNvSpPr/>
                <p:nvPr/>
              </p:nvSpPr>
              <p:spPr>
                <a:xfrm rot="10800000">
                  <a:off x="1867529" y="3957585"/>
                  <a:ext cx="1027112" cy="61109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grpSp>
              <p:nvGrpSpPr>
                <p:cNvPr id="8701" name="Google Shape;8701;p86"/>
                <p:cNvGrpSpPr/>
                <p:nvPr/>
              </p:nvGrpSpPr>
              <p:grpSpPr>
                <a:xfrm>
                  <a:off x="1859590" y="5089473"/>
                  <a:ext cx="1035050" cy="360362"/>
                  <a:chOff x="4129067" y="3607161"/>
                  <a:chExt cx="567968" cy="338095"/>
                </a:xfrm>
              </p:grpSpPr>
              <p:sp>
                <p:nvSpPr>
                  <p:cNvPr id="8702" name="Google Shape;8702;p86"/>
                  <p:cNvSpPr/>
                  <p:nvPr/>
                </p:nvSpPr>
                <p:spPr>
                  <a:xfrm>
                    <a:off x="4129067" y="3720356"/>
                    <a:ext cx="567968" cy="224900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03" name="Google Shape;8703;p86"/>
                  <p:cNvSpPr/>
                  <p:nvPr/>
                </p:nvSpPr>
                <p:spPr>
                  <a:xfrm>
                    <a:off x="4129067" y="3720356"/>
                    <a:ext cx="567968" cy="111705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04" name="Google Shape;8704;p86"/>
                  <p:cNvSpPr/>
                  <p:nvPr/>
                </p:nvSpPr>
                <p:spPr>
                  <a:xfrm>
                    <a:off x="4129067" y="3607161"/>
                    <a:ext cx="567968" cy="224900"/>
                  </a:xfrm>
                  <a:prstGeom prst="ellipse">
                    <a:avLst/>
                  </a:prstGeom>
                  <a:solidFill>
                    <a:srgbClr val="8383E0">
                      <a:alpha val="6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05" name="Google Shape;8705;p86"/>
                  <p:cNvCxnSpPr/>
                  <p:nvPr/>
                </p:nvCxnSpPr>
                <p:spPr>
                  <a:xfrm>
                    <a:off x="4697035" y="3720356"/>
                    <a:ext cx="0" cy="11170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06" name="Google Shape;8706;p86"/>
                  <p:cNvCxnSpPr/>
                  <p:nvPr/>
                </p:nvCxnSpPr>
                <p:spPr>
                  <a:xfrm>
                    <a:off x="4129067" y="3720356"/>
                    <a:ext cx="0" cy="11170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07" name="Google Shape;8707;p86"/>
                <p:cNvSpPr/>
                <p:nvPr/>
              </p:nvSpPr>
              <p:spPr>
                <a:xfrm>
                  <a:off x="1877054" y="4704509"/>
                  <a:ext cx="1028700" cy="523075"/>
                </a:xfrm>
                <a:prstGeom prst="rect">
                  <a:avLst/>
                </a:prstGeom>
                <a:gradFill>
                  <a:gsLst>
                    <a:gs pos="0">
                      <a:srgbClr val="8383E0">
                        <a:alpha val="61960"/>
                      </a:srgbClr>
                    </a:gs>
                    <a:gs pos="54000">
                      <a:srgbClr val="ACACEA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08" name="Google Shape;8708;p86"/>
                <p:cNvCxnSpPr/>
                <p:nvPr/>
              </p:nvCxnSpPr>
              <p:spPr>
                <a:xfrm>
                  <a:off x="1861179" y="3981398"/>
                  <a:ext cx="17462" cy="13017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709" name="Google Shape;8709;p86"/>
                <p:cNvCxnSpPr/>
                <p:nvPr/>
              </p:nvCxnSpPr>
              <p:spPr>
                <a:xfrm flipH="1">
                  <a:off x="2894641" y="3971873"/>
                  <a:ext cx="6350" cy="1270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10" name="Google Shape;8710;p86"/>
                <p:cNvGrpSpPr/>
                <p:nvPr/>
              </p:nvGrpSpPr>
              <p:grpSpPr>
                <a:xfrm>
                  <a:off x="1856416" y="3709935"/>
                  <a:ext cx="1044574" cy="398463"/>
                  <a:chOff x="2183302" y="1574638"/>
                  <a:chExt cx="1199996" cy="429571"/>
                </a:xfrm>
              </p:grpSpPr>
              <p:sp>
                <p:nvSpPr>
                  <p:cNvPr id="8711" name="Google Shape;8711;p86"/>
                  <p:cNvSpPr/>
                  <p:nvPr/>
                </p:nvSpPr>
                <p:spPr>
                  <a:xfrm flipH="1" rot="10800000">
                    <a:off x="2185126" y="1689305"/>
                    <a:ext cx="1196349" cy="314904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D5D5F4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2" name="Google Shape;8712;p86"/>
                  <p:cNvSpPr/>
                  <p:nvPr/>
                </p:nvSpPr>
                <p:spPr>
                  <a:xfrm>
                    <a:off x="2183302" y="1735513"/>
                    <a:ext cx="1198173" cy="112955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3" name="Google Shape;8713;p86"/>
                  <p:cNvSpPr/>
                  <p:nvPr/>
                </p:nvSpPr>
                <p:spPr>
                  <a:xfrm flipH="1" rot="10800000">
                    <a:off x="2183302" y="1574638"/>
                    <a:ext cx="1196349" cy="314904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4" name="Google Shape;8714;p86"/>
                  <p:cNvSpPr/>
                  <p:nvPr/>
                </p:nvSpPr>
                <p:spPr>
                  <a:xfrm>
                    <a:off x="2489684" y="1670478"/>
                    <a:ext cx="581762" cy="157452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5" name="Google Shape;8715;p86"/>
                  <p:cNvSpPr/>
                  <p:nvPr/>
                </p:nvSpPr>
                <p:spPr>
                  <a:xfrm>
                    <a:off x="2429502" y="1629404"/>
                    <a:ext cx="703949" cy="111244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6" name="Google Shape;8716;p86"/>
                  <p:cNvSpPr/>
                  <p:nvPr/>
                </p:nvSpPr>
                <p:spPr>
                  <a:xfrm>
                    <a:off x="2892723" y="1723534"/>
                    <a:ext cx="257142" cy="95840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7" name="Google Shape;8717;p86"/>
                  <p:cNvSpPr/>
                  <p:nvPr/>
                </p:nvSpPr>
                <p:spPr>
                  <a:xfrm>
                    <a:off x="2416736" y="1725244"/>
                    <a:ext cx="255318" cy="94130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18" name="Google Shape;8718;p86"/>
                  <p:cNvCxnSpPr>
                    <a:endCxn id="8713" idx="2"/>
                  </p:cNvCxnSpPr>
                  <p:nvPr/>
                </p:nvCxnSpPr>
                <p:spPr>
                  <a:xfrm rot="10800000">
                    <a:off x="2183302" y="1732090"/>
                    <a:ext cx="1800" cy="121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19" name="Google Shape;8719;p86"/>
                  <p:cNvCxnSpPr/>
                  <p:nvPr/>
                </p:nvCxnSpPr>
                <p:spPr>
                  <a:xfrm rot="10800000">
                    <a:off x="3381475" y="1728667"/>
                    <a:ext cx="1823" cy="12151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20" name="Google Shape;8720;p86"/>
              <p:cNvGrpSpPr/>
              <p:nvPr/>
            </p:nvGrpSpPr>
            <p:grpSpPr>
              <a:xfrm>
                <a:off x="3566154" y="3862335"/>
                <a:ext cx="514350" cy="1670050"/>
                <a:chOff x="3566154" y="3862335"/>
                <a:chExt cx="514350" cy="1670050"/>
              </a:xfrm>
            </p:grpSpPr>
            <p:sp>
              <p:nvSpPr>
                <p:cNvPr id="8721" name="Google Shape;8721;p86"/>
                <p:cNvSpPr/>
                <p:nvPr/>
              </p:nvSpPr>
              <p:spPr>
                <a:xfrm rot="10800000">
                  <a:off x="3569201" y="3946092"/>
                  <a:ext cx="498084" cy="628647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22" name="Google Shape;8722;p86"/>
                <p:cNvCxnSpPr/>
                <p:nvPr/>
              </p:nvCxnSpPr>
              <p:spPr>
                <a:xfrm flipH="1">
                  <a:off x="4078916" y="4019498"/>
                  <a:ext cx="1588" cy="13652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23" name="Google Shape;8723;p86"/>
                <p:cNvGrpSpPr/>
                <p:nvPr/>
              </p:nvGrpSpPr>
              <p:grpSpPr>
                <a:xfrm>
                  <a:off x="3570916" y="5310135"/>
                  <a:ext cx="508000" cy="222250"/>
                  <a:chOff x="4128204" y="3605744"/>
                  <a:chExt cx="568606" cy="339512"/>
                </a:xfrm>
              </p:grpSpPr>
              <p:sp>
                <p:nvSpPr>
                  <p:cNvPr id="8724" name="Google Shape;8724;p86"/>
                  <p:cNvSpPr/>
                  <p:nvPr/>
                </p:nvSpPr>
                <p:spPr>
                  <a:xfrm>
                    <a:off x="4128204" y="3719724"/>
                    <a:ext cx="568606" cy="225532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25" name="Google Shape;8725;p86"/>
                  <p:cNvSpPr/>
                  <p:nvPr/>
                </p:nvSpPr>
                <p:spPr>
                  <a:xfrm>
                    <a:off x="4128204" y="3719724"/>
                    <a:ext cx="568606" cy="111554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26" name="Google Shape;8726;p86"/>
                  <p:cNvSpPr/>
                  <p:nvPr/>
                </p:nvSpPr>
                <p:spPr>
                  <a:xfrm>
                    <a:off x="4128204" y="3605744"/>
                    <a:ext cx="568606" cy="225534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27" name="Google Shape;8727;p86"/>
                  <p:cNvCxnSpPr/>
                  <p:nvPr/>
                </p:nvCxnSpPr>
                <p:spPr>
                  <a:xfrm>
                    <a:off x="4696810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28" name="Google Shape;8728;p86"/>
                  <p:cNvCxnSpPr/>
                  <p:nvPr/>
                </p:nvCxnSpPr>
                <p:spPr>
                  <a:xfrm>
                    <a:off x="4128204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29" name="Google Shape;8729;p86"/>
                <p:cNvSpPr/>
                <p:nvPr/>
              </p:nvSpPr>
              <p:spPr>
                <a:xfrm>
                  <a:off x="3572504" y="4575123"/>
                  <a:ext cx="496887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30" name="Google Shape;8730;p86"/>
                <p:cNvCxnSpPr/>
                <p:nvPr/>
              </p:nvCxnSpPr>
              <p:spPr>
                <a:xfrm flipH="1">
                  <a:off x="3566154" y="4027435"/>
                  <a:ext cx="3175" cy="1450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31" name="Google Shape;8731;p86"/>
                <p:cNvGrpSpPr/>
                <p:nvPr/>
              </p:nvGrpSpPr>
              <p:grpSpPr>
                <a:xfrm>
                  <a:off x="3569329" y="3862335"/>
                  <a:ext cx="503237" cy="247650"/>
                  <a:chOff x="2184879" y="1564542"/>
                  <a:chExt cx="1198746" cy="439251"/>
                </a:xfrm>
              </p:grpSpPr>
              <p:sp>
                <p:nvSpPr>
                  <p:cNvPr id="8732" name="Google Shape;8732;p86"/>
                  <p:cNvSpPr/>
                  <p:nvPr/>
                </p:nvSpPr>
                <p:spPr>
                  <a:xfrm flipH="1" rot="10800000">
                    <a:off x="2188659" y="1691250"/>
                    <a:ext cx="1194966" cy="312543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3" name="Google Shape;8733;p86"/>
                  <p:cNvSpPr/>
                  <p:nvPr/>
                </p:nvSpPr>
                <p:spPr>
                  <a:xfrm>
                    <a:off x="2184879" y="1736302"/>
                    <a:ext cx="1198746" cy="112629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4" name="Google Shape;8734;p86"/>
                  <p:cNvSpPr/>
                  <p:nvPr/>
                </p:nvSpPr>
                <p:spPr>
                  <a:xfrm flipH="1" rot="10800000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5" name="Google Shape;8735;p86"/>
                  <p:cNvSpPr/>
                  <p:nvPr/>
                </p:nvSpPr>
                <p:spPr>
                  <a:xfrm>
                    <a:off x="2491182" y="1671539"/>
                    <a:ext cx="582357" cy="154865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6" name="Google Shape;8736;p86"/>
                  <p:cNvSpPr/>
                  <p:nvPr/>
                </p:nvSpPr>
                <p:spPr>
                  <a:xfrm>
                    <a:off x="2430678" y="1629304"/>
                    <a:ext cx="703366" cy="109812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7" name="Google Shape;8737;p86"/>
                  <p:cNvSpPr/>
                  <p:nvPr/>
                </p:nvSpPr>
                <p:spPr>
                  <a:xfrm>
                    <a:off x="2892025" y="1722222"/>
                    <a:ext cx="260927" cy="95734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8" name="Google Shape;8738;p86"/>
                  <p:cNvSpPr/>
                  <p:nvPr/>
                </p:nvSpPr>
                <p:spPr>
                  <a:xfrm>
                    <a:off x="2419334" y="1725039"/>
                    <a:ext cx="253362" cy="9573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39" name="Google Shape;8739;p86"/>
                  <p:cNvCxnSpPr>
                    <a:endCxn id="8734" idx="2"/>
                  </p:cNvCxnSpPr>
                  <p:nvPr/>
                </p:nvCxnSpPr>
                <p:spPr>
                  <a:xfrm rot="10800000">
                    <a:off x="2184879" y="1720815"/>
                    <a:ext cx="3900" cy="1212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40" name="Google Shape;8740;p86"/>
                  <p:cNvCxnSpPr/>
                  <p:nvPr/>
                </p:nvCxnSpPr>
                <p:spPr>
                  <a:xfrm rot="10800000">
                    <a:off x="3379845" y="1727853"/>
                    <a:ext cx="3780" cy="12107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41" name="Google Shape;8741;p86"/>
              <p:cNvGrpSpPr/>
              <p:nvPr/>
            </p:nvGrpSpPr>
            <p:grpSpPr>
              <a:xfrm>
                <a:off x="4348791" y="3867098"/>
                <a:ext cx="514350" cy="1670050"/>
                <a:chOff x="4348791" y="3867098"/>
                <a:chExt cx="514350" cy="1670050"/>
              </a:xfrm>
            </p:grpSpPr>
            <p:sp>
              <p:nvSpPr>
                <p:cNvPr id="8742" name="Google Shape;8742;p86"/>
                <p:cNvSpPr/>
                <p:nvPr/>
              </p:nvSpPr>
              <p:spPr>
                <a:xfrm rot="10800000">
                  <a:off x="4351838" y="3950855"/>
                  <a:ext cx="498084" cy="628647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43" name="Google Shape;8743;p86"/>
                <p:cNvCxnSpPr/>
                <p:nvPr/>
              </p:nvCxnSpPr>
              <p:spPr>
                <a:xfrm flipH="1">
                  <a:off x="4861554" y="4024260"/>
                  <a:ext cx="1587" cy="13652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44" name="Google Shape;8744;p86"/>
                <p:cNvGrpSpPr/>
                <p:nvPr/>
              </p:nvGrpSpPr>
              <p:grpSpPr>
                <a:xfrm>
                  <a:off x="4353554" y="5314898"/>
                  <a:ext cx="508000" cy="222250"/>
                  <a:chOff x="4128205" y="3605744"/>
                  <a:chExt cx="568606" cy="339512"/>
                </a:xfrm>
              </p:grpSpPr>
              <p:sp>
                <p:nvSpPr>
                  <p:cNvPr id="8745" name="Google Shape;8745;p86"/>
                  <p:cNvSpPr/>
                  <p:nvPr/>
                </p:nvSpPr>
                <p:spPr>
                  <a:xfrm>
                    <a:off x="4128205" y="3719722"/>
                    <a:ext cx="568606" cy="225534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46" name="Google Shape;8746;p86"/>
                  <p:cNvSpPr/>
                  <p:nvPr/>
                </p:nvSpPr>
                <p:spPr>
                  <a:xfrm>
                    <a:off x="4128205" y="3719722"/>
                    <a:ext cx="568606" cy="111554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47" name="Google Shape;8747;p86"/>
                  <p:cNvSpPr/>
                  <p:nvPr/>
                </p:nvSpPr>
                <p:spPr>
                  <a:xfrm>
                    <a:off x="4128205" y="3605744"/>
                    <a:ext cx="568606" cy="225532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48" name="Google Shape;8748;p86"/>
                  <p:cNvCxnSpPr/>
                  <p:nvPr/>
                </p:nvCxnSpPr>
                <p:spPr>
                  <a:xfrm>
                    <a:off x="4696811" y="3719722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49" name="Google Shape;8749;p86"/>
                  <p:cNvCxnSpPr/>
                  <p:nvPr/>
                </p:nvCxnSpPr>
                <p:spPr>
                  <a:xfrm>
                    <a:off x="4128205" y="3719722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50" name="Google Shape;8750;p86"/>
                <p:cNvSpPr/>
                <p:nvPr/>
              </p:nvSpPr>
              <p:spPr>
                <a:xfrm>
                  <a:off x="4355141" y="4579885"/>
                  <a:ext cx="496888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51" name="Google Shape;8751;p86"/>
                <p:cNvCxnSpPr/>
                <p:nvPr/>
              </p:nvCxnSpPr>
              <p:spPr>
                <a:xfrm flipH="1">
                  <a:off x="4348791" y="4032198"/>
                  <a:ext cx="3175" cy="1450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52" name="Google Shape;8752;p86"/>
                <p:cNvGrpSpPr/>
                <p:nvPr/>
              </p:nvGrpSpPr>
              <p:grpSpPr>
                <a:xfrm>
                  <a:off x="4351966" y="3867098"/>
                  <a:ext cx="503238" cy="247650"/>
                  <a:chOff x="2184879" y="1564542"/>
                  <a:chExt cx="1198749" cy="439251"/>
                </a:xfrm>
              </p:grpSpPr>
              <p:sp>
                <p:nvSpPr>
                  <p:cNvPr id="8753" name="Google Shape;8753;p86"/>
                  <p:cNvSpPr/>
                  <p:nvPr/>
                </p:nvSpPr>
                <p:spPr>
                  <a:xfrm flipH="1" rot="10800000">
                    <a:off x="2188662" y="1691248"/>
                    <a:ext cx="1194966" cy="312545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4" name="Google Shape;8754;p86"/>
                  <p:cNvSpPr/>
                  <p:nvPr/>
                </p:nvSpPr>
                <p:spPr>
                  <a:xfrm>
                    <a:off x="2184879" y="1736300"/>
                    <a:ext cx="1198749" cy="112629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5" name="Google Shape;8755;p86"/>
                  <p:cNvSpPr/>
                  <p:nvPr/>
                </p:nvSpPr>
                <p:spPr>
                  <a:xfrm flipH="1" rot="10800000">
                    <a:off x="2184879" y="1564542"/>
                    <a:ext cx="1194966" cy="312543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6" name="Google Shape;8756;p86"/>
                  <p:cNvSpPr/>
                  <p:nvPr/>
                </p:nvSpPr>
                <p:spPr>
                  <a:xfrm>
                    <a:off x="2491185" y="1671539"/>
                    <a:ext cx="582357" cy="154863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7" name="Google Shape;8757;p86"/>
                  <p:cNvSpPr/>
                  <p:nvPr/>
                </p:nvSpPr>
                <p:spPr>
                  <a:xfrm>
                    <a:off x="2430680" y="1629303"/>
                    <a:ext cx="703366" cy="109814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8" name="Google Shape;8758;p86"/>
                  <p:cNvSpPr/>
                  <p:nvPr/>
                </p:nvSpPr>
                <p:spPr>
                  <a:xfrm>
                    <a:off x="2892028" y="1722222"/>
                    <a:ext cx="260925" cy="95734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9" name="Google Shape;8759;p86"/>
                  <p:cNvSpPr/>
                  <p:nvPr/>
                </p:nvSpPr>
                <p:spPr>
                  <a:xfrm>
                    <a:off x="2419334" y="1725037"/>
                    <a:ext cx="253364" cy="9573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60" name="Google Shape;8760;p86"/>
                  <p:cNvCxnSpPr>
                    <a:endCxn id="8755" idx="2"/>
                  </p:cNvCxnSpPr>
                  <p:nvPr/>
                </p:nvCxnSpPr>
                <p:spPr>
                  <a:xfrm rot="10800000">
                    <a:off x="2184879" y="1720813"/>
                    <a:ext cx="3900" cy="1212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61" name="Google Shape;8761;p86"/>
                  <p:cNvCxnSpPr/>
                  <p:nvPr/>
                </p:nvCxnSpPr>
                <p:spPr>
                  <a:xfrm rot="10800000">
                    <a:off x="3379845" y="1727853"/>
                    <a:ext cx="3783" cy="12107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62" name="Google Shape;8762;p86"/>
              <p:cNvGrpSpPr/>
              <p:nvPr/>
            </p:nvGrpSpPr>
            <p:grpSpPr>
              <a:xfrm>
                <a:off x="5552116" y="3849635"/>
                <a:ext cx="514350" cy="1670050"/>
                <a:chOff x="5552116" y="3849635"/>
                <a:chExt cx="514350" cy="1670050"/>
              </a:xfrm>
            </p:grpSpPr>
            <p:sp>
              <p:nvSpPr>
                <p:cNvPr id="8763" name="Google Shape;8763;p86"/>
                <p:cNvSpPr/>
                <p:nvPr/>
              </p:nvSpPr>
              <p:spPr>
                <a:xfrm rot="10800000">
                  <a:off x="5555163" y="3933392"/>
                  <a:ext cx="498084" cy="628647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64" name="Google Shape;8764;p86"/>
                <p:cNvCxnSpPr/>
                <p:nvPr/>
              </p:nvCxnSpPr>
              <p:spPr>
                <a:xfrm flipH="1">
                  <a:off x="6064879" y="4006798"/>
                  <a:ext cx="1587" cy="13652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65" name="Google Shape;8765;p86"/>
                <p:cNvGrpSpPr/>
                <p:nvPr/>
              </p:nvGrpSpPr>
              <p:grpSpPr>
                <a:xfrm>
                  <a:off x="5556879" y="5297435"/>
                  <a:ext cx="508000" cy="222250"/>
                  <a:chOff x="4128205" y="3605744"/>
                  <a:chExt cx="568606" cy="339512"/>
                </a:xfrm>
              </p:grpSpPr>
              <p:sp>
                <p:nvSpPr>
                  <p:cNvPr id="8766" name="Google Shape;8766;p86"/>
                  <p:cNvSpPr/>
                  <p:nvPr/>
                </p:nvSpPr>
                <p:spPr>
                  <a:xfrm>
                    <a:off x="4128205" y="3719724"/>
                    <a:ext cx="568606" cy="225532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67" name="Google Shape;8767;p86"/>
                  <p:cNvSpPr/>
                  <p:nvPr/>
                </p:nvSpPr>
                <p:spPr>
                  <a:xfrm>
                    <a:off x="4128205" y="3719724"/>
                    <a:ext cx="568606" cy="111554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68" name="Google Shape;8768;p86"/>
                  <p:cNvSpPr/>
                  <p:nvPr/>
                </p:nvSpPr>
                <p:spPr>
                  <a:xfrm>
                    <a:off x="4128205" y="3605744"/>
                    <a:ext cx="568606" cy="225534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69" name="Google Shape;8769;p86"/>
                  <p:cNvCxnSpPr/>
                  <p:nvPr/>
                </p:nvCxnSpPr>
                <p:spPr>
                  <a:xfrm>
                    <a:off x="4696811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70" name="Google Shape;8770;p86"/>
                  <p:cNvCxnSpPr/>
                  <p:nvPr/>
                </p:nvCxnSpPr>
                <p:spPr>
                  <a:xfrm>
                    <a:off x="4128205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71" name="Google Shape;8771;p86"/>
                <p:cNvSpPr/>
                <p:nvPr/>
              </p:nvSpPr>
              <p:spPr>
                <a:xfrm>
                  <a:off x="5558466" y="4562423"/>
                  <a:ext cx="496888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72" name="Google Shape;8772;p86"/>
                <p:cNvCxnSpPr/>
                <p:nvPr/>
              </p:nvCxnSpPr>
              <p:spPr>
                <a:xfrm flipH="1">
                  <a:off x="5552116" y="4014735"/>
                  <a:ext cx="3175" cy="1450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73" name="Google Shape;8773;p86"/>
                <p:cNvGrpSpPr/>
                <p:nvPr/>
              </p:nvGrpSpPr>
              <p:grpSpPr>
                <a:xfrm>
                  <a:off x="5555291" y="3849635"/>
                  <a:ext cx="503238" cy="247650"/>
                  <a:chOff x="2184879" y="1564542"/>
                  <a:chExt cx="1198749" cy="439251"/>
                </a:xfrm>
              </p:grpSpPr>
              <p:sp>
                <p:nvSpPr>
                  <p:cNvPr id="8774" name="Google Shape;8774;p86"/>
                  <p:cNvSpPr/>
                  <p:nvPr/>
                </p:nvSpPr>
                <p:spPr>
                  <a:xfrm flipH="1" rot="10800000">
                    <a:off x="2188662" y="1691250"/>
                    <a:ext cx="1194966" cy="312543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5" name="Google Shape;8775;p86"/>
                  <p:cNvSpPr/>
                  <p:nvPr/>
                </p:nvSpPr>
                <p:spPr>
                  <a:xfrm>
                    <a:off x="2184879" y="1736302"/>
                    <a:ext cx="1198749" cy="112629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6" name="Google Shape;8776;p86"/>
                  <p:cNvSpPr/>
                  <p:nvPr/>
                </p:nvSpPr>
                <p:spPr>
                  <a:xfrm flipH="1" rot="10800000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7" name="Google Shape;8777;p86"/>
                  <p:cNvSpPr/>
                  <p:nvPr/>
                </p:nvSpPr>
                <p:spPr>
                  <a:xfrm>
                    <a:off x="2491185" y="1671539"/>
                    <a:ext cx="582357" cy="154865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8" name="Google Shape;8778;p86"/>
                  <p:cNvSpPr/>
                  <p:nvPr/>
                </p:nvSpPr>
                <p:spPr>
                  <a:xfrm>
                    <a:off x="2430680" y="1629304"/>
                    <a:ext cx="703366" cy="109812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9" name="Google Shape;8779;p86"/>
                  <p:cNvSpPr/>
                  <p:nvPr/>
                </p:nvSpPr>
                <p:spPr>
                  <a:xfrm>
                    <a:off x="2892028" y="1722222"/>
                    <a:ext cx="260925" cy="95734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80" name="Google Shape;8780;p86"/>
                  <p:cNvSpPr/>
                  <p:nvPr/>
                </p:nvSpPr>
                <p:spPr>
                  <a:xfrm>
                    <a:off x="2419334" y="1725039"/>
                    <a:ext cx="253364" cy="9573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81" name="Google Shape;8781;p86"/>
                  <p:cNvCxnSpPr>
                    <a:endCxn id="8776" idx="2"/>
                  </p:cNvCxnSpPr>
                  <p:nvPr/>
                </p:nvCxnSpPr>
                <p:spPr>
                  <a:xfrm rot="10800000">
                    <a:off x="2184879" y="1720815"/>
                    <a:ext cx="3900" cy="1212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82" name="Google Shape;8782;p86"/>
                  <p:cNvCxnSpPr/>
                  <p:nvPr/>
                </p:nvCxnSpPr>
                <p:spPr>
                  <a:xfrm rot="10800000">
                    <a:off x="3379845" y="1727853"/>
                    <a:ext cx="3783" cy="12107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83" name="Google Shape;8783;p86"/>
              <p:cNvGrpSpPr/>
              <p:nvPr/>
            </p:nvGrpSpPr>
            <p:grpSpPr>
              <a:xfrm>
                <a:off x="6547479" y="3836935"/>
                <a:ext cx="514350" cy="1671638"/>
                <a:chOff x="6547479" y="3836935"/>
                <a:chExt cx="514350" cy="1671638"/>
              </a:xfrm>
            </p:grpSpPr>
            <p:sp>
              <p:nvSpPr>
                <p:cNvPr id="8784" name="Google Shape;8784;p86"/>
                <p:cNvSpPr/>
                <p:nvPr/>
              </p:nvSpPr>
              <p:spPr>
                <a:xfrm rot="10800000">
                  <a:off x="6550526" y="3920772"/>
                  <a:ext cx="498084" cy="629245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85" name="Google Shape;8785;p86"/>
                <p:cNvCxnSpPr/>
                <p:nvPr/>
              </p:nvCxnSpPr>
              <p:spPr>
                <a:xfrm flipH="1">
                  <a:off x="7060241" y="3994098"/>
                  <a:ext cx="1588" cy="13668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86" name="Google Shape;8786;p86"/>
                <p:cNvGrpSpPr/>
                <p:nvPr/>
              </p:nvGrpSpPr>
              <p:grpSpPr>
                <a:xfrm>
                  <a:off x="6552241" y="5286323"/>
                  <a:ext cx="508000" cy="222250"/>
                  <a:chOff x="4128204" y="3606067"/>
                  <a:chExt cx="568606" cy="339189"/>
                </a:xfrm>
              </p:grpSpPr>
              <p:sp>
                <p:nvSpPr>
                  <p:cNvPr id="8787" name="Google Shape;8787;p86"/>
                  <p:cNvSpPr/>
                  <p:nvPr/>
                </p:nvSpPr>
                <p:spPr>
                  <a:xfrm>
                    <a:off x="4128204" y="3719937"/>
                    <a:ext cx="568606" cy="225319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88" name="Google Shape;8788;p86"/>
                  <p:cNvSpPr/>
                  <p:nvPr/>
                </p:nvSpPr>
                <p:spPr>
                  <a:xfrm>
                    <a:off x="4128204" y="3719937"/>
                    <a:ext cx="568606" cy="111448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89" name="Google Shape;8789;p86"/>
                  <p:cNvSpPr/>
                  <p:nvPr/>
                </p:nvSpPr>
                <p:spPr>
                  <a:xfrm>
                    <a:off x="4128204" y="3606067"/>
                    <a:ext cx="568606" cy="225318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90" name="Google Shape;8790;p86"/>
                  <p:cNvCxnSpPr/>
                  <p:nvPr/>
                </p:nvCxnSpPr>
                <p:spPr>
                  <a:xfrm>
                    <a:off x="4696810" y="3719937"/>
                    <a:ext cx="0" cy="11144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91" name="Google Shape;8791;p86"/>
                  <p:cNvCxnSpPr/>
                  <p:nvPr/>
                </p:nvCxnSpPr>
                <p:spPr>
                  <a:xfrm>
                    <a:off x="4128204" y="3719937"/>
                    <a:ext cx="0" cy="11144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92" name="Google Shape;8792;p86"/>
                <p:cNvSpPr/>
                <p:nvPr/>
              </p:nvSpPr>
              <p:spPr>
                <a:xfrm>
                  <a:off x="6553829" y="4551310"/>
                  <a:ext cx="496887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93" name="Google Shape;8793;p86"/>
                <p:cNvCxnSpPr/>
                <p:nvPr/>
              </p:nvCxnSpPr>
              <p:spPr>
                <a:xfrm flipH="1">
                  <a:off x="6547479" y="4002035"/>
                  <a:ext cx="3175" cy="14525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94" name="Google Shape;8794;p86"/>
                <p:cNvGrpSpPr/>
                <p:nvPr/>
              </p:nvGrpSpPr>
              <p:grpSpPr>
                <a:xfrm>
                  <a:off x="6550654" y="3836935"/>
                  <a:ext cx="503237" cy="249238"/>
                  <a:chOff x="2184879" y="1564542"/>
                  <a:chExt cx="1198746" cy="441649"/>
                </a:xfrm>
              </p:grpSpPr>
              <p:sp>
                <p:nvSpPr>
                  <p:cNvPr id="8795" name="Google Shape;8795;p86"/>
                  <p:cNvSpPr/>
                  <p:nvPr/>
                </p:nvSpPr>
                <p:spPr>
                  <a:xfrm flipH="1" rot="10800000">
                    <a:off x="2188659" y="1691130"/>
                    <a:ext cx="1194966" cy="31506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6" name="Google Shape;8796;p86"/>
                  <p:cNvSpPr/>
                  <p:nvPr/>
                </p:nvSpPr>
                <p:spPr>
                  <a:xfrm>
                    <a:off x="2184879" y="1736138"/>
                    <a:ext cx="1198746" cy="112522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7" name="Google Shape;8797;p86"/>
                  <p:cNvSpPr/>
                  <p:nvPr/>
                </p:nvSpPr>
                <p:spPr>
                  <a:xfrm flipH="1" rot="10800000">
                    <a:off x="2184879" y="1564542"/>
                    <a:ext cx="1194966" cy="315061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8" name="Google Shape;8798;p86"/>
                  <p:cNvSpPr/>
                  <p:nvPr/>
                </p:nvSpPr>
                <p:spPr>
                  <a:xfrm>
                    <a:off x="2491182" y="1671438"/>
                    <a:ext cx="582357" cy="157530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9" name="Google Shape;8799;p86"/>
                  <p:cNvSpPr/>
                  <p:nvPr/>
                </p:nvSpPr>
                <p:spPr>
                  <a:xfrm>
                    <a:off x="2430678" y="1629243"/>
                    <a:ext cx="703366" cy="112522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00" name="Google Shape;8800;p86"/>
                  <p:cNvSpPr/>
                  <p:nvPr/>
                </p:nvSpPr>
                <p:spPr>
                  <a:xfrm>
                    <a:off x="2892025" y="1724886"/>
                    <a:ext cx="260927" cy="95643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01" name="Google Shape;8801;p86"/>
                  <p:cNvSpPr/>
                  <p:nvPr/>
                </p:nvSpPr>
                <p:spPr>
                  <a:xfrm>
                    <a:off x="2419334" y="1727698"/>
                    <a:ext cx="253362" cy="92831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802" name="Google Shape;8802;p86"/>
                  <p:cNvCxnSpPr>
                    <a:endCxn id="8797" idx="2"/>
                  </p:cNvCxnSpPr>
                  <p:nvPr/>
                </p:nvCxnSpPr>
                <p:spPr>
                  <a:xfrm rot="10800000">
                    <a:off x="2184879" y="1722072"/>
                    <a:ext cx="3900" cy="1209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803" name="Google Shape;8803;p86"/>
                  <p:cNvCxnSpPr/>
                  <p:nvPr/>
                </p:nvCxnSpPr>
                <p:spPr>
                  <a:xfrm rot="10800000">
                    <a:off x="3379845" y="1730512"/>
                    <a:ext cx="3780" cy="12096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</p:grpSp>
        <p:grpSp>
          <p:nvGrpSpPr>
            <p:cNvPr id="8804" name="Google Shape;8804;p86"/>
            <p:cNvGrpSpPr/>
            <p:nvPr/>
          </p:nvGrpSpPr>
          <p:grpSpPr>
            <a:xfrm>
              <a:off x="2381956" y="2010251"/>
              <a:ext cx="4415330" cy="2315048"/>
              <a:chOff x="2381956" y="2435173"/>
              <a:chExt cx="4415330" cy="2315048"/>
            </a:xfrm>
          </p:grpSpPr>
          <p:sp>
            <p:nvSpPr>
              <p:cNvPr id="8805" name="Google Shape;8805;p86"/>
              <p:cNvSpPr/>
              <p:nvPr/>
            </p:nvSpPr>
            <p:spPr>
              <a:xfrm>
                <a:off x="2381956" y="2439629"/>
                <a:ext cx="297540" cy="1743187"/>
              </a:xfrm>
              <a:custGeom>
                <a:rect b="b" l="l" r="r" t="t"/>
                <a:pathLst>
                  <a:path extrusionOk="0" h="2022548" w="228538">
                    <a:moveTo>
                      <a:pt x="228538" y="0"/>
                    </a:moveTo>
                    <a:lnTo>
                      <a:pt x="0" y="6607"/>
                    </a:lnTo>
                    <a:lnTo>
                      <a:pt x="0" y="2022548"/>
                    </a:lnTo>
                  </a:path>
                </a:pathLst>
              </a:cu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C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06" name="Google Shape;8806;p86"/>
              <p:cNvSpPr/>
              <p:nvPr/>
            </p:nvSpPr>
            <p:spPr>
              <a:xfrm flipH="1">
                <a:off x="6411524" y="2435173"/>
                <a:ext cx="385762" cy="2300562"/>
              </a:xfrm>
              <a:custGeom>
                <a:rect b="b" l="l" r="r" t="t"/>
                <a:pathLst>
                  <a:path extrusionOk="0" h="2117725" w="307275">
                    <a:moveTo>
                      <a:pt x="307275" y="0"/>
                    </a:moveTo>
                    <a:lnTo>
                      <a:pt x="0" y="0"/>
                    </a:lnTo>
                    <a:lnTo>
                      <a:pt x="0" y="2117725"/>
                    </a:lnTo>
                  </a:path>
                </a:pathLst>
              </a:cu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07" name="Google Shape;8807;p86"/>
              <p:cNvCxnSpPr/>
              <p:nvPr/>
            </p:nvCxnSpPr>
            <p:spPr>
              <a:xfrm flipH="1" rot="10800000">
                <a:off x="5791457" y="2687586"/>
                <a:ext cx="8309" cy="2062635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8808" name="Google Shape;8808;p86"/>
              <p:cNvCxnSpPr/>
              <p:nvPr/>
            </p:nvCxnSpPr>
            <p:spPr>
              <a:xfrm flipH="1" rot="10800000">
                <a:off x="4598735" y="2708225"/>
                <a:ext cx="18344" cy="2037167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8809" name="Google Shape;8809;p86"/>
              <p:cNvCxnSpPr/>
              <p:nvPr/>
            </p:nvCxnSpPr>
            <p:spPr>
              <a:xfrm rot="10800000">
                <a:off x="3807455" y="2762199"/>
                <a:ext cx="9009" cy="1983193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8810" name="Google Shape;8810;p86"/>
            <p:cNvGrpSpPr/>
            <p:nvPr/>
          </p:nvGrpSpPr>
          <p:grpSpPr>
            <a:xfrm>
              <a:off x="5856401" y="5478592"/>
              <a:ext cx="588970" cy="242608"/>
              <a:chOff x="1871277" y="1576300"/>
              <a:chExt cx="1128371" cy="437861"/>
            </a:xfrm>
          </p:grpSpPr>
          <p:sp>
            <p:nvSpPr>
              <p:cNvPr id="8811" name="Google Shape;881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2" name="Google Shape;881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3" name="Google Shape;881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4" name="Google Shape;881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5" name="Google Shape;881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6" name="Google Shape;881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7" name="Google Shape;881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18" name="Google Shape;8818;p86"/>
              <p:cNvCxnSpPr>
                <a:endCxn id="881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19" name="Google Shape;881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20" name="Google Shape;8820;p86"/>
            <p:cNvGrpSpPr/>
            <p:nvPr/>
          </p:nvGrpSpPr>
          <p:grpSpPr>
            <a:xfrm>
              <a:off x="4375328" y="5336495"/>
              <a:ext cx="588970" cy="242608"/>
              <a:chOff x="1871277" y="1576300"/>
              <a:chExt cx="1128371" cy="437861"/>
            </a:xfrm>
          </p:grpSpPr>
          <p:sp>
            <p:nvSpPr>
              <p:cNvPr id="8821" name="Google Shape;882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2" name="Google Shape;882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3" name="Google Shape;882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4" name="Google Shape;882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5" name="Google Shape;882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6" name="Google Shape;882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7" name="Google Shape;882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28" name="Google Shape;8828;p86"/>
              <p:cNvCxnSpPr>
                <a:endCxn id="882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29" name="Google Shape;882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30" name="Google Shape;8830;p86"/>
            <p:cNvGrpSpPr/>
            <p:nvPr/>
          </p:nvGrpSpPr>
          <p:grpSpPr>
            <a:xfrm>
              <a:off x="2848241" y="5530308"/>
              <a:ext cx="588970" cy="242608"/>
              <a:chOff x="1871277" y="1576300"/>
              <a:chExt cx="1128371" cy="437861"/>
            </a:xfrm>
          </p:grpSpPr>
          <p:sp>
            <p:nvSpPr>
              <p:cNvPr id="8831" name="Google Shape;883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2" name="Google Shape;883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3" name="Google Shape;883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4" name="Google Shape;883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5" name="Google Shape;883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6" name="Google Shape;883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7" name="Google Shape;883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38" name="Google Shape;8838;p86"/>
              <p:cNvCxnSpPr>
                <a:endCxn id="883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39" name="Google Shape;883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40" name="Google Shape;8840;p86"/>
            <p:cNvGrpSpPr/>
            <p:nvPr/>
          </p:nvGrpSpPr>
          <p:grpSpPr>
            <a:xfrm>
              <a:off x="5166757" y="5796647"/>
              <a:ext cx="588970" cy="242608"/>
              <a:chOff x="1871277" y="1576300"/>
              <a:chExt cx="1128371" cy="437861"/>
            </a:xfrm>
          </p:grpSpPr>
          <p:sp>
            <p:nvSpPr>
              <p:cNvPr id="8841" name="Google Shape;884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2" name="Google Shape;884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3" name="Google Shape;884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4" name="Google Shape;884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5" name="Google Shape;884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6" name="Google Shape;884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7" name="Google Shape;884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48" name="Google Shape;8848;p86"/>
              <p:cNvCxnSpPr>
                <a:endCxn id="884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49" name="Google Shape;884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50" name="Google Shape;8850;p86"/>
            <p:cNvGrpSpPr/>
            <p:nvPr/>
          </p:nvGrpSpPr>
          <p:grpSpPr>
            <a:xfrm>
              <a:off x="3704088" y="5889227"/>
              <a:ext cx="588970" cy="242608"/>
              <a:chOff x="1871277" y="1576300"/>
              <a:chExt cx="1128371" cy="437861"/>
            </a:xfrm>
          </p:grpSpPr>
          <p:sp>
            <p:nvSpPr>
              <p:cNvPr id="8851" name="Google Shape;885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2" name="Google Shape;885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3" name="Google Shape;885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4" name="Google Shape;885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5" name="Google Shape;885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6" name="Google Shape;885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7" name="Google Shape;885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58" name="Google Shape;8858;p86"/>
              <p:cNvCxnSpPr>
                <a:endCxn id="885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59" name="Google Shape;885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60" name="Google Shape;8860;p86"/>
            <p:cNvGrpSpPr/>
            <p:nvPr/>
          </p:nvGrpSpPr>
          <p:grpSpPr>
            <a:xfrm>
              <a:off x="1925875" y="1754513"/>
              <a:ext cx="5095391" cy="2833288"/>
              <a:chOff x="1925876" y="2212958"/>
              <a:chExt cx="5095391" cy="2833288"/>
            </a:xfrm>
          </p:grpSpPr>
          <p:grpSp>
            <p:nvGrpSpPr>
              <p:cNvPr id="8861" name="Google Shape;8861;p86"/>
              <p:cNvGrpSpPr/>
              <p:nvPr/>
            </p:nvGrpSpPr>
            <p:grpSpPr>
              <a:xfrm>
                <a:off x="2745416" y="2212958"/>
                <a:ext cx="3597533" cy="493677"/>
                <a:chOff x="2705100" y="2011398"/>
                <a:chExt cx="3597533" cy="493677"/>
              </a:xfrm>
            </p:grpSpPr>
            <p:sp>
              <p:nvSpPr>
                <p:cNvPr id="8862" name="Google Shape;8862;p86"/>
                <p:cNvSpPr/>
                <p:nvPr/>
              </p:nvSpPr>
              <p:spPr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3" name="Google Shape;8863;p86"/>
                <p:cNvSpPr/>
                <p:nvPr/>
              </p:nvSpPr>
              <p:spPr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4" name="Google Shape;8864;p86"/>
                <p:cNvSpPr txBox="1"/>
                <p:nvPr/>
              </p:nvSpPr>
              <p:spPr>
                <a:xfrm>
                  <a:off x="3452664" y="2127167"/>
                  <a:ext cx="2057700" cy="2961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1944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Remote Controller</a:t>
                  </a:r>
                  <a:endParaRPr/>
                </a:p>
              </p:txBody>
            </p:sp>
          </p:grpSp>
          <p:grpSp>
            <p:nvGrpSpPr>
              <p:cNvPr id="8865" name="Google Shape;8865;p86"/>
              <p:cNvGrpSpPr/>
              <p:nvPr/>
            </p:nvGrpSpPr>
            <p:grpSpPr>
              <a:xfrm>
                <a:off x="1925876" y="4223509"/>
                <a:ext cx="923540" cy="405953"/>
                <a:chOff x="2705100" y="2011398"/>
                <a:chExt cx="3597533" cy="493677"/>
              </a:xfrm>
            </p:grpSpPr>
            <p:sp>
              <p:nvSpPr>
                <p:cNvPr id="8866" name="Google Shape;8866;p86"/>
                <p:cNvSpPr/>
                <p:nvPr/>
              </p:nvSpPr>
              <p:spPr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7" name="Google Shape;8867;p86"/>
                <p:cNvSpPr/>
                <p:nvPr/>
              </p:nvSpPr>
              <p:spPr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8" name="Google Shape;8868;p86"/>
                <p:cNvSpPr txBox="1"/>
                <p:nvPr/>
              </p:nvSpPr>
              <p:spPr>
                <a:xfrm>
                  <a:off x="3901810" y="2127167"/>
                  <a:ext cx="1159411" cy="2961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1944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grpSp>
            <p:nvGrpSpPr>
              <p:cNvPr id="8869" name="Google Shape;8869;p86"/>
              <p:cNvGrpSpPr/>
              <p:nvPr/>
            </p:nvGrpSpPr>
            <p:grpSpPr>
              <a:xfrm>
                <a:off x="3589508" y="4760377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70" name="Google Shape;8870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71" name="Google Shape;8871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72" name="Google Shape;8872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73" name="Google Shape;8873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74" name="Google Shape;8874;p86"/>
              <p:cNvGrpSpPr/>
              <p:nvPr/>
            </p:nvGrpSpPr>
            <p:grpSpPr>
              <a:xfrm>
                <a:off x="4369656" y="4758258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75" name="Google Shape;8875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76" name="Google Shape;8876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77" name="Google Shape;8877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78" name="Google Shape;8878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79" name="Google Shape;8879;p86"/>
              <p:cNvGrpSpPr/>
              <p:nvPr/>
            </p:nvGrpSpPr>
            <p:grpSpPr>
              <a:xfrm>
                <a:off x="5569912" y="4756140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80" name="Google Shape;8880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81" name="Google Shape;8881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82" name="Google Shape;8882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83" name="Google Shape;8883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84" name="Google Shape;8884;p86"/>
              <p:cNvGrpSpPr/>
              <p:nvPr/>
            </p:nvGrpSpPr>
            <p:grpSpPr>
              <a:xfrm>
                <a:off x="6557699" y="4754022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85" name="Google Shape;8885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86" name="Google Shape;8886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87" name="Google Shape;8887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88" name="Google Shape;8888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889" name="Google Shape;8889;p86"/>
            <p:cNvGrpSpPr/>
            <p:nvPr/>
          </p:nvGrpSpPr>
          <p:grpSpPr>
            <a:xfrm>
              <a:off x="2050694" y="4240394"/>
              <a:ext cx="4962309" cy="697609"/>
              <a:chOff x="-3809141" y="1128902"/>
              <a:chExt cx="4962309" cy="697609"/>
            </a:xfrm>
          </p:grpSpPr>
          <p:grpSp>
            <p:nvGrpSpPr>
              <p:cNvPr id="8890" name="Google Shape;8890;p86"/>
              <p:cNvGrpSpPr/>
              <p:nvPr/>
            </p:nvGrpSpPr>
            <p:grpSpPr>
              <a:xfrm>
                <a:off x="-2259184" y="1493681"/>
                <a:ext cx="426647" cy="330722"/>
                <a:chOff x="2932185" y="3913304"/>
                <a:chExt cx="426963" cy="330885"/>
              </a:xfrm>
            </p:grpSpPr>
            <p:sp>
              <p:nvSpPr>
                <p:cNvPr id="8891" name="Google Shape;8891;p86"/>
                <p:cNvSpPr/>
                <p:nvPr/>
              </p:nvSpPr>
              <p:spPr>
                <a:xfrm>
                  <a:off x="293338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892" name="Google Shape;8892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3" name="Google Shape;8893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4" name="Google Shape;8894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5" name="Google Shape;8895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6" name="Google Shape;8896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897" name="Google Shape;8897;p86"/>
              <p:cNvGrpSpPr/>
              <p:nvPr/>
            </p:nvGrpSpPr>
            <p:grpSpPr>
              <a:xfrm>
                <a:off x="-3809141" y="1128902"/>
                <a:ext cx="675450" cy="526527"/>
                <a:chOff x="2932185" y="3913304"/>
                <a:chExt cx="430533" cy="332666"/>
              </a:xfrm>
            </p:grpSpPr>
            <p:sp>
              <p:nvSpPr>
                <p:cNvPr id="8898" name="Google Shape;8898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899" name="Google Shape;8899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0" name="Google Shape;8900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1" name="Google Shape;8901;p86"/>
                <p:cNvCxnSpPr/>
                <p:nvPr/>
              </p:nvCxnSpPr>
              <p:spPr>
                <a:xfrm rot="10800000">
                  <a:off x="3182588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2" name="Google Shape;8902;p86"/>
                <p:cNvCxnSpPr/>
                <p:nvPr/>
              </p:nvCxnSpPr>
              <p:spPr>
                <a:xfrm rot="10800000">
                  <a:off x="3093297" y="4009316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3" name="Google Shape;8903;p86"/>
                <p:cNvCxnSpPr/>
                <p:nvPr/>
              </p:nvCxnSpPr>
              <p:spPr>
                <a:xfrm rot="10800000">
                  <a:off x="3278747" y="4008109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04" name="Google Shape;8904;p86"/>
              <p:cNvGrpSpPr/>
              <p:nvPr/>
            </p:nvGrpSpPr>
            <p:grpSpPr>
              <a:xfrm>
                <a:off x="-1475553" y="1495789"/>
                <a:ext cx="430214" cy="330722"/>
                <a:chOff x="2932185" y="3913304"/>
                <a:chExt cx="430533" cy="330885"/>
              </a:xfrm>
            </p:grpSpPr>
            <p:sp>
              <p:nvSpPr>
                <p:cNvPr id="8905" name="Google Shape;8905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06" name="Google Shape;8906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7" name="Google Shape;8907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8" name="Google Shape;8908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9" name="Google Shape;8909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0" name="Google Shape;8910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11" name="Google Shape;8911;p86"/>
              <p:cNvGrpSpPr/>
              <p:nvPr/>
            </p:nvGrpSpPr>
            <p:grpSpPr>
              <a:xfrm>
                <a:off x="-271097" y="1490382"/>
                <a:ext cx="430214" cy="330722"/>
                <a:chOff x="2932185" y="3913304"/>
                <a:chExt cx="430533" cy="330885"/>
              </a:xfrm>
            </p:grpSpPr>
            <p:sp>
              <p:nvSpPr>
                <p:cNvPr id="8912" name="Google Shape;8912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13" name="Google Shape;8913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4" name="Google Shape;8914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5" name="Google Shape;8915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6" name="Google Shape;8916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7" name="Google Shape;8917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18" name="Google Shape;8918;p86"/>
              <p:cNvGrpSpPr/>
              <p:nvPr/>
            </p:nvGrpSpPr>
            <p:grpSpPr>
              <a:xfrm>
                <a:off x="722954" y="1484975"/>
                <a:ext cx="430214" cy="330722"/>
                <a:chOff x="2932185" y="3913304"/>
                <a:chExt cx="430533" cy="330885"/>
              </a:xfrm>
            </p:grpSpPr>
            <p:sp>
              <p:nvSpPr>
                <p:cNvPr id="8919" name="Google Shape;8919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20" name="Google Shape;8920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1" name="Google Shape;8921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2" name="Google Shape;8922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3" name="Google Shape;8923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4" name="Google Shape;8924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8925" name="Google Shape;8925;p86"/>
          <p:cNvGrpSpPr/>
          <p:nvPr/>
        </p:nvGrpSpPr>
        <p:grpSpPr>
          <a:xfrm>
            <a:off x="200416" y="5099464"/>
            <a:ext cx="4112251" cy="1370930"/>
            <a:chOff x="-1402915" y="4974203"/>
            <a:chExt cx="4112251" cy="1370930"/>
          </a:xfrm>
        </p:grpSpPr>
        <p:sp>
          <p:nvSpPr>
            <p:cNvPr id="8926" name="Google Shape;8926;p86"/>
            <p:cNvSpPr txBox="1"/>
            <p:nvPr/>
          </p:nvSpPr>
          <p:spPr>
            <a:xfrm>
              <a:off x="-1402915" y="5588003"/>
              <a:ext cx="4112251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3363" lvl="0" marL="2333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1" i="1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1: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generalized “flow-based” forwarding (e.g., OpenFlow)</a:t>
              </a:r>
              <a:endParaRPr/>
            </a:p>
          </p:txBody>
        </p:sp>
        <p:cxnSp>
          <p:nvCxnSpPr>
            <p:cNvPr id="8927" name="Google Shape;8927;p86"/>
            <p:cNvCxnSpPr>
              <a:stCxn id="8926" idx="0"/>
            </p:cNvCxnSpPr>
            <p:nvPr/>
          </p:nvCxnSpPr>
          <p:spPr>
            <a:xfrm flipH="1" rot="10800000">
              <a:off x="653211" y="4974203"/>
              <a:ext cx="1505700" cy="61380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928" name="Google Shape;8928;p86"/>
          <p:cNvGrpSpPr/>
          <p:nvPr/>
        </p:nvGrpSpPr>
        <p:grpSpPr>
          <a:xfrm>
            <a:off x="9193527" y="3631477"/>
            <a:ext cx="2831459" cy="1311830"/>
            <a:chOff x="69488" y="5025983"/>
            <a:chExt cx="4347805" cy="1311830"/>
          </a:xfrm>
        </p:grpSpPr>
        <p:sp>
          <p:nvSpPr>
            <p:cNvPr id="8929" name="Google Shape;8929;p86"/>
            <p:cNvSpPr txBox="1"/>
            <p:nvPr/>
          </p:nvSpPr>
          <p:spPr>
            <a:xfrm>
              <a:off x="69488" y="5580683"/>
              <a:ext cx="4347805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3363" lvl="0" marL="2333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1" i="1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control, data plane separation</a:t>
              </a:r>
              <a:endParaRPr/>
            </a:p>
          </p:txBody>
        </p:sp>
        <p:cxnSp>
          <p:nvCxnSpPr>
            <p:cNvPr id="8930" name="Google Shape;8930;p86"/>
            <p:cNvCxnSpPr>
              <a:stCxn id="8929" idx="0"/>
            </p:cNvCxnSpPr>
            <p:nvPr/>
          </p:nvCxnSpPr>
          <p:spPr>
            <a:xfrm rot="10800000">
              <a:off x="1351790" y="5025983"/>
              <a:ext cx="891600" cy="55470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931" name="Google Shape;8931;p86"/>
          <p:cNvSpPr txBox="1"/>
          <p:nvPr/>
        </p:nvSpPr>
        <p:spPr>
          <a:xfrm>
            <a:off x="8661128" y="1214433"/>
            <a:ext cx="3326279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1" lang="en-US" sz="24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plane functions external to data-plane switches</a:t>
            </a:r>
            <a:endParaRPr i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32" name="Google Shape;8932;p86"/>
          <p:cNvCxnSpPr/>
          <p:nvPr/>
        </p:nvCxnSpPr>
        <p:spPr>
          <a:xfrm flipH="1" rot="10800000">
            <a:off x="8275367" y="1593599"/>
            <a:ext cx="618473" cy="645305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3" name="Google Shape;8933;p86"/>
          <p:cNvSpPr/>
          <p:nvPr/>
        </p:nvSpPr>
        <p:spPr>
          <a:xfrm>
            <a:off x="3619093" y="1435386"/>
            <a:ext cx="725674" cy="342648"/>
          </a:xfrm>
          <a:prstGeom prst="ellipse">
            <a:avLst/>
          </a:prstGeom>
          <a:solidFill>
            <a:srgbClr val="E1EFD8">
              <a:alpha val="69803"/>
            </a:srgbClr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4" name="Google Shape;8934;p86"/>
          <p:cNvSpPr/>
          <p:nvPr/>
        </p:nvSpPr>
        <p:spPr>
          <a:xfrm>
            <a:off x="4618114" y="1426539"/>
            <a:ext cx="725674" cy="342648"/>
          </a:xfrm>
          <a:prstGeom prst="ellipse">
            <a:avLst/>
          </a:prstGeom>
          <a:solidFill>
            <a:srgbClr val="E1EFD8">
              <a:alpha val="69803"/>
            </a:srgbClr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5" name="Google Shape;8935;p86"/>
          <p:cNvSpPr/>
          <p:nvPr/>
        </p:nvSpPr>
        <p:spPr>
          <a:xfrm>
            <a:off x="7431318" y="1417694"/>
            <a:ext cx="725674" cy="342648"/>
          </a:xfrm>
          <a:prstGeom prst="ellipse">
            <a:avLst/>
          </a:prstGeom>
          <a:solidFill>
            <a:srgbClr val="E1EFD8">
              <a:alpha val="69803"/>
            </a:srgbClr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6" name="Google Shape;8936;p86"/>
          <p:cNvSpPr txBox="1"/>
          <p:nvPr/>
        </p:nvSpPr>
        <p:spPr>
          <a:xfrm>
            <a:off x="6236542" y="1190791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cxnSp>
        <p:nvCxnSpPr>
          <p:cNvPr id="8937" name="Google Shape;8937;p86"/>
          <p:cNvCxnSpPr/>
          <p:nvPr/>
        </p:nvCxnSpPr>
        <p:spPr>
          <a:xfrm flipH="1" rot="10800000">
            <a:off x="8228340" y="1594833"/>
            <a:ext cx="663883" cy="1006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8" name="Google Shape;8938;p86"/>
          <p:cNvSpPr txBox="1"/>
          <p:nvPr/>
        </p:nvSpPr>
        <p:spPr>
          <a:xfrm>
            <a:off x="3617055" y="1431666"/>
            <a:ext cx="7336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sp>
        <p:nvSpPr>
          <p:cNvPr id="8939" name="Google Shape;8939;p86"/>
          <p:cNvSpPr txBox="1"/>
          <p:nvPr/>
        </p:nvSpPr>
        <p:spPr>
          <a:xfrm>
            <a:off x="4644492" y="1393402"/>
            <a:ext cx="809667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control</a:t>
            </a:r>
            <a:endParaRPr/>
          </a:p>
        </p:txBody>
      </p:sp>
      <p:sp>
        <p:nvSpPr>
          <p:cNvPr id="8940" name="Google Shape;8940;p86"/>
          <p:cNvSpPr txBox="1"/>
          <p:nvPr/>
        </p:nvSpPr>
        <p:spPr>
          <a:xfrm>
            <a:off x="7403572" y="1382879"/>
            <a:ext cx="809667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/>
          </a:p>
        </p:txBody>
      </p:sp>
      <p:grpSp>
        <p:nvGrpSpPr>
          <p:cNvPr id="8941" name="Google Shape;8941;p86"/>
          <p:cNvGrpSpPr/>
          <p:nvPr/>
        </p:nvGrpSpPr>
        <p:grpSpPr>
          <a:xfrm>
            <a:off x="363256" y="1413523"/>
            <a:ext cx="3169084" cy="1089529"/>
            <a:chOff x="363256" y="1413523"/>
            <a:chExt cx="3169084" cy="1089529"/>
          </a:xfrm>
        </p:grpSpPr>
        <p:sp>
          <p:nvSpPr>
            <p:cNvPr id="8942" name="Google Shape;8942;p86"/>
            <p:cNvSpPr txBox="1"/>
            <p:nvPr/>
          </p:nvSpPr>
          <p:spPr>
            <a:xfrm>
              <a:off x="363256" y="1413523"/>
              <a:ext cx="2748319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3363" lvl="0" marL="2333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1" i="1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4.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programmable control applications</a:t>
              </a:r>
              <a:endParaRPr/>
            </a:p>
          </p:txBody>
        </p:sp>
        <p:cxnSp>
          <p:nvCxnSpPr>
            <p:cNvPr id="8943" name="Google Shape;8943;p86"/>
            <p:cNvCxnSpPr/>
            <p:nvPr/>
          </p:nvCxnSpPr>
          <p:spPr>
            <a:xfrm>
              <a:off x="2655518" y="1615858"/>
              <a:ext cx="87682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7" name="Shape 8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8" name="Google Shape;8948;p87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8949" name="Google Shape;8949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50" name="Google Shape;8950;p87"/>
          <p:cNvSpPr txBox="1"/>
          <p:nvPr/>
        </p:nvSpPr>
        <p:spPr>
          <a:xfrm>
            <a:off x="826718" y="1581355"/>
            <a:ext cx="5767982" cy="5096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Data-plane switches: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fast, simple, commodity switches implementing generalized data-plane forwarding (Section 4.4) in hardware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flow (forwarding)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table computed, installed under controller supervision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API for table-based switch control (e.g., OpenFlow)</a:t>
            </a:r>
            <a:endParaRPr/>
          </a:p>
          <a:p>
            <a:pPr indent="-234950" lvl="1" marL="635000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defines what is controllable, what is not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 for communicating with controller (e.g., OpenFlow)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951" name="Google Shape;8951;p87"/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8952" name="Google Shape;8952;p87"/>
            <p:cNvSpPr txBox="1"/>
            <p:nvPr/>
          </p:nvSpPr>
          <p:spPr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8953" name="Google Shape;8953;p87"/>
            <p:cNvSpPr txBox="1"/>
            <p:nvPr/>
          </p:nvSpPr>
          <p:spPr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8954" name="Google Shape;8954;p87"/>
            <p:cNvCxnSpPr/>
            <p:nvPr/>
          </p:nvCxnSpPr>
          <p:spPr>
            <a:xfrm flipH="1" rot="10800000">
              <a:off x="5272718" y="4529666"/>
              <a:ext cx="2791783" cy="1432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8955" name="Google Shape;8955;p87"/>
            <p:cNvCxnSpPr/>
            <p:nvPr/>
          </p:nvCxnSpPr>
          <p:spPr>
            <a:xfrm flipH="1" rot="10800000">
              <a:off x="5192283" y="2709335"/>
              <a:ext cx="3041550" cy="1856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8956" name="Google Shape;8956;p87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8957" name="Google Shape;8957;p87"/>
              <p:cNvSpPr/>
              <p:nvPr/>
            </p:nvSpPr>
            <p:spPr>
              <a:xfrm>
                <a:off x="2592388" y="5601756"/>
                <a:ext cx="4027487" cy="939800"/>
              </a:xfrm>
              <a:custGeom>
                <a:rect b="b" l="l" r="r" t="t"/>
                <a:pathLst>
                  <a:path extrusionOk="0" h="10125" w="10001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958" name="Google Shape;8958;p87"/>
              <p:cNvCxnSpPr/>
              <p:nvPr/>
            </p:nvCxnSpPr>
            <p:spPr>
              <a:xfrm flipH="1" rot="10800000">
                <a:off x="3262941" y="5752569"/>
                <a:ext cx="1316038" cy="1317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59" name="Google Shape;8959;p87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0" name="Google Shape;8960;p87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1" name="Google Shape;8961;p87"/>
              <p:cNvCxnSpPr/>
              <p:nvPr/>
            </p:nvCxnSpPr>
            <p:spPr>
              <a:xfrm flipH="1" rot="10800000">
                <a:off x="4182104" y="6238344"/>
                <a:ext cx="1247775" cy="825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2" name="Google Shape;8962;p87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3" name="Google Shape;8963;p87"/>
              <p:cNvCxnSpPr/>
              <p:nvPr/>
            </p:nvCxnSpPr>
            <p:spPr>
              <a:xfrm flipH="1" rot="10800000">
                <a:off x="4126541" y="5939894"/>
                <a:ext cx="1790700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4" name="Google Shape;8964;p87"/>
              <p:cNvCxnSpPr/>
              <p:nvPr/>
            </p:nvCxnSpPr>
            <p:spPr>
              <a:xfrm flipH="1" rot="10800000">
                <a:off x="5453691" y="5968469"/>
                <a:ext cx="588963" cy="2698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5" name="Google Shape;8965;p87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8966" name="Google Shape;8966;p87"/>
              <p:cNvGrpSpPr/>
              <p:nvPr/>
            </p:nvGrpSpPr>
            <p:grpSpPr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67" name="Google Shape;896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68" name="Google Shape;896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69" name="Google Shape;896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0" name="Google Shape;897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1" name="Google Shape;897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2" name="Google Shape;897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3" name="Google Shape;897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74" name="Google Shape;8974;p87"/>
                <p:cNvCxnSpPr>
                  <a:endCxn id="896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975" name="Google Shape;897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976" name="Google Shape;8976;p87"/>
              <p:cNvGrpSpPr/>
              <p:nvPr/>
            </p:nvGrpSpPr>
            <p:grpSpPr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77" name="Google Shape;897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8" name="Google Shape;897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9" name="Google Shape;897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0" name="Google Shape;898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1" name="Google Shape;898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2" name="Google Shape;898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3" name="Google Shape;898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84" name="Google Shape;8984;p87"/>
                <p:cNvCxnSpPr>
                  <a:endCxn id="897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985" name="Google Shape;898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986" name="Google Shape;8986;p87"/>
              <p:cNvGrpSpPr/>
              <p:nvPr/>
            </p:nvGrpSpPr>
            <p:grpSpPr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87" name="Google Shape;898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8" name="Google Shape;898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9" name="Google Shape;898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0" name="Google Shape;899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1" name="Google Shape;899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2" name="Google Shape;899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3" name="Google Shape;899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94" name="Google Shape;8994;p87"/>
                <p:cNvCxnSpPr>
                  <a:endCxn id="898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995" name="Google Shape;899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996" name="Google Shape;8996;p87"/>
              <p:cNvGrpSpPr/>
              <p:nvPr/>
            </p:nvGrpSpPr>
            <p:grpSpPr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97" name="Google Shape;899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8" name="Google Shape;899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9" name="Google Shape;899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0" name="Google Shape;900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1" name="Google Shape;900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2" name="Google Shape;900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3" name="Google Shape;900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004" name="Google Shape;9004;p87"/>
                <p:cNvCxnSpPr>
                  <a:endCxn id="899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005" name="Google Shape;900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006" name="Google Shape;9006;p87"/>
              <p:cNvGrpSpPr/>
              <p:nvPr/>
            </p:nvGrpSpPr>
            <p:grpSpPr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007" name="Google Shape;900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8" name="Google Shape;900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9" name="Google Shape;900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0" name="Google Shape;901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1" name="Google Shape;901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2" name="Google Shape;901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3" name="Google Shape;901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014" name="Google Shape;9014;p87"/>
                <p:cNvCxnSpPr>
                  <a:endCxn id="900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015" name="Google Shape;901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9016" name="Google Shape;9016;p87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9017" name="Google Shape;9017;p87"/>
              <p:cNvSpPr/>
              <p:nvPr/>
            </p:nvSpPr>
            <p:spPr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18" name="Google Shape;9018;p87"/>
              <p:cNvSpPr/>
              <p:nvPr/>
            </p:nvSpPr>
            <p:spPr>
              <a:xfrm>
                <a:off x="5218221" y="2877416"/>
                <a:ext cx="213773" cy="1028160"/>
              </a:xfrm>
              <a:custGeom>
                <a:rect b="b" l="l" r="r" t="t"/>
                <a:pathLst>
                  <a:path extrusionOk="0" h="1027869" w="215301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9019" name="Google Shape;9019;p87"/>
              <p:cNvGrpSpPr/>
              <p:nvPr/>
            </p:nvGrpSpPr>
            <p:grpSpPr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9020" name="Google Shape;9020;p8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1" name="Google Shape;9021;p87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2" name="Google Shape;9022;p8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3" name="Google Shape;9023;p8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4" name="Google Shape;9024;p87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25" name="Google Shape;9025;p87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9026" name="Google Shape;9026;p87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27" name="Google Shape;9027;p87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28" name="Google Shape;9028;p87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29" name="Google Shape;9029;p87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9030" name="Google Shape;9030;p87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31" name="Google Shape;9031;p87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32" name="Google Shape;9032;p87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33" name="Google Shape;9033;p87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34" name="Google Shape;9034;p87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9035" name="Google Shape;9035;p87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36" name="Google Shape;9036;p87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37" name="Google Shape;9037;p8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38" name="Google Shape;9038;p87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9039" name="Google Shape;9039;p87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40" name="Google Shape;9040;p87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41" name="Google Shape;9041;p87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2" name="Google Shape;9042;p8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3" name="Google Shape;9043;p8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4" name="Google Shape;9044;p87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5" name="Google Shape;9045;p8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6" name="Google Shape;9046;p87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7" name="Google Shape;9047;p87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8" name="Google Shape;9048;p87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9" name="Google Shape;9049;p87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0" name="Google Shape;9050;p87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1" name="Google Shape;9051;p87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052" name="Google Shape;9052;p87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SDN Controller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(network operating system)</a:t>
                </a:r>
                <a:endParaRPr/>
              </a:p>
            </p:txBody>
          </p:sp>
        </p:grpSp>
        <p:sp>
          <p:nvSpPr>
            <p:cNvPr id="9053" name="Google Shape;9053;p87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9054" name="Google Shape;9054;p87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9055" name="Google Shape;9055;p87"/>
              <p:cNvSpPr/>
              <p:nvPr/>
            </p:nvSpPr>
            <p:spPr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56" name="Google Shape;9056;p87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</a:t>
                </a:r>
                <a:endParaRPr/>
              </a:p>
            </p:txBody>
          </p:sp>
        </p:grpSp>
        <p:grpSp>
          <p:nvGrpSpPr>
            <p:cNvPr id="9057" name="Google Shape;9057;p87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9058" name="Google Shape;9058;p87"/>
              <p:cNvSpPr/>
              <p:nvPr/>
            </p:nvSpPr>
            <p:spPr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59" name="Google Shape;9059;p87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</p:txBody>
          </p:sp>
        </p:grpSp>
        <p:grpSp>
          <p:nvGrpSpPr>
            <p:cNvPr id="9060" name="Google Shape;9060;p87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9061" name="Google Shape;9061;p87"/>
              <p:cNvSpPr/>
              <p:nvPr/>
            </p:nvSpPr>
            <p:spPr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62" name="Google Shape;9062;p87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load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</a:t>
                </a:r>
                <a:endParaRPr/>
              </a:p>
            </p:txBody>
          </p:sp>
        </p:grpSp>
        <p:cxnSp>
          <p:nvCxnSpPr>
            <p:cNvPr id="9063" name="Google Shape;9063;p87"/>
            <p:cNvCxnSpPr/>
            <p:nvPr/>
          </p:nvCxnSpPr>
          <p:spPr>
            <a:xfrm rot="10800000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4" name="Google Shape;9064;p87"/>
            <p:cNvCxnSpPr/>
            <p:nvPr/>
          </p:nvCxnSpPr>
          <p:spPr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5" name="Google Shape;9065;p87"/>
            <p:cNvCxnSpPr/>
            <p:nvPr/>
          </p:nvCxnSpPr>
          <p:spPr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6" name="Google Shape;9066;p87"/>
            <p:cNvCxnSpPr/>
            <p:nvPr/>
          </p:nvCxnSpPr>
          <p:spPr>
            <a:xfrm rot="10800000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067" name="Google Shape;9067;p87"/>
            <p:cNvSpPr txBox="1"/>
            <p:nvPr/>
          </p:nvSpPr>
          <p:spPr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API</a:t>
              </a:r>
              <a:endParaRPr/>
            </a:p>
          </p:txBody>
        </p:sp>
        <p:sp>
          <p:nvSpPr>
            <p:cNvPr id="9068" name="Google Shape;9068;p87"/>
            <p:cNvSpPr txBox="1"/>
            <p:nvPr/>
          </p:nvSpPr>
          <p:spPr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northbound API</a:t>
              </a:r>
              <a:endParaRPr/>
            </a:p>
          </p:txBody>
        </p:sp>
        <p:sp>
          <p:nvSpPr>
            <p:cNvPr id="9069" name="Google Shape;9069;p87"/>
            <p:cNvSpPr txBox="1"/>
            <p:nvPr/>
          </p:nvSpPr>
          <p:spPr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SDN-controlled switches</a:t>
              </a:r>
              <a:endParaRPr/>
            </a:p>
          </p:txBody>
        </p:sp>
        <p:sp>
          <p:nvSpPr>
            <p:cNvPr id="9070" name="Google Shape;9070;p87"/>
            <p:cNvSpPr txBox="1"/>
            <p:nvPr/>
          </p:nvSpPr>
          <p:spPr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network-control applications</a:t>
              </a:r>
              <a:endParaRPr/>
            </a:p>
          </p:txBody>
        </p:sp>
      </p:grpSp>
      <p:sp>
        <p:nvSpPr>
          <p:cNvPr id="9071" name="Google Shape;9071;p87"/>
          <p:cNvSpPr/>
          <p:nvPr/>
        </p:nvSpPr>
        <p:spPr>
          <a:xfrm>
            <a:off x="6602169" y="1221758"/>
            <a:ext cx="4134334" cy="3901387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5" name="Shape 9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6" name="Google Shape;9076;p88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9077" name="Google Shape;9077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78" name="Google Shape;9078;p88"/>
          <p:cNvSpPr txBox="1"/>
          <p:nvPr/>
        </p:nvSpPr>
        <p:spPr>
          <a:xfrm>
            <a:off x="826717" y="1581356"/>
            <a:ext cx="5643355" cy="501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SDN controller (network OS): 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network state information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interacts with network control applications “above” via northbound API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interacts with network switches “below” via southbound API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implemented as distributed system for performance, scalability, fault-tolerance, robustness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079" name="Google Shape;9079;p88"/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9080" name="Google Shape;9080;p88"/>
            <p:cNvSpPr txBox="1"/>
            <p:nvPr/>
          </p:nvSpPr>
          <p:spPr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9081" name="Google Shape;9081;p88"/>
            <p:cNvSpPr txBox="1"/>
            <p:nvPr/>
          </p:nvSpPr>
          <p:spPr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9082" name="Google Shape;9082;p88"/>
            <p:cNvCxnSpPr/>
            <p:nvPr/>
          </p:nvCxnSpPr>
          <p:spPr>
            <a:xfrm flipH="1" rot="10800000">
              <a:off x="5272718" y="4529666"/>
              <a:ext cx="2791783" cy="1432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083" name="Google Shape;9083;p88"/>
            <p:cNvCxnSpPr/>
            <p:nvPr/>
          </p:nvCxnSpPr>
          <p:spPr>
            <a:xfrm flipH="1" rot="10800000">
              <a:off x="5192283" y="2709335"/>
              <a:ext cx="3041550" cy="1856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9084" name="Google Shape;9084;p88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9085" name="Google Shape;9085;p88"/>
              <p:cNvSpPr/>
              <p:nvPr/>
            </p:nvSpPr>
            <p:spPr>
              <a:xfrm>
                <a:off x="2592388" y="5601756"/>
                <a:ext cx="4027487" cy="939800"/>
              </a:xfrm>
              <a:custGeom>
                <a:rect b="b" l="l" r="r" t="t"/>
                <a:pathLst>
                  <a:path extrusionOk="0" h="10125" w="10001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086" name="Google Shape;9086;p88"/>
              <p:cNvCxnSpPr/>
              <p:nvPr/>
            </p:nvCxnSpPr>
            <p:spPr>
              <a:xfrm flipH="1" rot="10800000">
                <a:off x="3262941" y="5752569"/>
                <a:ext cx="1316038" cy="1317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7" name="Google Shape;9087;p88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8" name="Google Shape;9088;p88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9" name="Google Shape;9089;p88"/>
              <p:cNvCxnSpPr/>
              <p:nvPr/>
            </p:nvCxnSpPr>
            <p:spPr>
              <a:xfrm flipH="1" rot="10800000">
                <a:off x="4182104" y="6238344"/>
                <a:ext cx="1247775" cy="825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0" name="Google Shape;9090;p88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1" name="Google Shape;9091;p88"/>
              <p:cNvCxnSpPr/>
              <p:nvPr/>
            </p:nvCxnSpPr>
            <p:spPr>
              <a:xfrm flipH="1" rot="10800000">
                <a:off x="4126541" y="5939894"/>
                <a:ext cx="1790700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2" name="Google Shape;9092;p88"/>
              <p:cNvCxnSpPr/>
              <p:nvPr/>
            </p:nvCxnSpPr>
            <p:spPr>
              <a:xfrm flipH="1" rot="10800000">
                <a:off x="5453691" y="5968469"/>
                <a:ext cx="588963" cy="2698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3" name="Google Shape;9093;p88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9094" name="Google Shape;9094;p88"/>
              <p:cNvGrpSpPr/>
              <p:nvPr/>
            </p:nvGrpSpPr>
            <p:grpSpPr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9095" name="Google Shape;909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6" name="Google Shape;909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7" name="Google Shape;909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8" name="Google Shape;909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9" name="Google Shape;909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0" name="Google Shape;910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1" name="Google Shape;910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02" name="Google Shape;9102;p88"/>
                <p:cNvCxnSpPr>
                  <a:endCxn id="909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03" name="Google Shape;910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04" name="Google Shape;9104;p88"/>
              <p:cNvGrpSpPr/>
              <p:nvPr/>
            </p:nvGrpSpPr>
            <p:grpSpPr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05" name="Google Shape;910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6" name="Google Shape;910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7" name="Google Shape;910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8" name="Google Shape;910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9" name="Google Shape;910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0" name="Google Shape;911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1" name="Google Shape;911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12" name="Google Shape;9112;p88"/>
                <p:cNvCxnSpPr>
                  <a:endCxn id="910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13" name="Google Shape;911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14" name="Google Shape;9114;p88"/>
              <p:cNvGrpSpPr/>
              <p:nvPr/>
            </p:nvGrpSpPr>
            <p:grpSpPr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15" name="Google Shape;911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6" name="Google Shape;911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7" name="Google Shape;911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8" name="Google Shape;911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9" name="Google Shape;911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0" name="Google Shape;912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1" name="Google Shape;912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22" name="Google Shape;9122;p88"/>
                <p:cNvCxnSpPr>
                  <a:endCxn id="911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23" name="Google Shape;912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24" name="Google Shape;9124;p88"/>
              <p:cNvGrpSpPr/>
              <p:nvPr/>
            </p:nvGrpSpPr>
            <p:grpSpPr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25" name="Google Shape;912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6" name="Google Shape;912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7" name="Google Shape;912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8" name="Google Shape;912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9" name="Google Shape;912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0" name="Google Shape;913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1" name="Google Shape;913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32" name="Google Shape;9132;p88"/>
                <p:cNvCxnSpPr>
                  <a:endCxn id="912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33" name="Google Shape;913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34" name="Google Shape;9134;p88"/>
              <p:cNvGrpSpPr/>
              <p:nvPr/>
            </p:nvGrpSpPr>
            <p:grpSpPr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35" name="Google Shape;913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6" name="Google Shape;913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7" name="Google Shape;913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8" name="Google Shape;913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9" name="Google Shape;913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40" name="Google Shape;914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41" name="Google Shape;914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42" name="Google Shape;9142;p88"/>
                <p:cNvCxnSpPr>
                  <a:endCxn id="913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43" name="Google Shape;914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9144" name="Google Shape;9144;p88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9145" name="Google Shape;9145;p88"/>
              <p:cNvSpPr/>
              <p:nvPr/>
            </p:nvSpPr>
            <p:spPr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46" name="Google Shape;9146;p88"/>
              <p:cNvSpPr/>
              <p:nvPr/>
            </p:nvSpPr>
            <p:spPr>
              <a:xfrm>
                <a:off x="5218221" y="2877416"/>
                <a:ext cx="213773" cy="1028160"/>
              </a:xfrm>
              <a:custGeom>
                <a:rect b="b" l="l" r="r" t="t"/>
                <a:pathLst>
                  <a:path extrusionOk="0" h="1027869" w="215301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9147" name="Google Shape;9147;p88"/>
              <p:cNvGrpSpPr/>
              <p:nvPr/>
            </p:nvGrpSpPr>
            <p:grpSpPr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9148" name="Google Shape;9148;p8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49" name="Google Shape;9149;p8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0" name="Google Shape;9150;p8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1" name="Google Shape;9151;p8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2" name="Google Shape;9152;p8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53" name="Google Shape;9153;p8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9154" name="Google Shape;9154;p8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55" name="Google Shape;9155;p8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56" name="Google Shape;9156;p8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57" name="Google Shape;9157;p8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9158" name="Google Shape;9158;p8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59" name="Google Shape;9159;p8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0" name="Google Shape;9160;p8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61" name="Google Shape;9161;p8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62" name="Google Shape;9162;p8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9163" name="Google Shape;9163;p8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64" name="Google Shape;9164;p8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5" name="Google Shape;9165;p8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66" name="Google Shape;9166;p8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9167" name="Google Shape;9167;p8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68" name="Google Shape;9168;p8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9" name="Google Shape;9169;p8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0" name="Google Shape;9170;p8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1" name="Google Shape;9171;p8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2" name="Google Shape;9172;p8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3" name="Google Shape;9173;p8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4" name="Google Shape;9174;p8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5" name="Google Shape;9175;p8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6" name="Google Shape;9176;p8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7" name="Google Shape;9177;p8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8" name="Google Shape;9178;p8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9" name="Google Shape;9179;p8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80" name="Google Shape;9180;p88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SDN Controller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(network operating system)</a:t>
                </a:r>
                <a:endParaRPr/>
              </a:p>
            </p:txBody>
          </p:sp>
        </p:grpSp>
        <p:sp>
          <p:nvSpPr>
            <p:cNvPr id="9181" name="Google Shape;9181;p88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9182" name="Google Shape;9182;p88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9183" name="Google Shape;9183;p88"/>
              <p:cNvSpPr/>
              <p:nvPr/>
            </p:nvSpPr>
            <p:spPr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84" name="Google Shape;9184;p88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</a:t>
                </a:r>
                <a:endParaRPr/>
              </a:p>
            </p:txBody>
          </p:sp>
        </p:grpSp>
        <p:grpSp>
          <p:nvGrpSpPr>
            <p:cNvPr id="9185" name="Google Shape;9185;p88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9186" name="Google Shape;9186;p88"/>
              <p:cNvSpPr/>
              <p:nvPr/>
            </p:nvSpPr>
            <p:spPr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87" name="Google Shape;9187;p88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</p:txBody>
          </p:sp>
        </p:grpSp>
        <p:grpSp>
          <p:nvGrpSpPr>
            <p:cNvPr id="9188" name="Google Shape;9188;p88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9189" name="Google Shape;9189;p88"/>
              <p:cNvSpPr/>
              <p:nvPr/>
            </p:nvSpPr>
            <p:spPr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90" name="Google Shape;9190;p88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load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</a:t>
                </a:r>
                <a:endParaRPr/>
              </a:p>
            </p:txBody>
          </p:sp>
        </p:grpSp>
        <p:cxnSp>
          <p:nvCxnSpPr>
            <p:cNvPr id="9191" name="Google Shape;9191;p88"/>
            <p:cNvCxnSpPr/>
            <p:nvPr/>
          </p:nvCxnSpPr>
          <p:spPr>
            <a:xfrm rot="10800000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2" name="Google Shape;9192;p88"/>
            <p:cNvCxnSpPr/>
            <p:nvPr/>
          </p:nvCxnSpPr>
          <p:spPr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3" name="Google Shape;9193;p88"/>
            <p:cNvCxnSpPr/>
            <p:nvPr/>
          </p:nvCxnSpPr>
          <p:spPr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4" name="Google Shape;9194;p88"/>
            <p:cNvCxnSpPr/>
            <p:nvPr/>
          </p:nvCxnSpPr>
          <p:spPr>
            <a:xfrm rot="10800000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195" name="Google Shape;9195;p88"/>
            <p:cNvSpPr txBox="1"/>
            <p:nvPr/>
          </p:nvSpPr>
          <p:spPr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API</a:t>
              </a:r>
              <a:endParaRPr/>
            </a:p>
          </p:txBody>
        </p:sp>
        <p:sp>
          <p:nvSpPr>
            <p:cNvPr id="9196" name="Google Shape;9196;p88"/>
            <p:cNvSpPr txBox="1"/>
            <p:nvPr/>
          </p:nvSpPr>
          <p:spPr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northbound API</a:t>
              </a:r>
              <a:endParaRPr/>
            </a:p>
          </p:txBody>
        </p:sp>
        <p:sp>
          <p:nvSpPr>
            <p:cNvPr id="9197" name="Google Shape;9197;p88"/>
            <p:cNvSpPr txBox="1"/>
            <p:nvPr/>
          </p:nvSpPr>
          <p:spPr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SDN-controlled switches</a:t>
              </a:r>
              <a:endParaRPr/>
            </a:p>
          </p:txBody>
        </p:sp>
        <p:sp>
          <p:nvSpPr>
            <p:cNvPr id="9198" name="Google Shape;9198;p88"/>
            <p:cNvSpPr txBox="1"/>
            <p:nvPr/>
          </p:nvSpPr>
          <p:spPr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network-control applications</a:t>
              </a:r>
              <a:endParaRPr/>
            </a:p>
          </p:txBody>
        </p:sp>
      </p:grpSp>
      <p:sp>
        <p:nvSpPr>
          <p:cNvPr id="9199" name="Google Shape;9199;p88"/>
          <p:cNvSpPr/>
          <p:nvPr/>
        </p:nvSpPr>
        <p:spPr>
          <a:xfrm>
            <a:off x="6602169" y="1209232"/>
            <a:ext cx="4134334" cy="1797015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200" name="Google Shape;9200;p88"/>
          <p:cNvSpPr/>
          <p:nvPr/>
        </p:nvSpPr>
        <p:spPr>
          <a:xfrm>
            <a:off x="6929934" y="5060985"/>
            <a:ext cx="3767293" cy="1527705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4" name="Shape 9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5" name="Google Shape;9205;p89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9206" name="Google Shape;9206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07" name="Google Shape;9207;p89"/>
          <p:cNvSpPr txBox="1"/>
          <p:nvPr/>
        </p:nvSpPr>
        <p:spPr>
          <a:xfrm>
            <a:off x="826718" y="1581356"/>
            <a:ext cx="5010411" cy="3614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network-control apps: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“brains” of control:  implement control functions using lower-level services, API provided by SDN controller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unbundled: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provided by 3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party: distinct from routing vendor, or SDN controller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208" name="Google Shape;9208;p89"/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9209" name="Google Shape;9209;p89"/>
            <p:cNvSpPr txBox="1"/>
            <p:nvPr/>
          </p:nvSpPr>
          <p:spPr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9210" name="Google Shape;9210;p89"/>
            <p:cNvSpPr txBox="1"/>
            <p:nvPr/>
          </p:nvSpPr>
          <p:spPr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9211" name="Google Shape;9211;p89"/>
            <p:cNvCxnSpPr/>
            <p:nvPr/>
          </p:nvCxnSpPr>
          <p:spPr>
            <a:xfrm flipH="1" rot="10800000">
              <a:off x="5272718" y="4529666"/>
              <a:ext cx="2791783" cy="1432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212" name="Google Shape;9212;p89"/>
            <p:cNvCxnSpPr/>
            <p:nvPr/>
          </p:nvCxnSpPr>
          <p:spPr>
            <a:xfrm flipH="1" rot="10800000">
              <a:off x="5192283" y="2709335"/>
              <a:ext cx="3041550" cy="1856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9213" name="Google Shape;9213;p89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9214" name="Google Shape;9214;p89"/>
              <p:cNvSpPr/>
              <p:nvPr/>
            </p:nvSpPr>
            <p:spPr>
              <a:xfrm>
                <a:off x="2592388" y="5601756"/>
                <a:ext cx="4027487" cy="939800"/>
              </a:xfrm>
              <a:custGeom>
                <a:rect b="b" l="l" r="r" t="t"/>
                <a:pathLst>
                  <a:path extrusionOk="0" h="10125" w="10001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215" name="Google Shape;9215;p89"/>
              <p:cNvCxnSpPr/>
              <p:nvPr/>
            </p:nvCxnSpPr>
            <p:spPr>
              <a:xfrm flipH="1" rot="10800000">
                <a:off x="3262941" y="5752569"/>
                <a:ext cx="1316038" cy="1317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6" name="Google Shape;9216;p89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7" name="Google Shape;9217;p89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8" name="Google Shape;9218;p89"/>
              <p:cNvCxnSpPr/>
              <p:nvPr/>
            </p:nvCxnSpPr>
            <p:spPr>
              <a:xfrm flipH="1" rot="10800000">
                <a:off x="4182104" y="6238344"/>
                <a:ext cx="1247775" cy="825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9" name="Google Shape;9219;p89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0" name="Google Shape;9220;p89"/>
              <p:cNvCxnSpPr/>
              <p:nvPr/>
            </p:nvCxnSpPr>
            <p:spPr>
              <a:xfrm flipH="1" rot="10800000">
                <a:off x="4126541" y="5939894"/>
                <a:ext cx="1790700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1" name="Google Shape;9221;p89"/>
              <p:cNvCxnSpPr/>
              <p:nvPr/>
            </p:nvCxnSpPr>
            <p:spPr>
              <a:xfrm flipH="1" rot="10800000">
                <a:off x="5453691" y="5968469"/>
                <a:ext cx="588963" cy="2698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2" name="Google Shape;9222;p89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9223" name="Google Shape;9223;p89"/>
              <p:cNvGrpSpPr/>
              <p:nvPr/>
            </p:nvGrpSpPr>
            <p:grpSpPr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24" name="Google Shape;922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5" name="Google Shape;922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6" name="Google Shape;922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7" name="Google Shape;922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8" name="Google Shape;922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9" name="Google Shape;922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0" name="Google Shape;923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31" name="Google Shape;9231;p89"/>
                <p:cNvCxnSpPr>
                  <a:endCxn id="922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32" name="Google Shape;923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33" name="Google Shape;9233;p89"/>
              <p:cNvGrpSpPr/>
              <p:nvPr/>
            </p:nvGrpSpPr>
            <p:grpSpPr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34" name="Google Shape;923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5" name="Google Shape;923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6" name="Google Shape;923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7" name="Google Shape;923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8" name="Google Shape;923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9" name="Google Shape;923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0" name="Google Shape;924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41" name="Google Shape;9241;p89"/>
                <p:cNvCxnSpPr>
                  <a:endCxn id="923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42" name="Google Shape;924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43" name="Google Shape;9243;p89"/>
              <p:cNvGrpSpPr/>
              <p:nvPr/>
            </p:nvGrpSpPr>
            <p:grpSpPr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44" name="Google Shape;924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5" name="Google Shape;924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6" name="Google Shape;924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7" name="Google Shape;924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8" name="Google Shape;924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9" name="Google Shape;924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0" name="Google Shape;925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51" name="Google Shape;9251;p89"/>
                <p:cNvCxnSpPr>
                  <a:endCxn id="924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52" name="Google Shape;925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53" name="Google Shape;9253;p89"/>
              <p:cNvGrpSpPr/>
              <p:nvPr/>
            </p:nvGrpSpPr>
            <p:grpSpPr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54" name="Google Shape;925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5" name="Google Shape;925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6" name="Google Shape;925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7" name="Google Shape;925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8" name="Google Shape;925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9" name="Google Shape;925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0" name="Google Shape;926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61" name="Google Shape;9261;p89"/>
                <p:cNvCxnSpPr>
                  <a:endCxn id="925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62" name="Google Shape;926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63" name="Google Shape;9263;p89"/>
              <p:cNvGrpSpPr/>
              <p:nvPr/>
            </p:nvGrpSpPr>
            <p:grpSpPr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64" name="Google Shape;926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5" name="Google Shape;926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6" name="Google Shape;926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7" name="Google Shape;926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8" name="Google Shape;926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9" name="Google Shape;926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70" name="Google Shape;927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71" name="Google Shape;9271;p89"/>
                <p:cNvCxnSpPr>
                  <a:endCxn id="926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72" name="Google Shape;927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9273" name="Google Shape;9273;p89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9274" name="Google Shape;9274;p89"/>
              <p:cNvSpPr/>
              <p:nvPr/>
            </p:nvSpPr>
            <p:spPr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275" name="Google Shape;9275;p89"/>
              <p:cNvSpPr/>
              <p:nvPr/>
            </p:nvSpPr>
            <p:spPr>
              <a:xfrm>
                <a:off x="5218221" y="2877416"/>
                <a:ext cx="213773" cy="1028160"/>
              </a:xfrm>
              <a:custGeom>
                <a:rect b="b" l="l" r="r" t="t"/>
                <a:pathLst>
                  <a:path extrusionOk="0" h="1027869" w="215301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9276" name="Google Shape;9276;p89"/>
              <p:cNvGrpSpPr/>
              <p:nvPr/>
            </p:nvGrpSpPr>
            <p:grpSpPr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9277" name="Google Shape;9277;p89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8" name="Google Shape;9278;p89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9" name="Google Shape;9279;p89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0" name="Google Shape;9280;p89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1" name="Google Shape;9281;p89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82" name="Google Shape;9282;p89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9283" name="Google Shape;9283;p89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84" name="Google Shape;9284;p89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85" name="Google Shape;9285;p89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86" name="Google Shape;9286;p89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9287" name="Google Shape;9287;p89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88" name="Google Shape;9288;p89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89" name="Google Shape;9289;p89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90" name="Google Shape;9290;p89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91" name="Google Shape;9291;p89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9292" name="Google Shape;9292;p89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93" name="Google Shape;9293;p89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94" name="Google Shape;9294;p89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95" name="Google Shape;9295;p89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9296" name="Google Shape;9296;p89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97" name="Google Shape;9297;p89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98" name="Google Shape;9298;p89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99" name="Google Shape;9299;p89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0" name="Google Shape;9300;p89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1" name="Google Shape;9301;p89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2" name="Google Shape;9302;p89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3" name="Google Shape;9303;p89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4" name="Google Shape;9304;p89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5" name="Google Shape;9305;p89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6" name="Google Shape;9306;p89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7" name="Google Shape;9307;p89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8" name="Google Shape;9308;p89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09" name="Google Shape;9309;p89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SDN Controller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(network operating system)</a:t>
                </a:r>
                <a:endParaRPr/>
              </a:p>
            </p:txBody>
          </p:sp>
        </p:grpSp>
        <p:sp>
          <p:nvSpPr>
            <p:cNvPr id="9310" name="Google Shape;9310;p89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9311" name="Google Shape;9311;p89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9312" name="Google Shape;9312;p89"/>
              <p:cNvSpPr/>
              <p:nvPr/>
            </p:nvSpPr>
            <p:spPr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E1EFD8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13" name="Google Shape;9313;p89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</a:t>
                </a:r>
                <a:endParaRPr/>
              </a:p>
            </p:txBody>
          </p:sp>
        </p:grpSp>
        <p:grpSp>
          <p:nvGrpSpPr>
            <p:cNvPr id="9314" name="Google Shape;9314;p89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9315" name="Google Shape;9315;p89"/>
              <p:cNvSpPr/>
              <p:nvPr/>
            </p:nvSpPr>
            <p:spPr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E1EFD8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16" name="Google Shape;9316;p89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</p:txBody>
          </p:sp>
        </p:grpSp>
        <p:grpSp>
          <p:nvGrpSpPr>
            <p:cNvPr id="9317" name="Google Shape;9317;p89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9318" name="Google Shape;9318;p89"/>
              <p:cNvSpPr/>
              <p:nvPr/>
            </p:nvSpPr>
            <p:spPr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E1EFD8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19" name="Google Shape;9319;p89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load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</a:t>
                </a:r>
                <a:endParaRPr/>
              </a:p>
            </p:txBody>
          </p:sp>
        </p:grpSp>
        <p:cxnSp>
          <p:nvCxnSpPr>
            <p:cNvPr id="9320" name="Google Shape;9320;p89"/>
            <p:cNvCxnSpPr/>
            <p:nvPr/>
          </p:nvCxnSpPr>
          <p:spPr>
            <a:xfrm rot="10800000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1" name="Google Shape;9321;p89"/>
            <p:cNvCxnSpPr/>
            <p:nvPr/>
          </p:nvCxnSpPr>
          <p:spPr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2" name="Google Shape;9322;p89"/>
            <p:cNvCxnSpPr/>
            <p:nvPr/>
          </p:nvCxnSpPr>
          <p:spPr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3" name="Google Shape;9323;p89"/>
            <p:cNvCxnSpPr/>
            <p:nvPr/>
          </p:nvCxnSpPr>
          <p:spPr>
            <a:xfrm rot="10800000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324" name="Google Shape;9324;p89"/>
            <p:cNvSpPr txBox="1"/>
            <p:nvPr/>
          </p:nvSpPr>
          <p:spPr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API</a:t>
              </a:r>
              <a:endParaRPr/>
            </a:p>
          </p:txBody>
        </p:sp>
        <p:sp>
          <p:nvSpPr>
            <p:cNvPr id="9325" name="Google Shape;9325;p89"/>
            <p:cNvSpPr txBox="1"/>
            <p:nvPr/>
          </p:nvSpPr>
          <p:spPr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northbound API</a:t>
              </a:r>
              <a:endParaRPr/>
            </a:p>
          </p:txBody>
        </p:sp>
        <p:sp>
          <p:nvSpPr>
            <p:cNvPr id="9326" name="Google Shape;9326;p89"/>
            <p:cNvSpPr txBox="1"/>
            <p:nvPr/>
          </p:nvSpPr>
          <p:spPr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SDN-controlled switches</a:t>
              </a:r>
              <a:endParaRPr/>
            </a:p>
          </p:txBody>
        </p:sp>
        <p:sp>
          <p:nvSpPr>
            <p:cNvPr id="9327" name="Google Shape;9327;p89"/>
            <p:cNvSpPr txBox="1"/>
            <p:nvPr/>
          </p:nvSpPr>
          <p:spPr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network-control applications</a:t>
              </a:r>
              <a:endParaRPr/>
            </a:p>
          </p:txBody>
        </p:sp>
      </p:grpSp>
      <p:sp>
        <p:nvSpPr>
          <p:cNvPr id="9328" name="Google Shape;9328;p89"/>
          <p:cNvSpPr/>
          <p:nvPr/>
        </p:nvSpPr>
        <p:spPr>
          <a:xfrm>
            <a:off x="6727429" y="3557392"/>
            <a:ext cx="4134334" cy="1167008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29" name="Google Shape;9329;p89"/>
          <p:cNvSpPr/>
          <p:nvPr/>
        </p:nvSpPr>
        <p:spPr>
          <a:xfrm>
            <a:off x="6929934" y="5060985"/>
            <a:ext cx="3767293" cy="1527705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3" name="Shape 9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4" name="Google Shape;9334;p90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Components of SDN controller</a:t>
            </a:r>
            <a:endParaRPr/>
          </a:p>
        </p:txBody>
      </p:sp>
      <p:sp>
        <p:nvSpPr>
          <p:cNvPr id="9335" name="Google Shape;9335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36" name="Google Shape;9336;p90"/>
          <p:cNvSpPr/>
          <p:nvPr/>
        </p:nvSpPr>
        <p:spPr>
          <a:xfrm>
            <a:off x="4808857" y="2082088"/>
            <a:ext cx="5228030" cy="3568673"/>
          </a:xfrm>
          <a:prstGeom prst="rect">
            <a:avLst/>
          </a:prstGeom>
          <a:solidFill>
            <a:srgbClr val="D0D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9337" name="Google Shape;9337;p90"/>
          <p:cNvCxnSpPr>
            <a:endCxn id="9338" idx="4"/>
          </p:cNvCxnSpPr>
          <p:nvPr/>
        </p:nvCxnSpPr>
        <p:spPr>
          <a:xfrm rot="10800000">
            <a:off x="8244907" y="1910774"/>
            <a:ext cx="600" cy="4077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60606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39" name="Google Shape;9339;p90"/>
          <p:cNvSpPr/>
          <p:nvPr/>
        </p:nvSpPr>
        <p:spPr>
          <a:xfrm>
            <a:off x="4947365" y="3165861"/>
            <a:ext cx="4945030" cy="1553784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0" name="Google Shape;9340;p90"/>
          <p:cNvSpPr/>
          <p:nvPr/>
        </p:nvSpPr>
        <p:spPr>
          <a:xfrm>
            <a:off x="4947365" y="4779178"/>
            <a:ext cx="4959028" cy="737977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41" name="Google Shape;9341;p90"/>
          <p:cNvCxnSpPr/>
          <p:nvPr/>
        </p:nvCxnSpPr>
        <p:spPr>
          <a:xfrm>
            <a:off x="5032372" y="5687428"/>
            <a:ext cx="4860022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42" name="Google Shape;9342;p90"/>
          <p:cNvSpPr txBox="1"/>
          <p:nvPr/>
        </p:nvSpPr>
        <p:spPr>
          <a:xfrm>
            <a:off x="4964055" y="3773215"/>
            <a:ext cx="5089063" cy="3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Network-wide distributed, robust  state management</a:t>
            </a:r>
            <a:endParaRPr/>
          </a:p>
        </p:txBody>
      </p:sp>
      <p:sp>
        <p:nvSpPr>
          <p:cNvPr id="9343" name="Google Shape;9343;p90"/>
          <p:cNvSpPr txBox="1"/>
          <p:nvPr/>
        </p:nvSpPr>
        <p:spPr>
          <a:xfrm>
            <a:off x="5352533" y="5171961"/>
            <a:ext cx="4033912" cy="3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to/from controlled devices</a:t>
            </a:r>
            <a:endParaRPr/>
          </a:p>
        </p:txBody>
      </p:sp>
      <p:grpSp>
        <p:nvGrpSpPr>
          <p:cNvPr id="9344" name="Google Shape;9344;p90"/>
          <p:cNvGrpSpPr/>
          <p:nvPr/>
        </p:nvGrpSpPr>
        <p:grpSpPr>
          <a:xfrm>
            <a:off x="5266463" y="4140643"/>
            <a:ext cx="1244650" cy="459826"/>
            <a:chOff x="3128876" y="457817"/>
            <a:chExt cx="1432326" cy="459826"/>
          </a:xfrm>
        </p:grpSpPr>
        <p:sp>
          <p:nvSpPr>
            <p:cNvPr id="9345" name="Google Shape;9345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6" name="Google Shape;9346;p90"/>
            <p:cNvSpPr txBox="1"/>
            <p:nvPr/>
          </p:nvSpPr>
          <p:spPr>
            <a:xfrm>
              <a:off x="3198388" y="541671"/>
              <a:ext cx="130238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Link-state info</a:t>
              </a:r>
              <a:endParaRPr/>
            </a:p>
          </p:txBody>
        </p:sp>
      </p:grpSp>
      <p:grpSp>
        <p:nvGrpSpPr>
          <p:cNvPr id="9347" name="Google Shape;9347;p90"/>
          <p:cNvGrpSpPr/>
          <p:nvPr/>
        </p:nvGrpSpPr>
        <p:grpSpPr>
          <a:xfrm>
            <a:off x="8350067" y="4140643"/>
            <a:ext cx="1022824" cy="459826"/>
            <a:chOff x="3086839" y="457817"/>
            <a:chExt cx="1525489" cy="459826"/>
          </a:xfrm>
        </p:grpSpPr>
        <p:sp>
          <p:nvSpPr>
            <p:cNvPr id="9348" name="Google Shape;9348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9" name="Google Shape;9349;p90"/>
            <p:cNvSpPr txBox="1"/>
            <p:nvPr/>
          </p:nvSpPr>
          <p:spPr>
            <a:xfrm>
              <a:off x="3086839" y="541671"/>
              <a:ext cx="1525489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switch info</a:t>
              </a:r>
              <a:endParaRPr/>
            </a:p>
          </p:txBody>
        </p:sp>
      </p:grpSp>
      <p:grpSp>
        <p:nvGrpSpPr>
          <p:cNvPr id="9350" name="Google Shape;9350;p90"/>
          <p:cNvGrpSpPr/>
          <p:nvPr/>
        </p:nvGrpSpPr>
        <p:grpSpPr>
          <a:xfrm>
            <a:off x="6658595" y="4140643"/>
            <a:ext cx="960359" cy="459826"/>
            <a:chOff x="3128876" y="457817"/>
            <a:chExt cx="1432326" cy="459826"/>
          </a:xfrm>
        </p:grpSpPr>
        <p:sp>
          <p:nvSpPr>
            <p:cNvPr id="9351" name="Google Shape;9351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2" name="Google Shape;9352;p90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info</a:t>
              </a:r>
              <a:endParaRPr/>
            </a:p>
          </p:txBody>
        </p:sp>
      </p:grpSp>
      <p:grpSp>
        <p:nvGrpSpPr>
          <p:cNvPr id="9353" name="Google Shape;9353;p90"/>
          <p:cNvGrpSpPr/>
          <p:nvPr/>
        </p:nvGrpSpPr>
        <p:grpSpPr>
          <a:xfrm>
            <a:off x="6114701" y="3277496"/>
            <a:ext cx="889706" cy="459826"/>
            <a:chOff x="3128876" y="457817"/>
            <a:chExt cx="1432326" cy="459826"/>
          </a:xfrm>
        </p:grpSpPr>
        <p:sp>
          <p:nvSpPr>
            <p:cNvPr id="9354" name="Google Shape;9354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5" name="Google Shape;9355;p90"/>
            <p:cNvSpPr txBox="1"/>
            <p:nvPr/>
          </p:nvSpPr>
          <p:spPr>
            <a:xfrm>
              <a:off x="3198565" y="541671"/>
              <a:ext cx="130204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statistics</a:t>
              </a:r>
              <a:endParaRPr/>
            </a:p>
          </p:txBody>
        </p:sp>
      </p:grpSp>
      <p:grpSp>
        <p:nvGrpSpPr>
          <p:cNvPr id="9356" name="Google Shape;9356;p90"/>
          <p:cNvGrpSpPr/>
          <p:nvPr/>
        </p:nvGrpSpPr>
        <p:grpSpPr>
          <a:xfrm>
            <a:off x="7912675" y="3289355"/>
            <a:ext cx="1032905" cy="459826"/>
            <a:chOff x="3079326" y="457817"/>
            <a:chExt cx="1540525" cy="459826"/>
          </a:xfrm>
        </p:grpSpPr>
        <p:sp>
          <p:nvSpPr>
            <p:cNvPr id="9357" name="Google Shape;9357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8" name="Google Shape;9358;p90"/>
            <p:cNvSpPr txBox="1"/>
            <p:nvPr/>
          </p:nvSpPr>
          <p:spPr>
            <a:xfrm>
              <a:off x="3079326" y="541671"/>
              <a:ext cx="154052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tables</a:t>
              </a:r>
              <a:endParaRPr/>
            </a:p>
          </p:txBody>
        </p:sp>
      </p:grpSp>
      <p:sp>
        <p:nvSpPr>
          <p:cNvPr id="9359" name="Google Shape;9359;p90"/>
          <p:cNvSpPr txBox="1"/>
          <p:nvPr/>
        </p:nvSpPr>
        <p:spPr>
          <a:xfrm>
            <a:off x="7135050" y="3073206"/>
            <a:ext cx="5702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360" name="Google Shape;9360;p90"/>
          <p:cNvSpPr txBox="1"/>
          <p:nvPr/>
        </p:nvSpPr>
        <p:spPr>
          <a:xfrm>
            <a:off x="7681571" y="3979419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grpSp>
        <p:nvGrpSpPr>
          <p:cNvPr id="9361" name="Google Shape;9361;p90"/>
          <p:cNvGrpSpPr/>
          <p:nvPr/>
        </p:nvGrpSpPr>
        <p:grpSpPr>
          <a:xfrm>
            <a:off x="5868362" y="4871857"/>
            <a:ext cx="1257452" cy="286824"/>
            <a:chOff x="3128876" y="457775"/>
            <a:chExt cx="1432326" cy="459868"/>
          </a:xfrm>
        </p:grpSpPr>
        <p:sp>
          <p:nvSpPr>
            <p:cNvPr id="9362" name="Google Shape;9362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3" name="Google Shape;9363;p90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OpenFlow</a:t>
              </a:r>
              <a:endParaRPr/>
            </a:p>
          </p:txBody>
        </p:sp>
      </p:grpSp>
      <p:grpSp>
        <p:nvGrpSpPr>
          <p:cNvPr id="9364" name="Google Shape;9364;p90"/>
          <p:cNvGrpSpPr/>
          <p:nvPr/>
        </p:nvGrpSpPr>
        <p:grpSpPr>
          <a:xfrm>
            <a:off x="7737594" y="4876640"/>
            <a:ext cx="1244650" cy="307410"/>
            <a:chOff x="3128876" y="457817"/>
            <a:chExt cx="1432326" cy="459826"/>
          </a:xfrm>
        </p:grpSpPr>
        <p:sp>
          <p:nvSpPr>
            <p:cNvPr id="9365" name="Google Shape;9365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6" name="Google Shape;9366;p90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SNMP</a:t>
              </a:r>
              <a:endParaRPr/>
            </a:p>
          </p:txBody>
        </p:sp>
      </p:grpSp>
      <p:sp>
        <p:nvSpPr>
          <p:cNvPr id="9367" name="Google Shape;9367;p90"/>
          <p:cNvSpPr txBox="1"/>
          <p:nvPr/>
        </p:nvSpPr>
        <p:spPr>
          <a:xfrm>
            <a:off x="7120351" y="458514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cxnSp>
        <p:nvCxnSpPr>
          <p:cNvPr id="9368" name="Google Shape;9368;p90"/>
          <p:cNvCxnSpPr>
            <a:endCxn id="9369" idx="4"/>
          </p:cNvCxnSpPr>
          <p:nvPr/>
        </p:nvCxnSpPr>
        <p:spPr>
          <a:xfrm flipH="1" rot="10800000">
            <a:off x="5836518" y="1866354"/>
            <a:ext cx="4800" cy="3882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60606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370" name="Google Shape;9370;p90"/>
          <p:cNvCxnSpPr>
            <a:endCxn id="9371" idx="2"/>
          </p:cNvCxnSpPr>
          <p:nvPr/>
        </p:nvCxnSpPr>
        <p:spPr>
          <a:xfrm rot="10800000">
            <a:off x="7065791" y="1876324"/>
            <a:ext cx="5700" cy="3024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60606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372" name="Google Shape;9372;p90"/>
          <p:cNvCxnSpPr/>
          <p:nvPr/>
        </p:nvCxnSpPr>
        <p:spPr>
          <a:xfrm>
            <a:off x="5074063" y="2342893"/>
            <a:ext cx="4818331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73" name="Google Shape;9373;p90"/>
          <p:cNvSpPr/>
          <p:nvPr/>
        </p:nvSpPr>
        <p:spPr>
          <a:xfrm>
            <a:off x="4947365" y="2182258"/>
            <a:ext cx="4951677" cy="932987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74" name="Google Shape;9374;p90"/>
          <p:cNvGrpSpPr/>
          <p:nvPr/>
        </p:nvGrpSpPr>
        <p:grpSpPr>
          <a:xfrm>
            <a:off x="5436759" y="2550631"/>
            <a:ext cx="1033900" cy="504412"/>
            <a:chOff x="3103238" y="432317"/>
            <a:chExt cx="1461287" cy="504412"/>
          </a:xfrm>
        </p:grpSpPr>
        <p:sp>
          <p:nvSpPr>
            <p:cNvPr id="9375" name="Google Shape;9375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6" name="Google Shape;9376;p90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 graph</a:t>
              </a:r>
              <a:endParaRPr/>
            </a:p>
          </p:txBody>
        </p:sp>
      </p:grpSp>
      <p:grpSp>
        <p:nvGrpSpPr>
          <p:cNvPr id="9377" name="Google Shape;9377;p90"/>
          <p:cNvGrpSpPr/>
          <p:nvPr/>
        </p:nvGrpSpPr>
        <p:grpSpPr>
          <a:xfrm>
            <a:off x="8404313" y="2596585"/>
            <a:ext cx="1033900" cy="459826"/>
            <a:chOff x="3103238" y="457817"/>
            <a:chExt cx="1461287" cy="459826"/>
          </a:xfrm>
        </p:grpSpPr>
        <p:sp>
          <p:nvSpPr>
            <p:cNvPr id="9378" name="Google Shape;9378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9" name="Google Shape;9379;p90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intent</a:t>
              </a:r>
              <a:endParaRPr/>
            </a:p>
          </p:txBody>
        </p:sp>
      </p:grpSp>
      <p:grpSp>
        <p:nvGrpSpPr>
          <p:cNvPr id="9380" name="Google Shape;9380;p90"/>
          <p:cNvGrpSpPr/>
          <p:nvPr/>
        </p:nvGrpSpPr>
        <p:grpSpPr>
          <a:xfrm>
            <a:off x="6628386" y="2549087"/>
            <a:ext cx="1033900" cy="504412"/>
            <a:chOff x="3103238" y="432317"/>
            <a:chExt cx="1461287" cy="504412"/>
          </a:xfrm>
        </p:grpSpPr>
        <p:sp>
          <p:nvSpPr>
            <p:cNvPr id="9381" name="Google Shape;9381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2" name="Google Shape;9382;p90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RESTful</a:t>
              </a:r>
              <a:endParaRPr/>
            </a:p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</a:t>
              </a:r>
              <a:endParaRPr/>
            </a:p>
          </p:txBody>
        </p:sp>
      </p:grpSp>
      <p:sp>
        <p:nvSpPr>
          <p:cNvPr id="9383" name="Google Shape;9383;p90"/>
          <p:cNvSpPr txBox="1"/>
          <p:nvPr/>
        </p:nvSpPr>
        <p:spPr>
          <a:xfrm>
            <a:off x="7750348" y="2399633"/>
            <a:ext cx="62790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384" name="Google Shape;9384;p90"/>
          <p:cNvSpPr txBox="1"/>
          <p:nvPr/>
        </p:nvSpPr>
        <p:spPr>
          <a:xfrm>
            <a:off x="5178244" y="2216488"/>
            <a:ext cx="4914815" cy="3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Interface, abstractions for network control apps</a:t>
            </a:r>
            <a:endParaRPr/>
          </a:p>
        </p:txBody>
      </p:sp>
      <p:cxnSp>
        <p:nvCxnSpPr>
          <p:cNvPr id="9385" name="Google Shape;9385;p90"/>
          <p:cNvCxnSpPr/>
          <p:nvPr/>
        </p:nvCxnSpPr>
        <p:spPr>
          <a:xfrm>
            <a:off x="5028809" y="2010842"/>
            <a:ext cx="4753400" cy="19546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86" name="Google Shape;9386;p90"/>
          <p:cNvSpPr txBox="1"/>
          <p:nvPr/>
        </p:nvSpPr>
        <p:spPr>
          <a:xfrm>
            <a:off x="10299705" y="3308646"/>
            <a:ext cx="178791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SDN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/>
          </a:p>
        </p:txBody>
      </p:sp>
      <p:grpSp>
        <p:nvGrpSpPr>
          <p:cNvPr id="9387" name="Google Shape;9387;p90"/>
          <p:cNvGrpSpPr/>
          <p:nvPr/>
        </p:nvGrpSpPr>
        <p:grpSpPr>
          <a:xfrm>
            <a:off x="5939083" y="5780474"/>
            <a:ext cx="2979208" cy="973667"/>
            <a:chOff x="2592388" y="5601756"/>
            <a:chExt cx="4027487" cy="939800"/>
          </a:xfrm>
        </p:grpSpPr>
        <p:sp>
          <p:nvSpPr>
            <p:cNvPr id="9388" name="Google Shape;9388;p90"/>
            <p:cNvSpPr/>
            <p:nvPr/>
          </p:nvSpPr>
          <p:spPr>
            <a:xfrm>
              <a:off x="2592388" y="5601756"/>
              <a:ext cx="4027487" cy="939800"/>
            </a:xfrm>
            <a:custGeom>
              <a:rect b="b" l="l" r="r" t="t"/>
              <a:pathLst>
                <a:path extrusionOk="0" h="10125" w="10001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89" name="Google Shape;9389;p90"/>
            <p:cNvCxnSpPr/>
            <p:nvPr/>
          </p:nvCxnSpPr>
          <p:spPr>
            <a:xfrm flipH="1" rot="10800000">
              <a:off x="3262941" y="5752569"/>
              <a:ext cx="1316038" cy="1317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0" name="Google Shape;9390;p90"/>
            <p:cNvCxnSpPr/>
            <p:nvPr/>
          </p:nvCxnSpPr>
          <p:spPr>
            <a:xfrm>
              <a:off x="3151816" y="5939894"/>
              <a:ext cx="2259013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1" name="Google Shape;9391;p90"/>
            <p:cNvCxnSpPr/>
            <p:nvPr/>
          </p:nvCxnSpPr>
          <p:spPr>
            <a:xfrm>
              <a:off x="3164516" y="6044669"/>
              <a:ext cx="714375" cy="2762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2" name="Google Shape;9392;p90"/>
            <p:cNvCxnSpPr/>
            <p:nvPr/>
          </p:nvCxnSpPr>
          <p:spPr>
            <a:xfrm flipH="1" rot="10800000">
              <a:off x="4182104" y="6238344"/>
              <a:ext cx="1247775" cy="825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3" name="Google Shape;9393;p90"/>
            <p:cNvCxnSpPr/>
            <p:nvPr/>
          </p:nvCxnSpPr>
          <p:spPr>
            <a:xfrm>
              <a:off x="4842504" y="5785906"/>
              <a:ext cx="1057275" cy="1238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4" name="Google Shape;9394;p90"/>
            <p:cNvCxnSpPr/>
            <p:nvPr/>
          </p:nvCxnSpPr>
          <p:spPr>
            <a:xfrm flipH="1" rot="10800000">
              <a:off x="4126541" y="5939894"/>
              <a:ext cx="1790700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5" name="Google Shape;9395;p90"/>
            <p:cNvCxnSpPr/>
            <p:nvPr/>
          </p:nvCxnSpPr>
          <p:spPr>
            <a:xfrm flipH="1" rot="10800000">
              <a:off x="5453691" y="5968469"/>
              <a:ext cx="588963" cy="2698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6" name="Google Shape;9396;p90"/>
            <p:cNvCxnSpPr/>
            <p:nvPr/>
          </p:nvCxnSpPr>
          <p:spPr>
            <a:xfrm>
              <a:off x="4596441" y="5752569"/>
              <a:ext cx="814388" cy="40163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397" name="Google Shape;9397;p90"/>
            <p:cNvGrpSpPr/>
            <p:nvPr/>
          </p:nvGrpSpPr>
          <p:grpSpPr>
            <a:xfrm>
              <a:off x="5856401" y="5796097"/>
              <a:ext cx="588970" cy="242608"/>
              <a:chOff x="1871277" y="1576300"/>
              <a:chExt cx="1128371" cy="437861"/>
            </a:xfrm>
          </p:grpSpPr>
          <p:sp>
            <p:nvSpPr>
              <p:cNvPr id="9398" name="Google Shape;939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99" name="Google Shape;939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0" name="Google Shape;940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1" name="Google Shape;940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2" name="Google Shape;940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3" name="Google Shape;940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4" name="Google Shape;940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05" name="Google Shape;9405;p90"/>
              <p:cNvCxnSpPr>
                <a:endCxn id="940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06" name="Google Shape;940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07" name="Google Shape;9407;p90"/>
            <p:cNvGrpSpPr/>
            <p:nvPr/>
          </p:nvGrpSpPr>
          <p:grpSpPr>
            <a:xfrm>
              <a:off x="4375328" y="5654000"/>
              <a:ext cx="588970" cy="242608"/>
              <a:chOff x="1871277" y="1576300"/>
              <a:chExt cx="1128371" cy="437861"/>
            </a:xfrm>
          </p:grpSpPr>
          <p:sp>
            <p:nvSpPr>
              <p:cNvPr id="9408" name="Google Shape;940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9" name="Google Shape;940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0" name="Google Shape;941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1" name="Google Shape;941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2" name="Google Shape;941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3" name="Google Shape;941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4" name="Google Shape;941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15" name="Google Shape;9415;p90"/>
              <p:cNvCxnSpPr>
                <a:endCxn id="941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16" name="Google Shape;941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17" name="Google Shape;9417;p90"/>
            <p:cNvGrpSpPr/>
            <p:nvPr/>
          </p:nvGrpSpPr>
          <p:grpSpPr>
            <a:xfrm>
              <a:off x="2848241" y="5847813"/>
              <a:ext cx="588970" cy="242608"/>
              <a:chOff x="1871277" y="1576300"/>
              <a:chExt cx="1128371" cy="437861"/>
            </a:xfrm>
          </p:grpSpPr>
          <p:sp>
            <p:nvSpPr>
              <p:cNvPr id="9418" name="Google Shape;941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9" name="Google Shape;941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0" name="Google Shape;942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1" name="Google Shape;942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2" name="Google Shape;942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3" name="Google Shape;942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4" name="Google Shape;942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25" name="Google Shape;9425;p90"/>
              <p:cNvCxnSpPr>
                <a:endCxn id="942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26" name="Google Shape;942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27" name="Google Shape;9427;p90"/>
            <p:cNvGrpSpPr/>
            <p:nvPr/>
          </p:nvGrpSpPr>
          <p:grpSpPr>
            <a:xfrm>
              <a:off x="5166757" y="6114152"/>
              <a:ext cx="588970" cy="242608"/>
              <a:chOff x="1871277" y="1576300"/>
              <a:chExt cx="1128371" cy="437861"/>
            </a:xfrm>
          </p:grpSpPr>
          <p:sp>
            <p:nvSpPr>
              <p:cNvPr id="9428" name="Google Shape;942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9" name="Google Shape;942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0" name="Google Shape;943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1" name="Google Shape;943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2" name="Google Shape;943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3" name="Google Shape;943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4" name="Google Shape;943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35" name="Google Shape;9435;p90"/>
              <p:cNvCxnSpPr>
                <a:endCxn id="943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36" name="Google Shape;943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37" name="Google Shape;9437;p90"/>
            <p:cNvGrpSpPr/>
            <p:nvPr/>
          </p:nvGrpSpPr>
          <p:grpSpPr>
            <a:xfrm>
              <a:off x="3704088" y="6206732"/>
              <a:ext cx="588970" cy="242608"/>
              <a:chOff x="1871277" y="1576300"/>
              <a:chExt cx="1128371" cy="437861"/>
            </a:xfrm>
          </p:grpSpPr>
          <p:sp>
            <p:nvSpPr>
              <p:cNvPr id="9438" name="Google Shape;943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9" name="Google Shape;943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0" name="Google Shape;944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1" name="Google Shape;944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2" name="Google Shape;944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3" name="Google Shape;944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4" name="Google Shape;944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45" name="Google Shape;9445;p90"/>
              <p:cNvCxnSpPr>
                <a:endCxn id="944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46" name="Google Shape;944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</p:grpSp>
      <p:sp>
        <p:nvSpPr>
          <p:cNvPr id="9447" name="Google Shape;9447;p90"/>
          <p:cNvSpPr/>
          <p:nvPr/>
        </p:nvSpPr>
        <p:spPr>
          <a:xfrm>
            <a:off x="5074486" y="5724971"/>
            <a:ext cx="5334198" cy="113302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8" name="Google Shape;9448;p90"/>
          <p:cNvGrpSpPr/>
          <p:nvPr/>
        </p:nvGrpSpPr>
        <p:grpSpPr>
          <a:xfrm>
            <a:off x="5329582" y="1276178"/>
            <a:ext cx="1023471" cy="590176"/>
            <a:chOff x="4721412" y="1277470"/>
            <a:chExt cx="1023471" cy="590176"/>
          </a:xfrm>
        </p:grpSpPr>
        <p:sp>
          <p:nvSpPr>
            <p:cNvPr id="9369" name="Google Shape;9369;p90"/>
            <p:cNvSpPr/>
            <p:nvPr/>
          </p:nvSpPr>
          <p:spPr>
            <a:xfrm>
              <a:off x="4721412" y="1277470"/>
              <a:ext cx="1023471" cy="590176"/>
            </a:xfrm>
            <a:prstGeom prst="ellipse">
              <a:avLst/>
            </a:prstGeom>
            <a:solidFill>
              <a:srgbClr val="008000">
                <a:alpha val="69803"/>
              </a:srgbClr>
            </a:solidFill>
            <a:ln cap="flat" cmpd="sng" w="9525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449" name="Google Shape;9449;p90"/>
            <p:cNvSpPr txBox="1"/>
            <p:nvPr/>
          </p:nvSpPr>
          <p:spPr>
            <a:xfrm>
              <a:off x="4792385" y="1374585"/>
              <a:ext cx="8904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</p:txBody>
        </p:sp>
      </p:grpSp>
      <p:grpSp>
        <p:nvGrpSpPr>
          <p:cNvPr id="9450" name="Google Shape;9450;p90"/>
          <p:cNvGrpSpPr/>
          <p:nvPr/>
        </p:nvGrpSpPr>
        <p:grpSpPr>
          <a:xfrm>
            <a:off x="6543278" y="1301675"/>
            <a:ext cx="1023471" cy="590176"/>
            <a:chOff x="6106459" y="1967753"/>
            <a:chExt cx="1023471" cy="590176"/>
          </a:xfrm>
        </p:grpSpPr>
        <p:sp>
          <p:nvSpPr>
            <p:cNvPr id="9451" name="Google Shape;9451;p90"/>
            <p:cNvSpPr/>
            <p:nvPr/>
          </p:nvSpPr>
          <p:spPr>
            <a:xfrm>
              <a:off x="6106459" y="1967753"/>
              <a:ext cx="1023471" cy="590176"/>
            </a:xfrm>
            <a:prstGeom prst="ellipse">
              <a:avLst/>
            </a:prstGeom>
            <a:solidFill>
              <a:srgbClr val="008000">
                <a:alpha val="69803"/>
              </a:srgbClr>
            </a:solidFill>
            <a:ln cap="flat" cmpd="sng" w="9525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371" name="Google Shape;9371;p90"/>
            <p:cNvSpPr txBox="1"/>
            <p:nvPr/>
          </p:nvSpPr>
          <p:spPr>
            <a:xfrm>
              <a:off x="6177429" y="1997637"/>
              <a:ext cx="903087" cy="544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</p:txBody>
        </p:sp>
      </p:grpSp>
      <p:grpSp>
        <p:nvGrpSpPr>
          <p:cNvPr id="9452" name="Google Shape;9452;p90"/>
          <p:cNvGrpSpPr/>
          <p:nvPr/>
        </p:nvGrpSpPr>
        <p:grpSpPr>
          <a:xfrm>
            <a:off x="7733171" y="1320598"/>
            <a:ext cx="1023471" cy="590176"/>
            <a:chOff x="6938682" y="977153"/>
            <a:chExt cx="1023471" cy="590176"/>
          </a:xfrm>
        </p:grpSpPr>
        <p:sp>
          <p:nvSpPr>
            <p:cNvPr id="9338" name="Google Shape;9338;p90"/>
            <p:cNvSpPr/>
            <p:nvPr/>
          </p:nvSpPr>
          <p:spPr>
            <a:xfrm>
              <a:off x="6938682" y="977153"/>
              <a:ext cx="1023471" cy="590176"/>
            </a:xfrm>
            <a:prstGeom prst="ellipse">
              <a:avLst/>
            </a:prstGeom>
            <a:solidFill>
              <a:srgbClr val="008000">
                <a:alpha val="69803"/>
              </a:srgbClr>
            </a:solidFill>
            <a:ln cap="flat" cmpd="sng" w="9525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453" name="Google Shape;9453;p90"/>
            <p:cNvSpPr txBox="1"/>
            <p:nvPr/>
          </p:nvSpPr>
          <p:spPr>
            <a:xfrm>
              <a:off x="6964568" y="1007037"/>
              <a:ext cx="993256" cy="544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load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balance</a:t>
              </a:r>
              <a:endParaRPr/>
            </a:p>
          </p:txBody>
        </p:sp>
      </p:grpSp>
      <p:sp>
        <p:nvSpPr>
          <p:cNvPr id="9454" name="Google Shape;9454;p90"/>
          <p:cNvSpPr/>
          <p:nvPr/>
        </p:nvSpPr>
        <p:spPr>
          <a:xfrm>
            <a:off x="4711309" y="1143000"/>
            <a:ext cx="4965002" cy="78359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5" name="Google Shape;9455;p90"/>
          <p:cNvSpPr/>
          <p:nvPr/>
        </p:nvSpPr>
        <p:spPr>
          <a:xfrm rot="10800000">
            <a:off x="10030194" y="4626242"/>
            <a:ext cx="222179" cy="1166655"/>
          </a:xfrm>
          <a:custGeom>
            <a:rect b="b" l="l" r="r" t="t"/>
            <a:pathLst>
              <a:path extrusionOk="0" h="1166325" w="223767">
                <a:moveTo>
                  <a:pt x="11247" y="0"/>
                </a:moveTo>
                <a:lnTo>
                  <a:pt x="217832" y="138456"/>
                </a:lnTo>
                <a:cubicBezTo>
                  <a:pt x="219810" y="481079"/>
                  <a:pt x="221789" y="823702"/>
                  <a:pt x="223767" y="1166325"/>
                </a:cubicBezTo>
                <a:cubicBezTo>
                  <a:pt x="98607" y="641817"/>
                  <a:pt x="99941" y="672062"/>
                  <a:pt x="110" y="226631"/>
                </a:cubicBezTo>
                <a:cubicBezTo>
                  <a:pt x="-1380" y="13351"/>
                  <a:pt x="12737" y="213280"/>
                  <a:pt x="11247" y="0"/>
                </a:cubicBez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D0D0F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456" name="Google Shape;9456;p90"/>
          <p:cNvGrpSpPr/>
          <p:nvPr/>
        </p:nvGrpSpPr>
        <p:grpSpPr>
          <a:xfrm>
            <a:off x="10230703" y="5170004"/>
            <a:ext cx="251561" cy="564103"/>
            <a:chOff x="4140" y="429"/>
            <a:chExt cx="1425" cy="2396"/>
          </a:xfrm>
        </p:grpSpPr>
        <p:sp>
          <p:nvSpPr>
            <p:cNvPr id="9457" name="Google Shape;9457;p9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8" name="Google Shape;9458;p9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9" name="Google Shape;9459;p9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0" name="Google Shape;9460;p9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1" name="Google Shape;9461;p9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62" name="Google Shape;9462;p9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463" name="Google Shape;9463;p9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4" name="Google Shape;9464;p9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65" name="Google Shape;9465;p9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66" name="Google Shape;9466;p9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467" name="Google Shape;9467;p9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8" name="Google Shape;9468;p9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69" name="Google Shape;9469;p9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0" name="Google Shape;9470;p9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71" name="Google Shape;9471;p9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472" name="Google Shape;9472;p9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3" name="Google Shape;9473;p9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74" name="Google Shape;9474;p9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75" name="Google Shape;9475;p9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476" name="Google Shape;9476;p9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7" name="Google Shape;9477;p9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78" name="Google Shape;9478;p9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9" name="Google Shape;9479;p9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0" name="Google Shape;9480;p9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1" name="Google Shape;9481;p9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2" name="Google Shape;9482;p9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3" name="Google Shape;9483;p9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4" name="Google Shape;9484;p9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5" name="Google Shape;9485;p9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6" name="Google Shape;9486;p9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7" name="Google Shape;9487;p9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8" name="Google Shape;9488;p9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89" name="Google Shape;9489;p90"/>
          <p:cNvSpPr txBox="1"/>
          <p:nvPr/>
        </p:nvSpPr>
        <p:spPr>
          <a:xfrm>
            <a:off x="776613" y="4804221"/>
            <a:ext cx="403338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communicate between SDN controller and controlled switches</a:t>
            </a:r>
            <a:endParaRPr/>
          </a:p>
        </p:txBody>
      </p:sp>
      <p:sp>
        <p:nvSpPr>
          <p:cNvPr id="9490" name="Google Shape;9490;p90"/>
          <p:cNvSpPr txBox="1"/>
          <p:nvPr/>
        </p:nvSpPr>
        <p:spPr>
          <a:xfrm>
            <a:off x="764087" y="3239842"/>
            <a:ext cx="4158641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network-wide state management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state of networks links, switches, services: a </a:t>
            </a: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distributed database</a:t>
            </a:r>
            <a:endParaRPr/>
          </a:p>
        </p:txBody>
      </p:sp>
      <p:sp>
        <p:nvSpPr>
          <p:cNvPr id="9491" name="Google Shape;9491;p90"/>
          <p:cNvSpPr txBox="1"/>
          <p:nvPr/>
        </p:nvSpPr>
        <p:spPr>
          <a:xfrm>
            <a:off x="764087" y="2232898"/>
            <a:ext cx="4073330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interface layer to network control apps: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abstractions API</a:t>
            </a:r>
            <a:endParaRPr i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6" name="Shape 9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7" name="Google Shape;9497;p91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OpenFlow protocol</a:t>
            </a:r>
            <a:endParaRPr/>
          </a:p>
        </p:txBody>
      </p:sp>
      <p:sp>
        <p:nvSpPr>
          <p:cNvPr id="9498" name="Google Shape;9498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99" name="Google Shape;9499;p91"/>
          <p:cNvSpPr txBox="1"/>
          <p:nvPr/>
        </p:nvSpPr>
        <p:spPr>
          <a:xfrm>
            <a:off x="863251" y="1363220"/>
            <a:ext cx="608869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0988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operates between controller, switch</a:t>
            </a:r>
            <a:endParaRPr/>
          </a:p>
          <a:p>
            <a:pPr indent="-280988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used to exchange messages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optional encryption</a:t>
            </a:r>
            <a:endParaRPr/>
          </a:p>
          <a:p>
            <a:pPr indent="-280988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classes of  OpenFlow messages: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controller-to-switch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asynchronous (switch to controller)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symmetric (misc.)</a:t>
            </a:r>
            <a:endParaRPr/>
          </a:p>
          <a:p>
            <a:pPr indent="-285750" lvl="0" marL="347663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distinct from OpenFlow API</a:t>
            </a:r>
            <a:endParaRPr/>
          </a:p>
          <a:p>
            <a:pPr indent="-282575" lvl="1" marL="74453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API used to specify  generalized forwarding actions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00" name="Google Shape;9500;p91"/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9501" name="Google Shape;9501;p91"/>
            <p:cNvGrpSpPr/>
            <p:nvPr/>
          </p:nvGrpSpPr>
          <p:grpSpPr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9502" name="Google Shape;9502;p9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3" name="Google Shape;9503;p91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4" name="Google Shape;9504;p91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5" name="Google Shape;9505;p9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6" name="Google Shape;9506;p91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07" name="Google Shape;9507;p91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508" name="Google Shape;9508;p91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09" name="Google Shape;9509;p91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10" name="Google Shape;9510;p91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11" name="Google Shape;9511;p91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512" name="Google Shape;9512;p91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3" name="Google Shape;9513;p91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14" name="Google Shape;9514;p91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5" name="Google Shape;9515;p91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16" name="Google Shape;9516;p91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517" name="Google Shape;9517;p91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8" name="Google Shape;9518;p91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19" name="Google Shape;9519;p9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20" name="Google Shape;9520;p91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521" name="Google Shape;9521;p91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22" name="Google Shape;9522;p91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23" name="Google Shape;9523;p91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4" name="Google Shape;9524;p9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5" name="Google Shape;9525;p9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6" name="Google Shape;9526;p91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7" name="Google Shape;9527;p9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8" name="Google Shape;9528;p91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9" name="Google Shape;9529;p91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0" name="Google Shape;9530;p91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1" name="Google Shape;9531;p91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2" name="Google Shape;9532;p91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3" name="Google Shape;9533;p91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534" name="Google Shape;9534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5" name="Google Shape;9535;p91"/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OpenFlow Controller</a:t>
              </a:r>
              <a:endParaRPr/>
            </a:p>
          </p:txBody>
        </p:sp>
        <p:sp>
          <p:nvSpPr>
            <p:cNvPr id="9536" name="Google Shape;9536;p91"/>
            <p:cNvSpPr/>
            <p:nvPr/>
          </p:nvSpPr>
          <p:spPr>
            <a:xfrm>
              <a:off x="7686822" y="3573747"/>
              <a:ext cx="3616623" cy="1604572"/>
            </a:xfrm>
            <a:custGeom>
              <a:rect b="b" l="l" r="r" t="t"/>
              <a:pathLst>
                <a:path extrusionOk="0" h="10016" w="10000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37" name="Google Shape;9537;p91"/>
            <p:cNvCxnSpPr/>
            <p:nvPr/>
          </p:nvCxnSpPr>
          <p:spPr>
            <a:xfrm flipH="1" rot="10800000">
              <a:off x="7988607" y="3775213"/>
              <a:ext cx="1203228" cy="6602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8" name="Google Shape;9538;p91"/>
            <p:cNvCxnSpPr/>
            <p:nvPr/>
          </p:nvCxnSpPr>
          <p:spPr>
            <a:xfrm>
              <a:off x="7988607" y="4435418"/>
              <a:ext cx="1203228" cy="5178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9" name="Google Shape;9539;p91"/>
            <p:cNvCxnSpPr/>
            <p:nvPr/>
          </p:nvCxnSpPr>
          <p:spPr>
            <a:xfrm>
              <a:off x="8998012" y="3982336"/>
              <a:ext cx="319671" cy="82849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40" name="Google Shape;9540;p91"/>
            <p:cNvCxnSpPr/>
            <p:nvPr/>
          </p:nvCxnSpPr>
          <p:spPr>
            <a:xfrm>
              <a:off x="9268742" y="3917611"/>
              <a:ext cx="1307416" cy="2718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41" name="Google Shape;9541;p91"/>
            <p:cNvCxnSpPr/>
            <p:nvPr/>
          </p:nvCxnSpPr>
          <p:spPr>
            <a:xfrm flipH="1" rot="10800000">
              <a:off x="9461009" y="4344802"/>
              <a:ext cx="1115149" cy="60842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542" name="Google Shape;9542;p91"/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9543" name="Google Shape;9543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44" name="Google Shape;9544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45" name="Google Shape;9545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46" name="Google Shape;9546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7" name="Google Shape;9547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8" name="Google Shape;9548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9" name="Google Shape;9549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50" name="Google Shape;9550;p91"/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9551" name="Google Shape;9551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52" name="Google Shape;9552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53" name="Google Shape;9553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54" name="Google Shape;9554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5" name="Google Shape;9555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6" name="Google Shape;9556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7" name="Google Shape;9557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58" name="Google Shape;9558;p91"/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9559" name="Google Shape;9559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60" name="Google Shape;9560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61" name="Google Shape;9561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62" name="Google Shape;9562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3" name="Google Shape;9563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4" name="Google Shape;9564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5" name="Google Shape;9565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66" name="Google Shape;9566;p91"/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9567" name="Google Shape;9567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68" name="Google Shape;9568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69" name="Google Shape;9569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70" name="Google Shape;9570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1" name="Google Shape;9571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2" name="Google Shape;9572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3" name="Google Shape;9573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574" name="Google Shape;9574;p91"/>
            <p:cNvSpPr/>
            <p:nvPr/>
          </p:nvSpPr>
          <p:spPr>
            <a:xfrm rot="-2757548">
              <a:off x="9773071" y="2749725"/>
              <a:ext cx="110632" cy="16214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5" name="Google Shape;9575;p91"/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6" name="Google Shape;9576;p91"/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7" name="Google Shape;9577;p91"/>
            <p:cNvSpPr/>
            <p:nvPr/>
          </p:nvSpPr>
          <p:spPr>
            <a:xfrm rot="-431269">
              <a:off x="9181573" y="2978458"/>
              <a:ext cx="132567" cy="1740801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2" name="Shape 9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3" name="Google Shape;9583;p92"/>
          <p:cNvSpPr txBox="1"/>
          <p:nvPr>
            <p:ph type="title"/>
          </p:nvPr>
        </p:nvSpPr>
        <p:spPr>
          <a:xfrm>
            <a:off x="838200" y="27645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OpenFlow: </a:t>
            </a:r>
            <a:r>
              <a:rPr lang="en-US"/>
              <a:t>controller-to-switch messages</a:t>
            </a:r>
            <a:endParaRPr/>
          </a:p>
        </p:txBody>
      </p:sp>
      <p:sp>
        <p:nvSpPr>
          <p:cNvPr id="9584" name="Google Shape;9584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85" name="Google Shape;9585;p92"/>
          <p:cNvSpPr/>
          <p:nvPr/>
        </p:nvSpPr>
        <p:spPr>
          <a:xfrm>
            <a:off x="918575" y="1523276"/>
            <a:ext cx="6058423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controller-to-switch messages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features: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queries switch features, switch replies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configure: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queries/sets switch configuration parameters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modify-state: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add, delete, modify flow entries in the OpenFlow tables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packet-out: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can send this packet out of specific switch port</a:t>
            </a:r>
            <a:endParaRPr/>
          </a:p>
        </p:txBody>
      </p:sp>
      <p:grpSp>
        <p:nvGrpSpPr>
          <p:cNvPr id="9586" name="Google Shape;9586;p92"/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9587" name="Google Shape;9587;p92"/>
            <p:cNvGrpSpPr/>
            <p:nvPr/>
          </p:nvGrpSpPr>
          <p:grpSpPr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9588" name="Google Shape;9588;p9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9" name="Google Shape;9589;p9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0" name="Google Shape;9590;p9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1" name="Google Shape;9591;p9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2" name="Google Shape;9592;p9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93" name="Google Shape;9593;p9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594" name="Google Shape;9594;p9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5" name="Google Shape;9595;p9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96" name="Google Shape;9596;p9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97" name="Google Shape;9597;p9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598" name="Google Shape;9598;p9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9" name="Google Shape;9599;p9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00" name="Google Shape;9600;p9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1" name="Google Shape;9601;p9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02" name="Google Shape;9602;p9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603" name="Google Shape;9603;p9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4" name="Google Shape;9604;p9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05" name="Google Shape;9605;p9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06" name="Google Shape;9606;p9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607" name="Google Shape;9607;p9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8" name="Google Shape;9608;p9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09" name="Google Shape;9609;p9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0" name="Google Shape;9610;p9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1" name="Google Shape;9611;p9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2" name="Google Shape;9612;p9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3" name="Google Shape;9613;p9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4" name="Google Shape;9614;p9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5" name="Google Shape;9615;p9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6" name="Google Shape;9616;p9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7" name="Google Shape;9617;p9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8" name="Google Shape;9618;p9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9" name="Google Shape;9619;p9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620" name="Google Shape;9620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1" name="Google Shape;9621;p92"/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OpenFlow Controller</a:t>
              </a:r>
              <a:endParaRPr/>
            </a:p>
          </p:txBody>
        </p:sp>
        <p:sp>
          <p:nvSpPr>
            <p:cNvPr id="9622" name="Google Shape;9622;p92"/>
            <p:cNvSpPr/>
            <p:nvPr/>
          </p:nvSpPr>
          <p:spPr>
            <a:xfrm>
              <a:off x="7686822" y="3573747"/>
              <a:ext cx="3616623" cy="1604572"/>
            </a:xfrm>
            <a:custGeom>
              <a:rect b="b" l="l" r="r" t="t"/>
              <a:pathLst>
                <a:path extrusionOk="0" h="10016" w="10000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23" name="Google Shape;9623;p92"/>
            <p:cNvCxnSpPr/>
            <p:nvPr/>
          </p:nvCxnSpPr>
          <p:spPr>
            <a:xfrm flipH="1" rot="10800000">
              <a:off x="7988607" y="3775213"/>
              <a:ext cx="1203228" cy="6602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4" name="Google Shape;9624;p92"/>
            <p:cNvCxnSpPr/>
            <p:nvPr/>
          </p:nvCxnSpPr>
          <p:spPr>
            <a:xfrm>
              <a:off x="7988607" y="4435418"/>
              <a:ext cx="1203228" cy="5178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5" name="Google Shape;9625;p92"/>
            <p:cNvCxnSpPr/>
            <p:nvPr/>
          </p:nvCxnSpPr>
          <p:spPr>
            <a:xfrm>
              <a:off x="8998012" y="3982336"/>
              <a:ext cx="319671" cy="82849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6" name="Google Shape;9626;p92"/>
            <p:cNvCxnSpPr/>
            <p:nvPr/>
          </p:nvCxnSpPr>
          <p:spPr>
            <a:xfrm>
              <a:off x="9268742" y="3917611"/>
              <a:ext cx="1307416" cy="2718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7" name="Google Shape;9627;p92"/>
            <p:cNvCxnSpPr/>
            <p:nvPr/>
          </p:nvCxnSpPr>
          <p:spPr>
            <a:xfrm flipH="1" rot="10800000">
              <a:off x="9461009" y="4344802"/>
              <a:ext cx="1115149" cy="60842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628" name="Google Shape;9628;p92"/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9629" name="Google Shape;9629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30" name="Google Shape;9630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31" name="Google Shape;9631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32" name="Google Shape;9632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3" name="Google Shape;9633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4" name="Google Shape;9634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5" name="Google Shape;9635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36" name="Google Shape;9636;p92"/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9637" name="Google Shape;9637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38" name="Google Shape;9638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39" name="Google Shape;9639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40" name="Google Shape;9640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1" name="Google Shape;9641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2" name="Google Shape;9642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3" name="Google Shape;9643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44" name="Google Shape;9644;p92"/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9645" name="Google Shape;9645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46" name="Google Shape;9646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47" name="Google Shape;9647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48" name="Google Shape;9648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9" name="Google Shape;9649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0" name="Google Shape;9650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1" name="Google Shape;9651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52" name="Google Shape;9652;p92"/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9653" name="Google Shape;9653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54" name="Google Shape;9654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55" name="Google Shape;9655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56" name="Google Shape;9656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7" name="Google Shape;9657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8" name="Google Shape;9658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9" name="Google Shape;9659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660" name="Google Shape;9660;p92"/>
            <p:cNvSpPr/>
            <p:nvPr/>
          </p:nvSpPr>
          <p:spPr>
            <a:xfrm rot="-2757548">
              <a:off x="9773071" y="2749725"/>
              <a:ext cx="110632" cy="16214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1" name="Google Shape;9661;p92"/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2" name="Google Shape;9662;p92"/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3" name="Google Shape;9663;p92"/>
            <p:cNvSpPr/>
            <p:nvPr/>
          </p:nvSpPr>
          <p:spPr>
            <a:xfrm rot="-431269">
              <a:off x="9181573" y="2978458"/>
              <a:ext cx="132567" cy="1740801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8" name="Shape 9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9" name="Google Shape;9669;p93"/>
          <p:cNvSpPr txBox="1"/>
          <p:nvPr>
            <p:ph type="title"/>
          </p:nvPr>
        </p:nvSpPr>
        <p:spPr>
          <a:xfrm>
            <a:off x="838200" y="27645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/>
              <a:t>OpenFlow: </a:t>
            </a:r>
            <a:r>
              <a:rPr lang="en-US" sz="4800"/>
              <a:t>switch-to-controller messages</a:t>
            </a:r>
            <a:endParaRPr/>
          </a:p>
        </p:txBody>
      </p:sp>
      <p:sp>
        <p:nvSpPr>
          <p:cNvPr id="9670" name="Google Shape;9670;p9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71" name="Google Shape;9671;p93"/>
          <p:cNvSpPr/>
          <p:nvPr/>
        </p:nvSpPr>
        <p:spPr>
          <a:xfrm>
            <a:off x="805841" y="1385490"/>
            <a:ext cx="6446729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switch-to-controller messages</a:t>
            </a:r>
            <a:endParaRPr/>
          </a:p>
          <a:p>
            <a:pPr indent="-285750" lvl="0" marL="34766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packet-in: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 packet (and its control) to controller.  See packet-out message from controller</a:t>
            </a:r>
            <a:endParaRPr/>
          </a:p>
          <a:p>
            <a:pPr indent="-285750" lvl="0" marL="34766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flow-removed: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 table entry deleted at switch</a:t>
            </a:r>
            <a:endParaRPr/>
          </a:p>
          <a:p>
            <a:pPr indent="-285750" lvl="0" marL="34766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port status: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 controller of a change on a port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9672" name="Google Shape;9672;p93"/>
          <p:cNvSpPr txBox="1"/>
          <p:nvPr/>
        </p:nvSpPr>
        <p:spPr>
          <a:xfrm>
            <a:off x="977029" y="5497334"/>
            <a:ext cx="10421656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Fortunately, network operators don’t “program” switches by creating/sending OpenFlow messages directly.  Instead use higher-level abstraction at controller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73" name="Google Shape;9673;p93"/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9674" name="Google Shape;9674;p93"/>
            <p:cNvGrpSpPr/>
            <p:nvPr/>
          </p:nvGrpSpPr>
          <p:grpSpPr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9675" name="Google Shape;9675;p9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6" name="Google Shape;9676;p9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7" name="Google Shape;9677;p9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8" name="Google Shape;9678;p9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9" name="Google Shape;9679;p9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80" name="Google Shape;9680;p9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681" name="Google Shape;9681;p9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2" name="Google Shape;9682;p9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83" name="Google Shape;9683;p9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84" name="Google Shape;9684;p9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685" name="Google Shape;9685;p9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6" name="Google Shape;9686;p9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87" name="Google Shape;9687;p9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8" name="Google Shape;9688;p9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89" name="Google Shape;9689;p93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690" name="Google Shape;9690;p93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91" name="Google Shape;9691;p9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92" name="Google Shape;9692;p9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93" name="Google Shape;9693;p9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694" name="Google Shape;9694;p9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95" name="Google Shape;9695;p9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96" name="Google Shape;9696;p9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7" name="Google Shape;9697;p9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8" name="Google Shape;9698;p9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9" name="Google Shape;9699;p9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0" name="Google Shape;9700;p9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1" name="Google Shape;9701;p9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2" name="Google Shape;9702;p9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3" name="Google Shape;9703;p9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4" name="Google Shape;9704;p9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5" name="Google Shape;9705;p9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6" name="Google Shape;9706;p9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707" name="Google Shape;9707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8" name="Google Shape;9708;p93"/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OpenFlow Controller</a:t>
              </a:r>
              <a:endParaRPr/>
            </a:p>
          </p:txBody>
        </p:sp>
        <p:sp>
          <p:nvSpPr>
            <p:cNvPr id="9709" name="Google Shape;9709;p93"/>
            <p:cNvSpPr/>
            <p:nvPr/>
          </p:nvSpPr>
          <p:spPr>
            <a:xfrm>
              <a:off x="7686822" y="3573747"/>
              <a:ext cx="3616623" cy="1604572"/>
            </a:xfrm>
            <a:custGeom>
              <a:rect b="b" l="l" r="r" t="t"/>
              <a:pathLst>
                <a:path extrusionOk="0" h="10016" w="10000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10" name="Google Shape;9710;p93"/>
            <p:cNvCxnSpPr/>
            <p:nvPr/>
          </p:nvCxnSpPr>
          <p:spPr>
            <a:xfrm flipH="1" rot="10800000">
              <a:off x="7988607" y="3775213"/>
              <a:ext cx="1203228" cy="6602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1" name="Google Shape;9711;p93"/>
            <p:cNvCxnSpPr/>
            <p:nvPr/>
          </p:nvCxnSpPr>
          <p:spPr>
            <a:xfrm>
              <a:off x="7988607" y="4435418"/>
              <a:ext cx="1203228" cy="5178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2" name="Google Shape;9712;p93"/>
            <p:cNvCxnSpPr/>
            <p:nvPr/>
          </p:nvCxnSpPr>
          <p:spPr>
            <a:xfrm>
              <a:off x="8998012" y="3982336"/>
              <a:ext cx="319671" cy="82849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3" name="Google Shape;9713;p93"/>
            <p:cNvCxnSpPr/>
            <p:nvPr/>
          </p:nvCxnSpPr>
          <p:spPr>
            <a:xfrm>
              <a:off x="9268742" y="3917611"/>
              <a:ext cx="1307416" cy="2718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4" name="Google Shape;9714;p93"/>
            <p:cNvCxnSpPr/>
            <p:nvPr/>
          </p:nvCxnSpPr>
          <p:spPr>
            <a:xfrm flipH="1" rot="10800000">
              <a:off x="9461009" y="4344802"/>
              <a:ext cx="1115149" cy="60842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715" name="Google Shape;9715;p93"/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9716" name="Google Shape;9716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17" name="Google Shape;9717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18" name="Google Shape;9718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19" name="Google Shape;9719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0" name="Google Shape;9720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1" name="Google Shape;9721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2" name="Google Shape;9722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23" name="Google Shape;9723;p93"/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9724" name="Google Shape;9724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25" name="Google Shape;9725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26" name="Google Shape;9726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27" name="Google Shape;9727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8" name="Google Shape;9728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9" name="Google Shape;9729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0" name="Google Shape;9730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31" name="Google Shape;9731;p93"/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9732" name="Google Shape;9732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33" name="Google Shape;9733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34" name="Google Shape;9734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35" name="Google Shape;9735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6" name="Google Shape;9736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7" name="Google Shape;9737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8" name="Google Shape;9738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39" name="Google Shape;9739;p93"/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9740" name="Google Shape;9740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41" name="Google Shape;9741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42" name="Google Shape;9742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43" name="Google Shape;9743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4" name="Google Shape;9744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5" name="Google Shape;9745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6" name="Google Shape;9746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747" name="Google Shape;9747;p93"/>
            <p:cNvSpPr/>
            <p:nvPr/>
          </p:nvSpPr>
          <p:spPr>
            <a:xfrm rot="-2757548">
              <a:off x="9773071" y="2749725"/>
              <a:ext cx="110632" cy="16214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8" name="Google Shape;9748;p93"/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9" name="Google Shape;9749;p93"/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0" name="Google Shape;9750;p93"/>
            <p:cNvSpPr/>
            <p:nvPr/>
          </p:nvSpPr>
          <p:spPr>
            <a:xfrm rot="-431269">
              <a:off x="9181573" y="2978458"/>
              <a:ext cx="132567" cy="1740801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5" name="Shape 9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6" name="Google Shape;9756;p94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/>
              <a:t>SDN: control/data plane interaction example</a:t>
            </a:r>
            <a:endParaRPr/>
          </a:p>
        </p:txBody>
      </p:sp>
      <p:sp>
        <p:nvSpPr>
          <p:cNvPr id="9757" name="Google Shape;9757;p9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58" name="Google Shape;9758;p94"/>
          <p:cNvSpPr/>
          <p:nvPr/>
        </p:nvSpPr>
        <p:spPr>
          <a:xfrm>
            <a:off x="1267886" y="2781457"/>
            <a:ext cx="4211052" cy="1062452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9" name="Google Shape;9759;p94"/>
          <p:cNvSpPr/>
          <p:nvPr/>
        </p:nvSpPr>
        <p:spPr>
          <a:xfrm>
            <a:off x="1294622" y="3977998"/>
            <a:ext cx="4184316" cy="545543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60" name="Google Shape;9760;p94"/>
          <p:cNvCxnSpPr/>
          <p:nvPr/>
        </p:nvCxnSpPr>
        <p:spPr>
          <a:xfrm>
            <a:off x="1334724" y="4626321"/>
            <a:ext cx="4104106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9761" name="Google Shape;9761;p94"/>
          <p:cNvGrpSpPr/>
          <p:nvPr/>
        </p:nvGrpSpPr>
        <p:grpSpPr>
          <a:xfrm>
            <a:off x="1416854" y="3356297"/>
            <a:ext cx="1244650" cy="411995"/>
            <a:chOff x="3128876" y="457817"/>
            <a:chExt cx="1432326" cy="459826"/>
          </a:xfrm>
        </p:grpSpPr>
        <p:sp>
          <p:nvSpPr>
            <p:cNvPr id="9762" name="Google Shape;9762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3" name="Google Shape;9763;p94"/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Link-state info</a:t>
              </a:r>
              <a:endParaRPr/>
            </a:p>
          </p:txBody>
        </p:sp>
      </p:grpSp>
      <p:grpSp>
        <p:nvGrpSpPr>
          <p:cNvPr id="9764" name="Google Shape;9764;p94"/>
          <p:cNvGrpSpPr/>
          <p:nvPr/>
        </p:nvGrpSpPr>
        <p:grpSpPr>
          <a:xfrm>
            <a:off x="4286570" y="3369666"/>
            <a:ext cx="1165638" cy="398626"/>
            <a:chOff x="3034354" y="534843"/>
            <a:chExt cx="1525489" cy="382800"/>
          </a:xfrm>
        </p:grpSpPr>
        <p:sp>
          <p:nvSpPr>
            <p:cNvPr id="9765" name="Google Shape;9765;p94"/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6" name="Google Shape;9766;p94"/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switch info</a:t>
              </a:r>
              <a:endParaRPr/>
            </a:p>
          </p:txBody>
        </p:sp>
      </p:grpSp>
      <p:grpSp>
        <p:nvGrpSpPr>
          <p:cNvPr id="9767" name="Google Shape;9767;p94"/>
          <p:cNvGrpSpPr/>
          <p:nvPr/>
        </p:nvGrpSpPr>
        <p:grpSpPr>
          <a:xfrm>
            <a:off x="2808986" y="3356297"/>
            <a:ext cx="960359" cy="411995"/>
            <a:chOff x="3128876" y="457817"/>
            <a:chExt cx="1432326" cy="459826"/>
          </a:xfrm>
        </p:grpSpPr>
        <p:sp>
          <p:nvSpPr>
            <p:cNvPr id="9768" name="Google Shape;9768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9" name="Google Shape;9769;p94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info</a:t>
              </a:r>
              <a:endParaRPr/>
            </a:p>
          </p:txBody>
        </p:sp>
      </p:grpSp>
      <p:grpSp>
        <p:nvGrpSpPr>
          <p:cNvPr id="9770" name="Google Shape;9770;p94"/>
          <p:cNvGrpSpPr/>
          <p:nvPr/>
        </p:nvGrpSpPr>
        <p:grpSpPr>
          <a:xfrm>
            <a:off x="1348650" y="2861665"/>
            <a:ext cx="889706" cy="382826"/>
            <a:chOff x="3128876" y="457817"/>
            <a:chExt cx="1432326" cy="459826"/>
          </a:xfrm>
        </p:grpSpPr>
        <p:sp>
          <p:nvSpPr>
            <p:cNvPr id="9771" name="Google Shape;9771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2" name="Google Shape;9772;p94"/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statistics</a:t>
              </a:r>
              <a:endParaRPr/>
            </a:p>
          </p:txBody>
        </p:sp>
      </p:grpSp>
      <p:grpSp>
        <p:nvGrpSpPr>
          <p:cNvPr id="9773" name="Google Shape;9773;p94"/>
          <p:cNvGrpSpPr/>
          <p:nvPr/>
        </p:nvGrpSpPr>
        <p:grpSpPr>
          <a:xfrm>
            <a:off x="4076434" y="2848295"/>
            <a:ext cx="1032905" cy="404965"/>
            <a:chOff x="3099264" y="457817"/>
            <a:chExt cx="1540525" cy="459826"/>
          </a:xfrm>
        </p:grpSpPr>
        <p:sp>
          <p:nvSpPr>
            <p:cNvPr id="9774" name="Google Shape;9774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5" name="Google Shape;9775;p94"/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tables</a:t>
              </a:r>
              <a:endParaRPr/>
            </a:p>
          </p:txBody>
        </p:sp>
      </p:grpSp>
      <p:sp>
        <p:nvSpPr>
          <p:cNvPr id="9776" name="Google Shape;9776;p94"/>
          <p:cNvSpPr txBox="1"/>
          <p:nvPr/>
        </p:nvSpPr>
        <p:spPr>
          <a:xfrm>
            <a:off x="3285441" y="2483710"/>
            <a:ext cx="5702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777" name="Google Shape;9777;p94"/>
          <p:cNvSpPr txBox="1"/>
          <p:nvPr/>
        </p:nvSpPr>
        <p:spPr>
          <a:xfrm>
            <a:off x="3831962" y="312050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grpSp>
        <p:nvGrpSpPr>
          <p:cNvPr id="9778" name="Google Shape;9778;p94"/>
          <p:cNvGrpSpPr/>
          <p:nvPr/>
        </p:nvGrpSpPr>
        <p:grpSpPr>
          <a:xfrm>
            <a:off x="1903313" y="4109165"/>
            <a:ext cx="1257452" cy="286824"/>
            <a:chOff x="3128876" y="457775"/>
            <a:chExt cx="1432326" cy="459868"/>
          </a:xfrm>
        </p:grpSpPr>
        <p:sp>
          <p:nvSpPr>
            <p:cNvPr id="9779" name="Google Shape;9779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0" name="Google Shape;9780;p94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OpenFlow</a:t>
              </a:r>
              <a:endParaRPr/>
            </a:p>
          </p:txBody>
        </p:sp>
      </p:grpSp>
      <p:grpSp>
        <p:nvGrpSpPr>
          <p:cNvPr id="9781" name="Google Shape;9781;p94"/>
          <p:cNvGrpSpPr/>
          <p:nvPr/>
        </p:nvGrpSpPr>
        <p:grpSpPr>
          <a:xfrm>
            <a:off x="3772545" y="4113948"/>
            <a:ext cx="1244650" cy="307410"/>
            <a:chOff x="3128876" y="457817"/>
            <a:chExt cx="1432326" cy="459826"/>
          </a:xfrm>
        </p:grpSpPr>
        <p:sp>
          <p:nvSpPr>
            <p:cNvPr id="9782" name="Google Shape;9782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3" name="Google Shape;9783;p94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SNMP</a:t>
              </a:r>
              <a:endParaRPr/>
            </a:p>
          </p:txBody>
        </p:sp>
      </p:grpSp>
      <p:sp>
        <p:nvSpPr>
          <p:cNvPr id="9784" name="Google Shape;9784;p94"/>
          <p:cNvSpPr txBox="1"/>
          <p:nvPr/>
        </p:nvSpPr>
        <p:spPr>
          <a:xfrm>
            <a:off x="3155302" y="378396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785" name="Google Shape;9785;p94"/>
          <p:cNvSpPr/>
          <p:nvPr/>
        </p:nvSpPr>
        <p:spPr>
          <a:xfrm>
            <a:off x="1267885" y="2086297"/>
            <a:ext cx="4211053" cy="574748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86" name="Google Shape;9786;p94"/>
          <p:cNvGrpSpPr/>
          <p:nvPr/>
        </p:nvGrpSpPr>
        <p:grpSpPr>
          <a:xfrm>
            <a:off x="1313282" y="2123346"/>
            <a:ext cx="1080377" cy="504412"/>
            <a:chOff x="3034225" y="436756"/>
            <a:chExt cx="1526977" cy="504412"/>
          </a:xfrm>
        </p:grpSpPr>
        <p:sp>
          <p:nvSpPr>
            <p:cNvPr id="9787" name="Google Shape;9787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8" name="Google Shape;9788;p94"/>
            <p:cNvSpPr txBox="1"/>
            <p:nvPr/>
          </p:nvSpPr>
          <p:spPr>
            <a:xfrm>
              <a:off x="3034225" y="436756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 graph</a:t>
              </a:r>
              <a:endParaRPr/>
            </a:p>
          </p:txBody>
        </p:sp>
      </p:grpSp>
      <p:grpSp>
        <p:nvGrpSpPr>
          <p:cNvPr id="9789" name="Google Shape;9789;p94"/>
          <p:cNvGrpSpPr/>
          <p:nvPr/>
        </p:nvGrpSpPr>
        <p:grpSpPr>
          <a:xfrm>
            <a:off x="4335616" y="2144194"/>
            <a:ext cx="1033900" cy="459826"/>
            <a:chOff x="3103238" y="457817"/>
            <a:chExt cx="1461287" cy="459826"/>
          </a:xfrm>
        </p:grpSpPr>
        <p:sp>
          <p:nvSpPr>
            <p:cNvPr id="9790" name="Google Shape;9790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1" name="Google Shape;9791;p94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intent</a:t>
              </a:r>
              <a:endParaRPr/>
            </a:p>
          </p:txBody>
        </p:sp>
      </p:grpSp>
      <p:grpSp>
        <p:nvGrpSpPr>
          <p:cNvPr id="9792" name="Google Shape;9792;p94"/>
          <p:cNvGrpSpPr/>
          <p:nvPr/>
        </p:nvGrpSpPr>
        <p:grpSpPr>
          <a:xfrm>
            <a:off x="2796533" y="2139558"/>
            <a:ext cx="1033900" cy="504412"/>
            <a:chOff x="3128334" y="454512"/>
            <a:chExt cx="1461287" cy="504412"/>
          </a:xfrm>
        </p:grpSpPr>
        <p:sp>
          <p:nvSpPr>
            <p:cNvPr id="9793" name="Google Shape;9793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4" name="Google Shape;9794;p94"/>
            <p:cNvSpPr txBox="1"/>
            <p:nvPr/>
          </p:nvSpPr>
          <p:spPr>
            <a:xfrm>
              <a:off x="3128334" y="454512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RESTful</a:t>
              </a:r>
              <a:endParaRPr/>
            </a:p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</a:t>
              </a:r>
              <a:endParaRPr/>
            </a:p>
          </p:txBody>
        </p:sp>
      </p:grpSp>
      <p:sp>
        <p:nvSpPr>
          <p:cNvPr id="9795" name="Google Shape;9795;p94"/>
          <p:cNvSpPr txBox="1"/>
          <p:nvPr/>
        </p:nvSpPr>
        <p:spPr>
          <a:xfrm>
            <a:off x="3833899" y="1945433"/>
            <a:ext cx="62790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cxnSp>
        <p:nvCxnSpPr>
          <p:cNvPr id="9796" name="Google Shape;9796;p94"/>
          <p:cNvCxnSpPr/>
          <p:nvPr/>
        </p:nvCxnSpPr>
        <p:spPr>
          <a:xfrm flipH="1" rot="10800000">
            <a:off x="1348096" y="1912530"/>
            <a:ext cx="4117474" cy="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797" name="Google Shape;9797;p94"/>
          <p:cNvSpPr/>
          <p:nvPr/>
        </p:nvSpPr>
        <p:spPr>
          <a:xfrm>
            <a:off x="1335792" y="5057443"/>
            <a:ext cx="4057421" cy="1393030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98" name="Google Shape;9798;p94"/>
          <p:cNvCxnSpPr/>
          <p:nvPr/>
        </p:nvCxnSpPr>
        <p:spPr>
          <a:xfrm flipH="1" rot="10800000">
            <a:off x="2418861" y="5441004"/>
            <a:ext cx="615520" cy="282224"/>
          </a:xfrm>
          <a:prstGeom prst="straightConnector1">
            <a:avLst/>
          </a:prstGeom>
          <a:solidFill>
            <a:srgbClr val="00CC99"/>
          </a:solidFill>
          <a:ln cap="flat" cmpd="sng" w="349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9" name="Google Shape;9799;p94"/>
          <p:cNvCxnSpPr/>
          <p:nvPr/>
        </p:nvCxnSpPr>
        <p:spPr>
          <a:xfrm>
            <a:off x="2408645" y="5746872"/>
            <a:ext cx="1651340" cy="138604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0" name="Google Shape;9800;p94"/>
          <p:cNvCxnSpPr>
            <a:endCxn id="9801" idx="1"/>
          </p:cNvCxnSpPr>
          <p:nvPr/>
        </p:nvCxnSpPr>
        <p:spPr>
          <a:xfrm>
            <a:off x="2418863" y="5803490"/>
            <a:ext cx="318000" cy="3876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2" name="Google Shape;9802;p94"/>
          <p:cNvCxnSpPr>
            <a:stCxn id="9803" idx="3"/>
          </p:cNvCxnSpPr>
          <p:nvPr/>
        </p:nvCxnSpPr>
        <p:spPr>
          <a:xfrm>
            <a:off x="3720713" y="5436854"/>
            <a:ext cx="333000" cy="4212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4" name="Google Shape;9804;p94"/>
          <p:cNvCxnSpPr/>
          <p:nvPr/>
        </p:nvCxnSpPr>
        <p:spPr>
          <a:xfrm flipH="1" rot="10800000">
            <a:off x="3198290" y="5944167"/>
            <a:ext cx="861695" cy="275422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5" name="Google Shape;9805;p94"/>
          <p:cNvSpPr/>
          <p:nvPr/>
        </p:nvSpPr>
        <p:spPr>
          <a:xfrm rot="5400000">
            <a:off x="2797134" y="407053"/>
            <a:ext cx="631007" cy="2235263"/>
          </a:xfrm>
          <a:prstGeom prst="ellipse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bl" dir="18900000" dist="38100">
              <a:srgbClr val="548135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6" name="Google Shape;9806;p94"/>
          <p:cNvSpPr txBox="1"/>
          <p:nvPr/>
        </p:nvSpPr>
        <p:spPr>
          <a:xfrm>
            <a:off x="2135351" y="1323574"/>
            <a:ext cx="1947456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Dijkstra’s link-state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grpSp>
        <p:nvGrpSpPr>
          <p:cNvPr id="9807" name="Google Shape;9807;p94"/>
          <p:cNvGrpSpPr/>
          <p:nvPr/>
        </p:nvGrpSpPr>
        <p:grpSpPr>
          <a:xfrm>
            <a:off x="1748590" y="5523964"/>
            <a:ext cx="687402" cy="470408"/>
            <a:chOff x="1736090" y="2893762"/>
            <a:chExt cx="565150" cy="340093"/>
          </a:xfrm>
        </p:grpSpPr>
        <p:grpSp>
          <p:nvGrpSpPr>
            <p:cNvPr id="9808" name="Google Shape;9808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09" name="Google Shape;9809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0" name="Google Shape;9810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1" name="Google Shape;9811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2" name="Google Shape;9812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3" name="Google Shape;9813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4" name="Google Shape;9814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5" name="Google Shape;9815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16" name="Google Shape;9816;p94"/>
              <p:cNvCxnSpPr>
                <a:endCxn id="9811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17" name="Google Shape;9817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18" name="Google Shape;9818;p94"/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9819" name="Google Shape;9819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0" name="Google Shape;9820;p94"/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s1</a:t>
                </a:r>
                <a:endParaRPr/>
              </a:p>
            </p:txBody>
          </p:sp>
        </p:grpSp>
      </p:grpSp>
      <p:grpSp>
        <p:nvGrpSpPr>
          <p:cNvPr id="9821" name="Google Shape;9821;p94"/>
          <p:cNvGrpSpPr/>
          <p:nvPr/>
        </p:nvGrpSpPr>
        <p:grpSpPr>
          <a:xfrm>
            <a:off x="3033311" y="5232644"/>
            <a:ext cx="687402" cy="470406"/>
            <a:chOff x="1736090" y="2893762"/>
            <a:chExt cx="565150" cy="340091"/>
          </a:xfrm>
        </p:grpSpPr>
        <p:grpSp>
          <p:nvGrpSpPr>
            <p:cNvPr id="9822" name="Google Shape;9822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23" name="Google Shape;9823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03" name="Google Shape;9803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4" name="Google Shape;9824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5" name="Google Shape;9825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6" name="Google Shape;9826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7" name="Google Shape;9827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8" name="Google Shape;9828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29" name="Google Shape;9829;p94"/>
              <p:cNvCxnSpPr>
                <a:endCxn id="9824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30" name="Google Shape;9830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31" name="Google Shape;9831;p9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832" name="Google Shape;9832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3" name="Google Shape;9833;p9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s2</a:t>
                </a:r>
                <a:endParaRPr/>
              </a:p>
            </p:txBody>
          </p:sp>
        </p:grpSp>
      </p:grpSp>
      <p:grpSp>
        <p:nvGrpSpPr>
          <p:cNvPr id="9834" name="Google Shape;9834;p94"/>
          <p:cNvGrpSpPr/>
          <p:nvPr/>
        </p:nvGrpSpPr>
        <p:grpSpPr>
          <a:xfrm>
            <a:off x="2736863" y="5986880"/>
            <a:ext cx="687402" cy="470406"/>
            <a:chOff x="1736090" y="2893762"/>
            <a:chExt cx="565150" cy="340091"/>
          </a:xfrm>
        </p:grpSpPr>
        <p:grpSp>
          <p:nvGrpSpPr>
            <p:cNvPr id="9835" name="Google Shape;9835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36" name="Google Shape;9836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01" name="Google Shape;9801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7" name="Google Shape;9837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8" name="Google Shape;9838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9" name="Google Shape;9839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40" name="Google Shape;9840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41" name="Google Shape;9841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42" name="Google Shape;9842;p94"/>
              <p:cNvCxnSpPr>
                <a:endCxn id="9837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43" name="Google Shape;9843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44" name="Google Shape;9844;p9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845" name="Google Shape;9845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46" name="Google Shape;9846;p9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s3</a:t>
                </a:r>
                <a:endParaRPr/>
              </a:p>
            </p:txBody>
          </p:sp>
        </p:grpSp>
      </p:grpSp>
      <p:grpSp>
        <p:nvGrpSpPr>
          <p:cNvPr id="9847" name="Google Shape;9847;p94"/>
          <p:cNvGrpSpPr/>
          <p:nvPr/>
        </p:nvGrpSpPr>
        <p:grpSpPr>
          <a:xfrm>
            <a:off x="3904271" y="5705754"/>
            <a:ext cx="687402" cy="470406"/>
            <a:chOff x="1736090" y="2893762"/>
            <a:chExt cx="565150" cy="340091"/>
          </a:xfrm>
        </p:grpSpPr>
        <p:grpSp>
          <p:nvGrpSpPr>
            <p:cNvPr id="9848" name="Google Shape;9848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49" name="Google Shape;9849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0" name="Google Shape;9850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1" name="Google Shape;9851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2" name="Google Shape;9852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3" name="Google Shape;9853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4" name="Google Shape;9854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5" name="Google Shape;9855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56" name="Google Shape;9856;p94"/>
              <p:cNvCxnSpPr>
                <a:endCxn id="9851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57" name="Google Shape;9857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58" name="Google Shape;9858;p9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859" name="Google Shape;9859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60" name="Google Shape;9860;p9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s4</a:t>
                </a:r>
                <a:endParaRPr/>
              </a:p>
            </p:txBody>
          </p:sp>
        </p:grpSp>
      </p:grpSp>
      <p:grpSp>
        <p:nvGrpSpPr>
          <p:cNvPr id="9861" name="Google Shape;9861;p94"/>
          <p:cNvGrpSpPr/>
          <p:nvPr/>
        </p:nvGrpSpPr>
        <p:grpSpPr>
          <a:xfrm>
            <a:off x="6763892" y="1425421"/>
            <a:ext cx="4822682" cy="1122684"/>
            <a:chOff x="5326799" y="1281868"/>
            <a:chExt cx="4822682" cy="1122684"/>
          </a:xfrm>
        </p:grpSpPr>
        <p:sp>
          <p:nvSpPr>
            <p:cNvPr id="9862" name="Google Shape;9862;p94"/>
            <p:cNvSpPr txBox="1"/>
            <p:nvPr/>
          </p:nvSpPr>
          <p:spPr>
            <a:xfrm>
              <a:off x="5654650" y="1315023"/>
              <a:ext cx="4494831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S1, experiencing link failure uses OpenFlow port status message to notify controller</a:t>
              </a:r>
              <a:endParaRPr/>
            </a:p>
          </p:txBody>
        </p:sp>
        <p:grpSp>
          <p:nvGrpSpPr>
            <p:cNvPr id="9863" name="Google Shape;9863;p94"/>
            <p:cNvGrpSpPr/>
            <p:nvPr/>
          </p:nvGrpSpPr>
          <p:grpSpPr>
            <a:xfrm>
              <a:off x="5326799" y="1281868"/>
              <a:ext cx="314510" cy="400110"/>
              <a:chOff x="430693" y="1944861"/>
              <a:chExt cx="291062" cy="400110"/>
            </a:xfrm>
          </p:grpSpPr>
          <p:sp>
            <p:nvSpPr>
              <p:cNvPr id="9864" name="Google Shape;9864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5" name="Google Shape;9865;p94"/>
              <p:cNvSpPr txBox="1"/>
              <p:nvPr/>
            </p:nvSpPr>
            <p:spPr>
              <a:xfrm>
                <a:off x="430693" y="1944861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9866" name="Google Shape;9866;p94"/>
          <p:cNvGrpSpPr/>
          <p:nvPr/>
        </p:nvGrpSpPr>
        <p:grpSpPr>
          <a:xfrm>
            <a:off x="6812552" y="2632974"/>
            <a:ext cx="5024543" cy="790285"/>
            <a:chOff x="5330006" y="1281868"/>
            <a:chExt cx="5024543" cy="790285"/>
          </a:xfrm>
        </p:grpSpPr>
        <p:sp>
          <p:nvSpPr>
            <p:cNvPr id="9867" name="Google Shape;9867;p94"/>
            <p:cNvSpPr txBox="1"/>
            <p:nvPr/>
          </p:nvSpPr>
          <p:spPr>
            <a:xfrm>
              <a:off x="5654650" y="1315023"/>
              <a:ext cx="4699899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SDN controller receives OpenFlow message, updates link status info</a:t>
              </a:r>
              <a:endParaRPr/>
            </a:p>
          </p:txBody>
        </p:sp>
        <p:grpSp>
          <p:nvGrpSpPr>
            <p:cNvPr id="9868" name="Google Shape;9868;p94"/>
            <p:cNvGrpSpPr/>
            <p:nvPr/>
          </p:nvGrpSpPr>
          <p:grpSpPr>
            <a:xfrm>
              <a:off x="5330006" y="1281868"/>
              <a:ext cx="314510" cy="400110"/>
              <a:chOff x="433661" y="1944861"/>
              <a:chExt cx="291062" cy="400110"/>
            </a:xfrm>
          </p:grpSpPr>
          <p:sp>
            <p:nvSpPr>
              <p:cNvPr id="9869" name="Google Shape;9869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0" name="Google Shape;9870;p94"/>
              <p:cNvSpPr txBox="1"/>
              <p:nvPr/>
            </p:nvSpPr>
            <p:spPr>
              <a:xfrm>
                <a:off x="433661" y="1944861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9871" name="Google Shape;9871;p94"/>
          <p:cNvGrpSpPr/>
          <p:nvPr/>
        </p:nvGrpSpPr>
        <p:grpSpPr>
          <a:xfrm>
            <a:off x="6821113" y="3557841"/>
            <a:ext cx="5253976" cy="1445458"/>
            <a:chOff x="5333217" y="1291493"/>
            <a:chExt cx="5253976" cy="1445458"/>
          </a:xfrm>
        </p:grpSpPr>
        <p:sp>
          <p:nvSpPr>
            <p:cNvPr id="9872" name="Google Shape;9872;p94"/>
            <p:cNvSpPr txBox="1"/>
            <p:nvPr/>
          </p:nvSpPr>
          <p:spPr>
            <a:xfrm>
              <a:off x="5654650" y="1315023"/>
              <a:ext cx="4932543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Dijkstra’s routing algorithm application has previously registered to be called when ever link status changes.  It is called.</a:t>
              </a:r>
              <a:endParaRPr/>
            </a:p>
          </p:txBody>
        </p:sp>
        <p:grpSp>
          <p:nvGrpSpPr>
            <p:cNvPr id="9873" name="Google Shape;9873;p94"/>
            <p:cNvGrpSpPr/>
            <p:nvPr/>
          </p:nvGrpSpPr>
          <p:grpSpPr>
            <a:xfrm>
              <a:off x="5333217" y="1291493"/>
              <a:ext cx="314510" cy="400110"/>
              <a:chOff x="436633" y="1954486"/>
              <a:chExt cx="291062" cy="400110"/>
            </a:xfrm>
          </p:grpSpPr>
          <p:sp>
            <p:nvSpPr>
              <p:cNvPr id="9874" name="Google Shape;9874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5" name="Google Shape;9875;p94"/>
              <p:cNvSpPr txBox="1"/>
              <p:nvPr/>
            </p:nvSpPr>
            <p:spPr>
              <a:xfrm>
                <a:off x="436633" y="1954486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9876" name="Google Shape;9876;p94"/>
          <p:cNvGrpSpPr/>
          <p:nvPr/>
        </p:nvGrpSpPr>
        <p:grpSpPr>
          <a:xfrm>
            <a:off x="6800258" y="5062185"/>
            <a:ext cx="4748738" cy="1448665"/>
            <a:chOff x="5320381" y="1288286"/>
            <a:chExt cx="4748738" cy="1448665"/>
          </a:xfrm>
        </p:grpSpPr>
        <p:sp>
          <p:nvSpPr>
            <p:cNvPr id="9877" name="Google Shape;9877;p94"/>
            <p:cNvSpPr txBox="1"/>
            <p:nvPr/>
          </p:nvSpPr>
          <p:spPr>
            <a:xfrm>
              <a:off x="5654650" y="1315023"/>
              <a:ext cx="4414469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Dijkstra’s routing algorithm access network graph info, link state info in controller,  computes new routes</a:t>
              </a:r>
              <a:endParaRPr/>
            </a:p>
          </p:txBody>
        </p:sp>
        <p:grpSp>
          <p:nvGrpSpPr>
            <p:cNvPr id="9878" name="Google Shape;9878;p94"/>
            <p:cNvGrpSpPr/>
            <p:nvPr/>
          </p:nvGrpSpPr>
          <p:grpSpPr>
            <a:xfrm>
              <a:off x="5320381" y="1288286"/>
              <a:ext cx="314510" cy="400110"/>
              <a:chOff x="424754" y="1951279"/>
              <a:chExt cx="291062" cy="400110"/>
            </a:xfrm>
          </p:grpSpPr>
          <p:sp>
            <p:nvSpPr>
              <p:cNvPr id="9879" name="Google Shape;9879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0" name="Google Shape;9880;p94"/>
              <p:cNvSpPr txBox="1"/>
              <p:nvPr/>
            </p:nvSpPr>
            <p:spPr>
              <a:xfrm>
                <a:off x="424754" y="1951279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</p:grpSp>
      <p:grpSp>
        <p:nvGrpSpPr>
          <p:cNvPr id="9881" name="Google Shape;9881;p94"/>
          <p:cNvGrpSpPr/>
          <p:nvPr/>
        </p:nvGrpSpPr>
        <p:grpSpPr>
          <a:xfrm>
            <a:off x="2312276" y="4225159"/>
            <a:ext cx="677917" cy="1261241"/>
            <a:chOff x="2312276" y="4225159"/>
            <a:chExt cx="677917" cy="1261241"/>
          </a:xfrm>
        </p:grpSpPr>
        <p:sp>
          <p:nvSpPr>
            <p:cNvPr id="9882" name="Google Shape;9882;p94"/>
            <p:cNvSpPr/>
            <p:nvPr/>
          </p:nvSpPr>
          <p:spPr>
            <a:xfrm>
              <a:off x="2312276" y="4225159"/>
              <a:ext cx="677917" cy="1261241"/>
            </a:xfrm>
            <a:custGeom>
              <a:rect b="b" l="l" r="r" t="t"/>
              <a:pathLst>
                <a:path extrusionOk="0" h="1261241" w="677917">
                  <a:moveTo>
                    <a:pt x="0" y="1261241"/>
                  </a:moveTo>
                  <a:lnTo>
                    <a:pt x="677917" y="178675"/>
                  </a:lnTo>
                  <a:lnTo>
                    <a:pt x="677917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3" name="Google Shape;9883;p94"/>
            <p:cNvGrpSpPr/>
            <p:nvPr/>
          </p:nvGrpSpPr>
          <p:grpSpPr>
            <a:xfrm>
              <a:off x="2499117" y="4791488"/>
              <a:ext cx="313044" cy="369332"/>
              <a:chOff x="-17363" y="1958857"/>
              <a:chExt cx="313044" cy="369332"/>
            </a:xfrm>
          </p:grpSpPr>
          <p:sp>
            <p:nvSpPr>
              <p:cNvPr id="9884" name="Google Shape;9884;p94"/>
              <p:cNvSpPr/>
              <p:nvPr/>
            </p:nvSpPr>
            <p:spPr>
              <a:xfrm>
                <a:off x="17117" y="201041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5" name="Google Shape;9885;p94"/>
              <p:cNvSpPr txBox="1"/>
              <p:nvPr/>
            </p:nvSpPr>
            <p:spPr>
              <a:xfrm>
                <a:off x="-17363" y="195885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9886" name="Google Shape;9886;p94"/>
          <p:cNvGrpSpPr/>
          <p:nvPr/>
        </p:nvGrpSpPr>
        <p:grpSpPr>
          <a:xfrm>
            <a:off x="2292350" y="3432175"/>
            <a:ext cx="698500" cy="793750"/>
            <a:chOff x="2292350" y="3432175"/>
            <a:chExt cx="698500" cy="793750"/>
          </a:xfrm>
        </p:grpSpPr>
        <p:sp>
          <p:nvSpPr>
            <p:cNvPr id="9887" name="Google Shape;9887;p94"/>
            <p:cNvSpPr/>
            <p:nvPr/>
          </p:nvSpPr>
          <p:spPr>
            <a:xfrm>
              <a:off x="2292350" y="3432175"/>
              <a:ext cx="698500" cy="793750"/>
            </a:xfrm>
            <a:custGeom>
              <a:rect b="b" l="l" r="r" t="t"/>
              <a:pathLst>
                <a:path extrusionOk="0" h="793750" w="698500">
                  <a:moveTo>
                    <a:pt x="698500" y="793750"/>
                  </a:moveTo>
                  <a:lnTo>
                    <a:pt x="698500" y="508000"/>
                  </a:lnTo>
                  <a:lnTo>
                    <a:pt x="0" y="269875"/>
                  </a:lnTo>
                  <a:lnTo>
                    <a:pt x="0" y="0"/>
                  </a:lnTo>
                  <a:lnTo>
                    <a:pt x="0" y="3175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8" name="Google Shape;9888;p94"/>
            <p:cNvGrpSpPr/>
            <p:nvPr/>
          </p:nvGrpSpPr>
          <p:grpSpPr>
            <a:xfrm>
              <a:off x="2576070" y="3664008"/>
              <a:ext cx="313044" cy="369332"/>
              <a:chOff x="2576070" y="3664008"/>
              <a:chExt cx="313044" cy="369332"/>
            </a:xfrm>
          </p:grpSpPr>
          <p:sp>
            <p:nvSpPr>
              <p:cNvPr id="9889" name="Google Shape;9889;p94"/>
              <p:cNvSpPr/>
              <p:nvPr/>
            </p:nvSpPr>
            <p:spPr>
              <a:xfrm>
                <a:off x="2602120" y="3719723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0" name="Google Shape;9890;p94"/>
              <p:cNvSpPr txBox="1"/>
              <p:nvPr/>
            </p:nvSpPr>
            <p:spPr>
              <a:xfrm>
                <a:off x="2576070" y="3664008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grpSp>
        <p:nvGrpSpPr>
          <p:cNvPr id="9891" name="Google Shape;9891;p94"/>
          <p:cNvGrpSpPr/>
          <p:nvPr/>
        </p:nvGrpSpPr>
        <p:grpSpPr>
          <a:xfrm>
            <a:off x="2137625" y="1774825"/>
            <a:ext cx="313044" cy="1663700"/>
            <a:chOff x="2134450" y="1762125"/>
            <a:chExt cx="313044" cy="1663700"/>
          </a:xfrm>
        </p:grpSpPr>
        <p:sp>
          <p:nvSpPr>
            <p:cNvPr id="9892" name="Google Shape;9892;p94"/>
            <p:cNvSpPr/>
            <p:nvPr/>
          </p:nvSpPr>
          <p:spPr>
            <a:xfrm>
              <a:off x="2273300" y="1762125"/>
              <a:ext cx="15875" cy="1663700"/>
            </a:xfrm>
            <a:custGeom>
              <a:rect b="b" l="l" r="r" t="t"/>
              <a:pathLst>
                <a:path extrusionOk="0" h="1663700" w="15875">
                  <a:moveTo>
                    <a:pt x="15875" y="1663700"/>
                  </a:moveTo>
                  <a:lnTo>
                    <a:pt x="1587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93" name="Google Shape;9893;p94"/>
            <p:cNvGrpSpPr/>
            <p:nvPr/>
          </p:nvGrpSpPr>
          <p:grpSpPr>
            <a:xfrm>
              <a:off x="2134450" y="2567187"/>
              <a:ext cx="313044" cy="369332"/>
              <a:chOff x="1712175" y="2510037"/>
              <a:chExt cx="313044" cy="369332"/>
            </a:xfrm>
          </p:grpSpPr>
          <p:sp>
            <p:nvSpPr>
              <p:cNvPr id="9894" name="Google Shape;9894;p94"/>
              <p:cNvSpPr/>
              <p:nvPr/>
            </p:nvSpPr>
            <p:spPr>
              <a:xfrm>
                <a:off x="1744575" y="256892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5" name="Google Shape;9895;p94"/>
              <p:cNvSpPr txBox="1"/>
              <p:nvPr/>
            </p:nvSpPr>
            <p:spPr>
              <a:xfrm>
                <a:off x="1712175" y="251003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grpSp>
        <p:nvGrpSpPr>
          <p:cNvPr id="9896" name="Google Shape;9896;p94"/>
          <p:cNvGrpSpPr/>
          <p:nvPr/>
        </p:nvGrpSpPr>
        <p:grpSpPr>
          <a:xfrm>
            <a:off x="2349183" y="1803400"/>
            <a:ext cx="313044" cy="1539875"/>
            <a:chOff x="2349183" y="1803400"/>
            <a:chExt cx="313044" cy="1539875"/>
          </a:xfrm>
        </p:grpSpPr>
        <p:cxnSp>
          <p:nvCxnSpPr>
            <p:cNvPr id="9897" name="Google Shape;9897;p94"/>
            <p:cNvCxnSpPr/>
            <p:nvPr/>
          </p:nvCxnSpPr>
          <p:spPr>
            <a:xfrm>
              <a:off x="2498725" y="1803400"/>
              <a:ext cx="0" cy="1539875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9898" name="Google Shape;9898;p94"/>
            <p:cNvGrpSpPr/>
            <p:nvPr/>
          </p:nvGrpSpPr>
          <p:grpSpPr>
            <a:xfrm>
              <a:off x="2349183" y="1906331"/>
              <a:ext cx="313044" cy="369332"/>
              <a:chOff x="415641" y="1967287"/>
              <a:chExt cx="313044" cy="369332"/>
            </a:xfrm>
          </p:grpSpPr>
          <p:sp>
            <p:nvSpPr>
              <p:cNvPr id="9899" name="Google Shape;9899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0" name="Google Shape;9900;p94"/>
              <p:cNvSpPr txBox="1"/>
              <p:nvPr/>
            </p:nvSpPr>
            <p:spPr>
              <a:xfrm>
                <a:off x="415641" y="196728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5" name="Shape 9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6" name="Google Shape;9906;p95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/>
              <a:t>SDN: control/data plane interaction example</a:t>
            </a:r>
            <a:endParaRPr/>
          </a:p>
        </p:txBody>
      </p:sp>
      <p:sp>
        <p:nvSpPr>
          <p:cNvPr id="9907" name="Google Shape;9907;p9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08" name="Google Shape;9908;p95"/>
          <p:cNvSpPr/>
          <p:nvPr/>
        </p:nvSpPr>
        <p:spPr>
          <a:xfrm>
            <a:off x="1267886" y="2781457"/>
            <a:ext cx="4211052" cy="1062452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9" name="Google Shape;9909;p95"/>
          <p:cNvSpPr/>
          <p:nvPr/>
        </p:nvSpPr>
        <p:spPr>
          <a:xfrm>
            <a:off x="1294622" y="3977998"/>
            <a:ext cx="4184316" cy="545543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10" name="Google Shape;9910;p95"/>
          <p:cNvCxnSpPr/>
          <p:nvPr/>
        </p:nvCxnSpPr>
        <p:spPr>
          <a:xfrm>
            <a:off x="1334724" y="4626321"/>
            <a:ext cx="4104106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9911" name="Google Shape;9911;p95"/>
          <p:cNvGrpSpPr/>
          <p:nvPr/>
        </p:nvGrpSpPr>
        <p:grpSpPr>
          <a:xfrm>
            <a:off x="1416854" y="3356297"/>
            <a:ext cx="1244650" cy="411995"/>
            <a:chOff x="3128876" y="457817"/>
            <a:chExt cx="1432326" cy="459826"/>
          </a:xfrm>
        </p:grpSpPr>
        <p:sp>
          <p:nvSpPr>
            <p:cNvPr id="9912" name="Google Shape;9912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3" name="Google Shape;9913;p95"/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Link-state info</a:t>
              </a:r>
              <a:endParaRPr/>
            </a:p>
          </p:txBody>
        </p:sp>
      </p:grpSp>
      <p:grpSp>
        <p:nvGrpSpPr>
          <p:cNvPr id="9914" name="Google Shape;9914;p95"/>
          <p:cNvGrpSpPr/>
          <p:nvPr/>
        </p:nvGrpSpPr>
        <p:grpSpPr>
          <a:xfrm>
            <a:off x="4286570" y="3369666"/>
            <a:ext cx="1165638" cy="398626"/>
            <a:chOff x="3034354" y="534843"/>
            <a:chExt cx="1525489" cy="382800"/>
          </a:xfrm>
        </p:grpSpPr>
        <p:sp>
          <p:nvSpPr>
            <p:cNvPr id="9915" name="Google Shape;9915;p95"/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6" name="Google Shape;9916;p95"/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switch info</a:t>
              </a:r>
              <a:endParaRPr/>
            </a:p>
          </p:txBody>
        </p:sp>
      </p:grpSp>
      <p:grpSp>
        <p:nvGrpSpPr>
          <p:cNvPr id="9917" name="Google Shape;9917;p95"/>
          <p:cNvGrpSpPr/>
          <p:nvPr/>
        </p:nvGrpSpPr>
        <p:grpSpPr>
          <a:xfrm>
            <a:off x="2808986" y="3356297"/>
            <a:ext cx="960359" cy="411995"/>
            <a:chOff x="3128876" y="457817"/>
            <a:chExt cx="1432326" cy="459826"/>
          </a:xfrm>
        </p:grpSpPr>
        <p:sp>
          <p:nvSpPr>
            <p:cNvPr id="9918" name="Google Shape;9918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9" name="Google Shape;9919;p95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info</a:t>
              </a:r>
              <a:endParaRPr/>
            </a:p>
          </p:txBody>
        </p:sp>
      </p:grpSp>
      <p:grpSp>
        <p:nvGrpSpPr>
          <p:cNvPr id="9920" name="Google Shape;9920;p95"/>
          <p:cNvGrpSpPr/>
          <p:nvPr/>
        </p:nvGrpSpPr>
        <p:grpSpPr>
          <a:xfrm>
            <a:off x="1348650" y="2861665"/>
            <a:ext cx="889706" cy="382826"/>
            <a:chOff x="3128876" y="457817"/>
            <a:chExt cx="1432326" cy="459826"/>
          </a:xfrm>
        </p:grpSpPr>
        <p:sp>
          <p:nvSpPr>
            <p:cNvPr id="9921" name="Google Shape;9921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2" name="Google Shape;9922;p95"/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statistics</a:t>
              </a:r>
              <a:endParaRPr/>
            </a:p>
          </p:txBody>
        </p:sp>
      </p:grpSp>
      <p:grpSp>
        <p:nvGrpSpPr>
          <p:cNvPr id="9923" name="Google Shape;9923;p95"/>
          <p:cNvGrpSpPr/>
          <p:nvPr/>
        </p:nvGrpSpPr>
        <p:grpSpPr>
          <a:xfrm>
            <a:off x="4076434" y="2848295"/>
            <a:ext cx="1032905" cy="404965"/>
            <a:chOff x="3099264" y="457817"/>
            <a:chExt cx="1540525" cy="459826"/>
          </a:xfrm>
        </p:grpSpPr>
        <p:sp>
          <p:nvSpPr>
            <p:cNvPr id="9924" name="Google Shape;9924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5" name="Google Shape;9925;p95"/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tables</a:t>
              </a:r>
              <a:endParaRPr/>
            </a:p>
          </p:txBody>
        </p:sp>
      </p:grpSp>
      <p:sp>
        <p:nvSpPr>
          <p:cNvPr id="9926" name="Google Shape;9926;p95"/>
          <p:cNvSpPr txBox="1"/>
          <p:nvPr/>
        </p:nvSpPr>
        <p:spPr>
          <a:xfrm>
            <a:off x="3285441" y="2483710"/>
            <a:ext cx="5702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927" name="Google Shape;9927;p95"/>
          <p:cNvSpPr txBox="1"/>
          <p:nvPr/>
        </p:nvSpPr>
        <p:spPr>
          <a:xfrm>
            <a:off x="3831962" y="312050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grpSp>
        <p:nvGrpSpPr>
          <p:cNvPr id="9928" name="Google Shape;9928;p95"/>
          <p:cNvGrpSpPr/>
          <p:nvPr/>
        </p:nvGrpSpPr>
        <p:grpSpPr>
          <a:xfrm>
            <a:off x="1903313" y="4109165"/>
            <a:ext cx="1257452" cy="286824"/>
            <a:chOff x="3128876" y="457775"/>
            <a:chExt cx="1432326" cy="459868"/>
          </a:xfrm>
        </p:grpSpPr>
        <p:sp>
          <p:nvSpPr>
            <p:cNvPr id="9929" name="Google Shape;9929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0" name="Google Shape;9930;p95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OpenFlow</a:t>
              </a:r>
              <a:endParaRPr/>
            </a:p>
          </p:txBody>
        </p:sp>
      </p:grpSp>
      <p:grpSp>
        <p:nvGrpSpPr>
          <p:cNvPr id="9931" name="Google Shape;9931;p95"/>
          <p:cNvGrpSpPr/>
          <p:nvPr/>
        </p:nvGrpSpPr>
        <p:grpSpPr>
          <a:xfrm>
            <a:off x="3772545" y="4113948"/>
            <a:ext cx="1244650" cy="307410"/>
            <a:chOff x="3128876" y="457817"/>
            <a:chExt cx="1432326" cy="459826"/>
          </a:xfrm>
        </p:grpSpPr>
        <p:sp>
          <p:nvSpPr>
            <p:cNvPr id="9932" name="Google Shape;9932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3" name="Google Shape;9933;p95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SNMP</a:t>
              </a:r>
              <a:endParaRPr/>
            </a:p>
          </p:txBody>
        </p:sp>
      </p:grpSp>
      <p:sp>
        <p:nvSpPr>
          <p:cNvPr id="9934" name="Google Shape;9934;p95"/>
          <p:cNvSpPr txBox="1"/>
          <p:nvPr/>
        </p:nvSpPr>
        <p:spPr>
          <a:xfrm>
            <a:off x="3155302" y="378396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935" name="Google Shape;9935;p95"/>
          <p:cNvSpPr/>
          <p:nvPr/>
        </p:nvSpPr>
        <p:spPr>
          <a:xfrm>
            <a:off x="1267885" y="2086297"/>
            <a:ext cx="4211053" cy="574748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36" name="Google Shape;9936;p95"/>
          <p:cNvGrpSpPr/>
          <p:nvPr/>
        </p:nvGrpSpPr>
        <p:grpSpPr>
          <a:xfrm>
            <a:off x="1313282" y="2123346"/>
            <a:ext cx="1080377" cy="504412"/>
            <a:chOff x="3034225" y="436756"/>
            <a:chExt cx="1526977" cy="504412"/>
          </a:xfrm>
        </p:grpSpPr>
        <p:sp>
          <p:nvSpPr>
            <p:cNvPr id="9937" name="Google Shape;9937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8" name="Google Shape;9938;p95"/>
            <p:cNvSpPr txBox="1"/>
            <p:nvPr/>
          </p:nvSpPr>
          <p:spPr>
            <a:xfrm>
              <a:off x="3034225" y="436756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 graph</a:t>
              </a:r>
              <a:endParaRPr/>
            </a:p>
          </p:txBody>
        </p:sp>
      </p:grpSp>
      <p:grpSp>
        <p:nvGrpSpPr>
          <p:cNvPr id="9939" name="Google Shape;9939;p95"/>
          <p:cNvGrpSpPr/>
          <p:nvPr/>
        </p:nvGrpSpPr>
        <p:grpSpPr>
          <a:xfrm>
            <a:off x="4335616" y="2144194"/>
            <a:ext cx="1033900" cy="459826"/>
            <a:chOff x="3103238" y="457817"/>
            <a:chExt cx="1461287" cy="459826"/>
          </a:xfrm>
        </p:grpSpPr>
        <p:sp>
          <p:nvSpPr>
            <p:cNvPr id="9940" name="Google Shape;9940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1" name="Google Shape;9941;p95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intent</a:t>
              </a:r>
              <a:endParaRPr/>
            </a:p>
          </p:txBody>
        </p:sp>
      </p:grpSp>
      <p:grpSp>
        <p:nvGrpSpPr>
          <p:cNvPr id="9942" name="Google Shape;9942;p95"/>
          <p:cNvGrpSpPr/>
          <p:nvPr/>
        </p:nvGrpSpPr>
        <p:grpSpPr>
          <a:xfrm>
            <a:off x="2796533" y="2139558"/>
            <a:ext cx="1033900" cy="504412"/>
            <a:chOff x="3128334" y="454512"/>
            <a:chExt cx="1461287" cy="504412"/>
          </a:xfrm>
        </p:grpSpPr>
        <p:sp>
          <p:nvSpPr>
            <p:cNvPr id="9943" name="Google Shape;9943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4" name="Google Shape;9944;p95"/>
            <p:cNvSpPr txBox="1"/>
            <p:nvPr/>
          </p:nvSpPr>
          <p:spPr>
            <a:xfrm>
              <a:off x="3128334" y="454512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RESTful</a:t>
              </a:r>
              <a:endParaRPr/>
            </a:p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</a:t>
              </a:r>
              <a:endParaRPr/>
            </a:p>
          </p:txBody>
        </p:sp>
      </p:grpSp>
      <p:sp>
        <p:nvSpPr>
          <p:cNvPr id="9945" name="Google Shape;9945;p95"/>
          <p:cNvSpPr txBox="1"/>
          <p:nvPr/>
        </p:nvSpPr>
        <p:spPr>
          <a:xfrm>
            <a:off x="3833899" y="1945433"/>
            <a:ext cx="62790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cxnSp>
        <p:nvCxnSpPr>
          <p:cNvPr id="9946" name="Google Shape;9946;p95"/>
          <p:cNvCxnSpPr/>
          <p:nvPr/>
        </p:nvCxnSpPr>
        <p:spPr>
          <a:xfrm flipH="1" rot="10800000">
            <a:off x="1348096" y="1912530"/>
            <a:ext cx="4117474" cy="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947" name="Google Shape;9947;p95"/>
          <p:cNvSpPr/>
          <p:nvPr/>
        </p:nvSpPr>
        <p:spPr>
          <a:xfrm>
            <a:off x="1335792" y="5057443"/>
            <a:ext cx="4057421" cy="1393030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48" name="Google Shape;9948;p95"/>
          <p:cNvCxnSpPr/>
          <p:nvPr/>
        </p:nvCxnSpPr>
        <p:spPr>
          <a:xfrm>
            <a:off x="2408645" y="5746872"/>
            <a:ext cx="1651340" cy="138604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9" name="Google Shape;9949;p95"/>
          <p:cNvCxnSpPr>
            <a:endCxn id="9950" idx="1"/>
          </p:cNvCxnSpPr>
          <p:nvPr/>
        </p:nvCxnSpPr>
        <p:spPr>
          <a:xfrm>
            <a:off x="2418863" y="5803490"/>
            <a:ext cx="318000" cy="3876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1" name="Google Shape;9951;p95"/>
          <p:cNvCxnSpPr>
            <a:stCxn id="9952" idx="3"/>
          </p:cNvCxnSpPr>
          <p:nvPr/>
        </p:nvCxnSpPr>
        <p:spPr>
          <a:xfrm>
            <a:off x="3720713" y="5436854"/>
            <a:ext cx="333000" cy="4212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3" name="Google Shape;9953;p95"/>
          <p:cNvCxnSpPr/>
          <p:nvPr/>
        </p:nvCxnSpPr>
        <p:spPr>
          <a:xfrm flipH="1" rot="10800000">
            <a:off x="3198290" y="5944167"/>
            <a:ext cx="861695" cy="275422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54" name="Google Shape;9954;p95"/>
          <p:cNvSpPr/>
          <p:nvPr/>
        </p:nvSpPr>
        <p:spPr>
          <a:xfrm rot="5400000">
            <a:off x="2797134" y="407053"/>
            <a:ext cx="631007" cy="2235263"/>
          </a:xfrm>
          <a:prstGeom prst="ellipse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bl" dir="18900000" dist="38100">
              <a:srgbClr val="548135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5" name="Google Shape;9955;p95"/>
          <p:cNvSpPr txBox="1"/>
          <p:nvPr/>
        </p:nvSpPr>
        <p:spPr>
          <a:xfrm>
            <a:off x="2135351" y="1323574"/>
            <a:ext cx="1947456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Dijkstra’s link-state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grpSp>
        <p:nvGrpSpPr>
          <p:cNvPr id="9956" name="Google Shape;9956;p95"/>
          <p:cNvGrpSpPr/>
          <p:nvPr/>
        </p:nvGrpSpPr>
        <p:grpSpPr>
          <a:xfrm>
            <a:off x="1748590" y="5523964"/>
            <a:ext cx="687402" cy="470408"/>
            <a:chOff x="1736090" y="2893762"/>
            <a:chExt cx="565150" cy="340093"/>
          </a:xfrm>
        </p:grpSpPr>
        <p:grpSp>
          <p:nvGrpSpPr>
            <p:cNvPr id="9957" name="Google Shape;9957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58" name="Google Shape;9958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59" name="Google Shape;9959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0" name="Google Shape;9960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1" name="Google Shape;9961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2" name="Google Shape;9962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3" name="Google Shape;9963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4" name="Google Shape;9964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65" name="Google Shape;9965;p95"/>
              <p:cNvCxnSpPr>
                <a:endCxn id="9960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966" name="Google Shape;9966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967" name="Google Shape;9967;p95"/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9968" name="Google Shape;9968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9" name="Google Shape;9969;p95"/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s1</a:t>
                </a:r>
                <a:endParaRPr/>
              </a:p>
            </p:txBody>
          </p:sp>
        </p:grpSp>
      </p:grpSp>
      <p:grpSp>
        <p:nvGrpSpPr>
          <p:cNvPr id="9970" name="Google Shape;9970;p95"/>
          <p:cNvGrpSpPr/>
          <p:nvPr/>
        </p:nvGrpSpPr>
        <p:grpSpPr>
          <a:xfrm>
            <a:off x="3033311" y="5232644"/>
            <a:ext cx="687402" cy="470406"/>
            <a:chOff x="1736090" y="2893762"/>
            <a:chExt cx="565150" cy="340091"/>
          </a:xfrm>
        </p:grpSpPr>
        <p:grpSp>
          <p:nvGrpSpPr>
            <p:cNvPr id="9971" name="Google Shape;9971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72" name="Google Shape;9972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52" name="Google Shape;9952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3" name="Google Shape;9973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4" name="Google Shape;9974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5" name="Google Shape;9975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6" name="Google Shape;9976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7" name="Google Shape;9977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78" name="Google Shape;9978;p95"/>
              <p:cNvCxnSpPr>
                <a:endCxn id="9973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979" name="Google Shape;9979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980" name="Google Shape;9980;p95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981" name="Google Shape;9981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2" name="Google Shape;9982;p95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s2</a:t>
                </a:r>
                <a:endParaRPr/>
              </a:p>
            </p:txBody>
          </p:sp>
        </p:grpSp>
      </p:grpSp>
      <p:grpSp>
        <p:nvGrpSpPr>
          <p:cNvPr id="9983" name="Google Shape;9983;p95"/>
          <p:cNvGrpSpPr/>
          <p:nvPr/>
        </p:nvGrpSpPr>
        <p:grpSpPr>
          <a:xfrm>
            <a:off x="2736863" y="5986880"/>
            <a:ext cx="687402" cy="470406"/>
            <a:chOff x="1736090" y="2893762"/>
            <a:chExt cx="565150" cy="340091"/>
          </a:xfrm>
        </p:grpSpPr>
        <p:grpSp>
          <p:nvGrpSpPr>
            <p:cNvPr id="9984" name="Google Shape;9984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85" name="Google Shape;9985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50" name="Google Shape;9950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6" name="Google Shape;9986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7" name="Google Shape;9987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8" name="Google Shape;9988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9" name="Google Shape;9989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90" name="Google Shape;9990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91" name="Google Shape;9991;p95"/>
              <p:cNvCxnSpPr>
                <a:endCxn id="9986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992" name="Google Shape;9992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993" name="Google Shape;9993;p95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994" name="Google Shape;9994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95" name="Google Shape;9995;p95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s3</a:t>
                </a:r>
                <a:endParaRPr/>
              </a:p>
            </p:txBody>
          </p:sp>
        </p:grpSp>
      </p:grpSp>
      <p:grpSp>
        <p:nvGrpSpPr>
          <p:cNvPr id="9996" name="Google Shape;9996;p95"/>
          <p:cNvGrpSpPr/>
          <p:nvPr/>
        </p:nvGrpSpPr>
        <p:grpSpPr>
          <a:xfrm>
            <a:off x="3904271" y="5705754"/>
            <a:ext cx="687402" cy="470406"/>
            <a:chOff x="1736090" y="2893762"/>
            <a:chExt cx="565150" cy="340091"/>
          </a:xfrm>
        </p:grpSpPr>
        <p:grpSp>
          <p:nvGrpSpPr>
            <p:cNvPr id="9997" name="Google Shape;9997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98" name="Google Shape;9998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99" name="Google Shape;9999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0" name="Google Shape;10000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1" name="Google Shape;10001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2" name="Google Shape;10002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3" name="Google Shape;10003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4" name="Google Shape;10004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005" name="Google Shape;10005;p95"/>
              <p:cNvCxnSpPr>
                <a:endCxn id="10000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0006" name="Google Shape;10006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10007" name="Google Shape;10007;p95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10008" name="Google Shape;10008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9" name="Google Shape;10009;p95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s4</a:t>
                </a:r>
                <a:endParaRPr/>
              </a:p>
            </p:txBody>
          </p:sp>
        </p:grpSp>
      </p:grpSp>
      <p:grpSp>
        <p:nvGrpSpPr>
          <p:cNvPr id="10010" name="Google Shape;10010;p95"/>
          <p:cNvGrpSpPr/>
          <p:nvPr/>
        </p:nvGrpSpPr>
        <p:grpSpPr>
          <a:xfrm>
            <a:off x="6821848" y="2223893"/>
            <a:ext cx="4764727" cy="1773227"/>
            <a:chOff x="5333952" y="1296122"/>
            <a:chExt cx="4764727" cy="1773227"/>
          </a:xfrm>
        </p:grpSpPr>
        <p:sp>
          <p:nvSpPr>
            <p:cNvPr id="10011" name="Google Shape;10011;p95"/>
            <p:cNvSpPr txBox="1"/>
            <p:nvPr/>
          </p:nvSpPr>
          <p:spPr>
            <a:xfrm>
              <a:off x="5654651" y="1315023"/>
              <a:ext cx="4444028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 state routing app interacts with flow-table-computation component in SDN controller, which computes new flow tables needed</a:t>
              </a:r>
              <a:endParaRPr/>
            </a:p>
          </p:txBody>
        </p:sp>
        <p:grpSp>
          <p:nvGrpSpPr>
            <p:cNvPr id="10012" name="Google Shape;10012;p95"/>
            <p:cNvGrpSpPr/>
            <p:nvPr/>
          </p:nvGrpSpPr>
          <p:grpSpPr>
            <a:xfrm>
              <a:off x="5333952" y="1296122"/>
              <a:ext cx="314510" cy="400110"/>
              <a:chOff x="437313" y="1959115"/>
              <a:chExt cx="291062" cy="400110"/>
            </a:xfrm>
          </p:grpSpPr>
          <p:sp>
            <p:nvSpPr>
              <p:cNvPr id="10013" name="Google Shape;10013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4" name="Google Shape;10014;p95"/>
              <p:cNvSpPr txBox="1"/>
              <p:nvPr/>
            </p:nvSpPr>
            <p:spPr>
              <a:xfrm>
                <a:off x="437313" y="1959115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</p:grpSp>
      </p:grpSp>
      <p:grpSp>
        <p:nvGrpSpPr>
          <p:cNvPr id="10015" name="Google Shape;10015;p95"/>
          <p:cNvGrpSpPr/>
          <p:nvPr/>
        </p:nvGrpSpPr>
        <p:grpSpPr>
          <a:xfrm>
            <a:off x="6797561" y="4172683"/>
            <a:ext cx="4450811" cy="1103433"/>
            <a:chOff x="5318962" y="1301119"/>
            <a:chExt cx="4450811" cy="1103433"/>
          </a:xfrm>
        </p:grpSpPr>
        <p:sp>
          <p:nvSpPr>
            <p:cNvPr id="10016" name="Google Shape;10016;p95"/>
            <p:cNvSpPr txBox="1"/>
            <p:nvPr/>
          </p:nvSpPr>
          <p:spPr>
            <a:xfrm>
              <a:off x="5654650" y="1315023"/>
              <a:ext cx="4115123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controller uses OpenFlow to install new tables in switches that need updating</a:t>
              </a:r>
              <a:endParaRPr/>
            </a:p>
          </p:txBody>
        </p:sp>
        <p:grpSp>
          <p:nvGrpSpPr>
            <p:cNvPr id="10017" name="Google Shape;10017;p95"/>
            <p:cNvGrpSpPr/>
            <p:nvPr/>
          </p:nvGrpSpPr>
          <p:grpSpPr>
            <a:xfrm>
              <a:off x="5318962" y="1301119"/>
              <a:ext cx="314510" cy="400110"/>
              <a:chOff x="423441" y="1964112"/>
              <a:chExt cx="291062" cy="400110"/>
            </a:xfrm>
          </p:grpSpPr>
          <p:sp>
            <p:nvSpPr>
              <p:cNvPr id="10018" name="Google Shape;10018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9" name="Google Shape;10019;p95"/>
              <p:cNvSpPr txBox="1"/>
              <p:nvPr/>
            </p:nvSpPr>
            <p:spPr>
              <a:xfrm>
                <a:off x="423441" y="1964112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/>
              </a:p>
            </p:txBody>
          </p:sp>
        </p:grpSp>
      </p:grpSp>
      <p:grpSp>
        <p:nvGrpSpPr>
          <p:cNvPr id="10020" name="Google Shape;10020;p95"/>
          <p:cNvGrpSpPr/>
          <p:nvPr/>
        </p:nvGrpSpPr>
        <p:grpSpPr>
          <a:xfrm>
            <a:off x="3994257" y="1633928"/>
            <a:ext cx="313044" cy="1540239"/>
            <a:chOff x="4189129" y="1656413"/>
            <a:chExt cx="313044" cy="1540239"/>
          </a:xfrm>
        </p:grpSpPr>
        <p:cxnSp>
          <p:nvCxnSpPr>
            <p:cNvPr id="10021" name="Google Shape;10021;p95"/>
            <p:cNvCxnSpPr/>
            <p:nvPr/>
          </p:nvCxnSpPr>
          <p:spPr>
            <a:xfrm>
              <a:off x="4339652" y="1656413"/>
              <a:ext cx="0" cy="1540239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0022" name="Google Shape;10022;p95"/>
            <p:cNvGrpSpPr/>
            <p:nvPr/>
          </p:nvGrpSpPr>
          <p:grpSpPr>
            <a:xfrm>
              <a:off x="4189129" y="1880402"/>
              <a:ext cx="313044" cy="369332"/>
              <a:chOff x="651166" y="1956616"/>
              <a:chExt cx="313044" cy="369332"/>
            </a:xfrm>
          </p:grpSpPr>
          <p:sp>
            <p:nvSpPr>
              <p:cNvPr id="10023" name="Google Shape;10023;p95"/>
              <p:cNvSpPr/>
              <p:nvPr/>
            </p:nvSpPr>
            <p:spPr>
              <a:xfrm>
                <a:off x="676641" y="200369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4" name="Google Shape;10024;p95"/>
              <p:cNvSpPr txBox="1"/>
              <p:nvPr/>
            </p:nvSpPr>
            <p:spPr>
              <a:xfrm>
                <a:off x="651166" y="1956616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/>
              </a:p>
            </p:txBody>
          </p:sp>
        </p:grpSp>
      </p:grpSp>
      <p:grpSp>
        <p:nvGrpSpPr>
          <p:cNvPr id="10025" name="Google Shape;10025;p95"/>
          <p:cNvGrpSpPr/>
          <p:nvPr/>
        </p:nvGrpSpPr>
        <p:grpSpPr>
          <a:xfrm>
            <a:off x="2457676" y="3166672"/>
            <a:ext cx="1751262" cy="2489017"/>
            <a:chOff x="2457676" y="3166672"/>
            <a:chExt cx="1751262" cy="2489017"/>
          </a:xfrm>
        </p:grpSpPr>
        <p:cxnSp>
          <p:nvCxnSpPr>
            <p:cNvPr id="10026" name="Google Shape;10026;p95"/>
            <p:cNvCxnSpPr/>
            <p:nvPr/>
          </p:nvCxnSpPr>
          <p:spPr>
            <a:xfrm>
              <a:off x="3271232" y="4980429"/>
              <a:ext cx="0" cy="258633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027" name="Google Shape;10027;p95"/>
            <p:cNvCxnSpPr/>
            <p:nvPr/>
          </p:nvCxnSpPr>
          <p:spPr>
            <a:xfrm flipH="1">
              <a:off x="2457676" y="4954249"/>
              <a:ext cx="712744" cy="621210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0028" name="Google Shape;10028;p95"/>
            <p:cNvGrpSpPr/>
            <p:nvPr/>
          </p:nvGrpSpPr>
          <p:grpSpPr>
            <a:xfrm rot="-153638">
              <a:off x="3106460" y="4663753"/>
              <a:ext cx="313044" cy="369332"/>
              <a:chOff x="418585" y="1969301"/>
              <a:chExt cx="313044" cy="369332"/>
            </a:xfrm>
          </p:grpSpPr>
          <p:sp>
            <p:nvSpPr>
              <p:cNvPr id="10029" name="Google Shape;10029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0" name="Google Shape;10030;p95"/>
              <p:cNvSpPr txBox="1"/>
              <p:nvPr/>
            </p:nvSpPr>
            <p:spPr>
              <a:xfrm>
                <a:off x="418585" y="1969301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/>
              </a:p>
            </p:txBody>
          </p:sp>
        </p:grpSp>
        <p:cxnSp>
          <p:nvCxnSpPr>
            <p:cNvPr id="10031" name="Google Shape;10031;p95"/>
            <p:cNvCxnSpPr/>
            <p:nvPr/>
          </p:nvCxnSpPr>
          <p:spPr>
            <a:xfrm>
              <a:off x="3361544" y="4943007"/>
              <a:ext cx="847394" cy="712682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032" name="Google Shape;10032;p95"/>
            <p:cNvSpPr/>
            <p:nvPr/>
          </p:nvSpPr>
          <p:spPr>
            <a:xfrm>
              <a:off x="3256612" y="3166672"/>
              <a:ext cx="888167" cy="1551482"/>
            </a:xfrm>
            <a:custGeom>
              <a:rect b="b" l="l" r="r" t="t"/>
              <a:pathLst>
                <a:path extrusionOk="0" h="1551482" w="929390">
                  <a:moveTo>
                    <a:pt x="929390" y="0"/>
                  </a:moveTo>
                  <a:lnTo>
                    <a:pt x="929390" y="678305"/>
                  </a:lnTo>
                  <a:lnTo>
                    <a:pt x="0" y="813217"/>
                  </a:lnTo>
                  <a:lnTo>
                    <a:pt x="0" y="1551482"/>
                  </a:lnTo>
                  <a:lnTo>
                    <a:pt x="0" y="1551482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33" name="Google Shape;10033;p95"/>
          <p:cNvGrpSpPr/>
          <p:nvPr/>
        </p:nvGrpSpPr>
        <p:grpSpPr>
          <a:xfrm>
            <a:off x="2312276" y="4225159"/>
            <a:ext cx="677917" cy="1261241"/>
            <a:chOff x="2312276" y="4225159"/>
            <a:chExt cx="677917" cy="1261241"/>
          </a:xfrm>
        </p:grpSpPr>
        <p:sp>
          <p:nvSpPr>
            <p:cNvPr id="10034" name="Google Shape;10034;p95"/>
            <p:cNvSpPr/>
            <p:nvPr/>
          </p:nvSpPr>
          <p:spPr>
            <a:xfrm>
              <a:off x="2312276" y="4225159"/>
              <a:ext cx="677917" cy="1261241"/>
            </a:xfrm>
            <a:custGeom>
              <a:rect b="b" l="l" r="r" t="t"/>
              <a:pathLst>
                <a:path extrusionOk="0" h="1261241" w="677917">
                  <a:moveTo>
                    <a:pt x="0" y="1261241"/>
                  </a:moveTo>
                  <a:lnTo>
                    <a:pt x="677917" y="178675"/>
                  </a:lnTo>
                  <a:lnTo>
                    <a:pt x="677917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35" name="Google Shape;10035;p95"/>
            <p:cNvGrpSpPr/>
            <p:nvPr/>
          </p:nvGrpSpPr>
          <p:grpSpPr>
            <a:xfrm>
              <a:off x="2499117" y="4791488"/>
              <a:ext cx="313044" cy="369332"/>
              <a:chOff x="-17363" y="1958857"/>
              <a:chExt cx="313044" cy="369332"/>
            </a:xfrm>
          </p:grpSpPr>
          <p:sp>
            <p:nvSpPr>
              <p:cNvPr id="10036" name="Google Shape;10036;p95"/>
              <p:cNvSpPr/>
              <p:nvPr/>
            </p:nvSpPr>
            <p:spPr>
              <a:xfrm>
                <a:off x="17117" y="201041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7" name="Google Shape;10037;p95"/>
              <p:cNvSpPr txBox="1"/>
              <p:nvPr/>
            </p:nvSpPr>
            <p:spPr>
              <a:xfrm>
                <a:off x="-17363" y="195885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10038" name="Google Shape;10038;p95"/>
          <p:cNvGrpSpPr/>
          <p:nvPr/>
        </p:nvGrpSpPr>
        <p:grpSpPr>
          <a:xfrm>
            <a:off x="2292350" y="3432175"/>
            <a:ext cx="698500" cy="793750"/>
            <a:chOff x="2292350" y="3432175"/>
            <a:chExt cx="698500" cy="793750"/>
          </a:xfrm>
        </p:grpSpPr>
        <p:sp>
          <p:nvSpPr>
            <p:cNvPr id="10039" name="Google Shape;10039;p95"/>
            <p:cNvSpPr/>
            <p:nvPr/>
          </p:nvSpPr>
          <p:spPr>
            <a:xfrm>
              <a:off x="2292350" y="3432175"/>
              <a:ext cx="698500" cy="793750"/>
            </a:xfrm>
            <a:custGeom>
              <a:rect b="b" l="l" r="r" t="t"/>
              <a:pathLst>
                <a:path extrusionOk="0" h="793750" w="698500">
                  <a:moveTo>
                    <a:pt x="698500" y="793750"/>
                  </a:moveTo>
                  <a:lnTo>
                    <a:pt x="698500" y="508000"/>
                  </a:lnTo>
                  <a:lnTo>
                    <a:pt x="0" y="269875"/>
                  </a:lnTo>
                  <a:lnTo>
                    <a:pt x="0" y="0"/>
                  </a:lnTo>
                  <a:lnTo>
                    <a:pt x="0" y="3175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40" name="Google Shape;10040;p95"/>
            <p:cNvGrpSpPr/>
            <p:nvPr/>
          </p:nvGrpSpPr>
          <p:grpSpPr>
            <a:xfrm>
              <a:off x="2576070" y="3664008"/>
              <a:ext cx="313044" cy="369332"/>
              <a:chOff x="2576070" y="3664008"/>
              <a:chExt cx="313044" cy="369332"/>
            </a:xfrm>
          </p:grpSpPr>
          <p:sp>
            <p:nvSpPr>
              <p:cNvPr id="10041" name="Google Shape;10041;p95"/>
              <p:cNvSpPr/>
              <p:nvPr/>
            </p:nvSpPr>
            <p:spPr>
              <a:xfrm>
                <a:off x="2602120" y="3719723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2" name="Google Shape;10042;p95"/>
              <p:cNvSpPr txBox="1"/>
              <p:nvPr/>
            </p:nvSpPr>
            <p:spPr>
              <a:xfrm>
                <a:off x="2576070" y="3664008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grpSp>
        <p:nvGrpSpPr>
          <p:cNvPr id="10043" name="Google Shape;10043;p95"/>
          <p:cNvGrpSpPr/>
          <p:nvPr/>
        </p:nvGrpSpPr>
        <p:grpSpPr>
          <a:xfrm>
            <a:off x="2137625" y="1774825"/>
            <a:ext cx="313044" cy="1663700"/>
            <a:chOff x="2134450" y="1762125"/>
            <a:chExt cx="313044" cy="1663700"/>
          </a:xfrm>
        </p:grpSpPr>
        <p:sp>
          <p:nvSpPr>
            <p:cNvPr id="10044" name="Google Shape;10044;p95"/>
            <p:cNvSpPr/>
            <p:nvPr/>
          </p:nvSpPr>
          <p:spPr>
            <a:xfrm>
              <a:off x="2273300" y="1762125"/>
              <a:ext cx="15875" cy="1663700"/>
            </a:xfrm>
            <a:custGeom>
              <a:rect b="b" l="l" r="r" t="t"/>
              <a:pathLst>
                <a:path extrusionOk="0" h="1663700" w="15875">
                  <a:moveTo>
                    <a:pt x="15875" y="1663700"/>
                  </a:moveTo>
                  <a:lnTo>
                    <a:pt x="1587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45" name="Google Shape;10045;p95"/>
            <p:cNvGrpSpPr/>
            <p:nvPr/>
          </p:nvGrpSpPr>
          <p:grpSpPr>
            <a:xfrm>
              <a:off x="2134450" y="2567187"/>
              <a:ext cx="313044" cy="369332"/>
              <a:chOff x="1712175" y="2510037"/>
              <a:chExt cx="313044" cy="369332"/>
            </a:xfrm>
          </p:grpSpPr>
          <p:sp>
            <p:nvSpPr>
              <p:cNvPr id="10046" name="Google Shape;10046;p95"/>
              <p:cNvSpPr/>
              <p:nvPr/>
            </p:nvSpPr>
            <p:spPr>
              <a:xfrm>
                <a:off x="1744575" y="256892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7" name="Google Shape;10047;p95"/>
              <p:cNvSpPr txBox="1"/>
              <p:nvPr/>
            </p:nvSpPr>
            <p:spPr>
              <a:xfrm>
                <a:off x="1712175" y="251003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grpSp>
        <p:nvGrpSpPr>
          <p:cNvPr id="10048" name="Google Shape;10048;p95"/>
          <p:cNvGrpSpPr/>
          <p:nvPr/>
        </p:nvGrpSpPr>
        <p:grpSpPr>
          <a:xfrm>
            <a:off x="2349183" y="1803400"/>
            <a:ext cx="313044" cy="1539875"/>
            <a:chOff x="2349183" y="1803400"/>
            <a:chExt cx="313044" cy="1539875"/>
          </a:xfrm>
        </p:grpSpPr>
        <p:cxnSp>
          <p:nvCxnSpPr>
            <p:cNvPr id="10049" name="Google Shape;10049;p95"/>
            <p:cNvCxnSpPr/>
            <p:nvPr/>
          </p:nvCxnSpPr>
          <p:spPr>
            <a:xfrm>
              <a:off x="2498725" y="1803400"/>
              <a:ext cx="0" cy="1539875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0050" name="Google Shape;10050;p95"/>
            <p:cNvGrpSpPr/>
            <p:nvPr/>
          </p:nvGrpSpPr>
          <p:grpSpPr>
            <a:xfrm>
              <a:off x="2349183" y="1906331"/>
              <a:ext cx="313044" cy="369332"/>
              <a:chOff x="415641" y="1967287"/>
              <a:chExt cx="313044" cy="369332"/>
            </a:xfrm>
          </p:grpSpPr>
          <p:sp>
            <p:nvSpPr>
              <p:cNvPr id="10051" name="Google Shape;10051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2" name="Google Shape;10052;p95"/>
              <p:cNvSpPr txBox="1"/>
              <p:nvPr/>
            </p:nvSpPr>
            <p:spPr>
              <a:xfrm>
                <a:off x="415641" y="196728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57" name="Shape 10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8" name="Google Shape;10058;p96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/>
              <a:t>OpenDaylight (ODL) controller</a:t>
            </a:r>
            <a:endParaRPr/>
          </a:p>
        </p:txBody>
      </p:sp>
      <p:sp>
        <p:nvSpPr>
          <p:cNvPr id="10059" name="Google Shape;10059;p9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60" name="Google Shape;10060;p96"/>
          <p:cNvSpPr/>
          <p:nvPr/>
        </p:nvSpPr>
        <p:spPr>
          <a:xfrm>
            <a:off x="1308970" y="4619179"/>
            <a:ext cx="4650377" cy="608051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1" name="Google Shape;10061;p96"/>
          <p:cNvSpPr txBox="1"/>
          <p:nvPr/>
        </p:nvSpPr>
        <p:spPr>
          <a:xfrm>
            <a:off x="5681552" y="1744109"/>
            <a:ext cx="382266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Orchestrations and Applications</a:t>
            </a:r>
            <a:endParaRPr/>
          </a:p>
        </p:txBody>
      </p:sp>
      <p:sp>
        <p:nvSpPr>
          <p:cNvPr id="10062" name="Google Shape;10062;p96"/>
          <p:cNvSpPr txBox="1"/>
          <p:nvPr/>
        </p:nvSpPr>
        <p:spPr>
          <a:xfrm>
            <a:off x="5899099" y="5275766"/>
            <a:ext cx="152262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Southbound API</a:t>
            </a:r>
            <a:endParaRPr/>
          </a:p>
        </p:txBody>
      </p:sp>
      <p:cxnSp>
        <p:nvCxnSpPr>
          <p:cNvPr id="10063" name="Google Shape;10063;p96"/>
          <p:cNvCxnSpPr/>
          <p:nvPr/>
        </p:nvCxnSpPr>
        <p:spPr>
          <a:xfrm>
            <a:off x="1309488" y="2192290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0064" name="Google Shape;10064;p96"/>
          <p:cNvCxnSpPr/>
          <p:nvPr/>
        </p:nvCxnSpPr>
        <p:spPr>
          <a:xfrm>
            <a:off x="1309488" y="5372503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065" name="Google Shape;10065;p96"/>
          <p:cNvSpPr txBox="1"/>
          <p:nvPr/>
        </p:nvSpPr>
        <p:spPr>
          <a:xfrm>
            <a:off x="5995216" y="4715575"/>
            <a:ext cx="1897871" cy="4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Abstraction Layer (SAL)</a:t>
            </a:r>
            <a:endParaRPr/>
          </a:p>
        </p:txBody>
      </p:sp>
      <p:grpSp>
        <p:nvGrpSpPr>
          <p:cNvPr id="10066" name="Google Shape;10066;p96"/>
          <p:cNvGrpSpPr/>
          <p:nvPr/>
        </p:nvGrpSpPr>
        <p:grpSpPr>
          <a:xfrm>
            <a:off x="2093457" y="4642702"/>
            <a:ext cx="1432506" cy="565047"/>
            <a:chOff x="1241687" y="4404708"/>
            <a:chExt cx="1432506" cy="565047"/>
          </a:xfrm>
        </p:grpSpPr>
        <p:sp>
          <p:nvSpPr>
            <p:cNvPr id="10067" name="Google Shape;10067;p96"/>
            <p:cNvSpPr/>
            <p:nvPr/>
          </p:nvSpPr>
          <p:spPr>
            <a:xfrm>
              <a:off x="1255867" y="4404708"/>
              <a:ext cx="1383280" cy="550146"/>
            </a:xfrm>
            <a:prstGeom prst="can">
              <a:avLst>
                <a:gd fmla="val 25000" name="adj"/>
              </a:avLst>
            </a:prstGeom>
            <a:gradFill>
              <a:gsLst>
                <a:gs pos="0">
                  <a:srgbClr val="E1EFD8"/>
                </a:gs>
                <a:gs pos="2000">
                  <a:srgbClr val="E1EFD8"/>
                </a:gs>
                <a:gs pos="100000">
                  <a:srgbClr val="C4E0B2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8" name="Google Shape;10068;p96"/>
            <p:cNvSpPr txBox="1"/>
            <p:nvPr/>
          </p:nvSpPr>
          <p:spPr>
            <a:xfrm>
              <a:off x="1241687" y="4428068"/>
              <a:ext cx="1432506" cy="541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config. and operational data store</a:t>
              </a:r>
              <a:endParaRPr/>
            </a:p>
          </p:txBody>
        </p:sp>
      </p:grpSp>
      <p:grpSp>
        <p:nvGrpSpPr>
          <p:cNvPr id="10069" name="Google Shape;10069;p96"/>
          <p:cNvGrpSpPr/>
          <p:nvPr/>
        </p:nvGrpSpPr>
        <p:grpSpPr>
          <a:xfrm>
            <a:off x="1235902" y="2266373"/>
            <a:ext cx="4650377" cy="608051"/>
            <a:chOff x="1235902" y="2266373"/>
            <a:chExt cx="4650377" cy="608051"/>
          </a:xfrm>
        </p:grpSpPr>
        <p:sp>
          <p:nvSpPr>
            <p:cNvPr id="10070" name="Google Shape;10070;p96"/>
            <p:cNvSpPr/>
            <p:nvPr/>
          </p:nvSpPr>
          <p:spPr>
            <a:xfrm>
              <a:off x="1235902" y="2266373"/>
              <a:ext cx="4650377" cy="608051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1" name="Google Shape;10071;p96"/>
            <p:cNvSpPr txBox="1"/>
            <p:nvPr/>
          </p:nvSpPr>
          <p:spPr>
            <a:xfrm>
              <a:off x="1537806" y="2409877"/>
              <a:ext cx="3977869" cy="344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REST/RESTCONF/NETCONF APIs</a:t>
              </a:r>
              <a:endParaRPr/>
            </a:p>
          </p:txBody>
        </p:sp>
      </p:grpSp>
      <p:sp>
        <p:nvSpPr>
          <p:cNvPr id="10072" name="Google Shape;10072;p96"/>
          <p:cNvSpPr/>
          <p:nvPr/>
        </p:nvSpPr>
        <p:spPr>
          <a:xfrm>
            <a:off x="3955838" y="4663169"/>
            <a:ext cx="1061570" cy="484632"/>
          </a:xfrm>
          <a:prstGeom prst="left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C4E0B2"/>
              </a:gs>
              <a:gs pos="1000">
                <a:srgbClr val="C4E0B2"/>
              </a:gs>
              <a:gs pos="50500">
                <a:srgbClr val="E1EFD8"/>
              </a:gs>
              <a:gs pos="100000">
                <a:srgbClr val="C4E0B2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3" name="Google Shape;10073;p96"/>
          <p:cNvSpPr txBox="1"/>
          <p:nvPr/>
        </p:nvSpPr>
        <p:spPr>
          <a:xfrm>
            <a:off x="3952599" y="4790714"/>
            <a:ext cx="109287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74" name="Google Shape;10074;p96"/>
          <p:cNvGrpSpPr/>
          <p:nvPr/>
        </p:nvGrpSpPr>
        <p:grpSpPr>
          <a:xfrm>
            <a:off x="1277743" y="5455564"/>
            <a:ext cx="822085" cy="280003"/>
            <a:chOff x="1847676" y="5679179"/>
            <a:chExt cx="822085" cy="280003"/>
          </a:xfrm>
        </p:grpSpPr>
        <p:sp>
          <p:nvSpPr>
            <p:cNvPr id="10075" name="Google Shape;10075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6" name="Google Shape;10076;p96"/>
            <p:cNvSpPr txBox="1"/>
            <p:nvPr/>
          </p:nvSpPr>
          <p:spPr>
            <a:xfrm>
              <a:off x="1847676" y="5679179"/>
              <a:ext cx="8220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OpenFlow</a:t>
              </a:r>
              <a:endParaRPr/>
            </a:p>
          </p:txBody>
        </p:sp>
      </p:grpSp>
      <p:grpSp>
        <p:nvGrpSpPr>
          <p:cNvPr id="10077" name="Google Shape;10077;p96"/>
          <p:cNvGrpSpPr/>
          <p:nvPr/>
        </p:nvGrpSpPr>
        <p:grpSpPr>
          <a:xfrm>
            <a:off x="2129149" y="5463049"/>
            <a:ext cx="788121" cy="276999"/>
            <a:chOff x="1868224" y="5689452"/>
            <a:chExt cx="788121" cy="276999"/>
          </a:xfrm>
        </p:grpSpPr>
        <p:sp>
          <p:nvSpPr>
            <p:cNvPr id="10078" name="Google Shape;10078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9" name="Google Shape;10079;p96"/>
            <p:cNvSpPr txBox="1"/>
            <p:nvPr/>
          </p:nvSpPr>
          <p:spPr>
            <a:xfrm>
              <a:off x="1868224" y="5689452"/>
              <a:ext cx="788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NETCONF</a:t>
              </a:r>
              <a:endParaRPr/>
            </a:p>
          </p:txBody>
        </p:sp>
      </p:grpSp>
      <p:grpSp>
        <p:nvGrpSpPr>
          <p:cNvPr id="10080" name="Google Shape;10080;p96"/>
          <p:cNvGrpSpPr/>
          <p:nvPr/>
        </p:nvGrpSpPr>
        <p:grpSpPr>
          <a:xfrm>
            <a:off x="3026352" y="5450427"/>
            <a:ext cx="691362" cy="285140"/>
            <a:chOff x="1913844" y="5674042"/>
            <a:chExt cx="691362" cy="285140"/>
          </a:xfrm>
        </p:grpSpPr>
        <p:sp>
          <p:nvSpPr>
            <p:cNvPr id="10081" name="Google Shape;10081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2" name="Google Shape;10082;p96"/>
            <p:cNvSpPr txBox="1"/>
            <p:nvPr/>
          </p:nvSpPr>
          <p:spPr>
            <a:xfrm>
              <a:off x="1960779" y="5674042"/>
              <a:ext cx="5693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SNMP</a:t>
              </a:r>
              <a:endParaRPr/>
            </a:p>
          </p:txBody>
        </p:sp>
      </p:grpSp>
      <p:grpSp>
        <p:nvGrpSpPr>
          <p:cNvPr id="10083" name="Google Shape;10083;p96"/>
          <p:cNvGrpSpPr/>
          <p:nvPr/>
        </p:nvGrpSpPr>
        <p:grpSpPr>
          <a:xfrm>
            <a:off x="3812147" y="5466268"/>
            <a:ext cx="691362" cy="276999"/>
            <a:chOff x="1913844" y="5687320"/>
            <a:chExt cx="691362" cy="276999"/>
          </a:xfrm>
        </p:grpSpPr>
        <p:sp>
          <p:nvSpPr>
            <p:cNvPr id="10084" name="Google Shape;10084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5" name="Google Shape;10085;p96"/>
            <p:cNvSpPr txBox="1"/>
            <p:nvPr/>
          </p:nvSpPr>
          <p:spPr>
            <a:xfrm>
              <a:off x="1919204" y="5687320"/>
              <a:ext cx="6229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OVSDB</a:t>
              </a:r>
              <a:endParaRPr/>
            </a:p>
          </p:txBody>
        </p:sp>
      </p:grpSp>
      <p:sp>
        <p:nvSpPr>
          <p:cNvPr id="10086" name="Google Shape;10086;p96"/>
          <p:cNvSpPr txBox="1"/>
          <p:nvPr/>
        </p:nvSpPr>
        <p:spPr>
          <a:xfrm>
            <a:off x="4573494" y="5218336"/>
            <a:ext cx="4665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28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7" name="Google Shape;10087;p96"/>
          <p:cNvSpPr txBox="1"/>
          <p:nvPr/>
        </p:nvSpPr>
        <p:spPr>
          <a:xfrm>
            <a:off x="5954516" y="2068088"/>
            <a:ext cx="1522626" cy="271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Northbound API</a:t>
            </a:r>
            <a:endParaRPr/>
          </a:p>
        </p:txBody>
      </p:sp>
      <p:grpSp>
        <p:nvGrpSpPr>
          <p:cNvPr id="10088" name="Google Shape;10088;p96"/>
          <p:cNvGrpSpPr/>
          <p:nvPr/>
        </p:nvGrpSpPr>
        <p:grpSpPr>
          <a:xfrm>
            <a:off x="1327583" y="1613766"/>
            <a:ext cx="1225156" cy="394344"/>
            <a:chOff x="475813" y="1375772"/>
            <a:chExt cx="1225156" cy="394344"/>
          </a:xfrm>
        </p:grpSpPr>
        <p:sp>
          <p:nvSpPr>
            <p:cNvPr id="10089" name="Google Shape;10089;p96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0" name="Google Shape;10090;p96"/>
            <p:cNvSpPr txBox="1"/>
            <p:nvPr/>
          </p:nvSpPr>
          <p:spPr>
            <a:xfrm>
              <a:off x="475813" y="1376162"/>
              <a:ext cx="1225156" cy="39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Traffic Engineering</a:t>
              </a:r>
              <a:endParaRPr/>
            </a:p>
          </p:txBody>
        </p:sp>
      </p:grpSp>
      <p:sp>
        <p:nvSpPr>
          <p:cNvPr id="10091" name="Google Shape;10091;p96"/>
          <p:cNvSpPr txBox="1"/>
          <p:nvPr/>
        </p:nvSpPr>
        <p:spPr>
          <a:xfrm>
            <a:off x="4836745" y="1497096"/>
            <a:ext cx="4665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28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92" name="Google Shape;10092;p96"/>
          <p:cNvGrpSpPr/>
          <p:nvPr/>
        </p:nvGrpSpPr>
        <p:grpSpPr>
          <a:xfrm>
            <a:off x="2447988" y="1617619"/>
            <a:ext cx="1225156" cy="381143"/>
            <a:chOff x="507131" y="1375772"/>
            <a:chExt cx="1225156" cy="381143"/>
          </a:xfrm>
        </p:grpSpPr>
        <p:sp>
          <p:nvSpPr>
            <p:cNvPr id="10093" name="Google Shape;10093;p96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4" name="Google Shape;10094;p96"/>
            <p:cNvSpPr txBox="1"/>
            <p:nvPr/>
          </p:nvSpPr>
          <p:spPr>
            <a:xfrm>
              <a:off x="50713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Firewalling</a:t>
              </a:r>
              <a:endParaRPr/>
            </a:p>
          </p:txBody>
        </p:sp>
      </p:grpSp>
      <p:grpSp>
        <p:nvGrpSpPr>
          <p:cNvPr id="10095" name="Google Shape;10095;p96"/>
          <p:cNvGrpSpPr/>
          <p:nvPr/>
        </p:nvGrpSpPr>
        <p:grpSpPr>
          <a:xfrm>
            <a:off x="3564622" y="1621540"/>
            <a:ext cx="1225156" cy="381143"/>
            <a:chOff x="482571" y="1375772"/>
            <a:chExt cx="1225156" cy="381143"/>
          </a:xfrm>
        </p:grpSpPr>
        <p:sp>
          <p:nvSpPr>
            <p:cNvPr id="10096" name="Google Shape;10096;p96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7" name="Google Shape;10097;p96"/>
            <p:cNvSpPr txBox="1"/>
            <p:nvPr/>
          </p:nvSpPr>
          <p:spPr>
            <a:xfrm>
              <a:off x="48257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Load Balancing</a:t>
              </a:r>
              <a:endParaRPr/>
            </a:p>
          </p:txBody>
        </p:sp>
      </p:grpSp>
      <p:grpSp>
        <p:nvGrpSpPr>
          <p:cNvPr id="10098" name="Google Shape;10098;p96"/>
          <p:cNvGrpSpPr/>
          <p:nvPr/>
        </p:nvGrpSpPr>
        <p:grpSpPr>
          <a:xfrm>
            <a:off x="1197240" y="2940800"/>
            <a:ext cx="4676586" cy="1531953"/>
            <a:chOff x="1197240" y="2940800"/>
            <a:chExt cx="4676586" cy="1531953"/>
          </a:xfrm>
        </p:grpSpPr>
        <p:sp>
          <p:nvSpPr>
            <p:cNvPr id="10099" name="Google Shape;10099;p96"/>
            <p:cNvSpPr/>
            <p:nvPr/>
          </p:nvSpPr>
          <p:spPr>
            <a:xfrm>
              <a:off x="1197240" y="2952351"/>
              <a:ext cx="1608590" cy="1520402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0" name="Google Shape;10100;p96"/>
            <p:cNvSpPr/>
            <p:nvPr/>
          </p:nvSpPr>
          <p:spPr>
            <a:xfrm>
              <a:off x="2898692" y="2950264"/>
              <a:ext cx="2975134" cy="1520402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1" name="Google Shape;10101;p96"/>
            <p:cNvSpPr txBox="1"/>
            <p:nvPr/>
          </p:nvSpPr>
          <p:spPr>
            <a:xfrm>
              <a:off x="3312101" y="2940800"/>
              <a:ext cx="22316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Basic Network Functions</a:t>
              </a:r>
              <a:endParaRPr/>
            </a:p>
          </p:txBody>
        </p:sp>
        <p:sp>
          <p:nvSpPr>
            <p:cNvPr id="10102" name="Google Shape;10102;p96"/>
            <p:cNvSpPr txBox="1"/>
            <p:nvPr/>
          </p:nvSpPr>
          <p:spPr>
            <a:xfrm>
              <a:off x="1371002" y="2955542"/>
              <a:ext cx="1383280" cy="494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Enhanced Services</a:t>
              </a:r>
              <a:endParaRPr/>
            </a:p>
          </p:txBody>
        </p:sp>
        <p:sp>
          <p:nvSpPr>
            <p:cNvPr id="10103" name="Google Shape;10103;p96"/>
            <p:cNvSpPr txBox="1"/>
            <p:nvPr/>
          </p:nvSpPr>
          <p:spPr>
            <a:xfrm>
              <a:off x="2282261" y="3351227"/>
              <a:ext cx="4042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EFD8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b="1" sz="2400">
                <a:solidFill>
                  <a:srgbClr val="E1EF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4" name="Google Shape;10104;p96"/>
            <p:cNvSpPr txBox="1"/>
            <p:nvPr/>
          </p:nvSpPr>
          <p:spPr>
            <a:xfrm>
              <a:off x="1381194" y="3872343"/>
              <a:ext cx="4042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EFD8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b="1" sz="2400">
                <a:solidFill>
                  <a:srgbClr val="E1EF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05" name="Google Shape;10105;p96"/>
            <p:cNvGrpSpPr/>
            <p:nvPr/>
          </p:nvGrpSpPr>
          <p:grpSpPr>
            <a:xfrm>
              <a:off x="3284218" y="3872678"/>
              <a:ext cx="1055484" cy="476495"/>
              <a:chOff x="875110" y="3716838"/>
              <a:chExt cx="1055484" cy="476495"/>
            </a:xfrm>
          </p:grpSpPr>
          <p:sp>
            <p:nvSpPr>
              <p:cNvPr id="10106" name="Google Shape;10106;p96"/>
              <p:cNvSpPr/>
              <p:nvPr/>
            </p:nvSpPr>
            <p:spPr>
              <a:xfrm>
                <a:off x="896541" y="3716838"/>
                <a:ext cx="95368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7" name="Google Shape;10107;p96"/>
              <p:cNvSpPr txBox="1"/>
              <p:nvPr/>
            </p:nvSpPr>
            <p:spPr>
              <a:xfrm>
                <a:off x="875110" y="3726730"/>
                <a:ext cx="1055484" cy="466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Forwarding 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rules mgr.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08" name="Google Shape;10108;p96"/>
            <p:cNvGrpSpPr/>
            <p:nvPr/>
          </p:nvGrpSpPr>
          <p:grpSpPr>
            <a:xfrm>
              <a:off x="1387402" y="3442864"/>
              <a:ext cx="965146" cy="447968"/>
              <a:chOff x="926157" y="3716838"/>
              <a:chExt cx="965146" cy="447968"/>
            </a:xfrm>
          </p:grpSpPr>
          <p:sp>
            <p:nvSpPr>
              <p:cNvPr id="10109" name="Google Shape;10109;p96"/>
              <p:cNvSpPr/>
              <p:nvPr/>
            </p:nvSpPr>
            <p:spPr>
              <a:xfrm>
                <a:off x="969582" y="3716838"/>
                <a:ext cx="855646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0" name="Google Shape;10110;p96"/>
              <p:cNvSpPr txBox="1"/>
              <p:nvPr/>
            </p:nvSpPr>
            <p:spPr>
              <a:xfrm>
                <a:off x="926157" y="3823171"/>
                <a:ext cx="965146" cy="268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AAA</a:t>
                </a:r>
                <a:endParaRPr/>
              </a:p>
            </p:txBody>
          </p:sp>
        </p:grpSp>
        <p:grpSp>
          <p:nvGrpSpPr>
            <p:cNvPr id="10111" name="Google Shape;10111;p96"/>
            <p:cNvGrpSpPr/>
            <p:nvPr/>
          </p:nvGrpSpPr>
          <p:grpSpPr>
            <a:xfrm>
              <a:off x="4369916" y="3877805"/>
              <a:ext cx="965146" cy="491225"/>
              <a:chOff x="926156" y="3708871"/>
              <a:chExt cx="965146" cy="491225"/>
            </a:xfrm>
          </p:grpSpPr>
          <p:sp>
            <p:nvSpPr>
              <p:cNvPr id="10112" name="Google Shape;10112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3" name="Google Shape;10113;p96"/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Host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Tracker</a:t>
                </a:r>
                <a:endParaRPr/>
              </a:p>
            </p:txBody>
          </p:sp>
        </p:grpSp>
        <p:grpSp>
          <p:nvGrpSpPr>
            <p:cNvPr id="10114" name="Google Shape;10114;p96"/>
            <p:cNvGrpSpPr/>
            <p:nvPr/>
          </p:nvGrpSpPr>
          <p:grpSpPr>
            <a:xfrm>
              <a:off x="4879504" y="3294399"/>
              <a:ext cx="965146" cy="491225"/>
              <a:chOff x="926156" y="3708871"/>
              <a:chExt cx="965146" cy="491225"/>
            </a:xfrm>
          </p:grpSpPr>
          <p:sp>
            <p:nvSpPr>
              <p:cNvPr id="10115" name="Google Shape;10115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6" name="Google Shape;10116;p96"/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Stats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mgr.</a:t>
                </a:r>
                <a:endParaRPr/>
              </a:p>
            </p:txBody>
          </p:sp>
        </p:grpSp>
        <p:grpSp>
          <p:nvGrpSpPr>
            <p:cNvPr id="10117" name="Google Shape;10117;p96"/>
            <p:cNvGrpSpPr/>
            <p:nvPr/>
          </p:nvGrpSpPr>
          <p:grpSpPr>
            <a:xfrm>
              <a:off x="3910335" y="3296780"/>
              <a:ext cx="965146" cy="491225"/>
              <a:chOff x="926156" y="3708871"/>
              <a:chExt cx="965146" cy="491225"/>
            </a:xfrm>
          </p:grpSpPr>
          <p:sp>
            <p:nvSpPr>
              <p:cNvPr id="10118" name="Google Shape;10118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9" name="Google Shape;10119;p96"/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Switch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mgr.</a:t>
                </a:r>
                <a:endParaRPr/>
              </a:p>
            </p:txBody>
          </p:sp>
        </p:grpSp>
        <p:grpSp>
          <p:nvGrpSpPr>
            <p:cNvPr id="10120" name="Google Shape;10120;p96"/>
            <p:cNvGrpSpPr/>
            <p:nvPr/>
          </p:nvGrpSpPr>
          <p:grpSpPr>
            <a:xfrm>
              <a:off x="2962597" y="3320593"/>
              <a:ext cx="965146" cy="465897"/>
              <a:chOff x="944015" y="3716015"/>
              <a:chExt cx="965146" cy="465897"/>
            </a:xfrm>
          </p:grpSpPr>
          <p:sp>
            <p:nvSpPr>
              <p:cNvPr id="10121" name="Google Shape;10121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2" name="Google Shape;10122;p96"/>
              <p:cNvSpPr txBox="1"/>
              <p:nvPr/>
            </p:nvSpPr>
            <p:spPr>
              <a:xfrm>
                <a:off x="944015" y="3716015"/>
                <a:ext cx="965146" cy="4658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Topology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processing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123" name="Google Shape;10123;p96"/>
          <p:cNvSpPr txBox="1"/>
          <p:nvPr/>
        </p:nvSpPr>
        <p:spPr>
          <a:xfrm>
            <a:off x="8367386" y="4176785"/>
            <a:ext cx="3551495" cy="17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 Abstraction Layer: 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interconnects internal, external applications and services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128" name="Shape 10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9" name="Google Shape;10129;p97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ONOS controller</a:t>
            </a:r>
            <a:endParaRPr/>
          </a:p>
        </p:txBody>
      </p:sp>
      <p:sp>
        <p:nvSpPr>
          <p:cNvPr id="10130" name="Google Shape;10130;p9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31" name="Google Shape;10131;p97"/>
          <p:cNvSpPr txBox="1"/>
          <p:nvPr/>
        </p:nvSpPr>
        <p:spPr>
          <a:xfrm>
            <a:off x="5653843" y="1757963"/>
            <a:ext cx="2700448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Applications</a:t>
            </a:r>
            <a:endParaRPr/>
          </a:p>
        </p:txBody>
      </p:sp>
      <p:sp>
        <p:nvSpPr>
          <p:cNvPr id="10132" name="Google Shape;10132;p97"/>
          <p:cNvSpPr txBox="1"/>
          <p:nvPr/>
        </p:nvSpPr>
        <p:spPr>
          <a:xfrm>
            <a:off x="6218325" y="5420766"/>
            <a:ext cx="152262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Southbound API</a:t>
            </a:r>
            <a:endParaRPr/>
          </a:p>
        </p:txBody>
      </p:sp>
      <p:cxnSp>
        <p:nvCxnSpPr>
          <p:cNvPr id="10133" name="Google Shape;10133;p97"/>
          <p:cNvCxnSpPr/>
          <p:nvPr/>
        </p:nvCxnSpPr>
        <p:spPr>
          <a:xfrm>
            <a:off x="1309488" y="2192290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134" name="Google Shape;10134;p97"/>
          <p:cNvSpPr txBox="1"/>
          <p:nvPr/>
        </p:nvSpPr>
        <p:spPr>
          <a:xfrm>
            <a:off x="6042960" y="2090104"/>
            <a:ext cx="1522626" cy="271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Northbound API</a:t>
            </a:r>
            <a:endParaRPr/>
          </a:p>
        </p:txBody>
      </p:sp>
      <p:grpSp>
        <p:nvGrpSpPr>
          <p:cNvPr id="10135" name="Google Shape;10135;p97"/>
          <p:cNvGrpSpPr/>
          <p:nvPr/>
        </p:nvGrpSpPr>
        <p:grpSpPr>
          <a:xfrm>
            <a:off x="1327583" y="1613766"/>
            <a:ext cx="1225156" cy="394344"/>
            <a:chOff x="475813" y="1375772"/>
            <a:chExt cx="1225156" cy="394344"/>
          </a:xfrm>
        </p:grpSpPr>
        <p:sp>
          <p:nvSpPr>
            <p:cNvPr id="10136" name="Google Shape;10136;p97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7" name="Google Shape;10137;p97"/>
            <p:cNvSpPr txBox="1"/>
            <p:nvPr/>
          </p:nvSpPr>
          <p:spPr>
            <a:xfrm>
              <a:off x="475813" y="1376162"/>
              <a:ext cx="1225156" cy="39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Traffic Engineering</a:t>
              </a:r>
              <a:endParaRPr/>
            </a:p>
          </p:txBody>
        </p:sp>
      </p:grpSp>
      <p:sp>
        <p:nvSpPr>
          <p:cNvPr id="10138" name="Google Shape;10138;p97"/>
          <p:cNvSpPr txBox="1"/>
          <p:nvPr/>
        </p:nvSpPr>
        <p:spPr>
          <a:xfrm>
            <a:off x="4836745" y="1497096"/>
            <a:ext cx="4665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28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39" name="Google Shape;10139;p97"/>
          <p:cNvGrpSpPr/>
          <p:nvPr/>
        </p:nvGrpSpPr>
        <p:grpSpPr>
          <a:xfrm>
            <a:off x="2447988" y="1617619"/>
            <a:ext cx="1225156" cy="381143"/>
            <a:chOff x="507131" y="1375772"/>
            <a:chExt cx="1225156" cy="381143"/>
          </a:xfrm>
        </p:grpSpPr>
        <p:sp>
          <p:nvSpPr>
            <p:cNvPr id="10140" name="Google Shape;10140;p97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1" name="Google Shape;10141;p97"/>
            <p:cNvSpPr txBox="1"/>
            <p:nvPr/>
          </p:nvSpPr>
          <p:spPr>
            <a:xfrm>
              <a:off x="50713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Firewalling</a:t>
              </a:r>
              <a:endParaRPr/>
            </a:p>
          </p:txBody>
        </p:sp>
      </p:grpSp>
      <p:grpSp>
        <p:nvGrpSpPr>
          <p:cNvPr id="10142" name="Google Shape;10142;p97"/>
          <p:cNvGrpSpPr/>
          <p:nvPr/>
        </p:nvGrpSpPr>
        <p:grpSpPr>
          <a:xfrm>
            <a:off x="3564622" y="1621540"/>
            <a:ext cx="1225156" cy="381143"/>
            <a:chOff x="482571" y="1375772"/>
            <a:chExt cx="1225156" cy="381143"/>
          </a:xfrm>
        </p:grpSpPr>
        <p:sp>
          <p:nvSpPr>
            <p:cNvPr id="10143" name="Google Shape;10143;p97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4" name="Google Shape;10144;p97"/>
            <p:cNvSpPr txBox="1"/>
            <p:nvPr/>
          </p:nvSpPr>
          <p:spPr>
            <a:xfrm>
              <a:off x="48257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Load Balancing</a:t>
              </a:r>
              <a:endParaRPr/>
            </a:p>
          </p:txBody>
        </p:sp>
      </p:grpSp>
      <p:grpSp>
        <p:nvGrpSpPr>
          <p:cNvPr id="10145" name="Google Shape;10145;p97"/>
          <p:cNvGrpSpPr/>
          <p:nvPr/>
        </p:nvGrpSpPr>
        <p:grpSpPr>
          <a:xfrm>
            <a:off x="1160341" y="4565785"/>
            <a:ext cx="5202393" cy="914306"/>
            <a:chOff x="7097678" y="3476021"/>
            <a:chExt cx="5202393" cy="914306"/>
          </a:xfrm>
        </p:grpSpPr>
        <p:sp>
          <p:nvSpPr>
            <p:cNvPr id="10146" name="Google Shape;10146;p97"/>
            <p:cNvSpPr/>
            <p:nvPr/>
          </p:nvSpPr>
          <p:spPr>
            <a:xfrm>
              <a:off x="7097678" y="3476021"/>
              <a:ext cx="5005602" cy="880097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7" name="Google Shape;10147;p97"/>
            <p:cNvSpPr txBox="1"/>
            <p:nvPr/>
          </p:nvSpPr>
          <p:spPr>
            <a:xfrm>
              <a:off x="10689154" y="3544744"/>
              <a:ext cx="1610917" cy="761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abstractions,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protocols</a:t>
              </a:r>
              <a:endParaRPr/>
            </a:p>
          </p:txBody>
        </p:sp>
        <p:grpSp>
          <p:nvGrpSpPr>
            <p:cNvPr id="10148" name="Google Shape;10148;p97"/>
            <p:cNvGrpSpPr/>
            <p:nvPr/>
          </p:nvGrpSpPr>
          <p:grpSpPr>
            <a:xfrm>
              <a:off x="7191187" y="3962960"/>
              <a:ext cx="1119818" cy="338554"/>
              <a:chOff x="1929852" y="4542126"/>
              <a:chExt cx="1119818" cy="338554"/>
            </a:xfrm>
          </p:grpSpPr>
          <p:sp>
            <p:nvSpPr>
              <p:cNvPr id="10149" name="Google Shape;10149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0" name="Google Shape;10150;p97"/>
              <p:cNvSpPr txBox="1"/>
              <p:nvPr/>
            </p:nvSpPr>
            <p:spPr>
              <a:xfrm>
                <a:off x="1929852" y="4542126"/>
                <a:ext cx="111981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OpenFlow</a:t>
                </a:r>
                <a:endParaRPr/>
              </a:p>
            </p:txBody>
          </p:sp>
        </p:grpSp>
        <p:grpSp>
          <p:nvGrpSpPr>
            <p:cNvPr id="10151" name="Google Shape;10151;p97"/>
            <p:cNvGrpSpPr/>
            <p:nvPr/>
          </p:nvGrpSpPr>
          <p:grpSpPr>
            <a:xfrm>
              <a:off x="8402979" y="3964420"/>
              <a:ext cx="1062275" cy="338554"/>
              <a:chOff x="2774641" y="4248836"/>
              <a:chExt cx="1062275" cy="338554"/>
            </a:xfrm>
          </p:grpSpPr>
          <p:sp>
            <p:nvSpPr>
              <p:cNvPr id="10152" name="Google Shape;10152;p97"/>
              <p:cNvSpPr/>
              <p:nvPr/>
            </p:nvSpPr>
            <p:spPr>
              <a:xfrm>
                <a:off x="2774641" y="4279216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3" name="Google Shape;10153;p97"/>
              <p:cNvSpPr txBox="1"/>
              <p:nvPr/>
            </p:nvSpPr>
            <p:spPr>
              <a:xfrm>
                <a:off x="2873106" y="4248836"/>
                <a:ext cx="90281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Netconf</a:t>
                </a:r>
                <a:endParaRPr/>
              </a:p>
            </p:txBody>
          </p:sp>
        </p:grpSp>
        <p:grpSp>
          <p:nvGrpSpPr>
            <p:cNvPr id="10154" name="Google Shape;10154;p97"/>
            <p:cNvGrpSpPr/>
            <p:nvPr/>
          </p:nvGrpSpPr>
          <p:grpSpPr>
            <a:xfrm>
              <a:off x="9655695" y="3976588"/>
              <a:ext cx="858974" cy="413739"/>
              <a:chOff x="4304185" y="4617263"/>
              <a:chExt cx="858974" cy="413739"/>
            </a:xfrm>
          </p:grpSpPr>
          <p:sp>
            <p:nvSpPr>
              <p:cNvPr id="10155" name="Google Shape;10155;p97"/>
              <p:cNvSpPr/>
              <p:nvPr/>
            </p:nvSpPr>
            <p:spPr>
              <a:xfrm>
                <a:off x="4304185" y="4647691"/>
                <a:ext cx="858974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6" name="Google Shape;10156;p97"/>
              <p:cNvSpPr txBox="1"/>
              <p:nvPr/>
            </p:nvSpPr>
            <p:spPr>
              <a:xfrm>
                <a:off x="4307335" y="4617263"/>
                <a:ext cx="842600" cy="413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OVSDB</a:t>
                </a:r>
                <a:endParaRPr/>
              </a:p>
            </p:txBody>
          </p:sp>
        </p:grpSp>
        <p:grpSp>
          <p:nvGrpSpPr>
            <p:cNvPr id="10157" name="Google Shape;10157;p97"/>
            <p:cNvGrpSpPr/>
            <p:nvPr/>
          </p:nvGrpSpPr>
          <p:grpSpPr>
            <a:xfrm>
              <a:off x="7201206" y="3554472"/>
              <a:ext cx="777777" cy="338554"/>
              <a:chOff x="1929852" y="4542126"/>
              <a:chExt cx="1083553" cy="338554"/>
            </a:xfrm>
          </p:grpSpPr>
          <p:sp>
            <p:nvSpPr>
              <p:cNvPr id="10158" name="Google Shape;10158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9" name="Google Shape;10159;p97"/>
              <p:cNvSpPr txBox="1"/>
              <p:nvPr/>
            </p:nvSpPr>
            <p:spPr>
              <a:xfrm>
                <a:off x="1929852" y="4542126"/>
                <a:ext cx="77777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device</a:t>
                </a:r>
                <a:endParaRPr/>
              </a:p>
            </p:txBody>
          </p:sp>
        </p:grpSp>
        <p:grpSp>
          <p:nvGrpSpPr>
            <p:cNvPr id="10160" name="Google Shape;10160;p97"/>
            <p:cNvGrpSpPr/>
            <p:nvPr/>
          </p:nvGrpSpPr>
          <p:grpSpPr>
            <a:xfrm>
              <a:off x="8032376" y="3552514"/>
              <a:ext cx="573691" cy="338554"/>
              <a:chOff x="1951130" y="4538598"/>
              <a:chExt cx="1062275" cy="338554"/>
            </a:xfrm>
          </p:grpSpPr>
          <p:sp>
            <p:nvSpPr>
              <p:cNvPr id="10161" name="Google Shape;10161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/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2" name="Google Shape;10162;p97"/>
              <p:cNvSpPr txBox="1"/>
              <p:nvPr/>
            </p:nvSpPr>
            <p:spPr>
              <a:xfrm>
                <a:off x="2014708" y="4538598"/>
                <a:ext cx="7039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link</a:t>
                </a:r>
                <a:endParaRPr/>
              </a:p>
            </p:txBody>
          </p:sp>
        </p:grpSp>
        <p:grpSp>
          <p:nvGrpSpPr>
            <p:cNvPr id="10163" name="Google Shape;10163;p97"/>
            <p:cNvGrpSpPr/>
            <p:nvPr/>
          </p:nvGrpSpPr>
          <p:grpSpPr>
            <a:xfrm>
              <a:off x="8640939" y="3553498"/>
              <a:ext cx="561323" cy="338554"/>
              <a:chOff x="1921370" y="4542126"/>
              <a:chExt cx="1092035" cy="338554"/>
            </a:xfrm>
          </p:grpSpPr>
          <p:sp>
            <p:nvSpPr>
              <p:cNvPr id="10164" name="Google Shape;10164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5" name="Google Shape;10165;p97"/>
              <p:cNvSpPr txBox="1"/>
              <p:nvPr/>
            </p:nvSpPr>
            <p:spPr>
              <a:xfrm>
                <a:off x="1921370" y="4542126"/>
                <a:ext cx="79756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host</a:t>
                </a:r>
                <a:endParaRPr/>
              </a:p>
            </p:txBody>
          </p:sp>
        </p:grpSp>
        <p:grpSp>
          <p:nvGrpSpPr>
            <p:cNvPr id="10166" name="Google Shape;10166;p97"/>
            <p:cNvGrpSpPr/>
            <p:nvPr/>
          </p:nvGrpSpPr>
          <p:grpSpPr>
            <a:xfrm>
              <a:off x="9247798" y="3553498"/>
              <a:ext cx="533020" cy="338554"/>
              <a:chOff x="1933590" y="4542126"/>
              <a:chExt cx="1079815" cy="338554"/>
            </a:xfrm>
          </p:grpSpPr>
          <p:sp>
            <p:nvSpPr>
              <p:cNvPr id="10167" name="Google Shape;10167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8" name="Google Shape;10168;p97"/>
              <p:cNvSpPr txBox="1"/>
              <p:nvPr/>
            </p:nvSpPr>
            <p:spPr>
              <a:xfrm>
                <a:off x="1933590" y="4542126"/>
                <a:ext cx="76559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flow</a:t>
                </a:r>
                <a:endParaRPr/>
              </a:p>
            </p:txBody>
          </p:sp>
        </p:grpSp>
        <p:grpSp>
          <p:nvGrpSpPr>
            <p:cNvPr id="10169" name="Google Shape;10169;p97"/>
            <p:cNvGrpSpPr/>
            <p:nvPr/>
          </p:nvGrpSpPr>
          <p:grpSpPr>
            <a:xfrm>
              <a:off x="9798954" y="3538066"/>
              <a:ext cx="768563" cy="341965"/>
              <a:chOff x="1907908" y="4523169"/>
              <a:chExt cx="1105497" cy="341965"/>
            </a:xfrm>
          </p:grpSpPr>
          <p:sp>
            <p:nvSpPr>
              <p:cNvPr id="10170" name="Google Shape;10170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1" name="Google Shape;10171;p97"/>
              <p:cNvSpPr txBox="1"/>
              <p:nvPr/>
            </p:nvSpPr>
            <p:spPr>
              <a:xfrm>
                <a:off x="1907908" y="4523169"/>
                <a:ext cx="109946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packet</a:t>
                </a:r>
                <a:endParaRPr/>
              </a:p>
            </p:txBody>
          </p:sp>
        </p:grpSp>
      </p:grpSp>
      <p:sp>
        <p:nvSpPr>
          <p:cNvPr id="10172" name="Google Shape;10172;p97"/>
          <p:cNvSpPr txBox="1"/>
          <p:nvPr/>
        </p:nvSpPr>
        <p:spPr>
          <a:xfrm>
            <a:off x="4784940" y="2319147"/>
            <a:ext cx="189666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northbound abstractions,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protocols</a:t>
            </a:r>
            <a:endParaRPr/>
          </a:p>
        </p:txBody>
      </p:sp>
      <p:grpSp>
        <p:nvGrpSpPr>
          <p:cNvPr id="10173" name="Google Shape;10173;p97"/>
          <p:cNvGrpSpPr/>
          <p:nvPr/>
        </p:nvGrpSpPr>
        <p:grpSpPr>
          <a:xfrm>
            <a:off x="1235902" y="2266373"/>
            <a:ext cx="4876799" cy="714822"/>
            <a:chOff x="1235902" y="2266373"/>
            <a:chExt cx="4876799" cy="714822"/>
          </a:xfrm>
        </p:grpSpPr>
        <p:sp>
          <p:nvSpPr>
            <p:cNvPr id="10174" name="Google Shape;10174;p97"/>
            <p:cNvSpPr/>
            <p:nvPr/>
          </p:nvSpPr>
          <p:spPr>
            <a:xfrm>
              <a:off x="1235902" y="2266373"/>
              <a:ext cx="4876799" cy="714822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75" name="Google Shape;10175;p97"/>
            <p:cNvGrpSpPr/>
            <p:nvPr/>
          </p:nvGrpSpPr>
          <p:grpSpPr>
            <a:xfrm>
              <a:off x="1418332" y="2420047"/>
              <a:ext cx="1503376" cy="375164"/>
              <a:chOff x="2793562" y="3559145"/>
              <a:chExt cx="1607438" cy="375164"/>
            </a:xfrm>
          </p:grpSpPr>
          <p:sp>
            <p:nvSpPr>
              <p:cNvPr id="10176" name="Google Shape;10176;p97"/>
              <p:cNvSpPr/>
              <p:nvPr/>
            </p:nvSpPr>
            <p:spPr>
              <a:xfrm>
                <a:off x="2793562" y="3559145"/>
                <a:ext cx="1457313" cy="375164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7" name="Google Shape;10177;p97"/>
              <p:cNvSpPr txBox="1"/>
              <p:nvPr/>
            </p:nvSpPr>
            <p:spPr>
              <a:xfrm>
                <a:off x="2840280" y="3583293"/>
                <a:ext cx="1560720" cy="330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25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REST    API</a:t>
                </a:r>
                <a:endParaRPr/>
              </a:p>
            </p:txBody>
          </p:sp>
        </p:grpSp>
        <p:grpSp>
          <p:nvGrpSpPr>
            <p:cNvPr id="10178" name="Google Shape;10178;p97"/>
            <p:cNvGrpSpPr/>
            <p:nvPr/>
          </p:nvGrpSpPr>
          <p:grpSpPr>
            <a:xfrm>
              <a:off x="3009593" y="2420047"/>
              <a:ext cx="1362970" cy="375164"/>
              <a:chOff x="2793562" y="3559145"/>
              <a:chExt cx="1457313" cy="375164"/>
            </a:xfrm>
          </p:grpSpPr>
          <p:sp>
            <p:nvSpPr>
              <p:cNvPr id="10179" name="Google Shape;10179;p97"/>
              <p:cNvSpPr/>
              <p:nvPr/>
            </p:nvSpPr>
            <p:spPr>
              <a:xfrm>
                <a:off x="2793562" y="3559145"/>
                <a:ext cx="1457313" cy="375164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0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0" name="Google Shape;10180;p97"/>
              <p:cNvSpPr txBox="1"/>
              <p:nvPr/>
            </p:nvSpPr>
            <p:spPr>
              <a:xfrm>
                <a:off x="3085361" y="3583293"/>
                <a:ext cx="895069" cy="330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25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Intent</a:t>
                </a:r>
                <a:endParaRPr/>
              </a:p>
            </p:txBody>
          </p:sp>
        </p:grpSp>
      </p:grpSp>
      <p:grpSp>
        <p:nvGrpSpPr>
          <p:cNvPr id="10181" name="Google Shape;10181;p97"/>
          <p:cNvGrpSpPr/>
          <p:nvPr/>
        </p:nvGrpSpPr>
        <p:grpSpPr>
          <a:xfrm>
            <a:off x="1219130" y="3053536"/>
            <a:ext cx="5028153" cy="1413955"/>
            <a:chOff x="7281727" y="3116166"/>
            <a:chExt cx="5028153" cy="1413955"/>
          </a:xfrm>
        </p:grpSpPr>
        <p:sp>
          <p:nvSpPr>
            <p:cNvPr id="10182" name="Google Shape;10182;p97"/>
            <p:cNvSpPr/>
            <p:nvPr/>
          </p:nvSpPr>
          <p:spPr>
            <a:xfrm>
              <a:off x="7281727" y="3116166"/>
              <a:ext cx="4898361" cy="1408726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3" name="Google Shape;10183;p97"/>
            <p:cNvSpPr txBox="1"/>
            <p:nvPr/>
          </p:nvSpPr>
          <p:spPr>
            <a:xfrm>
              <a:off x="10953607" y="3768887"/>
              <a:ext cx="1356273" cy="761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ONOS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distributed core</a:t>
              </a:r>
              <a:endParaRPr/>
            </a:p>
          </p:txBody>
        </p:sp>
        <p:grpSp>
          <p:nvGrpSpPr>
            <p:cNvPr id="10184" name="Google Shape;10184;p97"/>
            <p:cNvGrpSpPr/>
            <p:nvPr/>
          </p:nvGrpSpPr>
          <p:grpSpPr>
            <a:xfrm>
              <a:off x="9756131" y="3853524"/>
              <a:ext cx="971340" cy="459826"/>
              <a:chOff x="3067713" y="457817"/>
              <a:chExt cx="1563748" cy="459826"/>
            </a:xfrm>
          </p:grpSpPr>
          <p:sp>
            <p:nvSpPr>
              <p:cNvPr id="10185" name="Google Shape;10185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6" name="Google Shape;10186;p97"/>
              <p:cNvSpPr txBox="1"/>
              <p:nvPr/>
            </p:nvSpPr>
            <p:spPr>
              <a:xfrm>
                <a:off x="3067713" y="541671"/>
                <a:ext cx="1563748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statistics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87" name="Google Shape;10187;p97"/>
            <p:cNvGrpSpPr/>
            <p:nvPr/>
          </p:nvGrpSpPr>
          <p:grpSpPr>
            <a:xfrm>
              <a:off x="7513930" y="3839969"/>
              <a:ext cx="889706" cy="459826"/>
              <a:chOff x="3128876" y="457817"/>
              <a:chExt cx="1432326" cy="459826"/>
            </a:xfrm>
          </p:grpSpPr>
          <p:sp>
            <p:nvSpPr>
              <p:cNvPr id="10188" name="Google Shape;10188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9" name="Google Shape;10189;p97"/>
              <p:cNvSpPr txBox="1"/>
              <p:nvPr/>
            </p:nvSpPr>
            <p:spPr>
              <a:xfrm>
                <a:off x="3140940" y="541671"/>
                <a:ext cx="1417294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devices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0" name="Google Shape;10190;p97"/>
            <p:cNvGrpSpPr/>
            <p:nvPr/>
          </p:nvGrpSpPr>
          <p:grpSpPr>
            <a:xfrm>
              <a:off x="7525471" y="3279854"/>
              <a:ext cx="889706" cy="459826"/>
              <a:chOff x="3128876" y="457817"/>
              <a:chExt cx="1432326" cy="459826"/>
            </a:xfrm>
          </p:grpSpPr>
          <p:sp>
            <p:nvSpPr>
              <p:cNvPr id="10191" name="Google Shape;10191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2" name="Google Shape;10192;p97"/>
              <p:cNvSpPr txBox="1"/>
              <p:nvPr/>
            </p:nvSpPr>
            <p:spPr>
              <a:xfrm>
                <a:off x="3306184" y="541671"/>
                <a:ext cx="1086810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hosts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3" name="Google Shape;10193;p97"/>
            <p:cNvGrpSpPr/>
            <p:nvPr/>
          </p:nvGrpSpPr>
          <p:grpSpPr>
            <a:xfrm>
              <a:off x="8671141" y="3852495"/>
              <a:ext cx="889706" cy="459826"/>
              <a:chOff x="3154244" y="470343"/>
              <a:chExt cx="1432326" cy="459826"/>
            </a:xfrm>
          </p:grpSpPr>
          <p:sp>
            <p:nvSpPr>
              <p:cNvPr id="10194" name="Google Shape;10194;p97"/>
              <p:cNvSpPr/>
              <p:nvPr/>
            </p:nvSpPr>
            <p:spPr>
              <a:xfrm>
                <a:off x="3154244" y="470343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5" name="Google Shape;10195;p97"/>
              <p:cNvSpPr txBox="1"/>
              <p:nvPr/>
            </p:nvSpPr>
            <p:spPr>
              <a:xfrm>
                <a:off x="3370539" y="541671"/>
                <a:ext cx="958100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links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6" name="Google Shape;10196;p97"/>
            <p:cNvGrpSpPr/>
            <p:nvPr/>
          </p:nvGrpSpPr>
          <p:grpSpPr>
            <a:xfrm>
              <a:off x="8655384" y="3279854"/>
              <a:ext cx="889706" cy="459826"/>
              <a:chOff x="3128876" y="457817"/>
              <a:chExt cx="1432326" cy="459826"/>
            </a:xfrm>
          </p:grpSpPr>
          <p:sp>
            <p:nvSpPr>
              <p:cNvPr id="10197" name="Google Shape;10197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8" name="Google Shape;10198;p97"/>
              <p:cNvSpPr txBox="1"/>
              <p:nvPr/>
            </p:nvSpPr>
            <p:spPr>
              <a:xfrm>
                <a:off x="3296911" y="541671"/>
                <a:ext cx="1105358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paths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9" name="Google Shape;10199;p97"/>
            <p:cNvGrpSpPr/>
            <p:nvPr/>
          </p:nvGrpSpPr>
          <p:grpSpPr>
            <a:xfrm>
              <a:off x="9686140" y="3279854"/>
              <a:ext cx="1166221" cy="459826"/>
              <a:chOff x="3003364" y="457817"/>
              <a:chExt cx="1692457" cy="459826"/>
            </a:xfrm>
          </p:grpSpPr>
          <p:sp>
            <p:nvSpPr>
              <p:cNvPr id="10200" name="Google Shape;10200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1" name="Google Shape;10201;p97"/>
              <p:cNvSpPr txBox="1"/>
              <p:nvPr/>
            </p:nvSpPr>
            <p:spPr>
              <a:xfrm>
                <a:off x="3003364" y="541671"/>
                <a:ext cx="1692457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flow rules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02" name="Google Shape;10202;p97"/>
            <p:cNvGrpSpPr/>
            <p:nvPr/>
          </p:nvGrpSpPr>
          <p:grpSpPr>
            <a:xfrm>
              <a:off x="10986913" y="3284449"/>
              <a:ext cx="986973" cy="459826"/>
              <a:chOff x="3128876" y="457817"/>
              <a:chExt cx="1432326" cy="459826"/>
            </a:xfrm>
          </p:grpSpPr>
          <p:sp>
            <p:nvSpPr>
              <p:cNvPr id="10203" name="Google Shape;10203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4" name="Google Shape;10204;p97"/>
              <p:cNvSpPr txBox="1"/>
              <p:nvPr/>
            </p:nvSpPr>
            <p:spPr>
              <a:xfrm>
                <a:off x="3152699" y="541671"/>
                <a:ext cx="1393790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topology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0205" name="Google Shape;10205;p97"/>
          <p:cNvCxnSpPr/>
          <p:nvPr/>
        </p:nvCxnSpPr>
        <p:spPr>
          <a:xfrm>
            <a:off x="1349154" y="5538827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206" name="Google Shape;10206;p97"/>
          <p:cNvSpPr txBox="1"/>
          <p:nvPr/>
        </p:nvSpPr>
        <p:spPr>
          <a:xfrm>
            <a:off x="8185530" y="2085890"/>
            <a:ext cx="3601461" cy="4001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apps separate from controller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intent framework: high-level specification of service: what rather than how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considerable emphasis on distributed core: service reliability, replication performance scaling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0" name="Shape 10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1" name="Google Shape;10211;p98"/>
          <p:cNvSpPr txBox="1"/>
          <p:nvPr>
            <p:ph idx="1" type="body"/>
          </p:nvPr>
        </p:nvSpPr>
        <p:spPr>
          <a:xfrm>
            <a:off x="750518" y="14860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90513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hardening the control plane: dependable, reliable, performance-scalable, secure distributed system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robustness to failures: leverage strong theory of reliable distributed system for control plane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dependability, security: “baked in” from day one? 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networks, protocols meeting mission-specific requirements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e.g., real-time, ultra-reliable, ultra-secure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Internet-scaling: beyond a single AS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SDN critical in 5G cellular networks</a:t>
            </a:r>
            <a:endParaRPr/>
          </a:p>
        </p:txBody>
      </p:sp>
      <p:sp>
        <p:nvSpPr>
          <p:cNvPr id="10212" name="Google Shape;10212;p98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SDN:  selected challenges</a:t>
            </a:r>
            <a:endParaRPr/>
          </a:p>
        </p:txBody>
      </p:sp>
      <p:sp>
        <p:nvSpPr>
          <p:cNvPr id="10213" name="Google Shape;10213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7" name="Shape 10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8" name="Google Shape;10218;p99"/>
          <p:cNvSpPr txBox="1"/>
          <p:nvPr>
            <p:ph idx="1" type="body"/>
          </p:nvPr>
        </p:nvSpPr>
        <p:spPr>
          <a:xfrm>
            <a:off x="788096" y="1486033"/>
            <a:ext cx="10515600" cy="3123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SDN-computed versus router-computer forwarding tables:</a:t>
            </a:r>
            <a:endParaRPr/>
          </a:p>
          <a:p>
            <a:pPr indent="-290513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just one example of logically-centralized-computed versus protocol computed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one could imagine SDN-computed congestion control: </a:t>
            </a:r>
            <a:endParaRPr/>
          </a:p>
          <a:p>
            <a:pPr indent="-290513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controller sets sender rates based on router-reported (to controller) congestion levels </a:t>
            </a:r>
            <a:endParaRPr/>
          </a:p>
        </p:txBody>
      </p:sp>
      <p:sp>
        <p:nvSpPr>
          <p:cNvPr id="10219" name="Google Shape;10219;p99"/>
          <p:cNvSpPr txBox="1"/>
          <p:nvPr>
            <p:ph type="title"/>
          </p:nvPr>
        </p:nvSpPr>
        <p:spPr>
          <a:xfrm>
            <a:off x="838200" y="364139"/>
            <a:ext cx="109237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SDN and the future of traditional network protocols</a:t>
            </a:r>
            <a:endParaRPr/>
          </a:p>
        </p:txBody>
      </p:sp>
      <p:sp>
        <p:nvSpPr>
          <p:cNvPr id="10220" name="Google Shape;10220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221" name="Google Shape;10221;p99"/>
          <p:cNvGrpSpPr/>
          <p:nvPr/>
        </p:nvGrpSpPr>
        <p:grpSpPr>
          <a:xfrm>
            <a:off x="2028174" y="4434214"/>
            <a:ext cx="7949853" cy="2423786"/>
            <a:chOff x="2028174" y="4434214"/>
            <a:chExt cx="7949853" cy="2423786"/>
          </a:xfrm>
        </p:grpSpPr>
        <p:pic>
          <p:nvPicPr>
            <p:cNvPr descr="A close up of a sign&#10;&#10;Description automatically generated" id="10222" name="Google Shape;10222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28174" y="4434214"/>
              <a:ext cx="2423786" cy="24237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3" name="Google Shape;10223;p99"/>
            <p:cNvSpPr txBox="1"/>
            <p:nvPr/>
          </p:nvSpPr>
          <p:spPr>
            <a:xfrm>
              <a:off x="3858017" y="5098094"/>
              <a:ext cx="4910203" cy="1255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How will implementation of network functionality (SDN versus protocols) evolve?</a:t>
              </a:r>
              <a:endParaRPr/>
            </a:p>
          </p:txBody>
        </p:sp>
        <p:pic>
          <p:nvPicPr>
            <p:cNvPr descr="A close up of a sign&#10;&#10;Description automatically generated" id="10224" name="Google Shape;10224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54241" y="4434214"/>
              <a:ext cx="2423786" cy="24237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9" name="Shape 10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0" name="Google Shape;10230;p10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0231" name="Google Shape;1023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32" name="Google Shape;10232;p100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3" name="Google Shape;10233;p100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4" name="Google Shape;10234;p10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8" name="Shape 10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9" name="Google Shape;10239;p10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ICMP: internet control message protocol</a:t>
            </a:r>
            <a:endParaRPr/>
          </a:p>
        </p:txBody>
      </p:sp>
      <p:sp>
        <p:nvSpPr>
          <p:cNvPr id="10240" name="Google Shape;10240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41" name="Google Shape;10241;p101"/>
          <p:cNvSpPr txBox="1"/>
          <p:nvPr/>
        </p:nvSpPr>
        <p:spPr>
          <a:xfrm>
            <a:off x="981643" y="1479757"/>
            <a:ext cx="5644621" cy="494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by hosts and routers to communicate network-level information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reporting: unreachable host, network, port,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request/reply (used by ping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“above” IP: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messages carried in IP datagrams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ICMP message: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type, code plus first 8 bytes of IP datagram causing error</a:t>
            </a:r>
            <a:endParaRPr/>
          </a:p>
        </p:txBody>
      </p:sp>
      <p:sp>
        <p:nvSpPr>
          <p:cNvPr id="10242" name="Google Shape;10242;p101"/>
          <p:cNvSpPr txBox="1"/>
          <p:nvPr/>
        </p:nvSpPr>
        <p:spPr>
          <a:xfrm>
            <a:off x="6987193" y="1763438"/>
            <a:ext cx="426085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     0         echo reply (ping)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0         dest. network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1         dest host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2         dest protocol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3         dest port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6         dest network unknown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7         dest host unknown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       0         source quench (congestion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control - not used)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       0         echo request (ping)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       0         route advertisement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     0         router discovery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     0         TTL expired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     0         bad IP header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6" name="Shape 10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7" name="Google Shape;10247;p102"/>
          <p:cNvCxnSpPr/>
          <p:nvPr/>
        </p:nvCxnSpPr>
        <p:spPr>
          <a:xfrm>
            <a:off x="2523068" y="1745295"/>
            <a:ext cx="288925" cy="2651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8" name="Google Shape;10248;p102"/>
          <p:cNvCxnSpPr/>
          <p:nvPr/>
        </p:nvCxnSpPr>
        <p:spPr>
          <a:xfrm flipH="1" rot="10800000">
            <a:off x="3316818" y="1796095"/>
            <a:ext cx="458788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9" name="Google Shape;10249;p102"/>
          <p:cNvCxnSpPr/>
          <p:nvPr/>
        </p:nvCxnSpPr>
        <p:spPr>
          <a:xfrm>
            <a:off x="4251856" y="1780220"/>
            <a:ext cx="485775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50" name="Google Shape;10250;p102"/>
          <p:cNvGrpSpPr/>
          <p:nvPr/>
        </p:nvGrpSpPr>
        <p:grpSpPr>
          <a:xfrm>
            <a:off x="2687515" y="1862419"/>
            <a:ext cx="649995" cy="330505"/>
            <a:chOff x="7493876" y="2774731"/>
            <a:chExt cx="1481958" cy="894622"/>
          </a:xfrm>
        </p:grpSpPr>
        <p:sp>
          <p:nvSpPr>
            <p:cNvPr id="10251" name="Google Shape;10251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52" name="Google Shape;10252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53" name="Google Shape;10253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54" name="Google Shape;10254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5" name="Google Shape;10255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6" name="Google Shape;10256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7" name="Google Shape;10257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258" name="Google Shape;10258;p102"/>
          <p:cNvCxnSpPr/>
          <p:nvPr/>
        </p:nvCxnSpPr>
        <p:spPr>
          <a:xfrm flipH="1">
            <a:off x="4013731" y="1511933"/>
            <a:ext cx="34925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9" name="Google Shape;10259;p102"/>
          <p:cNvCxnSpPr/>
          <p:nvPr/>
        </p:nvCxnSpPr>
        <p:spPr>
          <a:xfrm>
            <a:off x="3981981" y="1911983"/>
            <a:ext cx="228600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60" name="Google Shape;10260;p102"/>
          <p:cNvGrpSpPr/>
          <p:nvPr/>
        </p:nvGrpSpPr>
        <p:grpSpPr>
          <a:xfrm>
            <a:off x="3636127" y="1646571"/>
            <a:ext cx="649995" cy="330505"/>
            <a:chOff x="7493876" y="2774731"/>
            <a:chExt cx="1481958" cy="894622"/>
          </a:xfrm>
        </p:grpSpPr>
        <p:sp>
          <p:nvSpPr>
            <p:cNvPr id="10261" name="Google Shape;10261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62" name="Google Shape;10262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63" name="Google Shape;10263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64" name="Google Shape;10264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5" name="Google Shape;10265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6" name="Google Shape;10266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7" name="Google Shape;10267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268" name="Google Shape;10268;p10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Traceroute and ICMP</a:t>
            </a:r>
            <a:endParaRPr/>
          </a:p>
        </p:txBody>
      </p:sp>
      <p:sp>
        <p:nvSpPr>
          <p:cNvPr id="10269" name="Google Shape;10269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70" name="Google Shape;10270;p102"/>
          <p:cNvSpPr txBox="1"/>
          <p:nvPr/>
        </p:nvSpPr>
        <p:spPr>
          <a:xfrm>
            <a:off x="984900" y="5695721"/>
            <a:ext cx="9998917" cy="550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ICMP message arrives at source: record RTTs</a:t>
            </a:r>
            <a:endParaRPr/>
          </a:p>
          <a:p>
            <a:pPr indent="-285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1" name="Google Shape;10271;p102"/>
          <p:cNvSpPr txBox="1"/>
          <p:nvPr/>
        </p:nvSpPr>
        <p:spPr>
          <a:xfrm>
            <a:off x="6911937" y="2213510"/>
            <a:ext cx="3810000" cy="2005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01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2" name="Google Shape;10272;p102"/>
          <p:cNvSpPr/>
          <p:nvPr/>
        </p:nvSpPr>
        <p:spPr>
          <a:xfrm>
            <a:off x="8095562" y="2730905"/>
            <a:ext cx="3810000" cy="2568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stopping criteria: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 segment eventually arrives at destination host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returns ICMP “port unreachable” message (type 3, code 3)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stops</a:t>
            </a:r>
            <a:endParaRPr/>
          </a:p>
        </p:txBody>
      </p:sp>
      <p:cxnSp>
        <p:nvCxnSpPr>
          <p:cNvPr id="10273" name="Google Shape;10273;p102"/>
          <p:cNvCxnSpPr/>
          <p:nvPr/>
        </p:nvCxnSpPr>
        <p:spPr>
          <a:xfrm flipH="1">
            <a:off x="5228168" y="1840545"/>
            <a:ext cx="620713" cy="1444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4" name="Google Shape;10274;p102"/>
          <p:cNvCxnSpPr/>
          <p:nvPr/>
        </p:nvCxnSpPr>
        <p:spPr>
          <a:xfrm>
            <a:off x="6347356" y="1805620"/>
            <a:ext cx="485775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5" name="Google Shape;10275;p102"/>
          <p:cNvCxnSpPr/>
          <p:nvPr/>
        </p:nvCxnSpPr>
        <p:spPr>
          <a:xfrm flipH="1">
            <a:off x="7285568" y="1751645"/>
            <a:ext cx="557213" cy="2778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6" name="Google Shape;10276;p102"/>
          <p:cNvCxnSpPr/>
          <p:nvPr/>
        </p:nvCxnSpPr>
        <p:spPr>
          <a:xfrm>
            <a:off x="5906031" y="1499233"/>
            <a:ext cx="228600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7" name="Google Shape;10277;p102"/>
          <p:cNvCxnSpPr/>
          <p:nvPr/>
        </p:nvCxnSpPr>
        <p:spPr>
          <a:xfrm flipH="1">
            <a:off x="4623331" y="2102483"/>
            <a:ext cx="34925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8" name="Google Shape;10278;p102"/>
          <p:cNvCxnSpPr/>
          <p:nvPr/>
        </p:nvCxnSpPr>
        <p:spPr>
          <a:xfrm>
            <a:off x="4978931" y="1607183"/>
            <a:ext cx="6350" cy="260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79" name="Google Shape;10279;p102"/>
          <p:cNvSpPr txBox="1"/>
          <p:nvPr/>
        </p:nvSpPr>
        <p:spPr>
          <a:xfrm>
            <a:off x="2624668" y="1464308"/>
            <a:ext cx="1073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sp>
        <p:nvSpPr>
          <p:cNvPr id="10280" name="Google Shape;10280;p102"/>
          <p:cNvSpPr txBox="1"/>
          <p:nvPr/>
        </p:nvSpPr>
        <p:spPr>
          <a:xfrm>
            <a:off x="3239031" y="2024695"/>
            <a:ext cx="1073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sp>
        <p:nvSpPr>
          <p:cNvPr id="10281" name="Google Shape;10281;p102"/>
          <p:cNvSpPr txBox="1"/>
          <p:nvPr/>
        </p:nvSpPr>
        <p:spPr>
          <a:xfrm>
            <a:off x="4262968" y="1438908"/>
            <a:ext cx="1073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grpSp>
        <p:nvGrpSpPr>
          <p:cNvPr id="10282" name="Google Shape;10282;p102"/>
          <p:cNvGrpSpPr/>
          <p:nvPr/>
        </p:nvGrpSpPr>
        <p:grpSpPr>
          <a:xfrm>
            <a:off x="1754718" y="1400808"/>
            <a:ext cx="820738" cy="688975"/>
            <a:chOff x="-44" y="1473"/>
            <a:chExt cx="981" cy="1105"/>
          </a:xfrm>
        </p:grpSpPr>
        <p:pic>
          <p:nvPicPr>
            <p:cNvPr descr="desktop_computer_stylized_medium" id="10283" name="Google Shape;10283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4" name="Google Shape;10284;p10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85" name="Google Shape;10285;p102"/>
          <p:cNvGrpSpPr/>
          <p:nvPr/>
        </p:nvGrpSpPr>
        <p:grpSpPr>
          <a:xfrm flipH="1">
            <a:off x="7803093" y="1438908"/>
            <a:ext cx="754063" cy="669925"/>
            <a:chOff x="-44" y="1473"/>
            <a:chExt cx="981" cy="1105"/>
          </a:xfrm>
        </p:grpSpPr>
        <p:pic>
          <p:nvPicPr>
            <p:cNvPr descr="desktop_computer_stylized_medium" id="10286" name="Google Shape;10286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7" name="Google Shape;10287;p10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88" name="Google Shape;10288;p102"/>
          <p:cNvSpPr/>
          <p:nvPr/>
        </p:nvSpPr>
        <p:spPr>
          <a:xfrm>
            <a:off x="2526243" y="1721483"/>
            <a:ext cx="419100" cy="419100"/>
          </a:xfrm>
          <a:custGeom>
            <a:rect b="b" l="l" r="r" t="t"/>
            <a:pathLst>
              <a:path extrusionOk="0" h="264" w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9" name="Google Shape;10289;p102"/>
          <p:cNvSpPr/>
          <p:nvPr/>
        </p:nvSpPr>
        <p:spPr>
          <a:xfrm>
            <a:off x="2519893" y="1635758"/>
            <a:ext cx="1346200" cy="474662"/>
          </a:xfrm>
          <a:custGeom>
            <a:rect b="b" l="l" r="r" t="t"/>
            <a:pathLst>
              <a:path extrusionOk="0" h="299" w="848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0" name="Google Shape;10290;p102"/>
          <p:cNvSpPr txBox="1"/>
          <p:nvPr/>
        </p:nvSpPr>
        <p:spPr>
          <a:xfrm>
            <a:off x="938996" y="2521027"/>
            <a:ext cx="6396401" cy="3240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sends sets of UDP segments to destination</a:t>
            </a:r>
            <a:endParaRPr/>
          </a:p>
          <a:p>
            <a:pPr indent="-222250" lvl="1" marL="565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set has TTL =1,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set has TTL=2, etc.</a:t>
            </a:r>
            <a:endParaRPr/>
          </a:p>
          <a:p>
            <a:pPr indent="-282575" lvl="0" marL="2825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 in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 set arrives to nth router:</a:t>
            </a:r>
            <a:endParaRPr/>
          </a:p>
          <a:p>
            <a:pPr indent="-1809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discards datagram and sends source ICMP message (type 11, code 0)</a:t>
            </a:r>
            <a:endParaRPr/>
          </a:p>
          <a:p>
            <a:pPr indent="-1809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 possibly includes name of router &amp; IP address</a:t>
            </a:r>
            <a:endParaRPr/>
          </a:p>
          <a:p>
            <a:pPr indent="-285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91" name="Google Shape;10291;p102"/>
          <p:cNvGrpSpPr/>
          <p:nvPr/>
        </p:nvGrpSpPr>
        <p:grpSpPr>
          <a:xfrm>
            <a:off x="6775374" y="1828801"/>
            <a:ext cx="649995" cy="330505"/>
            <a:chOff x="7493876" y="2774731"/>
            <a:chExt cx="1481958" cy="894622"/>
          </a:xfrm>
        </p:grpSpPr>
        <p:sp>
          <p:nvSpPr>
            <p:cNvPr id="10292" name="Google Shape;10292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93" name="Google Shape;10293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94" name="Google Shape;10294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95" name="Google Shape;10295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6" name="Google Shape;10296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7" name="Google Shape;10297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8" name="Google Shape;10298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299" name="Google Shape;10299;p102"/>
          <p:cNvGrpSpPr/>
          <p:nvPr/>
        </p:nvGrpSpPr>
        <p:grpSpPr>
          <a:xfrm>
            <a:off x="5748969" y="1683745"/>
            <a:ext cx="649995" cy="330505"/>
            <a:chOff x="7493876" y="2774731"/>
            <a:chExt cx="1481958" cy="894622"/>
          </a:xfrm>
        </p:grpSpPr>
        <p:sp>
          <p:nvSpPr>
            <p:cNvPr id="10300" name="Google Shape;10300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301" name="Google Shape;10301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302" name="Google Shape;10302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03" name="Google Shape;10303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4" name="Google Shape;10304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5" name="Google Shape;10305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6" name="Google Shape;10306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07" name="Google Shape;10307;p102"/>
          <p:cNvGrpSpPr/>
          <p:nvPr/>
        </p:nvGrpSpPr>
        <p:grpSpPr>
          <a:xfrm>
            <a:off x="4623412" y="1847161"/>
            <a:ext cx="649995" cy="330505"/>
            <a:chOff x="7493876" y="2774731"/>
            <a:chExt cx="1481958" cy="894622"/>
          </a:xfrm>
        </p:grpSpPr>
        <p:sp>
          <p:nvSpPr>
            <p:cNvPr id="10308" name="Google Shape;10308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309" name="Google Shape;10309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310" name="Google Shape;10310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11" name="Google Shape;10311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2" name="Google Shape;10312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3" name="Google Shape;10313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4" name="Google Shape;10314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315" name="Google Shape;10315;p102"/>
          <p:cNvSpPr/>
          <p:nvPr/>
        </p:nvSpPr>
        <p:spPr>
          <a:xfrm>
            <a:off x="2494493" y="1684970"/>
            <a:ext cx="2247900" cy="403225"/>
          </a:xfrm>
          <a:custGeom>
            <a:rect b="b" l="l" r="r" t="t"/>
            <a:pathLst>
              <a:path extrusionOk="0" h="254" w="1416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0" name="Shape 10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1" name="Google Shape;10321;p10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0322" name="Google Shape;10322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0323" name="Google Shape;10323;p103"/>
          <p:cNvSpPr txBox="1"/>
          <p:nvPr/>
        </p:nvSpPr>
        <p:spPr>
          <a:xfrm>
            <a:off x="6761675" y="4144564"/>
            <a:ext cx="5066531" cy="213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 (*)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4" name="Google Shape;10324;p103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5" name="Google Shape;10325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29" name="Shape 10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0" name="Google Shape;10330;p104"/>
          <p:cNvSpPr txBox="1"/>
          <p:nvPr>
            <p:ph idx="1" type="body"/>
          </p:nvPr>
        </p:nvSpPr>
        <p:spPr>
          <a:xfrm>
            <a:off x="850075" y="1557773"/>
            <a:ext cx="10515600" cy="2230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4163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3200">
                <a:solidFill>
                  <a:srgbClr val="0000A8"/>
                </a:solidFill>
              </a:rPr>
              <a:t>autonomous systems (aka “network”): </a:t>
            </a:r>
            <a:r>
              <a:rPr lang="en-US" sz="3200"/>
              <a:t>1000s of interacting hardware/software components</a:t>
            </a:r>
            <a:endParaRPr/>
          </a:p>
          <a:p>
            <a:pPr indent="-28416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other complex systems requiring monitoring, configuration, control: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3000"/>
              <a:t>jet airplane, nuclear power plant, others?</a:t>
            </a:r>
            <a:endParaRPr/>
          </a:p>
          <a:p>
            <a:pPr indent="-57784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0331" name="Google Shape;10331;p10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 is network management?</a:t>
            </a:r>
            <a:endParaRPr/>
          </a:p>
        </p:txBody>
      </p:sp>
      <p:sp>
        <p:nvSpPr>
          <p:cNvPr id="10332" name="Google Shape;10332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333" name="Google Shape;10333;p104"/>
          <p:cNvGrpSpPr/>
          <p:nvPr/>
        </p:nvGrpSpPr>
        <p:grpSpPr>
          <a:xfrm>
            <a:off x="1981694" y="4123789"/>
            <a:ext cx="8232775" cy="2093913"/>
            <a:chOff x="1981694" y="4123789"/>
            <a:chExt cx="8232775" cy="2093913"/>
          </a:xfrm>
        </p:grpSpPr>
        <p:sp>
          <p:nvSpPr>
            <p:cNvPr id="10334" name="Google Shape;10334;p104"/>
            <p:cNvSpPr txBox="1"/>
            <p:nvPr/>
          </p:nvSpPr>
          <p:spPr>
            <a:xfrm>
              <a:off x="3161207" y="4153952"/>
              <a:ext cx="6962775" cy="2000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"</a:t>
              </a:r>
              <a:r>
                <a:rPr lang="en-US" sz="20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Network management</a:t>
              </a: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includes the deployment, integration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coordination of the hardware, software, and human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elements to monitor, test, poll, configure, analyze, evaluate,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control the network and element resources to meet the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real-time, operational performance, and Quality of Service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requirements at a reasonable cost."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10335" name="Google Shape;10335;p104"/>
            <p:cNvSpPr/>
            <p:nvPr/>
          </p:nvSpPr>
          <p:spPr>
            <a:xfrm>
              <a:off x="3065957" y="4123789"/>
              <a:ext cx="7148512" cy="2093913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36" name="Google Shape;10336;p10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81694" y="4317464"/>
              <a:ext cx="1123950" cy="1600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41" name="Shape 10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" name="Google Shape;10342;p10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Components of network management</a:t>
            </a:r>
            <a:endParaRPr/>
          </a:p>
        </p:txBody>
      </p:sp>
      <p:sp>
        <p:nvSpPr>
          <p:cNvPr id="10343" name="Google Shape;10343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44" name="Google Shape;10344;p105"/>
          <p:cNvSpPr/>
          <p:nvPr/>
        </p:nvSpPr>
        <p:spPr>
          <a:xfrm rot="-5216633">
            <a:off x="3968383" y="2925460"/>
            <a:ext cx="4057421" cy="2452239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45" name="Google Shape;10345;p105"/>
          <p:cNvCxnSpPr/>
          <p:nvPr/>
        </p:nvCxnSpPr>
        <p:spPr>
          <a:xfrm flipH="1" rot="10800000">
            <a:off x="6036787" y="3158537"/>
            <a:ext cx="338138" cy="10429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6" name="Google Shape;10346;p105"/>
          <p:cNvCxnSpPr/>
          <p:nvPr/>
        </p:nvCxnSpPr>
        <p:spPr>
          <a:xfrm flipH="1" rot="10800000">
            <a:off x="6267286" y="4112624"/>
            <a:ext cx="290202" cy="25148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7" name="Google Shape;10347;p105"/>
          <p:cNvCxnSpPr/>
          <p:nvPr/>
        </p:nvCxnSpPr>
        <p:spPr>
          <a:xfrm>
            <a:off x="6270150" y="4603162"/>
            <a:ext cx="373062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8" name="Google Shape;10348;p105"/>
          <p:cNvCxnSpPr/>
          <p:nvPr/>
        </p:nvCxnSpPr>
        <p:spPr>
          <a:xfrm>
            <a:off x="5462112" y="3653837"/>
            <a:ext cx="371475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9" name="Google Shape;10349;p105"/>
          <p:cNvCxnSpPr/>
          <p:nvPr/>
        </p:nvCxnSpPr>
        <p:spPr>
          <a:xfrm flipH="1">
            <a:off x="5676425" y="4592049"/>
            <a:ext cx="309562" cy="10239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350" name="Google Shape;10350;p105"/>
          <p:cNvGrpSpPr/>
          <p:nvPr/>
        </p:nvGrpSpPr>
        <p:grpSpPr>
          <a:xfrm>
            <a:off x="3982954" y="2808993"/>
            <a:ext cx="4334676" cy="3307930"/>
            <a:chOff x="3982954" y="2808993"/>
            <a:chExt cx="4334676" cy="3307930"/>
          </a:xfrm>
        </p:grpSpPr>
        <p:sp>
          <p:nvSpPr>
            <p:cNvPr id="10351" name="Google Shape;10351;p105"/>
            <p:cNvSpPr txBox="1"/>
            <p:nvPr/>
          </p:nvSpPr>
          <p:spPr>
            <a:xfrm>
              <a:off x="3982954" y="5809146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352" name="Google Shape;10352;p105"/>
            <p:cNvSpPr txBox="1"/>
            <p:nvPr/>
          </p:nvSpPr>
          <p:spPr>
            <a:xfrm>
              <a:off x="6589237" y="5649324"/>
              <a:ext cx="16903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353" name="Google Shape;10353;p105"/>
            <p:cNvSpPr txBox="1"/>
            <p:nvPr/>
          </p:nvSpPr>
          <p:spPr>
            <a:xfrm>
              <a:off x="6820104" y="2808993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354" name="Google Shape;10354;p105"/>
            <p:cNvSpPr txBox="1"/>
            <p:nvPr/>
          </p:nvSpPr>
          <p:spPr>
            <a:xfrm>
              <a:off x="6762275" y="4115799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  <p:sp>
          <p:nvSpPr>
            <p:cNvPr id="10355" name="Google Shape;10355;p105"/>
            <p:cNvSpPr txBox="1"/>
            <p:nvPr/>
          </p:nvSpPr>
          <p:spPr>
            <a:xfrm>
              <a:off x="4774160" y="4518371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</p:grpSp>
      <p:grpSp>
        <p:nvGrpSpPr>
          <p:cNvPr id="10356" name="Google Shape;10356;p105"/>
          <p:cNvGrpSpPr/>
          <p:nvPr/>
        </p:nvGrpSpPr>
        <p:grpSpPr>
          <a:xfrm>
            <a:off x="5091628" y="2760942"/>
            <a:ext cx="469569" cy="865434"/>
            <a:chOff x="4140" y="429"/>
            <a:chExt cx="1425" cy="2396"/>
          </a:xfrm>
        </p:grpSpPr>
        <p:sp>
          <p:nvSpPr>
            <p:cNvPr id="10357" name="Google Shape;10357;p10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8" name="Google Shape;10358;p105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9" name="Google Shape;10359;p10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0" name="Google Shape;10360;p10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1" name="Google Shape;10361;p105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62" name="Google Shape;10362;p105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363" name="Google Shape;10363;p105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4" name="Google Shape;10364;p105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65" name="Google Shape;10365;p105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66" name="Google Shape;10366;p105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367" name="Google Shape;10367;p105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8" name="Google Shape;10368;p105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69" name="Google Shape;10369;p105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0" name="Google Shape;10370;p105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71" name="Google Shape;10371;p105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372" name="Google Shape;10372;p105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3" name="Google Shape;10373;p105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74" name="Google Shape;10374;p10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75" name="Google Shape;10375;p105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376" name="Google Shape;10376;p105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7" name="Google Shape;10377;p105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78" name="Google Shape;10378;p105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9" name="Google Shape;10379;p10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0" name="Google Shape;10380;p10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1" name="Google Shape;10381;p105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2" name="Google Shape;10382;p10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3" name="Google Shape;10383;p105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4" name="Google Shape;10384;p105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5" name="Google Shape;10385;p105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6" name="Google Shape;10386;p105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7" name="Google Shape;10387;p105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8" name="Google Shape;10388;p105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89" name="Google Shape;10389;p105"/>
          <p:cNvGrpSpPr/>
          <p:nvPr/>
        </p:nvGrpSpPr>
        <p:grpSpPr>
          <a:xfrm>
            <a:off x="6514625" y="5150849"/>
            <a:ext cx="366712" cy="579438"/>
            <a:chOff x="4140" y="429"/>
            <a:chExt cx="1425" cy="2396"/>
          </a:xfrm>
        </p:grpSpPr>
        <p:sp>
          <p:nvSpPr>
            <p:cNvPr id="10390" name="Google Shape;10390;p10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1" name="Google Shape;10391;p105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2" name="Google Shape;10392;p10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3" name="Google Shape;10393;p10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4" name="Google Shape;10394;p105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95" name="Google Shape;10395;p105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396" name="Google Shape;10396;p105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7" name="Google Shape;10397;p105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98" name="Google Shape;10398;p105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99" name="Google Shape;10399;p105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400" name="Google Shape;10400;p105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1" name="Google Shape;10401;p105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02" name="Google Shape;10402;p105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3" name="Google Shape;10403;p105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04" name="Google Shape;10404;p105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405" name="Google Shape;10405;p105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6" name="Google Shape;10406;p105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07" name="Google Shape;10407;p10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08" name="Google Shape;10408;p105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409" name="Google Shape;10409;p105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0" name="Google Shape;10410;p105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11" name="Google Shape;10411;p105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2" name="Google Shape;10412;p10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3" name="Google Shape;10413;p10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4" name="Google Shape;10414;p105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5" name="Google Shape;10415;p10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6" name="Google Shape;10416;p105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7" name="Google Shape;10417;p105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8" name="Google Shape;10418;p105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9" name="Google Shape;10419;p105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0" name="Google Shape;10420;p105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1" name="Google Shape;10421;p105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22" name="Google Shape;10422;p105"/>
          <p:cNvGrpSpPr/>
          <p:nvPr/>
        </p:nvGrpSpPr>
        <p:grpSpPr>
          <a:xfrm>
            <a:off x="5273431" y="5539343"/>
            <a:ext cx="683116" cy="378456"/>
            <a:chOff x="7493876" y="2774731"/>
            <a:chExt cx="1481958" cy="894622"/>
          </a:xfrm>
        </p:grpSpPr>
        <p:sp>
          <p:nvSpPr>
            <p:cNvPr id="10423" name="Google Shape;10423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424" name="Google Shape;10424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425" name="Google Shape;10425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26" name="Google Shape;10426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7" name="Google Shape;10427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8" name="Google Shape;10428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9" name="Google Shape;10429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430" name="Google Shape;10430;p105"/>
          <p:cNvCxnSpPr/>
          <p:nvPr/>
        </p:nvCxnSpPr>
        <p:spPr>
          <a:xfrm>
            <a:off x="7193560" y="4043476"/>
            <a:ext cx="46313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31" name="Google Shape;10431;p105"/>
          <p:cNvCxnSpPr/>
          <p:nvPr/>
        </p:nvCxnSpPr>
        <p:spPr>
          <a:xfrm>
            <a:off x="5792273" y="5919778"/>
            <a:ext cx="237507" cy="23750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432" name="Google Shape;10432;p105"/>
          <p:cNvGrpSpPr/>
          <p:nvPr/>
        </p:nvGrpSpPr>
        <p:grpSpPr>
          <a:xfrm>
            <a:off x="3623562" y="1917794"/>
            <a:ext cx="4834638" cy="3974275"/>
            <a:chOff x="3623562" y="1917794"/>
            <a:chExt cx="4834638" cy="3974275"/>
          </a:xfrm>
        </p:grpSpPr>
        <p:grpSp>
          <p:nvGrpSpPr>
            <p:cNvPr id="10433" name="Google Shape;10433;p105"/>
            <p:cNvGrpSpPr/>
            <p:nvPr/>
          </p:nvGrpSpPr>
          <p:grpSpPr>
            <a:xfrm>
              <a:off x="6599795" y="1917794"/>
              <a:ext cx="1615044" cy="1104405"/>
              <a:chOff x="6599795" y="1917794"/>
              <a:chExt cx="1615044" cy="1104405"/>
            </a:xfrm>
          </p:grpSpPr>
          <p:sp>
            <p:nvSpPr>
              <p:cNvPr id="10434" name="Google Shape;10434;p105"/>
              <p:cNvSpPr/>
              <p:nvPr/>
            </p:nvSpPr>
            <p:spPr>
              <a:xfrm>
                <a:off x="6599795" y="2131549"/>
                <a:ext cx="1615044" cy="890650"/>
              </a:xfrm>
              <a:custGeom>
                <a:rect b="b" l="l" r="r" t="t"/>
                <a:pathLst>
                  <a:path extrusionOk="0" h="890650" w="1615044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615044" y="83128"/>
                    </a:lnTo>
                    <a:cubicBezTo>
                      <a:pt x="823355" y="399803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71764"/>
                    </a:srgbClr>
                  </a:gs>
                  <a:gs pos="99000">
                    <a:srgbClr val="F2F2F2"/>
                  </a:gs>
                  <a:gs pos="100000">
                    <a:srgbClr val="F2F2F2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5" name="Google Shape;10435;p105"/>
              <p:cNvSpPr/>
              <p:nvPr/>
            </p:nvSpPr>
            <p:spPr>
              <a:xfrm>
                <a:off x="6893234" y="1917794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6" name="Google Shape;10436;p105"/>
              <p:cNvSpPr txBox="1"/>
              <p:nvPr/>
            </p:nvSpPr>
            <p:spPr>
              <a:xfrm>
                <a:off x="6925808" y="2038751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37" name="Google Shape;10437;p105"/>
              <p:cNvGrpSpPr/>
              <p:nvPr/>
            </p:nvGrpSpPr>
            <p:grpSpPr>
              <a:xfrm>
                <a:off x="7524624" y="2012797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38" name="Google Shape;10438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9" name="Google Shape;10439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40" name="Google Shape;10440;p105"/>
            <p:cNvGrpSpPr/>
            <p:nvPr/>
          </p:nvGrpSpPr>
          <p:grpSpPr>
            <a:xfrm>
              <a:off x="6752194" y="4789643"/>
              <a:ext cx="1646629" cy="914399"/>
              <a:chOff x="6752194" y="4789643"/>
              <a:chExt cx="1646629" cy="914399"/>
            </a:xfrm>
          </p:grpSpPr>
          <p:sp>
            <p:nvSpPr>
              <p:cNvPr id="10441" name="Google Shape;10441;p105"/>
              <p:cNvSpPr/>
              <p:nvPr/>
            </p:nvSpPr>
            <p:spPr>
              <a:xfrm>
                <a:off x="6752194" y="5003397"/>
                <a:ext cx="1294411" cy="700645"/>
              </a:xfrm>
              <a:custGeom>
                <a:rect b="b" l="l" r="r" t="t"/>
                <a:pathLst>
                  <a:path extrusionOk="0" h="700645" w="1294411">
                    <a:moveTo>
                      <a:pt x="59377" y="463138"/>
                    </a:moveTo>
                    <a:cubicBezTo>
                      <a:pt x="285008" y="380011"/>
                      <a:pt x="368136" y="285008"/>
                      <a:pt x="344384" y="0"/>
                    </a:cubicBezTo>
                    <a:lnTo>
                      <a:pt x="1294411" y="296884"/>
                    </a:lnTo>
                    <a:cubicBezTo>
                      <a:pt x="407720" y="530432"/>
                      <a:pt x="601683" y="455221"/>
                      <a:pt x="0" y="700645"/>
                    </a:cubicBezTo>
                    <a:lnTo>
                      <a:pt x="59377" y="46313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D8D8D8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2" name="Google Shape;10442;p105"/>
              <p:cNvSpPr/>
              <p:nvPr/>
            </p:nvSpPr>
            <p:spPr>
              <a:xfrm>
                <a:off x="7105011" y="4789643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3" name="Google Shape;10443;p105"/>
              <p:cNvSpPr txBox="1"/>
              <p:nvPr/>
            </p:nvSpPr>
            <p:spPr>
              <a:xfrm>
                <a:off x="7137585" y="4910600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44" name="Google Shape;10444;p105"/>
              <p:cNvGrpSpPr/>
              <p:nvPr/>
            </p:nvGrpSpPr>
            <p:grpSpPr>
              <a:xfrm>
                <a:off x="7736401" y="4884646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45" name="Google Shape;10445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6" name="Google Shape;10446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47" name="Google Shape;10447;p105"/>
            <p:cNvGrpSpPr/>
            <p:nvPr/>
          </p:nvGrpSpPr>
          <p:grpSpPr>
            <a:xfrm>
              <a:off x="3623562" y="5108298"/>
              <a:ext cx="1784742" cy="783771"/>
              <a:chOff x="3623562" y="5108298"/>
              <a:chExt cx="1784742" cy="783771"/>
            </a:xfrm>
          </p:grpSpPr>
          <p:sp>
            <p:nvSpPr>
              <p:cNvPr id="10448" name="Google Shape;10448;p105"/>
              <p:cNvSpPr/>
              <p:nvPr/>
            </p:nvSpPr>
            <p:spPr>
              <a:xfrm flipH="1">
                <a:off x="4018890" y="5238925"/>
                <a:ext cx="1389414" cy="653144"/>
              </a:xfrm>
              <a:custGeom>
                <a:rect b="b" l="l" r="r" t="t"/>
                <a:pathLst>
                  <a:path extrusionOk="0" h="653144" w="138941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9" name="Google Shape;10449;p105"/>
              <p:cNvSpPr/>
              <p:nvPr/>
            </p:nvSpPr>
            <p:spPr>
              <a:xfrm>
                <a:off x="3623562" y="5108298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0" name="Google Shape;10450;p105"/>
              <p:cNvSpPr txBox="1"/>
              <p:nvPr/>
            </p:nvSpPr>
            <p:spPr>
              <a:xfrm>
                <a:off x="3656136" y="5229255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51" name="Google Shape;10451;p105"/>
              <p:cNvGrpSpPr/>
              <p:nvPr/>
            </p:nvGrpSpPr>
            <p:grpSpPr>
              <a:xfrm>
                <a:off x="4254952" y="5203301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52" name="Google Shape;10452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3" name="Google Shape;10453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54" name="Google Shape;10454;p105"/>
            <p:cNvGrpSpPr/>
            <p:nvPr/>
          </p:nvGrpSpPr>
          <p:grpSpPr>
            <a:xfrm>
              <a:off x="6918449" y="3352729"/>
              <a:ext cx="1539751" cy="831273"/>
              <a:chOff x="6918449" y="3352729"/>
              <a:chExt cx="1539751" cy="831273"/>
            </a:xfrm>
          </p:grpSpPr>
          <p:sp>
            <p:nvSpPr>
              <p:cNvPr id="10455" name="Google Shape;10455;p105"/>
              <p:cNvSpPr/>
              <p:nvPr/>
            </p:nvSpPr>
            <p:spPr>
              <a:xfrm>
                <a:off x="6918449" y="3627840"/>
                <a:ext cx="1223159" cy="556162"/>
              </a:xfrm>
              <a:custGeom>
                <a:rect b="b" l="l" r="r" t="t"/>
                <a:pathLst>
                  <a:path extrusionOk="0" h="890650" w="1223159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223159" y="368389"/>
                    </a:lnTo>
                    <a:cubicBezTo>
                      <a:pt x="431470" y="685064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D8D8D8">
                      <a:alpha val="72941"/>
                    </a:srgbClr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6" name="Google Shape;10456;p105"/>
              <p:cNvSpPr/>
              <p:nvPr/>
            </p:nvSpPr>
            <p:spPr>
              <a:xfrm>
                <a:off x="7164388" y="3352729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7" name="Google Shape;10457;p105"/>
              <p:cNvSpPr txBox="1"/>
              <p:nvPr/>
            </p:nvSpPr>
            <p:spPr>
              <a:xfrm>
                <a:off x="7196962" y="3473686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58" name="Google Shape;10458;p105"/>
              <p:cNvGrpSpPr/>
              <p:nvPr/>
            </p:nvGrpSpPr>
            <p:grpSpPr>
              <a:xfrm>
                <a:off x="7795778" y="3447732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59" name="Google Shape;10459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0" name="Google Shape;10460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61" name="Google Shape;10461;p105"/>
            <p:cNvGrpSpPr/>
            <p:nvPr/>
          </p:nvGrpSpPr>
          <p:grpSpPr>
            <a:xfrm>
              <a:off x="3906590" y="3823785"/>
              <a:ext cx="1755404" cy="783771"/>
              <a:chOff x="1750147" y="5031180"/>
              <a:chExt cx="1755404" cy="783771"/>
            </a:xfrm>
          </p:grpSpPr>
          <p:sp>
            <p:nvSpPr>
              <p:cNvPr id="10462" name="Google Shape;10462;p105"/>
              <p:cNvSpPr/>
              <p:nvPr/>
            </p:nvSpPr>
            <p:spPr>
              <a:xfrm flipH="1">
                <a:off x="2679864" y="5304311"/>
                <a:ext cx="825687" cy="510640"/>
              </a:xfrm>
              <a:custGeom>
                <a:rect b="b" l="l" r="r" t="t"/>
                <a:pathLst>
                  <a:path extrusionOk="0" h="510640" w="825687">
                    <a:moveTo>
                      <a:pt x="5589" y="331811"/>
                    </a:moveTo>
                    <a:cubicBezTo>
                      <a:pt x="231220" y="248684"/>
                      <a:pt x="267546" y="201881"/>
                      <a:pt x="481300" y="0"/>
                    </a:cubicBezTo>
                    <a:cubicBezTo>
                      <a:pt x="537418" y="145764"/>
                      <a:pt x="583755" y="179062"/>
                      <a:pt x="825687" y="261258"/>
                    </a:cubicBezTo>
                    <a:cubicBezTo>
                      <a:pt x="389560" y="305502"/>
                      <a:pt x="239835" y="377682"/>
                      <a:pt x="0" y="510640"/>
                    </a:cubicBezTo>
                    <a:lnTo>
                      <a:pt x="5589" y="33181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0980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3" name="Google Shape;10463;p105"/>
              <p:cNvSpPr/>
              <p:nvPr/>
            </p:nvSpPr>
            <p:spPr>
              <a:xfrm>
                <a:off x="1750147" y="5031180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4" name="Google Shape;10464;p105"/>
              <p:cNvSpPr txBox="1"/>
              <p:nvPr/>
            </p:nvSpPr>
            <p:spPr>
              <a:xfrm>
                <a:off x="1782721" y="5152137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65" name="Google Shape;10465;p105"/>
              <p:cNvGrpSpPr/>
              <p:nvPr/>
            </p:nvGrpSpPr>
            <p:grpSpPr>
              <a:xfrm>
                <a:off x="2381537" y="5126183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66" name="Google Shape;10466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7" name="Google Shape;10467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</p:grpSp>
      <p:grpSp>
        <p:nvGrpSpPr>
          <p:cNvPr id="10468" name="Google Shape;10468;p105"/>
          <p:cNvGrpSpPr/>
          <p:nvPr/>
        </p:nvGrpSpPr>
        <p:grpSpPr>
          <a:xfrm>
            <a:off x="5649769" y="4179021"/>
            <a:ext cx="736270" cy="422596"/>
            <a:chOff x="3668110" y="2448910"/>
            <a:chExt cx="3794234" cy="2165130"/>
          </a:xfrm>
        </p:grpSpPr>
        <p:sp>
          <p:nvSpPr>
            <p:cNvPr id="10469" name="Google Shape;10469;p10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0" name="Google Shape;10470;p10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71" name="Google Shape;10471;p10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472" name="Google Shape;10472;p10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3" name="Google Shape;10473;p10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4" name="Google Shape;10474;p10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5" name="Google Shape;10475;p10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76" name="Google Shape;10476;p105"/>
          <p:cNvGrpSpPr/>
          <p:nvPr/>
        </p:nvGrpSpPr>
        <p:grpSpPr>
          <a:xfrm>
            <a:off x="2739071" y="2226350"/>
            <a:ext cx="2436042" cy="1273223"/>
            <a:chOff x="2739071" y="2226350"/>
            <a:chExt cx="2436042" cy="1273223"/>
          </a:xfrm>
        </p:grpSpPr>
        <p:sp>
          <p:nvSpPr>
            <p:cNvPr id="10477" name="Google Shape;10477;p105"/>
            <p:cNvSpPr/>
            <p:nvPr/>
          </p:nvSpPr>
          <p:spPr>
            <a:xfrm flipH="1">
              <a:off x="3389091" y="2670159"/>
              <a:ext cx="1786022" cy="829414"/>
            </a:xfrm>
            <a:custGeom>
              <a:rect b="b" l="l" r="r" t="t"/>
              <a:pathLst>
                <a:path extrusionOk="0" h="829414" w="1786022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8" name="Google Shape;10478;p105"/>
            <p:cNvSpPr/>
            <p:nvPr/>
          </p:nvSpPr>
          <p:spPr>
            <a:xfrm>
              <a:off x="2739071" y="2226350"/>
              <a:ext cx="2047875" cy="7718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9" name="Google Shape;10479;p105"/>
            <p:cNvSpPr txBox="1"/>
            <p:nvPr/>
          </p:nvSpPr>
          <p:spPr>
            <a:xfrm>
              <a:off x="2891471" y="2312106"/>
              <a:ext cx="1781175" cy="56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0480" name="Google Shape;10480;p105"/>
            <p:cNvGrpSpPr/>
            <p:nvPr/>
          </p:nvGrpSpPr>
          <p:grpSpPr>
            <a:xfrm>
              <a:off x="2936918" y="2788771"/>
              <a:ext cx="820613" cy="395103"/>
              <a:chOff x="7338951" y="1864426"/>
              <a:chExt cx="427511" cy="344384"/>
            </a:xfrm>
          </p:grpSpPr>
          <p:sp>
            <p:nvSpPr>
              <p:cNvPr id="10481" name="Google Shape;10481;p105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2" name="Google Shape;10482;p105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sp>
        <p:nvSpPr>
          <p:cNvPr id="10483" name="Google Shape;10483;p105"/>
          <p:cNvSpPr txBox="1"/>
          <p:nvPr/>
        </p:nvSpPr>
        <p:spPr>
          <a:xfrm>
            <a:off x="440674" y="1905917"/>
            <a:ext cx="2787267" cy="1809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Managing server: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application, typically with network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managers (humans) in the loop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4" name="Google Shape;10484;p105"/>
          <p:cNvSpPr txBox="1"/>
          <p:nvPr/>
        </p:nvSpPr>
        <p:spPr>
          <a:xfrm>
            <a:off x="8615190" y="1619479"/>
            <a:ext cx="333811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Managed device: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equipment with manageable, configurable hardware, software components</a:t>
            </a:r>
            <a:endParaRPr/>
          </a:p>
        </p:txBody>
      </p:sp>
      <p:sp>
        <p:nvSpPr>
          <p:cNvPr id="10485" name="Google Shape;10485;p105"/>
          <p:cNvSpPr txBox="1"/>
          <p:nvPr/>
        </p:nvSpPr>
        <p:spPr>
          <a:xfrm>
            <a:off x="9066884" y="3095739"/>
            <a:ext cx="242371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“state” configuration data, operational data, device statistics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86" name="Google Shape;10486;p105"/>
          <p:cNvGrpSpPr/>
          <p:nvPr/>
        </p:nvGrpSpPr>
        <p:grpSpPr>
          <a:xfrm>
            <a:off x="6498569" y="3831275"/>
            <a:ext cx="683116" cy="378456"/>
            <a:chOff x="7493876" y="2774731"/>
            <a:chExt cx="1481958" cy="894622"/>
          </a:xfrm>
        </p:grpSpPr>
        <p:sp>
          <p:nvSpPr>
            <p:cNvPr id="10487" name="Google Shape;10487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488" name="Google Shape;10488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489" name="Google Shape;10489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90" name="Google Shape;10490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1" name="Google Shape;10491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2" name="Google Shape;10492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3" name="Google Shape;10493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94" name="Google Shape;10494;p105"/>
          <p:cNvGrpSpPr/>
          <p:nvPr/>
        </p:nvGrpSpPr>
        <p:grpSpPr>
          <a:xfrm>
            <a:off x="5979637" y="2571162"/>
            <a:ext cx="903288" cy="727075"/>
            <a:chOff x="-44" y="1473"/>
            <a:chExt cx="981" cy="1105"/>
          </a:xfrm>
        </p:grpSpPr>
        <p:pic>
          <p:nvPicPr>
            <p:cNvPr descr="desktop_computer_stylized_medium" id="10495" name="Google Shape;10495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6" name="Google Shape;10496;p10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97" name="Google Shape;10497;p105"/>
          <p:cNvGrpSpPr/>
          <p:nvPr/>
        </p:nvGrpSpPr>
        <p:grpSpPr>
          <a:xfrm>
            <a:off x="440676" y="2159308"/>
            <a:ext cx="6861671" cy="4060952"/>
            <a:chOff x="440676" y="2159308"/>
            <a:chExt cx="6861671" cy="4060952"/>
          </a:xfrm>
        </p:grpSpPr>
        <p:sp>
          <p:nvSpPr>
            <p:cNvPr id="10498" name="Google Shape;10498;p105"/>
            <p:cNvSpPr txBox="1"/>
            <p:nvPr/>
          </p:nvSpPr>
          <p:spPr>
            <a:xfrm>
              <a:off x="440676" y="3745736"/>
              <a:ext cx="2930486" cy="2474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 management protocol: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used by managing server to query, configure, manage device; used by devices to inform managing server of data, events.</a:t>
              </a:r>
              <a:endParaRPr/>
            </a:p>
          </p:txBody>
        </p:sp>
        <p:grpSp>
          <p:nvGrpSpPr>
            <p:cNvPr id="10499" name="Google Shape;10499;p105"/>
            <p:cNvGrpSpPr/>
            <p:nvPr/>
          </p:nvGrpSpPr>
          <p:grpSpPr>
            <a:xfrm>
              <a:off x="3831136" y="2159308"/>
              <a:ext cx="3471211" cy="2974551"/>
              <a:chOff x="3831136" y="2159308"/>
              <a:chExt cx="3471211" cy="2974551"/>
            </a:xfrm>
          </p:grpSpPr>
          <p:cxnSp>
            <p:nvCxnSpPr>
              <p:cNvPr id="10500" name="Google Shape;10500;p105"/>
              <p:cNvCxnSpPr/>
              <p:nvPr/>
            </p:nvCxnSpPr>
            <p:spPr>
              <a:xfrm>
                <a:off x="3833870" y="3013112"/>
                <a:ext cx="0" cy="2120747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1" name="Google Shape;10501;p105"/>
              <p:cNvCxnSpPr/>
              <p:nvPr/>
            </p:nvCxnSpPr>
            <p:spPr>
              <a:xfrm>
                <a:off x="3831136" y="3020190"/>
                <a:ext cx="3471211" cy="18566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2" name="Google Shape;10502;p105"/>
              <p:cNvCxnSpPr/>
              <p:nvPr/>
            </p:nvCxnSpPr>
            <p:spPr>
              <a:xfrm>
                <a:off x="3831136" y="3026864"/>
                <a:ext cx="3294941" cy="599523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3" name="Google Shape;10503;p105"/>
              <p:cNvCxnSpPr/>
              <p:nvPr/>
            </p:nvCxnSpPr>
            <p:spPr>
              <a:xfrm flipH="1" rot="10800000">
                <a:off x="3841147" y="2159308"/>
                <a:ext cx="3084791" cy="860882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4" name="Google Shape;10504;p105"/>
              <p:cNvCxnSpPr/>
              <p:nvPr/>
            </p:nvCxnSpPr>
            <p:spPr>
              <a:xfrm>
                <a:off x="3834473" y="3023527"/>
                <a:ext cx="458433" cy="837885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09" name="Shape 10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0" name="Google Shape;10510;p106"/>
          <p:cNvSpPr txBox="1"/>
          <p:nvPr>
            <p:ph type="title"/>
          </p:nvPr>
        </p:nvSpPr>
        <p:spPr>
          <a:xfrm>
            <a:off x="717015" y="34165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operator approaches to management</a:t>
            </a:r>
            <a:endParaRPr/>
          </a:p>
        </p:txBody>
      </p:sp>
      <p:sp>
        <p:nvSpPr>
          <p:cNvPr id="10511" name="Google Shape;10511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12" name="Google Shape;10512;p106"/>
          <p:cNvSpPr/>
          <p:nvPr/>
        </p:nvSpPr>
        <p:spPr>
          <a:xfrm rot="-5216633">
            <a:off x="7427686" y="2947494"/>
            <a:ext cx="4057421" cy="2452239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13" name="Google Shape;10513;p106"/>
          <p:cNvCxnSpPr/>
          <p:nvPr/>
        </p:nvCxnSpPr>
        <p:spPr>
          <a:xfrm flipH="1" rot="10800000">
            <a:off x="9496090" y="3180571"/>
            <a:ext cx="338138" cy="10429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4" name="Google Shape;10514;p106"/>
          <p:cNvCxnSpPr/>
          <p:nvPr/>
        </p:nvCxnSpPr>
        <p:spPr>
          <a:xfrm flipH="1" rot="10800000">
            <a:off x="9726589" y="4134658"/>
            <a:ext cx="290202" cy="25148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5" name="Google Shape;10515;p106"/>
          <p:cNvCxnSpPr/>
          <p:nvPr/>
        </p:nvCxnSpPr>
        <p:spPr>
          <a:xfrm>
            <a:off x="9729453" y="4625196"/>
            <a:ext cx="373062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6" name="Google Shape;10516;p106"/>
          <p:cNvCxnSpPr/>
          <p:nvPr/>
        </p:nvCxnSpPr>
        <p:spPr>
          <a:xfrm>
            <a:off x="8921415" y="3675871"/>
            <a:ext cx="371475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7" name="Google Shape;10517;p106"/>
          <p:cNvCxnSpPr/>
          <p:nvPr/>
        </p:nvCxnSpPr>
        <p:spPr>
          <a:xfrm flipH="1">
            <a:off x="9135728" y="4614083"/>
            <a:ext cx="309562" cy="10239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518" name="Google Shape;10518;p106"/>
          <p:cNvGrpSpPr/>
          <p:nvPr/>
        </p:nvGrpSpPr>
        <p:grpSpPr>
          <a:xfrm>
            <a:off x="7442257" y="2831027"/>
            <a:ext cx="4334676" cy="3307930"/>
            <a:chOff x="3982954" y="2808993"/>
            <a:chExt cx="4334676" cy="3307930"/>
          </a:xfrm>
        </p:grpSpPr>
        <p:sp>
          <p:nvSpPr>
            <p:cNvPr id="10519" name="Google Shape;10519;p106"/>
            <p:cNvSpPr txBox="1"/>
            <p:nvPr/>
          </p:nvSpPr>
          <p:spPr>
            <a:xfrm>
              <a:off x="3982954" y="5809146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520" name="Google Shape;10520;p106"/>
            <p:cNvSpPr txBox="1"/>
            <p:nvPr/>
          </p:nvSpPr>
          <p:spPr>
            <a:xfrm>
              <a:off x="6589237" y="5649324"/>
              <a:ext cx="16903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521" name="Google Shape;10521;p106"/>
            <p:cNvSpPr txBox="1"/>
            <p:nvPr/>
          </p:nvSpPr>
          <p:spPr>
            <a:xfrm>
              <a:off x="6820104" y="2808993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522" name="Google Shape;10522;p106"/>
            <p:cNvSpPr txBox="1"/>
            <p:nvPr/>
          </p:nvSpPr>
          <p:spPr>
            <a:xfrm>
              <a:off x="6762275" y="4115799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  <p:sp>
          <p:nvSpPr>
            <p:cNvPr id="10523" name="Google Shape;10523;p106"/>
            <p:cNvSpPr txBox="1"/>
            <p:nvPr/>
          </p:nvSpPr>
          <p:spPr>
            <a:xfrm>
              <a:off x="4774160" y="4518371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</p:grpSp>
      <p:grpSp>
        <p:nvGrpSpPr>
          <p:cNvPr id="10524" name="Google Shape;10524;p106"/>
          <p:cNvGrpSpPr/>
          <p:nvPr/>
        </p:nvGrpSpPr>
        <p:grpSpPr>
          <a:xfrm>
            <a:off x="8550931" y="2782976"/>
            <a:ext cx="469569" cy="865434"/>
            <a:chOff x="4140" y="429"/>
            <a:chExt cx="1425" cy="2396"/>
          </a:xfrm>
        </p:grpSpPr>
        <p:sp>
          <p:nvSpPr>
            <p:cNvPr id="10525" name="Google Shape;10525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6" name="Google Shape;10526;p106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7" name="Google Shape;10527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8" name="Google Shape;10528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9" name="Google Shape;10529;p106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30" name="Google Shape;10530;p106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531" name="Google Shape;10531;p106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2" name="Google Shape;10532;p106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33" name="Google Shape;10533;p106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34" name="Google Shape;10534;p106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535" name="Google Shape;10535;p106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6" name="Google Shape;10536;p106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37" name="Google Shape;10537;p106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8" name="Google Shape;10538;p106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39" name="Google Shape;10539;p106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540" name="Google Shape;10540;p106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1" name="Google Shape;10541;p106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2" name="Google Shape;10542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43" name="Google Shape;10543;p106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544" name="Google Shape;10544;p106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5" name="Google Shape;10545;p106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6" name="Google Shape;10546;p106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7" name="Google Shape;10547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8" name="Google Shape;10548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9" name="Google Shape;10549;p106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0" name="Google Shape;10550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1" name="Google Shape;10551;p106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2" name="Google Shape;10552;p106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3" name="Google Shape;10553;p106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4" name="Google Shape;10554;p106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5" name="Google Shape;10555;p106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6" name="Google Shape;10556;p106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57" name="Google Shape;10557;p106"/>
          <p:cNvGrpSpPr/>
          <p:nvPr/>
        </p:nvGrpSpPr>
        <p:grpSpPr>
          <a:xfrm>
            <a:off x="9973928" y="5172883"/>
            <a:ext cx="366712" cy="579438"/>
            <a:chOff x="4140" y="429"/>
            <a:chExt cx="1425" cy="2396"/>
          </a:xfrm>
        </p:grpSpPr>
        <p:sp>
          <p:nvSpPr>
            <p:cNvPr id="10558" name="Google Shape;10558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9" name="Google Shape;10559;p106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0" name="Google Shape;10560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1" name="Google Shape;10561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2" name="Google Shape;10562;p106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63" name="Google Shape;10563;p106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564" name="Google Shape;10564;p106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5" name="Google Shape;10565;p106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66" name="Google Shape;10566;p106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67" name="Google Shape;10567;p106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568" name="Google Shape;10568;p106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9" name="Google Shape;10569;p106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0" name="Google Shape;10570;p106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1" name="Google Shape;10571;p106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72" name="Google Shape;10572;p106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573" name="Google Shape;10573;p106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4" name="Google Shape;10574;p106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5" name="Google Shape;10575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76" name="Google Shape;10576;p106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577" name="Google Shape;10577;p106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8" name="Google Shape;10578;p106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9" name="Google Shape;10579;p106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0" name="Google Shape;10580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1" name="Google Shape;10581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2" name="Google Shape;10582;p106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3" name="Google Shape;10583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4" name="Google Shape;10584;p106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5" name="Google Shape;10585;p106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6" name="Google Shape;10586;p106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7" name="Google Shape;10587;p106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8" name="Google Shape;10588;p106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9" name="Google Shape;10589;p106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90" name="Google Shape;10590;p106"/>
          <p:cNvGrpSpPr/>
          <p:nvPr/>
        </p:nvGrpSpPr>
        <p:grpSpPr>
          <a:xfrm>
            <a:off x="8732734" y="5561377"/>
            <a:ext cx="683116" cy="378456"/>
            <a:chOff x="7493876" y="2774731"/>
            <a:chExt cx="1481958" cy="894622"/>
          </a:xfrm>
        </p:grpSpPr>
        <p:sp>
          <p:nvSpPr>
            <p:cNvPr id="10591" name="Google Shape;10591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592" name="Google Shape;10592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593" name="Google Shape;10593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594" name="Google Shape;10594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5" name="Google Shape;10595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6" name="Google Shape;10596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7" name="Google Shape;10597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598" name="Google Shape;10598;p106"/>
          <p:cNvCxnSpPr/>
          <p:nvPr/>
        </p:nvCxnSpPr>
        <p:spPr>
          <a:xfrm>
            <a:off x="10652863" y="4065510"/>
            <a:ext cx="46313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99" name="Google Shape;10599;p106"/>
          <p:cNvCxnSpPr/>
          <p:nvPr/>
        </p:nvCxnSpPr>
        <p:spPr>
          <a:xfrm>
            <a:off x="9251576" y="5941812"/>
            <a:ext cx="237507" cy="23750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600" name="Google Shape;10600;p106"/>
          <p:cNvGrpSpPr/>
          <p:nvPr/>
        </p:nvGrpSpPr>
        <p:grpSpPr>
          <a:xfrm>
            <a:off x="7082865" y="1939828"/>
            <a:ext cx="4834638" cy="3974275"/>
            <a:chOff x="3623562" y="1917794"/>
            <a:chExt cx="4834638" cy="3974275"/>
          </a:xfrm>
        </p:grpSpPr>
        <p:grpSp>
          <p:nvGrpSpPr>
            <p:cNvPr id="10601" name="Google Shape;10601;p106"/>
            <p:cNvGrpSpPr/>
            <p:nvPr/>
          </p:nvGrpSpPr>
          <p:grpSpPr>
            <a:xfrm>
              <a:off x="6599795" y="1917794"/>
              <a:ext cx="1615044" cy="1104405"/>
              <a:chOff x="6599795" y="1917794"/>
              <a:chExt cx="1615044" cy="1104405"/>
            </a:xfrm>
          </p:grpSpPr>
          <p:sp>
            <p:nvSpPr>
              <p:cNvPr id="10602" name="Google Shape;10602;p106"/>
              <p:cNvSpPr/>
              <p:nvPr/>
            </p:nvSpPr>
            <p:spPr>
              <a:xfrm>
                <a:off x="6599795" y="2131549"/>
                <a:ext cx="1615044" cy="890650"/>
              </a:xfrm>
              <a:custGeom>
                <a:rect b="b" l="l" r="r" t="t"/>
                <a:pathLst>
                  <a:path extrusionOk="0" h="890650" w="1615044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615044" y="83128"/>
                    </a:lnTo>
                    <a:cubicBezTo>
                      <a:pt x="823355" y="399803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71764"/>
                    </a:srgbClr>
                  </a:gs>
                  <a:gs pos="99000">
                    <a:srgbClr val="F2F2F2"/>
                  </a:gs>
                  <a:gs pos="100000">
                    <a:srgbClr val="F2F2F2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3" name="Google Shape;10603;p106"/>
              <p:cNvSpPr/>
              <p:nvPr/>
            </p:nvSpPr>
            <p:spPr>
              <a:xfrm>
                <a:off x="6893234" y="1917794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4" name="Google Shape;10604;p106"/>
              <p:cNvSpPr txBox="1"/>
              <p:nvPr/>
            </p:nvSpPr>
            <p:spPr>
              <a:xfrm>
                <a:off x="6925808" y="2038751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05" name="Google Shape;10605;p106"/>
              <p:cNvGrpSpPr/>
              <p:nvPr/>
            </p:nvGrpSpPr>
            <p:grpSpPr>
              <a:xfrm>
                <a:off x="7524624" y="2012797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06" name="Google Shape;10606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7" name="Google Shape;10607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08" name="Google Shape;10608;p106"/>
            <p:cNvGrpSpPr/>
            <p:nvPr/>
          </p:nvGrpSpPr>
          <p:grpSpPr>
            <a:xfrm>
              <a:off x="6752194" y="4789643"/>
              <a:ext cx="1646629" cy="914399"/>
              <a:chOff x="6752194" y="4789643"/>
              <a:chExt cx="1646629" cy="914399"/>
            </a:xfrm>
          </p:grpSpPr>
          <p:sp>
            <p:nvSpPr>
              <p:cNvPr id="10609" name="Google Shape;10609;p106"/>
              <p:cNvSpPr/>
              <p:nvPr/>
            </p:nvSpPr>
            <p:spPr>
              <a:xfrm>
                <a:off x="6752194" y="5003397"/>
                <a:ext cx="1294411" cy="700645"/>
              </a:xfrm>
              <a:custGeom>
                <a:rect b="b" l="l" r="r" t="t"/>
                <a:pathLst>
                  <a:path extrusionOk="0" h="700645" w="1294411">
                    <a:moveTo>
                      <a:pt x="59377" y="463138"/>
                    </a:moveTo>
                    <a:cubicBezTo>
                      <a:pt x="285008" y="380011"/>
                      <a:pt x="368136" y="285008"/>
                      <a:pt x="344384" y="0"/>
                    </a:cubicBezTo>
                    <a:lnTo>
                      <a:pt x="1294411" y="296884"/>
                    </a:lnTo>
                    <a:cubicBezTo>
                      <a:pt x="407720" y="530432"/>
                      <a:pt x="601683" y="455221"/>
                      <a:pt x="0" y="700645"/>
                    </a:cubicBezTo>
                    <a:lnTo>
                      <a:pt x="59377" y="46313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D8D8D8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0" name="Google Shape;10610;p106"/>
              <p:cNvSpPr/>
              <p:nvPr/>
            </p:nvSpPr>
            <p:spPr>
              <a:xfrm>
                <a:off x="7105011" y="4789643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1" name="Google Shape;10611;p106"/>
              <p:cNvSpPr txBox="1"/>
              <p:nvPr/>
            </p:nvSpPr>
            <p:spPr>
              <a:xfrm>
                <a:off x="7137585" y="4910600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12" name="Google Shape;10612;p106"/>
              <p:cNvGrpSpPr/>
              <p:nvPr/>
            </p:nvGrpSpPr>
            <p:grpSpPr>
              <a:xfrm>
                <a:off x="7736401" y="4884646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13" name="Google Shape;10613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4" name="Google Shape;10614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15" name="Google Shape;10615;p106"/>
            <p:cNvGrpSpPr/>
            <p:nvPr/>
          </p:nvGrpSpPr>
          <p:grpSpPr>
            <a:xfrm>
              <a:off x="3623562" y="5108298"/>
              <a:ext cx="1784742" cy="783771"/>
              <a:chOff x="3623562" y="5108298"/>
              <a:chExt cx="1784742" cy="783771"/>
            </a:xfrm>
          </p:grpSpPr>
          <p:sp>
            <p:nvSpPr>
              <p:cNvPr id="10616" name="Google Shape;10616;p106"/>
              <p:cNvSpPr/>
              <p:nvPr/>
            </p:nvSpPr>
            <p:spPr>
              <a:xfrm flipH="1">
                <a:off x="4018890" y="5238925"/>
                <a:ext cx="1389414" cy="653144"/>
              </a:xfrm>
              <a:custGeom>
                <a:rect b="b" l="l" r="r" t="t"/>
                <a:pathLst>
                  <a:path extrusionOk="0" h="653144" w="138941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7" name="Google Shape;10617;p106"/>
              <p:cNvSpPr/>
              <p:nvPr/>
            </p:nvSpPr>
            <p:spPr>
              <a:xfrm>
                <a:off x="3623562" y="5108298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8" name="Google Shape;10618;p106"/>
              <p:cNvSpPr txBox="1"/>
              <p:nvPr/>
            </p:nvSpPr>
            <p:spPr>
              <a:xfrm>
                <a:off x="3656136" y="5229255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19" name="Google Shape;10619;p106"/>
              <p:cNvGrpSpPr/>
              <p:nvPr/>
            </p:nvGrpSpPr>
            <p:grpSpPr>
              <a:xfrm>
                <a:off x="4254952" y="5203301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20" name="Google Shape;10620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1" name="Google Shape;10621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22" name="Google Shape;10622;p106"/>
            <p:cNvGrpSpPr/>
            <p:nvPr/>
          </p:nvGrpSpPr>
          <p:grpSpPr>
            <a:xfrm>
              <a:off x="6918449" y="3352729"/>
              <a:ext cx="1539751" cy="831273"/>
              <a:chOff x="6918449" y="3352729"/>
              <a:chExt cx="1539751" cy="831273"/>
            </a:xfrm>
          </p:grpSpPr>
          <p:sp>
            <p:nvSpPr>
              <p:cNvPr id="10623" name="Google Shape;10623;p106"/>
              <p:cNvSpPr/>
              <p:nvPr/>
            </p:nvSpPr>
            <p:spPr>
              <a:xfrm>
                <a:off x="6918449" y="3627840"/>
                <a:ext cx="1223159" cy="556162"/>
              </a:xfrm>
              <a:custGeom>
                <a:rect b="b" l="l" r="r" t="t"/>
                <a:pathLst>
                  <a:path extrusionOk="0" h="890650" w="1223159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223159" y="368389"/>
                    </a:lnTo>
                    <a:cubicBezTo>
                      <a:pt x="431470" y="685064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D8D8D8">
                      <a:alpha val="72941"/>
                    </a:srgbClr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4" name="Google Shape;10624;p106"/>
              <p:cNvSpPr/>
              <p:nvPr/>
            </p:nvSpPr>
            <p:spPr>
              <a:xfrm>
                <a:off x="7164388" y="3352729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5" name="Google Shape;10625;p106"/>
              <p:cNvSpPr txBox="1"/>
              <p:nvPr/>
            </p:nvSpPr>
            <p:spPr>
              <a:xfrm>
                <a:off x="7196962" y="3473686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26" name="Google Shape;10626;p106"/>
              <p:cNvGrpSpPr/>
              <p:nvPr/>
            </p:nvGrpSpPr>
            <p:grpSpPr>
              <a:xfrm>
                <a:off x="7795778" y="3447732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27" name="Google Shape;10627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8" name="Google Shape;10628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29" name="Google Shape;10629;p106"/>
            <p:cNvGrpSpPr/>
            <p:nvPr/>
          </p:nvGrpSpPr>
          <p:grpSpPr>
            <a:xfrm>
              <a:off x="3906590" y="3823785"/>
              <a:ext cx="1755404" cy="783771"/>
              <a:chOff x="1750147" y="5031180"/>
              <a:chExt cx="1755404" cy="783771"/>
            </a:xfrm>
          </p:grpSpPr>
          <p:sp>
            <p:nvSpPr>
              <p:cNvPr id="10630" name="Google Shape;10630;p106"/>
              <p:cNvSpPr/>
              <p:nvPr/>
            </p:nvSpPr>
            <p:spPr>
              <a:xfrm flipH="1">
                <a:off x="2679864" y="5304311"/>
                <a:ext cx="825687" cy="510640"/>
              </a:xfrm>
              <a:custGeom>
                <a:rect b="b" l="l" r="r" t="t"/>
                <a:pathLst>
                  <a:path extrusionOk="0" h="510640" w="825687">
                    <a:moveTo>
                      <a:pt x="5589" y="331811"/>
                    </a:moveTo>
                    <a:cubicBezTo>
                      <a:pt x="231220" y="248684"/>
                      <a:pt x="267546" y="201881"/>
                      <a:pt x="481300" y="0"/>
                    </a:cubicBezTo>
                    <a:cubicBezTo>
                      <a:pt x="537418" y="145764"/>
                      <a:pt x="583755" y="179062"/>
                      <a:pt x="825687" y="261258"/>
                    </a:cubicBezTo>
                    <a:cubicBezTo>
                      <a:pt x="389560" y="305502"/>
                      <a:pt x="239835" y="377682"/>
                      <a:pt x="0" y="510640"/>
                    </a:cubicBezTo>
                    <a:lnTo>
                      <a:pt x="5589" y="33181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0980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1" name="Google Shape;10631;p106"/>
              <p:cNvSpPr/>
              <p:nvPr/>
            </p:nvSpPr>
            <p:spPr>
              <a:xfrm>
                <a:off x="1750147" y="5031180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2" name="Google Shape;10632;p106"/>
              <p:cNvSpPr txBox="1"/>
              <p:nvPr/>
            </p:nvSpPr>
            <p:spPr>
              <a:xfrm>
                <a:off x="1782721" y="5152137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33" name="Google Shape;10633;p106"/>
              <p:cNvGrpSpPr/>
              <p:nvPr/>
            </p:nvGrpSpPr>
            <p:grpSpPr>
              <a:xfrm>
                <a:off x="2381537" y="5126183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34" name="Google Shape;10634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5" name="Google Shape;10635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</p:grpSp>
      <p:grpSp>
        <p:nvGrpSpPr>
          <p:cNvPr id="10636" name="Google Shape;10636;p106"/>
          <p:cNvGrpSpPr/>
          <p:nvPr/>
        </p:nvGrpSpPr>
        <p:grpSpPr>
          <a:xfrm>
            <a:off x="9109072" y="4201055"/>
            <a:ext cx="736270" cy="422596"/>
            <a:chOff x="3668110" y="2448910"/>
            <a:chExt cx="3794234" cy="2165130"/>
          </a:xfrm>
        </p:grpSpPr>
        <p:sp>
          <p:nvSpPr>
            <p:cNvPr id="10637" name="Google Shape;10637;p10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8" name="Google Shape;10638;p10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39" name="Google Shape;10639;p10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640" name="Google Shape;10640;p10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1" name="Google Shape;10641;p10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2" name="Google Shape;10642;p10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3" name="Google Shape;10643;p10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44" name="Google Shape;10644;p106"/>
          <p:cNvGrpSpPr/>
          <p:nvPr/>
        </p:nvGrpSpPr>
        <p:grpSpPr>
          <a:xfrm>
            <a:off x="6198374" y="2248384"/>
            <a:ext cx="2436042" cy="1273223"/>
            <a:chOff x="2739071" y="2226350"/>
            <a:chExt cx="2436042" cy="1273223"/>
          </a:xfrm>
        </p:grpSpPr>
        <p:sp>
          <p:nvSpPr>
            <p:cNvPr id="10645" name="Google Shape;10645;p106"/>
            <p:cNvSpPr/>
            <p:nvPr/>
          </p:nvSpPr>
          <p:spPr>
            <a:xfrm flipH="1">
              <a:off x="3389091" y="2670159"/>
              <a:ext cx="1786022" cy="829414"/>
            </a:xfrm>
            <a:custGeom>
              <a:rect b="b" l="l" r="r" t="t"/>
              <a:pathLst>
                <a:path extrusionOk="0" h="829414" w="1786022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6" name="Google Shape;10646;p106"/>
            <p:cNvSpPr/>
            <p:nvPr/>
          </p:nvSpPr>
          <p:spPr>
            <a:xfrm>
              <a:off x="2739071" y="2226350"/>
              <a:ext cx="2047875" cy="7718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7" name="Google Shape;10647;p106"/>
            <p:cNvSpPr txBox="1"/>
            <p:nvPr/>
          </p:nvSpPr>
          <p:spPr>
            <a:xfrm>
              <a:off x="2891471" y="2312106"/>
              <a:ext cx="1781175" cy="56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0648" name="Google Shape;10648;p106"/>
            <p:cNvGrpSpPr/>
            <p:nvPr/>
          </p:nvGrpSpPr>
          <p:grpSpPr>
            <a:xfrm>
              <a:off x="2936918" y="2788771"/>
              <a:ext cx="820613" cy="395103"/>
              <a:chOff x="7338951" y="1864426"/>
              <a:chExt cx="427511" cy="344384"/>
            </a:xfrm>
          </p:grpSpPr>
          <p:sp>
            <p:nvSpPr>
              <p:cNvPr id="10649" name="Google Shape;10649;p106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0" name="Google Shape;10650;p106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0651" name="Google Shape;10651;p106"/>
          <p:cNvGrpSpPr/>
          <p:nvPr/>
        </p:nvGrpSpPr>
        <p:grpSpPr>
          <a:xfrm>
            <a:off x="9957872" y="3853309"/>
            <a:ext cx="683116" cy="378456"/>
            <a:chOff x="7493876" y="2774731"/>
            <a:chExt cx="1481958" cy="894622"/>
          </a:xfrm>
        </p:grpSpPr>
        <p:sp>
          <p:nvSpPr>
            <p:cNvPr id="10652" name="Google Shape;10652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653" name="Google Shape;10653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654" name="Google Shape;10654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655" name="Google Shape;10655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6" name="Google Shape;10656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7" name="Google Shape;10657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8" name="Google Shape;10658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59" name="Google Shape;10659;p106"/>
          <p:cNvGrpSpPr/>
          <p:nvPr/>
        </p:nvGrpSpPr>
        <p:grpSpPr>
          <a:xfrm>
            <a:off x="9438940" y="2593196"/>
            <a:ext cx="903288" cy="727075"/>
            <a:chOff x="-44" y="1473"/>
            <a:chExt cx="981" cy="1105"/>
          </a:xfrm>
        </p:grpSpPr>
        <p:pic>
          <p:nvPicPr>
            <p:cNvPr descr="desktop_computer_stylized_medium" id="10660" name="Google Shape;10660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1" name="Google Shape;10661;p10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62" name="Google Shape;10662;p106"/>
          <p:cNvGrpSpPr/>
          <p:nvPr/>
        </p:nvGrpSpPr>
        <p:grpSpPr>
          <a:xfrm>
            <a:off x="7290439" y="2181342"/>
            <a:ext cx="3471211" cy="2974551"/>
            <a:chOff x="3831136" y="2159308"/>
            <a:chExt cx="3471211" cy="2974551"/>
          </a:xfrm>
        </p:grpSpPr>
        <p:cxnSp>
          <p:nvCxnSpPr>
            <p:cNvPr id="10663" name="Google Shape;10663;p106"/>
            <p:cNvCxnSpPr/>
            <p:nvPr/>
          </p:nvCxnSpPr>
          <p:spPr>
            <a:xfrm>
              <a:off x="3833870" y="3013112"/>
              <a:ext cx="0" cy="2120747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4" name="Google Shape;10664;p106"/>
            <p:cNvCxnSpPr/>
            <p:nvPr/>
          </p:nvCxnSpPr>
          <p:spPr>
            <a:xfrm>
              <a:off x="3831136" y="3020190"/>
              <a:ext cx="3471211" cy="1856610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5" name="Google Shape;10665;p106"/>
            <p:cNvCxnSpPr/>
            <p:nvPr/>
          </p:nvCxnSpPr>
          <p:spPr>
            <a:xfrm>
              <a:off x="3831136" y="3026864"/>
              <a:ext cx="3294941" cy="599523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6" name="Google Shape;10666;p106"/>
            <p:cNvCxnSpPr/>
            <p:nvPr/>
          </p:nvCxnSpPr>
          <p:spPr>
            <a:xfrm flipH="1" rot="10800000">
              <a:off x="3841147" y="2159308"/>
              <a:ext cx="3084791" cy="860882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7" name="Google Shape;10667;p106"/>
            <p:cNvCxnSpPr/>
            <p:nvPr/>
          </p:nvCxnSpPr>
          <p:spPr>
            <a:xfrm>
              <a:off x="3834473" y="3023527"/>
              <a:ext cx="458433" cy="837885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</p:grpSp>
      <p:sp>
        <p:nvSpPr>
          <p:cNvPr id="10668" name="Google Shape;10668;p106"/>
          <p:cNvSpPr txBox="1"/>
          <p:nvPr/>
        </p:nvSpPr>
        <p:spPr>
          <a:xfrm>
            <a:off x="564423" y="1441374"/>
            <a:ext cx="5560956" cy="1224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(Command Line Interface)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issues (types, scripts) direct to individual devices (e.g., vis ssh)</a:t>
            </a:r>
            <a:endParaRPr/>
          </a:p>
        </p:txBody>
      </p:sp>
      <p:sp>
        <p:nvSpPr>
          <p:cNvPr id="10669" name="Google Shape;10669;p106"/>
          <p:cNvSpPr txBox="1"/>
          <p:nvPr/>
        </p:nvSpPr>
        <p:spPr>
          <a:xfrm>
            <a:off x="595637" y="2673427"/>
            <a:ext cx="5441606" cy="1535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SNMP/MIB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queries/sets devices data (MIB) using Simple Network Management Protocol (SNMP)</a:t>
            </a:r>
            <a:endParaRPr/>
          </a:p>
        </p:txBody>
      </p:sp>
      <p:sp>
        <p:nvSpPr>
          <p:cNvPr id="10670" name="Google Shape;10670;p106"/>
          <p:cNvSpPr txBox="1"/>
          <p:nvPr/>
        </p:nvSpPr>
        <p:spPr>
          <a:xfrm>
            <a:off x="595637" y="4232314"/>
            <a:ext cx="6102618" cy="2355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abstract, network-wide, holistic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emphasis on multi-device configuration management.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YANG: data modeling language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NETCONF: communicate YANG-compatible actions/data to/from/among remote devices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674" name="Shape 10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5" name="Google Shape;10675;p10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 protocol</a:t>
            </a:r>
            <a:endParaRPr/>
          </a:p>
        </p:txBody>
      </p:sp>
      <p:sp>
        <p:nvSpPr>
          <p:cNvPr id="10676" name="Google Shape;10676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677" name="Google Shape;10677;p107"/>
          <p:cNvGrpSpPr/>
          <p:nvPr/>
        </p:nvGrpSpPr>
        <p:grpSpPr>
          <a:xfrm>
            <a:off x="1344054" y="1928179"/>
            <a:ext cx="4230478" cy="4182389"/>
            <a:chOff x="6588086" y="2082419"/>
            <a:chExt cx="4230478" cy="4182389"/>
          </a:xfrm>
        </p:grpSpPr>
        <p:sp>
          <p:nvSpPr>
            <p:cNvPr id="10678" name="Google Shape;10678;p107"/>
            <p:cNvSpPr/>
            <p:nvPr/>
          </p:nvSpPr>
          <p:spPr>
            <a:xfrm rot="-5216633">
              <a:off x="7427686" y="2947494"/>
              <a:ext cx="4057421" cy="2452239"/>
            </a:xfrm>
            <a:custGeom>
              <a:rect b="b" l="l" r="r" t="t"/>
              <a:pathLst>
                <a:path extrusionOk="0" h="933" w="1794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79" name="Google Shape;10679;p107"/>
            <p:cNvCxnSpPr/>
            <p:nvPr/>
          </p:nvCxnSpPr>
          <p:spPr>
            <a:xfrm flipH="1" rot="10800000">
              <a:off x="9496090" y="3180571"/>
              <a:ext cx="338138" cy="10429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0" name="Google Shape;10680;p107"/>
            <p:cNvCxnSpPr/>
            <p:nvPr/>
          </p:nvCxnSpPr>
          <p:spPr>
            <a:xfrm flipH="1" rot="10800000">
              <a:off x="9726589" y="4134658"/>
              <a:ext cx="290202" cy="25148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1" name="Google Shape;10681;p107"/>
            <p:cNvCxnSpPr/>
            <p:nvPr/>
          </p:nvCxnSpPr>
          <p:spPr>
            <a:xfrm>
              <a:off x="9729453" y="4625196"/>
              <a:ext cx="373062" cy="55403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2" name="Google Shape;10682;p107"/>
            <p:cNvCxnSpPr/>
            <p:nvPr/>
          </p:nvCxnSpPr>
          <p:spPr>
            <a:xfrm>
              <a:off x="8921415" y="3675871"/>
              <a:ext cx="371475" cy="55403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3" name="Google Shape;10683;p107"/>
            <p:cNvCxnSpPr/>
            <p:nvPr/>
          </p:nvCxnSpPr>
          <p:spPr>
            <a:xfrm flipH="1">
              <a:off x="9135728" y="4614083"/>
              <a:ext cx="309562" cy="1023938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84" name="Google Shape;10684;p107"/>
            <p:cNvSpPr txBox="1"/>
            <p:nvPr/>
          </p:nvSpPr>
          <p:spPr>
            <a:xfrm>
              <a:off x="7442257" y="5831180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grpSp>
          <p:nvGrpSpPr>
            <p:cNvPr id="10685" name="Google Shape;10685;p107"/>
            <p:cNvGrpSpPr/>
            <p:nvPr/>
          </p:nvGrpSpPr>
          <p:grpSpPr>
            <a:xfrm>
              <a:off x="9973928" y="5172883"/>
              <a:ext cx="366712" cy="579438"/>
              <a:chOff x="4140" y="429"/>
              <a:chExt cx="1425" cy="2396"/>
            </a:xfrm>
          </p:grpSpPr>
          <p:sp>
            <p:nvSpPr>
              <p:cNvPr id="10686" name="Google Shape;10686;p10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7" name="Google Shape;10687;p107"/>
              <p:cNvSpPr/>
              <p:nvPr/>
            </p:nvSpPr>
            <p:spPr>
              <a:xfrm>
                <a:off x="4208" y="429"/>
                <a:ext cx="1043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8" name="Google Shape;10688;p10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9" name="Google Shape;10689;p10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0" name="Google Shape;10690;p107"/>
              <p:cNvSpPr/>
              <p:nvPr/>
            </p:nvSpPr>
            <p:spPr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91" name="Google Shape;10691;p107"/>
              <p:cNvGrpSpPr/>
              <p:nvPr/>
            </p:nvGrpSpPr>
            <p:grpSpPr>
              <a:xfrm>
                <a:off x="4751" y="665"/>
                <a:ext cx="580" cy="131"/>
                <a:chOff x="616" y="2565"/>
                <a:chExt cx="724" cy="126"/>
              </a:xfrm>
            </p:grpSpPr>
            <p:sp>
              <p:nvSpPr>
                <p:cNvPr id="10692" name="Google Shape;10692;p107"/>
                <p:cNvSpPr/>
                <p:nvPr/>
              </p:nvSpPr>
              <p:spPr>
                <a:xfrm>
                  <a:off x="616" y="2565"/>
                  <a:ext cx="724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93" name="Google Shape;10693;p107"/>
                <p:cNvSpPr/>
                <p:nvPr/>
              </p:nvSpPr>
              <p:spPr>
                <a:xfrm>
                  <a:off x="632" y="2584"/>
                  <a:ext cx="693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94" name="Google Shape;10694;p107"/>
              <p:cNvSpPr/>
              <p:nvPr/>
            </p:nvSpPr>
            <p:spPr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95" name="Google Shape;10695;p107"/>
              <p:cNvGrpSpPr/>
              <p:nvPr/>
            </p:nvGrpSpPr>
            <p:grpSpPr>
              <a:xfrm>
                <a:off x="4745" y="994"/>
                <a:ext cx="586" cy="131"/>
                <a:chOff x="611" y="2568"/>
                <a:chExt cx="731" cy="136"/>
              </a:xfrm>
            </p:grpSpPr>
            <p:sp>
              <p:nvSpPr>
                <p:cNvPr id="10696" name="Google Shape;10696;p107"/>
                <p:cNvSpPr/>
                <p:nvPr/>
              </p:nvSpPr>
              <p:spPr>
                <a:xfrm>
                  <a:off x="611" y="2568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97" name="Google Shape;10697;p107"/>
                <p:cNvSpPr/>
                <p:nvPr/>
              </p:nvSpPr>
              <p:spPr>
                <a:xfrm>
                  <a:off x="626" y="2581"/>
                  <a:ext cx="700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98" name="Google Shape;10698;p107"/>
              <p:cNvSpPr/>
              <p:nvPr/>
            </p:nvSpPr>
            <p:spPr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9" name="Google Shape;10699;p107"/>
              <p:cNvSpPr/>
              <p:nvPr/>
            </p:nvSpPr>
            <p:spPr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00" name="Google Shape;10700;p107"/>
              <p:cNvGrpSpPr/>
              <p:nvPr/>
            </p:nvGrpSpPr>
            <p:grpSpPr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0701" name="Google Shape;10701;p107"/>
                <p:cNvSpPr/>
                <p:nvPr/>
              </p:nvSpPr>
              <p:spPr>
                <a:xfrm>
                  <a:off x="611" y="2571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02" name="Google Shape;10702;p107"/>
                <p:cNvSpPr/>
                <p:nvPr/>
              </p:nvSpPr>
              <p:spPr>
                <a:xfrm>
                  <a:off x="626" y="2589"/>
                  <a:ext cx="699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03" name="Google Shape;10703;p10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04" name="Google Shape;10704;p107"/>
              <p:cNvGrpSpPr/>
              <p:nvPr/>
            </p:nvGrpSpPr>
            <p:grpSpPr>
              <a:xfrm>
                <a:off x="4738" y="1328"/>
                <a:ext cx="574" cy="138"/>
                <a:chOff x="613" y="2569"/>
                <a:chExt cx="715" cy="138"/>
              </a:xfrm>
            </p:grpSpPr>
            <p:sp>
              <p:nvSpPr>
                <p:cNvPr id="10705" name="Google Shape;10705;p107"/>
                <p:cNvSpPr/>
                <p:nvPr/>
              </p:nvSpPr>
              <p:spPr>
                <a:xfrm>
                  <a:off x="613" y="2569"/>
                  <a:ext cx="71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06" name="Google Shape;10706;p107"/>
                <p:cNvSpPr/>
                <p:nvPr/>
              </p:nvSpPr>
              <p:spPr>
                <a:xfrm>
                  <a:off x="629" y="2582"/>
                  <a:ext cx="692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07" name="Google Shape;10707;p107"/>
              <p:cNvSpPr/>
              <p:nvPr/>
            </p:nvSpPr>
            <p:spPr>
              <a:xfrm>
                <a:off x="5250" y="429"/>
                <a:ext cx="68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8" name="Google Shape;10708;p10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9" name="Google Shape;10709;p10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0" name="Google Shape;10710;p107"/>
              <p:cNvSpPr/>
              <p:nvPr/>
            </p:nvSpPr>
            <p:spPr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1" name="Google Shape;10711;p10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2" name="Google Shape;10712;p107"/>
              <p:cNvSpPr/>
              <p:nvPr/>
            </p:nvSpPr>
            <p:spPr>
              <a:xfrm>
                <a:off x="4140" y="2681"/>
                <a:ext cx="1197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3" name="Google Shape;10713;p107"/>
              <p:cNvSpPr/>
              <p:nvPr/>
            </p:nvSpPr>
            <p:spPr>
              <a:xfrm>
                <a:off x="4208" y="2713"/>
                <a:ext cx="1067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4" name="Google Shape;10714;p107"/>
              <p:cNvSpPr/>
              <p:nvPr/>
            </p:nvSpPr>
            <p:spPr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5" name="Google Shape;10715;p107"/>
              <p:cNvSpPr/>
              <p:nvPr/>
            </p:nvSpPr>
            <p:spPr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6" name="Google Shape;10716;p107"/>
              <p:cNvSpPr/>
              <p:nvPr/>
            </p:nvSpPr>
            <p:spPr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7" name="Google Shape;10717;p107"/>
              <p:cNvSpPr/>
              <p:nvPr/>
            </p:nvSpPr>
            <p:spPr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18" name="Google Shape;10718;p107"/>
            <p:cNvGrpSpPr/>
            <p:nvPr/>
          </p:nvGrpSpPr>
          <p:grpSpPr>
            <a:xfrm>
              <a:off x="8732734" y="5561377"/>
              <a:ext cx="683116" cy="378456"/>
              <a:chOff x="7493876" y="2774731"/>
              <a:chExt cx="1481958" cy="894622"/>
            </a:xfrm>
          </p:grpSpPr>
          <p:sp>
            <p:nvSpPr>
              <p:cNvPr id="10719" name="Google Shape;10719;p10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20" name="Google Shape;10720;p10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21" name="Google Shape;10721;p10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22" name="Google Shape;10722;p10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3" name="Google Shape;10723;p10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4" name="Google Shape;10724;p10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5" name="Google Shape;10725;p10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10726" name="Google Shape;10726;p107"/>
            <p:cNvCxnSpPr/>
            <p:nvPr/>
          </p:nvCxnSpPr>
          <p:spPr>
            <a:xfrm>
              <a:off x="10652863" y="4065510"/>
              <a:ext cx="16570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27" name="Google Shape;10727;p107"/>
            <p:cNvCxnSpPr/>
            <p:nvPr/>
          </p:nvCxnSpPr>
          <p:spPr>
            <a:xfrm>
              <a:off x="9251576" y="5941812"/>
              <a:ext cx="237507" cy="23750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0728" name="Google Shape;10728;p107"/>
            <p:cNvGrpSpPr/>
            <p:nvPr/>
          </p:nvGrpSpPr>
          <p:grpSpPr>
            <a:xfrm>
              <a:off x="7082865" y="5130332"/>
              <a:ext cx="1784742" cy="783771"/>
              <a:chOff x="3623562" y="5108298"/>
              <a:chExt cx="1784742" cy="783771"/>
            </a:xfrm>
          </p:grpSpPr>
          <p:sp>
            <p:nvSpPr>
              <p:cNvPr id="10729" name="Google Shape;10729;p107"/>
              <p:cNvSpPr/>
              <p:nvPr/>
            </p:nvSpPr>
            <p:spPr>
              <a:xfrm flipH="1">
                <a:off x="4018890" y="5238925"/>
                <a:ext cx="1389414" cy="653144"/>
              </a:xfrm>
              <a:custGeom>
                <a:rect b="b" l="l" r="r" t="t"/>
                <a:pathLst>
                  <a:path extrusionOk="0" h="653144" w="138941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0" name="Google Shape;10730;p107"/>
              <p:cNvSpPr/>
              <p:nvPr/>
            </p:nvSpPr>
            <p:spPr>
              <a:xfrm>
                <a:off x="3623562" y="5108298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1" name="Google Shape;10731;p107"/>
              <p:cNvSpPr txBox="1"/>
              <p:nvPr/>
            </p:nvSpPr>
            <p:spPr>
              <a:xfrm>
                <a:off x="3656136" y="5229255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732" name="Google Shape;10732;p107"/>
              <p:cNvGrpSpPr/>
              <p:nvPr/>
            </p:nvGrpSpPr>
            <p:grpSpPr>
              <a:xfrm>
                <a:off x="4254952" y="5203301"/>
                <a:ext cx="533735" cy="344384"/>
                <a:chOff x="7290003" y="1864426"/>
                <a:chExt cx="533735" cy="344384"/>
              </a:xfrm>
            </p:grpSpPr>
            <p:sp>
              <p:nvSpPr>
                <p:cNvPr id="10733" name="Google Shape;10733;p107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34" name="Google Shape;10734;p107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735" name="Google Shape;10735;p107"/>
            <p:cNvGrpSpPr/>
            <p:nvPr/>
          </p:nvGrpSpPr>
          <p:grpSpPr>
            <a:xfrm>
              <a:off x="9109072" y="4201055"/>
              <a:ext cx="736270" cy="422596"/>
              <a:chOff x="3668110" y="2448910"/>
              <a:chExt cx="3794234" cy="2165130"/>
            </a:xfrm>
          </p:grpSpPr>
          <p:sp>
            <p:nvSpPr>
              <p:cNvPr id="10736" name="Google Shape;10736;p107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7" name="Google Shape;10737;p107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738" name="Google Shape;10738;p107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739" name="Google Shape;10739;p107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0" name="Google Shape;10740;p107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1" name="Google Shape;10741;p107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2" name="Google Shape;10742;p107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0743" name="Google Shape;10743;p107"/>
            <p:cNvSpPr/>
            <p:nvPr/>
          </p:nvSpPr>
          <p:spPr>
            <a:xfrm flipH="1">
              <a:off x="6990267" y="2857446"/>
              <a:ext cx="1644149" cy="664161"/>
            </a:xfrm>
            <a:custGeom>
              <a:rect b="b" l="l" r="r" t="t"/>
              <a:pathLst>
                <a:path extrusionOk="0" h="664161" w="1503869">
                  <a:moveTo>
                    <a:pt x="81411" y="228350"/>
                  </a:moveTo>
                  <a:cubicBezTo>
                    <a:pt x="307042" y="145223"/>
                    <a:pt x="255473" y="210465"/>
                    <a:pt x="419294" y="0"/>
                  </a:cubicBezTo>
                  <a:cubicBezTo>
                    <a:pt x="706258" y="244471"/>
                    <a:pt x="774088" y="202501"/>
                    <a:pt x="1503869" y="105448"/>
                  </a:cubicBezTo>
                  <a:cubicBezTo>
                    <a:pt x="712253" y="306662"/>
                    <a:pt x="601683" y="418737"/>
                    <a:pt x="0" y="664161"/>
                  </a:cubicBezTo>
                  <a:lnTo>
                    <a:pt x="81411" y="2283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4" name="Google Shape;10744;p107"/>
            <p:cNvSpPr/>
            <p:nvPr/>
          </p:nvSpPr>
          <p:spPr>
            <a:xfrm>
              <a:off x="6588086" y="2335576"/>
              <a:ext cx="1853311" cy="684610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5" name="Google Shape;10745;p107"/>
            <p:cNvSpPr txBox="1"/>
            <p:nvPr/>
          </p:nvSpPr>
          <p:spPr>
            <a:xfrm>
              <a:off x="6610120" y="2378207"/>
              <a:ext cx="1795750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0746" name="Google Shape;10746;p107"/>
            <p:cNvGrpSpPr/>
            <p:nvPr/>
          </p:nvGrpSpPr>
          <p:grpSpPr>
            <a:xfrm>
              <a:off x="7972177" y="2226911"/>
              <a:ext cx="897159" cy="395103"/>
              <a:chOff x="7338951" y="1864426"/>
              <a:chExt cx="427511" cy="344384"/>
            </a:xfrm>
          </p:grpSpPr>
          <p:sp>
            <p:nvSpPr>
              <p:cNvPr id="10747" name="Google Shape;10747;p107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8" name="Google Shape;10748;p107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  <p:grpSp>
          <p:nvGrpSpPr>
            <p:cNvPr id="10749" name="Google Shape;10749;p107"/>
            <p:cNvGrpSpPr/>
            <p:nvPr/>
          </p:nvGrpSpPr>
          <p:grpSpPr>
            <a:xfrm>
              <a:off x="9957872" y="3853309"/>
              <a:ext cx="683116" cy="378456"/>
              <a:chOff x="7493876" y="2774731"/>
              <a:chExt cx="1481958" cy="894622"/>
            </a:xfrm>
          </p:grpSpPr>
          <p:sp>
            <p:nvSpPr>
              <p:cNvPr id="10750" name="Google Shape;10750;p10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51" name="Google Shape;10751;p10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52" name="Google Shape;10752;p10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53" name="Google Shape;10753;p10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4" name="Google Shape;10754;p10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5" name="Google Shape;10755;p10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6" name="Google Shape;10756;p10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57" name="Google Shape;10757;p107"/>
            <p:cNvGrpSpPr/>
            <p:nvPr/>
          </p:nvGrpSpPr>
          <p:grpSpPr>
            <a:xfrm>
              <a:off x="9438940" y="2593196"/>
              <a:ext cx="903288" cy="727075"/>
              <a:chOff x="-44" y="1473"/>
              <a:chExt cx="981" cy="1105"/>
            </a:xfrm>
          </p:grpSpPr>
          <p:pic>
            <p:nvPicPr>
              <p:cNvPr descr="desktop_computer_stylized_medium" id="10758" name="Google Shape;10758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759" name="Google Shape;10759;p10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60" name="Google Shape;10760;p107"/>
            <p:cNvGrpSpPr/>
            <p:nvPr/>
          </p:nvGrpSpPr>
          <p:grpSpPr>
            <a:xfrm>
              <a:off x="8550931" y="2782976"/>
              <a:ext cx="469569" cy="865434"/>
              <a:chOff x="4140" y="429"/>
              <a:chExt cx="1425" cy="2396"/>
            </a:xfrm>
          </p:grpSpPr>
          <p:sp>
            <p:nvSpPr>
              <p:cNvPr id="10761" name="Google Shape;10761;p10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2" name="Google Shape;10762;p107"/>
              <p:cNvSpPr/>
              <p:nvPr/>
            </p:nvSpPr>
            <p:spPr>
              <a:xfrm>
                <a:off x="4208" y="429"/>
                <a:ext cx="1043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3" name="Google Shape;10763;p10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4" name="Google Shape;10764;p10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5" name="Google Shape;10765;p107"/>
              <p:cNvSpPr/>
              <p:nvPr/>
            </p:nvSpPr>
            <p:spPr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66" name="Google Shape;10766;p107"/>
              <p:cNvGrpSpPr/>
              <p:nvPr/>
            </p:nvGrpSpPr>
            <p:grpSpPr>
              <a:xfrm>
                <a:off x="4751" y="665"/>
                <a:ext cx="580" cy="131"/>
                <a:chOff x="616" y="2565"/>
                <a:chExt cx="724" cy="126"/>
              </a:xfrm>
            </p:grpSpPr>
            <p:sp>
              <p:nvSpPr>
                <p:cNvPr id="10767" name="Google Shape;10767;p107"/>
                <p:cNvSpPr/>
                <p:nvPr/>
              </p:nvSpPr>
              <p:spPr>
                <a:xfrm>
                  <a:off x="616" y="2565"/>
                  <a:ext cx="724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68" name="Google Shape;10768;p107"/>
                <p:cNvSpPr/>
                <p:nvPr/>
              </p:nvSpPr>
              <p:spPr>
                <a:xfrm>
                  <a:off x="632" y="2584"/>
                  <a:ext cx="693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69" name="Google Shape;10769;p107"/>
              <p:cNvSpPr/>
              <p:nvPr/>
            </p:nvSpPr>
            <p:spPr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70" name="Google Shape;10770;p107"/>
              <p:cNvGrpSpPr/>
              <p:nvPr/>
            </p:nvGrpSpPr>
            <p:grpSpPr>
              <a:xfrm>
                <a:off x="4745" y="994"/>
                <a:ext cx="586" cy="131"/>
                <a:chOff x="611" y="2568"/>
                <a:chExt cx="731" cy="136"/>
              </a:xfrm>
            </p:grpSpPr>
            <p:sp>
              <p:nvSpPr>
                <p:cNvPr id="10771" name="Google Shape;10771;p107"/>
                <p:cNvSpPr/>
                <p:nvPr/>
              </p:nvSpPr>
              <p:spPr>
                <a:xfrm>
                  <a:off x="611" y="2568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72" name="Google Shape;10772;p107"/>
                <p:cNvSpPr/>
                <p:nvPr/>
              </p:nvSpPr>
              <p:spPr>
                <a:xfrm>
                  <a:off x="626" y="2581"/>
                  <a:ext cx="700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73" name="Google Shape;10773;p107"/>
              <p:cNvSpPr/>
              <p:nvPr/>
            </p:nvSpPr>
            <p:spPr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4" name="Google Shape;10774;p107"/>
              <p:cNvSpPr/>
              <p:nvPr/>
            </p:nvSpPr>
            <p:spPr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75" name="Google Shape;10775;p107"/>
              <p:cNvGrpSpPr/>
              <p:nvPr/>
            </p:nvGrpSpPr>
            <p:grpSpPr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0776" name="Google Shape;10776;p107"/>
                <p:cNvSpPr/>
                <p:nvPr/>
              </p:nvSpPr>
              <p:spPr>
                <a:xfrm>
                  <a:off x="611" y="2571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77" name="Google Shape;10777;p107"/>
                <p:cNvSpPr/>
                <p:nvPr/>
              </p:nvSpPr>
              <p:spPr>
                <a:xfrm>
                  <a:off x="626" y="2589"/>
                  <a:ext cx="699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78" name="Google Shape;10778;p10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79" name="Google Shape;10779;p107"/>
              <p:cNvGrpSpPr/>
              <p:nvPr/>
            </p:nvGrpSpPr>
            <p:grpSpPr>
              <a:xfrm>
                <a:off x="4738" y="1328"/>
                <a:ext cx="574" cy="138"/>
                <a:chOff x="613" y="2569"/>
                <a:chExt cx="715" cy="138"/>
              </a:xfrm>
            </p:grpSpPr>
            <p:sp>
              <p:nvSpPr>
                <p:cNvPr id="10780" name="Google Shape;10780;p107"/>
                <p:cNvSpPr/>
                <p:nvPr/>
              </p:nvSpPr>
              <p:spPr>
                <a:xfrm>
                  <a:off x="613" y="2569"/>
                  <a:ext cx="71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81" name="Google Shape;10781;p107"/>
                <p:cNvSpPr/>
                <p:nvPr/>
              </p:nvSpPr>
              <p:spPr>
                <a:xfrm>
                  <a:off x="629" y="2582"/>
                  <a:ext cx="692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82" name="Google Shape;10782;p107"/>
              <p:cNvSpPr/>
              <p:nvPr/>
            </p:nvSpPr>
            <p:spPr>
              <a:xfrm>
                <a:off x="5250" y="429"/>
                <a:ext cx="68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3" name="Google Shape;10783;p10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4" name="Google Shape;10784;p10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5" name="Google Shape;10785;p107"/>
              <p:cNvSpPr/>
              <p:nvPr/>
            </p:nvSpPr>
            <p:spPr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6" name="Google Shape;10786;p10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7" name="Google Shape;10787;p107"/>
              <p:cNvSpPr/>
              <p:nvPr/>
            </p:nvSpPr>
            <p:spPr>
              <a:xfrm>
                <a:off x="4140" y="2681"/>
                <a:ext cx="1197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8" name="Google Shape;10788;p107"/>
              <p:cNvSpPr/>
              <p:nvPr/>
            </p:nvSpPr>
            <p:spPr>
              <a:xfrm>
                <a:off x="4208" y="2713"/>
                <a:ext cx="1067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9" name="Google Shape;10789;p107"/>
              <p:cNvSpPr/>
              <p:nvPr/>
            </p:nvSpPr>
            <p:spPr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0" name="Google Shape;10790;p107"/>
              <p:cNvSpPr/>
              <p:nvPr/>
            </p:nvSpPr>
            <p:spPr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1" name="Google Shape;10791;p107"/>
              <p:cNvSpPr/>
              <p:nvPr/>
            </p:nvSpPr>
            <p:spPr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2" name="Google Shape;10792;p107"/>
              <p:cNvSpPr/>
              <p:nvPr/>
            </p:nvSpPr>
            <p:spPr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793" name="Google Shape;10793;p107"/>
          <p:cNvGrpSpPr/>
          <p:nvPr/>
        </p:nvGrpSpPr>
        <p:grpSpPr>
          <a:xfrm>
            <a:off x="1075288" y="2941500"/>
            <a:ext cx="1106491" cy="2052752"/>
            <a:chOff x="1075288" y="2941500"/>
            <a:chExt cx="1106491" cy="2052752"/>
          </a:xfrm>
        </p:grpSpPr>
        <p:sp>
          <p:nvSpPr>
            <p:cNvPr id="10794" name="Google Shape;10794;p107"/>
            <p:cNvSpPr/>
            <p:nvPr/>
          </p:nvSpPr>
          <p:spPr>
            <a:xfrm flipH="1">
              <a:off x="1999310" y="2941500"/>
              <a:ext cx="45719" cy="2052752"/>
            </a:xfrm>
            <a:custGeom>
              <a:rect b="b" l="l" r="r" t="t"/>
              <a:pathLst>
                <a:path extrusionOk="0" h="1044" w="1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95" name="Google Shape;10795;p107"/>
            <p:cNvGrpSpPr/>
            <p:nvPr/>
          </p:nvGrpSpPr>
          <p:grpSpPr>
            <a:xfrm>
              <a:off x="1075288" y="3208525"/>
              <a:ext cx="1106491" cy="369888"/>
              <a:chOff x="3754" y="460"/>
              <a:chExt cx="697" cy="233"/>
            </a:xfrm>
          </p:grpSpPr>
          <p:sp>
            <p:nvSpPr>
              <p:cNvPr id="10796" name="Google Shape;10796;p107"/>
              <p:cNvSpPr/>
              <p:nvPr/>
            </p:nvSpPr>
            <p:spPr>
              <a:xfrm>
                <a:off x="3754" y="472"/>
                <a:ext cx="675" cy="211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595959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7" name="Google Shape;10797;p107"/>
              <p:cNvSpPr txBox="1"/>
              <p:nvPr/>
            </p:nvSpPr>
            <p:spPr>
              <a:xfrm>
                <a:off x="3771" y="460"/>
                <a:ext cx="68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request</a:t>
                </a:r>
                <a:endParaRPr/>
              </a:p>
            </p:txBody>
          </p:sp>
        </p:grpSp>
      </p:grpSp>
      <p:grpSp>
        <p:nvGrpSpPr>
          <p:cNvPr id="10798" name="Google Shape;10798;p107"/>
          <p:cNvGrpSpPr/>
          <p:nvPr/>
        </p:nvGrpSpPr>
        <p:grpSpPr>
          <a:xfrm>
            <a:off x="2110287" y="2903775"/>
            <a:ext cx="1181009" cy="2046515"/>
            <a:chOff x="9419685" y="773929"/>
            <a:chExt cx="1181009" cy="2046515"/>
          </a:xfrm>
        </p:grpSpPr>
        <p:sp>
          <p:nvSpPr>
            <p:cNvPr id="10799" name="Google Shape;10799;p107"/>
            <p:cNvSpPr/>
            <p:nvPr/>
          </p:nvSpPr>
          <p:spPr>
            <a:xfrm>
              <a:off x="9820387" y="773929"/>
              <a:ext cx="91993" cy="2046515"/>
            </a:xfrm>
            <a:custGeom>
              <a:rect b="b" l="l" r="r" t="t"/>
              <a:pathLst>
                <a:path extrusionOk="0" h="1044" w="1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0" name="Google Shape;10800;p107"/>
            <p:cNvSpPr/>
            <p:nvPr/>
          </p:nvSpPr>
          <p:spPr>
            <a:xfrm>
              <a:off x="9460582" y="2111739"/>
              <a:ext cx="1041606" cy="38735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1" name="Google Shape;10801;p107"/>
            <p:cNvSpPr txBox="1"/>
            <p:nvPr/>
          </p:nvSpPr>
          <p:spPr>
            <a:xfrm>
              <a:off x="9419685" y="2108274"/>
              <a:ext cx="11810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response</a:t>
              </a:r>
              <a:endParaRPr/>
            </a:p>
          </p:txBody>
        </p:sp>
      </p:grpSp>
      <p:grpSp>
        <p:nvGrpSpPr>
          <p:cNvPr id="10802" name="Google Shape;10802;p107"/>
          <p:cNvGrpSpPr/>
          <p:nvPr/>
        </p:nvGrpSpPr>
        <p:grpSpPr>
          <a:xfrm>
            <a:off x="6479874" y="2985066"/>
            <a:ext cx="1651834" cy="2046515"/>
            <a:chOff x="8948861" y="773929"/>
            <a:chExt cx="1651834" cy="2046515"/>
          </a:xfrm>
        </p:grpSpPr>
        <p:sp>
          <p:nvSpPr>
            <p:cNvPr id="10803" name="Google Shape;10803;p107"/>
            <p:cNvSpPr/>
            <p:nvPr/>
          </p:nvSpPr>
          <p:spPr>
            <a:xfrm>
              <a:off x="9820387" y="773929"/>
              <a:ext cx="91993" cy="2046515"/>
            </a:xfrm>
            <a:custGeom>
              <a:rect b="b" l="l" r="r" t="t"/>
              <a:pathLst>
                <a:path extrusionOk="0" h="1044" w="1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4" name="Google Shape;10804;p107"/>
            <p:cNvSpPr/>
            <p:nvPr/>
          </p:nvSpPr>
          <p:spPr>
            <a:xfrm>
              <a:off x="8955511" y="2111739"/>
              <a:ext cx="1546677" cy="38735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5" name="Google Shape;10805;p107"/>
            <p:cNvSpPr txBox="1"/>
            <p:nvPr/>
          </p:nvSpPr>
          <p:spPr>
            <a:xfrm>
              <a:off x="8948861" y="2108274"/>
              <a:ext cx="16518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trap message</a:t>
              </a:r>
              <a:endParaRPr/>
            </a:p>
          </p:txBody>
        </p:sp>
      </p:grpSp>
      <p:sp>
        <p:nvSpPr>
          <p:cNvPr id="10806" name="Google Shape;10806;p107"/>
          <p:cNvSpPr txBox="1"/>
          <p:nvPr/>
        </p:nvSpPr>
        <p:spPr>
          <a:xfrm>
            <a:off x="798263" y="1390980"/>
            <a:ext cx="77724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ways to convey MIB info, commands: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7" name="Google Shape;10807;p107"/>
          <p:cNvSpPr txBox="1"/>
          <p:nvPr/>
        </p:nvSpPr>
        <p:spPr>
          <a:xfrm>
            <a:off x="2926216" y="6150032"/>
            <a:ext cx="26098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request/response mode</a:t>
            </a:r>
            <a:endParaRPr/>
          </a:p>
        </p:txBody>
      </p:sp>
      <p:grpSp>
        <p:nvGrpSpPr>
          <p:cNvPr id="10808" name="Google Shape;10808;p107"/>
          <p:cNvGrpSpPr/>
          <p:nvPr/>
        </p:nvGrpSpPr>
        <p:grpSpPr>
          <a:xfrm>
            <a:off x="6729466" y="1948376"/>
            <a:ext cx="4230478" cy="4566724"/>
            <a:chOff x="6729466" y="1948376"/>
            <a:chExt cx="4230478" cy="4566724"/>
          </a:xfrm>
        </p:grpSpPr>
        <p:grpSp>
          <p:nvGrpSpPr>
            <p:cNvPr id="10809" name="Google Shape;10809;p107"/>
            <p:cNvGrpSpPr/>
            <p:nvPr/>
          </p:nvGrpSpPr>
          <p:grpSpPr>
            <a:xfrm>
              <a:off x="6729466" y="1948376"/>
              <a:ext cx="4230478" cy="4182389"/>
              <a:chOff x="6588086" y="2082419"/>
              <a:chExt cx="4230478" cy="4182389"/>
            </a:xfrm>
          </p:grpSpPr>
          <p:sp>
            <p:nvSpPr>
              <p:cNvPr id="10810" name="Google Shape;10810;p107"/>
              <p:cNvSpPr/>
              <p:nvPr/>
            </p:nvSpPr>
            <p:spPr>
              <a:xfrm rot="-5216633">
                <a:off x="7427686" y="2947494"/>
                <a:ext cx="4057421" cy="2452239"/>
              </a:xfrm>
              <a:custGeom>
                <a:rect b="b" l="l" r="r" t="t"/>
                <a:pathLst>
                  <a:path extrusionOk="0" h="933" w="1794">
                    <a:moveTo>
                      <a:pt x="6" y="483"/>
                    </a:moveTo>
                    <a:cubicBezTo>
                      <a:pt x="0" y="365"/>
                      <a:pt x="16" y="189"/>
                      <a:pt x="108" y="125"/>
                    </a:cubicBezTo>
                    <a:cubicBezTo>
                      <a:pt x="200" y="61"/>
                      <a:pt x="389" y="116"/>
                      <a:pt x="559" y="100"/>
                    </a:cubicBezTo>
                    <a:cubicBezTo>
                      <a:pt x="729" y="84"/>
                      <a:pt x="935" y="0"/>
                      <a:pt x="1128" y="29"/>
                    </a:cubicBezTo>
                    <a:cubicBezTo>
                      <a:pt x="1321" y="58"/>
                      <a:pt x="1638" y="142"/>
                      <a:pt x="1716" y="275"/>
                    </a:cubicBezTo>
                    <a:cubicBezTo>
                      <a:pt x="1794" y="408"/>
                      <a:pt x="1652" y="721"/>
                      <a:pt x="1596" y="827"/>
                    </a:cubicBezTo>
                    <a:cubicBezTo>
                      <a:pt x="1540" y="933"/>
                      <a:pt x="1506" y="894"/>
                      <a:pt x="1380" y="911"/>
                    </a:cubicBezTo>
                    <a:cubicBezTo>
                      <a:pt x="1254" y="928"/>
                      <a:pt x="1001" y="929"/>
                      <a:pt x="840" y="929"/>
                    </a:cubicBezTo>
                    <a:cubicBezTo>
                      <a:pt x="679" y="929"/>
                      <a:pt x="530" y="927"/>
                      <a:pt x="414" y="911"/>
                    </a:cubicBezTo>
                    <a:cubicBezTo>
                      <a:pt x="298" y="895"/>
                      <a:pt x="211" y="903"/>
                      <a:pt x="143" y="832"/>
                    </a:cubicBezTo>
                    <a:cubicBezTo>
                      <a:pt x="75" y="761"/>
                      <a:pt x="4" y="624"/>
                      <a:pt x="6" y="483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811" name="Google Shape;10811;p107"/>
              <p:cNvCxnSpPr/>
              <p:nvPr/>
            </p:nvCxnSpPr>
            <p:spPr>
              <a:xfrm flipH="1" rot="10800000">
                <a:off x="9496090" y="3180571"/>
                <a:ext cx="338138" cy="104298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2" name="Google Shape;10812;p107"/>
              <p:cNvCxnSpPr/>
              <p:nvPr/>
            </p:nvCxnSpPr>
            <p:spPr>
              <a:xfrm flipH="1" rot="10800000">
                <a:off x="9726589" y="4134658"/>
                <a:ext cx="290202" cy="25148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3" name="Google Shape;10813;p107"/>
              <p:cNvCxnSpPr/>
              <p:nvPr/>
            </p:nvCxnSpPr>
            <p:spPr>
              <a:xfrm>
                <a:off x="9729453" y="4625196"/>
                <a:ext cx="373062" cy="55403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4" name="Google Shape;10814;p107"/>
              <p:cNvCxnSpPr/>
              <p:nvPr/>
            </p:nvCxnSpPr>
            <p:spPr>
              <a:xfrm>
                <a:off x="8921415" y="3675871"/>
                <a:ext cx="371475" cy="55403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5" name="Google Shape;10815;p107"/>
              <p:cNvCxnSpPr/>
              <p:nvPr/>
            </p:nvCxnSpPr>
            <p:spPr>
              <a:xfrm flipH="1">
                <a:off x="9135728" y="4614083"/>
                <a:ext cx="309562" cy="102393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16" name="Google Shape;10816;p107"/>
              <p:cNvSpPr txBox="1"/>
              <p:nvPr/>
            </p:nvSpPr>
            <p:spPr>
              <a:xfrm>
                <a:off x="7442257" y="5831180"/>
                <a:ext cx="149752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managed device</a:t>
                </a:r>
                <a:endParaRPr/>
              </a:p>
            </p:txBody>
          </p:sp>
          <p:grpSp>
            <p:nvGrpSpPr>
              <p:cNvPr id="10817" name="Google Shape;10817;p107"/>
              <p:cNvGrpSpPr/>
              <p:nvPr/>
            </p:nvGrpSpPr>
            <p:grpSpPr>
              <a:xfrm>
                <a:off x="9973928" y="5172883"/>
                <a:ext cx="366712" cy="579438"/>
                <a:chOff x="4140" y="429"/>
                <a:chExt cx="1425" cy="2396"/>
              </a:xfrm>
            </p:grpSpPr>
            <p:sp>
              <p:nvSpPr>
                <p:cNvPr id="10818" name="Google Shape;10818;p10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19" name="Google Shape;10819;p107"/>
                <p:cNvSpPr/>
                <p:nvPr/>
              </p:nvSpPr>
              <p:spPr>
                <a:xfrm>
                  <a:off x="4208" y="429"/>
                  <a:ext cx="1043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0" name="Google Shape;10820;p10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1" name="Google Shape;10821;p10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2" name="Google Shape;10822;p107"/>
                <p:cNvSpPr/>
                <p:nvPr/>
              </p:nvSpPr>
              <p:spPr>
                <a:xfrm>
                  <a:off x="4214" y="692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23" name="Google Shape;10823;p107"/>
                <p:cNvGrpSpPr/>
                <p:nvPr/>
              </p:nvGrpSpPr>
              <p:grpSpPr>
                <a:xfrm>
                  <a:off x="4751" y="665"/>
                  <a:ext cx="580" cy="131"/>
                  <a:chOff x="616" y="2565"/>
                  <a:chExt cx="724" cy="126"/>
                </a:xfrm>
              </p:grpSpPr>
              <p:sp>
                <p:nvSpPr>
                  <p:cNvPr id="10824" name="Google Shape;10824;p107"/>
                  <p:cNvSpPr/>
                  <p:nvPr/>
                </p:nvSpPr>
                <p:spPr>
                  <a:xfrm>
                    <a:off x="616" y="2565"/>
                    <a:ext cx="724" cy="12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25" name="Google Shape;10825;p107"/>
                  <p:cNvSpPr/>
                  <p:nvPr/>
                </p:nvSpPr>
                <p:spPr>
                  <a:xfrm>
                    <a:off x="632" y="2584"/>
                    <a:ext cx="693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26" name="Google Shape;10826;p107"/>
                <p:cNvSpPr/>
                <p:nvPr/>
              </p:nvSpPr>
              <p:spPr>
                <a:xfrm>
                  <a:off x="4226" y="1020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27" name="Google Shape;10827;p107"/>
                <p:cNvGrpSpPr/>
                <p:nvPr/>
              </p:nvGrpSpPr>
              <p:grpSpPr>
                <a:xfrm>
                  <a:off x="4745" y="994"/>
                  <a:ext cx="586" cy="131"/>
                  <a:chOff x="611" y="2568"/>
                  <a:chExt cx="731" cy="136"/>
                </a:xfrm>
              </p:grpSpPr>
              <p:sp>
                <p:nvSpPr>
                  <p:cNvPr id="10828" name="Google Shape;10828;p107"/>
                  <p:cNvSpPr/>
                  <p:nvPr/>
                </p:nvSpPr>
                <p:spPr>
                  <a:xfrm>
                    <a:off x="611" y="2568"/>
                    <a:ext cx="731" cy="13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29" name="Google Shape;10829;p107"/>
                  <p:cNvSpPr/>
                  <p:nvPr/>
                </p:nvSpPr>
                <p:spPr>
                  <a:xfrm>
                    <a:off x="626" y="2581"/>
                    <a:ext cx="700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30" name="Google Shape;10830;p107"/>
                <p:cNvSpPr/>
                <p:nvPr/>
              </p:nvSpPr>
              <p:spPr>
                <a:xfrm>
                  <a:off x="4214" y="1361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31" name="Google Shape;10831;p107"/>
                <p:cNvSpPr/>
                <p:nvPr/>
              </p:nvSpPr>
              <p:spPr>
                <a:xfrm>
                  <a:off x="4226" y="1657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32" name="Google Shape;10832;p107"/>
                <p:cNvGrpSpPr/>
                <p:nvPr/>
              </p:nvGrpSpPr>
              <p:grpSpPr>
                <a:xfrm>
                  <a:off x="4733" y="1630"/>
                  <a:ext cx="586" cy="151"/>
                  <a:chOff x="611" y="2571"/>
                  <a:chExt cx="730" cy="139"/>
                </a:xfrm>
              </p:grpSpPr>
              <p:sp>
                <p:nvSpPr>
                  <p:cNvPr id="10833" name="Google Shape;10833;p107"/>
                  <p:cNvSpPr/>
                  <p:nvPr/>
                </p:nvSpPr>
                <p:spPr>
                  <a:xfrm>
                    <a:off x="611" y="2571"/>
                    <a:ext cx="730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34" name="Google Shape;10834;p107"/>
                  <p:cNvSpPr/>
                  <p:nvPr/>
                </p:nvSpPr>
                <p:spPr>
                  <a:xfrm>
                    <a:off x="626" y="2589"/>
                    <a:ext cx="699" cy="11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35" name="Google Shape;10835;p10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36" name="Google Shape;10836;p107"/>
                <p:cNvGrpSpPr/>
                <p:nvPr/>
              </p:nvGrpSpPr>
              <p:grpSpPr>
                <a:xfrm>
                  <a:off x="4738" y="1328"/>
                  <a:ext cx="574" cy="138"/>
                  <a:chOff x="613" y="2569"/>
                  <a:chExt cx="715" cy="138"/>
                </a:xfrm>
              </p:grpSpPr>
              <p:sp>
                <p:nvSpPr>
                  <p:cNvPr id="10837" name="Google Shape;10837;p107"/>
                  <p:cNvSpPr/>
                  <p:nvPr/>
                </p:nvSpPr>
                <p:spPr>
                  <a:xfrm>
                    <a:off x="613" y="2569"/>
                    <a:ext cx="71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38" name="Google Shape;10838;p107"/>
                  <p:cNvSpPr/>
                  <p:nvPr/>
                </p:nvSpPr>
                <p:spPr>
                  <a:xfrm>
                    <a:off x="629" y="2582"/>
                    <a:ext cx="692" cy="10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39" name="Google Shape;10839;p107"/>
                <p:cNvSpPr/>
                <p:nvPr/>
              </p:nvSpPr>
              <p:spPr>
                <a:xfrm>
                  <a:off x="5250" y="429"/>
                  <a:ext cx="68" cy="2291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0" name="Google Shape;10840;p10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1" name="Google Shape;10841;p10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2" name="Google Shape;10842;p107"/>
                <p:cNvSpPr/>
                <p:nvPr/>
              </p:nvSpPr>
              <p:spPr>
                <a:xfrm>
                  <a:off x="5516" y="2608"/>
                  <a:ext cx="49" cy="9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3" name="Google Shape;10843;p10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4" name="Google Shape;10844;p107"/>
                <p:cNvSpPr/>
                <p:nvPr/>
              </p:nvSpPr>
              <p:spPr>
                <a:xfrm>
                  <a:off x="4140" y="2681"/>
                  <a:ext cx="1197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5" name="Google Shape;10845;p107"/>
                <p:cNvSpPr/>
                <p:nvPr/>
              </p:nvSpPr>
              <p:spPr>
                <a:xfrm>
                  <a:off x="4208" y="2713"/>
                  <a:ext cx="1067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6" name="Google Shape;10846;p107"/>
                <p:cNvSpPr/>
                <p:nvPr/>
              </p:nvSpPr>
              <p:spPr>
                <a:xfrm>
                  <a:off x="4307" y="2385"/>
                  <a:ext cx="160" cy="13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7" name="Google Shape;10847;p107"/>
                <p:cNvSpPr/>
                <p:nvPr/>
              </p:nvSpPr>
              <p:spPr>
                <a:xfrm>
                  <a:off x="4485" y="2385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8" name="Google Shape;10848;p107"/>
                <p:cNvSpPr/>
                <p:nvPr/>
              </p:nvSpPr>
              <p:spPr>
                <a:xfrm>
                  <a:off x="4664" y="2379"/>
                  <a:ext cx="154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9" name="Google Shape;10849;p107"/>
                <p:cNvSpPr/>
                <p:nvPr/>
              </p:nvSpPr>
              <p:spPr>
                <a:xfrm>
                  <a:off x="5059" y="1834"/>
                  <a:ext cx="86" cy="761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50" name="Google Shape;10850;p107"/>
              <p:cNvGrpSpPr/>
              <p:nvPr/>
            </p:nvGrpSpPr>
            <p:grpSpPr>
              <a:xfrm>
                <a:off x="8732734" y="5561377"/>
                <a:ext cx="683116" cy="378456"/>
                <a:chOff x="7493876" y="2774731"/>
                <a:chExt cx="1481958" cy="894622"/>
              </a:xfrm>
            </p:grpSpPr>
            <p:sp>
              <p:nvSpPr>
                <p:cNvPr id="10851" name="Google Shape;10851;p10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0852" name="Google Shape;10852;p10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0853" name="Google Shape;10853;p10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854" name="Google Shape;10854;p10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5" name="Google Shape;10855;p10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6" name="Google Shape;10856;p10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7" name="Google Shape;10857;p10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10858" name="Google Shape;10858;p107"/>
              <p:cNvCxnSpPr/>
              <p:nvPr/>
            </p:nvCxnSpPr>
            <p:spPr>
              <a:xfrm>
                <a:off x="10652863" y="4065510"/>
                <a:ext cx="16570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859" name="Google Shape;10859;p107"/>
              <p:cNvCxnSpPr/>
              <p:nvPr/>
            </p:nvCxnSpPr>
            <p:spPr>
              <a:xfrm>
                <a:off x="9251576" y="5941812"/>
                <a:ext cx="237507" cy="23750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860" name="Google Shape;10860;p107"/>
              <p:cNvGrpSpPr/>
              <p:nvPr/>
            </p:nvGrpSpPr>
            <p:grpSpPr>
              <a:xfrm>
                <a:off x="7082865" y="5130332"/>
                <a:ext cx="1784742" cy="783771"/>
                <a:chOff x="3623562" y="5108298"/>
                <a:chExt cx="1784742" cy="783771"/>
              </a:xfrm>
            </p:grpSpPr>
            <p:sp>
              <p:nvSpPr>
                <p:cNvPr id="10861" name="Google Shape;10861;p107"/>
                <p:cNvSpPr/>
                <p:nvPr/>
              </p:nvSpPr>
              <p:spPr>
                <a:xfrm flipH="1">
                  <a:off x="4018890" y="5238925"/>
                  <a:ext cx="1389414" cy="653144"/>
                </a:xfrm>
                <a:custGeom>
                  <a:rect b="b" l="l" r="r" t="t"/>
                  <a:pathLst>
                    <a:path extrusionOk="0" h="653144" w="1389414">
                      <a:moveTo>
                        <a:pt x="59377" y="415637"/>
                      </a:moveTo>
                      <a:cubicBezTo>
                        <a:pt x="285008" y="332510"/>
                        <a:pt x="320635" y="320634"/>
                        <a:pt x="605641" y="0"/>
                      </a:cubicBezTo>
                      <a:lnTo>
                        <a:pt x="1389414" y="391887"/>
                      </a:lnTo>
                      <a:cubicBezTo>
                        <a:pt x="395845" y="482932"/>
                        <a:pt x="601683" y="407720"/>
                        <a:pt x="0" y="653144"/>
                      </a:cubicBezTo>
                      <a:lnTo>
                        <a:pt x="59377" y="41563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55686"/>
                      </a:srgbClr>
                    </a:gs>
                    <a:gs pos="100000">
                      <a:srgbClr val="D8D8D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2" name="Google Shape;10862;p107"/>
                <p:cNvSpPr/>
                <p:nvPr/>
              </p:nvSpPr>
              <p:spPr>
                <a:xfrm>
                  <a:off x="3623562" y="5108298"/>
                  <a:ext cx="1293812" cy="545006"/>
                </a:xfrm>
                <a:prstGeom prst="ellipse">
                  <a:avLst/>
                </a:prstGeom>
                <a:solidFill>
                  <a:srgbClr val="F2F2F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63" name="Google Shape;10863;p107"/>
                <p:cNvSpPr txBox="1"/>
                <p:nvPr/>
              </p:nvSpPr>
              <p:spPr>
                <a:xfrm>
                  <a:off x="3656136" y="5229255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agent</a:t>
                  </a:r>
                  <a:endParaRPr/>
                </a:p>
              </p:txBody>
            </p:sp>
            <p:grpSp>
              <p:nvGrpSpPr>
                <p:cNvPr id="10864" name="Google Shape;10864;p107"/>
                <p:cNvGrpSpPr/>
                <p:nvPr/>
              </p:nvGrpSpPr>
              <p:grpSpPr>
                <a:xfrm>
                  <a:off x="4254952" y="5203301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10865" name="Google Shape;10865;p107"/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>
                      <a:gd fmla="val 25000" name="adj"/>
                    </a:avLst>
                  </a:prstGeom>
                  <a:solidFill>
                    <a:srgbClr val="D8E2F3"/>
                  </a:solidFill>
                  <a:ln cap="flat" cmpd="sng" w="12700">
                    <a:solidFill>
                      <a:srgbClr val="AEABAB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66" name="Google Shape;10866;p107"/>
                  <p:cNvSpPr txBox="1"/>
                  <p:nvPr/>
                </p:nvSpPr>
                <p:spPr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A8"/>
                      </a:buClr>
                      <a:buSzPts val="1400"/>
                      <a:buFont typeface="Arial"/>
                      <a:buNone/>
                    </a:pPr>
                    <a:r>
                      <a:rPr b="0" i="0" lang="en-US" sz="1400" u="none" cap="none" strike="noStrike">
                        <a:solidFill>
                          <a:srgbClr val="0000A8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data</a:t>
                    </a:r>
                    <a:endParaRPr/>
                  </a:p>
                </p:txBody>
              </p:sp>
            </p:grpSp>
          </p:grpSp>
          <p:grpSp>
            <p:nvGrpSpPr>
              <p:cNvPr id="10867" name="Google Shape;10867;p107"/>
              <p:cNvGrpSpPr/>
              <p:nvPr/>
            </p:nvGrpSpPr>
            <p:grpSpPr>
              <a:xfrm>
                <a:off x="9109072" y="4201055"/>
                <a:ext cx="736270" cy="422596"/>
                <a:chOff x="3668110" y="2448910"/>
                <a:chExt cx="3794234" cy="2165130"/>
              </a:xfrm>
            </p:grpSpPr>
            <p:sp>
              <p:nvSpPr>
                <p:cNvPr id="10868" name="Google Shape;10868;p10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9" name="Google Shape;10869;p10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870" name="Google Shape;10870;p10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0871" name="Google Shape;10871;p10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72" name="Google Shape;10872;p10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73" name="Google Shape;10873;p10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74" name="Google Shape;10874;p10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875" name="Google Shape;10875;p107"/>
              <p:cNvSpPr/>
              <p:nvPr/>
            </p:nvSpPr>
            <p:spPr>
              <a:xfrm flipH="1">
                <a:off x="6990267" y="2857446"/>
                <a:ext cx="1644149" cy="664161"/>
              </a:xfrm>
              <a:custGeom>
                <a:rect b="b" l="l" r="r" t="t"/>
                <a:pathLst>
                  <a:path extrusionOk="0" h="664161" w="1503869">
                    <a:moveTo>
                      <a:pt x="81411" y="228350"/>
                    </a:moveTo>
                    <a:cubicBezTo>
                      <a:pt x="307042" y="145223"/>
                      <a:pt x="255473" y="210465"/>
                      <a:pt x="419294" y="0"/>
                    </a:cubicBezTo>
                    <a:cubicBezTo>
                      <a:pt x="706258" y="244471"/>
                      <a:pt x="774088" y="202501"/>
                      <a:pt x="1503869" y="105448"/>
                    </a:cubicBezTo>
                    <a:cubicBezTo>
                      <a:pt x="712253" y="306662"/>
                      <a:pt x="601683" y="418737"/>
                      <a:pt x="0" y="664161"/>
                    </a:cubicBezTo>
                    <a:lnTo>
                      <a:pt x="81411" y="22835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6" name="Google Shape;10876;p107"/>
              <p:cNvSpPr/>
              <p:nvPr/>
            </p:nvSpPr>
            <p:spPr>
              <a:xfrm>
                <a:off x="6588086" y="2335576"/>
                <a:ext cx="1853311" cy="684610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7" name="Google Shape;10877;p107"/>
              <p:cNvSpPr txBox="1"/>
              <p:nvPr/>
            </p:nvSpPr>
            <p:spPr>
              <a:xfrm>
                <a:off x="6610120" y="2378207"/>
                <a:ext cx="1795750" cy="5652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managing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server/controller</a:t>
                </a:r>
                <a:endParaRPr/>
              </a:p>
            </p:txBody>
          </p:sp>
          <p:grpSp>
            <p:nvGrpSpPr>
              <p:cNvPr id="10878" name="Google Shape;10878;p107"/>
              <p:cNvGrpSpPr/>
              <p:nvPr/>
            </p:nvGrpSpPr>
            <p:grpSpPr>
              <a:xfrm>
                <a:off x="7972177" y="2226911"/>
                <a:ext cx="897159" cy="395103"/>
                <a:chOff x="7338951" y="1864426"/>
                <a:chExt cx="427511" cy="344384"/>
              </a:xfrm>
            </p:grpSpPr>
            <p:sp>
              <p:nvSpPr>
                <p:cNvPr id="10879" name="Google Shape;10879;p107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0" name="Google Shape;10880;p107"/>
                <p:cNvSpPr txBox="1"/>
                <p:nvPr/>
              </p:nvSpPr>
              <p:spPr>
                <a:xfrm>
                  <a:off x="7404793" y="1927928"/>
                  <a:ext cx="281197" cy="2682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  <p:grpSp>
            <p:nvGrpSpPr>
              <p:cNvPr id="10881" name="Google Shape;10881;p107"/>
              <p:cNvGrpSpPr/>
              <p:nvPr/>
            </p:nvGrpSpPr>
            <p:grpSpPr>
              <a:xfrm>
                <a:off x="9957872" y="3853309"/>
                <a:ext cx="683116" cy="378456"/>
                <a:chOff x="7493876" y="2774731"/>
                <a:chExt cx="1481958" cy="894622"/>
              </a:xfrm>
            </p:grpSpPr>
            <p:sp>
              <p:nvSpPr>
                <p:cNvPr id="10882" name="Google Shape;10882;p10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0883" name="Google Shape;10883;p10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0884" name="Google Shape;10884;p10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885" name="Google Shape;10885;p10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6" name="Google Shape;10886;p10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7" name="Google Shape;10887;p10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8" name="Google Shape;10888;p10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889" name="Google Shape;10889;p107"/>
              <p:cNvGrpSpPr/>
              <p:nvPr/>
            </p:nvGrpSpPr>
            <p:grpSpPr>
              <a:xfrm>
                <a:off x="9438940" y="2593196"/>
                <a:ext cx="903288" cy="727075"/>
                <a:chOff x="-44" y="1473"/>
                <a:chExt cx="981" cy="1105"/>
              </a:xfrm>
            </p:grpSpPr>
            <p:pic>
              <p:nvPicPr>
                <p:cNvPr descr="desktop_computer_stylized_medium" id="10890" name="Google Shape;10890;p10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891" name="Google Shape;10891;p10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92" name="Google Shape;10892;p107"/>
              <p:cNvGrpSpPr/>
              <p:nvPr/>
            </p:nvGrpSpPr>
            <p:grpSpPr>
              <a:xfrm>
                <a:off x="8550931" y="2782976"/>
                <a:ext cx="469569" cy="865434"/>
                <a:chOff x="4140" y="429"/>
                <a:chExt cx="1425" cy="2396"/>
              </a:xfrm>
            </p:grpSpPr>
            <p:sp>
              <p:nvSpPr>
                <p:cNvPr id="10893" name="Google Shape;10893;p10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4" name="Google Shape;10894;p107"/>
                <p:cNvSpPr/>
                <p:nvPr/>
              </p:nvSpPr>
              <p:spPr>
                <a:xfrm>
                  <a:off x="4208" y="429"/>
                  <a:ext cx="1043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5" name="Google Shape;10895;p10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6" name="Google Shape;10896;p10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7" name="Google Shape;10897;p107"/>
                <p:cNvSpPr/>
                <p:nvPr/>
              </p:nvSpPr>
              <p:spPr>
                <a:xfrm>
                  <a:off x="4214" y="692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98" name="Google Shape;10898;p107"/>
                <p:cNvGrpSpPr/>
                <p:nvPr/>
              </p:nvGrpSpPr>
              <p:grpSpPr>
                <a:xfrm>
                  <a:off x="4751" y="665"/>
                  <a:ext cx="580" cy="131"/>
                  <a:chOff x="616" y="2565"/>
                  <a:chExt cx="724" cy="126"/>
                </a:xfrm>
              </p:grpSpPr>
              <p:sp>
                <p:nvSpPr>
                  <p:cNvPr id="10899" name="Google Shape;10899;p107"/>
                  <p:cNvSpPr/>
                  <p:nvPr/>
                </p:nvSpPr>
                <p:spPr>
                  <a:xfrm>
                    <a:off x="616" y="2565"/>
                    <a:ext cx="724" cy="12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0" name="Google Shape;10900;p107"/>
                  <p:cNvSpPr/>
                  <p:nvPr/>
                </p:nvSpPr>
                <p:spPr>
                  <a:xfrm>
                    <a:off x="632" y="2584"/>
                    <a:ext cx="693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01" name="Google Shape;10901;p107"/>
                <p:cNvSpPr/>
                <p:nvPr/>
              </p:nvSpPr>
              <p:spPr>
                <a:xfrm>
                  <a:off x="4226" y="1020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02" name="Google Shape;10902;p107"/>
                <p:cNvGrpSpPr/>
                <p:nvPr/>
              </p:nvGrpSpPr>
              <p:grpSpPr>
                <a:xfrm>
                  <a:off x="4745" y="994"/>
                  <a:ext cx="586" cy="131"/>
                  <a:chOff x="611" y="2568"/>
                  <a:chExt cx="731" cy="136"/>
                </a:xfrm>
              </p:grpSpPr>
              <p:sp>
                <p:nvSpPr>
                  <p:cNvPr id="10903" name="Google Shape;10903;p107"/>
                  <p:cNvSpPr/>
                  <p:nvPr/>
                </p:nvSpPr>
                <p:spPr>
                  <a:xfrm>
                    <a:off x="611" y="2568"/>
                    <a:ext cx="731" cy="13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4" name="Google Shape;10904;p107"/>
                  <p:cNvSpPr/>
                  <p:nvPr/>
                </p:nvSpPr>
                <p:spPr>
                  <a:xfrm>
                    <a:off x="626" y="2581"/>
                    <a:ext cx="700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05" name="Google Shape;10905;p107"/>
                <p:cNvSpPr/>
                <p:nvPr/>
              </p:nvSpPr>
              <p:spPr>
                <a:xfrm>
                  <a:off x="4214" y="1361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06" name="Google Shape;10906;p107"/>
                <p:cNvSpPr/>
                <p:nvPr/>
              </p:nvSpPr>
              <p:spPr>
                <a:xfrm>
                  <a:off x="4226" y="1657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07" name="Google Shape;10907;p107"/>
                <p:cNvGrpSpPr/>
                <p:nvPr/>
              </p:nvGrpSpPr>
              <p:grpSpPr>
                <a:xfrm>
                  <a:off x="4733" y="1630"/>
                  <a:ext cx="586" cy="151"/>
                  <a:chOff x="611" y="2571"/>
                  <a:chExt cx="730" cy="139"/>
                </a:xfrm>
              </p:grpSpPr>
              <p:sp>
                <p:nvSpPr>
                  <p:cNvPr id="10908" name="Google Shape;10908;p107"/>
                  <p:cNvSpPr/>
                  <p:nvPr/>
                </p:nvSpPr>
                <p:spPr>
                  <a:xfrm>
                    <a:off x="611" y="2571"/>
                    <a:ext cx="730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9" name="Google Shape;10909;p107"/>
                  <p:cNvSpPr/>
                  <p:nvPr/>
                </p:nvSpPr>
                <p:spPr>
                  <a:xfrm>
                    <a:off x="626" y="2589"/>
                    <a:ext cx="699" cy="11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10" name="Google Shape;10910;p10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11" name="Google Shape;10911;p107"/>
                <p:cNvGrpSpPr/>
                <p:nvPr/>
              </p:nvGrpSpPr>
              <p:grpSpPr>
                <a:xfrm>
                  <a:off x="4738" y="1328"/>
                  <a:ext cx="574" cy="138"/>
                  <a:chOff x="613" y="2569"/>
                  <a:chExt cx="715" cy="138"/>
                </a:xfrm>
              </p:grpSpPr>
              <p:sp>
                <p:nvSpPr>
                  <p:cNvPr id="10912" name="Google Shape;10912;p107"/>
                  <p:cNvSpPr/>
                  <p:nvPr/>
                </p:nvSpPr>
                <p:spPr>
                  <a:xfrm>
                    <a:off x="613" y="2569"/>
                    <a:ext cx="71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13" name="Google Shape;10913;p107"/>
                  <p:cNvSpPr/>
                  <p:nvPr/>
                </p:nvSpPr>
                <p:spPr>
                  <a:xfrm>
                    <a:off x="629" y="2582"/>
                    <a:ext cx="692" cy="10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14" name="Google Shape;10914;p107"/>
                <p:cNvSpPr/>
                <p:nvPr/>
              </p:nvSpPr>
              <p:spPr>
                <a:xfrm>
                  <a:off x="5250" y="429"/>
                  <a:ext cx="68" cy="2291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5" name="Google Shape;10915;p10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6" name="Google Shape;10916;p10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7" name="Google Shape;10917;p107"/>
                <p:cNvSpPr/>
                <p:nvPr/>
              </p:nvSpPr>
              <p:spPr>
                <a:xfrm>
                  <a:off x="5516" y="2608"/>
                  <a:ext cx="49" cy="9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8" name="Google Shape;10918;p10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9" name="Google Shape;10919;p107"/>
                <p:cNvSpPr/>
                <p:nvPr/>
              </p:nvSpPr>
              <p:spPr>
                <a:xfrm>
                  <a:off x="4140" y="2681"/>
                  <a:ext cx="1197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0" name="Google Shape;10920;p107"/>
                <p:cNvSpPr/>
                <p:nvPr/>
              </p:nvSpPr>
              <p:spPr>
                <a:xfrm>
                  <a:off x="4208" y="2713"/>
                  <a:ext cx="1067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1" name="Google Shape;10921;p107"/>
                <p:cNvSpPr/>
                <p:nvPr/>
              </p:nvSpPr>
              <p:spPr>
                <a:xfrm>
                  <a:off x="4307" y="2385"/>
                  <a:ext cx="160" cy="13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2" name="Google Shape;10922;p107"/>
                <p:cNvSpPr/>
                <p:nvPr/>
              </p:nvSpPr>
              <p:spPr>
                <a:xfrm>
                  <a:off x="4485" y="2385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3" name="Google Shape;10923;p107"/>
                <p:cNvSpPr/>
                <p:nvPr/>
              </p:nvSpPr>
              <p:spPr>
                <a:xfrm>
                  <a:off x="4664" y="2379"/>
                  <a:ext cx="154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4" name="Google Shape;10924;p107"/>
                <p:cNvSpPr/>
                <p:nvPr/>
              </p:nvSpPr>
              <p:spPr>
                <a:xfrm>
                  <a:off x="5059" y="1834"/>
                  <a:ext cx="86" cy="761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925" name="Google Shape;10925;p107"/>
            <p:cNvSpPr txBox="1"/>
            <p:nvPr/>
          </p:nvSpPr>
          <p:spPr>
            <a:xfrm>
              <a:off x="8965649" y="6145768"/>
              <a:ext cx="12239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trap mode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29" name="Shape 10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0" name="Google Shape;10930;p10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 protocol: message types</a:t>
            </a:r>
            <a:endParaRPr/>
          </a:p>
        </p:txBody>
      </p:sp>
      <p:sp>
        <p:nvSpPr>
          <p:cNvPr id="10931" name="Google Shape;10931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932" name="Google Shape;10932;p108"/>
          <p:cNvGrpSpPr/>
          <p:nvPr/>
        </p:nvGrpSpPr>
        <p:grpSpPr>
          <a:xfrm>
            <a:off x="2372315" y="1817914"/>
            <a:ext cx="7097732" cy="3820886"/>
            <a:chOff x="2002201" y="1415143"/>
            <a:chExt cx="7097732" cy="3820886"/>
          </a:xfrm>
        </p:grpSpPr>
        <p:sp>
          <p:nvSpPr>
            <p:cNvPr id="10933" name="Google Shape;10933;p108"/>
            <p:cNvSpPr/>
            <p:nvPr/>
          </p:nvSpPr>
          <p:spPr>
            <a:xfrm>
              <a:off x="2013857" y="1415143"/>
              <a:ext cx="7075714" cy="674914"/>
            </a:xfrm>
            <a:prstGeom prst="rect">
              <a:avLst/>
            </a:prstGeom>
            <a:solidFill>
              <a:srgbClr val="DDEAF6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4" name="Google Shape;10934;p108"/>
            <p:cNvSpPr/>
            <p:nvPr/>
          </p:nvSpPr>
          <p:spPr>
            <a:xfrm>
              <a:off x="2005070" y="1421700"/>
              <a:ext cx="7094863" cy="3792557"/>
            </a:xfrm>
            <a:prstGeom prst="rect">
              <a:avLst/>
            </a:prstGeom>
            <a:solidFill>
              <a:schemeClr val="lt1"/>
            </a:solidFill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5" name="Google Shape;10935;p108"/>
            <p:cNvSpPr txBox="1"/>
            <p:nvPr/>
          </p:nvSpPr>
          <p:spPr>
            <a:xfrm>
              <a:off x="2734834" y="2145408"/>
              <a:ext cx="1892826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GetRequest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GetNextRequest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GetBulkRequest</a:t>
              </a:r>
              <a:endParaRPr/>
            </a:p>
          </p:txBody>
        </p:sp>
        <p:sp>
          <p:nvSpPr>
            <p:cNvPr id="10936" name="Google Shape;10936;p108"/>
            <p:cNvSpPr txBox="1"/>
            <p:nvPr/>
          </p:nvSpPr>
          <p:spPr>
            <a:xfrm>
              <a:off x="5029144" y="2125911"/>
              <a:ext cx="385359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manager-to-agent: “get me data”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(data instance, next data in list,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block of data). </a:t>
              </a:r>
              <a:endParaRPr/>
            </a:p>
          </p:txBody>
        </p:sp>
        <p:sp>
          <p:nvSpPr>
            <p:cNvPr id="10937" name="Google Shape;10937;p108"/>
            <p:cNvSpPr txBox="1"/>
            <p:nvPr/>
          </p:nvSpPr>
          <p:spPr>
            <a:xfrm>
              <a:off x="2122320" y="1488161"/>
              <a:ext cx="248799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Message type</a:t>
              </a:r>
              <a:endParaRPr/>
            </a:p>
          </p:txBody>
        </p:sp>
        <p:sp>
          <p:nvSpPr>
            <p:cNvPr id="10938" name="Google Shape;10938;p108"/>
            <p:cNvSpPr txBox="1"/>
            <p:nvPr/>
          </p:nvSpPr>
          <p:spPr>
            <a:xfrm>
              <a:off x="5061362" y="1490866"/>
              <a:ext cx="164500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Function</a:t>
              </a:r>
              <a:endParaRPr/>
            </a:p>
          </p:txBody>
        </p:sp>
        <p:sp>
          <p:nvSpPr>
            <p:cNvPr id="10939" name="Google Shape;10939;p108"/>
            <p:cNvSpPr txBox="1"/>
            <p:nvPr/>
          </p:nvSpPr>
          <p:spPr>
            <a:xfrm>
              <a:off x="2047355" y="3213120"/>
              <a:ext cx="25781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SetRequest</a:t>
              </a:r>
              <a:endParaRPr/>
            </a:p>
          </p:txBody>
        </p:sp>
        <p:sp>
          <p:nvSpPr>
            <p:cNvPr id="10940" name="Google Shape;10940;p108"/>
            <p:cNvSpPr txBox="1"/>
            <p:nvPr/>
          </p:nvSpPr>
          <p:spPr>
            <a:xfrm>
              <a:off x="5013593" y="3216058"/>
              <a:ext cx="37276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manager-to-agent: set MIB value</a:t>
              </a:r>
              <a:endParaRPr/>
            </a:p>
          </p:txBody>
        </p:sp>
        <p:sp>
          <p:nvSpPr>
            <p:cNvPr id="10941" name="Google Shape;10941;p108"/>
            <p:cNvSpPr txBox="1"/>
            <p:nvPr/>
          </p:nvSpPr>
          <p:spPr>
            <a:xfrm>
              <a:off x="3233056" y="3762619"/>
              <a:ext cx="14028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/>
            </a:p>
          </p:txBody>
        </p:sp>
        <p:sp>
          <p:nvSpPr>
            <p:cNvPr id="10942" name="Google Shape;10942;p108"/>
            <p:cNvSpPr txBox="1"/>
            <p:nvPr/>
          </p:nvSpPr>
          <p:spPr>
            <a:xfrm>
              <a:off x="5026411" y="3785527"/>
              <a:ext cx="389987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Agent-to-manager: value, response to Request</a:t>
              </a:r>
              <a:endParaRPr/>
            </a:p>
          </p:txBody>
        </p:sp>
        <p:sp>
          <p:nvSpPr>
            <p:cNvPr id="10943" name="Google Shape;10943;p108"/>
            <p:cNvSpPr txBox="1"/>
            <p:nvPr/>
          </p:nvSpPr>
          <p:spPr>
            <a:xfrm>
              <a:off x="3298372" y="4509877"/>
              <a:ext cx="133161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Trap</a:t>
              </a:r>
              <a:endParaRPr/>
            </a:p>
          </p:txBody>
        </p:sp>
        <p:sp>
          <p:nvSpPr>
            <p:cNvPr id="10944" name="Google Shape;10944;p108"/>
            <p:cNvSpPr txBox="1"/>
            <p:nvPr/>
          </p:nvSpPr>
          <p:spPr>
            <a:xfrm>
              <a:off x="5026185" y="4542313"/>
              <a:ext cx="390010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Agent-to-manager: inform manager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of exceptional event</a:t>
              </a:r>
              <a:endParaRPr/>
            </a:p>
          </p:txBody>
        </p:sp>
        <p:cxnSp>
          <p:nvCxnSpPr>
            <p:cNvPr id="10945" name="Google Shape;10945;p108"/>
            <p:cNvCxnSpPr/>
            <p:nvPr/>
          </p:nvCxnSpPr>
          <p:spPr>
            <a:xfrm>
              <a:off x="2013087" y="2090619"/>
              <a:ext cx="7083691" cy="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6" name="Google Shape;10946;p108"/>
            <p:cNvCxnSpPr/>
            <p:nvPr/>
          </p:nvCxnSpPr>
          <p:spPr>
            <a:xfrm>
              <a:off x="2013087" y="3124760"/>
              <a:ext cx="7083691" cy="0"/>
            </a:xfrm>
            <a:prstGeom prst="straightConnector1">
              <a:avLst/>
            </a:prstGeom>
            <a:noFill/>
            <a:ln cap="flat" cmpd="sng" w="1587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7" name="Google Shape;10947;p108"/>
            <p:cNvCxnSpPr/>
            <p:nvPr/>
          </p:nvCxnSpPr>
          <p:spPr>
            <a:xfrm>
              <a:off x="2013087" y="3712588"/>
              <a:ext cx="7083691" cy="0"/>
            </a:xfrm>
            <a:prstGeom prst="straightConnector1">
              <a:avLst/>
            </a:prstGeom>
            <a:noFill/>
            <a:ln cap="flat" cmpd="sng" w="1587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8" name="Google Shape;10948;p108"/>
            <p:cNvCxnSpPr/>
            <p:nvPr/>
          </p:nvCxnSpPr>
          <p:spPr>
            <a:xfrm>
              <a:off x="2002201" y="4463704"/>
              <a:ext cx="7083691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9" name="Google Shape;10949;p108"/>
            <p:cNvCxnSpPr/>
            <p:nvPr/>
          </p:nvCxnSpPr>
          <p:spPr>
            <a:xfrm>
              <a:off x="4833259" y="1420585"/>
              <a:ext cx="0" cy="3815444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53" name="Shape 10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4" name="Google Shape;10954;p10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 protocol: message formats</a:t>
            </a:r>
            <a:endParaRPr/>
          </a:p>
        </p:txBody>
      </p:sp>
      <p:sp>
        <p:nvSpPr>
          <p:cNvPr id="10955" name="Google Shape;10955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56" name="Google Shape;10956;p109"/>
          <p:cNvSpPr/>
          <p:nvPr/>
        </p:nvSpPr>
        <p:spPr>
          <a:xfrm>
            <a:off x="3813221" y="2111004"/>
            <a:ext cx="6943725" cy="1004888"/>
          </a:xfrm>
          <a:prstGeom prst="rect">
            <a:avLst/>
          </a:prstGeom>
          <a:solidFill>
            <a:srgbClr val="2F549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57" name="Google Shape;10957;p109"/>
          <p:cNvCxnSpPr/>
          <p:nvPr/>
        </p:nvCxnSpPr>
        <p:spPr>
          <a:xfrm>
            <a:off x="4730796" y="2115767"/>
            <a:ext cx="0" cy="1020762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58" name="Google Shape;10958;p109"/>
          <p:cNvSpPr txBox="1"/>
          <p:nvPr/>
        </p:nvSpPr>
        <p:spPr>
          <a:xfrm>
            <a:off x="10260058" y="2469779"/>
            <a:ext cx="49688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/>
          </a:p>
        </p:txBody>
      </p:sp>
      <p:sp>
        <p:nvSpPr>
          <p:cNvPr id="10959" name="Google Shape;10959;p109"/>
          <p:cNvSpPr txBox="1"/>
          <p:nvPr/>
        </p:nvSpPr>
        <p:spPr>
          <a:xfrm>
            <a:off x="4025946" y="2137992"/>
            <a:ext cx="5842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PDU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type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(0-3)</a:t>
            </a:r>
            <a:endParaRPr/>
          </a:p>
        </p:txBody>
      </p:sp>
      <p:cxnSp>
        <p:nvCxnSpPr>
          <p:cNvPr id="10960" name="Google Shape;10960;p109"/>
          <p:cNvCxnSpPr/>
          <p:nvPr/>
        </p:nvCxnSpPr>
        <p:spPr>
          <a:xfrm>
            <a:off x="5624558" y="2103067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1" name="Google Shape;10961;p109"/>
          <p:cNvCxnSpPr/>
          <p:nvPr/>
        </p:nvCxnSpPr>
        <p:spPr>
          <a:xfrm>
            <a:off x="6518321" y="2095129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2" name="Google Shape;10962;p109"/>
          <p:cNvCxnSpPr/>
          <p:nvPr/>
        </p:nvCxnSpPr>
        <p:spPr>
          <a:xfrm>
            <a:off x="7420021" y="2117354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3" name="Google Shape;10963;p109"/>
          <p:cNvCxnSpPr/>
          <p:nvPr/>
        </p:nvCxnSpPr>
        <p:spPr>
          <a:xfrm>
            <a:off x="8129633" y="2109417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4" name="Google Shape;10964;p109"/>
          <p:cNvCxnSpPr/>
          <p:nvPr/>
        </p:nvCxnSpPr>
        <p:spPr>
          <a:xfrm>
            <a:off x="8851946" y="2101479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5" name="Google Shape;10965;p109"/>
          <p:cNvCxnSpPr/>
          <p:nvPr/>
        </p:nvCxnSpPr>
        <p:spPr>
          <a:xfrm>
            <a:off x="9555208" y="2093542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6" name="Google Shape;10966;p109"/>
          <p:cNvCxnSpPr/>
          <p:nvPr/>
        </p:nvCxnSpPr>
        <p:spPr>
          <a:xfrm>
            <a:off x="10277521" y="2120529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67" name="Google Shape;10967;p109"/>
          <p:cNvSpPr txBox="1"/>
          <p:nvPr/>
        </p:nvSpPr>
        <p:spPr>
          <a:xfrm>
            <a:off x="4732383" y="2285629"/>
            <a:ext cx="8890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Request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ID</a:t>
            </a:r>
            <a:endParaRPr/>
          </a:p>
        </p:txBody>
      </p:sp>
      <p:sp>
        <p:nvSpPr>
          <p:cNvPr id="10968" name="Google Shape;10968;p109"/>
          <p:cNvSpPr txBox="1"/>
          <p:nvPr/>
        </p:nvSpPr>
        <p:spPr>
          <a:xfrm>
            <a:off x="5716633" y="2141167"/>
            <a:ext cx="720725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Error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Status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(0-5)</a:t>
            </a:r>
            <a:endParaRPr/>
          </a:p>
        </p:txBody>
      </p:sp>
      <p:sp>
        <p:nvSpPr>
          <p:cNvPr id="10969" name="Google Shape;10969;p109"/>
          <p:cNvSpPr txBox="1"/>
          <p:nvPr/>
        </p:nvSpPr>
        <p:spPr>
          <a:xfrm>
            <a:off x="6648496" y="2288804"/>
            <a:ext cx="6477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Error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Index</a:t>
            </a:r>
            <a:endParaRPr/>
          </a:p>
        </p:txBody>
      </p:sp>
      <p:sp>
        <p:nvSpPr>
          <p:cNvPr id="10970" name="Google Shape;10970;p109"/>
          <p:cNvSpPr txBox="1"/>
          <p:nvPr/>
        </p:nvSpPr>
        <p:spPr>
          <a:xfrm>
            <a:off x="7423196" y="2423742"/>
            <a:ext cx="6905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Name</a:t>
            </a:r>
            <a:endParaRPr/>
          </a:p>
        </p:txBody>
      </p:sp>
      <p:sp>
        <p:nvSpPr>
          <p:cNvPr id="10971" name="Google Shape;10971;p109"/>
          <p:cNvSpPr txBox="1"/>
          <p:nvPr/>
        </p:nvSpPr>
        <p:spPr>
          <a:xfrm>
            <a:off x="8162971" y="2433267"/>
            <a:ext cx="6556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Value</a:t>
            </a:r>
            <a:endParaRPr/>
          </a:p>
        </p:txBody>
      </p:sp>
      <p:sp>
        <p:nvSpPr>
          <p:cNvPr id="10972" name="Google Shape;10972;p109"/>
          <p:cNvSpPr txBox="1"/>
          <p:nvPr/>
        </p:nvSpPr>
        <p:spPr>
          <a:xfrm>
            <a:off x="8858296" y="2433267"/>
            <a:ext cx="6889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Name</a:t>
            </a:r>
            <a:endParaRPr/>
          </a:p>
        </p:txBody>
      </p:sp>
      <p:sp>
        <p:nvSpPr>
          <p:cNvPr id="10973" name="Google Shape;10973;p109"/>
          <p:cNvSpPr txBox="1"/>
          <p:nvPr/>
        </p:nvSpPr>
        <p:spPr>
          <a:xfrm>
            <a:off x="9591721" y="2442792"/>
            <a:ext cx="6540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Value</a:t>
            </a:r>
            <a:endParaRPr/>
          </a:p>
        </p:txBody>
      </p:sp>
      <p:cxnSp>
        <p:nvCxnSpPr>
          <p:cNvPr id="10974" name="Google Shape;10974;p109"/>
          <p:cNvCxnSpPr/>
          <p:nvPr/>
        </p:nvCxnSpPr>
        <p:spPr>
          <a:xfrm>
            <a:off x="4705396" y="1896692"/>
            <a:ext cx="2709862" cy="0"/>
          </a:xfrm>
          <a:prstGeom prst="straightConnector1">
            <a:avLst/>
          </a:prstGeom>
          <a:solidFill>
            <a:schemeClr val="accent1"/>
          </a:solidFill>
          <a:ln cap="flat" cmpd="sng" w="317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75" name="Google Shape;10975;p109"/>
          <p:cNvCxnSpPr/>
          <p:nvPr/>
        </p:nvCxnSpPr>
        <p:spPr>
          <a:xfrm>
            <a:off x="7407321" y="1912567"/>
            <a:ext cx="3309937" cy="0"/>
          </a:xfrm>
          <a:prstGeom prst="straightConnector1">
            <a:avLst/>
          </a:prstGeom>
          <a:solidFill>
            <a:schemeClr val="accent1"/>
          </a:solidFill>
          <a:ln cap="flat" cmpd="sng" w="317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76" name="Google Shape;10976;p109"/>
          <p:cNvSpPr txBox="1"/>
          <p:nvPr/>
        </p:nvSpPr>
        <p:spPr>
          <a:xfrm>
            <a:off x="5275308" y="1704604"/>
            <a:ext cx="1711325" cy="369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Get/set header</a:t>
            </a:r>
            <a:endParaRPr/>
          </a:p>
        </p:txBody>
      </p:sp>
      <p:sp>
        <p:nvSpPr>
          <p:cNvPr id="10977" name="Google Shape;10977;p109"/>
          <p:cNvSpPr txBox="1"/>
          <p:nvPr/>
        </p:nvSpPr>
        <p:spPr>
          <a:xfrm>
            <a:off x="7978821" y="1701429"/>
            <a:ext cx="2157412" cy="369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 to get/set</a:t>
            </a:r>
            <a:endParaRPr/>
          </a:p>
        </p:txBody>
      </p:sp>
      <p:cxnSp>
        <p:nvCxnSpPr>
          <p:cNvPr id="10978" name="Google Shape;10978;p109"/>
          <p:cNvCxnSpPr/>
          <p:nvPr/>
        </p:nvCxnSpPr>
        <p:spPr>
          <a:xfrm>
            <a:off x="3787821" y="5584681"/>
            <a:ext cx="6932612" cy="0"/>
          </a:xfrm>
          <a:prstGeom prst="straightConnector1">
            <a:avLst/>
          </a:prstGeom>
          <a:solidFill>
            <a:schemeClr val="accent1"/>
          </a:solidFill>
          <a:ln cap="flat" cmpd="sng" w="317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79" name="Google Shape;10979;p109"/>
          <p:cNvSpPr txBox="1"/>
          <p:nvPr/>
        </p:nvSpPr>
        <p:spPr>
          <a:xfrm>
            <a:off x="6515146" y="5397356"/>
            <a:ext cx="1398587" cy="369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SNMP PDU</a:t>
            </a:r>
            <a:endParaRPr/>
          </a:p>
        </p:txBody>
      </p:sp>
      <p:sp>
        <p:nvSpPr>
          <p:cNvPr id="10980" name="Google Shape;10980;p109"/>
          <p:cNvSpPr txBox="1"/>
          <p:nvPr/>
        </p:nvSpPr>
        <p:spPr>
          <a:xfrm>
            <a:off x="1023256" y="2383971"/>
            <a:ext cx="24888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types 0-3</a:t>
            </a:r>
            <a:endParaRPr/>
          </a:p>
        </p:txBody>
      </p:sp>
      <p:grpSp>
        <p:nvGrpSpPr>
          <p:cNvPr id="10981" name="Google Shape;10981;p109"/>
          <p:cNvGrpSpPr/>
          <p:nvPr/>
        </p:nvGrpSpPr>
        <p:grpSpPr>
          <a:xfrm>
            <a:off x="1045026" y="3637230"/>
            <a:ext cx="9675407" cy="1472562"/>
            <a:chOff x="1045026" y="3637230"/>
            <a:chExt cx="9675407" cy="1472562"/>
          </a:xfrm>
        </p:grpSpPr>
        <p:sp>
          <p:nvSpPr>
            <p:cNvPr id="10982" name="Google Shape;10982;p109"/>
            <p:cNvSpPr/>
            <p:nvPr/>
          </p:nvSpPr>
          <p:spPr>
            <a:xfrm>
              <a:off x="3776708" y="4084267"/>
              <a:ext cx="6943725" cy="1004887"/>
            </a:xfrm>
            <a:prstGeom prst="rect">
              <a:avLst/>
            </a:prstGeom>
            <a:solidFill>
              <a:srgbClr val="2F549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83" name="Google Shape;10983;p109"/>
            <p:cNvCxnSpPr/>
            <p:nvPr/>
          </p:nvCxnSpPr>
          <p:spPr>
            <a:xfrm>
              <a:off x="4694283" y="4090617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84" name="Google Shape;10984;p109"/>
            <p:cNvSpPr txBox="1"/>
            <p:nvPr/>
          </p:nvSpPr>
          <p:spPr>
            <a:xfrm>
              <a:off x="10223546" y="4444629"/>
              <a:ext cx="496887" cy="26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sp>
          <p:nvSpPr>
            <p:cNvPr id="10985" name="Google Shape;10985;p109"/>
            <p:cNvSpPr txBox="1"/>
            <p:nvPr/>
          </p:nvSpPr>
          <p:spPr>
            <a:xfrm>
              <a:off x="3989433" y="4112842"/>
              <a:ext cx="584200" cy="922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PDU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type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4</a:t>
              </a:r>
              <a:endParaRPr/>
            </a:p>
          </p:txBody>
        </p:sp>
        <p:cxnSp>
          <p:nvCxnSpPr>
            <p:cNvPr id="10986" name="Google Shape;10986;p109"/>
            <p:cNvCxnSpPr/>
            <p:nvPr/>
          </p:nvCxnSpPr>
          <p:spPr>
            <a:xfrm>
              <a:off x="5588046" y="4076329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7" name="Google Shape;10987;p109"/>
            <p:cNvCxnSpPr/>
            <p:nvPr/>
          </p:nvCxnSpPr>
          <p:spPr>
            <a:xfrm>
              <a:off x="6307183" y="4074742"/>
              <a:ext cx="0" cy="1020762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8" name="Google Shape;10988;p109"/>
            <p:cNvCxnSpPr/>
            <p:nvPr/>
          </p:nvCxnSpPr>
          <p:spPr>
            <a:xfrm>
              <a:off x="7200946" y="4084267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9" name="Google Shape;10989;p109"/>
            <p:cNvCxnSpPr/>
            <p:nvPr/>
          </p:nvCxnSpPr>
          <p:spPr>
            <a:xfrm>
              <a:off x="8053433" y="4082679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0" name="Google Shape;10990;p109"/>
            <p:cNvCxnSpPr/>
            <p:nvPr/>
          </p:nvCxnSpPr>
          <p:spPr>
            <a:xfrm>
              <a:off x="8886871" y="4074742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1" name="Google Shape;10991;p109"/>
            <p:cNvCxnSpPr/>
            <p:nvPr/>
          </p:nvCxnSpPr>
          <p:spPr>
            <a:xfrm>
              <a:off x="9596483" y="4060454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2" name="Google Shape;10992;p109"/>
            <p:cNvCxnSpPr/>
            <p:nvPr/>
          </p:nvCxnSpPr>
          <p:spPr>
            <a:xfrm>
              <a:off x="10247358" y="4089029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93" name="Google Shape;10993;p109"/>
            <p:cNvSpPr txBox="1"/>
            <p:nvPr/>
          </p:nvSpPr>
          <p:spPr>
            <a:xfrm>
              <a:off x="4662533" y="4395417"/>
              <a:ext cx="954088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Enterprise</a:t>
              </a:r>
              <a:endParaRPr/>
            </a:p>
          </p:txBody>
        </p:sp>
        <p:sp>
          <p:nvSpPr>
            <p:cNvPr id="10994" name="Google Shape;10994;p109"/>
            <p:cNvSpPr txBox="1"/>
            <p:nvPr/>
          </p:nvSpPr>
          <p:spPr>
            <a:xfrm>
              <a:off x="5622971" y="4270004"/>
              <a:ext cx="679450" cy="646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Agent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Addr</a:t>
              </a:r>
              <a:endParaRPr/>
            </a:p>
          </p:txBody>
        </p:sp>
        <p:sp>
          <p:nvSpPr>
            <p:cNvPr id="10995" name="Google Shape;10995;p109"/>
            <p:cNvSpPr txBox="1"/>
            <p:nvPr/>
          </p:nvSpPr>
          <p:spPr>
            <a:xfrm>
              <a:off x="6437358" y="4133479"/>
              <a:ext cx="595313" cy="922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Trap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Type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(0-7)</a:t>
              </a:r>
              <a:endParaRPr/>
            </a:p>
          </p:txBody>
        </p:sp>
        <p:sp>
          <p:nvSpPr>
            <p:cNvPr id="10996" name="Google Shape;10996;p109"/>
            <p:cNvSpPr txBox="1"/>
            <p:nvPr/>
          </p:nvSpPr>
          <p:spPr>
            <a:xfrm>
              <a:off x="7204121" y="4274767"/>
              <a:ext cx="847725" cy="646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Specific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code</a:t>
              </a:r>
              <a:endParaRPr/>
            </a:p>
          </p:txBody>
        </p:sp>
        <p:sp>
          <p:nvSpPr>
            <p:cNvPr id="10997" name="Google Shape;10997;p109"/>
            <p:cNvSpPr txBox="1"/>
            <p:nvPr/>
          </p:nvSpPr>
          <p:spPr>
            <a:xfrm>
              <a:off x="8123283" y="4284292"/>
              <a:ext cx="700088" cy="646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Time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stamp</a:t>
              </a:r>
              <a:endParaRPr/>
            </a:p>
          </p:txBody>
        </p:sp>
        <p:sp>
          <p:nvSpPr>
            <p:cNvPr id="10998" name="Google Shape;10998;p109"/>
            <p:cNvSpPr txBox="1"/>
            <p:nvPr/>
          </p:nvSpPr>
          <p:spPr>
            <a:xfrm>
              <a:off x="8905921" y="4408117"/>
              <a:ext cx="688975" cy="3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Name</a:t>
              </a:r>
              <a:endParaRPr/>
            </a:p>
          </p:txBody>
        </p:sp>
        <p:sp>
          <p:nvSpPr>
            <p:cNvPr id="10999" name="Google Shape;10999;p109"/>
            <p:cNvSpPr txBox="1"/>
            <p:nvPr/>
          </p:nvSpPr>
          <p:spPr>
            <a:xfrm>
              <a:off x="9586958" y="4417642"/>
              <a:ext cx="655638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Value</a:t>
              </a:r>
              <a:endParaRPr/>
            </a:p>
          </p:txBody>
        </p:sp>
        <p:cxnSp>
          <p:nvCxnSpPr>
            <p:cNvPr id="11000" name="Google Shape;11000;p109"/>
            <p:cNvCxnSpPr/>
            <p:nvPr/>
          </p:nvCxnSpPr>
          <p:spPr>
            <a:xfrm>
              <a:off x="4710158" y="3840430"/>
              <a:ext cx="4170363" cy="0"/>
            </a:xfrm>
            <a:prstGeom prst="straightConnector1">
              <a:avLst/>
            </a:prstGeom>
            <a:solidFill>
              <a:schemeClr val="accent1"/>
            </a:solidFill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001" name="Google Shape;11001;p109"/>
            <p:cNvCxnSpPr/>
            <p:nvPr/>
          </p:nvCxnSpPr>
          <p:spPr>
            <a:xfrm>
              <a:off x="8890046" y="3837255"/>
              <a:ext cx="1817687" cy="0"/>
            </a:xfrm>
            <a:prstGeom prst="straightConnector1">
              <a:avLst/>
            </a:prstGeom>
            <a:solidFill>
              <a:schemeClr val="accent1"/>
            </a:solidFill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002" name="Google Shape;11002;p109"/>
            <p:cNvSpPr txBox="1"/>
            <p:nvPr/>
          </p:nvSpPr>
          <p:spPr>
            <a:xfrm>
              <a:off x="6119858" y="3648342"/>
              <a:ext cx="1433513" cy="368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Trap header</a:t>
              </a:r>
              <a:endParaRPr/>
            </a:p>
          </p:txBody>
        </p:sp>
        <p:sp>
          <p:nvSpPr>
            <p:cNvPr id="11003" name="Google Shape;11003;p109"/>
            <p:cNvSpPr txBox="1"/>
            <p:nvPr/>
          </p:nvSpPr>
          <p:spPr>
            <a:xfrm>
              <a:off x="9156746" y="3637230"/>
              <a:ext cx="1087437" cy="3698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Trap info</a:t>
              </a:r>
              <a:endParaRPr/>
            </a:p>
          </p:txBody>
        </p:sp>
        <p:sp>
          <p:nvSpPr>
            <p:cNvPr id="11004" name="Google Shape;11004;p109"/>
            <p:cNvSpPr txBox="1"/>
            <p:nvPr/>
          </p:nvSpPr>
          <p:spPr>
            <a:xfrm>
              <a:off x="1045026" y="4376056"/>
              <a:ext cx="21185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message type 4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08" name="Shape 1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9" name="Google Shape;11009;p110"/>
          <p:cNvSpPr txBox="1"/>
          <p:nvPr>
            <p:ph idx="1" type="body"/>
          </p:nvPr>
        </p:nvSpPr>
        <p:spPr>
          <a:xfrm>
            <a:off x="841663" y="1474646"/>
            <a:ext cx="10768445" cy="164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managed device’s operational (and some configuration) data</a:t>
            </a:r>
            <a:endParaRPr/>
          </a:p>
          <a:p>
            <a:pPr indent="-222250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gathered into device </a:t>
            </a:r>
            <a:r>
              <a:rPr lang="en-US">
                <a:solidFill>
                  <a:srgbClr val="C00000"/>
                </a:solidFill>
              </a:rPr>
              <a:t>MIB module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400 MIB modules defined in RFC’s; many more vendor-specific MIBs</a:t>
            </a:r>
            <a:endParaRPr/>
          </a:p>
          <a:p>
            <a:pPr indent="-793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93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010" name="Google Shape;11010;p1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SNMP: Management Information Base (MIB)</a:t>
            </a:r>
            <a:endParaRPr/>
          </a:p>
        </p:txBody>
      </p:sp>
      <p:sp>
        <p:nvSpPr>
          <p:cNvPr id="11011" name="Google Shape;11011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012" name="Google Shape;11012;p110"/>
          <p:cNvGrpSpPr/>
          <p:nvPr/>
        </p:nvGrpSpPr>
        <p:grpSpPr>
          <a:xfrm>
            <a:off x="1565565" y="4167342"/>
            <a:ext cx="10030690" cy="2178050"/>
            <a:chOff x="1440874" y="1521114"/>
            <a:chExt cx="10030690" cy="2178050"/>
          </a:xfrm>
        </p:grpSpPr>
        <p:sp>
          <p:nvSpPr>
            <p:cNvPr id="11013" name="Google Shape;11013;p110"/>
            <p:cNvSpPr/>
            <p:nvPr/>
          </p:nvSpPr>
          <p:spPr>
            <a:xfrm>
              <a:off x="1440874" y="1523996"/>
              <a:ext cx="9919854" cy="2175168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4" name="Google Shape;11014;p110"/>
            <p:cNvSpPr txBox="1"/>
            <p:nvPr/>
          </p:nvSpPr>
          <p:spPr>
            <a:xfrm>
              <a:off x="1471180" y="1521114"/>
              <a:ext cx="10000384" cy="2169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Object ID           Name                      Type                  Comments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1.3.6.1.2.1.7.1     UDPInDatagrams     32-bit counter     total # datagrams delivered 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1.3.6.1.2.1.7.2    UDPNoPorts              32-bit counter     # undeliverable datagrams (no application at port)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1.3.6.1.2.1.7.3    UDInErrors                 32-bit counter     # undeliverable datagrams (all other reasons)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1.3.6.1.2.1.7.4    UDPOutDatagrams   32-bit counter    total  # datagrams sent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1.3.6.1.2.1.7.5    udpTable	              SEQUENCE          one entry for each port currently in use</a:t>
              </a:r>
              <a:endParaRPr/>
            </a:p>
          </p:txBody>
        </p:sp>
      </p:grpSp>
      <p:grpSp>
        <p:nvGrpSpPr>
          <p:cNvPr id="11015" name="Google Shape;11015;p110"/>
          <p:cNvGrpSpPr/>
          <p:nvPr/>
        </p:nvGrpSpPr>
        <p:grpSpPr>
          <a:xfrm>
            <a:off x="10188122" y="1460594"/>
            <a:ext cx="1615044" cy="1104405"/>
            <a:chOff x="6599795" y="1917794"/>
            <a:chExt cx="1615044" cy="1104405"/>
          </a:xfrm>
        </p:grpSpPr>
        <p:sp>
          <p:nvSpPr>
            <p:cNvPr id="11016" name="Google Shape;11016;p110"/>
            <p:cNvSpPr/>
            <p:nvPr/>
          </p:nvSpPr>
          <p:spPr>
            <a:xfrm>
              <a:off x="6599795" y="2131549"/>
              <a:ext cx="1615044" cy="890650"/>
            </a:xfrm>
            <a:custGeom>
              <a:rect b="b" l="l" r="r" t="t"/>
              <a:pathLst>
                <a:path extrusionOk="0" h="890650" w="1615044">
                  <a:moveTo>
                    <a:pt x="0" y="641268"/>
                  </a:moveTo>
                  <a:cubicBezTo>
                    <a:pt x="320633" y="380011"/>
                    <a:pt x="308759" y="285008"/>
                    <a:pt x="285007" y="0"/>
                  </a:cubicBezTo>
                  <a:lnTo>
                    <a:pt x="1615044" y="83128"/>
                  </a:lnTo>
                  <a:cubicBezTo>
                    <a:pt x="823355" y="399803"/>
                    <a:pt x="625433" y="502723"/>
                    <a:pt x="166254" y="890650"/>
                  </a:cubicBezTo>
                  <a:lnTo>
                    <a:pt x="0" y="641268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71764"/>
                  </a:srgbClr>
                </a:gs>
                <a:gs pos="99000">
                  <a:srgbClr val="F2F2F2"/>
                </a:gs>
                <a:gs pos="100000">
                  <a:srgbClr val="F2F2F2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7" name="Google Shape;11017;p110"/>
            <p:cNvSpPr/>
            <p:nvPr/>
          </p:nvSpPr>
          <p:spPr>
            <a:xfrm>
              <a:off x="6893234" y="1917794"/>
              <a:ext cx="1293812" cy="545006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8" name="Google Shape;11018;p110"/>
            <p:cNvSpPr txBox="1"/>
            <p:nvPr/>
          </p:nvSpPr>
          <p:spPr>
            <a:xfrm>
              <a:off x="6925808" y="2038751"/>
              <a:ext cx="6339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  <p:grpSp>
          <p:nvGrpSpPr>
            <p:cNvPr id="11019" name="Google Shape;11019;p110"/>
            <p:cNvGrpSpPr/>
            <p:nvPr/>
          </p:nvGrpSpPr>
          <p:grpSpPr>
            <a:xfrm>
              <a:off x="7524624" y="2012797"/>
              <a:ext cx="533735" cy="344384"/>
              <a:chOff x="7290003" y="1864426"/>
              <a:chExt cx="533735" cy="344384"/>
            </a:xfrm>
          </p:grpSpPr>
          <p:sp>
            <p:nvSpPr>
              <p:cNvPr id="11020" name="Google Shape;11020;p110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1" name="Google Shape;11021;p110"/>
              <p:cNvSpPr txBox="1"/>
              <p:nvPr/>
            </p:nvSpPr>
            <p:spPr>
              <a:xfrm>
                <a:off x="7290003" y="1889518"/>
                <a:ext cx="533735" cy="3076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sp>
        <p:nvSpPr>
          <p:cNvPr id="11022" name="Google Shape;11022;p110"/>
          <p:cNvSpPr txBox="1"/>
          <p:nvPr/>
        </p:nvSpPr>
        <p:spPr>
          <a:xfrm>
            <a:off x="831273" y="2998651"/>
            <a:ext cx="10768445" cy="1005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Structure of Management Information (SMI):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definition language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MIB variables for UDP protocol: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26" name="Shape 1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7" name="Google Shape;11027;p111"/>
          <p:cNvSpPr txBox="1"/>
          <p:nvPr>
            <p:ph idx="1" type="body"/>
          </p:nvPr>
        </p:nvSpPr>
        <p:spPr>
          <a:xfrm>
            <a:off x="800099" y="1585481"/>
            <a:ext cx="10768445" cy="4746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4163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C00000"/>
                </a:solidFill>
              </a:rPr>
              <a:t>goal</a:t>
            </a:r>
            <a:r>
              <a:rPr lang="en-US">
                <a:solidFill>
                  <a:srgbClr val="C00000"/>
                </a:solidFill>
              </a:rPr>
              <a:t>: </a:t>
            </a:r>
            <a:r>
              <a:rPr lang="en-US"/>
              <a:t>actively manage/</a:t>
            </a:r>
            <a:r>
              <a:rPr lang="en-US">
                <a:solidFill>
                  <a:srgbClr val="0000A8"/>
                </a:solidFill>
              </a:rPr>
              <a:t>configure</a:t>
            </a:r>
            <a:r>
              <a:rPr lang="en-US"/>
              <a:t> devices network-wide</a:t>
            </a:r>
            <a:endParaRPr/>
          </a:p>
          <a:p>
            <a:pPr indent="-28416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operates between managing server and managed network devices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actions: retrieve, set, modify, activate configurations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rgbClr val="0000A8"/>
                </a:solidFill>
              </a:rPr>
              <a:t>atomic-commit </a:t>
            </a:r>
            <a:r>
              <a:rPr lang="en-US" sz="2800"/>
              <a:t>actions over multiple devices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query operational data and statistics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subscribe to notifications from devices</a:t>
            </a:r>
            <a:endParaRPr/>
          </a:p>
          <a:p>
            <a:pPr indent="-28416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remote procedure call (RPC) paradigm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NETCONF protocol messages encoded in XML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exchanged over secure, reliable transport </a:t>
            </a:r>
            <a:r>
              <a:rPr lang="en-US" sz="2000"/>
              <a:t>(e.g., TLS)</a:t>
            </a:r>
            <a:r>
              <a:rPr lang="en-US"/>
              <a:t> protocol</a:t>
            </a:r>
            <a:endParaRPr/>
          </a:p>
          <a:p>
            <a:pPr indent="-793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028" name="Google Shape;11028;p1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NETCONF overview</a:t>
            </a:r>
            <a:endParaRPr/>
          </a:p>
        </p:txBody>
      </p:sp>
      <p:sp>
        <p:nvSpPr>
          <p:cNvPr id="11029" name="Google Shape;11029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33" name="Shape 1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4" name="Google Shape;11034;p1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NETCONF initialization, exchange, close</a:t>
            </a:r>
            <a:endParaRPr/>
          </a:p>
        </p:txBody>
      </p:sp>
      <p:sp>
        <p:nvSpPr>
          <p:cNvPr id="11035" name="Google Shape;11035;p1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036" name="Google Shape;11036;p112"/>
          <p:cNvGrpSpPr/>
          <p:nvPr/>
        </p:nvGrpSpPr>
        <p:grpSpPr>
          <a:xfrm>
            <a:off x="4137461" y="1898073"/>
            <a:ext cx="5062336" cy="629033"/>
            <a:chOff x="4137461" y="1898073"/>
            <a:chExt cx="5062336" cy="629033"/>
          </a:xfrm>
        </p:grpSpPr>
        <p:cxnSp>
          <p:nvCxnSpPr>
            <p:cNvPr id="11037" name="Google Shape;11037;p112"/>
            <p:cNvCxnSpPr/>
            <p:nvPr/>
          </p:nvCxnSpPr>
          <p:spPr>
            <a:xfrm>
              <a:off x="4137461" y="2527106"/>
              <a:ext cx="5062336" cy="0"/>
            </a:xfrm>
            <a:prstGeom prst="straightConnector1">
              <a:avLst/>
            </a:prstGeom>
            <a:noFill/>
            <a:ln cap="flat" cmpd="sng" w="66675">
              <a:solidFill>
                <a:srgbClr val="00009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038" name="Google Shape;11038;p112"/>
            <p:cNvSpPr txBox="1"/>
            <p:nvPr/>
          </p:nvSpPr>
          <p:spPr>
            <a:xfrm>
              <a:off x="5238531" y="1898073"/>
              <a:ext cx="2670015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Session initiation,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capabilities exchange: &lt;hello&gt;</a:t>
              </a:r>
              <a:endParaRPr/>
            </a:p>
          </p:txBody>
        </p:sp>
      </p:grpSp>
      <p:grpSp>
        <p:nvGrpSpPr>
          <p:cNvPr id="11039" name="Google Shape;11039;p112"/>
          <p:cNvGrpSpPr/>
          <p:nvPr/>
        </p:nvGrpSpPr>
        <p:grpSpPr>
          <a:xfrm>
            <a:off x="4137461" y="6003287"/>
            <a:ext cx="5062336" cy="387686"/>
            <a:chOff x="1633716" y="5597854"/>
            <a:chExt cx="3310645" cy="294937"/>
          </a:xfrm>
        </p:grpSpPr>
        <p:cxnSp>
          <p:nvCxnSpPr>
            <p:cNvPr id="11040" name="Google Shape;11040;p112"/>
            <p:cNvCxnSpPr/>
            <p:nvPr/>
          </p:nvCxnSpPr>
          <p:spPr>
            <a:xfrm>
              <a:off x="1633716" y="5892791"/>
              <a:ext cx="3310645" cy="0"/>
            </a:xfrm>
            <a:prstGeom prst="straightConnector1">
              <a:avLst/>
            </a:prstGeom>
            <a:noFill/>
            <a:ln cap="flat" cmpd="sng" w="34925">
              <a:solidFill>
                <a:srgbClr val="00009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041" name="Google Shape;11041;p112"/>
            <p:cNvSpPr txBox="1"/>
            <p:nvPr/>
          </p:nvSpPr>
          <p:spPr>
            <a:xfrm>
              <a:off x="2303414" y="5597854"/>
              <a:ext cx="1782380" cy="262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Session close:  &lt;close-session&gt;</a:t>
              </a:r>
              <a:endParaRPr/>
            </a:p>
          </p:txBody>
        </p:sp>
      </p:grpSp>
      <p:grpSp>
        <p:nvGrpSpPr>
          <p:cNvPr id="11042" name="Google Shape;11042;p112"/>
          <p:cNvGrpSpPr/>
          <p:nvPr/>
        </p:nvGrpSpPr>
        <p:grpSpPr>
          <a:xfrm>
            <a:off x="4213036" y="2623837"/>
            <a:ext cx="5124928" cy="3405867"/>
            <a:chOff x="4213036" y="2623837"/>
            <a:chExt cx="5124928" cy="3405867"/>
          </a:xfrm>
        </p:grpSpPr>
        <p:grpSp>
          <p:nvGrpSpPr>
            <p:cNvPr id="11043" name="Google Shape;11043;p112"/>
            <p:cNvGrpSpPr/>
            <p:nvPr/>
          </p:nvGrpSpPr>
          <p:grpSpPr>
            <a:xfrm>
              <a:off x="4213036" y="2786640"/>
              <a:ext cx="5063356" cy="675820"/>
              <a:chOff x="1700781" y="3931037"/>
              <a:chExt cx="3311312" cy="599379"/>
            </a:xfrm>
          </p:grpSpPr>
          <p:cxnSp>
            <p:nvCxnSpPr>
              <p:cNvPr id="11044" name="Google Shape;11044;p112"/>
              <p:cNvCxnSpPr/>
              <p:nvPr/>
            </p:nvCxnSpPr>
            <p:spPr>
              <a:xfrm>
                <a:off x="1718381" y="40151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45" name="Google Shape;11045;p112"/>
              <p:cNvSpPr txBox="1"/>
              <p:nvPr/>
            </p:nvSpPr>
            <p:spPr>
              <a:xfrm>
                <a:off x="2979169" y="3931037"/>
                <a:ext cx="410469" cy="305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&lt;rpc&gt;</a:t>
                </a:r>
                <a:endParaRPr/>
              </a:p>
            </p:txBody>
          </p:sp>
          <p:cxnSp>
            <p:nvCxnSpPr>
              <p:cNvPr id="11046" name="Google Shape;11046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47" name="Google Shape;11047;p112"/>
              <p:cNvSpPr txBox="1"/>
              <p:nvPr/>
            </p:nvSpPr>
            <p:spPr>
              <a:xfrm>
                <a:off x="2924153" y="4224696"/>
                <a:ext cx="729772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&lt;rpc-reply&gt;</a:t>
                </a:r>
                <a:endParaRPr/>
              </a:p>
            </p:txBody>
          </p:sp>
        </p:grpSp>
        <p:grpSp>
          <p:nvGrpSpPr>
            <p:cNvPr id="11048" name="Google Shape;11048;p112"/>
            <p:cNvGrpSpPr/>
            <p:nvPr/>
          </p:nvGrpSpPr>
          <p:grpSpPr>
            <a:xfrm>
              <a:off x="4230334" y="3746285"/>
              <a:ext cx="5063356" cy="675820"/>
              <a:chOff x="1700781" y="3931037"/>
              <a:chExt cx="3311312" cy="599379"/>
            </a:xfrm>
          </p:grpSpPr>
          <p:cxnSp>
            <p:nvCxnSpPr>
              <p:cNvPr id="11049" name="Google Shape;11049;p112"/>
              <p:cNvCxnSpPr/>
              <p:nvPr/>
            </p:nvCxnSpPr>
            <p:spPr>
              <a:xfrm>
                <a:off x="1718381" y="40151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0" name="Google Shape;11050;p112"/>
              <p:cNvSpPr txBox="1"/>
              <p:nvPr/>
            </p:nvSpPr>
            <p:spPr>
              <a:xfrm>
                <a:off x="2979169" y="3931037"/>
                <a:ext cx="410469" cy="305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&lt;rpc&gt;</a:t>
                </a:r>
                <a:endParaRPr/>
              </a:p>
            </p:txBody>
          </p:sp>
          <p:cxnSp>
            <p:nvCxnSpPr>
              <p:cNvPr id="11051" name="Google Shape;11051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2" name="Google Shape;11052;p112"/>
              <p:cNvSpPr txBox="1"/>
              <p:nvPr/>
            </p:nvSpPr>
            <p:spPr>
              <a:xfrm>
                <a:off x="2924153" y="4224696"/>
                <a:ext cx="729772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&lt;rpc-reply&gt;</a:t>
                </a:r>
                <a:endParaRPr/>
              </a:p>
            </p:txBody>
          </p:sp>
        </p:grpSp>
        <p:grpSp>
          <p:nvGrpSpPr>
            <p:cNvPr id="11053" name="Google Shape;11053;p112"/>
            <p:cNvGrpSpPr/>
            <p:nvPr/>
          </p:nvGrpSpPr>
          <p:grpSpPr>
            <a:xfrm>
              <a:off x="4274608" y="5100113"/>
              <a:ext cx="5063356" cy="675820"/>
              <a:chOff x="1700781" y="3931037"/>
              <a:chExt cx="3311312" cy="599379"/>
            </a:xfrm>
          </p:grpSpPr>
          <p:cxnSp>
            <p:nvCxnSpPr>
              <p:cNvPr id="11054" name="Google Shape;11054;p112"/>
              <p:cNvCxnSpPr/>
              <p:nvPr/>
            </p:nvCxnSpPr>
            <p:spPr>
              <a:xfrm>
                <a:off x="1718381" y="40151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5" name="Google Shape;11055;p112"/>
              <p:cNvSpPr txBox="1"/>
              <p:nvPr/>
            </p:nvSpPr>
            <p:spPr>
              <a:xfrm>
                <a:off x="2979169" y="3931037"/>
                <a:ext cx="410469" cy="305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&lt;rpc&gt;</a:t>
                </a:r>
                <a:endParaRPr/>
              </a:p>
            </p:txBody>
          </p:sp>
          <p:cxnSp>
            <p:nvCxnSpPr>
              <p:cNvPr id="11056" name="Google Shape;11056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7" name="Google Shape;11057;p112"/>
              <p:cNvSpPr txBox="1"/>
              <p:nvPr/>
            </p:nvSpPr>
            <p:spPr>
              <a:xfrm>
                <a:off x="2924153" y="4224696"/>
                <a:ext cx="729772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&lt;rpc-reply&gt;</a:t>
                </a:r>
                <a:endParaRPr/>
              </a:p>
            </p:txBody>
          </p:sp>
        </p:grpSp>
        <p:grpSp>
          <p:nvGrpSpPr>
            <p:cNvPr id="11058" name="Google Shape;11058;p112"/>
            <p:cNvGrpSpPr/>
            <p:nvPr/>
          </p:nvGrpSpPr>
          <p:grpSpPr>
            <a:xfrm>
              <a:off x="4257309" y="4633269"/>
              <a:ext cx="5036443" cy="344709"/>
              <a:chOff x="1700781" y="4224696"/>
              <a:chExt cx="3293712" cy="305720"/>
            </a:xfrm>
          </p:grpSpPr>
          <p:cxnSp>
            <p:nvCxnSpPr>
              <p:cNvPr id="11059" name="Google Shape;11059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60" name="Google Shape;11060;p112"/>
              <p:cNvSpPr txBox="1"/>
              <p:nvPr/>
            </p:nvSpPr>
            <p:spPr>
              <a:xfrm>
                <a:off x="2855208" y="4224696"/>
                <a:ext cx="867660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&lt;notification&gt;</a:t>
                </a:r>
                <a:endParaRPr/>
              </a:p>
            </p:txBody>
          </p:sp>
        </p:grpSp>
        <p:grpSp>
          <p:nvGrpSpPr>
            <p:cNvPr id="11061" name="Google Shape;11061;p112"/>
            <p:cNvGrpSpPr/>
            <p:nvPr/>
          </p:nvGrpSpPr>
          <p:grpSpPr>
            <a:xfrm>
              <a:off x="8653189" y="2623837"/>
              <a:ext cx="329183" cy="3405867"/>
              <a:chOff x="4586893" y="3609012"/>
              <a:chExt cx="215278" cy="2591059"/>
            </a:xfrm>
          </p:grpSpPr>
          <p:sp>
            <p:nvSpPr>
              <p:cNvPr id="11062" name="Google Shape;11062;p112"/>
              <p:cNvSpPr txBox="1"/>
              <p:nvPr/>
            </p:nvSpPr>
            <p:spPr>
              <a:xfrm rot="5400000">
                <a:off x="4556147" y="4240444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3" name="Google Shape;11063;p112"/>
              <p:cNvSpPr txBox="1"/>
              <p:nvPr/>
            </p:nvSpPr>
            <p:spPr>
              <a:xfrm rot="5400000">
                <a:off x="4555592" y="4884440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4" name="Google Shape;11064;p112"/>
              <p:cNvSpPr txBox="1"/>
              <p:nvPr/>
            </p:nvSpPr>
            <p:spPr>
              <a:xfrm rot="5400000">
                <a:off x="4558839" y="5349258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5" name="Google Shape;11065;p112"/>
              <p:cNvSpPr txBox="1"/>
              <p:nvPr/>
            </p:nvSpPr>
            <p:spPr>
              <a:xfrm rot="5400000">
                <a:off x="4558839" y="5956739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6" name="Google Shape;11066;p112"/>
              <p:cNvSpPr txBox="1"/>
              <p:nvPr/>
            </p:nvSpPr>
            <p:spPr>
              <a:xfrm rot="5400000">
                <a:off x="4557804" y="3640313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67" name="Google Shape;11067;p112"/>
            <p:cNvSpPr txBox="1"/>
            <p:nvPr/>
          </p:nvSpPr>
          <p:spPr>
            <a:xfrm rot="5400000">
              <a:off x="4582802" y="4403144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8" name="Google Shape;11068;p112"/>
            <p:cNvSpPr txBox="1"/>
            <p:nvPr/>
          </p:nvSpPr>
          <p:spPr>
            <a:xfrm rot="5400000">
              <a:off x="4581953" y="4867761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9" name="Google Shape;11069;p112"/>
            <p:cNvSpPr txBox="1"/>
            <p:nvPr/>
          </p:nvSpPr>
          <p:spPr>
            <a:xfrm rot="5400000">
              <a:off x="4586918" y="5682016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0" name="Google Shape;11070;p112"/>
            <p:cNvSpPr txBox="1"/>
            <p:nvPr/>
          </p:nvSpPr>
          <p:spPr>
            <a:xfrm rot="5400000">
              <a:off x="4585335" y="3435661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71" name="Google Shape;11071;p112"/>
          <p:cNvGrpSpPr/>
          <p:nvPr/>
        </p:nvGrpSpPr>
        <p:grpSpPr>
          <a:xfrm>
            <a:off x="1543246" y="1680347"/>
            <a:ext cx="2436042" cy="1273223"/>
            <a:chOff x="2739071" y="2226350"/>
            <a:chExt cx="2436042" cy="1273223"/>
          </a:xfrm>
        </p:grpSpPr>
        <p:sp>
          <p:nvSpPr>
            <p:cNvPr id="11072" name="Google Shape;11072;p112"/>
            <p:cNvSpPr/>
            <p:nvPr/>
          </p:nvSpPr>
          <p:spPr>
            <a:xfrm flipH="1">
              <a:off x="3389091" y="2670159"/>
              <a:ext cx="1786022" cy="829414"/>
            </a:xfrm>
            <a:custGeom>
              <a:rect b="b" l="l" r="r" t="t"/>
              <a:pathLst>
                <a:path extrusionOk="0" h="829414" w="1786022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3" name="Google Shape;11073;p112"/>
            <p:cNvSpPr/>
            <p:nvPr/>
          </p:nvSpPr>
          <p:spPr>
            <a:xfrm>
              <a:off x="2739071" y="2226350"/>
              <a:ext cx="2047875" cy="7718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4" name="Google Shape;11074;p112"/>
            <p:cNvSpPr txBox="1"/>
            <p:nvPr/>
          </p:nvSpPr>
          <p:spPr>
            <a:xfrm>
              <a:off x="2891471" y="2312106"/>
              <a:ext cx="1781175" cy="56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1075" name="Google Shape;11075;p112"/>
            <p:cNvGrpSpPr/>
            <p:nvPr/>
          </p:nvGrpSpPr>
          <p:grpSpPr>
            <a:xfrm>
              <a:off x="2936918" y="2788771"/>
              <a:ext cx="820613" cy="395103"/>
              <a:chOff x="7338951" y="1864426"/>
              <a:chExt cx="427511" cy="344384"/>
            </a:xfrm>
          </p:grpSpPr>
          <p:sp>
            <p:nvSpPr>
              <p:cNvPr id="11076" name="Google Shape;11076;p112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7" name="Google Shape;11077;p112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1078" name="Google Shape;11078;p112"/>
          <p:cNvGrpSpPr/>
          <p:nvPr/>
        </p:nvGrpSpPr>
        <p:grpSpPr>
          <a:xfrm>
            <a:off x="9675504" y="1612994"/>
            <a:ext cx="1615044" cy="1104405"/>
            <a:chOff x="6599795" y="1917794"/>
            <a:chExt cx="1615044" cy="1104405"/>
          </a:xfrm>
        </p:grpSpPr>
        <p:sp>
          <p:nvSpPr>
            <p:cNvPr id="11079" name="Google Shape;11079;p112"/>
            <p:cNvSpPr/>
            <p:nvPr/>
          </p:nvSpPr>
          <p:spPr>
            <a:xfrm>
              <a:off x="6599795" y="2131549"/>
              <a:ext cx="1615044" cy="890650"/>
            </a:xfrm>
            <a:custGeom>
              <a:rect b="b" l="l" r="r" t="t"/>
              <a:pathLst>
                <a:path extrusionOk="0" h="890650" w="1615044">
                  <a:moveTo>
                    <a:pt x="0" y="641268"/>
                  </a:moveTo>
                  <a:cubicBezTo>
                    <a:pt x="320633" y="380011"/>
                    <a:pt x="308759" y="285008"/>
                    <a:pt x="285007" y="0"/>
                  </a:cubicBezTo>
                  <a:lnTo>
                    <a:pt x="1615044" y="83128"/>
                  </a:lnTo>
                  <a:cubicBezTo>
                    <a:pt x="823355" y="399803"/>
                    <a:pt x="625433" y="502723"/>
                    <a:pt x="166254" y="890650"/>
                  </a:cubicBezTo>
                  <a:lnTo>
                    <a:pt x="0" y="641268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71764"/>
                  </a:srgbClr>
                </a:gs>
                <a:gs pos="99000">
                  <a:srgbClr val="F2F2F2"/>
                </a:gs>
                <a:gs pos="100000">
                  <a:srgbClr val="F2F2F2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0" name="Google Shape;11080;p112"/>
            <p:cNvSpPr/>
            <p:nvPr/>
          </p:nvSpPr>
          <p:spPr>
            <a:xfrm>
              <a:off x="6893234" y="1917794"/>
              <a:ext cx="1293812" cy="545006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1" name="Google Shape;11081;p112"/>
            <p:cNvSpPr txBox="1"/>
            <p:nvPr/>
          </p:nvSpPr>
          <p:spPr>
            <a:xfrm>
              <a:off x="6925808" y="2038751"/>
              <a:ext cx="6339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  <p:grpSp>
          <p:nvGrpSpPr>
            <p:cNvPr id="11082" name="Google Shape;11082;p112"/>
            <p:cNvGrpSpPr/>
            <p:nvPr/>
          </p:nvGrpSpPr>
          <p:grpSpPr>
            <a:xfrm>
              <a:off x="7524624" y="2012797"/>
              <a:ext cx="533735" cy="344384"/>
              <a:chOff x="7290003" y="1864426"/>
              <a:chExt cx="533735" cy="344384"/>
            </a:xfrm>
          </p:grpSpPr>
          <p:sp>
            <p:nvSpPr>
              <p:cNvPr id="11083" name="Google Shape;11083;p112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4" name="Google Shape;11084;p112"/>
              <p:cNvSpPr txBox="1"/>
              <p:nvPr/>
            </p:nvSpPr>
            <p:spPr>
              <a:xfrm>
                <a:off x="7290003" y="1889518"/>
                <a:ext cx="533735" cy="3076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1085" name="Google Shape;11085;p112"/>
          <p:cNvGrpSpPr/>
          <p:nvPr/>
        </p:nvGrpSpPr>
        <p:grpSpPr>
          <a:xfrm>
            <a:off x="3574477" y="2299853"/>
            <a:ext cx="440889" cy="845230"/>
            <a:chOff x="4140" y="429"/>
            <a:chExt cx="1425" cy="2396"/>
          </a:xfrm>
        </p:grpSpPr>
        <p:sp>
          <p:nvSpPr>
            <p:cNvPr id="11086" name="Google Shape;11086;p1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7" name="Google Shape;11087;p1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8" name="Google Shape;11088;p1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9" name="Google Shape;11089;p1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0" name="Google Shape;11090;p1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91" name="Google Shape;11091;p1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1092" name="Google Shape;11092;p1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3" name="Google Shape;11093;p1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94" name="Google Shape;11094;p1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95" name="Google Shape;11095;p1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1096" name="Google Shape;11096;p1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7" name="Google Shape;11097;p1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98" name="Google Shape;11098;p1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9" name="Google Shape;11099;p1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00" name="Google Shape;11100;p1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1101" name="Google Shape;11101;p1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2" name="Google Shape;11102;p1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03" name="Google Shape;11103;p1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04" name="Google Shape;11104;p1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1105" name="Google Shape;11105;p1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6" name="Google Shape;11106;p1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07" name="Google Shape;11107;p1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8" name="Google Shape;11108;p1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9" name="Google Shape;11109;p1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0" name="Google Shape;11110;p1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1" name="Google Shape;11111;p1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2" name="Google Shape;11112;p1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3" name="Google Shape;11113;p1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4" name="Google Shape;11114;p1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5" name="Google Shape;11115;p1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6" name="Google Shape;11116;p1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7" name="Google Shape;11117;p1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18" name="Google Shape;11118;p112"/>
          <p:cNvGrpSpPr/>
          <p:nvPr/>
        </p:nvGrpSpPr>
        <p:grpSpPr>
          <a:xfrm>
            <a:off x="9304406" y="2369415"/>
            <a:ext cx="753999" cy="373786"/>
            <a:chOff x="7493876" y="2774731"/>
            <a:chExt cx="1481958" cy="894622"/>
          </a:xfrm>
        </p:grpSpPr>
        <p:sp>
          <p:nvSpPr>
            <p:cNvPr id="11119" name="Google Shape;11119;p1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120" name="Google Shape;11120;p1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121" name="Google Shape;11121;p1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22" name="Google Shape;11122;p1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3" name="Google Shape;11123;p1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4" name="Google Shape;11124;p1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5" name="Google Shape;11125;p1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29" name="Shape 1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0" name="Google Shape;11130;p113"/>
          <p:cNvSpPr/>
          <p:nvPr/>
        </p:nvSpPr>
        <p:spPr>
          <a:xfrm>
            <a:off x="983673" y="1551708"/>
            <a:ext cx="11000509" cy="444730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1" name="Google Shape;11131;p1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Selected NETCONF Operations</a:t>
            </a:r>
            <a:endParaRPr/>
          </a:p>
        </p:txBody>
      </p:sp>
      <p:sp>
        <p:nvSpPr>
          <p:cNvPr id="11132" name="Google Shape;11132;p1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33" name="Google Shape;11133;p113"/>
          <p:cNvSpPr txBox="1"/>
          <p:nvPr/>
        </p:nvSpPr>
        <p:spPr>
          <a:xfrm>
            <a:off x="1052945" y="1659081"/>
            <a:ext cx="10737273" cy="4124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31988" lvl="0" marL="2000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              Operation Description</a:t>
            </a:r>
            <a:endParaRPr/>
          </a:p>
          <a:p>
            <a:pPr indent="-2635250" lvl="0" marL="263525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&lt;get-config&gt;  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 all or part of a given configuration. A device may have multiple configurations. 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&lt;get&gt;              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 all or part of both configuration state and operational state data.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&lt;edit-config&gt;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specified (possibly running) configuration at managed device. Managed device &lt;rpc-reply&gt; contains &lt;ok&gt;  or &lt;rpcerror&gt; with rollback.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&lt;lock&gt;, &lt;unlock&gt;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Lock (unlock) configuration datastore at managed device (to lock out NETCONF, SNMP, or CLIs commands from other sources).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&lt;create-subscription&gt;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event notification subscription from managed device</a:t>
            </a:r>
            <a:endParaRPr/>
          </a:p>
          <a:p>
            <a:pPr indent="-2635250" lvl="0" marL="2635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&lt;notification&gt;</a:t>
            </a:r>
            <a:endParaRPr/>
          </a:p>
        </p:txBody>
      </p:sp>
      <p:cxnSp>
        <p:nvCxnSpPr>
          <p:cNvPr id="11134" name="Google Shape;11134;p113"/>
          <p:cNvCxnSpPr/>
          <p:nvPr/>
        </p:nvCxnSpPr>
        <p:spPr>
          <a:xfrm>
            <a:off x="983673" y="2189018"/>
            <a:ext cx="10986655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35" name="Google Shape;11135;p113"/>
          <p:cNvCxnSpPr/>
          <p:nvPr/>
        </p:nvCxnSpPr>
        <p:spPr>
          <a:xfrm>
            <a:off x="3546767" y="1551709"/>
            <a:ext cx="0" cy="4461164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39" name="Shape 1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0" name="Google Shape;11140;p1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Sample NETCONF RPC message</a:t>
            </a:r>
            <a:endParaRPr/>
          </a:p>
        </p:txBody>
      </p:sp>
      <p:sp>
        <p:nvSpPr>
          <p:cNvPr id="11141" name="Google Shape;11141;p1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42" name="Google Shape;11142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974" y="1385449"/>
            <a:ext cx="7886368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43" name="Google Shape;11143;p114"/>
          <p:cNvSpPr txBox="1"/>
          <p:nvPr/>
        </p:nvSpPr>
        <p:spPr>
          <a:xfrm>
            <a:off x="4821382" y="1648686"/>
            <a:ext cx="19382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note message id</a:t>
            </a:r>
            <a:endParaRPr/>
          </a:p>
        </p:txBody>
      </p:sp>
      <p:sp>
        <p:nvSpPr>
          <p:cNvPr id="11144" name="Google Shape;11144;p114"/>
          <p:cNvSpPr txBox="1"/>
          <p:nvPr/>
        </p:nvSpPr>
        <p:spPr>
          <a:xfrm>
            <a:off x="4197927" y="2770904"/>
            <a:ext cx="373640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change the running configuration </a:t>
            </a:r>
            <a:endParaRPr/>
          </a:p>
        </p:txBody>
      </p:sp>
      <p:sp>
        <p:nvSpPr>
          <p:cNvPr id="11145" name="Google Shape;11145;p114"/>
          <p:cNvSpPr txBox="1"/>
          <p:nvPr/>
        </p:nvSpPr>
        <p:spPr>
          <a:xfrm>
            <a:off x="7010400" y="4364176"/>
            <a:ext cx="49938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change MTU of Ethernet 0/0 interface to 1500</a:t>
            </a:r>
            <a:endParaRPr/>
          </a:p>
        </p:txBody>
      </p:sp>
      <p:sp>
        <p:nvSpPr>
          <p:cNvPr id="11146" name="Google Shape;11146;p114"/>
          <p:cNvSpPr txBox="1"/>
          <p:nvPr/>
        </p:nvSpPr>
        <p:spPr>
          <a:xfrm>
            <a:off x="4197928" y="2244432"/>
            <a:ext cx="25598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change a configuration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50" name="Shape 1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1" name="Google Shape;11151;p115"/>
          <p:cNvSpPr txBox="1"/>
          <p:nvPr>
            <p:ph idx="1" type="body"/>
          </p:nvPr>
        </p:nvSpPr>
        <p:spPr>
          <a:xfrm>
            <a:off x="855518" y="1391517"/>
            <a:ext cx="6376555" cy="5175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data modeling language used to specify structure, syntax, semantics of NETCONF network management data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built-in data types, like SMI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XML document describing device, capabilities can be generated from YANG description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can express constraints among data that must be satisfied by a valid NETCONF configuration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ensure NETCONF configurations satisfy correctness, consistency constraints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152" name="Google Shape;11152;p11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YANG</a:t>
            </a:r>
            <a:endParaRPr/>
          </a:p>
        </p:txBody>
      </p:sp>
      <p:sp>
        <p:nvSpPr>
          <p:cNvPr id="11153" name="Google Shape;11153;p1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154" name="Google Shape;11154;p115"/>
          <p:cNvGrpSpPr/>
          <p:nvPr/>
        </p:nvGrpSpPr>
        <p:grpSpPr>
          <a:xfrm>
            <a:off x="9663823" y="5371916"/>
            <a:ext cx="683116" cy="378456"/>
            <a:chOff x="7493876" y="2774731"/>
            <a:chExt cx="1481958" cy="894622"/>
          </a:xfrm>
        </p:grpSpPr>
        <p:sp>
          <p:nvSpPr>
            <p:cNvPr id="11155" name="Google Shape;11155;p1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156" name="Google Shape;11156;p1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157" name="Google Shape;11157;p1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58" name="Google Shape;11158;p1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9" name="Google Shape;11159;p1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0" name="Google Shape;11160;p1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1" name="Google Shape;11161;p1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162" name="Google Shape;11162;p115"/>
          <p:cNvGrpSpPr/>
          <p:nvPr/>
        </p:nvGrpSpPr>
        <p:grpSpPr>
          <a:xfrm>
            <a:off x="8013954" y="4940871"/>
            <a:ext cx="1784742" cy="783771"/>
            <a:chOff x="3623562" y="5108298"/>
            <a:chExt cx="1784742" cy="783771"/>
          </a:xfrm>
        </p:grpSpPr>
        <p:sp>
          <p:nvSpPr>
            <p:cNvPr id="11163" name="Google Shape;11163;p115"/>
            <p:cNvSpPr/>
            <p:nvPr/>
          </p:nvSpPr>
          <p:spPr>
            <a:xfrm flipH="1">
              <a:off x="4018890" y="5238925"/>
              <a:ext cx="1389414" cy="653144"/>
            </a:xfrm>
            <a:custGeom>
              <a:rect b="b" l="l" r="r" t="t"/>
              <a:pathLst>
                <a:path extrusionOk="0" h="653144" w="1389414">
                  <a:moveTo>
                    <a:pt x="59377" y="415637"/>
                  </a:moveTo>
                  <a:cubicBezTo>
                    <a:pt x="285008" y="332510"/>
                    <a:pt x="320635" y="320634"/>
                    <a:pt x="605641" y="0"/>
                  </a:cubicBezTo>
                  <a:lnTo>
                    <a:pt x="1389414" y="391887"/>
                  </a:lnTo>
                  <a:cubicBezTo>
                    <a:pt x="395845" y="482932"/>
                    <a:pt x="601683" y="407720"/>
                    <a:pt x="0" y="653144"/>
                  </a:cubicBezTo>
                  <a:lnTo>
                    <a:pt x="59377" y="415637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4" name="Google Shape;11164;p115"/>
            <p:cNvSpPr/>
            <p:nvPr/>
          </p:nvSpPr>
          <p:spPr>
            <a:xfrm>
              <a:off x="3623562" y="5108298"/>
              <a:ext cx="1293812" cy="545006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5" name="Google Shape;11165;p115"/>
            <p:cNvSpPr txBox="1"/>
            <p:nvPr/>
          </p:nvSpPr>
          <p:spPr>
            <a:xfrm>
              <a:off x="3656136" y="5229255"/>
              <a:ext cx="6339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  <p:grpSp>
          <p:nvGrpSpPr>
            <p:cNvPr id="11166" name="Google Shape;11166;p115"/>
            <p:cNvGrpSpPr/>
            <p:nvPr/>
          </p:nvGrpSpPr>
          <p:grpSpPr>
            <a:xfrm>
              <a:off x="4254952" y="5203301"/>
              <a:ext cx="533735" cy="344384"/>
              <a:chOff x="7290003" y="1864426"/>
              <a:chExt cx="533735" cy="344384"/>
            </a:xfrm>
          </p:grpSpPr>
          <p:sp>
            <p:nvSpPr>
              <p:cNvPr id="11167" name="Google Shape;11167;p115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8" name="Google Shape;11168;p115"/>
              <p:cNvSpPr txBox="1"/>
              <p:nvPr/>
            </p:nvSpPr>
            <p:spPr>
              <a:xfrm>
                <a:off x="7290003" y="1889518"/>
                <a:ext cx="533735" cy="3076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1169" name="Google Shape;11169;p115"/>
          <p:cNvGrpSpPr/>
          <p:nvPr/>
        </p:nvGrpSpPr>
        <p:grpSpPr>
          <a:xfrm>
            <a:off x="8876921" y="1455558"/>
            <a:ext cx="2432414" cy="1421499"/>
            <a:chOff x="6729466" y="2092868"/>
            <a:chExt cx="2432414" cy="1421499"/>
          </a:xfrm>
        </p:grpSpPr>
        <p:sp>
          <p:nvSpPr>
            <p:cNvPr id="11170" name="Google Shape;11170;p115"/>
            <p:cNvSpPr/>
            <p:nvPr/>
          </p:nvSpPr>
          <p:spPr>
            <a:xfrm flipH="1">
              <a:off x="7131647" y="2745280"/>
              <a:ext cx="1600398" cy="585409"/>
            </a:xfrm>
            <a:custGeom>
              <a:rect b="b" l="l" r="r" t="t"/>
              <a:pathLst>
                <a:path extrusionOk="0" h="585409" w="1463851">
                  <a:moveTo>
                    <a:pt x="41393" y="206474"/>
                  </a:moveTo>
                  <a:cubicBezTo>
                    <a:pt x="186988" y="162723"/>
                    <a:pt x="239468" y="114212"/>
                    <a:pt x="299240" y="0"/>
                  </a:cubicBezTo>
                  <a:cubicBezTo>
                    <a:pt x="766287" y="135093"/>
                    <a:pt x="734070" y="180625"/>
                    <a:pt x="1463851" y="83572"/>
                  </a:cubicBezTo>
                  <a:cubicBezTo>
                    <a:pt x="672235" y="284786"/>
                    <a:pt x="601683" y="339985"/>
                    <a:pt x="0" y="585409"/>
                  </a:cubicBezTo>
                  <a:lnTo>
                    <a:pt x="41393" y="20647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1" name="Google Shape;11171;p115"/>
            <p:cNvSpPr/>
            <p:nvPr/>
          </p:nvSpPr>
          <p:spPr>
            <a:xfrm>
              <a:off x="6729466" y="2201533"/>
              <a:ext cx="1853311" cy="684610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2" name="Google Shape;11172;p115"/>
            <p:cNvSpPr txBox="1"/>
            <p:nvPr/>
          </p:nvSpPr>
          <p:spPr>
            <a:xfrm>
              <a:off x="6751500" y="2244164"/>
              <a:ext cx="1795750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1173" name="Google Shape;11173;p115"/>
            <p:cNvGrpSpPr/>
            <p:nvPr/>
          </p:nvGrpSpPr>
          <p:grpSpPr>
            <a:xfrm>
              <a:off x="8113557" y="2092868"/>
              <a:ext cx="897159" cy="395103"/>
              <a:chOff x="7338951" y="1864426"/>
              <a:chExt cx="427511" cy="344384"/>
            </a:xfrm>
          </p:grpSpPr>
          <p:sp>
            <p:nvSpPr>
              <p:cNvPr id="11174" name="Google Shape;11174;p115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5" name="Google Shape;11175;p115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  <p:grpSp>
          <p:nvGrpSpPr>
            <p:cNvPr id="11176" name="Google Shape;11176;p115"/>
            <p:cNvGrpSpPr/>
            <p:nvPr/>
          </p:nvGrpSpPr>
          <p:grpSpPr>
            <a:xfrm>
              <a:off x="8692311" y="2648933"/>
              <a:ext cx="469569" cy="865434"/>
              <a:chOff x="4140" y="429"/>
              <a:chExt cx="1425" cy="2396"/>
            </a:xfrm>
          </p:grpSpPr>
          <p:sp>
            <p:nvSpPr>
              <p:cNvPr id="11177" name="Google Shape;11177;p11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8" name="Google Shape;11178;p115"/>
              <p:cNvSpPr/>
              <p:nvPr/>
            </p:nvSpPr>
            <p:spPr>
              <a:xfrm>
                <a:off x="4208" y="429"/>
                <a:ext cx="1043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9" name="Google Shape;11179;p11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0" name="Google Shape;11180;p11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1" name="Google Shape;11181;p115"/>
              <p:cNvSpPr/>
              <p:nvPr/>
            </p:nvSpPr>
            <p:spPr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82" name="Google Shape;11182;p115"/>
              <p:cNvGrpSpPr/>
              <p:nvPr/>
            </p:nvGrpSpPr>
            <p:grpSpPr>
              <a:xfrm>
                <a:off x="4751" y="665"/>
                <a:ext cx="580" cy="131"/>
                <a:chOff x="616" y="2565"/>
                <a:chExt cx="724" cy="126"/>
              </a:xfrm>
            </p:grpSpPr>
            <p:sp>
              <p:nvSpPr>
                <p:cNvPr id="11183" name="Google Shape;11183;p115"/>
                <p:cNvSpPr/>
                <p:nvPr/>
              </p:nvSpPr>
              <p:spPr>
                <a:xfrm>
                  <a:off x="616" y="2565"/>
                  <a:ext cx="724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84" name="Google Shape;11184;p115"/>
                <p:cNvSpPr/>
                <p:nvPr/>
              </p:nvSpPr>
              <p:spPr>
                <a:xfrm>
                  <a:off x="632" y="2584"/>
                  <a:ext cx="693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85" name="Google Shape;11185;p115"/>
              <p:cNvSpPr/>
              <p:nvPr/>
            </p:nvSpPr>
            <p:spPr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86" name="Google Shape;11186;p115"/>
              <p:cNvGrpSpPr/>
              <p:nvPr/>
            </p:nvGrpSpPr>
            <p:grpSpPr>
              <a:xfrm>
                <a:off x="4745" y="994"/>
                <a:ext cx="586" cy="131"/>
                <a:chOff x="611" y="2568"/>
                <a:chExt cx="731" cy="136"/>
              </a:xfrm>
            </p:grpSpPr>
            <p:sp>
              <p:nvSpPr>
                <p:cNvPr id="11187" name="Google Shape;11187;p115"/>
                <p:cNvSpPr/>
                <p:nvPr/>
              </p:nvSpPr>
              <p:spPr>
                <a:xfrm>
                  <a:off x="611" y="2568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88" name="Google Shape;11188;p115"/>
                <p:cNvSpPr/>
                <p:nvPr/>
              </p:nvSpPr>
              <p:spPr>
                <a:xfrm>
                  <a:off x="626" y="2581"/>
                  <a:ext cx="700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89" name="Google Shape;11189;p115"/>
              <p:cNvSpPr/>
              <p:nvPr/>
            </p:nvSpPr>
            <p:spPr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0" name="Google Shape;11190;p115"/>
              <p:cNvSpPr/>
              <p:nvPr/>
            </p:nvSpPr>
            <p:spPr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91" name="Google Shape;11191;p115"/>
              <p:cNvGrpSpPr/>
              <p:nvPr/>
            </p:nvGrpSpPr>
            <p:grpSpPr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1192" name="Google Shape;11192;p115"/>
                <p:cNvSpPr/>
                <p:nvPr/>
              </p:nvSpPr>
              <p:spPr>
                <a:xfrm>
                  <a:off x="611" y="2571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93" name="Google Shape;11193;p115"/>
                <p:cNvSpPr/>
                <p:nvPr/>
              </p:nvSpPr>
              <p:spPr>
                <a:xfrm>
                  <a:off x="626" y="2589"/>
                  <a:ext cx="699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94" name="Google Shape;11194;p11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95" name="Google Shape;11195;p115"/>
              <p:cNvGrpSpPr/>
              <p:nvPr/>
            </p:nvGrpSpPr>
            <p:grpSpPr>
              <a:xfrm>
                <a:off x="4738" y="1328"/>
                <a:ext cx="574" cy="138"/>
                <a:chOff x="613" y="2569"/>
                <a:chExt cx="715" cy="138"/>
              </a:xfrm>
            </p:grpSpPr>
            <p:sp>
              <p:nvSpPr>
                <p:cNvPr id="11196" name="Google Shape;11196;p115"/>
                <p:cNvSpPr/>
                <p:nvPr/>
              </p:nvSpPr>
              <p:spPr>
                <a:xfrm>
                  <a:off x="613" y="2569"/>
                  <a:ext cx="71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97" name="Google Shape;11197;p115"/>
                <p:cNvSpPr/>
                <p:nvPr/>
              </p:nvSpPr>
              <p:spPr>
                <a:xfrm>
                  <a:off x="629" y="2582"/>
                  <a:ext cx="692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98" name="Google Shape;11198;p115"/>
              <p:cNvSpPr/>
              <p:nvPr/>
            </p:nvSpPr>
            <p:spPr>
              <a:xfrm>
                <a:off x="5250" y="429"/>
                <a:ext cx="68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9" name="Google Shape;11199;p11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0" name="Google Shape;11200;p11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1" name="Google Shape;11201;p115"/>
              <p:cNvSpPr/>
              <p:nvPr/>
            </p:nvSpPr>
            <p:spPr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2" name="Google Shape;11202;p11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3" name="Google Shape;11203;p115"/>
              <p:cNvSpPr/>
              <p:nvPr/>
            </p:nvSpPr>
            <p:spPr>
              <a:xfrm>
                <a:off x="4140" y="2681"/>
                <a:ext cx="1197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4" name="Google Shape;11204;p115"/>
              <p:cNvSpPr/>
              <p:nvPr/>
            </p:nvSpPr>
            <p:spPr>
              <a:xfrm>
                <a:off x="4208" y="2713"/>
                <a:ext cx="1067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5" name="Google Shape;11205;p115"/>
              <p:cNvSpPr/>
              <p:nvPr/>
            </p:nvSpPr>
            <p:spPr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6" name="Google Shape;11206;p115"/>
              <p:cNvSpPr/>
              <p:nvPr/>
            </p:nvSpPr>
            <p:spPr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7" name="Google Shape;11207;p115"/>
              <p:cNvSpPr/>
              <p:nvPr/>
            </p:nvSpPr>
            <p:spPr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8" name="Google Shape;11208;p115"/>
              <p:cNvSpPr/>
              <p:nvPr/>
            </p:nvSpPr>
            <p:spPr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209" name="Google Shape;11209;p115"/>
          <p:cNvSpPr/>
          <p:nvPr/>
        </p:nvSpPr>
        <p:spPr>
          <a:xfrm rot="6715731">
            <a:off x="9311946" y="3959296"/>
            <a:ext cx="2359727" cy="34444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5F7FC"/>
              </a:gs>
              <a:gs pos="35000">
                <a:srgbClr val="D8E2F3"/>
              </a:gs>
              <a:gs pos="68000">
                <a:srgbClr val="A9BEE4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0" name="Google Shape;11210;p115"/>
          <p:cNvSpPr txBox="1"/>
          <p:nvPr/>
        </p:nvSpPr>
        <p:spPr>
          <a:xfrm>
            <a:off x="7426037" y="2626200"/>
            <a:ext cx="2402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 RPC message</a:t>
            </a:r>
            <a:endParaRPr/>
          </a:p>
        </p:txBody>
      </p:sp>
      <p:grpSp>
        <p:nvGrpSpPr>
          <p:cNvPr id="11211" name="Google Shape;11211;p115"/>
          <p:cNvGrpSpPr/>
          <p:nvPr/>
        </p:nvGrpSpPr>
        <p:grpSpPr>
          <a:xfrm>
            <a:off x="7478010" y="2992581"/>
            <a:ext cx="2778034" cy="1372199"/>
            <a:chOff x="7090083" y="2881745"/>
            <a:chExt cx="2778034" cy="1372199"/>
          </a:xfrm>
        </p:grpSpPr>
        <p:sp>
          <p:nvSpPr>
            <p:cNvPr id="11212" name="Google Shape;11212;p115"/>
            <p:cNvSpPr/>
            <p:nvPr/>
          </p:nvSpPr>
          <p:spPr>
            <a:xfrm>
              <a:off x="7148945" y="2881745"/>
              <a:ext cx="2369128" cy="87283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3" name="Google Shape;11213;p115"/>
            <p:cNvSpPr txBox="1"/>
            <p:nvPr/>
          </p:nvSpPr>
          <p:spPr>
            <a:xfrm>
              <a:off x="7162800" y="2895600"/>
              <a:ext cx="2402496" cy="8617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&lt;edit-config&gt;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YANG-generated XML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&lt;/edit-config&gt;</a:t>
              </a:r>
              <a:endParaRPr/>
            </a:p>
          </p:txBody>
        </p:sp>
        <p:sp>
          <p:nvSpPr>
            <p:cNvPr id="11214" name="Google Shape;11214;p115"/>
            <p:cNvSpPr/>
            <p:nvPr/>
          </p:nvSpPr>
          <p:spPr>
            <a:xfrm flipH="1">
              <a:off x="7090083" y="2948098"/>
              <a:ext cx="2778034" cy="1305846"/>
            </a:xfrm>
            <a:custGeom>
              <a:rect b="b" l="l" r="r" t="t"/>
              <a:pathLst>
                <a:path extrusionOk="0" h="1305846" w="2541010">
                  <a:moveTo>
                    <a:pt x="3375" y="926911"/>
                  </a:moveTo>
                  <a:cubicBezTo>
                    <a:pt x="148970" y="883160"/>
                    <a:pt x="277486" y="114212"/>
                    <a:pt x="337258" y="0"/>
                  </a:cubicBezTo>
                  <a:cubicBezTo>
                    <a:pt x="221372" y="1035639"/>
                    <a:pt x="455275" y="804080"/>
                    <a:pt x="2541010" y="804009"/>
                  </a:cubicBezTo>
                  <a:cubicBezTo>
                    <a:pt x="1749394" y="1005223"/>
                    <a:pt x="601683" y="1060422"/>
                    <a:pt x="0" y="1305846"/>
                  </a:cubicBezTo>
                  <a:lnTo>
                    <a:pt x="3375" y="92691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15" name="Google Shape;11215;p115"/>
          <p:cNvGrpSpPr/>
          <p:nvPr/>
        </p:nvGrpSpPr>
        <p:grpSpPr>
          <a:xfrm>
            <a:off x="10127673" y="3879272"/>
            <a:ext cx="587606" cy="741718"/>
            <a:chOff x="375561" y="297711"/>
            <a:chExt cx="1252683" cy="2138362"/>
          </a:xfrm>
        </p:grpSpPr>
        <p:sp>
          <p:nvSpPr>
            <p:cNvPr id="11216" name="Google Shape;11216;p115"/>
            <p:cNvSpPr/>
            <p:nvPr/>
          </p:nvSpPr>
          <p:spPr>
            <a:xfrm>
              <a:off x="375561" y="297711"/>
              <a:ext cx="971072" cy="2138362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7" name="Google Shape;11217;p115"/>
            <p:cNvSpPr/>
            <p:nvPr/>
          </p:nvSpPr>
          <p:spPr>
            <a:xfrm>
              <a:off x="375561" y="309724"/>
              <a:ext cx="1247826" cy="768849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8" name="Google Shape;11218;p115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19" name="Google Shape;11219;p115"/>
          <p:cNvGrpSpPr/>
          <p:nvPr/>
        </p:nvGrpSpPr>
        <p:grpSpPr>
          <a:xfrm>
            <a:off x="9157856" y="1889496"/>
            <a:ext cx="2919145" cy="3181268"/>
            <a:chOff x="9157856" y="1889496"/>
            <a:chExt cx="2919145" cy="3181268"/>
          </a:xfrm>
        </p:grpSpPr>
        <p:sp>
          <p:nvSpPr>
            <p:cNvPr id="11220" name="Google Shape;11220;p115"/>
            <p:cNvSpPr txBox="1"/>
            <p:nvPr/>
          </p:nvSpPr>
          <p:spPr>
            <a:xfrm>
              <a:off x="10937009" y="3537239"/>
              <a:ext cx="113999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YANG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generated</a:t>
              </a:r>
              <a:endParaRPr/>
            </a:p>
          </p:txBody>
        </p:sp>
        <p:cxnSp>
          <p:nvCxnSpPr>
            <p:cNvPr id="11221" name="Google Shape;11221;p115"/>
            <p:cNvCxnSpPr>
              <a:endCxn id="11172" idx="3"/>
            </p:cNvCxnSpPr>
            <p:nvPr/>
          </p:nvCxnSpPr>
          <p:spPr>
            <a:xfrm rot="10800000">
              <a:off x="10694705" y="1889496"/>
              <a:ext cx="305700" cy="1851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222" name="Google Shape;11222;p115"/>
            <p:cNvCxnSpPr/>
            <p:nvPr/>
          </p:nvCxnSpPr>
          <p:spPr>
            <a:xfrm flipH="1">
              <a:off x="9157856" y="3743325"/>
              <a:ext cx="1843519" cy="1327439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223" name="Google Shape;11223;p115"/>
            <p:cNvCxnSpPr/>
            <p:nvPr/>
          </p:nvCxnSpPr>
          <p:spPr>
            <a:xfrm rot="10800000">
              <a:off x="9754606" y="3416797"/>
              <a:ext cx="1240419" cy="323353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28" name="Shape 1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9" name="Google Shape;11229;p1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 </a:t>
            </a:r>
            <a:r>
              <a:rPr lang="en-US" sz="4400">
                <a:solidFill>
                  <a:srgbClr val="0000A8"/>
                </a:solidFill>
              </a:rPr>
              <a:t>Summary</a:t>
            </a:r>
            <a:endParaRPr sz="4400">
              <a:solidFill>
                <a:srgbClr val="0000A8"/>
              </a:solidFill>
            </a:endParaRPr>
          </a:p>
        </p:txBody>
      </p:sp>
      <p:sp>
        <p:nvSpPr>
          <p:cNvPr id="11230" name="Google Shape;11230;p1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31" name="Google Shape;11231;p116"/>
          <p:cNvSpPr txBox="1"/>
          <p:nvPr/>
        </p:nvSpPr>
        <p:spPr>
          <a:xfrm>
            <a:off x="1008481" y="1307017"/>
            <a:ext cx="9385396" cy="4537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we’ve learned a lot!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approaches to network control plane</a:t>
            </a:r>
            <a:endParaRPr/>
          </a:p>
          <a:p>
            <a:pPr indent="-346075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per-router control (traditional)</a:t>
            </a:r>
            <a:endParaRPr/>
          </a:p>
          <a:p>
            <a:pPr indent="-346075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logically centralized control (software defined networking)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routing algorithms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in Internet: OSPF , BGP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controllers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in practice: ODL, ONOS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2" name="Google Shape;11232;p116"/>
          <p:cNvSpPr txBox="1"/>
          <p:nvPr/>
        </p:nvSpPr>
        <p:spPr>
          <a:xfrm>
            <a:off x="1021775" y="5643508"/>
            <a:ext cx="320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next stop:  link layer!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37" name="Shape 1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8" name="Google Shape;11238;p1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</a:t>
            </a:r>
            <a:r>
              <a:rPr lang="en-US"/>
              <a:t>,</a:t>
            </a:r>
            <a:r>
              <a:rPr lang="en-US" sz="4400"/>
              <a:t> control plane:  </a:t>
            </a:r>
            <a:r>
              <a:rPr lang="en-US" sz="4400">
                <a:solidFill>
                  <a:srgbClr val="C00000"/>
                </a:solidFill>
              </a:rPr>
              <a:t>Done!</a:t>
            </a:r>
            <a:endParaRPr sz="4400">
              <a:solidFill>
                <a:srgbClr val="C00000"/>
              </a:solidFill>
            </a:endParaRPr>
          </a:p>
        </p:txBody>
      </p:sp>
      <p:pic>
        <p:nvPicPr>
          <p:cNvPr descr="A train crossing a bridge over a body of water&#10;&#10;Description automatically generated" id="11239" name="Google Shape;11239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1240" name="Google Shape;11240;p117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1" name="Google Shape;11241;p117"/>
          <p:cNvSpPr txBox="1"/>
          <p:nvPr/>
        </p:nvSpPr>
        <p:spPr>
          <a:xfrm>
            <a:off x="1199399" y="1416044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2" name="Google Shape;11242;p1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7" name="Shape 1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8" name="Google Shape;11248;p118"/>
          <p:cNvSpPr txBox="1"/>
          <p:nvPr>
            <p:ph type="title"/>
          </p:nvPr>
        </p:nvSpPr>
        <p:spPr>
          <a:xfrm>
            <a:off x="838200" y="29816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5 slides</a:t>
            </a:r>
            <a:endParaRPr sz="4400"/>
          </a:p>
        </p:txBody>
      </p:sp>
      <p:sp>
        <p:nvSpPr>
          <p:cNvPr id="11249" name="Google Shape;11249;p1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4" name="Shape 1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5" name="Google Shape;11255;p119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another example</a:t>
            </a:r>
            <a:endParaRPr/>
          </a:p>
        </p:txBody>
      </p:sp>
      <p:sp>
        <p:nvSpPr>
          <p:cNvPr id="11256" name="Google Shape;11256;p1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257" name="Google Shape;11257;p119"/>
          <p:cNvCxnSpPr/>
          <p:nvPr/>
        </p:nvCxnSpPr>
        <p:spPr>
          <a:xfrm>
            <a:off x="2196230" y="16482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8" name="Google Shape;11258;p119"/>
          <p:cNvCxnSpPr/>
          <p:nvPr/>
        </p:nvCxnSpPr>
        <p:spPr>
          <a:xfrm>
            <a:off x="1891430" y="18768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59" name="Google Shape;11259;p119"/>
          <p:cNvSpPr txBox="1"/>
          <p:nvPr/>
        </p:nvSpPr>
        <p:spPr>
          <a:xfrm>
            <a:off x="2196230" y="14910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60" name="Google Shape;11260;p119"/>
          <p:cNvSpPr txBox="1"/>
          <p:nvPr/>
        </p:nvSpPr>
        <p:spPr>
          <a:xfrm>
            <a:off x="1891430" y="1872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61" name="Google Shape;11261;p119"/>
          <p:cNvSpPr txBox="1"/>
          <p:nvPr/>
        </p:nvSpPr>
        <p:spPr>
          <a:xfrm>
            <a:off x="1891430" y="21768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62" name="Google Shape;11262;p119"/>
          <p:cNvSpPr txBox="1"/>
          <p:nvPr/>
        </p:nvSpPr>
        <p:spPr>
          <a:xfrm>
            <a:off x="1891430" y="2481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63" name="Google Shape;11263;p119"/>
          <p:cNvSpPr txBox="1"/>
          <p:nvPr/>
        </p:nvSpPr>
        <p:spPr>
          <a:xfrm>
            <a:off x="2196230" y="1872055"/>
            <a:ext cx="882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0  2   7</a:t>
            </a:r>
            <a:endParaRPr/>
          </a:p>
        </p:txBody>
      </p:sp>
      <p:sp>
        <p:nvSpPr>
          <p:cNvPr id="11264" name="Google Shape;11264;p119"/>
          <p:cNvSpPr txBox="1"/>
          <p:nvPr/>
        </p:nvSpPr>
        <p:spPr>
          <a:xfrm>
            <a:off x="21962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5" name="Google Shape;11265;p119"/>
          <p:cNvSpPr txBox="1"/>
          <p:nvPr/>
        </p:nvSpPr>
        <p:spPr>
          <a:xfrm>
            <a:off x="2424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6" name="Google Shape;11266;p119"/>
          <p:cNvSpPr txBox="1"/>
          <p:nvPr/>
        </p:nvSpPr>
        <p:spPr>
          <a:xfrm>
            <a:off x="2805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7" name="Google Shape;11267;p119"/>
          <p:cNvSpPr txBox="1"/>
          <p:nvPr/>
        </p:nvSpPr>
        <p:spPr>
          <a:xfrm>
            <a:off x="21962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8" name="Google Shape;11268;p119"/>
          <p:cNvSpPr txBox="1"/>
          <p:nvPr/>
        </p:nvSpPr>
        <p:spPr>
          <a:xfrm>
            <a:off x="2424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9" name="Google Shape;11269;p119"/>
          <p:cNvSpPr txBox="1"/>
          <p:nvPr/>
        </p:nvSpPr>
        <p:spPr>
          <a:xfrm>
            <a:off x="2805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70" name="Google Shape;11270;p119"/>
          <p:cNvSpPr txBox="1"/>
          <p:nvPr/>
        </p:nvSpPr>
        <p:spPr>
          <a:xfrm rot="-5400000">
            <a:off x="3627362" y="2226861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sp>
        <p:nvSpPr>
          <p:cNvPr id="11271" name="Google Shape;11271;p119"/>
          <p:cNvSpPr txBox="1"/>
          <p:nvPr/>
        </p:nvSpPr>
        <p:spPr>
          <a:xfrm>
            <a:off x="2329580" y="1359292"/>
            <a:ext cx="706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272" name="Google Shape;11272;p119"/>
          <p:cNvSpPr txBox="1"/>
          <p:nvPr/>
        </p:nvSpPr>
        <p:spPr>
          <a:xfrm rot="-5400000">
            <a:off x="1495349" y="4011211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sp>
        <p:nvSpPr>
          <p:cNvPr id="11273" name="Google Shape;11273;p119"/>
          <p:cNvSpPr txBox="1"/>
          <p:nvPr/>
        </p:nvSpPr>
        <p:spPr>
          <a:xfrm rot="-5400000">
            <a:off x="1495348" y="5819374"/>
            <a:ext cx="5381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cxnSp>
        <p:nvCxnSpPr>
          <p:cNvPr id="11274" name="Google Shape;11274;p119"/>
          <p:cNvCxnSpPr/>
          <p:nvPr/>
        </p:nvCxnSpPr>
        <p:spPr>
          <a:xfrm>
            <a:off x="4253630" y="16482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5" name="Google Shape;11275;p119"/>
          <p:cNvCxnSpPr/>
          <p:nvPr/>
        </p:nvCxnSpPr>
        <p:spPr>
          <a:xfrm>
            <a:off x="3948830" y="18768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76" name="Google Shape;11276;p119"/>
          <p:cNvSpPr txBox="1"/>
          <p:nvPr/>
        </p:nvSpPr>
        <p:spPr>
          <a:xfrm>
            <a:off x="4253630" y="14910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77" name="Google Shape;11277;p119"/>
          <p:cNvSpPr txBox="1"/>
          <p:nvPr/>
        </p:nvSpPr>
        <p:spPr>
          <a:xfrm>
            <a:off x="3948830" y="1872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78" name="Google Shape;11278;p119"/>
          <p:cNvSpPr txBox="1"/>
          <p:nvPr/>
        </p:nvSpPr>
        <p:spPr>
          <a:xfrm>
            <a:off x="3948830" y="21768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79" name="Google Shape;11279;p119"/>
          <p:cNvSpPr txBox="1"/>
          <p:nvPr/>
        </p:nvSpPr>
        <p:spPr>
          <a:xfrm>
            <a:off x="3948830" y="2481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80" name="Google Shape;11280;p119"/>
          <p:cNvSpPr txBox="1"/>
          <p:nvPr/>
        </p:nvSpPr>
        <p:spPr>
          <a:xfrm>
            <a:off x="4274268" y="18720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cxnSp>
        <p:nvCxnSpPr>
          <p:cNvPr id="11281" name="Google Shape;11281;p119"/>
          <p:cNvCxnSpPr/>
          <p:nvPr/>
        </p:nvCxnSpPr>
        <p:spPr>
          <a:xfrm>
            <a:off x="2196230" y="34008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2" name="Google Shape;11282;p119"/>
          <p:cNvCxnSpPr/>
          <p:nvPr/>
        </p:nvCxnSpPr>
        <p:spPr>
          <a:xfrm>
            <a:off x="1891430" y="36294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83" name="Google Shape;11283;p119"/>
          <p:cNvSpPr txBox="1"/>
          <p:nvPr/>
        </p:nvSpPr>
        <p:spPr>
          <a:xfrm>
            <a:off x="2196230" y="32436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84" name="Google Shape;11284;p119"/>
          <p:cNvSpPr txBox="1"/>
          <p:nvPr/>
        </p:nvSpPr>
        <p:spPr>
          <a:xfrm>
            <a:off x="1891430" y="3624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85" name="Google Shape;11285;p119"/>
          <p:cNvSpPr txBox="1"/>
          <p:nvPr/>
        </p:nvSpPr>
        <p:spPr>
          <a:xfrm>
            <a:off x="1891430" y="3929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86" name="Google Shape;11286;p119"/>
          <p:cNvSpPr txBox="1"/>
          <p:nvPr/>
        </p:nvSpPr>
        <p:spPr>
          <a:xfrm>
            <a:off x="1891430" y="4234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87" name="Google Shape;11287;p119"/>
          <p:cNvSpPr txBox="1"/>
          <p:nvPr/>
        </p:nvSpPr>
        <p:spPr>
          <a:xfrm>
            <a:off x="25010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88" name="Google Shape;11288;p119"/>
          <p:cNvSpPr txBox="1"/>
          <p:nvPr/>
        </p:nvSpPr>
        <p:spPr>
          <a:xfrm>
            <a:off x="28058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89" name="Google Shape;11289;p119"/>
          <p:cNvSpPr txBox="1"/>
          <p:nvPr/>
        </p:nvSpPr>
        <p:spPr>
          <a:xfrm>
            <a:off x="21962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90" name="Google Shape;11290;p119"/>
          <p:cNvSpPr txBox="1"/>
          <p:nvPr/>
        </p:nvSpPr>
        <p:spPr>
          <a:xfrm>
            <a:off x="2424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91" name="Google Shape;11291;p119"/>
          <p:cNvSpPr txBox="1"/>
          <p:nvPr/>
        </p:nvSpPr>
        <p:spPr>
          <a:xfrm>
            <a:off x="2805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92" name="Google Shape;11292;p119"/>
          <p:cNvSpPr txBox="1"/>
          <p:nvPr/>
        </p:nvSpPr>
        <p:spPr>
          <a:xfrm>
            <a:off x="2318468" y="3134117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cxnSp>
        <p:nvCxnSpPr>
          <p:cNvPr id="11293" name="Google Shape;11293;p119"/>
          <p:cNvCxnSpPr/>
          <p:nvPr/>
        </p:nvCxnSpPr>
        <p:spPr>
          <a:xfrm>
            <a:off x="2196230" y="52296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4" name="Google Shape;11294;p119"/>
          <p:cNvCxnSpPr/>
          <p:nvPr/>
        </p:nvCxnSpPr>
        <p:spPr>
          <a:xfrm>
            <a:off x="1891430" y="54582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95" name="Google Shape;11295;p119"/>
          <p:cNvSpPr txBox="1"/>
          <p:nvPr/>
        </p:nvSpPr>
        <p:spPr>
          <a:xfrm>
            <a:off x="2196230" y="50724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96" name="Google Shape;11296;p119"/>
          <p:cNvSpPr txBox="1"/>
          <p:nvPr/>
        </p:nvSpPr>
        <p:spPr>
          <a:xfrm>
            <a:off x="1891430" y="5453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97" name="Google Shape;11297;p119"/>
          <p:cNvSpPr txBox="1"/>
          <p:nvPr/>
        </p:nvSpPr>
        <p:spPr>
          <a:xfrm>
            <a:off x="1891430" y="5758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98" name="Google Shape;11298;p119"/>
          <p:cNvSpPr txBox="1"/>
          <p:nvPr/>
        </p:nvSpPr>
        <p:spPr>
          <a:xfrm>
            <a:off x="1891430" y="6063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99" name="Google Shape;11299;p119"/>
          <p:cNvSpPr txBox="1"/>
          <p:nvPr/>
        </p:nvSpPr>
        <p:spPr>
          <a:xfrm>
            <a:off x="2196230" y="5839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00" name="Google Shape;11300;p119"/>
          <p:cNvSpPr txBox="1"/>
          <p:nvPr/>
        </p:nvSpPr>
        <p:spPr>
          <a:xfrm>
            <a:off x="2424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01" name="Google Shape;11301;p119"/>
          <p:cNvSpPr txBox="1"/>
          <p:nvPr/>
        </p:nvSpPr>
        <p:spPr>
          <a:xfrm>
            <a:off x="2805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02" name="Google Shape;11302;p119"/>
          <p:cNvSpPr txBox="1"/>
          <p:nvPr/>
        </p:nvSpPr>
        <p:spPr>
          <a:xfrm>
            <a:off x="21962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1303" name="Google Shape;11303;p119"/>
          <p:cNvSpPr txBox="1"/>
          <p:nvPr/>
        </p:nvSpPr>
        <p:spPr>
          <a:xfrm>
            <a:off x="2424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304" name="Google Shape;11304;p119"/>
          <p:cNvSpPr txBox="1"/>
          <p:nvPr/>
        </p:nvSpPr>
        <p:spPr>
          <a:xfrm>
            <a:off x="2805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305" name="Google Shape;11305;p119"/>
          <p:cNvSpPr txBox="1"/>
          <p:nvPr/>
        </p:nvSpPr>
        <p:spPr>
          <a:xfrm>
            <a:off x="2340693" y="4940692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306" name="Google Shape;11306;p119"/>
          <p:cNvSpPr txBox="1"/>
          <p:nvPr/>
        </p:nvSpPr>
        <p:spPr>
          <a:xfrm>
            <a:off x="2196230" y="3700855"/>
            <a:ext cx="946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2   0   1</a:t>
            </a:r>
            <a:endParaRPr/>
          </a:p>
        </p:txBody>
      </p:sp>
      <p:sp>
        <p:nvSpPr>
          <p:cNvPr id="11307" name="Google Shape;11307;p119"/>
          <p:cNvSpPr txBox="1"/>
          <p:nvPr/>
        </p:nvSpPr>
        <p:spPr>
          <a:xfrm>
            <a:off x="2196230" y="5458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 ∞  ∞</a:t>
            </a:r>
            <a:endParaRPr/>
          </a:p>
        </p:txBody>
      </p:sp>
      <p:sp>
        <p:nvSpPr>
          <p:cNvPr id="11308" name="Google Shape;11308;p119"/>
          <p:cNvSpPr txBox="1"/>
          <p:nvPr/>
        </p:nvSpPr>
        <p:spPr>
          <a:xfrm>
            <a:off x="4237755" y="2207017"/>
            <a:ext cx="946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2   0   1</a:t>
            </a:r>
            <a:endParaRPr/>
          </a:p>
        </p:txBody>
      </p:sp>
      <p:sp>
        <p:nvSpPr>
          <p:cNvPr id="11309" name="Google Shape;11309;p119"/>
          <p:cNvSpPr txBox="1"/>
          <p:nvPr/>
        </p:nvSpPr>
        <p:spPr>
          <a:xfrm>
            <a:off x="4237755" y="2522930"/>
            <a:ext cx="946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7   1   0</a:t>
            </a:r>
            <a:endParaRPr/>
          </a:p>
        </p:txBody>
      </p:sp>
      <p:cxnSp>
        <p:nvCxnSpPr>
          <p:cNvPr id="11310" name="Google Shape;11310;p119"/>
          <p:cNvCxnSpPr/>
          <p:nvPr/>
        </p:nvCxnSpPr>
        <p:spPr>
          <a:xfrm>
            <a:off x="3186830" y="2181617"/>
            <a:ext cx="685800" cy="1524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1" name="Google Shape;11311;p119"/>
          <p:cNvCxnSpPr/>
          <p:nvPr/>
        </p:nvCxnSpPr>
        <p:spPr>
          <a:xfrm>
            <a:off x="3110630" y="2257817"/>
            <a:ext cx="685800" cy="312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2" name="Google Shape;11312;p119"/>
          <p:cNvCxnSpPr/>
          <p:nvPr/>
        </p:nvCxnSpPr>
        <p:spPr>
          <a:xfrm flipH="1" rot="10800000">
            <a:off x="3110630" y="2715017"/>
            <a:ext cx="762000" cy="12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3" name="Google Shape;11313;p119"/>
          <p:cNvCxnSpPr/>
          <p:nvPr/>
        </p:nvCxnSpPr>
        <p:spPr>
          <a:xfrm>
            <a:off x="3110630" y="4315217"/>
            <a:ext cx="609600" cy="114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4" name="Google Shape;11314;p119"/>
          <p:cNvCxnSpPr/>
          <p:nvPr/>
        </p:nvCxnSpPr>
        <p:spPr>
          <a:xfrm flipH="1" rot="10800000">
            <a:off x="3110630" y="2791217"/>
            <a:ext cx="838200" cy="342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5" name="Google Shape;11315;p119"/>
          <p:cNvCxnSpPr/>
          <p:nvPr/>
        </p:nvCxnSpPr>
        <p:spPr>
          <a:xfrm flipH="1" rot="10800000">
            <a:off x="3186830" y="4543817"/>
            <a:ext cx="762000" cy="17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6" name="Google Shape;11316;p119"/>
          <p:cNvCxnSpPr/>
          <p:nvPr/>
        </p:nvCxnSpPr>
        <p:spPr>
          <a:xfrm>
            <a:off x="1586630" y="6545655"/>
            <a:ext cx="6417502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1317" name="Google Shape;11317;p119"/>
          <p:cNvSpPr txBox="1"/>
          <p:nvPr/>
        </p:nvSpPr>
        <p:spPr>
          <a:xfrm>
            <a:off x="7960443" y="6337692"/>
            <a:ext cx="615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11318" name="Google Shape;11318;p119"/>
          <p:cNvGrpSpPr/>
          <p:nvPr/>
        </p:nvGrpSpPr>
        <p:grpSpPr>
          <a:xfrm>
            <a:off x="9037572" y="2949053"/>
            <a:ext cx="2184400" cy="1212850"/>
            <a:chOff x="2352" y="0"/>
            <a:chExt cx="1376" cy="764"/>
          </a:xfrm>
        </p:grpSpPr>
        <p:sp>
          <p:nvSpPr>
            <p:cNvPr id="11319" name="Google Shape;11319;p119"/>
            <p:cNvSpPr/>
            <p:nvPr/>
          </p:nvSpPr>
          <p:spPr>
            <a:xfrm>
              <a:off x="2352" y="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20" name="Google Shape;11320;p119"/>
            <p:cNvGrpSpPr/>
            <p:nvPr/>
          </p:nvGrpSpPr>
          <p:grpSpPr>
            <a:xfrm>
              <a:off x="2448" y="70"/>
              <a:ext cx="1161" cy="676"/>
              <a:chOff x="-17" y="1282"/>
              <a:chExt cx="1161" cy="676"/>
            </a:xfrm>
          </p:grpSpPr>
          <p:sp>
            <p:nvSpPr>
              <p:cNvPr id="11321" name="Google Shape;11321;p119"/>
              <p:cNvSpPr/>
              <p:nvPr/>
            </p:nvSpPr>
            <p:spPr>
              <a:xfrm>
                <a:off x="246" y="1476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2" name="Google Shape;11322;p119"/>
              <p:cNvSpPr/>
              <p:nvPr/>
            </p:nvSpPr>
            <p:spPr>
              <a:xfrm>
                <a:off x="-14" y="1712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323" name="Google Shape;11323;p119"/>
              <p:cNvCxnSpPr/>
              <p:nvPr/>
            </p:nvCxnSpPr>
            <p:spPr>
              <a:xfrm>
                <a:off x="-14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24" name="Google Shape;11324;p119"/>
              <p:cNvCxnSpPr/>
              <p:nvPr/>
            </p:nvCxnSpPr>
            <p:spPr>
              <a:xfrm>
                <a:off x="299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25" name="Google Shape;11325;p119"/>
              <p:cNvSpPr/>
              <p:nvPr/>
            </p:nvSpPr>
            <p:spPr>
              <a:xfrm>
                <a:off x="-14" y="1705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6" name="Google Shape;11326;p119"/>
              <p:cNvSpPr/>
              <p:nvPr/>
            </p:nvSpPr>
            <p:spPr>
              <a:xfrm>
                <a:off x="-17" y="1646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7" name="Google Shape;11327;p119"/>
              <p:cNvSpPr/>
              <p:nvPr/>
            </p:nvSpPr>
            <p:spPr>
              <a:xfrm>
                <a:off x="651" y="1476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8" name="Google Shape;11328;p119"/>
              <p:cNvSpPr/>
              <p:nvPr/>
            </p:nvSpPr>
            <p:spPr>
              <a:xfrm>
                <a:off x="303" y="1740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329" name="Google Shape;11329;p119"/>
              <p:cNvGrpSpPr/>
              <p:nvPr/>
            </p:nvGrpSpPr>
            <p:grpSpPr>
              <a:xfrm>
                <a:off x="39" y="1594"/>
                <a:ext cx="196" cy="250"/>
                <a:chOff x="2959" y="2425"/>
                <a:chExt cx="197" cy="250"/>
              </a:xfrm>
            </p:grpSpPr>
            <p:sp>
              <p:nvSpPr>
                <p:cNvPr id="11330" name="Google Shape;11330;p11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31" name="Google Shape;11331;p119"/>
                <p:cNvSpPr txBox="1"/>
                <p:nvPr/>
              </p:nvSpPr>
              <p:spPr>
                <a:xfrm>
                  <a:off x="2959" y="2425"/>
                  <a:ext cx="197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332" name="Google Shape;11332;p119"/>
              <p:cNvGrpSpPr/>
              <p:nvPr/>
            </p:nvGrpSpPr>
            <p:grpSpPr>
              <a:xfrm>
                <a:off x="828" y="1576"/>
                <a:ext cx="316" cy="288"/>
                <a:chOff x="1740" y="2272"/>
                <a:chExt cx="316" cy="288"/>
              </a:xfrm>
            </p:grpSpPr>
            <p:sp>
              <p:nvSpPr>
                <p:cNvPr id="11333" name="Google Shape;11333;p11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34" name="Google Shape;11334;p11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35" name="Google Shape;11335;p11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336" name="Google Shape;11336;p11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37" name="Google Shape;11337;p11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38" name="Google Shape;11338;p119"/>
                <p:cNvGrpSpPr/>
                <p:nvPr/>
              </p:nvGrpSpPr>
              <p:grpSpPr>
                <a:xfrm>
                  <a:off x="1795" y="2272"/>
                  <a:ext cx="212" cy="288"/>
                  <a:chOff x="2951" y="2395"/>
                  <a:chExt cx="213" cy="288"/>
                </a:xfrm>
              </p:grpSpPr>
              <p:sp>
                <p:nvSpPr>
                  <p:cNvPr id="11339" name="Google Shape;11339;p119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40" name="Google Shape;11340;p119"/>
                  <p:cNvSpPr txBox="1"/>
                  <p:nvPr/>
                </p:nvSpPr>
                <p:spPr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z</a:t>
                    </a:r>
                    <a:endParaRPr/>
                  </a:p>
                </p:txBody>
              </p:sp>
            </p:grpSp>
          </p:grpSp>
          <p:sp>
            <p:nvSpPr>
              <p:cNvPr id="11341" name="Google Shape;11341;p119"/>
              <p:cNvSpPr txBox="1"/>
              <p:nvPr/>
            </p:nvSpPr>
            <p:spPr>
              <a:xfrm>
                <a:off x="724" y="139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2" name="Google Shape;11342;p119"/>
              <p:cNvSpPr txBox="1"/>
              <p:nvPr/>
            </p:nvSpPr>
            <p:spPr>
              <a:xfrm>
                <a:off x="196" y="1394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3" name="Google Shape;11343;p119"/>
              <p:cNvSpPr txBox="1"/>
              <p:nvPr/>
            </p:nvSpPr>
            <p:spPr>
              <a:xfrm>
                <a:off x="481" y="172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344" name="Google Shape;11344;p119"/>
              <p:cNvGrpSpPr/>
              <p:nvPr/>
            </p:nvGrpSpPr>
            <p:grpSpPr>
              <a:xfrm>
                <a:off x="408" y="1282"/>
                <a:ext cx="316" cy="250"/>
                <a:chOff x="1740" y="2302"/>
                <a:chExt cx="316" cy="250"/>
              </a:xfrm>
            </p:grpSpPr>
            <p:sp>
              <p:nvSpPr>
                <p:cNvPr id="11345" name="Google Shape;11345;p11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46" name="Google Shape;11346;p11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47" name="Google Shape;11347;p11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348" name="Google Shape;11348;p11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49" name="Google Shape;11349;p11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50" name="Google Shape;11350;p119"/>
                <p:cNvGrpSpPr/>
                <p:nvPr/>
              </p:nvGrpSpPr>
              <p:grpSpPr>
                <a:xfrm>
                  <a:off x="1803" y="2302"/>
                  <a:ext cx="196" cy="250"/>
                  <a:chOff x="2958" y="2425"/>
                  <a:chExt cx="198" cy="250"/>
                </a:xfrm>
              </p:grpSpPr>
              <p:sp>
                <p:nvSpPr>
                  <p:cNvPr id="11351" name="Google Shape;11351;p119"/>
                  <p:cNvSpPr/>
                  <p:nvPr/>
                </p:nvSpPr>
                <p:spPr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52" name="Google Shape;11352;p119"/>
                  <p:cNvSpPr txBox="1"/>
                  <p:nvPr/>
                </p:nvSpPr>
                <p:spPr>
                  <a:xfrm>
                    <a:off x="2958" y="2425"/>
                    <a:ext cx="198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11353" name="Google Shape;11353;p119"/>
          <p:cNvSpPr txBox="1"/>
          <p:nvPr/>
        </p:nvSpPr>
        <p:spPr>
          <a:xfrm>
            <a:off x="1471097" y="1455629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354" name="Google Shape;11354;p119"/>
          <p:cNvSpPr/>
          <p:nvPr/>
        </p:nvSpPr>
        <p:spPr>
          <a:xfrm>
            <a:off x="2196230" y="18768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5" name="Google Shape;11355;p119"/>
          <p:cNvSpPr/>
          <p:nvPr/>
        </p:nvSpPr>
        <p:spPr>
          <a:xfrm>
            <a:off x="2196230" y="39342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6" name="Google Shape;11356;p119"/>
          <p:cNvSpPr/>
          <p:nvPr/>
        </p:nvSpPr>
        <p:spPr>
          <a:xfrm>
            <a:off x="2196230" y="61440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7" name="Google Shape;11357;p119"/>
          <p:cNvSpPr/>
          <p:nvPr/>
        </p:nvSpPr>
        <p:spPr>
          <a:xfrm>
            <a:off x="4274268" y="18768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8" name="Google Shape;11358;p119"/>
          <p:cNvSpPr/>
          <p:nvPr/>
        </p:nvSpPr>
        <p:spPr>
          <a:xfrm>
            <a:off x="4876322" y="3416550"/>
            <a:ext cx="38683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(y) = min{c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x,y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(y), c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x,z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(y)} 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= min{2+0 , 7+1} = 2</a:t>
            </a:r>
            <a:endParaRPr/>
          </a:p>
        </p:txBody>
      </p:sp>
      <p:cxnSp>
        <p:nvCxnSpPr>
          <p:cNvPr id="11359" name="Google Shape;11359;p119"/>
          <p:cNvCxnSpPr/>
          <p:nvPr/>
        </p:nvCxnSpPr>
        <p:spPr>
          <a:xfrm rot="10800000">
            <a:off x="4737817" y="2139668"/>
            <a:ext cx="310172" cy="1304989"/>
          </a:xfrm>
          <a:prstGeom prst="straightConnector1">
            <a:avLst/>
          </a:prstGeom>
          <a:noFill/>
          <a:ln cap="flat" cmpd="sng" w="12700">
            <a:solidFill>
              <a:srgbClr val="000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60" name="Google Shape;11360;p119"/>
          <p:cNvSpPr/>
          <p:nvPr/>
        </p:nvSpPr>
        <p:spPr>
          <a:xfrm>
            <a:off x="5921461" y="2260908"/>
            <a:ext cx="3660949" cy="726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(z) =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min{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x,y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(z), c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x,z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(z)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min{2+1 , 7+0} = 3</a:t>
            </a:r>
            <a:endParaRPr/>
          </a:p>
        </p:txBody>
      </p:sp>
      <p:cxnSp>
        <p:nvCxnSpPr>
          <p:cNvPr id="11361" name="Google Shape;11361;p119"/>
          <p:cNvCxnSpPr/>
          <p:nvPr/>
        </p:nvCxnSpPr>
        <p:spPr>
          <a:xfrm rot="10800000">
            <a:off x="5106812" y="2116725"/>
            <a:ext cx="805472" cy="338376"/>
          </a:xfrm>
          <a:prstGeom prst="straightConnector1">
            <a:avLst/>
          </a:prstGeom>
          <a:noFill/>
          <a:ln cap="flat" cmpd="sng" w="9525">
            <a:solidFill>
              <a:srgbClr val="000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62" name="Google Shape;11362;p119"/>
          <p:cNvSpPr txBox="1"/>
          <p:nvPr/>
        </p:nvSpPr>
        <p:spPr>
          <a:xfrm>
            <a:off x="4899743" y="187523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363" name="Google Shape;11363;p119"/>
          <p:cNvSpPr txBox="1"/>
          <p:nvPr/>
        </p:nvSpPr>
        <p:spPr>
          <a:xfrm>
            <a:off x="4556843" y="1879992"/>
            <a:ext cx="3429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endParaRPr/>
          </a:p>
        </p:txBody>
      </p:sp>
      <p:sp>
        <p:nvSpPr>
          <p:cNvPr id="11364" name="Google Shape;11364;p119"/>
          <p:cNvSpPr txBox="1"/>
          <p:nvPr/>
        </p:nvSpPr>
        <p:spPr>
          <a:xfrm>
            <a:off x="1499672" y="3214405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365" name="Google Shape;11365;p119"/>
          <p:cNvSpPr txBox="1"/>
          <p:nvPr/>
        </p:nvSpPr>
        <p:spPr>
          <a:xfrm>
            <a:off x="1480970" y="5037203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366" name="Google Shape;11366;p119"/>
          <p:cNvSpPr txBox="1"/>
          <p:nvPr/>
        </p:nvSpPr>
        <p:spPr>
          <a:xfrm>
            <a:off x="4390155" y="1343417"/>
            <a:ext cx="706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367" name="Google Shape;11367;p119"/>
          <p:cNvSpPr txBox="1"/>
          <p:nvPr/>
        </p:nvSpPr>
        <p:spPr>
          <a:xfrm rot="-5400000">
            <a:off x="1538212" y="2268136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grpSp>
        <p:nvGrpSpPr>
          <p:cNvPr id="11368" name="Google Shape;11368;p119"/>
          <p:cNvGrpSpPr/>
          <p:nvPr/>
        </p:nvGrpSpPr>
        <p:grpSpPr>
          <a:xfrm>
            <a:off x="2743200" y="1891430"/>
            <a:ext cx="2491320" cy="352127"/>
            <a:chOff x="2743200" y="1891430"/>
            <a:chExt cx="2491320" cy="352127"/>
          </a:xfrm>
        </p:grpSpPr>
        <p:sp>
          <p:nvSpPr>
            <p:cNvPr id="11369" name="Google Shape;11369;p119"/>
            <p:cNvSpPr/>
            <p:nvPr/>
          </p:nvSpPr>
          <p:spPr>
            <a:xfrm>
              <a:off x="2743200" y="1891430"/>
              <a:ext cx="350729" cy="350729"/>
            </a:xfrm>
            <a:prstGeom prst="ellipse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0" name="Google Shape;11370;p119"/>
            <p:cNvSpPr/>
            <p:nvPr/>
          </p:nvSpPr>
          <p:spPr>
            <a:xfrm>
              <a:off x="4883791" y="1892828"/>
              <a:ext cx="350729" cy="350729"/>
            </a:xfrm>
            <a:prstGeom prst="ellipse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5" name="Shape 1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6" name="Google Shape;11376;p120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another example</a:t>
            </a:r>
            <a:endParaRPr/>
          </a:p>
        </p:txBody>
      </p:sp>
      <p:sp>
        <p:nvSpPr>
          <p:cNvPr id="11377" name="Google Shape;11377;p1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378" name="Google Shape;11378;p120"/>
          <p:cNvCxnSpPr/>
          <p:nvPr/>
        </p:nvCxnSpPr>
        <p:spPr>
          <a:xfrm>
            <a:off x="2196230" y="16482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9" name="Google Shape;11379;p120"/>
          <p:cNvCxnSpPr/>
          <p:nvPr/>
        </p:nvCxnSpPr>
        <p:spPr>
          <a:xfrm>
            <a:off x="1891430" y="18768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80" name="Google Shape;11380;p120"/>
          <p:cNvSpPr txBox="1"/>
          <p:nvPr/>
        </p:nvSpPr>
        <p:spPr>
          <a:xfrm>
            <a:off x="2196230" y="14910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381" name="Google Shape;11381;p120"/>
          <p:cNvSpPr txBox="1"/>
          <p:nvPr/>
        </p:nvSpPr>
        <p:spPr>
          <a:xfrm>
            <a:off x="1891430" y="1872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382" name="Google Shape;11382;p120"/>
          <p:cNvSpPr txBox="1"/>
          <p:nvPr/>
        </p:nvSpPr>
        <p:spPr>
          <a:xfrm>
            <a:off x="1891430" y="21768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383" name="Google Shape;11383;p120"/>
          <p:cNvSpPr txBox="1"/>
          <p:nvPr/>
        </p:nvSpPr>
        <p:spPr>
          <a:xfrm>
            <a:off x="1891430" y="2481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384" name="Google Shape;11384;p120"/>
          <p:cNvSpPr txBox="1"/>
          <p:nvPr/>
        </p:nvSpPr>
        <p:spPr>
          <a:xfrm>
            <a:off x="2196230" y="1872055"/>
            <a:ext cx="882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0  2   7</a:t>
            </a:r>
            <a:endParaRPr/>
          </a:p>
        </p:txBody>
      </p:sp>
      <p:sp>
        <p:nvSpPr>
          <p:cNvPr id="11385" name="Google Shape;11385;p120"/>
          <p:cNvSpPr txBox="1"/>
          <p:nvPr/>
        </p:nvSpPr>
        <p:spPr>
          <a:xfrm>
            <a:off x="21962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6" name="Google Shape;11386;p120"/>
          <p:cNvSpPr txBox="1"/>
          <p:nvPr/>
        </p:nvSpPr>
        <p:spPr>
          <a:xfrm>
            <a:off x="2424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7" name="Google Shape;11387;p120"/>
          <p:cNvSpPr txBox="1"/>
          <p:nvPr/>
        </p:nvSpPr>
        <p:spPr>
          <a:xfrm>
            <a:off x="2805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8" name="Google Shape;11388;p120"/>
          <p:cNvSpPr txBox="1"/>
          <p:nvPr/>
        </p:nvSpPr>
        <p:spPr>
          <a:xfrm>
            <a:off x="21962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9" name="Google Shape;11389;p120"/>
          <p:cNvSpPr txBox="1"/>
          <p:nvPr/>
        </p:nvSpPr>
        <p:spPr>
          <a:xfrm>
            <a:off x="2424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90" name="Google Shape;11390;p120"/>
          <p:cNvSpPr txBox="1"/>
          <p:nvPr/>
        </p:nvSpPr>
        <p:spPr>
          <a:xfrm>
            <a:off x="2805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91" name="Google Shape;11391;p120"/>
          <p:cNvSpPr txBox="1"/>
          <p:nvPr/>
        </p:nvSpPr>
        <p:spPr>
          <a:xfrm>
            <a:off x="2329580" y="1359292"/>
            <a:ext cx="706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392" name="Google Shape;11392;p120"/>
          <p:cNvSpPr txBox="1"/>
          <p:nvPr/>
        </p:nvSpPr>
        <p:spPr>
          <a:xfrm rot="-5400000">
            <a:off x="1495349" y="4011211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sp>
        <p:nvSpPr>
          <p:cNvPr id="11393" name="Google Shape;11393;p120"/>
          <p:cNvSpPr txBox="1"/>
          <p:nvPr/>
        </p:nvSpPr>
        <p:spPr>
          <a:xfrm rot="-5400000">
            <a:off x="1495348" y="5819374"/>
            <a:ext cx="5381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cxnSp>
        <p:nvCxnSpPr>
          <p:cNvPr id="11394" name="Google Shape;11394;p120"/>
          <p:cNvCxnSpPr/>
          <p:nvPr/>
        </p:nvCxnSpPr>
        <p:spPr>
          <a:xfrm>
            <a:off x="2196230" y="34008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5" name="Google Shape;11395;p120"/>
          <p:cNvCxnSpPr/>
          <p:nvPr/>
        </p:nvCxnSpPr>
        <p:spPr>
          <a:xfrm>
            <a:off x="1891430" y="36294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96" name="Google Shape;11396;p120"/>
          <p:cNvSpPr txBox="1"/>
          <p:nvPr/>
        </p:nvSpPr>
        <p:spPr>
          <a:xfrm>
            <a:off x="2196230" y="32436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397" name="Google Shape;11397;p120"/>
          <p:cNvSpPr txBox="1"/>
          <p:nvPr/>
        </p:nvSpPr>
        <p:spPr>
          <a:xfrm>
            <a:off x="1891430" y="3624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398" name="Google Shape;11398;p120"/>
          <p:cNvSpPr txBox="1"/>
          <p:nvPr/>
        </p:nvSpPr>
        <p:spPr>
          <a:xfrm>
            <a:off x="1891430" y="3929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399" name="Google Shape;11399;p120"/>
          <p:cNvSpPr txBox="1"/>
          <p:nvPr/>
        </p:nvSpPr>
        <p:spPr>
          <a:xfrm>
            <a:off x="1891430" y="4234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400" name="Google Shape;11400;p120"/>
          <p:cNvSpPr txBox="1"/>
          <p:nvPr/>
        </p:nvSpPr>
        <p:spPr>
          <a:xfrm>
            <a:off x="25010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1" name="Google Shape;11401;p120"/>
          <p:cNvSpPr txBox="1"/>
          <p:nvPr/>
        </p:nvSpPr>
        <p:spPr>
          <a:xfrm>
            <a:off x="28058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2" name="Google Shape;11402;p120"/>
          <p:cNvSpPr txBox="1"/>
          <p:nvPr/>
        </p:nvSpPr>
        <p:spPr>
          <a:xfrm>
            <a:off x="21962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3" name="Google Shape;11403;p120"/>
          <p:cNvSpPr txBox="1"/>
          <p:nvPr/>
        </p:nvSpPr>
        <p:spPr>
          <a:xfrm>
            <a:off x="2424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4" name="Google Shape;11404;p120"/>
          <p:cNvSpPr txBox="1"/>
          <p:nvPr/>
        </p:nvSpPr>
        <p:spPr>
          <a:xfrm>
            <a:off x="2805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5" name="Google Shape;11405;p120"/>
          <p:cNvSpPr txBox="1"/>
          <p:nvPr/>
        </p:nvSpPr>
        <p:spPr>
          <a:xfrm>
            <a:off x="2318468" y="3134117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cxnSp>
        <p:nvCxnSpPr>
          <p:cNvPr id="11406" name="Google Shape;11406;p120"/>
          <p:cNvCxnSpPr/>
          <p:nvPr/>
        </p:nvCxnSpPr>
        <p:spPr>
          <a:xfrm>
            <a:off x="2196230" y="52296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07" name="Google Shape;11407;p120"/>
          <p:cNvCxnSpPr/>
          <p:nvPr/>
        </p:nvCxnSpPr>
        <p:spPr>
          <a:xfrm>
            <a:off x="1891430" y="54582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8" name="Google Shape;11408;p120"/>
          <p:cNvSpPr txBox="1"/>
          <p:nvPr/>
        </p:nvSpPr>
        <p:spPr>
          <a:xfrm>
            <a:off x="2196230" y="50724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409" name="Google Shape;11409;p120"/>
          <p:cNvSpPr txBox="1"/>
          <p:nvPr/>
        </p:nvSpPr>
        <p:spPr>
          <a:xfrm>
            <a:off x="1891430" y="5453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410" name="Google Shape;11410;p120"/>
          <p:cNvSpPr txBox="1"/>
          <p:nvPr/>
        </p:nvSpPr>
        <p:spPr>
          <a:xfrm>
            <a:off x="1891430" y="5758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411" name="Google Shape;11411;p120"/>
          <p:cNvSpPr txBox="1"/>
          <p:nvPr/>
        </p:nvSpPr>
        <p:spPr>
          <a:xfrm>
            <a:off x="1891430" y="6063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412" name="Google Shape;11412;p120"/>
          <p:cNvSpPr txBox="1"/>
          <p:nvPr/>
        </p:nvSpPr>
        <p:spPr>
          <a:xfrm>
            <a:off x="2196230" y="5839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13" name="Google Shape;11413;p120"/>
          <p:cNvSpPr txBox="1"/>
          <p:nvPr/>
        </p:nvSpPr>
        <p:spPr>
          <a:xfrm>
            <a:off x="2424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14" name="Google Shape;11414;p120"/>
          <p:cNvSpPr txBox="1"/>
          <p:nvPr/>
        </p:nvSpPr>
        <p:spPr>
          <a:xfrm>
            <a:off x="2805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15" name="Google Shape;11415;p120"/>
          <p:cNvSpPr txBox="1"/>
          <p:nvPr/>
        </p:nvSpPr>
        <p:spPr>
          <a:xfrm>
            <a:off x="21962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1416" name="Google Shape;11416;p120"/>
          <p:cNvSpPr txBox="1"/>
          <p:nvPr/>
        </p:nvSpPr>
        <p:spPr>
          <a:xfrm>
            <a:off x="2424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417" name="Google Shape;11417;p120"/>
          <p:cNvSpPr txBox="1"/>
          <p:nvPr/>
        </p:nvSpPr>
        <p:spPr>
          <a:xfrm>
            <a:off x="2805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418" name="Google Shape;11418;p120"/>
          <p:cNvSpPr txBox="1"/>
          <p:nvPr/>
        </p:nvSpPr>
        <p:spPr>
          <a:xfrm>
            <a:off x="2340693" y="4940692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419" name="Google Shape;11419;p120"/>
          <p:cNvSpPr txBox="1"/>
          <p:nvPr/>
        </p:nvSpPr>
        <p:spPr>
          <a:xfrm>
            <a:off x="2200424" y="3658910"/>
            <a:ext cx="946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2   0   1</a:t>
            </a:r>
            <a:endParaRPr/>
          </a:p>
        </p:txBody>
      </p:sp>
      <p:sp>
        <p:nvSpPr>
          <p:cNvPr id="11420" name="Google Shape;11420;p120"/>
          <p:cNvSpPr txBox="1"/>
          <p:nvPr/>
        </p:nvSpPr>
        <p:spPr>
          <a:xfrm>
            <a:off x="2196230" y="5458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 ∞  ∞</a:t>
            </a:r>
            <a:endParaRPr/>
          </a:p>
        </p:txBody>
      </p:sp>
      <p:cxnSp>
        <p:nvCxnSpPr>
          <p:cNvPr id="11421" name="Google Shape;11421;p120"/>
          <p:cNvCxnSpPr/>
          <p:nvPr/>
        </p:nvCxnSpPr>
        <p:spPr>
          <a:xfrm>
            <a:off x="3186830" y="2181617"/>
            <a:ext cx="685800" cy="1524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2" name="Google Shape;11422;p120"/>
          <p:cNvCxnSpPr/>
          <p:nvPr/>
        </p:nvCxnSpPr>
        <p:spPr>
          <a:xfrm>
            <a:off x="3110630" y="2257817"/>
            <a:ext cx="685800" cy="312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3" name="Google Shape;11423;p120"/>
          <p:cNvCxnSpPr/>
          <p:nvPr/>
        </p:nvCxnSpPr>
        <p:spPr>
          <a:xfrm flipH="1" rot="10800000">
            <a:off x="3110630" y="2715017"/>
            <a:ext cx="762000" cy="12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4" name="Google Shape;11424;p120"/>
          <p:cNvCxnSpPr/>
          <p:nvPr/>
        </p:nvCxnSpPr>
        <p:spPr>
          <a:xfrm>
            <a:off x="3110630" y="4315217"/>
            <a:ext cx="609600" cy="114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5" name="Google Shape;11425;p120"/>
          <p:cNvCxnSpPr/>
          <p:nvPr/>
        </p:nvCxnSpPr>
        <p:spPr>
          <a:xfrm flipH="1" rot="10800000">
            <a:off x="3110630" y="2791217"/>
            <a:ext cx="838200" cy="342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6" name="Google Shape;11426;p120"/>
          <p:cNvCxnSpPr/>
          <p:nvPr/>
        </p:nvCxnSpPr>
        <p:spPr>
          <a:xfrm flipH="1" rot="10800000">
            <a:off x="3186830" y="4543817"/>
            <a:ext cx="762000" cy="17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427" name="Google Shape;11427;p120"/>
          <p:cNvGrpSpPr/>
          <p:nvPr/>
        </p:nvGrpSpPr>
        <p:grpSpPr>
          <a:xfrm>
            <a:off x="9037572" y="2949053"/>
            <a:ext cx="2184400" cy="1212850"/>
            <a:chOff x="2352" y="0"/>
            <a:chExt cx="1376" cy="764"/>
          </a:xfrm>
        </p:grpSpPr>
        <p:sp>
          <p:nvSpPr>
            <p:cNvPr id="11428" name="Google Shape;11428;p120"/>
            <p:cNvSpPr/>
            <p:nvPr/>
          </p:nvSpPr>
          <p:spPr>
            <a:xfrm>
              <a:off x="2352" y="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29" name="Google Shape;11429;p120"/>
            <p:cNvGrpSpPr/>
            <p:nvPr/>
          </p:nvGrpSpPr>
          <p:grpSpPr>
            <a:xfrm>
              <a:off x="2448" y="70"/>
              <a:ext cx="1161" cy="676"/>
              <a:chOff x="-17" y="1282"/>
              <a:chExt cx="1161" cy="676"/>
            </a:xfrm>
          </p:grpSpPr>
          <p:sp>
            <p:nvSpPr>
              <p:cNvPr id="11430" name="Google Shape;11430;p120"/>
              <p:cNvSpPr/>
              <p:nvPr/>
            </p:nvSpPr>
            <p:spPr>
              <a:xfrm>
                <a:off x="246" y="1476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1" name="Google Shape;11431;p120"/>
              <p:cNvSpPr/>
              <p:nvPr/>
            </p:nvSpPr>
            <p:spPr>
              <a:xfrm>
                <a:off x="-14" y="1712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432" name="Google Shape;11432;p120"/>
              <p:cNvCxnSpPr/>
              <p:nvPr/>
            </p:nvCxnSpPr>
            <p:spPr>
              <a:xfrm>
                <a:off x="-14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3" name="Google Shape;11433;p120"/>
              <p:cNvCxnSpPr/>
              <p:nvPr/>
            </p:nvCxnSpPr>
            <p:spPr>
              <a:xfrm>
                <a:off x="299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34" name="Google Shape;11434;p120"/>
              <p:cNvSpPr/>
              <p:nvPr/>
            </p:nvSpPr>
            <p:spPr>
              <a:xfrm>
                <a:off x="-14" y="1705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5" name="Google Shape;11435;p120"/>
              <p:cNvSpPr/>
              <p:nvPr/>
            </p:nvSpPr>
            <p:spPr>
              <a:xfrm>
                <a:off x="-17" y="1646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6" name="Google Shape;11436;p120"/>
              <p:cNvSpPr/>
              <p:nvPr/>
            </p:nvSpPr>
            <p:spPr>
              <a:xfrm>
                <a:off x="651" y="1476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7" name="Google Shape;11437;p120"/>
              <p:cNvSpPr/>
              <p:nvPr/>
            </p:nvSpPr>
            <p:spPr>
              <a:xfrm>
                <a:off x="303" y="1740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438" name="Google Shape;11438;p120"/>
              <p:cNvGrpSpPr/>
              <p:nvPr/>
            </p:nvGrpSpPr>
            <p:grpSpPr>
              <a:xfrm>
                <a:off x="39" y="1594"/>
                <a:ext cx="196" cy="250"/>
                <a:chOff x="2959" y="2425"/>
                <a:chExt cx="197" cy="250"/>
              </a:xfrm>
            </p:grpSpPr>
            <p:sp>
              <p:nvSpPr>
                <p:cNvPr id="11439" name="Google Shape;11439;p12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40" name="Google Shape;11440;p120"/>
                <p:cNvSpPr txBox="1"/>
                <p:nvPr/>
              </p:nvSpPr>
              <p:spPr>
                <a:xfrm>
                  <a:off x="2959" y="2425"/>
                  <a:ext cx="197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441" name="Google Shape;11441;p120"/>
              <p:cNvGrpSpPr/>
              <p:nvPr/>
            </p:nvGrpSpPr>
            <p:grpSpPr>
              <a:xfrm>
                <a:off x="828" y="1576"/>
                <a:ext cx="316" cy="288"/>
                <a:chOff x="1740" y="2272"/>
                <a:chExt cx="316" cy="288"/>
              </a:xfrm>
            </p:grpSpPr>
            <p:sp>
              <p:nvSpPr>
                <p:cNvPr id="11442" name="Google Shape;11442;p12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443" name="Google Shape;11443;p12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44" name="Google Shape;11444;p12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445" name="Google Shape;11445;p12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46" name="Google Shape;11446;p12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447" name="Google Shape;11447;p120"/>
                <p:cNvGrpSpPr/>
                <p:nvPr/>
              </p:nvGrpSpPr>
              <p:grpSpPr>
                <a:xfrm>
                  <a:off x="1795" y="2272"/>
                  <a:ext cx="212" cy="288"/>
                  <a:chOff x="2951" y="2395"/>
                  <a:chExt cx="213" cy="288"/>
                </a:xfrm>
              </p:grpSpPr>
              <p:sp>
                <p:nvSpPr>
                  <p:cNvPr id="11448" name="Google Shape;11448;p120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49" name="Google Shape;11449;p120"/>
                  <p:cNvSpPr txBox="1"/>
                  <p:nvPr/>
                </p:nvSpPr>
                <p:spPr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z</a:t>
                    </a:r>
                    <a:endParaRPr/>
                  </a:p>
                </p:txBody>
              </p:sp>
            </p:grpSp>
          </p:grpSp>
          <p:sp>
            <p:nvSpPr>
              <p:cNvPr id="11450" name="Google Shape;11450;p120"/>
              <p:cNvSpPr txBox="1"/>
              <p:nvPr/>
            </p:nvSpPr>
            <p:spPr>
              <a:xfrm>
                <a:off x="724" y="139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1" name="Google Shape;11451;p120"/>
              <p:cNvSpPr txBox="1"/>
              <p:nvPr/>
            </p:nvSpPr>
            <p:spPr>
              <a:xfrm>
                <a:off x="196" y="1394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2" name="Google Shape;11452;p120"/>
              <p:cNvSpPr txBox="1"/>
              <p:nvPr/>
            </p:nvSpPr>
            <p:spPr>
              <a:xfrm>
                <a:off x="481" y="172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453" name="Google Shape;11453;p120"/>
              <p:cNvGrpSpPr/>
              <p:nvPr/>
            </p:nvGrpSpPr>
            <p:grpSpPr>
              <a:xfrm>
                <a:off x="408" y="1282"/>
                <a:ext cx="316" cy="250"/>
                <a:chOff x="1740" y="2302"/>
                <a:chExt cx="316" cy="250"/>
              </a:xfrm>
            </p:grpSpPr>
            <p:sp>
              <p:nvSpPr>
                <p:cNvPr id="11454" name="Google Shape;11454;p12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455" name="Google Shape;11455;p12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56" name="Google Shape;11456;p12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457" name="Google Shape;11457;p12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58" name="Google Shape;11458;p12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459" name="Google Shape;11459;p120"/>
                <p:cNvGrpSpPr/>
                <p:nvPr/>
              </p:nvGrpSpPr>
              <p:grpSpPr>
                <a:xfrm>
                  <a:off x="1803" y="2302"/>
                  <a:ext cx="196" cy="250"/>
                  <a:chOff x="2958" y="2425"/>
                  <a:chExt cx="198" cy="250"/>
                </a:xfrm>
              </p:grpSpPr>
              <p:sp>
                <p:nvSpPr>
                  <p:cNvPr id="11460" name="Google Shape;11460;p120"/>
                  <p:cNvSpPr/>
                  <p:nvPr/>
                </p:nvSpPr>
                <p:spPr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61" name="Google Shape;11461;p120"/>
                  <p:cNvSpPr txBox="1"/>
                  <p:nvPr/>
                </p:nvSpPr>
                <p:spPr>
                  <a:xfrm>
                    <a:off x="2958" y="2425"/>
                    <a:ext cx="198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11462" name="Google Shape;11462;p120"/>
          <p:cNvSpPr txBox="1"/>
          <p:nvPr/>
        </p:nvSpPr>
        <p:spPr>
          <a:xfrm>
            <a:off x="1471097" y="1455629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463" name="Google Shape;11463;p120"/>
          <p:cNvSpPr/>
          <p:nvPr/>
        </p:nvSpPr>
        <p:spPr>
          <a:xfrm>
            <a:off x="2196230" y="18768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4" name="Google Shape;11464;p120"/>
          <p:cNvSpPr/>
          <p:nvPr/>
        </p:nvSpPr>
        <p:spPr>
          <a:xfrm>
            <a:off x="2196230" y="39342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5" name="Google Shape;11465;p120"/>
          <p:cNvSpPr/>
          <p:nvPr/>
        </p:nvSpPr>
        <p:spPr>
          <a:xfrm>
            <a:off x="2196230" y="61440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6" name="Google Shape;11466;p120"/>
          <p:cNvSpPr txBox="1"/>
          <p:nvPr/>
        </p:nvSpPr>
        <p:spPr>
          <a:xfrm>
            <a:off x="1499672" y="3214405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467" name="Google Shape;11467;p120"/>
          <p:cNvSpPr txBox="1"/>
          <p:nvPr/>
        </p:nvSpPr>
        <p:spPr>
          <a:xfrm>
            <a:off x="1480970" y="5037203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468" name="Google Shape;11468;p120"/>
          <p:cNvSpPr txBox="1"/>
          <p:nvPr/>
        </p:nvSpPr>
        <p:spPr>
          <a:xfrm rot="-5400000">
            <a:off x="1538212" y="2268136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grpSp>
        <p:nvGrpSpPr>
          <p:cNvPr id="11469" name="Google Shape;11469;p120"/>
          <p:cNvGrpSpPr/>
          <p:nvPr/>
        </p:nvGrpSpPr>
        <p:grpSpPr>
          <a:xfrm>
            <a:off x="3737691" y="1343416"/>
            <a:ext cx="3792538" cy="5105400"/>
            <a:chOff x="2760663" y="1143000"/>
            <a:chExt cx="3792538" cy="5105400"/>
          </a:xfrm>
        </p:grpSpPr>
        <p:cxnSp>
          <p:nvCxnSpPr>
            <p:cNvPr id="11470" name="Google Shape;11470;p120"/>
            <p:cNvCxnSpPr/>
            <p:nvPr/>
          </p:nvCxnSpPr>
          <p:spPr>
            <a:xfrm>
              <a:off x="5486400" y="15240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71" name="Google Shape;11471;p120"/>
            <p:cNvCxnSpPr/>
            <p:nvPr/>
          </p:nvCxnSpPr>
          <p:spPr>
            <a:xfrm>
              <a:off x="5181600" y="17526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72" name="Google Shape;11472;p120"/>
            <p:cNvSpPr txBox="1"/>
            <p:nvPr/>
          </p:nvSpPr>
          <p:spPr>
            <a:xfrm>
              <a:off x="5486400" y="13668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473" name="Google Shape;11473;p120"/>
            <p:cNvSpPr txBox="1"/>
            <p:nvPr/>
          </p:nvSpPr>
          <p:spPr>
            <a:xfrm>
              <a:off x="5181600" y="1747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474" name="Google Shape;11474;p120"/>
            <p:cNvSpPr txBox="1"/>
            <p:nvPr/>
          </p:nvSpPr>
          <p:spPr>
            <a:xfrm>
              <a:off x="5181600" y="2052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475" name="Google Shape;11475;p120"/>
            <p:cNvSpPr txBox="1"/>
            <p:nvPr/>
          </p:nvSpPr>
          <p:spPr>
            <a:xfrm>
              <a:off x="5181600" y="2357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476" name="Google Shape;11476;p120"/>
            <p:cNvSpPr txBox="1"/>
            <p:nvPr/>
          </p:nvSpPr>
          <p:spPr>
            <a:xfrm>
              <a:off x="5486400" y="1747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0  2   3</a:t>
              </a:r>
              <a:endParaRPr/>
            </a:p>
          </p:txBody>
        </p:sp>
        <p:sp>
          <p:nvSpPr>
            <p:cNvPr id="11477" name="Google Shape;11477;p120"/>
            <p:cNvSpPr txBox="1"/>
            <p:nvPr/>
          </p:nvSpPr>
          <p:spPr>
            <a:xfrm rot="-5400000">
              <a:off x="4820443" y="2167732"/>
              <a:ext cx="538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478" name="Google Shape;11478;p120"/>
            <p:cNvSpPr txBox="1"/>
            <p:nvPr/>
          </p:nvSpPr>
          <p:spPr>
            <a:xfrm>
              <a:off x="5608638" y="1223963"/>
              <a:ext cx="7064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479" name="Google Shape;11479;p120"/>
            <p:cNvCxnSpPr/>
            <p:nvPr/>
          </p:nvCxnSpPr>
          <p:spPr>
            <a:xfrm>
              <a:off x="3276600" y="32004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0" name="Google Shape;11480;p120"/>
            <p:cNvCxnSpPr/>
            <p:nvPr/>
          </p:nvCxnSpPr>
          <p:spPr>
            <a:xfrm>
              <a:off x="2971800" y="34290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81" name="Google Shape;11481;p120"/>
            <p:cNvSpPr txBox="1"/>
            <p:nvPr/>
          </p:nvSpPr>
          <p:spPr>
            <a:xfrm>
              <a:off x="3276600" y="30432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482" name="Google Shape;11482;p120"/>
            <p:cNvSpPr txBox="1"/>
            <p:nvPr/>
          </p:nvSpPr>
          <p:spPr>
            <a:xfrm>
              <a:off x="2971800" y="34242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483" name="Google Shape;11483;p120"/>
            <p:cNvSpPr txBox="1"/>
            <p:nvPr/>
          </p:nvSpPr>
          <p:spPr>
            <a:xfrm>
              <a:off x="2971800" y="37290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484" name="Google Shape;11484;p120"/>
            <p:cNvSpPr txBox="1"/>
            <p:nvPr/>
          </p:nvSpPr>
          <p:spPr>
            <a:xfrm>
              <a:off x="2971800" y="4033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485" name="Google Shape;11485;p120"/>
            <p:cNvSpPr txBox="1"/>
            <p:nvPr/>
          </p:nvSpPr>
          <p:spPr>
            <a:xfrm>
              <a:off x="3276600" y="34242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0  2   7</a:t>
              </a:r>
              <a:endParaRPr/>
            </a:p>
          </p:txBody>
        </p:sp>
        <p:sp>
          <p:nvSpPr>
            <p:cNvPr id="11486" name="Google Shape;11486;p120"/>
            <p:cNvSpPr txBox="1"/>
            <p:nvPr/>
          </p:nvSpPr>
          <p:spPr>
            <a:xfrm rot="-5400000">
              <a:off x="2643981" y="3821907"/>
              <a:ext cx="538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487" name="Google Shape;11487;p120"/>
            <p:cNvSpPr txBox="1"/>
            <p:nvPr/>
          </p:nvSpPr>
          <p:spPr>
            <a:xfrm>
              <a:off x="3421063" y="2900363"/>
              <a:ext cx="7064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488" name="Google Shape;11488;p120"/>
            <p:cNvCxnSpPr/>
            <p:nvPr/>
          </p:nvCxnSpPr>
          <p:spPr>
            <a:xfrm>
              <a:off x="5486400" y="32766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9" name="Google Shape;11489;p120"/>
            <p:cNvCxnSpPr/>
            <p:nvPr/>
          </p:nvCxnSpPr>
          <p:spPr>
            <a:xfrm>
              <a:off x="5181600" y="35052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90" name="Google Shape;11490;p120"/>
            <p:cNvSpPr txBox="1"/>
            <p:nvPr/>
          </p:nvSpPr>
          <p:spPr>
            <a:xfrm>
              <a:off x="5486400" y="31194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491" name="Google Shape;11491;p120"/>
            <p:cNvSpPr txBox="1"/>
            <p:nvPr/>
          </p:nvSpPr>
          <p:spPr>
            <a:xfrm>
              <a:off x="5181600" y="3500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492" name="Google Shape;11492;p120"/>
            <p:cNvSpPr txBox="1"/>
            <p:nvPr/>
          </p:nvSpPr>
          <p:spPr>
            <a:xfrm>
              <a:off x="5181600" y="38052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493" name="Google Shape;11493;p120"/>
            <p:cNvSpPr txBox="1"/>
            <p:nvPr/>
          </p:nvSpPr>
          <p:spPr>
            <a:xfrm>
              <a:off x="5181600" y="41100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494" name="Google Shape;11494;p120"/>
            <p:cNvSpPr txBox="1"/>
            <p:nvPr/>
          </p:nvSpPr>
          <p:spPr>
            <a:xfrm>
              <a:off x="5486400" y="35004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0  2   3</a:t>
              </a:r>
              <a:endParaRPr/>
            </a:p>
          </p:txBody>
        </p:sp>
        <p:sp>
          <p:nvSpPr>
            <p:cNvPr id="11495" name="Google Shape;11495;p120"/>
            <p:cNvSpPr txBox="1"/>
            <p:nvPr/>
          </p:nvSpPr>
          <p:spPr>
            <a:xfrm rot="-5400000">
              <a:off x="4820443" y="3898107"/>
              <a:ext cx="538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496" name="Google Shape;11496;p120"/>
            <p:cNvSpPr txBox="1"/>
            <p:nvPr/>
          </p:nvSpPr>
          <p:spPr>
            <a:xfrm>
              <a:off x="5597525" y="2965450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497" name="Google Shape;11497;p120"/>
            <p:cNvCxnSpPr/>
            <p:nvPr/>
          </p:nvCxnSpPr>
          <p:spPr>
            <a:xfrm>
              <a:off x="5410200" y="49530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98" name="Google Shape;11498;p120"/>
            <p:cNvCxnSpPr/>
            <p:nvPr/>
          </p:nvCxnSpPr>
          <p:spPr>
            <a:xfrm>
              <a:off x="5105400" y="51816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99" name="Google Shape;11499;p120"/>
            <p:cNvSpPr txBox="1"/>
            <p:nvPr/>
          </p:nvSpPr>
          <p:spPr>
            <a:xfrm>
              <a:off x="5410200" y="47958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500" name="Google Shape;11500;p120"/>
            <p:cNvSpPr txBox="1"/>
            <p:nvPr/>
          </p:nvSpPr>
          <p:spPr>
            <a:xfrm>
              <a:off x="5105400" y="5176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501" name="Google Shape;11501;p120"/>
            <p:cNvSpPr txBox="1"/>
            <p:nvPr/>
          </p:nvSpPr>
          <p:spPr>
            <a:xfrm>
              <a:off x="5105400" y="5481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502" name="Google Shape;11502;p120"/>
            <p:cNvSpPr txBox="1"/>
            <p:nvPr/>
          </p:nvSpPr>
          <p:spPr>
            <a:xfrm>
              <a:off x="5105400" y="5786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503" name="Google Shape;11503;p120"/>
            <p:cNvSpPr txBox="1"/>
            <p:nvPr/>
          </p:nvSpPr>
          <p:spPr>
            <a:xfrm>
              <a:off x="5410200" y="5176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0  2   3</a:t>
              </a:r>
              <a:endParaRPr/>
            </a:p>
          </p:txBody>
        </p:sp>
        <p:sp>
          <p:nvSpPr>
            <p:cNvPr id="11504" name="Google Shape;11504;p120"/>
            <p:cNvSpPr txBox="1"/>
            <p:nvPr/>
          </p:nvSpPr>
          <p:spPr>
            <a:xfrm rot="-5400000">
              <a:off x="4755357" y="5563394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505" name="Google Shape;11505;p120"/>
            <p:cNvSpPr txBox="1"/>
            <p:nvPr/>
          </p:nvSpPr>
          <p:spPr>
            <a:xfrm>
              <a:off x="5521325" y="4664075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506" name="Google Shape;11506;p120"/>
            <p:cNvCxnSpPr/>
            <p:nvPr/>
          </p:nvCxnSpPr>
          <p:spPr>
            <a:xfrm>
              <a:off x="3276600" y="49530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07" name="Google Shape;11507;p120"/>
            <p:cNvCxnSpPr/>
            <p:nvPr/>
          </p:nvCxnSpPr>
          <p:spPr>
            <a:xfrm>
              <a:off x="2971800" y="51816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08" name="Google Shape;11508;p120"/>
            <p:cNvSpPr txBox="1"/>
            <p:nvPr/>
          </p:nvSpPr>
          <p:spPr>
            <a:xfrm>
              <a:off x="3276600" y="47958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509" name="Google Shape;11509;p120"/>
            <p:cNvSpPr txBox="1"/>
            <p:nvPr/>
          </p:nvSpPr>
          <p:spPr>
            <a:xfrm>
              <a:off x="2971800" y="5176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510" name="Google Shape;11510;p120"/>
            <p:cNvSpPr txBox="1"/>
            <p:nvPr/>
          </p:nvSpPr>
          <p:spPr>
            <a:xfrm>
              <a:off x="2971800" y="5481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511" name="Google Shape;11511;p120"/>
            <p:cNvSpPr txBox="1"/>
            <p:nvPr/>
          </p:nvSpPr>
          <p:spPr>
            <a:xfrm>
              <a:off x="2971800" y="5786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512" name="Google Shape;11512;p120"/>
            <p:cNvSpPr txBox="1"/>
            <p:nvPr/>
          </p:nvSpPr>
          <p:spPr>
            <a:xfrm>
              <a:off x="3276600" y="5176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0  2   7</a:t>
              </a:r>
              <a:endParaRPr/>
            </a:p>
          </p:txBody>
        </p:sp>
        <p:sp>
          <p:nvSpPr>
            <p:cNvPr id="11513" name="Google Shape;11513;p120"/>
            <p:cNvSpPr txBox="1"/>
            <p:nvPr/>
          </p:nvSpPr>
          <p:spPr>
            <a:xfrm rot="-5400000">
              <a:off x="2643982" y="5531644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514" name="Google Shape;11514;p120"/>
            <p:cNvSpPr txBox="1"/>
            <p:nvPr/>
          </p:nvSpPr>
          <p:spPr>
            <a:xfrm>
              <a:off x="3409950" y="4664075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sp>
          <p:nvSpPr>
            <p:cNvPr id="11515" name="Google Shape;11515;p120"/>
            <p:cNvSpPr txBox="1"/>
            <p:nvPr/>
          </p:nvSpPr>
          <p:spPr>
            <a:xfrm>
              <a:off x="3276600" y="3771900"/>
              <a:ext cx="8826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16" name="Google Shape;11516;p120"/>
            <p:cNvSpPr txBox="1"/>
            <p:nvPr/>
          </p:nvSpPr>
          <p:spPr>
            <a:xfrm>
              <a:off x="3276600" y="4110038"/>
              <a:ext cx="946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7   1   0</a:t>
              </a:r>
              <a:endParaRPr/>
            </a:p>
          </p:txBody>
        </p:sp>
        <p:sp>
          <p:nvSpPr>
            <p:cNvPr id="11517" name="Google Shape;11517;p120"/>
            <p:cNvSpPr txBox="1"/>
            <p:nvPr/>
          </p:nvSpPr>
          <p:spPr>
            <a:xfrm>
              <a:off x="3276600" y="5557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18" name="Google Shape;11518;p120"/>
            <p:cNvSpPr txBox="1"/>
            <p:nvPr/>
          </p:nvSpPr>
          <p:spPr>
            <a:xfrm>
              <a:off x="3276600" y="5862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sp>
          <p:nvSpPr>
            <p:cNvPr id="11519" name="Google Shape;11519;p120"/>
            <p:cNvSpPr txBox="1"/>
            <p:nvPr/>
          </p:nvSpPr>
          <p:spPr>
            <a:xfrm>
              <a:off x="5486400" y="2095500"/>
              <a:ext cx="946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2   0   1</a:t>
              </a:r>
              <a:endParaRPr/>
            </a:p>
          </p:txBody>
        </p:sp>
        <p:sp>
          <p:nvSpPr>
            <p:cNvPr id="11520" name="Google Shape;11520;p120"/>
            <p:cNvSpPr txBox="1"/>
            <p:nvPr/>
          </p:nvSpPr>
          <p:spPr>
            <a:xfrm>
              <a:off x="5486400" y="2433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sp>
          <p:nvSpPr>
            <p:cNvPr id="11521" name="Google Shape;11521;p120"/>
            <p:cNvSpPr txBox="1"/>
            <p:nvPr/>
          </p:nvSpPr>
          <p:spPr>
            <a:xfrm>
              <a:off x="5486400" y="3825875"/>
              <a:ext cx="8826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22" name="Google Shape;11522;p120"/>
            <p:cNvSpPr txBox="1"/>
            <p:nvPr/>
          </p:nvSpPr>
          <p:spPr>
            <a:xfrm>
              <a:off x="5410200" y="5862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sp>
          <p:nvSpPr>
            <p:cNvPr id="11523" name="Google Shape;11523;p120"/>
            <p:cNvSpPr txBox="1"/>
            <p:nvPr/>
          </p:nvSpPr>
          <p:spPr>
            <a:xfrm>
              <a:off x="5410200" y="5481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24" name="Google Shape;11524;p120"/>
            <p:cNvSpPr txBox="1"/>
            <p:nvPr/>
          </p:nvSpPr>
          <p:spPr>
            <a:xfrm>
              <a:off x="5486400" y="41100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cxnSp>
          <p:nvCxnSpPr>
            <p:cNvPr id="11525" name="Google Shape;11525;p120"/>
            <p:cNvCxnSpPr/>
            <p:nvPr/>
          </p:nvCxnSpPr>
          <p:spPr>
            <a:xfrm>
              <a:off x="4267200" y="1981200"/>
              <a:ext cx="762000" cy="160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26" name="Google Shape;11526;p120"/>
            <p:cNvCxnSpPr/>
            <p:nvPr/>
          </p:nvCxnSpPr>
          <p:spPr>
            <a:xfrm>
              <a:off x="4191000" y="2057400"/>
              <a:ext cx="838200" cy="2971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27" name="Google Shape;11527;p120"/>
            <p:cNvCxnSpPr/>
            <p:nvPr/>
          </p:nvCxnSpPr>
          <p:spPr>
            <a:xfrm flipH="1" rot="10800000">
              <a:off x="4114800" y="2743200"/>
              <a:ext cx="1143000" cy="3200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28" name="Google Shape;11528;p120"/>
            <p:cNvCxnSpPr/>
            <p:nvPr/>
          </p:nvCxnSpPr>
          <p:spPr>
            <a:xfrm flipH="1" rot="10800000">
              <a:off x="4114800" y="4419600"/>
              <a:ext cx="1066800" cy="167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29" name="Google Shape;11529;p120"/>
            <p:cNvSpPr/>
            <p:nvPr/>
          </p:nvSpPr>
          <p:spPr>
            <a:xfrm>
              <a:off x="3200400" y="5867400"/>
              <a:ext cx="1066800" cy="38100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0" name="Google Shape;11530;p120"/>
            <p:cNvSpPr txBox="1"/>
            <p:nvPr/>
          </p:nvSpPr>
          <p:spPr>
            <a:xfrm rot="-5400000">
              <a:off x="2650332" y="2026444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cxnSp>
          <p:nvCxnSpPr>
            <p:cNvPr id="11531" name="Google Shape;11531;p120"/>
            <p:cNvCxnSpPr/>
            <p:nvPr/>
          </p:nvCxnSpPr>
          <p:spPr>
            <a:xfrm>
              <a:off x="3276600" y="14478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2" name="Google Shape;11532;p120"/>
            <p:cNvCxnSpPr/>
            <p:nvPr/>
          </p:nvCxnSpPr>
          <p:spPr>
            <a:xfrm>
              <a:off x="2971800" y="16764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33" name="Google Shape;11533;p120"/>
            <p:cNvSpPr txBox="1"/>
            <p:nvPr/>
          </p:nvSpPr>
          <p:spPr>
            <a:xfrm>
              <a:off x="3276600" y="12906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534" name="Google Shape;11534;p120"/>
            <p:cNvSpPr txBox="1"/>
            <p:nvPr/>
          </p:nvSpPr>
          <p:spPr>
            <a:xfrm>
              <a:off x="2971800" y="1671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535" name="Google Shape;11535;p120"/>
            <p:cNvSpPr txBox="1"/>
            <p:nvPr/>
          </p:nvSpPr>
          <p:spPr>
            <a:xfrm>
              <a:off x="2971800" y="1976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536" name="Google Shape;11536;p120"/>
            <p:cNvSpPr txBox="1"/>
            <p:nvPr/>
          </p:nvSpPr>
          <p:spPr>
            <a:xfrm>
              <a:off x="2971800" y="22812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537" name="Google Shape;11537;p120"/>
            <p:cNvSpPr txBox="1"/>
            <p:nvPr/>
          </p:nvSpPr>
          <p:spPr>
            <a:xfrm>
              <a:off x="3297238" y="1671638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1538" name="Google Shape;11538;p120"/>
            <p:cNvSpPr txBox="1"/>
            <p:nvPr/>
          </p:nvSpPr>
          <p:spPr>
            <a:xfrm>
              <a:off x="3260725" y="2006600"/>
              <a:ext cx="946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2   0   1</a:t>
              </a:r>
              <a:endParaRPr/>
            </a:p>
          </p:txBody>
        </p:sp>
        <p:sp>
          <p:nvSpPr>
            <p:cNvPr id="11539" name="Google Shape;11539;p120"/>
            <p:cNvSpPr txBox="1"/>
            <p:nvPr/>
          </p:nvSpPr>
          <p:spPr>
            <a:xfrm>
              <a:off x="3260725" y="2322513"/>
              <a:ext cx="946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7   1   0</a:t>
              </a:r>
              <a:endParaRPr/>
            </a:p>
          </p:txBody>
        </p:sp>
        <p:sp>
          <p:nvSpPr>
            <p:cNvPr id="11540" name="Google Shape;11540;p120"/>
            <p:cNvSpPr/>
            <p:nvPr/>
          </p:nvSpPr>
          <p:spPr>
            <a:xfrm>
              <a:off x="3297238" y="1676400"/>
              <a:ext cx="1066800" cy="38100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1" name="Google Shape;11541;p120"/>
            <p:cNvSpPr txBox="1"/>
            <p:nvPr/>
          </p:nvSpPr>
          <p:spPr>
            <a:xfrm>
              <a:off x="3922713" y="1674813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1542" name="Google Shape;11542;p120"/>
            <p:cNvSpPr txBox="1"/>
            <p:nvPr/>
          </p:nvSpPr>
          <p:spPr>
            <a:xfrm>
              <a:off x="3579813" y="1679575"/>
              <a:ext cx="34290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/>
            </a:p>
          </p:txBody>
        </p:sp>
        <p:sp>
          <p:nvSpPr>
            <p:cNvPr id="11543" name="Google Shape;11543;p120"/>
            <p:cNvSpPr txBox="1"/>
            <p:nvPr/>
          </p:nvSpPr>
          <p:spPr>
            <a:xfrm>
              <a:off x="3413125" y="1143000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</p:grpSp>
      <p:cxnSp>
        <p:nvCxnSpPr>
          <p:cNvPr id="11544" name="Google Shape;11544;p120"/>
          <p:cNvCxnSpPr/>
          <p:nvPr/>
        </p:nvCxnSpPr>
        <p:spPr>
          <a:xfrm>
            <a:off x="1586630" y="6545655"/>
            <a:ext cx="6417502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1545" name="Google Shape;11545;p120"/>
          <p:cNvSpPr txBox="1"/>
          <p:nvPr/>
        </p:nvSpPr>
        <p:spPr>
          <a:xfrm>
            <a:off x="7960443" y="6337692"/>
            <a:ext cx="615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