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Tahoma"/>
      <p:regular r:id="rId11"/>
      <p:bold r:id="rId12"/>
    </p:embeddedFont>
    <p:embeddedFont>
      <p:font typeface="Noto Sans Symbols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Tahoma-regular.fntdata"/><Relationship Id="rId10" Type="http://schemas.openxmlformats.org/officeDocument/2006/relationships/slide" Target="slides/slide6.xml"/><Relationship Id="rId13" Type="http://schemas.openxmlformats.org/officeDocument/2006/relationships/font" Target="fonts/NotoSansSymbols-regular.fntdata"/><Relationship Id="rId12" Type="http://schemas.openxmlformats.org/officeDocument/2006/relationships/font" Target="fonts/Tahom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NotoSansSymbol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 We’ll start with the simplest case possible - an unreliable channel that is, in fact perfect – no segments are lost, corrupted, dupplicated or reordered.  The sender just sends and it pops out the other side(perhaps after some delay) perfectly.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see the familiar four state sender from our rdt 2.1 and 2.2 protocols. Top two states when sending packet with zero seq # and bottom two </a:t>
            </a:r>
            <a:endParaRPr/>
          </a:p>
        </p:txBody>
      </p:sp>
      <p:sp>
        <p:nvSpPr>
          <p:cNvPr id="310" name="Google Shape;3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rdt1.0: </a:t>
            </a:r>
            <a:r>
              <a:rPr lang="en-US" sz="4400"/>
              <a:t>reliable transfer over a reliable channel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2744397" y="1347111"/>
            <a:ext cx="611187" cy="1027112"/>
          </a:xfrm>
          <a:custGeom>
            <a:rect b="b" l="l" r="r" t="t"/>
            <a:pathLst>
              <a:path extrusionOk="0" h="1080" w="735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145318" y="1768133"/>
            <a:ext cx="2682875" cy="598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= make_pkt(data)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udt_send(packet)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2" name="Google Shape;92;p13"/>
          <p:cNvGrpSpPr/>
          <p:nvPr/>
        </p:nvGrpSpPr>
        <p:grpSpPr>
          <a:xfrm>
            <a:off x="3155559" y="1391561"/>
            <a:ext cx="2255838" cy="428625"/>
            <a:chOff x="3084121" y="4379374"/>
            <a:chExt cx="2255838" cy="428625"/>
          </a:xfrm>
        </p:grpSpPr>
        <p:sp>
          <p:nvSpPr>
            <p:cNvPr id="93" name="Google Shape;93;p13"/>
            <p:cNvSpPr txBox="1"/>
            <p:nvPr/>
          </p:nvSpPr>
          <p:spPr>
            <a:xfrm>
              <a:off x="3084121" y="4379374"/>
              <a:ext cx="2255838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rdt_send(data)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4" name="Google Shape;94;p13"/>
            <p:cNvCxnSpPr/>
            <p:nvPr/>
          </p:nvCxnSpPr>
          <p:spPr>
            <a:xfrm>
              <a:off x="3184134" y="4722274"/>
              <a:ext cx="1296987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5" name="Google Shape;95;p13"/>
          <p:cNvSpPr txBox="1"/>
          <p:nvPr/>
        </p:nvSpPr>
        <p:spPr>
          <a:xfrm>
            <a:off x="9475204" y="1783359"/>
            <a:ext cx="248761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extract (packet,data)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deliver_data(data)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9065629" y="1386484"/>
            <a:ext cx="611187" cy="1027113"/>
          </a:xfrm>
          <a:custGeom>
            <a:rect b="b" l="l" r="r" t="t"/>
            <a:pathLst>
              <a:path extrusionOk="0" h="1080" w="735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7" name="Google Shape;97;p13"/>
          <p:cNvGrpSpPr/>
          <p:nvPr/>
        </p:nvGrpSpPr>
        <p:grpSpPr>
          <a:xfrm>
            <a:off x="9491079" y="1462684"/>
            <a:ext cx="1541462" cy="336550"/>
            <a:chOff x="9419641" y="4450497"/>
            <a:chExt cx="1541462" cy="336550"/>
          </a:xfrm>
        </p:grpSpPr>
        <p:cxnSp>
          <p:nvCxnSpPr>
            <p:cNvPr id="98" name="Google Shape;98;p13"/>
            <p:cNvCxnSpPr/>
            <p:nvPr/>
          </p:nvCxnSpPr>
          <p:spPr>
            <a:xfrm>
              <a:off x="9505366" y="4774347"/>
              <a:ext cx="1296987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9" name="Google Shape;99;p13"/>
            <p:cNvSpPr/>
            <p:nvPr/>
          </p:nvSpPr>
          <p:spPr>
            <a:xfrm>
              <a:off x="9419641" y="4450497"/>
              <a:ext cx="1541462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rdt_rcv(packet)</a:t>
              </a:r>
              <a:endParaRPr/>
            </a:p>
          </p:txBody>
        </p:sp>
      </p:grpSp>
      <p:grpSp>
        <p:nvGrpSpPr>
          <p:cNvPr id="100" name="Google Shape;100;p13"/>
          <p:cNvGrpSpPr/>
          <p:nvPr/>
        </p:nvGrpSpPr>
        <p:grpSpPr>
          <a:xfrm>
            <a:off x="6706013" y="1386484"/>
            <a:ext cx="2496141" cy="1027113"/>
            <a:chOff x="6075775" y="5479197"/>
            <a:chExt cx="2496141" cy="1027113"/>
          </a:xfrm>
        </p:grpSpPr>
        <p:sp>
          <p:nvSpPr>
            <p:cNvPr id="101" name="Google Shape;101;p13"/>
            <p:cNvSpPr/>
            <p:nvPr/>
          </p:nvSpPr>
          <p:spPr>
            <a:xfrm>
              <a:off x="7536866" y="5495072"/>
              <a:ext cx="955675" cy="1011238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" name="Google Shape;102;p13"/>
            <p:cNvSpPr txBox="1"/>
            <p:nvPr/>
          </p:nvSpPr>
          <p:spPr>
            <a:xfrm>
              <a:off x="7473366" y="5580797"/>
              <a:ext cx="1098550" cy="9128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call from below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3" name="Google Shape;103;p13"/>
            <p:cNvCxnSpPr/>
            <p:nvPr/>
          </p:nvCxnSpPr>
          <p:spPr>
            <a:xfrm>
              <a:off x="7213016" y="5479197"/>
              <a:ext cx="385762" cy="2428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sp>
          <p:nvSpPr>
            <p:cNvPr id="104" name="Google Shape;104;p13"/>
            <p:cNvSpPr txBox="1"/>
            <p:nvPr/>
          </p:nvSpPr>
          <p:spPr>
            <a:xfrm>
              <a:off x="6075775" y="5745404"/>
              <a:ext cx="12477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rgbClr val="CC0000"/>
                  </a:solidFill>
                  <a:latin typeface="Tahoma"/>
                  <a:ea typeface="Tahoma"/>
                  <a:cs typeface="Tahoma"/>
                  <a:sym typeface="Tahoma"/>
                </a:rPr>
                <a:t>receiver</a:t>
              </a:r>
              <a:endParaRPr/>
            </a:p>
          </p:txBody>
        </p:sp>
      </p:grpSp>
      <p:grpSp>
        <p:nvGrpSpPr>
          <p:cNvPr id="105" name="Google Shape;105;p13"/>
          <p:cNvGrpSpPr/>
          <p:nvPr/>
        </p:nvGrpSpPr>
        <p:grpSpPr>
          <a:xfrm>
            <a:off x="600478" y="1321711"/>
            <a:ext cx="2271310" cy="1027112"/>
            <a:chOff x="262340" y="5579524"/>
            <a:chExt cx="2271310" cy="1027112"/>
          </a:xfrm>
        </p:grpSpPr>
        <p:grpSp>
          <p:nvGrpSpPr>
            <p:cNvPr id="106" name="Google Shape;106;p13"/>
            <p:cNvGrpSpPr/>
            <p:nvPr/>
          </p:nvGrpSpPr>
          <p:grpSpPr>
            <a:xfrm>
              <a:off x="262340" y="5579524"/>
              <a:ext cx="2201069" cy="1027112"/>
              <a:chOff x="795740" y="4614324"/>
              <a:chExt cx="2201069" cy="1027112"/>
            </a:xfrm>
          </p:grpSpPr>
          <p:cxnSp>
            <p:nvCxnSpPr>
              <p:cNvPr id="107" name="Google Shape;107;p13"/>
              <p:cNvCxnSpPr/>
              <p:nvPr/>
            </p:nvCxnSpPr>
            <p:spPr>
              <a:xfrm>
                <a:off x="1717284" y="4614324"/>
                <a:ext cx="385762" cy="24288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8" name="Google Shape;108;p13"/>
              <p:cNvSpPr txBox="1"/>
              <p:nvPr/>
            </p:nvSpPr>
            <p:spPr>
              <a:xfrm>
                <a:off x="795740" y="4985781"/>
                <a:ext cx="108902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400"/>
                  <a:buFont typeface="Tahoma"/>
                  <a:buNone/>
                </a:pPr>
                <a:r>
                  <a:rPr b="0" i="0" lang="en-US" sz="2400" u="none" cap="none" strike="noStrike">
                    <a:solidFill>
                      <a:srgbClr val="CC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sender</a:t>
                </a:r>
                <a:endParaRPr/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2041134" y="4630199"/>
                <a:ext cx="955675" cy="1011237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10" name="Google Shape;110;p13"/>
            <p:cNvSpPr txBox="1"/>
            <p:nvPr/>
          </p:nvSpPr>
          <p:spPr>
            <a:xfrm>
              <a:off x="1435100" y="5693824"/>
              <a:ext cx="1098550" cy="912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call from above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Transport Layer: 3-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862191" y="2576100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rdt2.0: FSM specifications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1981812" y="4810690"/>
            <a:ext cx="985837" cy="962025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1880212" y="4894828"/>
            <a:ext cx="1200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Wait for call from above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5" name="Google Shape;115;p13"/>
          <p:cNvGrpSpPr/>
          <p:nvPr/>
        </p:nvGrpSpPr>
        <p:grpSpPr>
          <a:xfrm>
            <a:off x="3577249" y="4823390"/>
            <a:ext cx="1074738" cy="962025"/>
            <a:chOff x="1540" y="2116"/>
            <a:chExt cx="677" cy="606"/>
          </a:xfrm>
        </p:grpSpPr>
        <p:sp>
          <p:nvSpPr>
            <p:cNvPr id="116" name="Google Shape;116;p13"/>
            <p:cNvSpPr/>
            <p:nvPr/>
          </p:nvSpPr>
          <p:spPr>
            <a:xfrm>
              <a:off x="1565" y="2116"/>
              <a:ext cx="621" cy="606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7" name="Google Shape;117;p13"/>
            <p:cNvSpPr txBox="1"/>
            <p:nvPr/>
          </p:nvSpPr>
          <p:spPr>
            <a:xfrm>
              <a:off x="1540" y="2163"/>
              <a:ext cx="677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ACK or NAK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8" name="Google Shape;118;p13"/>
          <p:cNvGrpSpPr/>
          <p:nvPr/>
        </p:nvGrpSpPr>
        <p:grpSpPr>
          <a:xfrm>
            <a:off x="2289787" y="3801040"/>
            <a:ext cx="3643312" cy="1027113"/>
            <a:chOff x="2756926" y="1340193"/>
            <a:chExt cx="3643312" cy="1027113"/>
          </a:xfrm>
        </p:grpSpPr>
        <p:sp>
          <p:nvSpPr>
            <p:cNvPr id="119" name="Google Shape;119;p13"/>
            <p:cNvSpPr txBox="1"/>
            <p:nvPr/>
          </p:nvSpPr>
          <p:spPr>
            <a:xfrm>
              <a:off x="2756926" y="1630706"/>
              <a:ext cx="3643312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snkpkt = make_pkt(data, checksum)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0" name="Google Shape;120;p13"/>
            <p:cNvCxnSpPr/>
            <p:nvPr/>
          </p:nvCxnSpPr>
          <p:spPr>
            <a:xfrm>
              <a:off x="2861701" y="1675156"/>
              <a:ext cx="990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1" name="Google Shape;121;p13"/>
            <p:cNvSpPr/>
            <p:nvPr/>
          </p:nvSpPr>
          <p:spPr>
            <a:xfrm flipH="1" rot="10800000">
              <a:off x="2809313" y="2119656"/>
              <a:ext cx="1800225" cy="247650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 txBox="1"/>
            <p:nvPr/>
          </p:nvSpPr>
          <p:spPr>
            <a:xfrm>
              <a:off x="2782326" y="1340193"/>
              <a:ext cx="2255837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rdt_send(data)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3" name="Google Shape;123;p13"/>
          <p:cNvGrpSpPr/>
          <p:nvPr/>
        </p:nvGrpSpPr>
        <p:grpSpPr>
          <a:xfrm>
            <a:off x="1803218" y="5744185"/>
            <a:ext cx="3548062" cy="989290"/>
            <a:chOff x="2270357" y="3283338"/>
            <a:chExt cx="3548062" cy="989290"/>
          </a:xfrm>
        </p:grpSpPr>
        <p:sp>
          <p:nvSpPr>
            <p:cNvPr id="124" name="Google Shape;124;p13"/>
            <p:cNvSpPr/>
            <p:nvPr/>
          </p:nvSpPr>
          <p:spPr>
            <a:xfrm>
              <a:off x="2882338" y="3283338"/>
              <a:ext cx="1800225" cy="247650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grpSp>
          <p:nvGrpSpPr>
            <p:cNvPr id="125" name="Google Shape;125;p13"/>
            <p:cNvGrpSpPr/>
            <p:nvPr/>
          </p:nvGrpSpPr>
          <p:grpSpPr>
            <a:xfrm>
              <a:off x="2270357" y="3545923"/>
              <a:ext cx="3548062" cy="726705"/>
              <a:chOff x="2270357" y="3545923"/>
              <a:chExt cx="3548062" cy="726705"/>
            </a:xfrm>
          </p:grpSpPr>
          <p:sp>
            <p:nvSpPr>
              <p:cNvPr id="126" name="Google Shape;126;p13"/>
              <p:cNvSpPr txBox="1"/>
              <p:nvPr/>
            </p:nvSpPr>
            <p:spPr>
              <a:xfrm>
                <a:off x="2270357" y="3545923"/>
                <a:ext cx="3548062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rdt_rcv(rcvpkt) &amp;&amp; isACK(rcvpkt)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27" name="Google Shape;127;p13"/>
              <p:cNvCxnSpPr/>
              <p:nvPr/>
            </p:nvCxnSpPr>
            <p:spPr>
              <a:xfrm>
                <a:off x="3330476" y="3919619"/>
                <a:ext cx="990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8" name="Google Shape;128;p13"/>
              <p:cNvSpPr txBox="1"/>
              <p:nvPr/>
            </p:nvSpPr>
            <p:spPr>
              <a:xfrm>
                <a:off x="3665151" y="3936078"/>
                <a:ext cx="323850" cy="336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Noto Sans Symbols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Λ</a:t>
                </a:r>
                <a:endParaRPr/>
              </a:p>
            </p:txBody>
          </p:sp>
        </p:grpSp>
      </p:grpSp>
      <p:sp>
        <p:nvSpPr>
          <p:cNvPr id="129" name="Google Shape;129;p13"/>
          <p:cNvSpPr txBox="1"/>
          <p:nvPr/>
        </p:nvSpPr>
        <p:spPr>
          <a:xfrm>
            <a:off x="695927" y="4978571"/>
            <a:ext cx="1089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rPr>
              <a:t>sender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4821338" y="4615428"/>
            <a:ext cx="2085975" cy="63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rdt_rcv(rcvpkt) &amp;&amp;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isNAK(rcvpkt)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1" name="Google Shape;131;p13"/>
          <p:cNvCxnSpPr/>
          <p:nvPr/>
        </p:nvCxnSpPr>
        <p:spPr>
          <a:xfrm>
            <a:off x="1732574" y="4637213"/>
            <a:ext cx="433388" cy="244475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32" name="Google Shape;132;p13"/>
          <p:cNvSpPr/>
          <p:nvPr/>
        </p:nvSpPr>
        <p:spPr>
          <a:xfrm>
            <a:off x="7841292" y="2480153"/>
            <a:ext cx="4246323" cy="40083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13"/>
          <p:cNvGrpSpPr/>
          <p:nvPr/>
        </p:nvGrpSpPr>
        <p:grpSpPr>
          <a:xfrm>
            <a:off x="7841292" y="2868896"/>
            <a:ext cx="4503107" cy="3619586"/>
            <a:chOff x="7841292" y="2480153"/>
            <a:chExt cx="4503107" cy="4008329"/>
          </a:xfrm>
        </p:grpSpPr>
        <p:sp>
          <p:nvSpPr>
            <p:cNvPr id="134" name="Google Shape;134;p13"/>
            <p:cNvSpPr/>
            <p:nvPr/>
          </p:nvSpPr>
          <p:spPr>
            <a:xfrm>
              <a:off x="9870220" y="5077299"/>
              <a:ext cx="1669250" cy="31104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10103160" y="2734197"/>
              <a:ext cx="1333279" cy="31104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6" name="Google Shape;136;p13"/>
            <p:cNvGrpSpPr/>
            <p:nvPr/>
          </p:nvGrpSpPr>
          <p:grpSpPr>
            <a:xfrm>
              <a:off x="8325876" y="2721318"/>
              <a:ext cx="3394075" cy="1036638"/>
              <a:chOff x="8325876" y="2721318"/>
              <a:chExt cx="3394075" cy="1036638"/>
            </a:xfrm>
          </p:grpSpPr>
          <p:grpSp>
            <p:nvGrpSpPr>
              <p:cNvPr id="137" name="Google Shape;137;p13"/>
              <p:cNvGrpSpPr/>
              <p:nvPr/>
            </p:nvGrpSpPr>
            <p:grpSpPr>
              <a:xfrm>
                <a:off x="8325876" y="2721318"/>
                <a:ext cx="3394075" cy="630238"/>
                <a:chOff x="2222" y="2804"/>
                <a:chExt cx="2138" cy="397"/>
              </a:xfrm>
            </p:grpSpPr>
            <p:sp>
              <p:nvSpPr>
                <p:cNvPr id="138" name="Google Shape;138;p13"/>
                <p:cNvSpPr txBox="1"/>
                <p:nvPr/>
              </p:nvSpPr>
              <p:spPr>
                <a:xfrm>
                  <a:off x="2222" y="3039"/>
                  <a:ext cx="1152" cy="1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udt_send(NAK)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39" name="Google Shape;139;p13"/>
                <p:cNvSpPr txBox="1"/>
                <p:nvPr/>
              </p:nvSpPr>
              <p:spPr>
                <a:xfrm>
                  <a:off x="2225" y="2804"/>
                  <a:ext cx="2135" cy="1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rdt_rcv(rcvpkt) &amp;&amp; corrupt(rcvpkt)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140" name="Google Shape;140;p13"/>
                <p:cNvCxnSpPr/>
                <p:nvPr/>
              </p:nvCxnSpPr>
              <p:spPr>
                <a:xfrm>
                  <a:off x="2285" y="3040"/>
                  <a:ext cx="62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1" name="Google Shape;141;p13"/>
              <p:cNvSpPr/>
              <p:nvPr/>
            </p:nvSpPr>
            <p:spPr>
              <a:xfrm>
                <a:off x="8424301" y="3288056"/>
                <a:ext cx="1257300" cy="469900"/>
              </a:xfrm>
              <a:custGeom>
                <a:rect b="b" l="l" r="r" t="t"/>
                <a:pathLst>
                  <a:path extrusionOk="0" h="740" w="1500">
                    <a:moveTo>
                      <a:pt x="361" y="671"/>
                    </a:moveTo>
                    <a:cubicBezTo>
                      <a:pt x="0" y="0"/>
                      <a:pt x="1500" y="90"/>
                      <a:pt x="1017" y="740"/>
                    </a:cubicBezTo>
                  </a:path>
                </a:pathLst>
              </a:cu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2" name="Google Shape;142;p13"/>
            <p:cNvSpPr/>
            <p:nvPr/>
          </p:nvSpPr>
          <p:spPr>
            <a:xfrm>
              <a:off x="8516376" y="3708743"/>
              <a:ext cx="985837" cy="962025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3" name="Google Shape;143;p13"/>
            <p:cNvSpPr txBox="1"/>
            <p:nvPr/>
          </p:nvSpPr>
          <p:spPr>
            <a:xfrm>
              <a:off x="8429063" y="3792881"/>
              <a:ext cx="120015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call from below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44" name="Google Shape;144;p13"/>
            <p:cNvGrpSpPr/>
            <p:nvPr/>
          </p:nvGrpSpPr>
          <p:grpSpPr>
            <a:xfrm>
              <a:off x="8049650" y="4591214"/>
              <a:ext cx="4142349" cy="1379872"/>
              <a:chOff x="8049650" y="4591214"/>
              <a:chExt cx="4142349" cy="1379872"/>
            </a:xfrm>
          </p:grpSpPr>
          <p:grpSp>
            <p:nvGrpSpPr>
              <p:cNvPr id="145" name="Google Shape;145;p13"/>
              <p:cNvGrpSpPr/>
              <p:nvPr/>
            </p:nvGrpSpPr>
            <p:grpSpPr>
              <a:xfrm>
                <a:off x="8049650" y="5037504"/>
                <a:ext cx="4142349" cy="933582"/>
                <a:chOff x="8049650" y="5037504"/>
                <a:chExt cx="4142349" cy="933582"/>
              </a:xfrm>
            </p:grpSpPr>
            <p:sp>
              <p:nvSpPr>
                <p:cNvPr id="146" name="Google Shape;146;p13"/>
                <p:cNvSpPr txBox="1"/>
                <p:nvPr/>
              </p:nvSpPr>
              <p:spPr>
                <a:xfrm>
                  <a:off x="8071876" y="5351961"/>
                  <a:ext cx="2143125" cy="619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extract(rcvpkt,data)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deliver_data(data)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udt_send(ACK)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47" name="Google Shape;147;p13"/>
                <p:cNvSpPr txBox="1"/>
                <p:nvPr/>
              </p:nvSpPr>
              <p:spPr>
                <a:xfrm>
                  <a:off x="8049650" y="5037504"/>
                  <a:ext cx="4142349" cy="7016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rdt_rcv(rcvpkt) &amp;&amp;  notcorrupt(rcvpkt)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148" name="Google Shape;148;p13"/>
                <p:cNvCxnSpPr/>
                <p:nvPr/>
              </p:nvCxnSpPr>
              <p:spPr>
                <a:xfrm>
                  <a:off x="8171888" y="5407524"/>
                  <a:ext cx="1489075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9" name="Google Shape;149;p13"/>
              <p:cNvSpPr/>
              <p:nvPr/>
            </p:nvSpPr>
            <p:spPr>
              <a:xfrm flipH="1" rot="10800000">
                <a:off x="8437001" y="4591214"/>
                <a:ext cx="1257300" cy="469900"/>
              </a:xfrm>
              <a:custGeom>
                <a:rect b="b" l="l" r="r" t="t"/>
                <a:pathLst>
                  <a:path extrusionOk="0" h="740" w="1500">
                    <a:moveTo>
                      <a:pt x="361" y="671"/>
                    </a:moveTo>
                    <a:cubicBezTo>
                      <a:pt x="0" y="0"/>
                      <a:pt x="1500" y="90"/>
                      <a:pt x="1017" y="740"/>
                    </a:cubicBezTo>
                  </a:path>
                </a:pathLst>
              </a:cu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0" name="Google Shape;150;p13"/>
            <p:cNvSpPr txBox="1"/>
            <p:nvPr/>
          </p:nvSpPr>
          <p:spPr>
            <a:xfrm>
              <a:off x="9660963" y="3961155"/>
              <a:ext cx="12477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rgbClr val="CC0000"/>
                  </a:solidFill>
                  <a:latin typeface="Tahoma"/>
                  <a:ea typeface="Tahoma"/>
                  <a:cs typeface="Tahoma"/>
                  <a:sym typeface="Tahoma"/>
                </a:rPr>
                <a:t>receiver</a:t>
              </a: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7841292" y="2480153"/>
              <a:ext cx="4246323" cy="400832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2" name="Google Shape;152;p13"/>
            <p:cNvGrpSpPr/>
            <p:nvPr/>
          </p:nvGrpSpPr>
          <p:grpSpPr>
            <a:xfrm>
              <a:off x="8478276" y="3246778"/>
              <a:ext cx="1828800" cy="257175"/>
              <a:chOff x="2222" y="3039"/>
              <a:chExt cx="1152" cy="162"/>
            </a:xfrm>
          </p:grpSpPr>
          <p:sp>
            <p:nvSpPr>
              <p:cNvPr id="153" name="Google Shape;153;p13"/>
              <p:cNvSpPr txBox="1"/>
              <p:nvPr/>
            </p:nvSpPr>
            <p:spPr>
              <a:xfrm>
                <a:off x="2222" y="3039"/>
                <a:ext cx="1152" cy="1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udt_send(NAK)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54" name="Google Shape;154;p13"/>
              <p:cNvCxnSpPr/>
              <p:nvPr/>
            </p:nvCxnSpPr>
            <p:spPr>
              <a:xfrm>
                <a:off x="2285" y="3040"/>
                <a:ext cx="624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55" name="Google Shape;155;p13"/>
            <p:cNvSpPr/>
            <p:nvPr/>
          </p:nvSpPr>
          <p:spPr>
            <a:xfrm>
              <a:off x="8576701" y="3440456"/>
              <a:ext cx="1257300" cy="469900"/>
            </a:xfrm>
            <a:custGeom>
              <a:rect b="b" l="l" r="r" t="t"/>
              <a:pathLst>
                <a:path extrusionOk="0" h="740" w="150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8668776" y="3861143"/>
              <a:ext cx="985837" cy="962025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7" name="Google Shape;157;p13"/>
            <p:cNvSpPr txBox="1"/>
            <p:nvPr/>
          </p:nvSpPr>
          <p:spPr>
            <a:xfrm>
              <a:off x="8581463" y="3945281"/>
              <a:ext cx="120015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call from below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" name="Google Shape;158;p13"/>
            <p:cNvSpPr/>
            <p:nvPr/>
          </p:nvSpPr>
          <p:spPr>
            <a:xfrm flipH="1" rot="10800000">
              <a:off x="8589401" y="4743614"/>
              <a:ext cx="1257300" cy="469900"/>
            </a:xfrm>
            <a:custGeom>
              <a:rect b="b" l="l" r="r" t="t"/>
              <a:pathLst>
                <a:path extrusionOk="0" h="740" w="150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9" name="Google Shape;159;p13"/>
            <p:cNvGrpSpPr/>
            <p:nvPr/>
          </p:nvGrpSpPr>
          <p:grpSpPr>
            <a:xfrm>
              <a:off x="8238563" y="3789706"/>
              <a:ext cx="1414463" cy="1033462"/>
              <a:chOff x="3990" y="2203"/>
              <a:chExt cx="891" cy="651"/>
            </a:xfrm>
          </p:grpSpPr>
          <p:cxnSp>
            <p:nvCxnSpPr>
              <p:cNvPr id="160" name="Google Shape;160;p13"/>
              <p:cNvCxnSpPr/>
              <p:nvPr/>
            </p:nvCxnSpPr>
            <p:spPr>
              <a:xfrm>
                <a:off x="3990" y="2203"/>
                <a:ext cx="273" cy="15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dash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61" name="Google Shape;161;p13"/>
              <p:cNvSpPr/>
              <p:nvPr/>
            </p:nvSpPr>
            <p:spPr>
              <a:xfrm>
                <a:off x="4260" y="2248"/>
                <a:ext cx="621" cy="606"/>
              </a:xfrm>
              <a:prstGeom prst="ellipse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62" name="Google Shape;162;p13"/>
            <p:cNvSpPr txBox="1"/>
            <p:nvPr/>
          </p:nvSpPr>
          <p:spPr>
            <a:xfrm>
              <a:off x="8479963" y="2872934"/>
              <a:ext cx="3389313" cy="3127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corrupt(rcvpkt)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63" name="Google Shape;163;p13"/>
            <p:cNvGrpSpPr/>
            <p:nvPr/>
          </p:nvGrpSpPr>
          <p:grpSpPr>
            <a:xfrm>
              <a:off x="8202050" y="5189904"/>
              <a:ext cx="4142349" cy="933582"/>
              <a:chOff x="8049650" y="5037504"/>
              <a:chExt cx="4142349" cy="933582"/>
            </a:xfrm>
          </p:grpSpPr>
          <p:sp>
            <p:nvSpPr>
              <p:cNvPr id="164" name="Google Shape;164;p13"/>
              <p:cNvSpPr txBox="1"/>
              <p:nvPr/>
            </p:nvSpPr>
            <p:spPr>
              <a:xfrm>
                <a:off x="8071876" y="5351961"/>
                <a:ext cx="2143125" cy="619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extract(rcvpkt,data)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deliver_data(data)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udt_send(ACK)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5" name="Google Shape;165;p13"/>
              <p:cNvSpPr txBox="1"/>
              <p:nvPr/>
            </p:nvSpPr>
            <p:spPr>
              <a:xfrm>
                <a:off x="8049650" y="5037504"/>
                <a:ext cx="4142349" cy="701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rdt_rcv(rcvpkt) &amp;&amp;  notcorrupt(rcvpkt)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66" name="Google Shape;166;p13"/>
              <p:cNvCxnSpPr/>
              <p:nvPr/>
            </p:nvCxnSpPr>
            <p:spPr>
              <a:xfrm>
                <a:off x="8171888" y="5407524"/>
                <a:ext cx="148907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67" name="Google Shape;167;p13"/>
            <p:cNvSpPr txBox="1"/>
            <p:nvPr/>
          </p:nvSpPr>
          <p:spPr>
            <a:xfrm>
              <a:off x="9813363" y="4113555"/>
              <a:ext cx="12477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rgbClr val="CC0000"/>
                  </a:solidFill>
                  <a:latin typeface="Tahoma"/>
                  <a:ea typeface="Tahoma"/>
                  <a:cs typeface="Tahoma"/>
                  <a:sym typeface="Tahoma"/>
                </a:rPr>
                <a:t>receiver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rdt2.1: sender, handling garbled ACK/NAKs</a:t>
            </a:r>
            <a:endParaRPr sz="4400"/>
          </a:p>
        </p:txBody>
      </p:sp>
      <p:sp>
        <p:nvSpPr>
          <p:cNvPr id="174" name="Google Shape;174;p14"/>
          <p:cNvSpPr/>
          <p:nvPr/>
        </p:nvSpPr>
        <p:spPr>
          <a:xfrm>
            <a:off x="4658777" y="2435427"/>
            <a:ext cx="901700" cy="836612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5" name="Google Shape;175;p14"/>
          <p:cNvSpPr txBox="1"/>
          <p:nvPr/>
        </p:nvSpPr>
        <p:spPr>
          <a:xfrm>
            <a:off x="4567752" y="2511448"/>
            <a:ext cx="109061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Wait for call 0 from above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6" name="Google Shape;176;p14"/>
          <p:cNvCxnSpPr/>
          <p:nvPr/>
        </p:nvCxnSpPr>
        <p:spPr>
          <a:xfrm>
            <a:off x="4384139" y="2390977"/>
            <a:ext cx="377825" cy="19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cxnSp>
      <p:grpSp>
        <p:nvGrpSpPr>
          <p:cNvPr id="177" name="Google Shape;177;p14"/>
          <p:cNvGrpSpPr/>
          <p:nvPr/>
        </p:nvGrpSpPr>
        <p:grpSpPr>
          <a:xfrm>
            <a:off x="6492339" y="2383039"/>
            <a:ext cx="1089025" cy="865188"/>
            <a:chOff x="2848" y="1499"/>
            <a:chExt cx="660" cy="510"/>
          </a:xfrm>
        </p:grpSpPr>
        <p:sp>
          <p:nvSpPr>
            <p:cNvPr id="178" name="Google Shape;178;p14"/>
            <p:cNvSpPr/>
            <p:nvPr/>
          </p:nvSpPr>
          <p:spPr>
            <a:xfrm>
              <a:off x="2893" y="1499"/>
              <a:ext cx="568" cy="51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9" name="Google Shape;179;p14"/>
            <p:cNvSpPr txBox="1"/>
            <p:nvPr/>
          </p:nvSpPr>
          <p:spPr>
            <a:xfrm>
              <a:off x="2848" y="1551"/>
              <a:ext cx="660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ACK or NAK 0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0" name="Google Shape;180;p14"/>
          <p:cNvGrpSpPr/>
          <p:nvPr/>
        </p:nvGrpSpPr>
        <p:grpSpPr>
          <a:xfrm>
            <a:off x="4914364" y="1394027"/>
            <a:ext cx="3694113" cy="1087437"/>
            <a:chOff x="4914364" y="1394027"/>
            <a:chExt cx="3694113" cy="1087437"/>
          </a:xfrm>
        </p:grpSpPr>
        <p:sp>
          <p:nvSpPr>
            <p:cNvPr id="181" name="Google Shape;181;p14"/>
            <p:cNvSpPr txBox="1"/>
            <p:nvPr/>
          </p:nvSpPr>
          <p:spPr>
            <a:xfrm>
              <a:off x="4914364" y="1706764"/>
              <a:ext cx="3694113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make_pkt(0, data, checksum)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82" name="Google Shape;182;p14"/>
            <p:cNvGrpSpPr/>
            <p:nvPr/>
          </p:nvGrpSpPr>
          <p:grpSpPr>
            <a:xfrm>
              <a:off x="4928652" y="1394027"/>
              <a:ext cx="2852737" cy="1087437"/>
              <a:chOff x="4928652" y="1394027"/>
              <a:chExt cx="2852737" cy="1087437"/>
            </a:xfrm>
          </p:grpSpPr>
          <p:sp>
            <p:nvSpPr>
              <p:cNvPr id="183" name="Google Shape;183;p14"/>
              <p:cNvSpPr txBox="1"/>
              <p:nvPr/>
            </p:nvSpPr>
            <p:spPr>
              <a:xfrm>
                <a:off x="4928652" y="1394027"/>
                <a:ext cx="2111375" cy="300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rdt_send(data)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84" name="Google Shape;184;p14"/>
              <p:cNvCxnSpPr/>
              <p:nvPr/>
            </p:nvCxnSpPr>
            <p:spPr>
              <a:xfrm>
                <a:off x="5046127" y="1759152"/>
                <a:ext cx="2735262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5" name="Google Shape;185;p14"/>
              <p:cNvSpPr/>
              <p:nvPr/>
            </p:nvSpPr>
            <p:spPr>
              <a:xfrm flipH="1" rot="10800000">
                <a:off x="5215989" y="2260802"/>
                <a:ext cx="1482725" cy="220662"/>
              </a:xfrm>
              <a:custGeom>
                <a:rect b="b" l="l" r="r" t="t"/>
                <a:pathLst>
                  <a:path extrusionOk="0" h="525" w="2835">
                    <a:moveTo>
                      <a:pt x="0" y="0"/>
                    </a:moveTo>
                    <a:cubicBezTo>
                      <a:pt x="60" y="525"/>
                      <a:pt x="2835" y="495"/>
                      <a:pt x="2835" y="0"/>
                    </a:cubicBez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grpSp>
        <p:nvGrpSpPr>
          <p:cNvPr id="186" name="Google Shape;186;p14"/>
          <p:cNvGrpSpPr/>
          <p:nvPr/>
        </p:nvGrpSpPr>
        <p:grpSpPr>
          <a:xfrm>
            <a:off x="7265819" y="1999849"/>
            <a:ext cx="3627361" cy="1207103"/>
            <a:chOff x="7265819" y="1999849"/>
            <a:chExt cx="3627361" cy="1207103"/>
          </a:xfrm>
        </p:grpSpPr>
        <p:sp>
          <p:nvSpPr>
            <p:cNvPr id="187" name="Google Shape;187;p14"/>
            <p:cNvSpPr/>
            <p:nvPr/>
          </p:nvSpPr>
          <p:spPr>
            <a:xfrm rot="-1357180">
              <a:off x="7379752" y="2244927"/>
              <a:ext cx="466725" cy="685800"/>
            </a:xfrm>
            <a:custGeom>
              <a:rect b="b" l="l" r="r" t="t"/>
              <a:pathLst>
                <a:path extrusionOk="0" h="1080" w="735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8" name="Google Shape;188;p14"/>
            <p:cNvSpPr txBox="1"/>
            <p:nvPr/>
          </p:nvSpPr>
          <p:spPr>
            <a:xfrm>
              <a:off x="7742239" y="2806902"/>
              <a:ext cx="2262187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9" name="Google Shape;189;p14"/>
            <p:cNvSpPr txBox="1"/>
            <p:nvPr/>
          </p:nvSpPr>
          <p:spPr>
            <a:xfrm>
              <a:off x="7714671" y="1999849"/>
              <a:ext cx="3178509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 (corrupt(rcvpkt) ||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isNAK(rcvpkt) 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90" name="Google Shape;190;p14"/>
            <p:cNvCxnSpPr/>
            <p:nvPr/>
          </p:nvCxnSpPr>
          <p:spPr>
            <a:xfrm>
              <a:off x="7835364" y="2846589"/>
              <a:ext cx="1433513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1" name="Google Shape;191;p14"/>
          <p:cNvGrpSpPr/>
          <p:nvPr/>
        </p:nvGrpSpPr>
        <p:grpSpPr>
          <a:xfrm>
            <a:off x="5155664" y="4908752"/>
            <a:ext cx="3763963" cy="984250"/>
            <a:chOff x="5155664" y="4908752"/>
            <a:chExt cx="3763963" cy="984250"/>
          </a:xfrm>
        </p:grpSpPr>
        <p:sp>
          <p:nvSpPr>
            <p:cNvPr id="192" name="Google Shape;192;p14"/>
            <p:cNvSpPr/>
            <p:nvPr/>
          </p:nvSpPr>
          <p:spPr>
            <a:xfrm>
              <a:off x="5390614" y="4908752"/>
              <a:ext cx="1606550" cy="247650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3" name="Google Shape;193;p14"/>
            <p:cNvSpPr txBox="1"/>
            <p:nvPr/>
          </p:nvSpPr>
          <p:spPr>
            <a:xfrm>
              <a:off x="5155664" y="5492952"/>
              <a:ext cx="3763963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make_pkt(1, data, checksum)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4" name="Google Shape;194;p14"/>
            <p:cNvSpPr txBox="1"/>
            <p:nvPr/>
          </p:nvSpPr>
          <p:spPr>
            <a:xfrm>
              <a:off x="5225514" y="5154814"/>
              <a:ext cx="2389188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rdt_send(data)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95" name="Google Shape;195;p14"/>
            <p:cNvCxnSpPr/>
            <p:nvPr/>
          </p:nvCxnSpPr>
          <p:spPr>
            <a:xfrm>
              <a:off x="5273139" y="5507239"/>
              <a:ext cx="290353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6" name="Google Shape;196;p14"/>
          <p:cNvGrpSpPr/>
          <p:nvPr/>
        </p:nvGrpSpPr>
        <p:grpSpPr>
          <a:xfrm>
            <a:off x="1859796" y="4436442"/>
            <a:ext cx="3008971" cy="1404172"/>
            <a:chOff x="1859796" y="4436442"/>
            <a:chExt cx="3008971" cy="1404172"/>
          </a:xfrm>
        </p:grpSpPr>
        <p:sp>
          <p:nvSpPr>
            <p:cNvPr id="197" name="Google Shape;197;p14"/>
            <p:cNvSpPr/>
            <p:nvPr/>
          </p:nvSpPr>
          <p:spPr>
            <a:xfrm rot="-6989453">
              <a:off x="3969802" y="4732539"/>
              <a:ext cx="952500" cy="469900"/>
            </a:xfrm>
            <a:custGeom>
              <a:rect b="b" l="l" r="r" t="t"/>
              <a:pathLst>
                <a:path extrusionOk="0" h="740" w="150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8" name="Google Shape;198;p14"/>
            <p:cNvSpPr txBox="1"/>
            <p:nvPr/>
          </p:nvSpPr>
          <p:spPr>
            <a:xfrm>
              <a:off x="2510889" y="5564389"/>
              <a:ext cx="181927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9" name="Google Shape;199;p14"/>
            <p:cNvSpPr txBox="1"/>
            <p:nvPr/>
          </p:nvSpPr>
          <p:spPr>
            <a:xfrm>
              <a:off x="1859796" y="4726939"/>
              <a:ext cx="2391034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(corrupt(rcvpkt) ||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isNAK(rcvpkt) 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0" name="Google Shape;200;p14"/>
            <p:cNvCxnSpPr/>
            <p:nvPr/>
          </p:nvCxnSpPr>
          <p:spPr>
            <a:xfrm>
              <a:off x="2601377" y="5572327"/>
              <a:ext cx="1557337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01" name="Google Shape;201;p14"/>
          <p:cNvGrpSpPr/>
          <p:nvPr/>
        </p:nvGrpSpPr>
        <p:grpSpPr>
          <a:xfrm>
            <a:off x="6643152" y="4329314"/>
            <a:ext cx="1117600" cy="823913"/>
            <a:chOff x="4156" y="2812"/>
            <a:chExt cx="704" cy="519"/>
          </a:xfrm>
        </p:grpSpPr>
        <p:sp>
          <p:nvSpPr>
            <p:cNvPr id="202" name="Google Shape;202;p14"/>
            <p:cNvSpPr/>
            <p:nvPr/>
          </p:nvSpPr>
          <p:spPr>
            <a:xfrm>
              <a:off x="4242" y="2812"/>
              <a:ext cx="567" cy="519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3" name="Google Shape;203;p14"/>
            <p:cNvSpPr txBox="1"/>
            <p:nvPr/>
          </p:nvSpPr>
          <p:spPr>
            <a:xfrm>
              <a:off x="4156" y="2870"/>
              <a:ext cx="704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call 1 from above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04" name="Google Shape;204;p14"/>
          <p:cNvGrpSpPr/>
          <p:nvPr/>
        </p:nvGrpSpPr>
        <p:grpSpPr>
          <a:xfrm>
            <a:off x="4453989" y="4275339"/>
            <a:ext cx="1046163" cy="823913"/>
            <a:chOff x="4916" y="3266"/>
            <a:chExt cx="659" cy="519"/>
          </a:xfrm>
        </p:grpSpPr>
        <p:sp>
          <p:nvSpPr>
            <p:cNvPr id="205" name="Google Shape;205;p14"/>
            <p:cNvSpPr/>
            <p:nvPr/>
          </p:nvSpPr>
          <p:spPr>
            <a:xfrm>
              <a:off x="4957" y="3266"/>
              <a:ext cx="567" cy="519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6" name="Google Shape;206;p14"/>
            <p:cNvSpPr txBox="1"/>
            <p:nvPr/>
          </p:nvSpPr>
          <p:spPr>
            <a:xfrm>
              <a:off x="4916" y="3319"/>
              <a:ext cx="659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ACK or NAK 1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07" name="Google Shape;207;p14"/>
          <p:cNvGrpSpPr/>
          <p:nvPr/>
        </p:nvGrpSpPr>
        <p:grpSpPr>
          <a:xfrm>
            <a:off x="7340063" y="2989465"/>
            <a:ext cx="3184985" cy="1470025"/>
            <a:chOff x="7340063" y="2989464"/>
            <a:chExt cx="3184985" cy="1470025"/>
          </a:xfrm>
        </p:grpSpPr>
        <p:sp>
          <p:nvSpPr>
            <p:cNvPr id="208" name="Google Shape;208;p14"/>
            <p:cNvSpPr/>
            <p:nvPr/>
          </p:nvSpPr>
          <p:spPr>
            <a:xfrm rot="-5400000">
              <a:off x="6760626" y="3568902"/>
              <a:ext cx="1363663" cy="204788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9" name="Google Shape;209;p14"/>
            <p:cNvSpPr txBox="1"/>
            <p:nvPr/>
          </p:nvSpPr>
          <p:spPr>
            <a:xfrm>
              <a:off x="7529435" y="3255707"/>
              <a:ext cx="2995613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notcorrupt(rcvpkt)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isACK(rcvpkt) </a:t>
              </a:r>
              <a:endParaRPr/>
            </a:p>
          </p:txBody>
        </p:sp>
        <p:cxnSp>
          <p:nvCxnSpPr>
            <p:cNvPr id="210" name="Google Shape;210;p14"/>
            <p:cNvCxnSpPr/>
            <p:nvPr/>
          </p:nvCxnSpPr>
          <p:spPr>
            <a:xfrm>
              <a:off x="7611527" y="4113414"/>
              <a:ext cx="990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1" name="Google Shape;211;p14"/>
            <p:cNvSpPr txBox="1"/>
            <p:nvPr/>
          </p:nvSpPr>
          <p:spPr>
            <a:xfrm>
              <a:off x="7994114" y="4122939"/>
              <a:ext cx="3238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/>
            </a:p>
          </p:txBody>
        </p:sp>
      </p:grpSp>
      <p:grpSp>
        <p:nvGrpSpPr>
          <p:cNvPr id="212" name="Google Shape;212;p14"/>
          <p:cNvGrpSpPr/>
          <p:nvPr/>
        </p:nvGrpSpPr>
        <p:grpSpPr>
          <a:xfrm>
            <a:off x="768495" y="3049789"/>
            <a:ext cx="3918857" cy="1284288"/>
            <a:chOff x="768495" y="3049789"/>
            <a:chExt cx="3918857" cy="1284288"/>
          </a:xfrm>
        </p:grpSpPr>
        <p:sp>
          <p:nvSpPr>
            <p:cNvPr id="213" name="Google Shape;213;p14"/>
            <p:cNvSpPr/>
            <p:nvPr/>
          </p:nvSpPr>
          <p:spPr>
            <a:xfrm flipH="1" rot="5400000">
              <a:off x="3992027" y="3621289"/>
              <a:ext cx="1266825" cy="123825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4" name="Google Shape;214;p14"/>
            <p:cNvSpPr txBox="1"/>
            <p:nvPr/>
          </p:nvSpPr>
          <p:spPr>
            <a:xfrm>
              <a:off x="768495" y="3141125"/>
              <a:ext cx="3623727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notcorrupt(rcvpkt) &amp;&amp; isACK(rcvpkt)</a:t>
              </a: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15" name="Google Shape;215;p14"/>
            <p:cNvCxnSpPr/>
            <p:nvPr/>
          </p:nvCxnSpPr>
          <p:spPr>
            <a:xfrm>
              <a:off x="2572802" y="3983239"/>
              <a:ext cx="1738312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6" name="Google Shape;216;p14"/>
            <p:cNvSpPr txBox="1"/>
            <p:nvPr/>
          </p:nvSpPr>
          <p:spPr>
            <a:xfrm>
              <a:off x="3144302" y="3997527"/>
              <a:ext cx="3238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/>
            </a:p>
          </p:txBody>
        </p:sp>
      </p:grpSp>
      <p:sp>
        <p:nvSpPr>
          <p:cNvPr id="217" name="Google Shape;217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Transport Layer: 3-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rdt2.1: receiver, handling garbled ACK/NAKs</a:t>
            </a:r>
            <a:endParaRPr sz="4400"/>
          </a:p>
        </p:txBody>
      </p:sp>
      <p:grpSp>
        <p:nvGrpSpPr>
          <p:cNvPr id="224" name="Google Shape;224;p15"/>
          <p:cNvGrpSpPr/>
          <p:nvPr/>
        </p:nvGrpSpPr>
        <p:grpSpPr>
          <a:xfrm>
            <a:off x="4764244" y="3345999"/>
            <a:ext cx="817563" cy="795338"/>
            <a:chOff x="963" y="1131"/>
            <a:chExt cx="515" cy="501"/>
          </a:xfrm>
        </p:grpSpPr>
        <p:sp>
          <p:nvSpPr>
            <p:cNvPr id="225" name="Google Shape;225;p15"/>
            <p:cNvSpPr/>
            <p:nvPr/>
          </p:nvSpPr>
          <p:spPr>
            <a:xfrm>
              <a:off x="963" y="1131"/>
              <a:ext cx="490" cy="501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6" name="Google Shape;226;p15"/>
            <p:cNvSpPr txBox="1"/>
            <p:nvPr/>
          </p:nvSpPr>
          <p:spPr>
            <a:xfrm>
              <a:off x="974" y="1153"/>
              <a:ext cx="504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 from below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27" name="Google Shape;227;p15"/>
          <p:cNvCxnSpPr/>
          <p:nvPr/>
        </p:nvCxnSpPr>
        <p:spPr>
          <a:xfrm>
            <a:off x="4600732" y="2276024"/>
            <a:ext cx="419100" cy="1079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cxnSp>
      <p:grpSp>
        <p:nvGrpSpPr>
          <p:cNvPr id="228" name="Google Shape;228;p15"/>
          <p:cNvGrpSpPr/>
          <p:nvPr/>
        </p:nvGrpSpPr>
        <p:grpSpPr>
          <a:xfrm>
            <a:off x="4688044" y="4161974"/>
            <a:ext cx="3862388" cy="2187575"/>
            <a:chOff x="4688044" y="4161974"/>
            <a:chExt cx="3862388" cy="2187575"/>
          </a:xfrm>
        </p:grpSpPr>
        <p:sp>
          <p:nvSpPr>
            <p:cNvPr id="229" name="Google Shape;229;p15"/>
            <p:cNvSpPr/>
            <p:nvPr/>
          </p:nvSpPr>
          <p:spPr>
            <a:xfrm>
              <a:off x="5299232" y="4161974"/>
              <a:ext cx="1590675" cy="688975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0" name="Google Shape;230;p15"/>
            <p:cNvSpPr txBox="1"/>
            <p:nvPr/>
          </p:nvSpPr>
          <p:spPr>
            <a:xfrm>
              <a:off x="4688044" y="4742999"/>
              <a:ext cx="35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notcorrupt(rcvpkt)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&amp;&amp; has_seq1(rcvpkt)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31" name="Google Shape;231;p15"/>
            <p:cNvCxnSpPr/>
            <p:nvPr/>
          </p:nvCxnSpPr>
          <p:spPr>
            <a:xfrm>
              <a:off x="4754719" y="5300212"/>
              <a:ext cx="289877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2" name="Google Shape;232;p15"/>
            <p:cNvSpPr txBox="1"/>
            <p:nvPr/>
          </p:nvSpPr>
          <p:spPr>
            <a:xfrm>
              <a:off x="4697569" y="5355774"/>
              <a:ext cx="3852863" cy="993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extract(rcvpkt,data)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deliver_data(data)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make_pkt(ACK, chksum)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3" name="Google Shape;233;p15"/>
          <p:cNvGrpSpPr/>
          <p:nvPr/>
        </p:nvGrpSpPr>
        <p:grpSpPr>
          <a:xfrm>
            <a:off x="6462869" y="3380924"/>
            <a:ext cx="825500" cy="796925"/>
            <a:chOff x="4398" y="3133"/>
            <a:chExt cx="520" cy="502"/>
          </a:xfrm>
        </p:grpSpPr>
        <p:sp>
          <p:nvSpPr>
            <p:cNvPr id="234" name="Google Shape;234;p15"/>
            <p:cNvSpPr/>
            <p:nvPr/>
          </p:nvSpPr>
          <p:spPr>
            <a:xfrm>
              <a:off x="4398" y="3133"/>
              <a:ext cx="507" cy="502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5" name="Google Shape;235;p15"/>
            <p:cNvSpPr txBox="1"/>
            <p:nvPr/>
          </p:nvSpPr>
          <p:spPr>
            <a:xfrm>
              <a:off x="4414" y="3163"/>
              <a:ext cx="504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 from below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6" name="Google Shape;236;p15"/>
          <p:cNvGrpSpPr/>
          <p:nvPr/>
        </p:nvGrpSpPr>
        <p:grpSpPr>
          <a:xfrm>
            <a:off x="4849969" y="1277487"/>
            <a:ext cx="3981450" cy="2101850"/>
            <a:chOff x="4849969" y="1277487"/>
            <a:chExt cx="3981450" cy="2101850"/>
          </a:xfrm>
        </p:grpSpPr>
        <p:sp>
          <p:nvSpPr>
            <p:cNvPr id="237" name="Google Shape;237;p15"/>
            <p:cNvSpPr/>
            <p:nvPr/>
          </p:nvSpPr>
          <p:spPr>
            <a:xfrm flipH="1" rot="10800000">
              <a:off x="5281769" y="2593524"/>
              <a:ext cx="1590675" cy="785813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38" name="Google Shape;238;p15"/>
            <p:cNvGrpSpPr/>
            <p:nvPr/>
          </p:nvGrpSpPr>
          <p:grpSpPr>
            <a:xfrm>
              <a:off x="4849969" y="1277487"/>
              <a:ext cx="3981450" cy="1231900"/>
              <a:chOff x="4849969" y="1277487"/>
              <a:chExt cx="3981450" cy="1231900"/>
            </a:xfrm>
          </p:grpSpPr>
          <p:sp>
            <p:nvSpPr>
              <p:cNvPr id="239" name="Google Shape;239;p15"/>
              <p:cNvSpPr txBox="1"/>
              <p:nvPr/>
            </p:nvSpPr>
            <p:spPr>
              <a:xfrm>
                <a:off x="4849969" y="1277487"/>
                <a:ext cx="398145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rdt_rcv(rcvpkt) &amp;&amp; notcorrupt(rcvpkt)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&amp;&amp; has_seq0(rcvpkt) </a:t>
                </a:r>
                <a:endParaRPr b="0" i="0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40" name="Google Shape;240;p15"/>
              <p:cNvCxnSpPr/>
              <p:nvPr/>
            </p:nvCxnSpPr>
            <p:spPr>
              <a:xfrm>
                <a:off x="4959507" y="1847399"/>
                <a:ext cx="191452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1" name="Google Shape;241;p15"/>
              <p:cNvSpPr txBox="1"/>
              <p:nvPr/>
            </p:nvSpPr>
            <p:spPr>
              <a:xfrm>
                <a:off x="4862669" y="1804537"/>
                <a:ext cx="3475038" cy="704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extract(rcvpkt,data)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deliver_data(data)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sndpkt = make_pkt(ACK, chksum)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udt_send(sndpkt)</a:t>
                </a:r>
                <a:endParaRPr b="0" i="0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42" name="Google Shape;242;p15"/>
          <p:cNvGrpSpPr/>
          <p:nvPr/>
        </p:nvGrpSpPr>
        <p:grpSpPr>
          <a:xfrm>
            <a:off x="7028916" y="2655437"/>
            <a:ext cx="3840853" cy="1309628"/>
            <a:chOff x="7028916" y="2655437"/>
            <a:chExt cx="3840853" cy="1309628"/>
          </a:xfrm>
        </p:grpSpPr>
        <p:sp>
          <p:nvSpPr>
            <p:cNvPr id="243" name="Google Shape;243;p15"/>
            <p:cNvSpPr txBox="1"/>
            <p:nvPr/>
          </p:nvSpPr>
          <p:spPr>
            <a:xfrm>
              <a:off x="7842407" y="2952299"/>
              <a:ext cx="3027362" cy="409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make_pkt(NAK, chksum)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p15"/>
            <p:cNvSpPr/>
            <p:nvPr/>
          </p:nvSpPr>
          <p:spPr>
            <a:xfrm rot="-1361013">
              <a:off x="7162957" y="2972937"/>
              <a:ext cx="839787" cy="863600"/>
            </a:xfrm>
            <a:custGeom>
              <a:rect b="b" l="l" r="r" t="t"/>
              <a:pathLst>
                <a:path extrusionOk="0" h="1815" w="619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5" name="Google Shape;245;p15"/>
            <p:cNvSpPr txBox="1"/>
            <p:nvPr/>
          </p:nvSpPr>
          <p:spPr>
            <a:xfrm>
              <a:off x="7793194" y="2655437"/>
              <a:ext cx="2871788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(corrupt(rcvpkt)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46" name="Google Shape;246;p15"/>
            <p:cNvCxnSpPr/>
            <p:nvPr/>
          </p:nvCxnSpPr>
          <p:spPr>
            <a:xfrm>
              <a:off x="7931307" y="2966587"/>
              <a:ext cx="1938337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47" name="Google Shape;247;p15"/>
          <p:cNvGrpSpPr/>
          <p:nvPr/>
        </p:nvGrpSpPr>
        <p:grpSpPr>
          <a:xfrm>
            <a:off x="7078824" y="3592896"/>
            <a:ext cx="3662358" cy="1234241"/>
            <a:chOff x="7078824" y="3592896"/>
            <a:chExt cx="3662358" cy="1234241"/>
          </a:xfrm>
        </p:grpSpPr>
        <p:sp>
          <p:nvSpPr>
            <p:cNvPr id="248" name="Google Shape;248;p15"/>
            <p:cNvSpPr txBox="1"/>
            <p:nvPr/>
          </p:nvSpPr>
          <p:spPr>
            <a:xfrm>
              <a:off x="7845582" y="3665087"/>
              <a:ext cx="2624137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not corrupt(rcvpkt) &amp;&amp;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has_seq0(rcvpkt)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49" name="Google Shape;249;p15"/>
            <p:cNvCxnSpPr/>
            <p:nvPr/>
          </p:nvCxnSpPr>
          <p:spPr>
            <a:xfrm>
              <a:off x="7929719" y="4363587"/>
              <a:ext cx="193833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0" name="Google Shape;250;p15"/>
            <p:cNvSpPr/>
            <p:nvPr/>
          </p:nvSpPr>
          <p:spPr>
            <a:xfrm rot="1020547">
              <a:off x="7186769" y="3696837"/>
              <a:ext cx="839788" cy="863600"/>
            </a:xfrm>
            <a:custGeom>
              <a:rect b="b" l="l" r="r" t="t"/>
              <a:pathLst>
                <a:path extrusionOk="0" h="1815" w="619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1" name="Google Shape;251;p15"/>
            <p:cNvSpPr txBox="1"/>
            <p:nvPr/>
          </p:nvSpPr>
          <p:spPr>
            <a:xfrm>
              <a:off x="7801132" y="4417562"/>
              <a:ext cx="2940050" cy="409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make_pkt(ACK, chksum)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2" name="Google Shape;252;p15"/>
          <p:cNvGrpSpPr/>
          <p:nvPr/>
        </p:nvGrpSpPr>
        <p:grpSpPr>
          <a:xfrm>
            <a:off x="1919444" y="3529396"/>
            <a:ext cx="2989258" cy="1254878"/>
            <a:chOff x="1919444" y="3529396"/>
            <a:chExt cx="2989258" cy="1254878"/>
          </a:xfrm>
        </p:grpSpPr>
        <p:sp>
          <p:nvSpPr>
            <p:cNvPr id="253" name="Google Shape;253;p15"/>
            <p:cNvSpPr txBox="1"/>
            <p:nvPr/>
          </p:nvSpPr>
          <p:spPr>
            <a:xfrm>
              <a:off x="1919444" y="3644449"/>
              <a:ext cx="2624138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not corrupt(rcvpkt) &amp;&amp;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has_seq1(rcvpkt)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4" name="Google Shape;254;p15"/>
            <p:cNvCxnSpPr/>
            <p:nvPr/>
          </p:nvCxnSpPr>
          <p:spPr>
            <a:xfrm>
              <a:off x="2003582" y="4352474"/>
              <a:ext cx="1938337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5" name="Google Shape;255;p15"/>
            <p:cNvSpPr txBox="1"/>
            <p:nvPr/>
          </p:nvSpPr>
          <p:spPr>
            <a:xfrm>
              <a:off x="1951194" y="4374699"/>
              <a:ext cx="2940050" cy="409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make_pkt(ACK, chksum)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6" name="Google Shape;256;p15"/>
            <p:cNvSpPr/>
            <p:nvPr/>
          </p:nvSpPr>
          <p:spPr>
            <a:xfrm flipH="1" rot="-1020547">
              <a:off x="3960969" y="3633337"/>
              <a:ext cx="839788" cy="863600"/>
            </a:xfrm>
            <a:custGeom>
              <a:rect b="b" l="l" r="r" t="t"/>
              <a:pathLst>
                <a:path extrusionOk="0" h="1815" w="619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57" name="Google Shape;257;p15"/>
          <p:cNvGrpSpPr/>
          <p:nvPr/>
        </p:nvGrpSpPr>
        <p:grpSpPr>
          <a:xfrm>
            <a:off x="1867057" y="2591937"/>
            <a:ext cx="3087687" cy="1385828"/>
            <a:chOff x="1867057" y="2591937"/>
            <a:chExt cx="3087687" cy="1385828"/>
          </a:xfrm>
        </p:grpSpPr>
        <p:sp>
          <p:nvSpPr>
            <p:cNvPr id="258" name="Google Shape;258;p15"/>
            <p:cNvSpPr txBox="1"/>
            <p:nvPr/>
          </p:nvSpPr>
          <p:spPr>
            <a:xfrm>
              <a:off x="1867057" y="2591937"/>
              <a:ext cx="2871787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(corrupt(rcvpkt)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9" name="Google Shape;259;p15"/>
            <p:cNvCxnSpPr/>
            <p:nvPr/>
          </p:nvCxnSpPr>
          <p:spPr>
            <a:xfrm>
              <a:off x="2005169" y="2966587"/>
              <a:ext cx="193833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0" name="Google Shape;260;p15"/>
            <p:cNvSpPr txBox="1"/>
            <p:nvPr/>
          </p:nvSpPr>
          <p:spPr>
            <a:xfrm>
              <a:off x="1927382" y="2933249"/>
              <a:ext cx="3027362" cy="409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make_pkt(NAK, chksum)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1" name="Google Shape;261;p15"/>
            <p:cNvSpPr/>
            <p:nvPr/>
          </p:nvSpPr>
          <p:spPr>
            <a:xfrm flipH="1" rot="1361013">
              <a:off x="3948269" y="2985637"/>
              <a:ext cx="839788" cy="863600"/>
            </a:xfrm>
            <a:custGeom>
              <a:rect b="b" l="l" r="r" t="t"/>
              <a:pathLst>
                <a:path extrusionOk="0" h="1815" w="619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62" name="Google Shape;262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Transport Layer: 3-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rdt2.2: sender, receiver fragments</a:t>
            </a:r>
            <a:endParaRPr sz="4400"/>
          </a:p>
        </p:txBody>
      </p:sp>
      <p:grpSp>
        <p:nvGrpSpPr>
          <p:cNvPr id="269" name="Google Shape;269;p16"/>
          <p:cNvGrpSpPr/>
          <p:nvPr/>
        </p:nvGrpSpPr>
        <p:grpSpPr>
          <a:xfrm>
            <a:off x="3740933" y="1183947"/>
            <a:ext cx="6508750" cy="2841625"/>
            <a:chOff x="1529" y="780"/>
            <a:chExt cx="4100" cy="1790"/>
          </a:xfrm>
        </p:grpSpPr>
        <p:grpSp>
          <p:nvGrpSpPr>
            <p:cNvPr id="270" name="Google Shape;270;p16"/>
            <p:cNvGrpSpPr/>
            <p:nvPr/>
          </p:nvGrpSpPr>
          <p:grpSpPr>
            <a:xfrm>
              <a:off x="1651" y="1399"/>
              <a:ext cx="669" cy="528"/>
              <a:chOff x="1441" y="2062"/>
              <a:chExt cx="669" cy="528"/>
            </a:xfrm>
          </p:grpSpPr>
          <p:sp>
            <p:nvSpPr>
              <p:cNvPr id="271" name="Google Shape;271;p16"/>
              <p:cNvSpPr/>
              <p:nvPr/>
            </p:nvSpPr>
            <p:spPr>
              <a:xfrm>
                <a:off x="1483" y="2062"/>
                <a:ext cx="578" cy="528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72" name="Google Shape;272;p16"/>
              <p:cNvSpPr txBox="1"/>
              <p:nvPr/>
            </p:nvSpPr>
            <p:spPr>
              <a:xfrm>
                <a:off x="1441" y="2110"/>
                <a:ext cx="669" cy="3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Wait for call 0 from above</a:t>
                </a:r>
                <a:endParaRPr b="0" i="0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273" name="Google Shape;273;p16"/>
            <p:cNvSpPr txBox="1"/>
            <p:nvPr/>
          </p:nvSpPr>
          <p:spPr>
            <a:xfrm>
              <a:off x="1863" y="957"/>
              <a:ext cx="234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make_pkt(0, data, checksum)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4" name="Google Shape;274;p16"/>
            <p:cNvSpPr txBox="1"/>
            <p:nvPr/>
          </p:nvSpPr>
          <p:spPr>
            <a:xfrm>
              <a:off x="1871" y="780"/>
              <a:ext cx="1086" cy="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rdt_send(data)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75" name="Google Shape;275;p16"/>
            <p:cNvCxnSpPr/>
            <p:nvPr/>
          </p:nvCxnSpPr>
          <p:spPr>
            <a:xfrm>
              <a:off x="1910" y="992"/>
              <a:ext cx="223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16"/>
            <p:cNvCxnSpPr/>
            <p:nvPr/>
          </p:nvCxnSpPr>
          <p:spPr>
            <a:xfrm>
              <a:off x="1529" y="1313"/>
              <a:ext cx="264" cy="145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sp>
          <p:nvSpPr>
            <p:cNvPr id="277" name="Google Shape;277;p16"/>
            <p:cNvSpPr/>
            <p:nvPr/>
          </p:nvSpPr>
          <p:spPr>
            <a:xfrm flipH="1" rot="10800000">
              <a:off x="2096" y="1272"/>
              <a:ext cx="1195" cy="130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8" name="Google Shape;278;p16"/>
            <p:cNvSpPr/>
            <p:nvPr/>
          </p:nvSpPr>
          <p:spPr>
            <a:xfrm rot="-1357180">
              <a:off x="3655" y="1225"/>
              <a:ext cx="285" cy="542"/>
            </a:xfrm>
            <a:custGeom>
              <a:rect b="b" l="l" r="r" t="t"/>
              <a:pathLst>
                <a:path extrusionOk="0" h="1080" w="735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9" name="Google Shape;279;p16"/>
            <p:cNvSpPr txBox="1"/>
            <p:nvPr/>
          </p:nvSpPr>
          <p:spPr>
            <a:xfrm>
              <a:off x="3978" y="1670"/>
              <a:ext cx="133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1" i="0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0" name="Google Shape;280;p16"/>
            <p:cNvSpPr txBox="1"/>
            <p:nvPr/>
          </p:nvSpPr>
          <p:spPr>
            <a:xfrm>
              <a:off x="3917" y="1174"/>
              <a:ext cx="1712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corrupt(rcvpkt) ||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1" i="0" lang="en-US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isACK(rcvpkt,1)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81" name="Google Shape;281;p16"/>
            <p:cNvCxnSpPr/>
            <p:nvPr/>
          </p:nvCxnSpPr>
          <p:spPr>
            <a:xfrm flipH="1" rot="10800000">
              <a:off x="4043" y="1666"/>
              <a:ext cx="895" cy="1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2" name="Google Shape;282;p16"/>
            <p:cNvSpPr/>
            <p:nvPr/>
          </p:nvSpPr>
          <p:spPr>
            <a:xfrm>
              <a:off x="3747" y="1792"/>
              <a:ext cx="128" cy="774"/>
            </a:xfrm>
            <a:custGeom>
              <a:rect b="b" l="l" r="r" t="t"/>
              <a:pathLst>
                <a:path extrusionOk="0" h="774" w="128">
                  <a:moveTo>
                    <a:pt x="67" y="774"/>
                  </a:moveTo>
                  <a:cubicBezTo>
                    <a:pt x="128" y="425"/>
                    <a:pt x="81" y="0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83" name="Google Shape;283;p16"/>
            <p:cNvSpPr txBox="1"/>
            <p:nvPr/>
          </p:nvSpPr>
          <p:spPr>
            <a:xfrm>
              <a:off x="3838" y="2051"/>
              <a:ext cx="152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notcorrupt(rcvpkt)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</a:t>
              </a:r>
              <a:r>
                <a:rPr b="1" i="0" lang="en-US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isACK(rcvpkt,0)</a:t>
              </a: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84" name="Google Shape;284;p16"/>
            <p:cNvCxnSpPr/>
            <p:nvPr/>
          </p:nvCxnSpPr>
          <p:spPr>
            <a:xfrm>
              <a:off x="3894" y="2570"/>
              <a:ext cx="1174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85" name="Google Shape;285;p16"/>
            <p:cNvGrpSpPr/>
            <p:nvPr/>
          </p:nvGrpSpPr>
          <p:grpSpPr>
            <a:xfrm>
              <a:off x="3135" y="1365"/>
              <a:ext cx="669" cy="528"/>
              <a:chOff x="1441" y="2062"/>
              <a:chExt cx="669" cy="528"/>
            </a:xfrm>
          </p:grpSpPr>
          <p:sp>
            <p:nvSpPr>
              <p:cNvPr id="286" name="Google Shape;286;p16"/>
              <p:cNvSpPr/>
              <p:nvPr/>
            </p:nvSpPr>
            <p:spPr>
              <a:xfrm>
                <a:off x="1483" y="2062"/>
                <a:ext cx="578" cy="528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87" name="Google Shape;287;p16"/>
              <p:cNvSpPr txBox="1"/>
              <p:nvPr/>
            </p:nvSpPr>
            <p:spPr>
              <a:xfrm>
                <a:off x="1441" y="2110"/>
                <a:ext cx="669" cy="3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Wait for ACK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288" name="Google Shape;288;p16"/>
            <p:cNvSpPr txBox="1"/>
            <p:nvPr/>
          </p:nvSpPr>
          <p:spPr>
            <a:xfrm>
              <a:off x="2363" y="1810"/>
              <a:ext cx="935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Tahoma"/>
                  <a:ea typeface="Tahoma"/>
                  <a:cs typeface="Tahoma"/>
                  <a:sym typeface="Tahoma"/>
                </a:rPr>
                <a:t>sender FSM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Tahoma"/>
                  <a:ea typeface="Tahoma"/>
                  <a:cs typeface="Tahoma"/>
                  <a:sym typeface="Tahoma"/>
                </a:rPr>
                <a:t>fragment</a:t>
              </a:r>
              <a:endParaRPr/>
            </a:p>
          </p:txBody>
        </p:sp>
      </p:grpSp>
      <p:cxnSp>
        <p:nvCxnSpPr>
          <p:cNvPr id="289" name="Google Shape;289;p16"/>
          <p:cNvCxnSpPr/>
          <p:nvPr/>
        </p:nvCxnSpPr>
        <p:spPr>
          <a:xfrm>
            <a:off x="1978808" y="2549197"/>
            <a:ext cx="7883525" cy="27574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290" name="Google Shape;290;p16"/>
          <p:cNvGrpSpPr/>
          <p:nvPr/>
        </p:nvGrpSpPr>
        <p:grpSpPr>
          <a:xfrm>
            <a:off x="1313645" y="3769985"/>
            <a:ext cx="7234238" cy="2535237"/>
            <a:chOff x="0" y="2409"/>
            <a:chExt cx="4557" cy="1597"/>
          </a:xfrm>
        </p:grpSpPr>
        <p:sp>
          <p:nvSpPr>
            <p:cNvPr id="291" name="Google Shape;291;p16"/>
            <p:cNvSpPr txBox="1"/>
            <p:nvPr/>
          </p:nvSpPr>
          <p:spPr>
            <a:xfrm>
              <a:off x="1849" y="3217"/>
              <a:ext cx="2482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notcorrupt(rcvpkt)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&amp;&amp; has_seq1(rcvpkt) 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2" name="Google Shape;292;p16"/>
            <p:cNvSpPr txBox="1"/>
            <p:nvPr/>
          </p:nvSpPr>
          <p:spPr>
            <a:xfrm>
              <a:off x="1829" y="3568"/>
              <a:ext cx="2630" cy="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extract(rcvpkt,data)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deliver_data(data)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make_pkt(ACK1, chksum)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93" name="Google Shape;293;p16"/>
            <p:cNvGrpSpPr/>
            <p:nvPr/>
          </p:nvGrpSpPr>
          <p:grpSpPr>
            <a:xfrm>
              <a:off x="0" y="2409"/>
              <a:ext cx="3510" cy="1168"/>
              <a:chOff x="0" y="2409"/>
              <a:chExt cx="3510" cy="1168"/>
            </a:xfrm>
          </p:grpSpPr>
          <p:grpSp>
            <p:nvGrpSpPr>
              <p:cNvPr id="294" name="Google Shape;294;p16"/>
              <p:cNvGrpSpPr/>
              <p:nvPr/>
            </p:nvGrpSpPr>
            <p:grpSpPr>
              <a:xfrm>
                <a:off x="1529" y="2687"/>
                <a:ext cx="534" cy="501"/>
                <a:chOff x="3570" y="3063"/>
                <a:chExt cx="534" cy="501"/>
              </a:xfrm>
            </p:grpSpPr>
            <p:sp>
              <p:nvSpPr>
                <p:cNvPr id="295" name="Google Shape;295;p16"/>
                <p:cNvSpPr/>
                <p:nvPr/>
              </p:nvSpPr>
              <p:spPr>
                <a:xfrm>
                  <a:off x="3570" y="3063"/>
                  <a:ext cx="534" cy="501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Tahoma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296" name="Google Shape;296;p16"/>
                <p:cNvSpPr txBox="1"/>
                <p:nvPr/>
              </p:nvSpPr>
              <p:spPr>
                <a:xfrm>
                  <a:off x="3597" y="3085"/>
                  <a:ext cx="504" cy="3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Wait for 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 from below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sp>
            <p:nvSpPr>
              <p:cNvPr id="297" name="Google Shape;297;p16"/>
              <p:cNvSpPr/>
              <p:nvPr/>
            </p:nvSpPr>
            <p:spPr>
              <a:xfrm>
                <a:off x="1925" y="2618"/>
                <a:ext cx="520" cy="117"/>
              </a:xfrm>
              <a:custGeom>
                <a:rect b="b" l="l" r="r" t="t"/>
                <a:pathLst>
                  <a:path extrusionOk="0" h="117" w="520">
                    <a:moveTo>
                      <a:pt x="0" y="117"/>
                    </a:moveTo>
                    <a:cubicBezTo>
                      <a:pt x="136" y="17"/>
                      <a:pt x="276" y="0"/>
                      <a:pt x="520" y="17"/>
                    </a:cubicBez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98" name="Google Shape;298;p16"/>
              <p:cNvSpPr/>
              <p:nvPr/>
            </p:nvSpPr>
            <p:spPr>
              <a:xfrm>
                <a:off x="1996" y="3125"/>
                <a:ext cx="1514" cy="130"/>
              </a:xfrm>
              <a:custGeom>
                <a:rect b="b" l="l" r="r" t="t"/>
                <a:pathLst>
                  <a:path extrusionOk="0" h="130" w="1514">
                    <a:moveTo>
                      <a:pt x="0" y="0"/>
                    </a:moveTo>
                    <a:cubicBezTo>
                      <a:pt x="266" y="130"/>
                      <a:pt x="1322" y="113"/>
                      <a:pt x="1514" y="17"/>
                    </a:cubicBez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299" name="Google Shape;299;p16"/>
              <p:cNvCxnSpPr/>
              <p:nvPr/>
            </p:nvCxnSpPr>
            <p:spPr>
              <a:xfrm>
                <a:off x="1919" y="3577"/>
                <a:ext cx="1206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0" name="Google Shape;300;p16"/>
              <p:cNvSpPr/>
              <p:nvPr/>
            </p:nvSpPr>
            <p:spPr>
              <a:xfrm flipH="1">
                <a:off x="1237" y="2468"/>
                <a:ext cx="309" cy="856"/>
              </a:xfrm>
              <a:custGeom>
                <a:rect b="b" l="l" r="r" t="t"/>
                <a:pathLst>
                  <a:path extrusionOk="0" h="1815" w="619">
                    <a:moveTo>
                      <a:pt x="39" y="1136"/>
                    </a:moveTo>
                    <a:cubicBezTo>
                      <a:pt x="619" y="1815"/>
                      <a:pt x="484" y="0"/>
                      <a:pt x="0" y="773"/>
                    </a:cubicBez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301" name="Google Shape;301;p16"/>
              <p:cNvCxnSpPr/>
              <p:nvPr/>
            </p:nvCxnSpPr>
            <p:spPr>
              <a:xfrm>
                <a:off x="57" y="2936"/>
                <a:ext cx="1212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2" name="Google Shape;302;p16"/>
              <p:cNvSpPr txBox="1"/>
              <p:nvPr/>
            </p:nvSpPr>
            <p:spPr>
              <a:xfrm>
                <a:off x="6" y="2409"/>
                <a:ext cx="1487" cy="4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rdt_rcv(rcvpkt) &amp;&amp;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(corrupt(rcvpkt) ||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  </a:t>
                </a:r>
                <a:r>
                  <a:rPr b="1" i="0" lang="en-US" sz="16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has_seq1(rcvpkt))</a:t>
                </a:r>
                <a:endParaRPr b="1" i="0" sz="16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3" name="Google Shape;303;p16"/>
              <p:cNvSpPr txBox="1"/>
              <p:nvPr/>
            </p:nvSpPr>
            <p:spPr>
              <a:xfrm>
                <a:off x="0" y="2954"/>
                <a:ext cx="1284" cy="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600"/>
                  <a:buFont typeface="Arial"/>
                  <a:buNone/>
                </a:pPr>
                <a:r>
                  <a:rPr b="1" i="0" lang="en-US" sz="16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udt_send(sndpkt)</a:t>
                </a:r>
                <a:endParaRPr b="1" i="0" sz="16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4" name="Google Shape;304;p16"/>
              <p:cNvSpPr txBox="1"/>
              <p:nvPr/>
            </p:nvSpPr>
            <p:spPr>
              <a:xfrm>
                <a:off x="2166" y="2709"/>
                <a:ext cx="1020" cy="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2000"/>
                  <a:buFont typeface="Tahoma"/>
                  <a:buNone/>
                </a:pPr>
                <a:r>
                  <a:rPr b="0" i="0" lang="en-US" sz="2000" u="none" cap="none" strike="noStrike">
                    <a:solidFill>
                      <a:srgbClr val="000099"/>
                    </a:solidFill>
                    <a:latin typeface="Tahoma"/>
                    <a:ea typeface="Tahoma"/>
                    <a:cs typeface="Tahoma"/>
                    <a:sym typeface="Tahoma"/>
                  </a:rPr>
                  <a:t>receiver FSM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2000"/>
                  <a:buFont typeface="Tahoma"/>
                  <a:buNone/>
                </a:pPr>
                <a:r>
                  <a:rPr b="0" i="0" lang="en-US" sz="2000" u="none" cap="none" strike="noStrike">
                    <a:solidFill>
                      <a:srgbClr val="000099"/>
                    </a:solidFill>
                    <a:latin typeface="Tahoma"/>
                    <a:ea typeface="Tahoma"/>
                    <a:cs typeface="Tahoma"/>
                    <a:sym typeface="Tahoma"/>
                  </a:rPr>
                  <a:t>fragment</a:t>
                </a:r>
                <a:endParaRPr/>
              </a:p>
            </p:txBody>
          </p:sp>
        </p:grpSp>
        <p:sp>
          <p:nvSpPr>
            <p:cNvPr id="305" name="Google Shape;305;p16"/>
            <p:cNvSpPr txBox="1"/>
            <p:nvPr/>
          </p:nvSpPr>
          <p:spPr>
            <a:xfrm>
              <a:off x="4318" y="2585"/>
              <a:ext cx="23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/>
            </a:p>
          </p:txBody>
        </p:sp>
      </p:grpSp>
      <p:sp>
        <p:nvSpPr>
          <p:cNvPr id="306" name="Google Shape;306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Transport Layer: 3-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"/>
          <p:cNvSpPr/>
          <p:nvPr/>
        </p:nvSpPr>
        <p:spPr>
          <a:xfrm>
            <a:off x="2666162" y="3735852"/>
            <a:ext cx="1037420" cy="2238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5108911" y="5798809"/>
            <a:ext cx="1037420" cy="2238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8105934" y="3949220"/>
            <a:ext cx="944562" cy="2238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4772033" y="1955144"/>
            <a:ext cx="1037420" cy="2238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rdt3.0 sender</a:t>
            </a:r>
            <a:endParaRPr sz="4400"/>
          </a:p>
        </p:txBody>
      </p:sp>
      <p:cxnSp>
        <p:nvCxnSpPr>
          <p:cNvPr id="317" name="Google Shape;317;p17"/>
          <p:cNvCxnSpPr/>
          <p:nvPr/>
        </p:nvCxnSpPr>
        <p:spPr>
          <a:xfrm>
            <a:off x="4488198" y="1637972"/>
            <a:ext cx="157163" cy="576262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cxnSp>
      <p:grpSp>
        <p:nvGrpSpPr>
          <p:cNvPr id="318" name="Google Shape;318;p17"/>
          <p:cNvGrpSpPr/>
          <p:nvPr/>
        </p:nvGrpSpPr>
        <p:grpSpPr>
          <a:xfrm>
            <a:off x="7099636" y="2184072"/>
            <a:ext cx="889000" cy="865187"/>
            <a:chOff x="445" y="1273"/>
            <a:chExt cx="560" cy="545"/>
          </a:xfrm>
        </p:grpSpPr>
        <p:sp>
          <p:nvSpPr>
            <p:cNvPr id="319" name="Google Shape;319;p17"/>
            <p:cNvSpPr/>
            <p:nvPr/>
          </p:nvSpPr>
          <p:spPr>
            <a:xfrm>
              <a:off x="445" y="1273"/>
              <a:ext cx="560" cy="545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0" name="Google Shape;320;p17"/>
            <p:cNvSpPr txBox="1"/>
            <p:nvPr/>
          </p:nvSpPr>
          <p:spPr>
            <a:xfrm>
              <a:off x="499" y="1309"/>
              <a:ext cx="450" cy="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ACK0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1" name="Google Shape;321;p17"/>
          <p:cNvGrpSpPr/>
          <p:nvPr/>
        </p:nvGrpSpPr>
        <p:grpSpPr>
          <a:xfrm>
            <a:off x="4758073" y="1183947"/>
            <a:ext cx="3860800" cy="1144587"/>
            <a:chOff x="4758073" y="1183947"/>
            <a:chExt cx="3860800" cy="1144587"/>
          </a:xfrm>
        </p:grpSpPr>
        <p:sp>
          <p:nvSpPr>
            <p:cNvPr id="322" name="Google Shape;322;p17"/>
            <p:cNvSpPr txBox="1"/>
            <p:nvPr/>
          </p:nvSpPr>
          <p:spPr>
            <a:xfrm>
              <a:off x="4758073" y="1477634"/>
              <a:ext cx="3860800" cy="561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make_pkt(0, data, checksum)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start_timer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" name="Google Shape;323;p17"/>
            <p:cNvSpPr txBox="1"/>
            <p:nvPr/>
          </p:nvSpPr>
          <p:spPr>
            <a:xfrm>
              <a:off x="4799348" y="1183947"/>
              <a:ext cx="17240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rdt_send(data)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24" name="Google Shape;324;p17"/>
            <p:cNvCxnSpPr/>
            <p:nvPr/>
          </p:nvCxnSpPr>
          <p:spPr>
            <a:xfrm>
              <a:off x="4900948" y="1522084"/>
              <a:ext cx="990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5" name="Google Shape;325;p17"/>
            <p:cNvSpPr/>
            <p:nvPr/>
          </p:nvSpPr>
          <p:spPr>
            <a:xfrm flipH="1" rot="10800000">
              <a:off x="5123198" y="2165022"/>
              <a:ext cx="2090738" cy="163512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26" name="Google Shape;326;p17"/>
          <p:cNvGrpSpPr/>
          <p:nvPr/>
        </p:nvGrpSpPr>
        <p:grpSpPr>
          <a:xfrm>
            <a:off x="7191711" y="4098597"/>
            <a:ext cx="1189037" cy="850900"/>
            <a:chOff x="4090" y="3230"/>
            <a:chExt cx="749" cy="536"/>
          </a:xfrm>
        </p:grpSpPr>
        <p:sp>
          <p:nvSpPr>
            <p:cNvPr id="327" name="Google Shape;327;p17"/>
            <p:cNvSpPr/>
            <p:nvPr/>
          </p:nvSpPr>
          <p:spPr>
            <a:xfrm>
              <a:off x="4159" y="3230"/>
              <a:ext cx="595" cy="536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8" name="Google Shape;328;p17"/>
            <p:cNvSpPr txBox="1"/>
            <p:nvPr/>
          </p:nvSpPr>
          <p:spPr>
            <a:xfrm>
              <a:off x="4090" y="3270"/>
              <a:ext cx="749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call 1 from above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9" name="Google Shape;329;p17"/>
          <p:cNvGrpSpPr/>
          <p:nvPr/>
        </p:nvGrpSpPr>
        <p:grpSpPr>
          <a:xfrm>
            <a:off x="5054936" y="4832022"/>
            <a:ext cx="3444875" cy="1038225"/>
            <a:chOff x="5054936" y="4832022"/>
            <a:chExt cx="3444875" cy="1038225"/>
          </a:xfrm>
        </p:grpSpPr>
        <p:sp>
          <p:nvSpPr>
            <p:cNvPr id="330" name="Google Shape;330;p17"/>
            <p:cNvSpPr/>
            <p:nvPr/>
          </p:nvSpPr>
          <p:spPr>
            <a:xfrm>
              <a:off x="5108911" y="4832022"/>
              <a:ext cx="2312987" cy="274637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1" name="Google Shape;331;p17"/>
            <p:cNvSpPr txBox="1"/>
            <p:nvPr/>
          </p:nvSpPr>
          <p:spPr>
            <a:xfrm>
              <a:off x="5054936" y="5317797"/>
              <a:ext cx="3444875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make_pkt(1, data, checksum)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start_timer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" name="Google Shape;332;p17"/>
            <p:cNvSpPr txBox="1"/>
            <p:nvPr/>
          </p:nvSpPr>
          <p:spPr>
            <a:xfrm>
              <a:off x="5054936" y="5035222"/>
              <a:ext cx="17240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rdt_send(data)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33" name="Google Shape;333;p17"/>
            <p:cNvCxnSpPr/>
            <p:nvPr/>
          </p:nvCxnSpPr>
          <p:spPr>
            <a:xfrm>
              <a:off x="5173998" y="5346372"/>
              <a:ext cx="259873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34" name="Google Shape;334;p17"/>
          <p:cNvGrpSpPr/>
          <p:nvPr/>
        </p:nvGrpSpPr>
        <p:grpSpPr>
          <a:xfrm>
            <a:off x="7858461" y="2912734"/>
            <a:ext cx="2309812" cy="1184275"/>
            <a:chOff x="7858461" y="2912734"/>
            <a:chExt cx="2309812" cy="1184275"/>
          </a:xfrm>
        </p:grpSpPr>
        <p:sp>
          <p:nvSpPr>
            <p:cNvPr id="335" name="Google Shape;335;p17"/>
            <p:cNvSpPr/>
            <p:nvPr/>
          </p:nvSpPr>
          <p:spPr>
            <a:xfrm rot="-5400000">
              <a:off x="7349667" y="3421528"/>
              <a:ext cx="1184275" cy="166687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6" name="Google Shape;336;p17"/>
            <p:cNvSpPr txBox="1"/>
            <p:nvPr/>
          </p:nvSpPr>
          <p:spPr>
            <a:xfrm>
              <a:off x="8018798" y="3200072"/>
              <a:ext cx="2149475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notcorrupt(rcvpkt)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isACK(rcvpkt,0)</a:t>
              </a: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37" name="Google Shape;337;p17"/>
            <p:cNvCxnSpPr/>
            <p:nvPr/>
          </p:nvCxnSpPr>
          <p:spPr>
            <a:xfrm>
              <a:off x="8134686" y="3911272"/>
              <a:ext cx="14192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8" name="Google Shape;338;p17"/>
            <p:cNvSpPr txBox="1"/>
            <p:nvPr/>
          </p:nvSpPr>
          <p:spPr>
            <a:xfrm>
              <a:off x="8039436" y="3892222"/>
              <a:ext cx="1514475" cy="1793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stop_timer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9" name="Google Shape;339;p17"/>
          <p:cNvGrpSpPr/>
          <p:nvPr/>
        </p:nvGrpSpPr>
        <p:grpSpPr>
          <a:xfrm>
            <a:off x="2638761" y="2958772"/>
            <a:ext cx="1945938" cy="1239836"/>
            <a:chOff x="2638761" y="2958772"/>
            <a:chExt cx="1945938" cy="1239836"/>
          </a:xfrm>
        </p:grpSpPr>
        <p:sp>
          <p:nvSpPr>
            <p:cNvPr id="340" name="Google Shape;340;p17"/>
            <p:cNvSpPr/>
            <p:nvPr/>
          </p:nvSpPr>
          <p:spPr>
            <a:xfrm flipH="1" rot="5400000">
              <a:off x="3932568" y="3546478"/>
              <a:ext cx="1150609" cy="153652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1" name="Google Shape;341;p17"/>
            <p:cNvSpPr txBox="1"/>
            <p:nvPr/>
          </p:nvSpPr>
          <p:spPr>
            <a:xfrm>
              <a:off x="2646698" y="2958772"/>
              <a:ext cx="1912938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notcorrupt(rcvpkt)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isACK(rcvpkt,1)</a:t>
              </a: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42" name="Google Shape;342;p17"/>
            <p:cNvCxnSpPr/>
            <p:nvPr/>
          </p:nvCxnSpPr>
          <p:spPr>
            <a:xfrm>
              <a:off x="2773698" y="3698547"/>
              <a:ext cx="151765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3" name="Google Shape;343;p17"/>
            <p:cNvSpPr txBox="1"/>
            <p:nvPr/>
          </p:nvSpPr>
          <p:spPr>
            <a:xfrm>
              <a:off x="2638761" y="3671559"/>
              <a:ext cx="1514475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stop_timer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44" name="Google Shape;344;p17"/>
          <p:cNvGrpSpPr/>
          <p:nvPr/>
        </p:nvGrpSpPr>
        <p:grpSpPr>
          <a:xfrm>
            <a:off x="7977523" y="2372984"/>
            <a:ext cx="2447925" cy="741363"/>
            <a:chOff x="7977523" y="2372984"/>
            <a:chExt cx="2447925" cy="741363"/>
          </a:xfrm>
        </p:grpSpPr>
        <p:sp>
          <p:nvSpPr>
            <p:cNvPr id="345" name="Google Shape;345;p17"/>
            <p:cNvSpPr/>
            <p:nvPr/>
          </p:nvSpPr>
          <p:spPr>
            <a:xfrm>
              <a:off x="8369605" y="2404148"/>
              <a:ext cx="732514" cy="223838"/>
            </a:xfrm>
            <a:prstGeom prst="rect">
              <a:avLst/>
            </a:prstGeom>
            <a:solidFill>
              <a:srgbClr val="FFB3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8358054" y="2870582"/>
              <a:ext cx="1037420" cy="22383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7" name="Google Shape;347;p17"/>
            <p:cNvGrpSpPr/>
            <p:nvPr/>
          </p:nvGrpSpPr>
          <p:grpSpPr>
            <a:xfrm>
              <a:off x="7977523" y="2372984"/>
              <a:ext cx="2447925" cy="741363"/>
              <a:chOff x="7977523" y="2372984"/>
              <a:chExt cx="2447925" cy="741363"/>
            </a:xfrm>
          </p:grpSpPr>
          <p:sp>
            <p:nvSpPr>
              <p:cNvPr id="348" name="Google Shape;348;p17"/>
              <p:cNvSpPr/>
              <p:nvPr/>
            </p:nvSpPr>
            <p:spPr>
              <a:xfrm>
                <a:off x="7977523" y="2431722"/>
                <a:ext cx="461963" cy="682625"/>
              </a:xfrm>
              <a:custGeom>
                <a:rect b="b" l="l" r="r" t="t"/>
                <a:pathLst>
                  <a:path extrusionOk="0" h="430" w="291">
                    <a:moveTo>
                      <a:pt x="0" y="120"/>
                    </a:moveTo>
                    <a:cubicBezTo>
                      <a:pt x="291" y="0"/>
                      <a:pt x="259" y="430"/>
                      <a:pt x="15" y="255"/>
                    </a:cubicBez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49" name="Google Shape;349;p17"/>
              <p:cNvSpPr txBox="1"/>
              <p:nvPr/>
            </p:nvSpPr>
            <p:spPr>
              <a:xfrm>
                <a:off x="8309311" y="2609522"/>
                <a:ext cx="2116137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udt_send(sndpkt)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start_timer</a:t>
                </a:r>
                <a:endParaRPr b="0" i="0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0" name="Google Shape;350;p17"/>
              <p:cNvSpPr txBox="1"/>
              <p:nvPr/>
            </p:nvSpPr>
            <p:spPr>
              <a:xfrm>
                <a:off x="8331536" y="2372984"/>
                <a:ext cx="1114425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timeout</a:t>
                </a:r>
                <a:endParaRPr b="0" i="0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51" name="Google Shape;351;p17"/>
              <p:cNvCxnSpPr/>
              <p:nvPr/>
            </p:nvCxnSpPr>
            <p:spPr>
              <a:xfrm>
                <a:off x="8420436" y="2626984"/>
                <a:ext cx="990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52" name="Google Shape;352;p17"/>
          <p:cNvGrpSpPr/>
          <p:nvPr/>
        </p:nvGrpSpPr>
        <p:grpSpPr>
          <a:xfrm>
            <a:off x="4157998" y="2228522"/>
            <a:ext cx="1189038" cy="850900"/>
            <a:chOff x="4090" y="3230"/>
            <a:chExt cx="749" cy="536"/>
          </a:xfrm>
        </p:grpSpPr>
        <p:sp>
          <p:nvSpPr>
            <p:cNvPr id="353" name="Google Shape;353;p17"/>
            <p:cNvSpPr/>
            <p:nvPr/>
          </p:nvSpPr>
          <p:spPr>
            <a:xfrm>
              <a:off x="4159" y="3230"/>
              <a:ext cx="595" cy="536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54" name="Google Shape;354;p17"/>
            <p:cNvSpPr txBox="1"/>
            <p:nvPr/>
          </p:nvSpPr>
          <p:spPr>
            <a:xfrm>
              <a:off x="4090" y="3270"/>
              <a:ext cx="749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call 0 from above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5" name="Google Shape;355;p17"/>
          <p:cNvGrpSpPr/>
          <p:nvPr/>
        </p:nvGrpSpPr>
        <p:grpSpPr>
          <a:xfrm>
            <a:off x="4369136" y="4082722"/>
            <a:ext cx="889000" cy="865187"/>
            <a:chOff x="445" y="1273"/>
            <a:chExt cx="560" cy="545"/>
          </a:xfrm>
        </p:grpSpPr>
        <p:sp>
          <p:nvSpPr>
            <p:cNvPr id="356" name="Google Shape;356;p17"/>
            <p:cNvSpPr/>
            <p:nvPr/>
          </p:nvSpPr>
          <p:spPr>
            <a:xfrm>
              <a:off x="445" y="1273"/>
              <a:ext cx="560" cy="545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57" name="Google Shape;357;p17"/>
            <p:cNvSpPr txBox="1"/>
            <p:nvPr/>
          </p:nvSpPr>
          <p:spPr>
            <a:xfrm>
              <a:off x="499" y="1309"/>
              <a:ext cx="450" cy="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ACK1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8" name="Google Shape;358;p17"/>
          <p:cNvGrpSpPr/>
          <p:nvPr/>
        </p:nvGrpSpPr>
        <p:grpSpPr>
          <a:xfrm>
            <a:off x="8164848" y="4466897"/>
            <a:ext cx="1760538" cy="890587"/>
            <a:chOff x="8164848" y="4466897"/>
            <a:chExt cx="1760538" cy="890587"/>
          </a:xfrm>
        </p:grpSpPr>
        <p:sp>
          <p:nvSpPr>
            <p:cNvPr id="359" name="Google Shape;359;p17"/>
            <p:cNvSpPr/>
            <p:nvPr/>
          </p:nvSpPr>
          <p:spPr>
            <a:xfrm>
              <a:off x="8164848" y="4466897"/>
              <a:ext cx="579438" cy="890587"/>
            </a:xfrm>
            <a:custGeom>
              <a:rect b="b" l="l" r="r" t="t"/>
              <a:pathLst>
                <a:path extrusionOk="0" h="483" w="322">
                  <a:moveTo>
                    <a:pt x="31" y="120"/>
                  </a:moveTo>
                  <a:cubicBezTo>
                    <a:pt x="322" y="0"/>
                    <a:pt x="64" y="483"/>
                    <a:pt x="0" y="183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0" name="Google Shape;360;p17"/>
            <p:cNvSpPr txBox="1"/>
            <p:nvPr/>
          </p:nvSpPr>
          <p:spPr>
            <a:xfrm>
              <a:off x="8963361" y="4946322"/>
              <a:ext cx="3238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/>
            </a:p>
          </p:txBody>
        </p:sp>
        <p:sp>
          <p:nvSpPr>
            <p:cNvPr id="361" name="Google Shape;361;p17"/>
            <p:cNvSpPr txBox="1"/>
            <p:nvPr/>
          </p:nvSpPr>
          <p:spPr>
            <a:xfrm>
              <a:off x="8496636" y="4697084"/>
              <a:ext cx="14287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62" name="Google Shape;362;p17"/>
            <p:cNvCxnSpPr/>
            <p:nvPr/>
          </p:nvCxnSpPr>
          <p:spPr>
            <a:xfrm>
              <a:off x="8583948" y="4982834"/>
              <a:ext cx="11017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63" name="Google Shape;363;p17"/>
          <p:cNvGrpSpPr/>
          <p:nvPr/>
        </p:nvGrpSpPr>
        <p:grpSpPr>
          <a:xfrm>
            <a:off x="7807661" y="1290309"/>
            <a:ext cx="2117725" cy="1144588"/>
            <a:chOff x="7807661" y="1290309"/>
            <a:chExt cx="2117725" cy="1144588"/>
          </a:xfrm>
        </p:grpSpPr>
        <p:sp>
          <p:nvSpPr>
            <p:cNvPr id="364" name="Google Shape;364;p17"/>
            <p:cNvSpPr/>
            <p:nvPr/>
          </p:nvSpPr>
          <p:spPr>
            <a:xfrm>
              <a:off x="7807661" y="1768147"/>
              <a:ext cx="871537" cy="666750"/>
            </a:xfrm>
            <a:custGeom>
              <a:rect b="b" l="l" r="r" t="t"/>
              <a:pathLst>
                <a:path extrusionOk="0" h="420" w="549">
                  <a:moveTo>
                    <a:pt x="0" y="306"/>
                  </a:moveTo>
                  <a:cubicBezTo>
                    <a:pt x="78" y="0"/>
                    <a:pt x="549" y="315"/>
                    <a:pt x="87" y="42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5" name="Google Shape;365;p17"/>
            <p:cNvSpPr txBox="1"/>
            <p:nvPr/>
          </p:nvSpPr>
          <p:spPr>
            <a:xfrm>
              <a:off x="8220411" y="1290309"/>
              <a:ext cx="1704975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corrupt(rcvpkt) ||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isACK(rcvpkt,1) 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66" name="Google Shape;366;p17"/>
            <p:cNvCxnSpPr/>
            <p:nvPr/>
          </p:nvCxnSpPr>
          <p:spPr>
            <a:xfrm>
              <a:off x="8429961" y="1991984"/>
              <a:ext cx="1350962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7" name="Google Shape;367;p17"/>
            <p:cNvSpPr txBox="1"/>
            <p:nvPr/>
          </p:nvSpPr>
          <p:spPr>
            <a:xfrm>
              <a:off x="8866523" y="1941184"/>
              <a:ext cx="3238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/>
            </a:p>
          </p:txBody>
        </p:sp>
      </p:grpSp>
      <p:grpSp>
        <p:nvGrpSpPr>
          <p:cNvPr id="368" name="Google Shape;368;p17"/>
          <p:cNvGrpSpPr/>
          <p:nvPr/>
        </p:nvGrpSpPr>
        <p:grpSpPr>
          <a:xfrm>
            <a:off x="2775286" y="1876097"/>
            <a:ext cx="1549400" cy="890587"/>
            <a:chOff x="2775286" y="1876097"/>
            <a:chExt cx="1549400" cy="890587"/>
          </a:xfrm>
        </p:grpSpPr>
        <p:sp>
          <p:nvSpPr>
            <p:cNvPr id="369" name="Google Shape;369;p17"/>
            <p:cNvSpPr txBox="1"/>
            <p:nvPr/>
          </p:nvSpPr>
          <p:spPr>
            <a:xfrm>
              <a:off x="2775286" y="1968172"/>
              <a:ext cx="14287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70" name="Google Shape;370;p17"/>
            <p:cNvCxnSpPr/>
            <p:nvPr/>
          </p:nvCxnSpPr>
          <p:spPr>
            <a:xfrm>
              <a:off x="2862598" y="2253922"/>
              <a:ext cx="11017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1" name="Google Shape;371;p17"/>
            <p:cNvSpPr/>
            <p:nvPr/>
          </p:nvSpPr>
          <p:spPr>
            <a:xfrm rot="10800000">
              <a:off x="3745248" y="1876097"/>
              <a:ext cx="579438" cy="890587"/>
            </a:xfrm>
            <a:custGeom>
              <a:rect b="b" l="l" r="r" t="t"/>
              <a:pathLst>
                <a:path extrusionOk="0" h="483" w="322">
                  <a:moveTo>
                    <a:pt x="31" y="120"/>
                  </a:moveTo>
                  <a:cubicBezTo>
                    <a:pt x="322" y="0"/>
                    <a:pt x="64" y="483"/>
                    <a:pt x="0" y="183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2" name="Google Shape;372;p17"/>
            <p:cNvSpPr txBox="1"/>
            <p:nvPr/>
          </p:nvSpPr>
          <p:spPr>
            <a:xfrm>
              <a:off x="3215023" y="2217409"/>
              <a:ext cx="3238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/>
            </a:p>
          </p:txBody>
        </p:sp>
      </p:grpSp>
      <p:grpSp>
        <p:nvGrpSpPr>
          <p:cNvPr id="373" name="Google Shape;373;p17"/>
          <p:cNvGrpSpPr/>
          <p:nvPr/>
        </p:nvGrpSpPr>
        <p:grpSpPr>
          <a:xfrm>
            <a:off x="2367298" y="4307189"/>
            <a:ext cx="1973263" cy="725996"/>
            <a:chOff x="2367298" y="4307189"/>
            <a:chExt cx="1973263" cy="725996"/>
          </a:xfrm>
        </p:grpSpPr>
        <p:sp>
          <p:nvSpPr>
            <p:cNvPr id="374" name="Google Shape;374;p17"/>
            <p:cNvSpPr/>
            <p:nvPr/>
          </p:nvSpPr>
          <p:spPr>
            <a:xfrm>
              <a:off x="2418382" y="4342649"/>
              <a:ext cx="769654" cy="223838"/>
            </a:xfrm>
            <a:prstGeom prst="rect">
              <a:avLst/>
            </a:prstGeom>
            <a:solidFill>
              <a:srgbClr val="FFB3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7"/>
            <p:cNvSpPr/>
            <p:nvPr/>
          </p:nvSpPr>
          <p:spPr>
            <a:xfrm>
              <a:off x="2418337" y="4809347"/>
              <a:ext cx="909161" cy="22383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7"/>
            <p:cNvSpPr/>
            <p:nvPr/>
          </p:nvSpPr>
          <p:spPr>
            <a:xfrm>
              <a:off x="3769061" y="4506584"/>
              <a:ext cx="571500" cy="420688"/>
            </a:xfrm>
            <a:custGeom>
              <a:rect b="b" l="l" r="r" t="t"/>
              <a:pathLst>
                <a:path extrusionOk="0" h="662" w="900">
                  <a:moveTo>
                    <a:pt x="900" y="360"/>
                  </a:moveTo>
                  <a:cubicBezTo>
                    <a:pt x="171" y="662"/>
                    <a:pt x="0" y="0"/>
                    <a:pt x="825" y="15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7" name="Google Shape;377;p17"/>
            <p:cNvSpPr txBox="1"/>
            <p:nvPr/>
          </p:nvSpPr>
          <p:spPr>
            <a:xfrm>
              <a:off x="2367298" y="4554209"/>
              <a:ext cx="1824038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start_timer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8" name="Google Shape;378;p17"/>
            <p:cNvSpPr txBox="1"/>
            <p:nvPr/>
          </p:nvSpPr>
          <p:spPr>
            <a:xfrm>
              <a:off x="2381586" y="4307189"/>
              <a:ext cx="11144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timeout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79" name="Google Shape;379;p17"/>
            <p:cNvCxnSpPr/>
            <p:nvPr/>
          </p:nvCxnSpPr>
          <p:spPr>
            <a:xfrm>
              <a:off x="2484773" y="4582784"/>
              <a:ext cx="990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0" name="Google Shape;380;p17"/>
          <p:cNvGrpSpPr/>
          <p:nvPr/>
        </p:nvGrpSpPr>
        <p:grpSpPr>
          <a:xfrm>
            <a:off x="3029286" y="4795509"/>
            <a:ext cx="1631950" cy="1428750"/>
            <a:chOff x="3029286" y="4795509"/>
            <a:chExt cx="1631950" cy="1428750"/>
          </a:xfrm>
        </p:grpSpPr>
        <p:sp>
          <p:nvSpPr>
            <p:cNvPr id="381" name="Google Shape;381;p17"/>
            <p:cNvSpPr txBox="1"/>
            <p:nvPr/>
          </p:nvSpPr>
          <p:spPr>
            <a:xfrm>
              <a:off x="3029286" y="5155872"/>
              <a:ext cx="1622425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corrupt(rcvpkt) ||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isACK(rcvpkt,0) 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82" name="Google Shape;382;p17"/>
            <p:cNvCxnSpPr/>
            <p:nvPr/>
          </p:nvCxnSpPr>
          <p:spPr>
            <a:xfrm>
              <a:off x="3132473" y="5881359"/>
              <a:ext cx="12541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3" name="Google Shape;383;p17"/>
            <p:cNvSpPr/>
            <p:nvPr/>
          </p:nvSpPr>
          <p:spPr>
            <a:xfrm>
              <a:off x="3969086" y="4795509"/>
              <a:ext cx="692150" cy="631825"/>
            </a:xfrm>
            <a:custGeom>
              <a:rect b="b" l="l" r="r" t="t"/>
              <a:pathLst>
                <a:path extrusionOk="0" h="398" w="436">
                  <a:moveTo>
                    <a:pt x="436" y="101"/>
                  </a:moveTo>
                  <a:cubicBezTo>
                    <a:pt x="367" y="398"/>
                    <a:pt x="0" y="31"/>
                    <a:pt x="300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4" name="Google Shape;384;p17"/>
            <p:cNvSpPr txBox="1"/>
            <p:nvPr/>
          </p:nvSpPr>
          <p:spPr>
            <a:xfrm>
              <a:off x="3618248" y="5887709"/>
              <a:ext cx="3238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/>
            </a:p>
          </p:txBody>
        </p:sp>
      </p:grpSp>
      <p:sp>
        <p:nvSpPr>
          <p:cNvPr id="385" name="Google Shape;385;p17"/>
          <p:cNvSpPr/>
          <p:nvPr/>
        </p:nvSpPr>
        <p:spPr>
          <a:xfrm>
            <a:off x="7086600" y="2184400"/>
            <a:ext cx="914400" cy="867848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7302500" y="4102100"/>
            <a:ext cx="936658" cy="850900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4356100" y="4070372"/>
            <a:ext cx="914400" cy="876300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4254500" y="2216171"/>
            <a:ext cx="952500" cy="871123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Transport Layer: 3-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8"/>
          <p:cNvSpPr txBox="1"/>
          <p:nvPr>
            <p:ph type="title"/>
          </p:nvPr>
        </p:nvSpPr>
        <p:spPr>
          <a:xfrm>
            <a:off x="812800" y="232962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TCP congestion control Summary</a:t>
            </a:r>
            <a:endParaRPr b="0" sz="4400"/>
          </a:p>
        </p:txBody>
      </p:sp>
      <p:grpSp>
        <p:nvGrpSpPr>
          <p:cNvPr id="396" name="Google Shape;396;p18"/>
          <p:cNvGrpSpPr/>
          <p:nvPr/>
        </p:nvGrpSpPr>
        <p:grpSpPr>
          <a:xfrm>
            <a:off x="5041900" y="2967944"/>
            <a:ext cx="2133600" cy="814388"/>
            <a:chOff x="2168" y="1727"/>
            <a:chExt cx="1344" cy="513"/>
          </a:xfrm>
        </p:grpSpPr>
        <p:grpSp>
          <p:nvGrpSpPr>
            <p:cNvPr id="397" name="Google Shape;397;p18"/>
            <p:cNvGrpSpPr/>
            <p:nvPr/>
          </p:nvGrpSpPr>
          <p:grpSpPr>
            <a:xfrm>
              <a:off x="2280" y="1727"/>
              <a:ext cx="1118" cy="513"/>
              <a:chOff x="2280" y="1727"/>
              <a:chExt cx="1118" cy="513"/>
            </a:xfrm>
          </p:grpSpPr>
          <p:sp>
            <p:nvSpPr>
              <p:cNvPr id="398" name="Google Shape;398;p18"/>
              <p:cNvSpPr txBox="1"/>
              <p:nvPr/>
            </p:nvSpPr>
            <p:spPr>
              <a:xfrm>
                <a:off x="2640" y="1727"/>
                <a:ext cx="377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timeout</a:t>
                </a:r>
                <a:endParaRPr/>
              </a:p>
            </p:txBody>
          </p:sp>
          <p:sp>
            <p:nvSpPr>
              <p:cNvPr id="399" name="Google Shape;399;p18"/>
              <p:cNvSpPr txBox="1"/>
              <p:nvPr/>
            </p:nvSpPr>
            <p:spPr>
              <a:xfrm>
                <a:off x="2280" y="1838"/>
                <a:ext cx="1118" cy="4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 = cwnd/2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1 MSS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00"/>
                  <a:buFont typeface="Arial"/>
                  <a:buNone/>
                </a:pPr>
                <a:r>
                  <a:rPr b="0" i="1" lang="en-US" sz="100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retransmit missing segment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</p:txBody>
          </p:sp>
          <p:cxnSp>
            <p:nvCxnSpPr>
              <p:cNvPr id="400" name="Google Shape;400;p18"/>
              <p:cNvCxnSpPr/>
              <p:nvPr/>
            </p:nvCxnSpPr>
            <p:spPr>
              <a:xfrm>
                <a:off x="2491" y="1857"/>
                <a:ext cx="697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401" name="Google Shape;401;p18"/>
            <p:cNvCxnSpPr/>
            <p:nvPr/>
          </p:nvCxnSpPr>
          <p:spPr>
            <a:xfrm rot="10800000">
              <a:off x="2168" y="1734"/>
              <a:ext cx="1344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02" name="Google Shape;402;p18"/>
          <p:cNvGrpSpPr/>
          <p:nvPr/>
        </p:nvGrpSpPr>
        <p:grpSpPr>
          <a:xfrm>
            <a:off x="5072063" y="2491694"/>
            <a:ext cx="2133600" cy="398463"/>
            <a:chOff x="2187" y="1427"/>
            <a:chExt cx="1344" cy="251"/>
          </a:xfrm>
        </p:grpSpPr>
        <p:cxnSp>
          <p:nvCxnSpPr>
            <p:cNvPr id="403" name="Google Shape;403;p18"/>
            <p:cNvCxnSpPr/>
            <p:nvPr/>
          </p:nvCxnSpPr>
          <p:spPr>
            <a:xfrm rot="10800000">
              <a:off x="2187" y="1673"/>
              <a:ext cx="1344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404" name="Google Shape;404;p18"/>
            <p:cNvSpPr txBox="1"/>
            <p:nvPr/>
          </p:nvSpPr>
          <p:spPr>
            <a:xfrm>
              <a:off x="2740" y="1543"/>
              <a:ext cx="171" cy="1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Noto Sans Symbols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 b="0" i="0" sz="12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cxnSp>
          <p:nvCxnSpPr>
            <p:cNvPr id="405" name="Google Shape;405;p18"/>
            <p:cNvCxnSpPr/>
            <p:nvPr/>
          </p:nvCxnSpPr>
          <p:spPr>
            <a:xfrm>
              <a:off x="2572" y="1554"/>
              <a:ext cx="53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6" name="Google Shape;406;p18"/>
            <p:cNvGrpSpPr/>
            <p:nvPr/>
          </p:nvGrpSpPr>
          <p:grpSpPr>
            <a:xfrm>
              <a:off x="2486" y="1427"/>
              <a:ext cx="694" cy="154"/>
              <a:chOff x="2458" y="1450"/>
              <a:chExt cx="694" cy="154"/>
            </a:xfrm>
          </p:grpSpPr>
          <p:sp>
            <p:nvSpPr>
              <p:cNvPr id="407" name="Google Shape;407;p18"/>
              <p:cNvSpPr txBox="1"/>
              <p:nvPr/>
            </p:nvSpPr>
            <p:spPr>
              <a:xfrm>
                <a:off x="2458" y="1450"/>
                <a:ext cx="69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&gt; ssthresh</a:t>
                </a:r>
                <a:endParaRPr/>
              </a:p>
            </p:txBody>
          </p:sp>
          <p:cxnSp>
            <p:nvCxnSpPr>
              <p:cNvPr id="408" name="Google Shape;408;p18"/>
              <p:cNvCxnSpPr/>
              <p:nvPr/>
            </p:nvCxnSpPr>
            <p:spPr>
              <a:xfrm>
                <a:off x="2724" y="1557"/>
                <a:ext cx="47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09" name="Google Shape;409;p18"/>
          <p:cNvGrpSpPr/>
          <p:nvPr/>
        </p:nvGrpSpPr>
        <p:grpSpPr>
          <a:xfrm>
            <a:off x="7118352" y="1429657"/>
            <a:ext cx="2782888" cy="2398713"/>
            <a:chOff x="3476" y="786"/>
            <a:chExt cx="1753" cy="1511"/>
          </a:xfrm>
        </p:grpSpPr>
        <p:grpSp>
          <p:nvGrpSpPr>
            <p:cNvPr id="410" name="Google Shape;410;p18"/>
            <p:cNvGrpSpPr/>
            <p:nvPr/>
          </p:nvGrpSpPr>
          <p:grpSpPr>
            <a:xfrm>
              <a:off x="3602" y="1330"/>
              <a:ext cx="820" cy="754"/>
              <a:chOff x="2293" y="2021"/>
              <a:chExt cx="820" cy="754"/>
            </a:xfrm>
          </p:grpSpPr>
          <p:sp>
            <p:nvSpPr>
              <p:cNvPr id="411" name="Google Shape;411;p18"/>
              <p:cNvSpPr/>
              <p:nvPr/>
            </p:nvSpPr>
            <p:spPr>
              <a:xfrm>
                <a:off x="2293" y="2021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12" name="Google Shape;412;p18"/>
              <p:cNvSpPr txBox="1"/>
              <p:nvPr/>
            </p:nvSpPr>
            <p:spPr>
              <a:xfrm>
                <a:off x="2294" y="2191"/>
                <a:ext cx="819" cy="5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congestion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avoidance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ahom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3" name="Google Shape;413;p18"/>
            <p:cNvGrpSpPr/>
            <p:nvPr/>
          </p:nvGrpSpPr>
          <p:grpSpPr>
            <a:xfrm>
              <a:off x="3476" y="786"/>
              <a:ext cx="1496" cy="575"/>
              <a:chOff x="3499" y="904"/>
              <a:chExt cx="1496" cy="575"/>
            </a:xfrm>
          </p:grpSpPr>
          <p:sp>
            <p:nvSpPr>
              <p:cNvPr id="414" name="Google Shape;414;p18"/>
              <p:cNvSpPr txBox="1"/>
              <p:nvPr/>
            </p:nvSpPr>
            <p:spPr>
              <a:xfrm>
                <a:off x="3499" y="1037"/>
                <a:ext cx="1496" cy="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cwnd + MSS    (MSS/cwnd)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transmit new segment(s), as allowed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1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15" name="Google Shape;415;p18"/>
              <p:cNvCxnSpPr/>
              <p:nvPr/>
            </p:nvCxnSpPr>
            <p:spPr>
              <a:xfrm>
                <a:off x="3976" y="1054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6" name="Google Shape;416;p18"/>
              <p:cNvSpPr txBox="1"/>
              <p:nvPr/>
            </p:nvSpPr>
            <p:spPr>
              <a:xfrm>
                <a:off x="3974" y="915"/>
                <a:ext cx="471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new ACK</a:t>
                </a:r>
                <a:endParaRPr/>
              </a:p>
            </p:txBody>
          </p:sp>
          <p:sp>
            <p:nvSpPr>
              <p:cNvPr id="417" name="Google Shape;417;p18"/>
              <p:cNvSpPr txBox="1"/>
              <p:nvPr/>
            </p:nvSpPr>
            <p:spPr>
              <a:xfrm>
                <a:off x="4311" y="904"/>
                <a:ext cx="173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Times New Roman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.</a:t>
                </a:r>
                <a:endParaRPr/>
              </a:p>
            </p:txBody>
          </p:sp>
        </p:grpSp>
        <p:sp>
          <p:nvSpPr>
            <p:cNvPr id="418" name="Google Shape;418;p18"/>
            <p:cNvSpPr/>
            <p:nvPr/>
          </p:nvSpPr>
          <p:spPr>
            <a:xfrm rot="9705213">
              <a:off x="4212" y="1145"/>
              <a:ext cx="333" cy="452"/>
            </a:xfrm>
            <a:custGeom>
              <a:rect b="b" l="l" r="r" t="t"/>
              <a:pathLst>
                <a:path extrusionOk="0" h="452" w="376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19" name="Google Shape;419;p18"/>
            <p:cNvGrpSpPr/>
            <p:nvPr/>
          </p:nvGrpSpPr>
          <p:grpSpPr>
            <a:xfrm>
              <a:off x="4489" y="1909"/>
              <a:ext cx="740" cy="388"/>
              <a:chOff x="4254" y="2922"/>
              <a:chExt cx="740" cy="388"/>
            </a:xfrm>
          </p:grpSpPr>
          <p:sp>
            <p:nvSpPr>
              <p:cNvPr id="420" name="Google Shape;420;p18"/>
              <p:cNvSpPr txBox="1"/>
              <p:nvPr/>
            </p:nvSpPr>
            <p:spPr>
              <a:xfrm>
                <a:off x="4254" y="3062"/>
                <a:ext cx="740" cy="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dupACKcount++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21" name="Google Shape;421;p18"/>
              <p:cNvCxnSpPr/>
              <p:nvPr/>
            </p:nvCxnSpPr>
            <p:spPr>
              <a:xfrm>
                <a:off x="4353" y="3071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2" name="Google Shape;422;p18"/>
              <p:cNvSpPr txBox="1"/>
              <p:nvPr/>
            </p:nvSpPr>
            <p:spPr>
              <a:xfrm>
                <a:off x="4295" y="2922"/>
                <a:ext cx="656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duplicate ACK</a:t>
                </a:r>
                <a:endParaRPr/>
              </a:p>
            </p:txBody>
          </p:sp>
        </p:grpSp>
        <p:sp>
          <p:nvSpPr>
            <p:cNvPr id="423" name="Google Shape;423;p18"/>
            <p:cNvSpPr/>
            <p:nvPr/>
          </p:nvSpPr>
          <p:spPr>
            <a:xfrm rot="-7516021">
              <a:off x="4290" y="1673"/>
              <a:ext cx="333" cy="452"/>
            </a:xfrm>
            <a:custGeom>
              <a:rect b="b" l="l" r="r" t="t"/>
              <a:pathLst>
                <a:path extrusionOk="0" h="452" w="376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24" name="Google Shape;424;p18"/>
          <p:cNvGrpSpPr/>
          <p:nvPr/>
        </p:nvGrpSpPr>
        <p:grpSpPr>
          <a:xfrm>
            <a:off x="5629276" y="4880882"/>
            <a:ext cx="3417888" cy="1758950"/>
            <a:chOff x="2538" y="2960"/>
            <a:chExt cx="2153" cy="1108"/>
          </a:xfrm>
        </p:grpSpPr>
        <p:grpSp>
          <p:nvGrpSpPr>
            <p:cNvPr id="425" name="Google Shape;425;p18"/>
            <p:cNvGrpSpPr/>
            <p:nvPr/>
          </p:nvGrpSpPr>
          <p:grpSpPr>
            <a:xfrm>
              <a:off x="2538" y="2960"/>
              <a:ext cx="800" cy="767"/>
              <a:chOff x="2454" y="3045"/>
              <a:chExt cx="800" cy="767"/>
            </a:xfrm>
          </p:grpSpPr>
          <p:sp>
            <p:nvSpPr>
              <p:cNvPr id="426" name="Google Shape;426;p18"/>
              <p:cNvSpPr/>
              <p:nvPr/>
            </p:nvSpPr>
            <p:spPr>
              <a:xfrm>
                <a:off x="2454" y="3045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27" name="Google Shape;427;p18"/>
              <p:cNvSpPr txBox="1"/>
              <p:nvPr/>
            </p:nvSpPr>
            <p:spPr>
              <a:xfrm>
                <a:off x="2794" y="3212"/>
                <a:ext cx="161" cy="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ahoma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18"/>
              <p:cNvSpPr txBox="1"/>
              <p:nvPr/>
            </p:nvSpPr>
            <p:spPr>
              <a:xfrm>
                <a:off x="2466" y="3172"/>
                <a:ext cx="780" cy="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fast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recovery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ahoma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9" name="Google Shape;429;p18"/>
            <p:cNvSpPr/>
            <p:nvPr/>
          </p:nvSpPr>
          <p:spPr>
            <a:xfrm>
              <a:off x="2775" y="3708"/>
              <a:ext cx="384" cy="161"/>
            </a:xfrm>
            <a:custGeom>
              <a:rect b="b" l="l" r="r" t="t"/>
              <a:pathLst>
                <a:path extrusionOk="0" h="161" w="384">
                  <a:moveTo>
                    <a:pt x="317" y="0"/>
                  </a:moveTo>
                  <a:cubicBezTo>
                    <a:pt x="384" y="42"/>
                    <a:pt x="378" y="149"/>
                    <a:pt x="189" y="155"/>
                  </a:cubicBezTo>
                  <a:cubicBezTo>
                    <a:pt x="0" y="161"/>
                    <a:pt x="3" y="87"/>
                    <a:pt x="59" y="13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30" name="Google Shape;430;p18"/>
            <p:cNvGrpSpPr/>
            <p:nvPr/>
          </p:nvGrpSpPr>
          <p:grpSpPr>
            <a:xfrm>
              <a:off x="3191" y="3592"/>
              <a:ext cx="1500" cy="476"/>
              <a:chOff x="3542" y="3496"/>
              <a:chExt cx="1500" cy="476"/>
            </a:xfrm>
          </p:grpSpPr>
          <p:sp>
            <p:nvSpPr>
              <p:cNvPr id="431" name="Google Shape;431;p18"/>
              <p:cNvSpPr txBox="1"/>
              <p:nvPr/>
            </p:nvSpPr>
            <p:spPr>
              <a:xfrm>
                <a:off x="3546" y="3632"/>
                <a:ext cx="1496" cy="3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cwnd + MSS</a:t>
                </a:r>
                <a:endParaRPr/>
              </a:p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transmit new segment(s), as allowed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1" sz="1400" u="none" cap="none" strike="noStrike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32" name="Google Shape;432;p18"/>
              <p:cNvCxnSpPr/>
              <p:nvPr/>
            </p:nvCxnSpPr>
            <p:spPr>
              <a:xfrm>
                <a:off x="3600" y="3645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33" name="Google Shape;433;p18"/>
              <p:cNvSpPr txBox="1"/>
              <p:nvPr/>
            </p:nvSpPr>
            <p:spPr>
              <a:xfrm>
                <a:off x="3542" y="3496"/>
                <a:ext cx="656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duplicate ACK</a:t>
                </a:r>
                <a:endParaRPr/>
              </a:p>
            </p:txBody>
          </p:sp>
        </p:grpSp>
      </p:grpSp>
      <p:grpSp>
        <p:nvGrpSpPr>
          <p:cNvPr id="434" name="Google Shape;434;p18"/>
          <p:cNvGrpSpPr/>
          <p:nvPr/>
        </p:nvGrpSpPr>
        <p:grpSpPr>
          <a:xfrm>
            <a:off x="2427288" y="3561671"/>
            <a:ext cx="3935413" cy="1974851"/>
            <a:chOff x="521" y="2129"/>
            <a:chExt cx="2479" cy="1244"/>
          </a:xfrm>
        </p:grpSpPr>
        <p:grpSp>
          <p:nvGrpSpPr>
            <p:cNvPr id="435" name="Google Shape;435;p18"/>
            <p:cNvGrpSpPr/>
            <p:nvPr/>
          </p:nvGrpSpPr>
          <p:grpSpPr>
            <a:xfrm>
              <a:off x="521" y="2818"/>
              <a:ext cx="1205" cy="555"/>
              <a:chOff x="380" y="2768"/>
              <a:chExt cx="1205" cy="555"/>
            </a:xfrm>
          </p:grpSpPr>
          <p:sp>
            <p:nvSpPr>
              <p:cNvPr id="436" name="Google Shape;436;p18"/>
              <p:cNvSpPr txBox="1"/>
              <p:nvPr/>
            </p:nvSpPr>
            <p:spPr>
              <a:xfrm>
                <a:off x="380" y="2912"/>
                <a:ext cx="1155" cy="4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ssthresh= cwnd/2</a:t>
                </a:r>
                <a:endParaRPr/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ssthresh + 3</a:t>
                </a:r>
                <a:endParaRPr/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retransmit missing segment</a:t>
                </a:r>
                <a:endParaRPr/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37" name="Google Shape;437;p18"/>
              <p:cNvCxnSpPr/>
              <p:nvPr/>
            </p:nvCxnSpPr>
            <p:spPr>
              <a:xfrm>
                <a:off x="925" y="2913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38" name="Google Shape;438;p18"/>
              <p:cNvSpPr txBox="1"/>
              <p:nvPr/>
            </p:nvSpPr>
            <p:spPr>
              <a:xfrm>
                <a:off x="751" y="2768"/>
                <a:ext cx="834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== 3</a:t>
                </a:r>
                <a:endParaRPr/>
              </a:p>
            </p:txBody>
          </p:sp>
        </p:grpSp>
        <p:grpSp>
          <p:nvGrpSpPr>
            <p:cNvPr id="439" name="Google Shape;439;p18"/>
            <p:cNvGrpSpPr/>
            <p:nvPr/>
          </p:nvGrpSpPr>
          <p:grpSpPr>
            <a:xfrm>
              <a:off x="1813" y="2454"/>
              <a:ext cx="1187" cy="550"/>
              <a:chOff x="419" y="2872"/>
              <a:chExt cx="1187" cy="550"/>
            </a:xfrm>
          </p:grpSpPr>
          <p:sp>
            <p:nvSpPr>
              <p:cNvPr id="440" name="Google Shape;440;p18"/>
              <p:cNvSpPr txBox="1"/>
              <p:nvPr/>
            </p:nvSpPr>
            <p:spPr>
              <a:xfrm>
                <a:off x="439" y="2872"/>
                <a:ext cx="395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timeout</a:t>
                </a:r>
                <a:endParaRPr/>
              </a:p>
            </p:txBody>
          </p:sp>
          <p:sp>
            <p:nvSpPr>
              <p:cNvPr id="441" name="Google Shape;441;p18"/>
              <p:cNvSpPr txBox="1"/>
              <p:nvPr/>
            </p:nvSpPr>
            <p:spPr>
              <a:xfrm>
                <a:off x="419" y="2989"/>
                <a:ext cx="1187" cy="4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 = cwnd/2</a:t>
                </a:r>
                <a:endParaRPr/>
              </a:p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1 </a:t>
                </a:r>
                <a:endParaRPr/>
              </a:p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retransmit missing segment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</p:txBody>
          </p:sp>
          <p:cxnSp>
            <p:nvCxnSpPr>
              <p:cNvPr id="442" name="Google Shape;442;p18"/>
              <p:cNvCxnSpPr/>
              <p:nvPr/>
            </p:nvCxnSpPr>
            <p:spPr>
              <a:xfrm>
                <a:off x="471" y="3014"/>
                <a:ext cx="697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43" name="Google Shape;443;p18"/>
            <p:cNvSpPr/>
            <p:nvPr/>
          </p:nvSpPr>
          <p:spPr>
            <a:xfrm>
              <a:off x="1722" y="2129"/>
              <a:ext cx="740" cy="1146"/>
            </a:xfrm>
            <a:custGeom>
              <a:rect b="b" l="l" r="r" t="t"/>
              <a:pathLst>
                <a:path extrusionOk="0" h="1146" w="740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44" name="Google Shape;444;p18"/>
            <p:cNvSpPr/>
            <p:nvPr/>
          </p:nvSpPr>
          <p:spPr>
            <a:xfrm>
              <a:off x="1791" y="2146"/>
              <a:ext cx="700" cy="1051"/>
            </a:xfrm>
            <a:custGeom>
              <a:rect b="b" l="l" r="r" t="t"/>
              <a:pathLst>
                <a:path extrusionOk="0" h="1051" w="700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45" name="Google Shape;445;p18"/>
          <p:cNvGrpSpPr/>
          <p:nvPr/>
        </p:nvGrpSpPr>
        <p:grpSpPr>
          <a:xfrm>
            <a:off x="6951663" y="3553730"/>
            <a:ext cx="3022600" cy="1963736"/>
            <a:chOff x="3371" y="2124"/>
            <a:chExt cx="1904" cy="1237"/>
          </a:xfrm>
        </p:grpSpPr>
        <p:grpSp>
          <p:nvGrpSpPr>
            <p:cNvPr id="446" name="Google Shape;446;p18"/>
            <p:cNvGrpSpPr/>
            <p:nvPr/>
          </p:nvGrpSpPr>
          <p:grpSpPr>
            <a:xfrm>
              <a:off x="4120" y="2796"/>
              <a:ext cx="1155" cy="565"/>
              <a:chOff x="4142" y="2802"/>
              <a:chExt cx="1155" cy="565"/>
            </a:xfrm>
          </p:grpSpPr>
          <p:sp>
            <p:nvSpPr>
              <p:cNvPr id="447" name="Google Shape;447;p18"/>
              <p:cNvSpPr txBox="1"/>
              <p:nvPr/>
            </p:nvSpPr>
            <p:spPr>
              <a:xfrm>
                <a:off x="4142" y="2956"/>
                <a:ext cx="1155" cy="4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ssthresh= cwnd/2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ssthresh + 3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retransmit missing segment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1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48" name="Google Shape;448;p18"/>
              <p:cNvCxnSpPr/>
              <p:nvPr/>
            </p:nvCxnSpPr>
            <p:spPr>
              <a:xfrm>
                <a:off x="4211" y="2950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49" name="Google Shape;449;p18"/>
              <p:cNvSpPr txBox="1"/>
              <p:nvPr/>
            </p:nvSpPr>
            <p:spPr>
              <a:xfrm>
                <a:off x="4154" y="2802"/>
                <a:ext cx="834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== 3</a:t>
                </a:r>
                <a:endParaRPr/>
              </a:p>
            </p:txBody>
          </p:sp>
        </p:grpSp>
        <p:sp>
          <p:nvSpPr>
            <p:cNvPr id="450" name="Google Shape;450;p18"/>
            <p:cNvSpPr/>
            <p:nvPr/>
          </p:nvSpPr>
          <p:spPr>
            <a:xfrm flipH="1">
              <a:off x="3371" y="2124"/>
              <a:ext cx="740" cy="1146"/>
            </a:xfrm>
            <a:custGeom>
              <a:rect b="b" l="l" r="r" t="t"/>
              <a:pathLst>
                <a:path extrusionOk="0" h="1146" w="740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51" name="Google Shape;451;p18"/>
          <p:cNvGrpSpPr/>
          <p:nvPr/>
        </p:nvGrpSpPr>
        <p:grpSpPr>
          <a:xfrm>
            <a:off x="6716713" y="3579131"/>
            <a:ext cx="1276350" cy="1689099"/>
            <a:chOff x="3223" y="2140"/>
            <a:chExt cx="804" cy="1064"/>
          </a:xfrm>
        </p:grpSpPr>
        <p:sp>
          <p:nvSpPr>
            <p:cNvPr id="452" name="Google Shape;452;p18"/>
            <p:cNvSpPr/>
            <p:nvPr/>
          </p:nvSpPr>
          <p:spPr>
            <a:xfrm flipH="1">
              <a:off x="3327" y="2140"/>
              <a:ext cx="700" cy="1051"/>
            </a:xfrm>
            <a:custGeom>
              <a:rect b="b" l="l" r="r" t="t"/>
              <a:pathLst>
                <a:path extrusionOk="0" h="1051" w="700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53" name="Google Shape;453;p18"/>
            <p:cNvGrpSpPr/>
            <p:nvPr/>
          </p:nvGrpSpPr>
          <p:grpSpPr>
            <a:xfrm>
              <a:off x="3223" y="2649"/>
              <a:ext cx="785" cy="555"/>
              <a:chOff x="1015" y="3496"/>
              <a:chExt cx="785" cy="555"/>
            </a:xfrm>
          </p:grpSpPr>
          <p:sp>
            <p:nvSpPr>
              <p:cNvPr id="454" name="Google Shape;454;p18"/>
              <p:cNvSpPr txBox="1"/>
              <p:nvPr/>
            </p:nvSpPr>
            <p:spPr>
              <a:xfrm>
                <a:off x="1015" y="3640"/>
                <a:ext cx="785" cy="4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ssthresh</a:t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Tahoma"/>
                  <a:buNone/>
                </a:pPr>
                <a:r>
                  <a:t/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55" name="Google Shape;455;p18"/>
              <p:cNvGrpSpPr/>
              <p:nvPr/>
            </p:nvGrpSpPr>
            <p:grpSpPr>
              <a:xfrm>
                <a:off x="1190" y="3496"/>
                <a:ext cx="582" cy="160"/>
                <a:chOff x="1190" y="3496"/>
                <a:chExt cx="582" cy="160"/>
              </a:xfrm>
            </p:grpSpPr>
            <p:cxnSp>
              <p:nvCxnSpPr>
                <p:cNvPr id="456" name="Google Shape;456;p18"/>
                <p:cNvCxnSpPr/>
                <p:nvPr/>
              </p:nvCxnSpPr>
              <p:spPr>
                <a:xfrm>
                  <a:off x="1190" y="3641"/>
                  <a:ext cx="53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57" name="Google Shape;457;p18"/>
                <p:cNvSpPr txBox="1"/>
                <p:nvPr/>
              </p:nvSpPr>
              <p:spPr>
                <a:xfrm>
                  <a:off x="1287" y="3496"/>
                  <a:ext cx="485" cy="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50"/>
                    <a:buFont typeface="Arial"/>
                    <a:buNone/>
                  </a:pPr>
                  <a:r>
                    <a:rPr b="0" i="0" lang="en-US" sz="105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New ACK</a:t>
                  </a:r>
                  <a:endParaRPr/>
                </a:p>
              </p:txBody>
            </p:sp>
          </p:grpSp>
        </p:grpSp>
      </p:grpSp>
      <p:grpSp>
        <p:nvGrpSpPr>
          <p:cNvPr id="458" name="Google Shape;458;p18"/>
          <p:cNvGrpSpPr/>
          <p:nvPr/>
        </p:nvGrpSpPr>
        <p:grpSpPr>
          <a:xfrm>
            <a:off x="2386012" y="1545544"/>
            <a:ext cx="5038723" cy="2706689"/>
            <a:chOff x="495" y="859"/>
            <a:chExt cx="3174" cy="1705"/>
          </a:xfrm>
        </p:grpSpPr>
        <p:grpSp>
          <p:nvGrpSpPr>
            <p:cNvPr id="459" name="Google Shape;459;p18"/>
            <p:cNvGrpSpPr/>
            <p:nvPr/>
          </p:nvGrpSpPr>
          <p:grpSpPr>
            <a:xfrm>
              <a:off x="1329" y="1320"/>
              <a:ext cx="800" cy="754"/>
              <a:chOff x="996" y="1773"/>
              <a:chExt cx="800" cy="754"/>
            </a:xfrm>
          </p:grpSpPr>
          <p:sp>
            <p:nvSpPr>
              <p:cNvPr id="460" name="Google Shape;460;p18"/>
              <p:cNvSpPr/>
              <p:nvPr/>
            </p:nvSpPr>
            <p:spPr>
              <a:xfrm>
                <a:off x="996" y="1773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61" name="Google Shape;461;p18"/>
              <p:cNvSpPr txBox="1"/>
              <p:nvPr/>
            </p:nvSpPr>
            <p:spPr>
              <a:xfrm>
                <a:off x="1159" y="1946"/>
                <a:ext cx="485" cy="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slow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start</a:t>
                </a:r>
                <a:endParaRPr/>
              </a:p>
            </p:txBody>
          </p:sp>
        </p:grpSp>
        <p:grpSp>
          <p:nvGrpSpPr>
            <p:cNvPr id="462" name="Google Shape;462;p18"/>
            <p:cNvGrpSpPr/>
            <p:nvPr/>
          </p:nvGrpSpPr>
          <p:grpSpPr>
            <a:xfrm>
              <a:off x="496" y="2026"/>
              <a:ext cx="1187" cy="538"/>
              <a:chOff x="384" y="2713"/>
              <a:chExt cx="1187" cy="538"/>
            </a:xfrm>
          </p:grpSpPr>
          <p:sp>
            <p:nvSpPr>
              <p:cNvPr id="463" name="Google Shape;463;p18"/>
              <p:cNvSpPr txBox="1"/>
              <p:nvPr/>
            </p:nvSpPr>
            <p:spPr>
              <a:xfrm>
                <a:off x="777" y="2713"/>
                <a:ext cx="395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timeout</a:t>
                </a:r>
                <a:endParaRPr/>
              </a:p>
            </p:txBody>
          </p:sp>
          <p:sp>
            <p:nvSpPr>
              <p:cNvPr id="464" name="Google Shape;464;p18"/>
              <p:cNvSpPr txBox="1"/>
              <p:nvPr/>
            </p:nvSpPr>
            <p:spPr>
              <a:xfrm>
                <a:off x="384" y="2840"/>
                <a:ext cx="1187" cy="4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 = cwnd/2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1 MSS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retransmit missing segment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</p:txBody>
          </p:sp>
          <p:cxnSp>
            <p:nvCxnSpPr>
              <p:cNvPr id="465" name="Google Shape;465;p18"/>
              <p:cNvCxnSpPr/>
              <p:nvPr/>
            </p:nvCxnSpPr>
            <p:spPr>
              <a:xfrm>
                <a:off x="709" y="2855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66" name="Google Shape;466;p18"/>
            <p:cNvGrpSpPr/>
            <p:nvPr/>
          </p:nvGrpSpPr>
          <p:grpSpPr>
            <a:xfrm>
              <a:off x="2173" y="960"/>
              <a:ext cx="1496" cy="561"/>
              <a:chOff x="2683" y="798"/>
              <a:chExt cx="1496" cy="561"/>
            </a:xfrm>
          </p:grpSpPr>
          <p:sp>
            <p:nvSpPr>
              <p:cNvPr id="467" name="Google Shape;467;p18"/>
              <p:cNvSpPr txBox="1"/>
              <p:nvPr/>
            </p:nvSpPr>
            <p:spPr>
              <a:xfrm>
                <a:off x="2683" y="917"/>
                <a:ext cx="1496" cy="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cwnd+MSS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transmit new segment(s), as allowed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8" name="Google Shape;468;p18"/>
              <p:cNvCxnSpPr/>
              <p:nvPr/>
            </p:nvCxnSpPr>
            <p:spPr>
              <a:xfrm>
                <a:off x="2744" y="934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9" name="Google Shape;469;p18"/>
              <p:cNvSpPr txBox="1"/>
              <p:nvPr/>
            </p:nvSpPr>
            <p:spPr>
              <a:xfrm>
                <a:off x="2697" y="798"/>
                <a:ext cx="471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new ACK</a:t>
                </a:r>
                <a:endParaRPr/>
              </a:p>
            </p:txBody>
          </p:sp>
        </p:grpSp>
        <p:sp>
          <p:nvSpPr>
            <p:cNvPr id="470" name="Google Shape;470;p18"/>
            <p:cNvSpPr/>
            <p:nvPr/>
          </p:nvSpPr>
          <p:spPr>
            <a:xfrm>
              <a:off x="1601" y="1129"/>
              <a:ext cx="313" cy="201"/>
            </a:xfrm>
            <a:custGeom>
              <a:rect b="b" l="l" r="r" t="t"/>
              <a:pathLst>
                <a:path extrusionOk="0" h="201" w="313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71" name="Google Shape;471;p18"/>
            <p:cNvSpPr/>
            <p:nvPr/>
          </p:nvSpPr>
          <p:spPr>
            <a:xfrm rot="2575893">
              <a:off x="1950" y="1316"/>
              <a:ext cx="313" cy="201"/>
            </a:xfrm>
            <a:custGeom>
              <a:rect b="b" l="l" r="r" t="t"/>
              <a:pathLst>
                <a:path extrusionOk="0" h="201" w="313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72" name="Google Shape;472;p18"/>
            <p:cNvGrpSpPr/>
            <p:nvPr/>
          </p:nvGrpSpPr>
          <p:grpSpPr>
            <a:xfrm>
              <a:off x="1445" y="859"/>
              <a:ext cx="740" cy="388"/>
              <a:chOff x="4254" y="2922"/>
              <a:chExt cx="740" cy="388"/>
            </a:xfrm>
          </p:grpSpPr>
          <p:sp>
            <p:nvSpPr>
              <p:cNvPr id="473" name="Google Shape;473;p18"/>
              <p:cNvSpPr txBox="1"/>
              <p:nvPr/>
            </p:nvSpPr>
            <p:spPr>
              <a:xfrm>
                <a:off x="4254" y="3062"/>
                <a:ext cx="740" cy="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dupACKcount++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74" name="Google Shape;474;p18"/>
              <p:cNvCxnSpPr/>
              <p:nvPr/>
            </p:nvCxnSpPr>
            <p:spPr>
              <a:xfrm>
                <a:off x="4353" y="3071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5" name="Google Shape;475;p18"/>
              <p:cNvSpPr txBox="1"/>
              <p:nvPr/>
            </p:nvSpPr>
            <p:spPr>
              <a:xfrm>
                <a:off x="4295" y="2922"/>
                <a:ext cx="656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duplicate ACK</a:t>
                </a:r>
                <a:endParaRPr/>
              </a:p>
            </p:txBody>
          </p:sp>
        </p:grpSp>
        <p:sp>
          <p:nvSpPr>
            <p:cNvPr id="476" name="Google Shape;476;p18"/>
            <p:cNvSpPr/>
            <p:nvPr/>
          </p:nvSpPr>
          <p:spPr>
            <a:xfrm rot="-8222029">
              <a:off x="1204" y="1903"/>
              <a:ext cx="313" cy="201"/>
            </a:xfrm>
            <a:custGeom>
              <a:rect b="b" l="l" r="r" t="t"/>
              <a:pathLst>
                <a:path extrusionOk="0" h="201" w="313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477" name="Google Shape;477;p18"/>
            <p:cNvCxnSpPr/>
            <p:nvPr/>
          </p:nvCxnSpPr>
          <p:spPr>
            <a:xfrm>
              <a:off x="536" y="1649"/>
              <a:ext cx="752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grpSp>
          <p:nvGrpSpPr>
            <p:cNvPr id="478" name="Google Shape;478;p18"/>
            <p:cNvGrpSpPr/>
            <p:nvPr/>
          </p:nvGrpSpPr>
          <p:grpSpPr>
            <a:xfrm>
              <a:off x="495" y="1255"/>
              <a:ext cx="785" cy="429"/>
              <a:chOff x="517" y="936"/>
              <a:chExt cx="785" cy="429"/>
            </a:xfrm>
          </p:grpSpPr>
          <p:sp>
            <p:nvSpPr>
              <p:cNvPr id="479" name="Google Shape;479;p18"/>
              <p:cNvSpPr txBox="1"/>
              <p:nvPr/>
            </p:nvSpPr>
            <p:spPr>
              <a:xfrm>
                <a:off x="816" y="936"/>
                <a:ext cx="175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Noto Sans Symbols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Λ</a:t>
                </a:r>
                <a:endParaRPr/>
              </a:p>
            </p:txBody>
          </p:sp>
          <p:sp>
            <p:nvSpPr>
              <p:cNvPr id="480" name="Google Shape;480;p18"/>
              <p:cNvSpPr txBox="1"/>
              <p:nvPr/>
            </p:nvSpPr>
            <p:spPr>
              <a:xfrm>
                <a:off x="517" y="1063"/>
                <a:ext cx="785" cy="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1 MSS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 = 64 KB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81" name="Google Shape;481;p18"/>
              <p:cNvCxnSpPr/>
              <p:nvPr/>
            </p:nvCxnSpPr>
            <p:spPr>
              <a:xfrm>
                <a:off x="641" y="1078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82" name="Google Shape;482;p18"/>
          <p:cNvGrpSpPr/>
          <p:nvPr/>
        </p:nvGrpSpPr>
        <p:grpSpPr>
          <a:xfrm>
            <a:off x="2405063" y="2982232"/>
            <a:ext cx="3167062" cy="1312862"/>
            <a:chOff x="509" y="1766"/>
            <a:chExt cx="1995" cy="827"/>
          </a:xfrm>
        </p:grpSpPr>
        <p:pic>
          <p:nvPicPr>
            <p:cNvPr id="483" name="Google Shape;483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09" y="1992"/>
              <a:ext cx="262" cy="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4" name="Google Shape;484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242" y="1766"/>
              <a:ext cx="262" cy="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164" y="2348"/>
              <a:ext cx="262" cy="2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6" name="Google Shape;486;p18"/>
          <p:cNvGrpSpPr/>
          <p:nvPr/>
        </p:nvGrpSpPr>
        <p:grpSpPr>
          <a:xfrm>
            <a:off x="5102225" y="1208994"/>
            <a:ext cx="4333875" cy="3243263"/>
            <a:chOff x="2205" y="641"/>
            <a:chExt cx="2730" cy="2043"/>
          </a:xfrm>
        </p:grpSpPr>
        <p:grpSp>
          <p:nvGrpSpPr>
            <p:cNvPr id="487" name="Google Shape;487;p18"/>
            <p:cNvGrpSpPr/>
            <p:nvPr/>
          </p:nvGrpSpPr>
          <p:grpSpPr>
            <a:xfrm>
              <a:off x="3381" y="2381"/>
              <a:ext cx="583" cy="303"/>
              <a:chOff x="1166" y="3601"/>
              <a:chExt cx="583" cy="303"/>
            </a:xfrm>
          </p:grpSpPr>
          <p:grpSp>
            <p:nvGrpSpPr>
              <p:cNvPr id="488" name="Google Shape;488;p18"/>
              <p:cNvGrpSpPr/>
              <p:nvPr/>
            </p:nvGrpSpPr>
            <p:grpSpPr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489" name="Google Shape;489;p1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90" name="Google Shape;490;p18"/>
                <p:cNvSpPr/>
                <p:nvPr/>
              </p:nvSpPr>
              <p:spPr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491" name="Google Shape;491;p18"/>
              <p:cNvSpPr txBox="1"/>
              <p:nvPr/>
            </p:nvSpPr>
            <p:spPr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New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ACK!</a:t>
                </a:r>
                <a:endParaRPr/>
              </a:p>
            </p:txBody>
          </p:sp>
        </p:grpSp>
        <p:grpSp>
          <p:nvGrpSpPr>
            <p:cNvPr id="492" name="Google Shape;492;p18"/>
            <p:cNvGrpSpPr/>
            <p:nvPr/>
          </p:nvGrpSpPr>
          <p:grpSpPr>
            <a:xfrm>
              <a:off x="2205" y="700"/>
              <a:ext cx="583" cy="303"/>
              <a:chOff x="1166" y="3601"/>
              <a:chExt cx="583" cy="303"/>
            </a:xfrm>
          </p:grpSpPr>
          <p:grpSp>
            <p:nvGrpSpPr>
              <p:cNvPr id="493" name="Google Shape;493;p18"/>
              <p:cNvGrpSpPr/>
              <p:nvPr/>
            </p:nvGrpSpPr>
            <p:grpSpPr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494" name="Google Shape;494;p1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95" name="Google Shape;495;p18"/>
                <p:cNvSpPr/>
                <p:nvPr/>
              </p:nvSpPr>
              <p:spPr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496" name="Google Shape;496;p18"/>
              <p:cNvSpPr txBox="1"/>
              <p:nvPr/>
            </p:nvSpPr>
            <p:spPr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New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ACK!</a:t>
                </a:r>
                <a:endParaRPr/>
              </a:p>
            </p:txBody>
          </p:sp>
        </p:grpSp>
        <p:grpSp>
          <p:nvGrpSpPr>
            <p:cNvPr id="497" name="Google Shape;497;p18"/>
            <p:cNvGrpSpPr/>
            <p:nvPr/>
          </p:nvGrpSpPr>
          <p:grpSpPr>
            <a:xfrm>
              <a:off x="4352" y="641"/>
              <a:ext cx="583" cy="303"/>
              <a:chOff x="1166" y="3601"/>
              <a:chExt cx="583" cy="303"/>
            </a:xfrm>
          </p:grpSpPr>
          <p:grpSp>
            <p:nvGrpSpPr>
              <p:cNvPr id="498" name="Google Shape;498;p18"/>
              <p:cNvGrpSpPr/>
              <p:nvPr/>
            </p:nvGrpSpPr>
            <p:grpSpPr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499" name="Google Shape;499;p1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00" name="Google Shape;500;p18"/>
                <p:cNvSpPr/>
                <p:nvPr/>
              </p:nvSpPr>
              <p:spPr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501" name="Google Shape;501;p18"/>
              <p:cNvSpPr txBox="1"/>
              <p:nvPr/>
            </p:nvSpPr>
            <p:spPr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New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ACK!</a:t>
                </a:r>
                <a:endParaRPr/>
              </a:p>
            </p:txBody>
          </p:sp>
        </p:grpSp>
      </p:grpSp>
      <p:sp>
        <p:nvSpPr>
          <p:cNvPr id="502" name="Google Shape;502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Transport Layer: 3-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