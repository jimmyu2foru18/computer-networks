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Source Sans 3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7.xml"/><Relationship Id="rId22" Type="http://schemas.openxmlformats.org/officeDocument/2006/relationships/font" Target="fonts/SourceSans3-bold.fntdata"/><Relationship Id="rId10" Type="http://schemas.openxmlformats.org/officeDocument/2006/relationships/slide" Target="slides/slide6.xml"/><Relationship Id="rId21" Type="http://schemas.openxmlformats.org/officeDocument/2006/relationships/font" Target="fonts/SourceSans3-regular.fntdata"/><Relationship Id="rId13" Type="http://schemas.openxmlformats.org/officeDocument/2006/relationships/slide" Target="slides/slide9.xml"/><Relationship Id="rId24" Type="http://schemas.openxmlformats.org/officeDocument/2006/relationships/font" Target="fonts/SourceSans3-boldItalic.fntdata"/><Relationship Id="rId12" Type="http://schemas.openxmlformats.org/officeDocument/2006/relationships/slide" Target="slides/slide8.xml"/><Relationship Id="rId23" Type="http://schemas.openxmlformats.org/officeDocument/2006/relationships/font" Target="fonts/SourceSans3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unito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Nunito-italic.fntdata"/><Relationship Id="rId6" Type="http://schemas.openxmlformats.org/officeDocument/2006/relationships/slide" Target="slides/slide2.xml"/><Relationship Id="rId18" Type="http://schemas.openxmlformats.org/officeDocument/2006/relationships/font" Target="fonts/Nuni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15600" y="1028633"/>
            <a:ext cx="11360800" cy="5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  <a:defRPr sz="2133">
                <a:solidFill>
                  <a:srgbClr val="434343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 sz="2133">
                <a:solidFill>
                  <a:srgbClr val="43434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  <a:defRPr sz="2133">
                <a:solidFill>
                  <a:srgbClr val="434343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  <a:defRPr sz="2133">
                <a:solidFill>
                  <a:srgbClr val="434343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 sz="2133">
                <a:solidFill>
                  <a:srgbClr val="434343"/>
                </a:solidFill>
              </a:defRPr>
            </a:lvl5pPr>
            <a:lvl6pPr indent="-330200" lvl="5" marL="27432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  <a:defRPr sz="2133">
                <a:solidFill>
                  <a:srgbClr val="434343"/>
                </a:solidFill>
              </a:defRPr>
            </a:lvl6pPr>
            <a:lvl7pPr indent="-330200" lvl="6" marL="32004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  <a:defRPr sz="2133">
                <a:solidFill>
                  <a:srgbClr val="434343"/>
                </a:solidFill>
              </a:defRPr>
            </a:lvl7pPr>
            <a:lvl8pPr indent="-330200" lvl="7" marL="36576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 sz="2133">
                <a:solidFill>
                  <a:srgbClr val="434343"/>
                </a:solidFill>
              </a:defRPr>
            </a:lvl8pPr>
            <a:lvl9pPr indent="-330200" lvl="8" marL="4114800" algn="l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600"/>
              <a:buChar char="■"/>
              <a:defRPr sz="2133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"/>
              <a:t>GCD</a:t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159433" y="1754267"/>
            <a:ext cx="11868800" cy="986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89800" y="825433"/>
            <a:ext cx="117384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largest integer that divides two integers is called their </a:t>
            </a:r>
            <a:r>
              <a:rPr b="1" lang="en"/>
              <a:t>greatest common divisor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Definition:</a:t>
            </a:r>
            <a:r>
              <a:rPr lang="en"/>
              <a:t> Let </a:t>
            </a:r>
            <a:r>
              <a:rPr i="1" lang="en"/>
              <a:t>a</a:t>
            </a:r>
            <a:r>
              <a:rPr lang="en"/>
              <a:t> and </a:t>
            </a:r>
            <a:r>
              <a:rPr i="1" lang="en"/>
              <a:t>b </a:t>
            </a:r>
            <a:r>
              <a:rPr lang="en"/>
              <a:t>be nonzero integers. The largest integer</a:t>
            </a:r>
            <a:r>
              <a:rPr i="1" lang="en"/>
              <a:t> d</a:t>
            </a:r>
            <a:r>
              <a:rPr lang="en"/>
              <a:t> such that </a:t>
            </a:r>
            <a:r>
              <a:rPr i="1" lang="en"/>
              <a:t>d | a </a:t>
            </a:r>
            <a:r>
              <a:rPr lang="en"/>
              <a:t>and </a:t>
            </a:r>
            <a:r>
              <a:rPr i="1" lang="en"/>
              <a:t>d | b</a:t>
            </a:r>
            <a:r>
              <a:rPr lang="en"/>
              <a:t> is called the </a:t>
            </a:r>
            <a:r>
              <a:rPr b="1" lang="en" u="sng"/>
              <a:t>greatest common divisor</a:t>
            </a:r>
            <a:r>
              <a:rPr lang="en"/>
              <a:t> of </a:t>
            </a:r>
            <a:r>
              <a:rPr i="1" lang="en"/>
              <a:t>a </a:t>
            </a:r>
            <a:r>
              <a:rPr lang="en"/>
              <a:t>and </a:t>
            </a:r>
            <a:r>
              <a:rPr i="1" lang="en"/>
              <a:t>b</a:t>
            </a:r>
            <a:r>
              <a:rPr lang="en"/>
              <a:t> and is denoted by gcd(</a:t>
            </a:r>
            <a:r>
              <a:rPr i="1" lang="en"/>
              <a:t>a, b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Find gcd(12, 36)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t/>
            </a: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5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Primes and 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159433" y="1716167"/>
            <a:ext cx="11868800" cy="986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289800" y="825433"/>
            <a:ext cx="117384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largest integer that divides two integers is called their </a:t>
            </a:r>
            <a:r>
              <a:rPr b="1" lang="en"/>
              <a:t>greatest common divisor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Definition:</a:t>
            </a:r>
            <a:r>
              <a:rPr lang="en"/>
              <a:t> Let </a:t>
            </a:r>
            <a:r>
              <a:rPr i="1" lang="en"/>
              <a:t>a</a:t>
            </a:r>
            <a:r>
              <a:rPr lang="en"/>
              <a:t> and </a:t>
            </a:r>
            <a:r>
              <a:rPr i="1" lang="en"/>
              <a:t>b </a:t>
            </a:r>
            <a:r>
              <a:rPr lang="en"/>
              <a:t>be nonzero integers. The largest integer</a:t>
            </a:r>
            <a:r>
              <a:rPr i="1" lang="en"/>
              <a:t> d</a:t>
            </a:r>
            <a:r>
              <a:rPr lang="en"/>
              <a:t> such that </a:t>
            </a:r>
            <a:r>
              <a:rPr i="1" lang="en"/>
              <a:t>d | a </a:t>
            </a:r>
            <a:r>
              <a:rPr lang="en"/>
              <a:t>and </a:t>
            </a:r>
            <a:r>
              <a:rPr i="1" lang="en"/>
              <a:t>d | b</a:t>
            </a:r>
            <a:r>
              <a:rPr lang="en"/>
              <a:t> is called the </a:t>
            </a:r>
            <a:r>
              <a:rPr b="1" lang="en" u="sng"/>
              <a:t>greatest common divisor</a:t>
            </a:r>
            <a:r>
              <a:rPr lang="en"/>
              <a:t> of </a:t>
            </a:r>
            <a:r>
              <a:rPr i="1" lang="en"/>
              <a:t>a </a:t>
            </a:r>
            <a:r>
              <a:rPr lang="en"/>
              <a:t>and </a:t>
            </a:r>
            <a:r>
              <a:rPr i="1" lang="en"/>
              <a:t>b</a:t>
            </a:r>
            <a:r>
              <a:rPr lang="en"/>
              <a:t> and is denoted by gcd(</a:t>
            </a:r>
            <a:r>
              <a:rPr i="1" lang="en"/>
              <a:t>a, b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Find gcd(12, 36)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Solution: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The common divisors of 12 and 36 are:  1, 2, 3, 4, 6 and 12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lang="en"/>
              <a:t>So gcd(12,36) = 12 </a:t>
            </a:r>
            <a:endParaRPr/>
          </a:p>
        </p:txBody>
      </p:sp>
      <p:cxnSp>
        <p:nvCxnSpPr>
          <p:cNvPr id="110" name="Google Shape;110;p16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6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289800" y="825433"/>
            <a:ext cx="117384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Find gcd(48, 360)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Solution: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Prime factorizations can make this easier: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48 = 2 · 2 · 2 · 2 · 3 = 2</a:t>
            </a:r>
            <a:r>
              <a:rPr baseline="30000" lang="en"/>
              <a:t>4</a:t>
            </a:r>
            <a:r>
              <a:rPr lang="en"/>
              <a:t> · 3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And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360 = 2 · 2 · 2 · 3 · 3 · 5 = 2</a:t>
            </a:r>
            <a:r>
              <a:rPr baseline="30000" lang="en"/>
              <a:t>3</a:t>
            </a:r>
            <a:r>
              <a:rPr lang="en"/>
              <a:t> · 3</a:t>
            </a:r>
            <a:r>
              <a:rPr baseline="30000" lang="en"/>
              <a:t>2</a:t>
            </a:r>
            <a:r>
              <a:rPr lang="en"/>
              <a:t> · 5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they both share factors of 2</a:t>
            </a:r>
            <a:r>
              <a:rPr baseline="30000" lang="en"/>
              <a:t>3</a:t>
            </a:r>
            <a:r>
              <a:rPr lang="en"/>
              <a:t> and 3, so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lang="en"/>
              <a:t>⇒ gcd(48, 360) = 2</a:t>
            </a:r>
            <a:r>
              <a:rPr baseline="30000" lang="en"/>
              <a:t>3</a:t>
            </a:r>
            <a:r>
              <a:rPr lang="en"/>
              <a:t> · 3 = 24</a:t>
            </a:r>
            <a:endParaRPr/>
          </a:p>
        </p:txBody>
      </p:sp>
      <p:cxnSp>
        <p:nvCxnSpPr>
          <p:cNvPr id="118" name="Google Shape;118;p17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7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Primes and 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33400" y="4408567"/>
            <a:ext cx="11868800" cy="76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289800" y="825433"/>
            <a:ext cx="117384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Find gcd(15, 26)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Solution: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15 = 3 · 5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And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26 = 2 · 13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they share no common factors as all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gcd(15, 26) = 1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b="1" lang="en"/>
              <a:t>Definition:</a:t>
            </a:r>
            <a:r>
              <a:rPr lang="en"/>
              <a:t> If gcd(</a:t>
            </a:r>
            <a:r>
              <a:rPr i="1" lang="en"/>
              <a:t>a,b</a:t>
            </a:r>
            <a:r>
              <a:rPr lang="en"/>
              <a:t>) = 1, we say that </a:t>
            </a:r>
            <a:r>
              <a:rPr i="1" lang="en"/>
              <a:t>a </a:t>
            </a:r>
            <a:r>
              <a:rPr lang="en"/>
              <a:t>and </a:t>
            </a:r>
            <a:r>
              <a:rPr i="1" lang="en"/>
              <a:t>b</a:t>
            </a:r>
            <a:r>
              <a:rPr lang="en"/>
              <a:t> are </a:t>
            </a:r>
            <a:r>
              <a:rPr b="1" lang="en" u="sng"/>
              <a:t>relatively prime</a:t>
            </a:r>
            <a:r>
              <a:rPr lang="en"/>
              <a:t>.</a:t>
            </a:r>
            <a:endParaRPr/>
          </a:p>
        </p:txBody>
      </p:sp>
      <p:cxnSp>
        <p:nvCxnSpPr>
          <p:cNvPr id="127" name="Google Shape;127;p18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8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Primes and 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289800" y="825433"/>
            <a:ext cx="117380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Back to this example: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Find gcd(48, 360)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Solution: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Prime factorizations can make this easier: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48 = 2 · 2 · 2 · 2 · 3 = 2</a:t>
            </a:r>
            <a:r>
              <a:rPr baseline="30000" lang="en"/>
              <a:t>4</a:t>
            </a:r>
            <a:r>
              <a:rPr lang="en"/>
              <a:t> · 3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And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360 = 2 · 2 · 2 · 3 · 3 · 5 = 2</a:t>
            </a:r>
            <a:r>
              <a:rPr baseline="30000" lang="en"/>
              <a:t>3</a:t>
            </a:r>
            <a:r>
              <a:rPr lang="en"/>
              <a:t> · 3</a:t>
            </a:r>
            <a:r>
              <a:rPr baseline="30000" lang="en"/>
              <a:t>2</a:t>
            </a:r>
            <a:r>
              <a:rPr lang="en"/>
              <a:t> · 5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they both share factors of 2</a:t>
            </a:r>
            <a:r>
              <a:rPr baseline="30000" lang="en"/>
              <a:t>3</a:t>
            </a:r>
            <a:r>
              <a:rPr lang="en"/>
              <a:t> and 3, so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lang="en"/>
              <a:t>⇒ gcd(48, 360) = 2</a:t>
            </a:r>
            <a:r>
              <a:rPr baseline="30000" lang="en"/>
              <a:t>3</a:t>
            </a:r>
            <a:r>
              <a:rPr lang="en"/>
              <a:t> · 3 = 24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6526500" y="2250900"/>
            <a:ext cx="5577200" cy="2030400"/>
          </a:xfrm>
          <a:prstGeom prst="roundRect">
            <a:avLst>
              <a:gd fmla="val 7594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Turns out, finding prime factorizations can be time-consuming.</a:t>
            </a:r>
            <a:br>
              <a:rPr lang="en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0255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efficient algorithms exist, one of which is the </a:t>
            </a:r>
            <a:r>
              <a:rPr b="1" lang="en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Euclidean algorithm</a:t>
            </a:r>
            <a:r>
              <a:rPr lang="en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9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9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212400" y="114233"/>
            <a:ext cx="11815600" cy="6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Euclidean algorithm:</a:t>
            </a:r>
            <a:r>
              <a:rPr lang="en"/>
              <a:t>  Find gcd(48, 360)</a:t>
            </a:r>
            <a:br>
              <a:rPr lang="en"/>
            </a:br>
            <a:endParaRPr sz="800"/>
          </a:p>
          <a:p>
            <a:pPr indent="-440255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Start by dividing the larger number by the smaller.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	360 = 48 · 7 + 24</a:t>
            </a:r>
            <a:br>
              <a:rPr lang="en"/>
            </a:br>
            <a:endParaRPr sz="800"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Now any divisor of 360 and 48 must also divide 24 = 360 - 48 · 7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But similarly, also any divisor of 48 and 24 must also divide 360 = 48 · 7 + 24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Thus, the gcd of 360 and 48 must also be the gcd of 24 and 48 (since they all share divisors)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⇒ So now we have smaller numbers to find the gcd of, which is easier!</a:t>
            </a:r>
            <a:br>
              <a:rPr lang="en"/>
            </a:br>
            <a:endParaRPr sz="1333"/>
          </a:p>
          <a:p>
            <a:pPr indent="-457200" lvl="0" marL="626529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Font typeface="Calibri"/>
              <a:buAutoNum type="arabicPeriod" startAt="2"/>
            </a:pPr>
            <a:r>
              <a:rPr lang="en"/>
              <a:t>Continue by dividing the new larger number by the new smaller number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		48 = 24 · 2 + 0</a:t>
            </a:r>
            <a:br>
              <a:rPr lang="en"/>
            </a:br>
            <a:endParaRPr sz="1333"/>
          </a:p>
          <a:p>
            <a:pPr indent="-457200" lvl="0" marL="626529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Font typeface="Calibri"/>
              <a:buAutoNum type="arabicPeriod" startAt="3"/>
            </a:pPr>
            <a:r>
              <a:rPr lang="en"/>
              <a:t>Once you find a 0 remainder, the gcd(original #’s) = last nonzero remainder</a:t>
            </a:r>
            <a:endParaRPr/>
          </a:p>
        </p:txBody>
      </p:sp>
      <p:sp>
        <p:nvSpPr>
          <p:cNvPr id="143" name="Google Shape;143;p2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7313400" y="157700"/>
            <a:ext cx="4714800" cy="12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One of the “division rules” was:</a:t>
            </a:r>
            <a:endParaRPr sz="2133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33"/>
              </a:spcBef>
              <a:spcAft>
                <a:spcPts val="1333"/>
              </a:spcAft>
              <a:buNone/>
            </a:pP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if  </a:t>
            </a:r>
            <a:r>
              <a:rPr i="1"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| b</a:t>
            </a: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and  </a:t>
            </a:r>
            <a:r>
              <a:rPr i="1"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| c</a:t>
            </a: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, then  </a:t>
            </a:r>
            <a:r>
              <a:rPr i="1"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| </a:t>
            </a: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 + c</a:t>
            </a:r>
            <a:r>
              <a:rPr lang="en" sz="2133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20"/>
          <p:cNvCxnSpPr>
            <a:stCxn id="144" idx="2"/>
          </p:cNvCxnSpPr>
          <p:nvPr/>
        </p:nvCxnSpPr>
        <p:spPr>
          <a:xfrm flipH="1">
            <a:off x="8910000" y="1443700"/>
            <a:ext cx="760800" cy="69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/>
          <p:nvPr/>
        </p:nvSpPr>
        <p:spPr>
          <a:xfrm>
            <a:off x="159400" y="1589033"/>
            <a:ext cx="11868800" cy="975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289800" y="825433"/>
            <a:ext cx="117384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There is an important fact underlying the Euclidean algorithm: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Theorem:</a:t>
            </a:r>
            <a:r>
              <a:rPr lang="en"/>
              <a:t> If </a:t>
            </a:r>
            <a:r>
              <a:rPr i="1" lang="en"/>
              <a:t>a</a:t>
            </a:r>
            <a:r>
              <a:rPr lang="en"/>
              <a:t> can be written as </a:t>
            </a:r>
            <a:r>
              <a:rPr i="1" lang="en"/>
              <a:t>a = bq + r</a:t>
            </a:r>
            <a:r>
              <a:rPr lang="en"/>
              <a:t>, where </a:t>
            </a:r>
            <a:r>
              <a:rPr i="1" lang="en"/>
              <a:t>a, b, q</a:t>
            </a:r>
            <a:r>
              <a:rPr lang="en"/>
              <a:t> and </a:t>
            </a:r>
            <a:r>
              <a:rPr i="1" lang="en"/>
              <a:t>r</a:t>
            </a:r>
            <a:r>
              <a:rPr lang="en"/>
              <a:t> are integers, </a:t>
            </a:r>
            <a:br>
              <a:rPr lang="en"/>
            </a:br>
            <a:r>
              <a:rPr lang="en"/>
              <a:t>then gcd(</a:t>
            </a:r>
            <a:r>
              <a:rPr i="1" lang="en"/>
              <a:t>a, b</a:t>
            </a:r>
            <a:r>
              <a:rPr lang="en"/>
              <a:t>) = gcd(</a:t>
            </a:r>
            <a:r>
              <a:rPr i="1" lang="en"/>
              <a:t>b, r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-440255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Euclidean algorithm uses this string of equivalence until you get down to a zero-remainder, and the gcd is the last nonzero remainder found.</a:t>
            </a:r>
            <a:endParaRPr/>
          </a:p>
          <a:p>
            <a:pPr indent="0" lvl="0" marL="121917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Why?</a:t>
            </a:r>
            <a:r>
              <a:rPr lang="en"/>
              <a:t> Because is the last step, we would say that gcd(</a:t>
            </a:r>
            <a:r>
              <a:rPr i="1" lang="en"/>
              <a:t>a,b</a:t>
            </a:r>
            <a:r>
              <a:rPr lang="en"/>
              <a:t>) = gcd(</a:t>
            </a:r>
            <a:r>
              <a:rPr i="1" lang="en"/>
              <a:t>b,r</a:t>
            </a:r>
            <a:r>
              <a:rPr lang="en"/>
              <a:t>), but with </a:t>
            </a:r>
            <a:r>
              <a:rPr i="1" lang="en"/>
              <a:t>r</a:t>
            </a:r>
            <a:r>
              <a:rPr lang="en"/>
              <a:t> = 0, we know </a:t>
            </a:r>
            <a:r>
              <a:rPr i="1" lang="en"/>
              <a:t>a</a:t>
            </a:r>
            <a:r>
              <a:rPr lang="en"/>
              <a:t> is a multiple of </a:t>
            </a:r>
            <a:r>
              <a:rPr i="1" lang="en"/>
              <a:t>b</a:t>
            </a:r>
            <a:r>
              <a:rPr lang="en"/>
              <a:t>, and the gcd of two numbers where one is a multiple of the other is the smaller of the two numbers.</a:t>
            </a:r>
            <a:endParaRPr/>
          </a:p>
          <a:p>
            <a:pPr indent="609585" lvl="0" marL="1219170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lang="en"/>
              <a:t>(That is, gcd(</a:t>
            </a:r>
            <a:r>
              <a:rPr i="1" lang="en"/>
              <a:t>kb, b</a:t>
            </a:r>
            <a:r>
              <a:rPr lang="en"/>
              <a:t>) = </a:t>
            </a:r>
            <a:r>
              <a:rPr i="1" lang="en"/>
              <a:t>b</a:t>
            </a:r>
            <a:r>
              <a:rPr lang="en"/>
              <a:t>  (</a:t>
            </a:r>
            <a:r>
              <a:rPr i="1" lang="en"/>
              <a:t>k </a:t>
            </a:r>
            <a:r>
              <a:rPr lang="en"/>
              <a:t>∈ </a:t>
            </a:r>
            <a:r>
              <a:rPr b="1" lang="en"/>
              <a:t>Z</a:t>
            </a:r>
            <a:r>
              <a:rPr baseline="30000" lang="en"/>
              <a:t>+</a:t>
            </a:r>
            <a:r>
              <a:rPr lang="en"/>
              <a:t>))</a:t>
            </a:r>
            <a:endParaRPr/>
          </a:p>
        </p:txBody>
      </p:sp>
      <p:cxnSp>
        <p:nvCxnSpPr>
          <p:cNvPr id="153" name="Google Shape;153;p21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21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212400" y="825433"/>
            <a:ext cx="118156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Example:</a:t>
            </a:r>
            <a:r>
              <a:rPr lang="en"/>
              <a:t> Use the Euclidean algorithm to find gcd(1001, 1331)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Solution: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1331 = 1001 · 1 + 330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1001 = 330 · 3 + 11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330 = 11 · 30 + 0</a:t>
            </a: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lang="en"/>
              <a:t>The last nonzero remainder is 11, so gcd(1001,1331) = 11</a:t>
            </a:r>
            <a:br>
              <a:rPr lang="en"/>
            </a:br>
            <a:endParaRPr/>
          </a:p>
          <a:p>
            <a:pPr indent="0" lvl="0" marL="609585" rtl="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SzPts val="1600"/>
              <a:buNone/>
            </a:pPr>
            <a:r>
              <a:rPr lang="en"/>
              <a:t>That was a lot of work. Let’s make a computer do it!</a:t>
            </a:r>
            <a:endParaRPr/>
          </a:p>
        </p:txBody>
      </p:sp>
      <p:cxnSp>
        <p:nvCxnSpPr>
          <p:cNvPr id="161" name="Google Shape;161;p22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22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212400" y="825433"/>
            <a:ext cx="11815600" cy="5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/>
              <a:t>Pseudocode:</a:t>
            </a:r>
            <a:r>
              <a:rPr lang="en"/>
              <a:t> Euclidean algorithm to find gcd(</a:t>
            </a:r>
            <a:r>
              <a:rPr i="1" lang="en"/>
              <a:t>a, b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0" lvl="0" marL="609585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1600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euclideanAlg(a, b)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x =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(a,b)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y =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(a,b)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(y != 0):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	r = x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mod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	x = 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	y = 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(x)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9" name="Google Shape;169;p23"/>
          <p:cNvCxnSpPr/>
          <p:nvPr/>
        </p:nvCxnSpPr>
        <p:spPr>
          <a:xfrm>
            <a:off x="289800" y="851600"/>
            <a:ext cx="11612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3"/>
          <p:cNvSpPr txBox="1"/>
          <p:nvPr/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GCDs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707"/>
              <a:buFont typeface="Calibri"/>
              <a:buNone/>
            </a:pPr>
            <a:r>
              <a:rPr lang="en"/>
              <a:t>Extended </a:t>
            </a:r>
            <a:r>
              <a:rPr b="1" i="0" lang="en">
                <a:solidFill>
                  <a:srgbClr val="273239"/>
                </a:solidFill>
                <a:latin typeface="Source Sans 3"/>
                <a:ea typeface="Source Sans 3"/>
                <a:cs typeface="Source Sans 3"/>
                <a:sym typeface="Source Sans 3"/>
              </a:rPr>
              <a:t>Euclidean </a:t>
            </a:r>
            <a:br>
              <a:rPr b="1" i="0" lang="en">
                <a:solidFill>
                  <a:srgbClr val="273239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415600" y="1028633"/>
            <a:ext cx="11360800" cy="5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40255" lvl="0" marL="6095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x + by = gcd(a, b)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gcd(a, b) = gcd(b%a, a)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gcd(b%a, a) = (b%a)x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1 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+ ay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ax + by = (b%a)x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1 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+ ay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ax + by = (b – [b/a] * a)x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1 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+ ay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ax + by = a(y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– [b/a] * 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) + bx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1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440255" lvl="0" marL="6095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Comparing LHS and RHS,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x = y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– (b/a) * 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b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y = x</a:t>
            </a:r>
            <a:r>
              <a:rPr b="0" baseline="-25000" i="1" lang="en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b="0" i="1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8655" lvl="0" marL="6095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415600" y="1869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707"/>
              <a:buFont typeface="Calibri"/>
              <a:buNone/>
            </a:pPr>
            <a:r>
              <a:rPr lang="en"/>
              <a:t>Extended Algorithm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415600" y="1028633"/>
            <a:ext cx="11360800" cy="5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38655" lvl="0" marL="6095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7159"/>
              <a:buNone/>
            </a:pPr>
            <a:r>
              <a:t/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// Function for extended Euclidean Algorithm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int gcdExtended(int a, int b, int *x, int *y)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{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// Base Case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if (a == 0)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{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	*x = 0;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	*y = 1;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	return b;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}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t/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int x1, y1; // To store results of recursive call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int gcd = gcdExtended(b%a, a, &amp;x1, &amp;y1);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t/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// Update x and y using results of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// recursive call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*x = y1 - (b/a) * x1;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*y = x1;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t/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return gcd;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}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t/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// Driver Code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int main()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{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int x, y, a = 35, b = 15;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int g = gcdExtended(a, b, &amp;x, &amp;y);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cout &lt;&lt; "GCD(" &lt;&lt; a &lt;&lt; ", " &lt;&lt; b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	&lt;&lt; ") = " &lt;&lt; g &lt;&lt; endl;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	return 0; </a:t>
            </a:r>
            <a:endParaRPr/>
          </a:p>
          <a:p>
            <a:pPr indent="0" lvl="0" marL="16932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7159"/>
              <a:buNone/>
            </a:pPr>
            <a:r>
              <a:rPr lang="en"/>
              <a:t>} </a:t>
            </a:r>
            <a:endParaRPr/>
          </a:p>
          <a:p>
            <a:pPr indent="-338655" lvl="0" marL="6095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715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